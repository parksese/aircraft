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rawings/drawing1.xml" ContentType="application/vnd.openxmlformats-officedocument.drawingml.chartshapes+xml"/>
  <Override PartName="/ppt/notesSlides/notesSlide1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2.xml" ContentType="application/vnd.openxmlformats-officedocument.presentationml.notesSl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70" r:id="rId2"/>
    <p:sldId id="259" r:id="rId3"/>
    <p:sldId id="260" r:id="rId4"/>
    <p:sldId id="264" r:id="rId5"/>
    <p:sldId id="261" r:id="rId6"/>
    <p:sldId id="271" r:id="rId7"/>
    <p:sldId id="262" r:id="rId8"/>
    <p:sldId id="272" r:id="rId9"/>
    <p:sldId id="266" r:id="rId10"/>
    <p:sldId id="267" r:id="rId11"/>
    <p:sldId id="268" r:id="rId12"/>
    <p:sldId id="26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A4D"/>
    <a:srgbClr val="F3C69D"/>
    <a:srgbClr val="D98245"/>
    <a:srgbClr val="FBE5D2"/>
    <a:srgbClr val="FFCC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1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316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1_works\4_softwares\OpenVSP\OpenVSP\python\CHARM\charm\examples\mstol\runs\mstol_spanwise_ct_summary_rev0.csv" TargetMode="Externa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chartUserShapes" Target="../drawings/drawing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D:\1_works\3_codes\Performance\PerformanceAnalysis_09-15-2026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D:\1_works\3_codes\Performance\PerformanceAnalysis_09-15-2026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D:\1_works\3_codes\Performance\PerformanceAnalysis_09-15-2026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D:\1_works\3_codes\Performance\PerformanceAnalysis_09-15-2026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D:\1_works\3_codes\Performance\PerformanceAnalysis_09-15-2026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D:\1_works\3_codes\Performance\PerformanceAnalysis_09-15-2026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6.454001148438962E-2"/>
          <c:y val="5.0925925925925923E-2"/>
          <c:w val="0.8985746533714426"/>
          <c:h val="0.74387357830271217"/>
        </c:manualLayout>
      </c:layout>
      <c:scatterChart>
        <c:scatterStyle val="smoothMarker"/>
        <c:varyColors val="0"/>
        <c:ser>
          <c:idx val="0"/>
          <c:order val="0"/>
          <c:tx>
            <c:strRef>
              <c:f>mstol_spanwise_ct_summary_rev0!$C$2</c:f>
              <c:strCache>
                <c:ptCount val="1"/>
                <c:pt idx="0">
                  <c:v>Case002</c:v>
                </c:pt>
              </c:strCache>
            </c:strRef>
          </c:tx>
          <c:spPr>
            <a:ln w="1905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xVal>
            <c:numRef>
              <c:f>mstol_spanwise_ct_summary_rev0!$A$4:$A$13</c:f>
              <c:numCache>
                <c:formatCode>General</c:formatCode>
                <c:ptCount val="10"/>
                <c:pt idx="0">
                  <c:v>0.20910000000000001</c:v>
                </c:pt>
                <c:pt idx="1">
                  <c:v>0.3</c:v>
                </c:pt>
                <c:pt idx="2">
                  <c:v>0.39090000000000003</c:v>
                </c:pt>
                <c:pt idx="3">
                  <c:v>0.5</c:v>
                </c:pt>
                <c:pt idx="4">
                  <c:v>0.6</c:v>
                </c:pt>
                <c:pt idx="5">
                  <c:v>0.70179999999999998</c:v>
                </c:pt>
                <c:pt idx="6">
                  <c:v>0.80359999999999998</c:v>
                </c:pt>
                <c:pt idx="7">
                  <c:v>0.90549999999999997</c:v>
                </c:pt>
                <c:pt idx="8">
                  <c:v>0.94910000000000005</c:v>
                </c:pt>
                <c:pt idx="9">
                  <c:v>0.99270000000000003</c:v>
                </c:pt>
              </c:numCache>
            </c:numRef>
          </c:xVal>
          <c:yVal>
            <c:numRef>
              <c:f>mstol_spanwise_ct_summary_rev0!$C$4:$C$13</c:f>
              <c:numCache>
                <c:formatCode>General</c:formatCode>
                <c:ptCount val="10"/>
                <c:pt idx="0">
                  <c:v>1.12348E-2</c:v>
                </c:pt>
                <c:pt idx="1">
                  <c:v>1.1882E-2</c:v>
                </c:pt>
                <c:pt idx="2">
                  <c:v>1.19536E-2</c:v>
                </c:pt>
                <c:pt idx="3">
                  <c:v>1.1556E-2</c:v>
                </c:pt>
                <c:pt idx="4">
                  <c:v>9.5383199999999994E-3</c:v>
                </c:pt>
                <c:pt idx="5">
                  <c:v>6.3956400000000002E-3</c:v>
                </c:pt>
                <c:pt idx="6">
                  <c:v>4.84768E-3</c:v>
                </c:pt>
                <c:pt idx="7">
                  <c:v>3.3154399999999998E-3</c:v>
                </c:pt>
                <c:pt idx="8">
                  <c:v>2.2288E-3</c:v>
                </c:pt>
                <c:pt idx="9">
                  <c:v>2.2288E-3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2580-4623-9333-514DE36E7556}"/>
            </c:ext>
          </c:extLst>
        </c:ser>
        <c:ser>
          <c:idx val="1"/>
          <c:order val="1"/>
          <c:tx>
            <c:strRef>
              <c:f>mstol_spanwise_ct_summary_rev0!$E$2</c:f>
              <c:strCache>
                <c:ptCount val="1"/>
                <c:pt idx="0">
                  <c:v>Case004</c:v>
                </c:pt>
              </c:strCache>
            </c:strRef>
          </c:tx>
          <c:spPr>
            <a:ln w="19050" cap="rnd">
              <a:solidFill>
                <a:schemeClr val="tx1"/>
              </a:solidFill>
              <a:prstDash val="dash"/>
              <a:round/>
            </a:ln>
            <a:effectLst/>
          </c:spPr>
          <c:marker>
            <c:symbol val="none"/>
          </c:marker>
          <c:xVal>
            <c:numRef>
              <c:f>mstol_spanwise_ct_summary_rev0!$A$4:$A$13</c:f>
              <c:numCache>
                <c:formatCode>General</c:formatCode>
                <c:ptCount val="10"/>
                <c:pt idx="0">
                  <c:v>0.20910000000000001</c:v>
                </c:pt>
                <c:pt idx="1">
                  <c:v>0.3</c:v>
                </c:pt>
                <c:pt idx="2">
                  <c:v>0.39090000000000003</c:v>
                </c:pt>
                <c:pt idx="3">
                  <c:v>0.5</c:v>
                </c:pt>
                <c:pt idx="4">
                  <c:v>0.6</c:v>
                </c:pt>
                <c:pt idx="5">
                  <c:v>0.70179999999999998</c:v>
                </c:pt>
                <c:pt idx="6">
                  <c:v>0.80359999999999998</c:v>
                </c:pt>
                <c:pt idx="7">
                  <c:v>0.90549999999999997</c:v>
                </c:pt>
                <c:pt idx="8">
                  <c:v>0.94910000000000005</c:v>
                </c:pt>
                <c:pt idx="9">
                  <c:v>0.99270000000000003</c:v>
                </c:pt>
              </c:numCache>
            </c:numRef>
          </c:xVal>
          <c:yVal>
            <c:numRef>
              <c:f>mstol_spanwise_ct_summary_rev0!$E$4:$E$13</c:f>
              <c:numCache>
                <c:formatCode>General</c:formatCode>
                <c:ptCount val="10"/>
                <c:pt idx="0">
                  <c:v>1.31792E-2</c:v>
                </c:pt>
                <c:pt idx="1">
                  <c:v>1.46564E-2</c:v>
                </c:pt>
                <c:pt idx="2">
                  <c:v>2.0625600000000001E-2</c:v>
                </c:pt>
                <c:pt idx="3">
                  <c:v>1.3252399999999999E-2</c:v>
                </c:pt>
                <c:pt idx="4">
                  <c:v>9.9298000000000008E-3</c:v>
                </c:pt>
                <c:pt idx="5">
                  <c:v>6.0912800000000001E-3</c:v>
                </c:pt>
                <c:pt idx="6">
                  <c:v>4.83512E-3</c:v>
                </c:pt>
                <c:pt idx="7">
                  <c:v>3.41516E-3</c:v>
                </c:pt>
                <c:pt idx="8">
                  <c:v>2.3164399999999999E-3</c:v>
                </c:pt>
                <c:pt idx="9">
                  <c:v>2.3164399999999999E-3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2580-4623-9333-514DE36E7556}"/>
            </c:ext>
          </c:extLst>
        </c:ser>
        <c:ser>
          <c:idx val="2"/>
          <c:order val="2"/>
          <c:tx>
            <c:strRef>
              <c:f>mstol_spanwise_ct_summary_rev0!$B$2</c:f>
              <c:strCache>
                <c:ptCount val="1"/>
                <c:pt idx="0">
                  <c:v>Case001</c:v>
                </c:pt>
              </c:strCache>
            </c:strRef>
          </c:tx>
          <c:spPr>
            <a:ln w="19050" cap="rnd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</a:ln>
            <a:effectLst/>
          </c:spPr>
          <c:marker>
            <c:symbol val="none"/>
          </c:marker>
          <c:xVal>
            <c:numRef>
              <c:f>mstol_spanwise_ct_summary_rev0!$A$4:$A$13</c:f>
              <c:numCache>
                <c:formatCode>General</c:formatCode>
                <c:ptCount val="10"/>
                <c:pt idx="0">
                  <c:v>0.20910000000000001</c:v>
                </c:pt>
                <c:pt idx="1">
                  <c:v>0.3</c:v>
                </c:pt>
                <c:pt idx="2">
                  <c:v>0.39090000000000003</c:v>
                </c:pt>
                <c:pt idx="3">
                  <c:v>0.5</c:v>
                </c:pt>
                <c:pt idx="4">
                  <c:v>0.6</c:v>
                </c:pt>
                <c:pt idx="5">
                  <c:v>0.70179999999999998</c:v>
                </c:pt>
                <c:pt idx="6">
                  <c:v>0.80359999999999998</c:v>
                </c:pt>
                <c:pt idx="7">
                  <c:v>0.90549999999999997</c:v>
                </c:pt>
                <c:pt idx="8">
                  <c:v>0.94910000000000005</c:v>
                </c:pt>
                <c:pt idx="9">
                  <c:v>0.99270000000000003</c:v>
                </c:pt>
              </c:numCache>
            </c:numRef>
          </c:xVal>
          <c:yVal>
            <c:numRef>
              <c:f>mstol_spanwise_ct_summary_rev0!$B$4:$B$13</c:f>
              <c:numCache>
                <c:formatCode>General</c:formatCode>
                <c:ptCount val="10"/>
                <c:pt idx="0">
                  <c:v>3.3848799999999998E-3</c:v>
                </c:pt>
                <c:pt idx="1">
                  <c:v>3.5043600000000002E-3</c:v>
                </c:pt>
                <c:pt idx="2">
                  <c:v>3.53156E-3</c:v>
                </c:pt>
                <c:pt idx="3">
                  <c:v>3.50388E-3</c:v>
                </c:pt>
                <c:pt idx="4">
                  <c:v>3.3515200000000002E-3</c:v>
                </c:pt>
                <c:pt idx="5">
                  <c:v>3.1488000000000002E-3</c:v>
                </c:pt>
                <c:pt idx="6">
                  <c:v>2.8008E-3</c:v>
                </c:pt>
                <c:pt idx="7">
                  <c:v>2.1293599999999998E-3</c:v>
                </c:pt>
                <c:pt idx="8">
                  <c:v>1.4961600000000001E-3</c:v>
                </c:pt>
                <c:pt idx="9">
                  <c:v>1.4961600000000001E-3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2580-4623-9333-514DE36E755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59980287"/>
        <c:axId val="282443823"/>
      </c:scatterChart>
      <c:valAx>
        <c:axId val="359980287"/>
        <c:scaling>
          <c:orientation val="minMax"/>
          <c:max val="1"/>
          <c:min val="0.2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y/b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82443823"/>
        <c:crosses val="autoZero"/>
        <c:crossBetween val="midCat"/>
      </c:valAx>
      <c:valAx>
        <c:axId val="282443823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Spanwise Lift Distribution</a:t>
                </a:r>
              </a:p>
            </c:rich>
          </c:tx>
          <c:layout>
            <c:manualLayout>
              <c:xMode val="edge"/>
              <c:yMode val="edge"/>
              <c:x val="2.5605995109456558E-3"/>
              <c:y val="0.14406641878098569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crossAx val="359980287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smoothMarker"/>
        <c:varyColors val="0"/>
        <c:ser>
          <c:idx val="0"/>
          <c:order val="0"/>
          <c:tx>
            <c:strRef>
              <c:f>'Blown effect (mu variation)'!$E$1:$I$1</c:f>
              <c:strCache>
                <c:ptCount val="5"/>
                <c:pt idx="0">
                  <c:v>Baseline (Dry)</c:v>
                </c:pt>
              </c:strCache>
            </c:strRef>
          </c:tx>
          <c:spPr>
            <a:ln w="1905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xVal>
            <c:numRef>
              <c:f>'Blown effect (mu variation)'!$E$14:$I$14</c:f>
              <c:numCache>
                <c:formatCode>General</c:formatCode>
                <c:ptCount val="5"/>
                <c:pt idx="0">
                  <c:v>5000</c:v>
                </c:pt>
                <c:pt idx="1">
                  <c:v>5500</c:v>
                </c:pt>
                <c:pt idx="2">
                  <c:v>6000</c:v>
                </c:pt>
                <c:pt idx="3">
                  <c:v>6500</c:v>
                </c:pt>
                <c:pt idx="4">
                  <c:v>7000</c:v>
                </c:pt>
              </c:numCache>
            </c:numRef>
          </c:xVal>
          <c:yVal>
            <c:numRef>
              <c:f>'Blown effect (mu variation)'!$E$73:$I$73</c:f>
              <c:numCache>
                <c:formatCode>0</c:formatCode>
                <c:ptCount val="5"/>
                <c:pt idx="0">
                  <c:v>460.87454254743648</c:v>
                </c:pt>
                <c:pt idx="1">
                  <c:v>569.8709903054156</c:v>
                </c:pt>
                <c:pt idx="2">
                  <c:v>692.44135799924049</c:v>
                </c:pt>
                <c:pt idx="3">
                  <c:v>828.95506542234557</c:v>
                </c:pt>
                <c:pt idx="4">
                  <c:v>979.70346432295946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9F25-4A0C-A1A8-9AFC022209BF}"/>
            </c:ext>
          </c:extLst>
        </c:ser>
        <c:ser>
          <c:idx val="1"/>
          <c:order val="1"/>
          <c:tx>
            <c:strRef>
              <c:f>'Blown effect (mu variation)'!$J$1:$N$1</c:f>
              <c:strCache>
                <c:ptCount val="5"/>
                <c:pt idx="0">
                  <c:v>Blown-Lift (Dry)</c:v>
                </c:pt>
              </c:strCache>
            </c:strRef>
          </c:tx>
          <c:spPr>
            <a:ln w="19050" cap="rnd">
              <a:solidFill>
                <a:schemeClr val="tx1"/>
              </a:solidFill>
              <a:prstDash val="dash"/>
              <a:round/>
            </a:ln>
            <a:effectLst/>
          </c:spPr>
          <c:marker>
            <c:symbol val="none"/>
          </c:marker>
          <c:xVal>
            <c:numRef>
              <c:f>'Blown effect (mu variation)'!$J$14:$N$14</c:f>
              <c:numCache>
                <c:formatCode>General</c:formatCode>
                <c:ptCount val="5"/>
                <c:pt idx="0">
                  <c:v>5000</c:v>
                </c:pt>
                <c:pt idx="1">
                  <c:v>5500</c:v>
                </c:pt>
                <c:pt idx="2">
                  <c:v>6000</c:v>
                </c:pt>
                <c:pt idx="3">
                  <c:v>6500</c:v>
                </c:pt>
                <c:pt idx="4">
                  <c:v>7000</c:v>
                </c:pt>
              </c:numCache>
            </c:numRef>
          </c:xVal>
          <c:yVal>
            <c:numRef>
              <c:f>'Blown effect (mu variation)'!$J$73:$N$73</c:f>
              <c:numCache>
                <c:formatCode>0</c:formatCode>
                <c:ptCount val="5"/>
                <c:pt idx="0">
                  <c:v>402.87535441228624</c:v>
                </c:pt>
                <c:pt idx="1">
                  <c:v>497.79702909019835</c:v>
                </c:pt>
                <c:pt idx="2">
                  <c:v>604.59837942482818</c:v>
                </c:pt>
                <c:pt idx="3">
                  <c:v>723.68235377071392</c:v>
                </c:pt>
                <c:pt idx="4">
                  <c:v>855.40837911479287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9F25-4A0C-A1A8-9AFC022209BF}"/>
            </c:ext>
          </c:extLst>
        </c:ser>
        <c:ser>
          <c:idx val="2"/>
          <c:order val="2"/>
          <c:tx>
            <c:strRef>
              <c:f>'Blown effect (mu variation)'!$P$1:$T$1</c:f>
              <c:strCache>
                <c:ptCount val="5"/>
                <c:pt idx="0">
                  <c:v>Baseline (Firm Dirt)</c:v>
                </c:pt>
              </c:strCache>
            </c:strRef>
          </c:tx>
          <c:spPr>
            <a:ln w="19050" cap="rnd">
              <a:solidFill>
                <a:srgbClr val="00B050"/>
              </a:solidFill>
              <a:round/>
            </a:ln>
            <a:effectLst/>
          </c:spPr>
          <c:marker>
            <c:symbol val="none"/>
          </c:marker>
          <c:xVal>
            <c:numRef>
              <c:f>'Blown effect (mu variation)'!$P$14:$T$14</c:f>
              <c:numCache>
                <c:formatCode>General</c:formatCode>
                <c:ptCount val="5"/>
                <c:pt idx="0">
                  <c:v>5000</c:v>
                </c:pt>
                <c:pt idx="1">
                  <c:v>5500</c:v>
                </c:pt>
                <c:pt idx="2">
                  <c:v>6000</c:v>
                </c:pt>
                <c:pt idx="3">
                  <c:v>6500</c:v>
                </c:pt>
                <c:pt idx="4">
                  <c:v>7000</c:v>
                </c:pt>
              </c:numCache>
            </c:numRef>
          </c:xVal>
          <c:yVal>
            <c:numRef>
              <c:f>'Blown effect (mu variation)'!$P$73:$T$73</c:f>
              <c:numCache>
                <c:formatCode>0</c:formatCode>
                <c:ptCount val="5"/>
                <c:pt idx="0">
                  <c:v>474.61714569065259</c:v>
                </c:pt>
                <c:pt idx="1">
                  <c:v>589.13243864504079</c:v>
                </c:pt>
                <c:pt idx="2">
                  <c:v>718.73724974542267</c:v>
                </c:pt>
                <c:pt idx="3">
                  <c:v>864.05789359741573</c:v>
                </c:pt>
                <c:pt idx="4">
                  <c:v>1025.6598075251979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9F25-4A0C-A1A8-9AFC022209BF}"/>
            </c:ext>
          </c:extLst>
        </c:ser>
        <c:ser>
          <c:idx val="3"/>
          <c:order val="3"/>
          <c:tx>
            <c:strRef>
              <c:f>'Blown effect (mu variation)'!$U$1:$Y$1</c:f>
              <c:strCache>
                <c:ptCount val="5"/>
                <c:pt idx="0">
                  <c:v>Blown-Lift (Firm Dirt)</c:v>
                </c:pt>
              </c:strCache>
            </c:strRef>
          </c:tx>
          <c:spPr>
            <a:ln w="19050" cap="rnd">
              <a:solidFill>
                <a:srgbClr val="00B050"/>
              </a:solidFill>
              <a:prstDash val="dash"/>
              <a:round/>
            </a:ln>
            <a:effectLst/>
          </c:spPr>
          <c:marker>
            <c:symbol val="none"/>
          </c:marker>
          <c:xVal>
            <c:numRef>
              <c:f>'Blown effect (mu variation)'!$U$14:$Y$14</c:f>
              <c:numCache>
                <c:formatCode>General</c:formatCode>
                <c:ptCount val="5"/>
                <c:pt idx="0">
                  <c:v>5000</c:v>
                </c:pt>
                <c:pt idx="1">
                  <c:v>5500</c:v>
                </c:pt>
                <c:pt idx="2">
                  <c:v>6000</c:v>
                </c:pt>
                <c:pt idx="3">
                  <c:v>6500</c:v>
                </c:pt>
                <c:pt idx="4">
                  <c:v>7000</c:v>
                </c:pt>
              </c:numCache>
            </c:numRef>
          </c:xVal>
          <c:yVal>
            <c:numRef>
              <c:f>'Blown effect (mu variation)'!$U$73:$Y$73</c:f>
              <c:numCache>
                <c:formatCode>0</c:formatCode>
                <c:ptCount val="5"/>
                <c:pt idx="0">
                  <c:v>397.98647785954734</c:v>
                </c:pt>
                <c:pt idx="1">
                  <c:v>493.46003830628337</c:v>
                </c:pt>
                <c:pt idx="2">
                  <c:v>601.5526846737572</c:v>
                </c:pt>
                <c:pt idx="3">
                  <c:v>722.88386352005796</c:v>
                </c:pt>
                <c:pt idx="4">
                  <c:v>858.0573953068382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3-9F25-4A0C-A1A8-9AFC022209BF}"/>
            </c:ext>
          </c:extLst>
        </c:ser>
        <c:ser>
          <c:idx val="4"/>
          <c:order val="4"/>
          <c:tx>
            <c:strRef>
              <c:f>'Blown effect (mu variation)'!$Z$1:$AD$1</c:f>
              <c:strCache>
                <c:ptCount val="5"/>
                <c:pt idx="0">
                  <c:v>Baseline (Wet)</c:v>
                </c:pt>
              </c:strCache>
            </c:strRef>
          </c:tx>
          <c:spPr>
            <a:ln w="19050" cap="rnd">
              <a:solidFill>
                <a:srgbClr val="0070C0"/>
              </a:solidFill>
              <a:round/>
            </a:ln>
            <a:effectLst/>
          </c:spPr>
          <c:marker>
            <c:symbol val="none"/>
          </c:marker>
          <c:xVal>
            <c:numRef>
              <c:f>'Blown effect (mu variation)'!$Z$14:$AD$14</c:f>
              <c:numCache>
                <c:formatCode>General</c:formatCode>
                <c:ptCount val="5"/>
                <c:pt idx="0">
                  <c:v>5000</c:v>
                </c:pt>
                <c:pt idx="1">
                  <c:v>5500</c:v>
                </c:pt>
                <c:pt idx="2">
                  <c:v>6000</c:v>
                </c:pt>
                <c:pt idx="3">
                  <c:v>6500</c:v>
                </c:pt>
                <c:pt idx="4">
                  <c:v>7000</c:v>
                </c:pt>
              </c:numCache>
            </c:numRef>
          </c:xVal>
          <c:yVal>
            <c:numRef>
              <c:f>'Blown effect (mu variation)'!$Z$73:$AD$73</c:f>
              <c:numCache>
                <c:formatCode>0</c:formatCode>
                <c:ptCount val="5"/>
                <c:pt idx="0">
                  <c:v>484.41558341992533</c:v>
                </c:pt>
                <c:pt idx="1">
                  <c:v>602.99159372355746</c:v>
                </c:pt>
                <c:pt idx="2">
                  <c:v>737.84047997749826</c:v>
                </c:pt>
                <c:pt idx="3">
                  <c:v>889.81787674967711</c:v>
                </c:pt>
                <c:pt idx="4">
                  <c:v>1059.743611873181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4-9F25-4A0C-A1A8-9AFC022209BF}"/>
            </c:ext>
          </c:extLst>
        </c:ser>
        <c:ser>
          <c:idx val="5"/>
          <c:order val="5"/>
          <c:tx>
            <c:strRef>
              <c:f>'Blown effect (mu variation)'!$AE$1:$AI$1</c:f>
              <c:strCache>
                <c:ptCount val="5"/>
                <c:pt idx="0">
                  <c:v>Blown-Lift (Wet)</c:v>
                </c:pt>
              </c:strCache>
            </c:strRef>
          </c:tx>
          <c:spPr>
            <a:ln w="19050" cap="rnd">
              <a:solidFill>
                <a:srgbClr val="0070C0"/>
              </a:solidFill>
              <a:prstDash val="dash"/>
              <a:round/>
            </a:ln>
            <a:effectLst/>
          </c:spPr>
          <c:marker>
            <c:symbol val="none"/>
          </c:marker>
          <c:xVal>
            <c:numRef>
              <c:f>'Blown effect (mu variation)'!$AE$14:$AI$14</c:f>
              <c:numCache>
                <c:formatCode>General</c:formatCode>
                <c:ptCount val="5"/>
                <c:pt idx="0">
                  <c:v>5000</c:v>
                </c:pt>
                <c:pt idx="1">
                  <c:v>5500</c:v>
                </c:pt>
                <c:pt idx="2">
                  <c:v>6000</c:v>
                </c:pt>
                <c:pt idx="3">
                  <c:v>6500</c:v>
                </c:pt>
                <c:pt idx="4">
                  <c:v>7000</c:v>
                </c:pt>
              </c:numCache>
            </c:numRef>
          </c:xVal>
          <c:yVal>
            <c:numRef>
              <c:f>'Blown effect (mu variation)'!$AE$73:$AI$73</c:f>
              <c:numCache>
                <c:formatCode>0</c:formatCode>
                <c:ptCount val="5"/>
                <c:pt idx="0">
                  <c:v>405.98854756742912</c:v>
                </c:pt>
                <c:pt idx="1">
                  <c:v>504.74819292839254</c:v>
                </c:pt>
                <c:pt idx="2">
                  <c:v>617.0811787702188</c:v>
                </c:pt>
                <c:pt idx="3">
                  <c:v>743.79702024358187</c:v>
                </c:pt>
                <c:pt idx="4">
                  <c:v>885.71465986724456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5-9F25-4A0C-A1A8-9AFC022209B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668976832"/>
        <c:axId val="1919798415"/>
      </c:scatterChart>
      <c:valAx>
        <c:axId val="668976832"/>
        <c:scaling>
          <c:orientation val="minMax"/>
          <c:max val="7000"/>
          <c:min val="500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400"/>
                  <a:t>Takeoff Weight (lb)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4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19798415"/>
        <c:crosses val="autoZero"/>
        <c:crossBetween val="midCat"/>
        <c:majorUnit val="500"/>
      </c:valAx>
      <c:valAx>
        <c:axId val="1919798415"/>
        <c:scaling>
          <c:orientation val="minMax"/>
          <c:max val="1250"/>
          <c:min val="250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200" dirty="0"/>
                  <a:t>Takeoff</a:t>
                </a:r>
                <a:r>
                  <a:rPr lang="en-US" sz="1200" baseline="0" dirty="0"/>
                  <a:t> </a:t>
                </a:r>
                <a:r>
                  <a:rPr lang="en-US" sz="1200" dirty="0"/>
                  <a:t>Ground</a:t>
                </a:r>
                <a:r>
                  <a:rPr lang="en-US" sz="1200" baseline="0" dirty="0"/>
                  <a:t> Roll Distance (ft)</a:t>
                </a:r>
                <a:endParaRPr lang="en-US" sz="1200" dirty="0"/>
              </a:p>
            </c:rich>
          </c:tx>
          <c:layout>
            <c:manualLayout>
              <c:xMode val="edge"/>
              <c:yMode val="edge"/>
              <c:x val="9.712744046993264E-3"/>
              <c:y val="6.890315325306233E-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" sourceLinked="1"/>
        <c:majorTickMark val="none"/>
        <c:minorTickMark val="none"/>
        <c:tickLblPos val="nextTo"/>
        <c:crossAx val="668976832"/>
        <c:crosses val="autoZero"/>
        <c:crossBetween val="midCat"/>
        <c:majorUnit val="250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6.2943067949762593E-2"/>
          <c:y val="4.8579531489969317E-2"/>
          <c:w val="0.31333045093523304"/>
          <c:h val="0.30141075733942702"/>
        </c:manualLayout>
      </c:layout>
      <c:overlay val="1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smoothMarker"/>
        <c:varyColors val="0"/>
        <c:ser>
          <c:idx val="0"/>
          <c:order val="0"/>
          <c:tx>
            <c:strRef>
              <c:f>'Blown effect (mu variation)'!$E$1:$I$1</c:f>
              <c:strCache>
                <c:ptCount val="5"/>
                <c:pt idx="0">
                  <c:v>Baseline (Dry)</c:v>
                </c:pt>
              </c:strCache>
            </c:strRef>
          </c:tx>
          <c:spPr>
            <a:ln w="1905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xVal>
            <c:numRef>
              <c:f>'Blown effect (mu variation)'!$E$14:$I$14</c:f>
              <c:numCache>
                <c:formatCode>General</c:formatCode>
                <c:ptCount val="5"/>
                <c:pt idx="0">
                  <c:v>5000</c:v>
                </c:pt>
                <c:pt idx="1">
                  <c:v>5500</c:v>
                </c:pt>
                <c:pt idx="2">
                  <c:v>6000</c:v>
                </c:pt>
                <c:pt idx="3">
                  <c:v>6500</c:v>
                </c:pt>
                <c:pt idx="4">
                  <c:v>7000</c:v>
                </c:pt>
              </c:numCache>
            </c:numRef>
          </c:xVal>
          <c:yVal>
            <c:numRef>
              <c:f>'Blown effect (mu variation)'!$E$73:$I$73</c:f>
              <c:numCache>
                <c:formatCode>0</c:formatCode>
                <c:ptCount val="5"/>
                <c:pt idx="0">
                  <c:v>460.87454254743648</c:v>
                </c:pt>
                <c:pt idx="1">
                  <c:v>569.8709903054156</c:v>
                </c:pt>
                <c:pt idx="2">
                  <c:v>692.44135799924049</c:v>
                </c:pt>
                <c:pt idx="3">
                  <c:v>828.95506542234557</c:v>
                </c:pt>
                <c:pt idx="4">
                  <c:v>979.70346432295946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A309-4E6F-9B08-FB8DF3228CFB}"/>
            </c:ext>
          </c:extLst>
        </c:ser>
        <c:ser>
          <c:idx val="1"/>
          <c:order val="1"/>
          <c:tx>
            <c:strRef>
              <c:f>'Blown effect (mu variation)'!$J$1:$N$1</c:f>
              <c:strCache>
                <c:ptCount val="5"/>
                <c:pt idx="0">
                  <c:v>Blown-Lift (Dry)</c:v>
                </c:pt>
              </c:strCache>
            </c:strRef>
          </c:tx>
          <c:spPr>
            <a:ln w="19050" cap="rnd">
              <a:solidFill>
                <a:schemeClr val="tx1"/>
              </a:solidFill>
              <a:prstDash val="dash"/>
              <a:round/>
            </a:ln>
            <a:effectLst/>
          </c:spPr>
          <c:marker>
            <c:symbol val="none"/>
          </c:marker>
          <c:xVal>
            <c:numRef>
              <c:f>'Blown effect (mu variation)'!$J$14:$N$14</c:f>
              <c:numCache>
                <c:formatCode>General</c:formatCode>
                <c:ptCount val="5"/>
                <c:pt idx="0">
                  <c:v>5000</c:v>
                </c:pt>
                <c:pt idx="1">
                  <c:v>5500</c:v>
                </c:pt>
                <c:pt idx="2">
                  <c:v>6000</c:v>
                </c:pt>
                <c:pt idx="3">
                  <c:v>6500</c:v>
                </c:pt>
                <c:pt idx="4">
                  <c:v>7000</c:v>
                </c:pt>
              </c:numCache>
            </c:numRef>
          </c:xVal>
          <c:yVal>
            <c:numRef>
              <c:f>'Blown effect (mu variation)'!$J$73:$N$73</c:f>
              <c:numCache>
                <c:formatCode>0</c:formatCode>
                <c:ptCount val="5"/>
                <c:pt idx="0">
                  <c:v>402.87535441228624</c:v>
                </c:pt>
                <c:pt idx="1">
                  <c:v>497.79702909019835</c:v>
                </c:pt>
                <c:pt idx="2">
                  <c:v>604.59837942482818</c:v>
                </c:pt>
                <c:pt idx="3">
                  <c:v>723.68235377071392</c:v>
                </c:pt>
                <c:pt idx="4">
                  <c:v>855.40837911479287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A309-4E6F-9B08-FB8DF3228CF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668976832"/>
        <c:axId val="1919798415"/>
      </c:scatterChart>
      <c:valAx>
        <c:axId val="668976832"/>
        <c:scaling>
          <c:orientation val="minMax"/>
          <c:max val="7000"/>
          <c:min val="500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200"/>
                  <a:t>Takeoff Weight (lb)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19798415"/>
        <c:crosses val="autoZero"/>
        <c:crossBetween val="midCat"/>
        <c:majorUnit val="500"/>
      </c:valAx>
      <c:valAx>
        <c:axId val="1919798415"/>
        <c:scaling>
          <c:orientation val="minMax"/>
          <c:max val="1250"/>
          <c:min val="250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200" dirty="0"/>
                  <a:t>Takeoff Ground</a:t>
                </a:r>
                <a:r>
                  <a:rPr lang="en-US" sz="1200" baseline="0" dirty="0"/>
                  <a:t> Roll Distance (ft) </a:t>
                </a:r>
                <a:endParaRPr lang="en-US" sz="1200" dirty="0"/>
              </a:p>
            </c:rich>
          </c:tx>
          <c:layout>
            <c:manualLayout>
              <c:xMode val="edge"/>
              <c:yMode val="edge"/>
              <c:x val="7.5346526621679075E-3"/>
              <c:y val="5.7483535969096909E-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" sourceLinked="1"/>
        <c:majorTickMark val="none"/>
        <c:minorTickMark val="none"/>
        <c:tickLblPos val="nextTo"/>
        <c:crossAx val="668976832"/>
        <c:crosses val="autoZero"/>
        <c:crossBetween val="midCat"/>
        <c:majorUnit val="250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7.601161625871472E-2"/>
          <c:y val="5.2386070584624501E-2"/>
          <c:w val="0.2890752595744695"/>
          <c:h val="0.10765581932906601"/>
        </c:manualLayout>
      </c:layout>
      <c:overlay val="1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565240096844459"/>
          <c:y val="7.3561218140466678E-2"/>
          <c:w val="0.80246546224501536"/>
          <c:h val="0.74466425126275193"/>
        </c:manualLayout>
      </c:layout>
      <c:scatterChart>
        <c:scatterStyle val="smoothMarker"/>
        <c:varyColors val="0"/>
        <c:ser>
          <c:idx val="0"/>
          <c:order val="0"/>
          <c:tx>
            <c:strRef>
              <c:f>'Blown effect (mu variation)'!$E$1:$I$1</c:f>
              <c:strCache>
                <c:ptCount val="5"/>
                <c:pt idx="0">
                  <c:v>Baseline (Dry)</c:v>
                </c:pt>
              </c:strCache>
            </c:strRef>
          </c:tx>
          <c:spPr>
            <a:ln w="1905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xVal>
            <c:numRef>
              <c:f>'Blown effect (mu variation)'!$E$14:$I$14</c:f>
              <c:numCache>
                <c:formatCode>General</c:formatCode>
                <c:ptCount val="5"/>
                <c:pt idx="0">
                  <c:v>5000</c:v>
                </c:pt>
                <c:pt idx="1">
                  <c:v>5500</c:v>
                </c:pt>
                <c:pt idx="2">
                  <c:v>6000</c:v>
                </c:pt>
                <c:pt idx="3">
                  <c:v>6500</c:v>
                </c:pt>
                <c:pt idx="4">
                  <c:v>7000</c:v>
                </c:pt>
              </c:numCache>
            </c:numRef>
          </c:xVal>
          <c:yVal>
            <c:numRef>
              <c:f>'Blown effect (mu variation)'!$E$85:$I$85</c:f>
              <c:numCache>
                <c:formatCode>0</c:formatCode>
                <c:ptCount val="5"/>
                <c:pt idx="0">
                  <c:v>1260.8732576362329</c:v>
                </c:pt>
                <c:pt idx="1">
                  <c:v>1437.6028998301697</c:v>
                </c:pt>
                <c:pt idx="2">
                  <c:v>1629.5131331596147</c:v>
                </c:pt>
                <c:pt idx="3">
                  <c:v>1836.7870189754799</c:v>
                </c:pt>
                <c:pt idx="4">
                  <c:v>2059.5106907823119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51DD-435F-82D2-704C79417945}"/>
            </c:ext>
          </c:extLst>
        </c:ser>
        <c:ser>
          <c:idx val="1"/>
          <c:order val="1"/>
          <c:tx>
            <c:strRef>
              <c:f>'Blown effect (mu variation)'!$J$1:$N$1</c:f>
              <c:strCache>
                <c:ptCount val="5"/>
                <c:pt idx="0">
                  <c:v>Blown-Lift (Dry)</c:v>
                </c:pt>
              </c:strCache>
            </c:strRef>
          </c:tx>
          <c:spPr>
            <a:ln w="19050" cap="rnd">
              <a:solidFill>
                <a:schemeClr val="tx1"/>
              </a:solidFill>
              <a:prstDash val="dash"/>
              <a:round/>
            </a:ln>
            <a:effectLst/>
          </c:spPr>
          <c:marker>
            <c:symbol val="none"/>
          </c:marker>
          <c:xVal>
            <c:numRef>
              <c:f>'Blown effect (mu variation)'!$J$14:$N$14</c:f>
              <c:numCache>
                <c:formatCode>General</c:formatCode>
                <c:ptCount val="5"/>
                <c:pt idx="0">
                  <c:v>5000</c:v>
                </c:pt>
                <c:pt idx="1">
                  <c:v>5500</c:v>
                </c:pt>
                <c:pt idx="2">
                  <c:v>6000</c:v>
                </c:pt>
                <c:pt idx="3">
                  <c:v>6500</c:v>
                </c:pt>
                <c:pt idx="4">
                  <c:v>7000</c:v>
                </c:pt>
              </c:numCache>
            </c:numRef>
          </c:xVal>
          <c:yVal>
            <c:numRef>
              <c:f>'Blown effect (mu variation)'!$J$85:$N$85</c:f>
              <c:numCache>
                <c:formatCode>0</c:formatCode>
                <c:ptCount val="5"/>
                <c:pt idx="0">
                  <c:v>1170.6320242958066</c:v>
                </c:pt>
                <c:pt idx="1">
                  <c:v>1332.3703762015757</c:v>
                </c:pt>
                <c:pt idx="2">
                  <c:v>1507.5840155005594</c:v>
                </c:pt>
                <c:pt idx="3">
                  <c:v>1696.5646935609589</c:v>
                </c:pt>
                <c:pt idx="4">
                  <c:v>1899.5418458534132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51DD-435F-82D2-704C79417945}"/>
            </c:ext>
          </c:extLst>
        </c:ser>
        <c:ser>
          <c:idx val="2"/>
          <c:order val="2"/>
          <c:tx>
            <c:strRef>
              <c:f>'Blown effect (mu variation)'!$P$1:$T$1</c:f>
              <c:strCache>
                <c:ptCount val="5"/>
                <c:pt idx="0">
                  <c:v>Baseline (Firm Dirt)</c:v>
                </c:pt>
              </c:strCache>
            </c:strRef>
          </c:tx>
          <c:spPr>
            <a:ln w="19050" cap="rnd">
              <a:solidFill>
                <a:srgbClr val="00B050"/>
              </a:solidFill>
              <a:round/>
            </a:ln>
            <a:effectLst/>
          </c:spPr>
          <c:marker>
            <c:symbol val="none"/>
          </c:marker>
          <c:xVal>
            <c:numRef>
              <c:f>'Blown effect (mu variation)'!$P$14:$T$14</c:f>
              <c:numCache>
                <c:formatCode>General</c:formatCode>
                <c:ptCount val="5"/>
                <c:pt idx="0">
                  <c:v>5000</c:v>
                </c:pt>
                <c:pt idx="1">
                  <c:v>5500</c:v>
                </c:pt>
                <c:pt idx="2">
                  <c:v>6000</c:v>
                </c:pt>
                <c:pt idx="3">
                  <c:v>6500</c:v>
                </c:pt>
                <c:pt idx="4">
                  <c:v>7000</c:v>
                </c:pt>
              </c:numCache>
            </c:numRef>
          </c:xVal>
          <c:yVal>
            <c:numRef>
              <c:f>'Blown effect (mu variation)'!$P$85:$T$85</c:f>
              <c:numCache>
                <c:formatCode>0</c:formatCode>
                <c:ptCount val="5"/>
                <c:pt idx="0">
                  <c:v>1274.6158607794491</c:v>
                </c:pt>
                <c:pt idx="1">
                  <c:v>1456.8643481697948</c:v>
                </c:pt>
                <c:pt idx="2">
                  <c:v>1655.8090249057968</c:v>
                </c:pt>
                <c:pt idx="3">
                  <c:v>1871.8898471505502</c:v>
                </c:pt>
                <c:pt idx="4">
                  <c:v>2105.4670339845502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51DD-435F-82D2-704C79417945}"/>
            </c:ext>
          </c:extLst>
        </c:ser>
        <c:ser>
          <c:idx val="3"/>
          <c:order val="3"/>
          <c:tx>
            <c:strRef>
              <c:f>'Blown effect (mu variation)'!$U$1:$Y$1</c:f>
              <c:strCache>
                <c:ptCount val="5"/>
                <c:pt idx="0">
                  <c:v>Blown-Lift (Firm Dirt)</c:v>
                </c:pt>
              </c:strCache>
            </c:strRef>
          </c:tx>
          <c:spPr>
            <a:ln w="19050" cap="rnd">
              <a:solidFill>
                <a:srgbClr val="00B050"/>
              </a:solidFill>
              <a:prstDash val="dash"/>
              <a:round/>
            </a:ln>
            <a:effectLst/>
          </c:spPr>
          <c:marker>
            <c:symbol val="none"/>
          </c:marker>
          <c:xVal>
            <c:numRef>
              <c:f>'Blown effect (mu variation)'!$U$14:$Y$14</c:f>
              <c:numCache>
                <c:formatCode>General</c:formatCode>
                <c:ptCount val="5"/>
                <c:pt idx="0">
                  <c:v>5000</c:v>
                </c:pt>
                <c:pt idx="1">
                  <c:v>5500</c:v>
                </c:pt>
                <c:pt idx="2">
                  <c:v>6000</c:v>
                </c:pt>
                <c:pt idx="3">
                  <c:v>6500</c:v>
                </c:pt>
                <c:pt idx="4">
                  <c:v>7000</c:v>
                </c:pt>
              </c:numCache>
            </c:numRef>
          </c:xVal>
          <c:yVal>
            <c:numRef>
              <c:f>'Blown effect (mu variation)'!$U$85:$Y$85</c:f>
              <c:numCache>
                <c:formatCode>0</c:formatCode>
                <c:ptCount val="5"/>
                <c:pt idx="0">
                  <c:v>1156.441709422392</c:v>
                </c:pt>
                <c:pt idx="1">
                  <c:v>1318.4441447803176</c:v>
                </c:pt>
                <c:pt idx="2">
                  <c:v>1494.6477788299603</c:v>
                </c:pt>
                <c:pt idx="3">
                  <c:v>1685.5800035809593</c:v>
                </c:pt>
                <c:pt idx="4">
                  <c:v>1891.7338724057249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3-51DD-435F-82D2-704C79417945}"/>
            </c:ext>
          </c:extLst>
        </c:ser>
        <c:ser>
          <c:idx val="4"/>
          <c:order val="4"/>
          <c:tx>
            <c:strRef>
              <c:f>'Blown effect (mu variation)'!$Z$1:$AD$1</c:f>
              <c:strCache>
                <c:ptCount val="5"/>
                <c:pt idx="0">
                  <c:v>Baseline (Wet)</c:v>
                </c:pt>
              </c:strCache>
            </c:strRef>
          </c:tx>
          <c:spPr>
            <a:ln w="19050" cap="rnd">
              <a:solidFill>
                <a:srgbClr val="0070C0"/>
              </a:solidFill>
              <a:round/>
            </a:ln>
            <a:effectLst/>
          </c:spPr>
          <c:marker>
            <c:symbol val="none"/>
          </c:marker>
          <c:xVal>
            <c:numRef>
              <c:f>'Blown effect (mu variation)'!$Z$14:$AD$14</c:f>
              <c:numCache>
                <c:formatCode>General</c:formatCode>
                <c:ptCount val="5"/>
                <c:pt idx="0">
                  <c:v>5000</c:v>
                </c:pt>
                <c:pt idx="1">
                  <c:v>5500</c:v>
                </c:pt>
                <c:pt idx="2">
                  <c:v>6000</c:v>
                </c:pt>
                <c:pt idx="3">
                  <c:v>6500</c:v>
                </c:pt>
                <c:pt idx="4">
                  <c:v>7000</c:v>
                </c:pt>
              </c:numCache>
            </c:numRef>
          </c:xVal>
          <c:yVal>
            <c:numRef>
              <c:f>'Blown effect (mu variation)'!$Z$85:$AD$85</c:f>
              <c:numCache>
                <c:formatCode>0</c:formatCode>
                <c:ptCount val="5"/>
                <c:pt idx="0">
                  <c:v>1284.4142985087219</c:v>
                </c:pt>
                <c:pt idx="1">
                  <c:v>1470.7235032483115</c:v>
                </c:pt>
                <c:pt idx="2">
                  <c:v>1674.9122551378723</c:v>
                </c:pt>
                <c:pt idx="3">
                  <c:v>1897.6498303028116</c:v>
                </c:pt>
                <c:pt idx="4">
                  <c:v>2139.5508383325332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4-51DD-435F-82D2-704C79417945}"/>
            </c:ext>
          </c:extLst>
        </c:ser>
        <c:ser>
          <c:idx val="5"/>
          <c:order val="5"/>
          <c:tx>
            <c:strRef>
              <c:f>'Blown effect (mu variation)'!$AE$1:$AI$1</c:f>
              <c:strCache>
                <c:ptCount val="5"/>
                <c:pt idx="0">
                  <c:v>Blown-Lift (Wet)</c:v>
                </c:pt>
              </c:strCache>
            </c:strRef>
          </c:tx>
          <c:spPr>
            <a:ln w="19050" cap="rnd">
              <a:solidFill>
                <a:srgbClr val="0070C0"/>
              </a:solidFill>
              <a:prstDash val="dash"/>
              <a:round/>
            </a:ln>
            <a:effectLst/>
          </c:spPr>
          <c:marker>
            <c:symbol val="none"/>
          </c:marker>
          <c:xVal>
            <c:numRef>
              <c:f>'Blown effect (mu variation)'!$AE$14:$AI$14</c:f>
              <c:numCache>
                <c:formatCode>General</c:formatCode>
                <c:ptCount val="5"/>
                <c:pt idx="0">
                  <c:v>5000</c:v>
                </c:pt>
                <c:pt idx="1">
                  <c:v>5500</c:v>
                </c:pt>
                <c:pt idx="2">
                  <c:v>6000</c:v>
                </c:pt>
                <c:pt idx="3">
                  <c:v>6500</c:v>
                </c:pt>
                <c:pt idx="4">
                  <c:v>7000</c:v>
                </c:pt>
              </c:numCache>
            </c:numRef>
          </c:xVal>
          <c:yVal>
            <c:numRef>
              <c:f>'Blown effect (mu variation)'!$AE$85:$AI$85</c:f>
              <c:numCache>
                <c:formatCode>0</c:formatCode>
                <c:ptCount val="5"/>
                <c:pt idx="0">
                  <c:v>1164.4437791302739</c:v>
                </c:pt>
                <c:pt idx="1">
                  <c:v>1329.7322994024269</c:v>
                </c:pt>
                <c:pt idx="2">
                  <c:v>1510.1762729264219</c:v>
                </c:pt>
                <c:pt idx="3">
                  <c:v>1706.4931603044834</c:v>
                </c:pt>
                <c:pt idx="4">
                  <c:v>1919.3911369661314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5-51DD-435F-82D2-704C7941794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668976832"/>
        <c:axId val="1919798415"/>
      </c:scatterChart>
      <c:valAx>
        <c:axId val="668976832"/>
        <c:scaling>
          <c:orientation val="minMax"/>
          <c:max val="7000"/>
          <c:min val="500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400"/>
                  <a:t>Takeoff Weight (lb)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4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19798415"/>
        <c:crosses val="autoZero"/>
        <c:crossBetween val="midCat"/>
        <c:majorUnit val="500"/>
      </c:valAx>
      <c:valAx>
        <c:axId val="1919798415"/>
        <c:scaling>
          <c:orientation val="minMax"/>
          <c:max val="2000"/>
          <c:min val="1000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200" dirty="0"/>
                  <a:t>50ft Clearance</a:t>
                </a:r>
                <a:r>
                  <a:rPr lang="en-US" sz="1200" baseline="0" dirty="0"/>
                  <a:t> </a:t>
                </a:r>
                <a:r>
                  <a:rPr lang="en-US" sz="1200" dirty="0"/>
                  <a:t>Takeoff</a:t>
                </a:r>
                <a:r>
                  <a:rPr lang="en-US" sz="1200" baseline="0" dirty="0"/>
                  <a:t> Distance (ft) </a:t>
                </a:r>
                <a:endParaRPr lang="en-US" sz="1200" dirty="0"/>
              </a:p>
            </c:rich>
          </c:tx>
          <c:layout>
            <c:manualLayout>
              <c:xMode val="edge"/>
              <c:yMode val="edge"/>
              <c:x val="7.9411668361404716E-2"/>
              <c:y val="9.5548926915648286E-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" sourceLinked="1"/>
        <c:majorTickMark val="none"/>
        <c:minorTickMark val="none"/>
        <c:tickLblPos val="nextTo"/>
        <c:crossAx val="668976832"/>
        <c:crosses val="autoZero"/>
        <c:crossBetween val="midCat"/>
        <c:majorUnit val="250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1435324491883008"/>
          <c:y val="7.903184424721045E-2"/>
          <c:w val="0.31333045093523304"/>
          <c:h val="0.3090238355287373"/>
        </c:manualLayout>
      </c:layout>
      <c:overlay val="1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192861774455093"/>
          <c:y val="5.2225478078520141E-2"/>
          <c:w val="0.83221586843140161"/>
          <c:h val="0.83940388511610753"/>
        </c:manualLayout>
      </c:layout>
      <c:scatterChart>
        <c:scatterStyle val="smoothMarker"/>
        <c:varyColors val="0"/>
        <c:ser>
          <c:idx val="0"/>
          <c:order val="0"/>
          <c:tx>
            <c:strRef>
              <c:f>'Blown effect (alt variation)'!$E$1:$H$1</c:f>
              <c:strCache>
                <c:ptCount val="4"/>
                <c:pt idx="0">
                  <c:v>4000 lb (Baseline)</c:v>
                </c:pt>
              </c:strCache>
            </c:strRef>
          </c:tx>
          <c:spPr>
            <a:ln w="19050" cap="rnd">
              <a:solidFill>
                <a:srgbClr val="00B050"/>
              </a:solidFill>
              <a:round/>
            </a:ln>
            <a:effectLst/>
          </c:spPr>
          <c:marker>
            <c:symbol val="none"/>
          </c:marker>
          <c:xVal>
            <c:numRef>
              <c:f>'Blown effect (alt variation)'!$E$73:$H$73</c:f>
              <c:numCache>
                <c:formatCode>0</c:formatCode>
                <c:ptCount val="4"/>
                <c:pt idx="0">
                  <c:v>281.79425405716006</c:v>
                </c:pt>
                <c:pt idx="1">
                  <c:v>302.52784400422087</c:v>
                </c:pt>
                <c:pt idx="2">
                  <c:v>352.60580872872248</c:v>
                </c:pt>
                <c:pt idx="3">
                  <c:v>412.15641050842794</c:v>
                </c:pt>
              </c:numCache>
            </c:numRef>
          </c:xVal>
          <c:yVal>
            <c:numRef>
              <c:f>'Blown effect (alt variation)'!$E$4:$H$4</c:f>
              <c:numCache>
                <c:formatCode>General</c:formatCode>
                <c:ptCount val="4"/>
                <c:pt idx="0">
                  <c:v>0</c:v>
                </c:pt>
                <c:pt idx="1">
                  <c:v>2000</c:v>
                </c:pt>
                <c:pt idx="2">
                  <c:v>4000</c:v>
                </c:pt>
                <c:pt idx="3">
                  <c:v>6000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6365-4AC9-9F80-C81D6F00151B}"/>
            </c:ext>
          </c:extLst>
        </c:ser>
        <c:ser>
          <c:idx val="1"/>
          <c:order val="1"/>
          <c:tx>
            <c:strRef>
              <c:f>'Blown effect (alt variation)'!$I$1:$L$1</c:f>
              <c:strCache>
                <c:ptCount val="4"/>
                <c:pt idx="0">
                  <c:v>5000 lb (Baseline)</c:v>
                </c:pt>
              </c:strCache>
            </c:strRef>
          </c:tx>
          <c:spPr>
            <a:ln w="19050" cap="rnd">
              <a:solidFill>
                <a:srgbClr val="0070C0"/>
              </a:solidFill>
              <a:round/>
            </a:ln>
            <a:effectLst/>
          </c:spPr>
          <c:marker>
            <c:symbol val="none"/>
          </c:marker>
          <c:xVal>
            <c:numRef>
              <c:f>'Blown effect (alt variation)'!$I$73:$L$73</c:f>
              <c:numCache>
                <c:formatCode>0</c:formatCode>
                <c:ptCount val="4"/>
                <c:pt idx="0">
                  <c:v>460.87454254743648</c:v>
                </c:pt>
                <c:pt idx="1">
                  <c:v>495.33372972357148</c:v>
                </c:pt>
                <c:pt idx="2">
                  <c:v>578.55580812883943</c:v>
                </c:pt>
                <c:pt idx="3">
                  <c:v>677.70834599680632</c:v>
                </c:pt>
              </c:numCache>
            </c:numRef>
          </c:xVal>
          <c:yVal>
            <c:numRef>
              <c:f>'Blown effect (alt variation)'!$I$4:$L$4</c:f>
              <c:numCache>
                <c:formatCode>General</c:formatCode>
                <c:ptCount val="4"/>
                <c:pt idx="0">
                  <c:v>0</c:v>
                </c:pt>
                <c:pt idx="1">
                  <c:v>2000</c:v>
                </c:pt>
                <c:pt idx="2">
                  <c:v>4000</c:v>
                </c:pt>
                <c:pt idx="3">
                  <c:v>6000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6365-4AC9-9F80-C81D6F00151B}"/>
            </c:ext>
          </c:extLst>
        </c:ser>
        <c:ser>
          <c:idx val="2"/>
          <c:order val="2"/>
          <c:tx>
            <c:strRef>
              <c:f>'Blown effect (alt variation)'!$M$1:$P$1</c:f>
              <c:strCache>
                <c:ptCount val="4"/>
                <c:pt idx="0">
                  <c:v>6000 lb (Baseline)</c:v>
                </c:pt>
              </c:strCache>
            </c:strRef>
          </c:tx>
          <c:spPr>
            <a:ln w="19050" cap="rnd">
              <a:solidFill>
                <a:srgbClr val="C00000"/>
              </a:solidFill>
              <a:round/>
            </a:ln>
            <a:effectLst/>
          </c:spPr>
          <c:marker>
            <c:symbol val="none"/>
          </c:marker>
          <c:xVal>
            <c:numRef>
              <c:f>'Blown effect (alt variation)'!$M$73:$P$73</c:f>
              <c:numCache>
                <c:formatCode>0</c:formatCode>
                <c:ptCount val="4"/>
                <c:pt idx="0">
                  <c:v>692.44135799924049</c:v>
                </c:pt>
                <c:pt idx="1">
                  <c:v>744.55324609024456</c:v>
                </c:pt>
                <c:pt idx="2">
                  <c:v>870.90770577294995</c:v>
                </c:pt>
                <c:pt idx="3">
                  <c:v>1021.5250996299881</c:v>
                </c:pt>
              </c:numCache>
            </c:numRef>
          </c:xVal>
          <c:yVal>
            <c:numRef>
              <c:f>'Blown effect (alt variation)'!$M$4:$P$4</c:f>
              <c:numCache>
                <c:formatCode>General</c:formatCode>
                <c:ptCount val="4"/>
                <c:pt idx="0">
                  <c:v>0</c:v>
                </c:pt>
                <c:pt idx="1">
                  <c:v>2000</c:v>
                </c:pt>
                <c:pt idx="2">
                  <c:v>4000</c:v>
                </c:pt>
                <c:pt idx="3">
                  <c:v>6000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6365-4AC9-9F80-C81D6F00151B}"/>
            </c:ext>
          </c:extLst>
        </c:ser>
        <c:ser>
          <c:idx val="3"/>
          <c:order val="3"/>
          <c:tx>
            <c:strRef>
              <c:f>'Blown effect (alt variation)'!$Q$1:$T$1</c:f>
              <c:strCache>
                <c:ptCount val="4"/>
                <c:pt idx="0">
                  <c:v>7000 lb (Baseline)</c:v>
                </c:pt>
              </c:strCache>
            </c:strRef>
          </c:tx>
          <c:spPr>
            <a:ln w="1905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xVal>
            <c:numRef>
              <c:f>'Blown effect (alt variation)'!$Q$73:$T$73</c:f>
              <c:numCache>
                <c:formatCode>0</c:formatCode>
                <c:ptCount val="4"/>
                <c:pt idx="0">
                  <c:v>979.70346432295946</c:v>
                </c:pt>
                <c:pt idx="1">
                  <c:v>1053.1724949911272</c:v>
                </c:pt>
                <c:pt idx="2">
                  <c:v>1232.7697092684937</c:v>
                </c:pt>
                <c:pt idx="3">
                  <c:v>1446.634010795171</c:v>
                </c:pt>
              </c:numCache>
            </c:numRef>
          </c:xVal>
          <c:yVal>
            <c:numRef>
              <c:f>'Blown effect (alt variation)'!$Q$4:$T$4</c:f>
              <c:numCache>
                <c:formatCode>General</c:formatCode>
                <c:ptCount val="4"/>
                <c:pt idx="0">
                  <c:v>0</c:v>
                </c:pt>
                <c:pt idx="1">
                  <c:v>2000</c:v>
                </c:pt>
                <c:pt idx="2">
                  <c:v>4000</c:v>
                </c:pt>
                <c:pt idx="3">
                  <c:v>6000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3-6365-4AC9-9F80-C81D6F00151B}"/>
            </c:ext>
          </c:extLst>
        </c:ser>
        <c:ser>
          <c:idx val="4"/>
          <c:order val="4"/>
          <c:tx>
            <c:strRef>
              <c:f>'Blown effect (alt variation)'!$U$1:$X$1</c:f>
              <c:strCache>
                <c:ptCount val="4"/>
                <c:pt idx="0">
                  <c:v>4000 lb (Blown-Lift)</c:v>
                </c:pt>
              </c:strCache>
            </c:strRef>
          </c:tx>
          <c:spPr>
            <a:ln w="19050" cap="rnd">
              <a:solidFill>
                <a:srgbClr val="00B050"/>
              </a:solidFill>
              <a:prstDash val="dash"/>
              <a:round/>
            </a:ln>
            <a:effectLst/>
          </c:spPr>
          <c:marker>
            <c:symbol val="none"/>
          </c:marker>
          <c:xVal>
            <c:numRef>
              <c:f>'Blown effect (alt variation)'!$U$73:$X$73</c:f>
              <c:numCache>
                <c:formatCode>0</c:formatCode>
                <c:ptCount val="4"/>
                <c:pt idx="0">
                  <c:v>237.16807311672193</c:v>
                </c:pt>
                <c:pt idx="1">
                  <c:v>254.40965333980961</c:v>
                </c:pt>
                <c:pt idx="2">
                  <c:v>296.28030501021209</c:v>
                </c:pt>
                <c:pt idx="3">
                  <c:v>346.04656624534897</c:v>
                </c:pt>
              </c:numCache>
            </c:numRef>
          </c:xVal>
          <c:yVal>
            <c:numRef>
              <c:f>'Blown effect (alt variation)'!$U$4:$X$4</c:f>
              <c:numCache>
                <c:formatCode>General</c:formatCode>
                <c:ptCount val="4"/>
                <c:pt idx="0">
                  <c:v>0</c:v>
                </c:pt>
                <c:pt idx="1">
                  <c:v>2000</c:v>
                </c:pt>
                <c:pt idx="2">
                  <c:v>4000</c:v>
                </c:pt>
                <c:pt idx="3">
                  <c:v>6000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4-6365-4AC9-9F80-C81D6F00151B}"/>
            </c:ext>
          </c:extLst>
        </c:ser>
        <c:ser>
          <c:idx val="5"/>
          <c:order val="5"/>
          <c:tx>
            <c:strRef>
              <c:f>'Blown effect (alt variation)'!$Y$1:$AB$1</c:f>
              <c:strCache>
                <c:ptCount val="4"/>
                <c:pt idx="0">
                  <c:v>5000 lb (Blown-Lift)</c:v>
                </c:pt>
              </c:strCache>
            </c:strRef>
          </c:tx>
          <c:spPr>
            <a:ln w="19050" cap="rnd">
              <a:solidFill>
                <a:srgbClr val="0070C0"/>
              </a:solidFill>
              <a:prstDash val="dash"/>
              <a:round/>
            </a:ln>
            <a:effectLst/>
          </c:spPr>
          <c:marker>
            <c:symbol val="none"/>
          </c:marker>
          <c:xVal>
            <c:numRef>
              <c:f>'Blown effect (alt variation)'!$Y$73:$AB$73</c:f>
              <c:numCache>
                <c:formatCode>0</c:formatCode>
                <c:ptCount val="4"/>
                <c:pt idx="0">
                  <c:v>386.74399442939796</c:v>
                </c:pt>
                <c:pt idx="1">
                  <c:v>415.40833647471317</c:v>
                </c:pt>
                <c:pt idx="2">
                  <c:v>484.93460971776824</c:v>
                </c:pt>
                <c:pt idx="3">
                  <c:v>567.79824007173318</c:v>
                </c:pt>
              </c:numCache>
            </c:numRef>
          </c:xVal>
          <c:yVal>
            <c:numRef>
              <c:f>'Blown effect (alt variation)'!$Y$4:$AB$4</c:f>
              <c:numCache>
                <c:formatCode>General</c:formatCode>
                <c:ptCount val="4"/>
                <c:pt idx="0">
                  <c:v>0</c:v>
                </c:pt>
                <c:pt idx="1">
                  <c:v>2000</c:v>
                </c:pt>
                <c:pt idx="2">
                  <c:v>4000</c:v>
                </c:pt>
                <c:pt idx="3">
                  <c:v>6000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5-6365-4AC9-9F80-C81D6F00151B}"/>
            </c:ext>
          </c:extLst>
        </c:ser>
        <c:ser>
          <c:idx val="6"/>
          <c:order val="6"/>
          <c:tx>
            <c:strRef>
              <c:f>'Blown effect (alt variation)'!$AC$1:$AF$1</c:f>
              <c:strCache>
                <c:ptCount val="4"/>
                <c:pt idx="0">
                  <c:v>6000 lb (Blown-Lift)</c:v>
                </c:pt>
              </c:strCache>
            </c:strRef>
          </c:tx>
          <c:spPr>
            <a:ln w="19050" cap="rnd">
              <a:solidFill>
                <a:srgbClr val="C00000"/>
              </a:solidFill>
              <a:prstDash val="dash"/>
              <a:round/>
            </a:ln>
            <a:effectLst/>
          </c:spPr>
          <c:marker>
            <c:symbol val="none"/>
          </c:marker>
          <c:xVal>
            <c:numRef>
              <c:f>'Blown effect (alt variation)'!$AC$73:$AF$73</c:f>
              <c:numCache>
                <c:formatCode>0</c:formatCode>
                <c:ptCount val="4"/>
                <c:pt idx="0">
                  <c:v>580.12580184990577</c:v>
                </c:pt>
                <c:pt idx="1">
                  <c:v>623.66514315010363</c:v>
                </c:pt>
                <c:pt idx="2">
                  <c:v>729.46908792190777</c:v>
                </c:pt>
                <c:pt idx="3">
                  <c:v>855.80021457428393</c:v>
                </c:pt>
              </c:numCache>
            </c:numRef>
          </c:xVal>
          <c:yVal>
            <c:numRef>
              <c:f>'Blown effect (alt variation)'!$AC$4:$AF$4</c:f>
              <c:numCache>
                <c:formatCode>General</c:formatCode>
                <c:ptCount val="4"/>
                <c:pt idx="0">
                  <c:v>0</c:v>
                </c:pt>
                <c:pt idx="1">
                  <c:v>2000</c:v>
                </c:pt>
                <c:pt idx="2">
                  <c:v>4000</c:v>
                </c:pt>
                <c:pt idx="3">
                  <c:v>6000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6-6365-4AC9-9F80-C81D6F00151B}"/>
            </c:ext>
          </c:extLst>
        </c:ser>
        <c:ser>
          <c:idx val="7"/>
          <c:order val="7"/>
          <c:tx>
            <c:strRef>
              <c:f>'Blown effect (alt variation)'!$AG$1:$AJ$1</c:f>
              <c:strCache>
                <c:ptCount val="4"/>
                <c:pt idx="0">
                  <c:v>7000 lb (Blown-Lift)</c:v>
                </c:pt>
              </c:strCache>
            </c:strRef>
          </c:tx>
          <c:spPr>
            <a:ln w="19050" cap="rnd">
              <a:solidFill>
                <a:schemeClr val="tx1"/>
              </a:solidFill>
              <a:prstDash val="dash"/>
              <a:round/>
            </a:ln>
            <a:effectLst/>
          </c:spPr>
          <c:marker>
            <c:symbol val="none"/>
          </c:marker>
          <c:xVal>
            <c:numRef>
              <c:f>'Blown effect (alt variation)'!$AG$73:$AJ$73</c:f>
              <c:numCache>
                <c:formatCode>0</c:formatCode>
                <c:ptCount val="4"/>
                <c:pt idx="0">
                  <c:v>820.65006845302105</c:v>
                </c:pt>
                <c:pt idx="1">
                  <c:v>882.57665779726415</c:v>
                </c:pt>
                <c:pt idx="2">
                  <c:v>1033.815714149182</c:v>
                </c:pt>
                <c:pt idx="3">
                  <c:v>1214.5439735271787</c:v>
                </c:pt>
              </c:numCache>
            </c:numRef>
          </c:xVal>
          <c:yVal>
            <c:numRef>
              <c:f>'Blown effect (alt variation)'!$AG$4:$AJ$4</c:f>
              <c:numCache>
                <c:formatCode>General</c:formatCode>
                <c:ptCount val="4"/>
                <c:pt idx="0">
                  <c:v>0</c:v>
                </c:pt>
                <c:pt idx="1">
                  <c:v>2000</c:v>
                </c:pt>
                <c:pt idx="2">
                  <c:v>4000</c:v>
                </c:pt>
                <c:pt idx="3">
                  <c:v>6000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7-6365-4AC9-9F80-C81D6F00151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668976832"/>
        <c:axId val="1919798415"/>
      </c:scatterChart>
      <c:valAx>
        <c:axId val="668976832"/>
        <c:scaling>
          <c:orientation val="minMax"/>
          <c:max val="2000"/>
          <c:min val="0"/>
        </c:scaling>
        <c:delete val="1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200" dirty="0"/>
                  <a:t>Takeoff Ground Run Distance</a:t>
                </a:r>
              </a:p>
            </c:rich>
          </c:tx>
          <c:layout>
            <c:manualLayout>
              <c:xMode val="edge"/>
              <c:yMode val="edge"/>
              <c:x val="0.38763251374973828"/>
              <c:y val="0.90730685134007039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" sourceLinked="1"/>
        <c:majorTickMark val="none"/>
        <c:minorTickMark val="none"/>
        <c:tickLblPos val="nextTo"/>
        <c:crossAx val="1919798415"/>
        <c:crosses val="autoZero"/>
        <c:crossBetween val="midCat"/>
        <c:majorUnit val="250"/>
      </c:valAx>
      <c:valAx>
        <c:axId val="1919798415"/>
        <c:scaling>
          <c:orientation val="minMax"/>
          <c:max val="60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200"/>
                  <a:t>Pressure Altitude (ft)</a:t>
                </a:r>
              </a:p>
            </c:rich>
          </c:tx>
          <c:layout>
            <c:manualLayout>
              <c:xMode val="edge"/>
              <c:yMode val="edge"/>
              <c:x val="7.5346281423700617E-3"/>
              <c:y val="0.22497117076901973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68976832"/>
        <c:crosses val="autoZero"/>
        <c:crossBetween val="midCat"/>
        <c:majorUnit val="1000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63830969408719695"/>
          <c:y val="0.45187705516284676"/>
          <c:w val="0.33234548531172686"/>
          <c:h val="0.43859130979549821"/>
        </c:manualLayout>
      </c:layout>
      <c:overlay val="1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smoothMarker"/>
        <c:varyColors val="0"/>
        <c:ser>
          <c:idx val="0"/>
          <c:order val="0"/>
          <c:tx>
            <c:strRef>
              <c:f>'Blown effect (mu variation)'!$E$1:$I$1</c:f>
              <c:strCache>
                <c:ptCount val="5"/>
                <c:pt idx="0">
                  <c:v>Baseline (Dry)</c:v>
                </c:pt>
              </c:strCache>
            </c:strRef>
          </c:tx>
          <c:spPr>
            <a:ln w="1905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xVal>
            <c:numRef>
              <c:f>'Blown effect (mu variation)'!$E$14:$I$14</c:f>
              <c:numCache>
                <c:formatCode>General</c:formatCode>
                <c:ptCount val="5"/>
                <c:pt idx="0">
                  <c:v>5000</c:v>
                </c:pt>
                <c:pt idx="1">
                  <c:v>5500</c:v>
                </c:pt>
                <c:pt idx="2">
                  <c:v>6000</c:v>
                </c:pt>
                <c:pt idx="3">
                  <c:v>6500</c:v>
                </c:pt>
                <c:pt idx="4">
                  <c:v>7000</c:v>
                </c:pt>
              </c:numCache>
            </c:numRef>
          </c:xVal>
          <c:yVal>
            <c:numRef>
              <c:f>'Blown effect (mu variation)'!$E$89:$I$89</c:f>
              <c:numCache>
                <c:formatCode>0</c:formatCode>
                <c:ptCount val="5"/>
                <c:pt idx="0">
                  <c:v>1431.7198168543543</c:v>
                </c:pt>
                <c:pt idx="1">
                  <c:v>1574.8917985397902</c:v>
                </c:pt>
                <c:pt idx="2">
                  <c:v>1718.0637802252252</c:v>
                </c:pt>
                <c:pt idx="3">
                  <c:v>1861.2357619106599</c:v>
                </c:pt>
                <c:pt idx="4">
                  <c:v>2004.407743596096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63FA-40FD-B0B5-4ADBDC98C159}"/>
            </c:ext>
          </c:extLst>
        </c:ser>
        <c:ser>
          <c:idx val="1"/>
          <c:order val="1"/>
          <c:tx>
            <c:strRef>
              <c:f>'Blown effect (mu variation)'!$J$1:$N$1</c:f>
              <c:strCache>
                <c:ptCount val="5"/>
                <c:pt idx="0">
                  <c:v>Blown-Lift (Dry)</c:v>
                </c:pt>
              </c:strCache>
            </c:strRef>
          </c:tx>
          <c:spPr>
            <a:ln w="19050" cap="rnd">
              <a:solidFill>
                <a:schemeClr val="tx1"/>
              </a:solidFill>
              <a:prstDash val="dash"/>
              <a:round/>
            </a:ln>
            <a:effectLst/>
          </c:spPr>
          <c:marker>
            <c:symbol val="none"/>
          </c:marker>
          <c:xVal>
            <c:numRef>
              <c:f>'Blown effect (mu variation)'!$J$14:$N$14</c:f>
              <c:numCache>
                <c:formatCode>General</c:formatCode>
                <c:ptCount val="5"/>
                <c:pt idx="0">
                  <c:v>5000</c:v>
                </c:pt>
                <c:pt idx="1">
                  <c:v>5500</c:v>
                </c:pt>
                <c:pt idx="2">
                  <c:v>6000</c:v>
                </c:pt>
                <c:pt idx="3">
                  <c:v>6500</c:v>
                </c:pt>
                <c:pt idx="4">
                  <c:v>7000</c:v>
                </c:pt>
              </c:numCache>
            </c:numRef>
          </c:xVal>
          <c:yVal>
            <c:numRef>
              <c:f>'Blown effect (mu variation)'!$J$89:$N$89</c:f>
              <c:numCache>
                <c:formatCode>0</c:formatCode>
                <c:ptCount val="5"/>
                <c:pt idx="0">
                  <c:v>1254.1633470937841</c:v>
                </c:pt>
                <c:pt idx="1">
                  <c:v>1379.5796818031624</c:v>
                </c:pt>
                <c:pt idx="2">
                  <c:v>1504.9960165125412</c:v>
                </c:pt>
                <c:pt idx="3">
                  <c:v>1630.4123512219189</c:v>
                </c:pt>
                <c:pt idx="4">
                  <c:v>1755.8286859312973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63FA-40FD-B0B5-4ADBDC98C159}"/>
            </c:ext>
          </c:extLst>
        </c:ser>
        <c:ser>
          <c:idx val="2"/>
          <c:order val="2"/>
          <c:tx>
            <c:strRef>
              <c:f>'Blown effect (mu variation)'!$P$1:$T$1</c:f>
              <c:strCache>
                <c:ptCount val="5"/>
                <c:pt idx="0">
                  <c:v>Baseline (Firm Dirt)</c:v>
                </c:pt>
              </c:strCache>
            </c:strRef>
          </c:tx>
          <c:spPr>
            <a:ln w="19050" cap="rnd">
              <a:solidFill>
                <a:srgbClr val="00B050"/>
              </a:solidFill>
              <a:round/>
            </a:ln>
            <a:effectLst/>
          </c:spPr>
          <c:marker>
            <c:symbol val="none"/>
          </c:marker>
          <c:xVal>
            <c:numRef>
              <c:f>'Blown effect (mu variation)'!$P$14:$T$14</c:f>
              <c:numCache>
                <c:formatCode>General</c:formatCode>
                <c:ptCount val="5"/>
                <c:pt idx="0">
                  <c:v>5000</c:v>
                </c:pt>
                <c:pt idx="1">
                  <c:v>5500</c:v>
                </c:pt>
                <c:pt idx="2">
                  <c:v>6000</c:v>
                </c:pt>
                <c:pt idx="3">
                  <c:v>6500</c:v>
                </c:pt>
                <c:pt idx="4">
                  <c:v>7000</c:v>
                </c:pt>
              </c:numCache>
            </c:numRef>
          </c:xVal>
          <c:yVal>
            <c:numRef>
              <c:f>'Blown effect (mu variation)'!$P$89:$T$89</c:f>
              <c:numCache>
                <c:formatCode>0</c:formatCode>
                <c:ptCount val="5"/>
                <c:pt idx="0">
                  <c:v>1526.7273052621756</c:v>
                </c:pt>
                <c:pt idx="1">
                  <c:v>1679.4000357883933</c:v>
                </c:pt>
                <c:pt idx="2">
                  <c:v>1832.0727663146104</c:v>
                </c:pt>
                <c:pt idx="3">
                  <c:v>1984.7454968408274</c:v>
                </c:pt>
                <c:pt idx="4">
                  <c:v>2137.4182273670453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63FA-40FD-B0B5-4ADBDC98C159}"/>
            </c:ext>
          </c:extLst>
        </c:ser>
        <c:ser>
          <c:idx val="3"/>
          <c:order val="3"/>
          <c:tx>
            <c:strRef>
              <c:f>'Blown effect (mu variation)'!$U$1:$Y$1</c:f>
              <c:strCache>
                <c:ptCount val="5"/>
                <c:pt idx="0">
                  <c:v>Blown-Lift (Firm Dirt)</c:v>
                </c:pt>
              </c:strCache>
            </c:strRef>
          </c:tx>
          <c:spPr>
            <a:ln w="19050" cap="rnd">
              <a:solidFill>
                <a:srgbClr val="00B050"/>
              </a:solidFill>
              <a:prstDash val="dash"/>
              <a:round/>
            </a:ln>
            <a:effectLst/>
          </c:spPr>
          <c:marker>
            <c:symbol val="none"/>
          </c:marker>
          <c:xVal>
            <c:numRef>
              <c:f>'Blown effect (mu variation)'!$U$14:$Y$14</c:f>
              <c:numCache>
                <c:formatCode>General</c:formatCode>
                <c:ptCount val="5"/>
                <c:pt idx="0">
                  <c:v>5000</c:v>
                </c:pt>
                <c:pt idx="1">
                  <c:v>5500</c:v>
                </c:pt>
                <c:pt idx="2">
                  <c:v>6000</c:v>
                </c:pt>
                <c:pt idx="3">
                  <c:v>6500</c:v>
                </c:pt>
                <c:pt idx="4">
                  <c:v>7000</c:v>
                </c:pt>
              </c:numCache>
            </c:numRef>
          </c:xVal>
          <c:yVal>
            <c:numRef>
              <c:f>'Blown effect (mu variation)'!$U$89:$Y$89</c:f>
              <c:numCache>
                <c:formatCode>0</c:formatCode>
                <c:ptCount val="5"/>
                <c:pt idx="0">
                  <c:v>1283.4495401666295</c:v>
                </c:pt>
                <c:pt idx="1">
                  <c:v>1411.7944941832927</c:v>
                </c:pt>
                <c:pt idx="2">
                  <c:v>1540.1394481999553</c:v>
                </c:pt>
                <c:pt idx="3">
                  <c:v>1668.484402216618</c:v>
                </c:pt>
                <c:pt idx="4">
                  <c:v>1796.8293562332813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3-63FA-40FD-B0B5-4ADBDC98C159}"/>
            </c:ext>
          </c:extLst>
        </c:ser>
        <c:ser>
          <c:idx val="4"/>
          <c:order val="4"/>
          <c:tx>
            <c:strRef>
              <c:f>'Blown effect (mu variation)'!$Z$1:$AD$1</c:f>
              <c:strCache>
                <c:ptCount val="5"/>
                <c:pt idx="0">
                  <c:v>Baseline (Wet)</c:v>
                </c:pt>
              </c:strCache>
            </c:strRef>
          </c:tx>
          <c:spPr>
            <a:ln w="19050" cap="rnd">
              <a:solidFill>
                <a:srgbClr val="0070C0"/>
              </a:solidFill>
              <a:round/>
            </a:ln>
            <a:effectLst/>
          </c:spPr>
          <c:marker>
            <c:symbol val="none"/>
          </c:marker>
          <c:xVal>
            <c:numRef>
              <c:f>'Blown effect (mu variation)'!$Z$14:$AD$14</c:f>
              <c:numCache>
                <c:formatCode>General</c:formatCode>
                <c:ptCount val="5"/>
                <c:pt idx="0">
                  <c:v>5000</c:v>
                </c:pt>
                <c:pt idx="1">
                  <c:v>5500</c:v>
                </c:pt>
                <c:pt idx="2">
                  <c:v>6000</c:v>
                </c:pt>
                <c:pt idx="3">
                  <c:v>6500</c:v>
                </c:pt>
                <c:pt idx="4">
                  <c:v>7000</c:v>
                </c:pt>
              </c:numCache>
            </c:numRef>
          </c:xVal>
          <c:yVal>
            <c:numRef>
              <c:f>'Blown effect (mu variation)'!$Z$89:$AD$89</c:f>
              <c:numCache>
                <c:formatCode>0</c:formatCode>
                <c:ptCount val="5"/>
                <c:pt idx="0">
                  <c:v>1979.9617980374662</c:v>
                </c:pt>
                <c:pt idx="1">
                  <c:v>2177.9579778412131</c:v>
                </c:pt>
                <c:pt idx="2">
                  <c:v>2375.9541576449587</c:v>
                </c:pt>
                <c:pt idx="3">
                  <c:v>2573.9503374487053</c:v>
                </c:pt>
                <c:pt idx="4">
                  <c:v>2771.9465172524519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4-63FA-40FD-B0B5-4ADBDC98C159}"/>
            </c:ext>
          </c:extLst>
        </c:ser>
        <c:ser>
          <c:idx val="5"/>
          <c:order val="5"/>
          <c:tx>
            <c:strRef>
              <c:f>'Blown effect (mu variation)'!$AE$1:$AI$1</c:f>
              <c:strCache>
                <c:ptCount val="5"/>
                <c:pt idx="0">
                  <c:v>Blown-Lift (Wet)</c:v>
                </c:pt>
              </c:strCache>
            </c:strRef>
          </c:tx>
          <c:spPr>
            <a:ln w="19050" cap="rnd">
              <a:solidFill>
                <a:srgbClr val="0070C0"/>
              </a:solidFill>
              <a:prstDash val="dash"/>
              <a:round/>
            </a:ln>
            <a:effectLst/>
          </c:spPr>
          <c:marker>
            <c:symbol val="none"/>
          </c:marker>
          <c:xVal>
            <c:numRef>
              <c:f>'Blown effect (mu variation)'!$AE$14:$AI$14</c:f>
              <c:numCache>
                <c:formatCode>General</c:formatCode>
                <c:ptCount val="5"/>
                <c:pt idx="0">
                  <c:v>5000</c:v>
                </c:pt>
                <c:pt idx="1">
                  <c:v>5500</c:v>
                </c:pt>
                <c:pt idx="2">
                  <c:v>6000</c:v>
                </c:pt>
                <c:pt idx="3">
                  <c:v>6500</c:v>
                </c:pt>
                <c:pt idx="4">
                  <c:v>7000</c:v>
                </c:pt>
              </c:numCache>
            </c:numRef>
          </c:xVal>
          <c:yVal>
            <c:numRef>
              <c:f>'Blown effect (mu variation)'!$AE$89:$AI$89</c:f>
              <c:numCache>
                <c:formatCode>0</c:formatCode>
                <c:ptCount val="5"/>
                <c:pt idx="0">
                  <c:v>1662.1397699781435</c:v>
                </c:pt>
                <c:pt idx="1">
                  <c:v>1828.3537469759572</c:v>
                </c:pt>
                <c:pt idx="2">
                  <c:v>1994.5677239737718</c:v>
                </c:pt>
                <c:pt idx="3">
                  <c:v>2160.7817009715859</c:v>
                </c:pt>
                <c:pt idx="4">
                  <c:v>2326.9956779694007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5-63FA-40FD-B0B5-4ADBDC98C15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668976832"/>
        <c:axId val="1919798415"/>
      </c:scatterChart>
      <c:valAx>
        <c:axId val="668976832"/>
        <c:scaling>
          <c:orientation val="minMax"/>
          <c:max val="7000"/>
          <c:min val="500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200"/>
                  <a:t>Landing</a:t>
                </a:r>
                <a:r>
                  <a:rPr lang="en-US" sz="1200" baseline="0"/>
                  <a:t> Weight</a:t>
                </a:r>
                <a:r>
                  <a:rPr lang="en-US" sz="1200"/>
                  <a:t> (lb)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19798415"/>
        <c:crosses val="autoZero"/>
        <c:crossBetween val="midCat"/>
        <c:majorUnit val="500"/>
      </c:valAx>
      <c:valAx>
        <c:axId val="1919798415"/>
        <c:scaling>
          <c:orientation val="minMax"/>
          <c:max val="3000"/>
          <c:min val="1250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200" baseline="0"/>
                  <a:t> Landing Distance (ft)</a:t>
                </a:r>
                <a:endParaRPr lang="en-US" sz="1200"/>
              </a:p>
            </c:rich>
          </c:tx>
          <c:layout>
            <c:manualLayout>
              <c:xMode val="edge"/>
              <c:yMode val="edge"/>
              <c:x val="7.5346281423700617E-3"/>
              <c:y val="0.22497117076901973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" sourceLinked="1"/>
        <c:majorTickMark val="none"/>
        <c:minorTickMark val="none"/>
        <c:tickLblPos val="nextTo"/>
        <c:crossAx val="668976832"/>
        <c:crosses val="autoZero"/>
        <c:crossBetween val="midCat"/>
        <c:majorUnit val="250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6.0764976564937213E-2"/>
          <c:y val="5.2386070584624501E-2"/>
          <c:w val="0.31333045093523304"/>
          <c:h val="0.30141075733942702"/>
        </c:manualLayout>
      </c:layout>
      <c:overlay val="1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2561076435951865E-2"/>
          <c:y val="5.5327382138081395E-2"/>
          <c:w val="0.88669165164485397"/>
          <c:h val="0.75034753151504885"/>
        </c:manualLayout>
      </c:layout>
      <c:scatterChart>
        <c:scatterStyle val="smoothMarker"/>
        <c:varyColors val="0"/>
        <c:ser>
          <c:idx val="0"/>
          <c:order val="0"/>
          <c:tx>
            <c:strRef>
              <c:f>'Blown effect (mu variation)'!$E$1:$I$1</c:f>
              <c:strCache>
                <c:ptCount val="5"/>
                <c:pt idx="0">
                  <c:v>Baseline (Dry)</c:v>
                </c:pt>
              </c:strCache>
            </c:strRef>
          </c:tx>
          <c:spPr>
            <a:ln w="1905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xVal>
            <c:numRef>
              <c:f>'Blown effect (mu variation)'!$E$14:$I$14</c:f>
              <c:numCache>
                <c:formatCode>General</c:formatCode>
                <c:ptCount val="5"/>
                <c:pt idx="0">
                  <c:v>5000</c:v>
                </c:pt>
                <c:pt idx="1">
                  <c:v>5500</c:v>
                </c:pt>
                <c:pt idx="2">
                  <c:v>6000</c:v>
                </c:pt>
                <c:pt idx="3">
                  <c:v>6500</c:v>
                </c:pt>
                <c:pt idx="4">
                  <c:v>7000</c:v>
                </c:pt>
              </c:numCache>
            </c:numRef>
          </c:xVal>
          <c:yVal>
            <c:numRef>
              <c:f>'Blown effect (mu variation)'!$E$94:$I$94</c:f>
              <c:numCache>
                <c:formatCode>0</c:formatCode>
                <c:ptCount val="5"/>
                <c:pt idx="0">
                  <c:v>4274.5932334554118</c:v>
                </c:pt>
                <c:pt idx="1">
                  <c:v>4781.8216088781146</c:v>
                </c:pt>
                <c:pt idx="2">
                  <c:v>5314.0530455456646</c:v>
                </c:pt>
                <c:pt idx="3">
                  <c:v>5875.4715998047977</c:v>
                </c:pt>
                <c:pt idx="4">
                  <c:v>6471.2503194352448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1471-4C71-83A4-9B7CB3017D2F}"/>
            </c:ext>
          </c:extLst>
        </c:ser>
        <c:ser>
          <c:idx val="1"/>
          <c:order val="1"/>
          <c:tx>
            <c:strRef>
              <c:f>'Blown effect (mu variation)'!$J$1:$N$1</c:f>
              <c:strCache>
                <c:ptCount val="5"/>
                <c:pt idx="0">
                  <c:v>Blown-Lift (Dry)</c:v>
                </c:pt>
              </c:strCache>
            </c:strRef>
          </c:tx>
          <c:spPr>
            <a:ln w="19050" cap="rnd">
              <a:solidFill>
                <a:schemeClr val="tx1"/>
              </a:solidFill>
              <a:prstDash val="dash"/>
              <a:round/>
            </a:ln>
            <a:effectLst/>
          </c:spPr>
          <c:marker>
            <c:symbol val="none"/>
          </c:marker>
          <c:xVal>
            <c:numRef>
              <c:f>'Blown effect (mu variation)'!$J$14:$N$14</c:f>
              <c:numCache>
                <c:formatCode>General</c:formatCode>
                <c:ptCount val="5"/>
                <c:pt idx="0">
                  <c:v>5000</c:v>
                </c:pt>
                <c:pt idx="1">
                  <c:v>5500</c:v>
                </c:pt>
                <c:pt idx="2">
                  <c:v>6000</c:v>
                </c:pt>
                <c:pt idx="3">
                  <c:v>6500</c:v>
                </c:pt>
                <c:pt idx="4">
                  <c:v>7000</c:v>
                </c:pt>
              </c:numCache>
            </c:numRef>
          </c:xVal>
          <c:yVal>
            <c:numRef>
              <c:f>'Blown effect (mu variation)'!$J$94:$N$94</c:f>
              <c:numCache>
                <c:formatCode>0</c:formatCode>
                <c:ptCount val="5"/>
                <c:pt idx="0">
                  <c:v>4216.8215704344038</c:v>
                </c:pt>
                <c:pt idx="1">
                  <c:v>4710.1341424749435</c:v>
                </c:pt>
                <c:pt idx="2">
                  <c:v>5226.7185685229088</c:v>
                </c:pt>
                <c:pt idx="3">
                  <c:v>5770.9955111965164</c:v>
                </c:pt>
                <c:pt idx="4">
                  <c:v>6348.6649435926811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1471-4C71-83A4-9B7CB3017D2F}"/>
            </c:ext>
          </c:extLst>
        </c:ser>
        <c:ser>
          <c:idx val="2"/>
          <c:order val="2"/>
          <c:tx>
            <c:strRef>
              <c:f>'Blown effect (mu variation)'!$P$1:$T$1</c:f>
              <c:strCache>
                <c:ptCount val="5"/>
                <c:pt idx="0">
                  <c:v>Baseline (Firm Dirt)</c:v>
                </c:pt>
              </c:strCache>
            </c:strRef>
          </c:tx>
          <c:spPr>
            <a:ln w="19050" cap="rnd">
              <a:solidFill>
                <a:srgbClr val="00B050"/>
              </a:solidFill>
              <a:round/>
            </a:ln>
            <a:effectLst/>
          </c:spPr>
          <c:marker>
            <c:symbol val="none"/>
          </c:marker>
          <c:xVal>
            <c:numRef>
              <c:f>'Blown effect (mu variation)'!$P$14:$T$14</c:f>
              <c:numCache>
                <c:formatCode>General</c:formatCode>
                <c:ptCount val="5"/>
                <c:pt idx="0">
                  <c:v>5000</c:v>
                </c:pt>
                <c:pt idx="1">
                  <c:v>5500</c:v>
                </c:pt>
                <c:pt idx="2">
                  <c:v>6000</c:v>
                </c:pt>
                <c:pt idx="3">
                  <c:v>6500</c:v>
                </c:pt>
                <c:pt idx="4">
                  <c:v>7000</c:v>
                </c:pt>
              </c:numCache>
            </c:numRef>
          </c:xVal>
          <c:yVal>
            <c:numRef>
              <c:f>'Blown effect (mu variation)'!$P$94:$T$94</c:f>
              <c:numCache>
                <c:formatCode>0</c:formatCode>
                <c:ptCount val="5"/>
                <c:pt idx="0">
                  <c:v>4422.925238049902</c:v>
                </c:pt>
                <c:pt idx="1">
                  <c:v>4978.7937397754795</c:v>
                </c:pt>
                <c:pt idx="2">
                  <c:v>5573.7379948619264</c:v>
                </c:pt>
                <c:pt idx="3">
                  <c:v>6216.429742859098</c:v>
                </c:pt>
                <c:pt idx="4">
                  <c:v>6918.4805908654089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1471-4C71-83A4-9B7CB3017D2F}"/>
            </c:ext>
          </c:extLst>
        </c:ser>
        <c:ser>
          <c:idx val="3"/>
          <c:order val="3"/>
          <c:tx>
            <c:strRef>
              <c:f>'Blown effect (mu variation)'!$U$1:$Y$1</c:f>
              <c:strCache>
                <c:ptCount val="5"/>
                <c:pt idx="0">
                  <c:v>Blown-Lift (Firm Dirt)</c:v>
                </c:pt>
              </c:strCache>
            </c:strRef>
          </c:tx>
          <c:spPr>
            <a:ln w="19050" cap="rnd">
              <a:solidFill>
                <a:srgbClr val="00B050"/>
              </a:solidFill>
              <a:prstDash val="dash"/>
              <a:round/>
            </a:ln>
            <a:effectLst/>
          </c:spPr>
          <c:marker>
            <c:symbol val="none"/>
          </c:marker>
          <c:xVal>
            <c:numRef>
              <c:f>'Blown effect (mu variation)'!$U$14:$Y$14</c:f>
              <c:numCache>
                <c:formatCode>General</c:formatCode>
                <c:ptCount val="5"/>
                <c:pt idx="0">
                  <c:v>5000</c:v>
                </c:pt>
                <c:pt idx="1">
                  <c:v>5500</c:v>
                </c:pt>
                <c:pt idx="2">
                  <c:v>6000</c:v>
                </c:pt>
                <c:pt idx="3">
                  <c:v>6500</c:v>
                </c:pt>
                <c:pt idx="4">
                  <c:v>7000</c:v>
                </c:pt>
              </c:numCache>
            </c:numRef>
          </c:xVal>
          <c:yVal>
            <c:numRef>
              <c:f>'Blown effect (mu variation)'!$U$94:$Y$94</c:f>
              <c:numCache>
                <c:formatCode>0</c:formatCode>
                <c:ptCount val="5"/>
                <c:pt idx="0">
                  <c:v>4331.9158039946078</c:v>
                </c:pt>
                <c:pt idx="1">
                  <c:v>4865.7589384629327</c:v>
                </c:pt>
                <c:pt idx="2">
                  <c:v>5436.4012893629133</c:v>
                </c:pt>
                <c:pt idx="3">
                  <c:v>6053.6485922752818</c:v>
                </c:pt>
                <c:pt idx="4">
                  <c:v>6731.626856267726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3-1471-4C71-83A4-9B7CB3017D2F}"/>
            </c:ext>
          </c:extLst>
        </c:ser>
        <c:ser>
          <c:idx val="4"/>
          <c:order val="4"/>
          <c:tx>
            <c:strRef>
              <c:f>'Blown effect (mu variation)'!$Z$1:$AD$1</c:f>
              <c:strCache>
                <c:ptCount val="5"/>
                <c:pt idx="0">
                  <c:v>Baseline (Wet)</c:v>
                </c:pt>
              </c:strCache>
            </c:strRef>
          </c:tx>
          <c:spPr>
            <a:ln w="19050" cap="rnd">
              <a:solidFill>
                <a:srgbClr val="0070C0"/>
              </a:solidFill>
              <a:round/>
            </a:ln>
            <a:effectLst/>
          </c:spPr>
          <c:marker>
            <c:symbol val="none"/>
          </c:marker>
          <c:xVal>
            <c:numRef>
              <c:f>'Blown effect (mu variation)'!$Z$14:$AD$14</c:f>
              <c:numCache>
                <c:formatCode>General</c:formatCode>
                <c:ptCount val="5"/>
                <c:pt idx="0">
                  <c:v>5000</c:v>
                </c:pt>
                <c:pt idx="1">
                  <c:v>5500</c:v>
                </c:pt>
                <c:pt idx="2">
                  <c:v>6000</c:v>
                </c:pt>
                <c:pt idx="3">
                  <c:v>6500</c:v>
                </c:pt>
                <c:pt idx="4">
                  <c:v>7000</c:v>
                </c:pt>
              </c:numCache>
            </c:numRef>
          </c:xVal>
          <c:yVal>
            <c:numRef>
              <c:f>'Blown effect (mu variation)'!$Z$94:$AD$94</c:f>
              <c:numCache>
                <c:formatCode>0</c:formatCode>
                <c:ptCount val="5"/>
                <c:pt idx="0">
                  <c:v>4433.0009685405903</c:v>
                </c:pt>
                <c:pt idx="1">
                  <c:v>4993.5907395006343</c:v>
                </c:pt>
                <c:pt idx="2">
                  <c:v>5594.9612076949106</c:v>
                </c:pt>
                <c:pt idx="3">
                  <c:v>6246.2667275898048</c:v>
                </c:pt>
                <c:pt idx="4">
                  <c:v>6959.6935388459369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4-1471-4C71-83A4-9B7CB3017D2F}"/>
            </c:ext>
          </c:extLst>
        </c:ser>
        <c:ser>
          <c:idx val="5"/>
          <c:order val="5"/>
          <c:tx>
            <c:strRef>
              <c:f>'Blown effect (mu variation)'!$AE$1:$AI$1</c:f>
              <c:strCache>
                <c:ptCount val="5"/>
                <c:pt idx="0">
                  <c:v>Blown-Lift (Wet)</c:v>
                </c:pt>
              </c:strCache>
            </c:strRef>
          </c:tx>
          <c:spPr>
            <a:ln w="19050" cap="rnd">
              <a:solidFill>
                <a:srgbClr val="0070C0"/>
              </a:solidFill>
              <a:prstDash val="dash"/>
              <a:round/>
            </a:ln>
            <a:effectLst/>
          </c:spPr>
          <c:marker>
            <c:symbol val="none"/>
          </c:marker>
          <c:xVal>
            <c:numRef>
              <c:f>'Blown effect (mu variation)'!$AE$14:$AI$14</c:f>
              <c:numCache>
                <c:formatCode>General</c:formatCode>
                <c:ptCount val="5"/>
                <c:pt idx="0">
                  <c:v>5000</c:v>
                </c:pt>
                <c:pt idx="1">
                  <c:v>5500</c:v>
                </c:pt>
                <c:pt idx="2">
                  <c:v>6000</c:v>
                </c:pt>
                <c:pt idx="3">
                  <c:v>6500</c:v>
                </c:pt>
                <c:pt idx="4">
                  <c:v>7000</c:v>
                </c:pt>
              </c:numCache>
            </c:numRef>
          </c:xVal>
          <c:yVal>
            <c:numRef>
              <c:f>'Blown effect (mu variation)'!$AE$94:$AI$94</c:f>
              <c:numCache>
                <c:formatCode>0</c:formatCode>
                <c:ptCount val="5"/>
                <c:pt idx="0">
                  <c:v>4340.3156362662185</c:v>
                </c:pt>
                <c:pt idx="1">
                  <c:v>4878.0921882952707</c:v>
                </c:pt>
                <c:pt idx="2">
                  <c:v>5454.0956177583184</c:v>
                </c:pt>
                <c:pt idx="3">
                  <c:v>6078.5322983532988</c:v>
                </c:pt>
                <c:pt idx="4">
                  <c:v>6765.97240786562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5-1471-4C71-83A4-9B7CB3017D2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668976832"/>
        <c:axId val="1919798415"/>
      </c:scatterChart>
      <c:valAx>
        <c:axId val="668976832"/>
        <c:scaling>
          <c:orientation val="minMax"/>
          <c:max val="7000"/>
          <c:min val="500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200" baseline="0"/>
                  <a:t>Takeoff Weight</a:t>
                </a:r>
                <a:r>
                  <a:rPr lang="en-US" sz="1200"/>
                  <a:t> (lb)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19798415"/>
        <c:crosses val="autoZero"/>
        <c:crossBetween val="midCat"/>
        <c:majorUnit val="500"/>
      </c:valAx>
      <c:valAx>
        <c:axId val="1919798415"/>
        <c:scaling>
          <c:orientation val="minMax"/>
          <c:max val="7000"/>
          <c:min val="4000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200" baseline="0"/>
                  <a:t> Landing Distance (ft)</a:t>
                </a:r>
                <a:endParaRPr lang="en-US" sz="1200"/>
              </a:p>
            </c:rich>
          </c:tx>
          <c:layout>
            <c:manualLayout>
              <c:xMode val="edge"/>
              <c:yMode val="edge"/>
              <c:x val="7.5346281423700617E-3"/>
              <c:y val="0.22497117076901973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" sourceLinked="1"/>
        <c:majorTickMark val="none"/>
        <c:minorTickMark val="none"/>
        <c:tickLblPos val="nextTo"/>
        <c:crossAx val="668976832"/>
        <c:crosses val="autoZero"/>
        <c:crossBetween val="midCat"/>
        <c:majorUnit val="250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63797218641218378"/>
          <c:y val="0.48207874785862498"/>
          <c:w val="0.31333045093523304"/>
          <c:h val="0.30141075733942702"/>
        </c:manualLayout>
      </c:layout>
      <c:overlay val="1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0.34916</cdr:x>
      <cdr:y>0.20784</cdr:y>
    </cdr:from>
    <cdr:to>
      <cdr:x>0.52363</cdr:x>
      <cdr:y>0.30851</cdr:y>
    </cdr:to>
    <cdr:sp macro="" textlink="">
      <cdr:nvSpPr>
        <cdr:cNvPr id="2" name="TextBox 1">
          <a:extLst xmlns:a="http://schemas.openxmlformats.org/drawingml/2006/main">
            <a:ext uri="{FF2B5EF4-FFF2-40B4-BE49-F238E27FC236}">
              <a16:creationId xmlns:a16="http://schemas.microsoft.com/office/drawing/2014/main" id="{1314159E-3A0E-3B12-631F-86D5C5EBC685}"/>
            </a:ext>
          </a:extLst>
        </cdr:cNvPr>
        <cdr:cNvSpPr txBox="1"/>
      </cdr:nvSpPr>
      <cdr:spPr>
        <a:xfrm xmlns:a="http://schemas.openxmlformats.org/drawingml/2006/main">
          <a:off x="1731760" y="570144"/>
          <a:ext cx="865305" cy="276161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r>
            <a:rPr lang="en-US" sz="1100" kern="1200" dirty="0"/>
            <a:t>Case 003</a:t>
          </a:r>
        </a:p>
      </cdr:txBody>
    </cdr:sp>
  </cdr:relSizeAnchor>
  <cdr:relSizeAnchor xmlns:cdr="http://schemas.openxmlformats.org/drawingml/2006/chartDrawing">
    <cdr:from>
      <cdr:x>0.29259</cdr:x>
      <cdr:y>0.4821</cdr:y>
    </cdr:from>
    <cdr:to>
      <cdr:x>0.46705</cdr:x>
      <cdr:y>0.58277</cdr:y>
    </cdr:to>
    <cdr:sp macro="" textlink="">
      <cdr:nvSpPr>
        <cdr:cNvPr id="3" name="TextBox 1">
          <a:extLst xmlns:a="http://schemas.openxmlformats.org/drawingml/2006/main">
            <a:ext uri="{FF2B5EF4-FFF2-40B4-BE49-F238E27FC236}">
              <a16:creationId xmlns:a16="http://schemas.microsoft.com/office/drawing/2014/main" id="{B5F955D6-AD6A-D2E0-558A-1E514C6C9AA7}"/>
            </a:ext>
          </a:extLst>
        </cdr:cNvPr>
        <cdr:cNvSpPr txBox="1"/>
      </cdr:nvSpPr>
      <cdr:spPr>
        <a:xfrm xmlns:a="http://schemas.openxmlformats.org/drawingml/2006/main">
          <a:off x="1451166" y="1322505"/>
          <a:ext cx="865305" cy="276161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none" rtlCol="0"/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sz="1100" kern="1200" dirty="0"/>
            <a:t>Case 002</a:t>
          </a:r>
        </a:p>
      </cdr:txBody>
    </cdr:sp>
  </cdr:relSizeAnchor>
  <cdr:relSizeAnchor xmlns:cdr="http://schemas.openxmlformats.org/drawingml/2006/chartDrawing">
    <cdr:from>
      <cdr:x>0.24962</cdr:x>
      <cdr:y>0.69749</cdr:y>
    </cdr:from>
    <cdr:to>
      <cdr:x>0.42409</cdr:x>
      <cdr:y>0.79816</cdr:y>
    </cdr:to>
    <cdr:sp macro="" textlink="">
      <cdr:nvSpPr>
        <cdr:cNvPr id="4" name="TextBox 1">
          <a:extLst xmlns:a="http://schemas.openxmlformats.org/drawingml/2006/main">
            <a:ext uri="{FF2B5EF4-FFF2-40B4-BE49-F238E27FC236}">
              <a16:creationId xmlns:a16="http://schemas.microsoft.com/office/drawing/2014/main" id="{43D5BE49-844C-FE5C-6766-020E7A0AFDAD}"/>
            </a:ext>
          </a:extLst>
        </cdr:cNvPr>
        <cdr:cNvSpPr txBox="1"/>
      </cdr:nvSpPr>
      <cdr:spPr>
        <a:xfrm xmlns:a="http://schemas.openxmlformats.org/drawingml/2006/main">
          <a:off x="1238079" y="1913354"/>
          <a:ext cx="865305" cy="276161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none" rtlCol="0"/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sz="1100" kern="1200" dirty="0"/>
            <a:t>Case 000</a:t>
          </a:r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EE15C7-2EB9-4F44-BEA3-2D1ED4D9FE68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7B8FCF-F4E2-401B-8C3E-04A0226CB5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8627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7B8FCF-F4E2-401B-8C3E-04A0226CB52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6690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7B8FCF-F4E2-401B-8C3E-04A0226CB52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461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D0F69-E493-98A5-C07A-04F5ED41C8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C83D52-77AF-14A9-5D79-81D8476A2F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FF680E-9569-3A79-53D0-CC80D3F5B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ABBC1-8358-479C-984D-30EAFF68FE55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80767A-A2C4-B73C-42C0-2AD1DFF67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20C39C-8D0C-08DE-8A4F-21980FB5F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3D233-CD81-46F5-991D-D7A83076E3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6289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11579-A0B7-7472-64B8-DB16DD51E8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86000"/>
          </a:xfrm>
        </p:spPr>
        <p:txBody>
          <a:bodyPr>
            <a:normAutofit/>
          </a:bodyPr>
          <a:lstStyle>
            <a:lvl1pPr>
              <a:defRPr sz="24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BB00A5-10A5-B0AA-9076-D879F5A873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56903"/>
            <a:ext cx="10515600" cy="5227200"/>
          </a:xfrm>
        </p:spPr>
        <p:txBody>
          <a:bodyPr/>
          <a:lstStyle>
            <a:lvl1pPr>
              <a:buNone/>
              <a:defRPr sz="18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0" indent="-190800">
              <a:defRPr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687600">
              <a:buFont typeface="Calibri" panose="020F0502020204030204" pitchFamily="34" charset="0"/>
              <a:buChar char="̶"/>
              <a:defRPr sz="1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029600">
              <a:buFont typeface="Calibri" panose="020F0502020204030204" pitchFamily="34" charset="0"/>
              <a:buChar char="◦"/>
              <a:defRPr sz="1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4pPr>
            <a:lvl5pPr marL="1371600">
              <a:defRPr sz="1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  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0012C8-9FF9-BB7C-25FF-99E742376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910ABBC1-8358-479C-984D-30EAFF68FE55}" type="datetimeFigureOut">
              <a:rPr lang="en-US" smtClean="0"/>
              <a:pPr/>
              <a:t>9/16/2026</a:t>
            </a:fld>
            <a:endParaRPr 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CA804C-5FC4-D571-FEE7-EC51EAC1D9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88636D-1BA5-55CE-16F8-A655B92B2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D3A3D233-CD81-46F5-991D-D7A83076E3BB}" type="slidenum">
              <a:rPr lang="en-US" smtClean="0"/>
              <a:pPr/>
              <a:t>‹#›</a:t>
            </a:fld>
            <a:endParaRPr 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71841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11579-A0B7-7472-64B8-DB16DD51E8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86000"/>
          </a:xfrm>
        </p:spPr>
        <p:txBody>
          <a:bodyPr>
            <a:normAutofit/>
          </a:bodyPr>
          <a:lstStyle>
            <a:lvl1pPr>
              <a:defRPr sz="24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BB00A5-10A5-B0AA-9076-D879F5A873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56903"/>
            <a:ext cx="5040000" cy="5227200"/>
          </a:xfrm>
        </p:spPr>
        <p:txBody>
          <a:bodyPr/>
          <a:lstStyle>
            <a:lvl1pPr>
              <a:buNone/>
              <a:defRPr sz="18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0" indent="-190800">
              <a:defRPr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687600">
              <a:buFont typeface="Calibri" panose="020F0502020204030204" pitchFamily="34" charset="0"/>
              <a:buChar char="-"/>
              <a:defRPr sz="1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029600">
              <a:buFont typeface="Courier New" panose="02070309020205020404" pitchFamily="49" charset="0"/>
              <a:buChar char="o"/>
              <a:defRPr sz="1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4pPr>
            <a:lvl5pPr marL="1371600">
              <a:defRPr sz="1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0012C8-9FF9-BB7C-25FF-99E742376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910ABBC1-8358-479C-984D-30EAFF68FE55}" type="datetimeFigureOut">
              <a:rPr lang="en-US" smtClean="0"/>
              <a:pPr/>
              <a:t>9/16/2026</a:t>
            </a:fld>
            <a:endParaRPr 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CA804C-5FC4-D571-FEE7-EC51EAC1D9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88636D-1BA5-55CE-16F8-A655B92B2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D3A3D233-CD81-46F5-991D-D7A83076E3BB}" type="slidenum">
              <a:rPr lang="en-US" smtClean="0"/>
              <a:pPr/>
              <a:t>‹#›</a:t>
            </a:fld>
            <a:endParaRPr 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F1A37D5-48E3-AE7C-F3C2-F0412A3DFF0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313802" y="1056903"/>
            <a:ext cx="5040000" cy="5227200"/>
          </a:xfrm>
        </p:spPr>
        <p:txBody>
          <a:bodyPr/>
          <a:lstStyle>
            <a:lvl1pPr>
              <a:buNone/>
              <a:defRPr sz="18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0" indent="-190800">
              <a:defRPr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687600">
              <a:buFont typeface="Calibri" panose="020F0502020204030204" pitchFamily="34" charset="0"/>
              <a:buChar char="-"/>
              <a:defRPr sz="1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029600">
              <a:buFont typeface="Courier New" panose="02070309020205020404" pitchFamily="49" charset="0"/>
              <a:buChar char="o"/>
              <a:defRPr sz="1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4pPr>
            <a:lvl5pPr marL="1371600">
              <a:defRPr sz="1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112484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11579-A0B7-7472-64B8-DB16DD51E8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86000"/>
          </a:xfrm>
        </p:spPr>
        <p:txBody>
          <a:bodyPr>
            <a:normAutofit/>
          </a:bodyPr>
          <a:lstStyle>
            <a:lvl1pPr>
              <a:defRPr sz="24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BB00A5-10A5-B0AA-9076-D879F5A873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56903"/>
            <a:ext cx="3240000" cy="5227200"/>
          </a:xfrm>
        </p:spPr>
        <p:txBody>
          <a:bodyPr/>
          <a:lstStyle>
            <a:lvl1pPr>
              <a:buNone/>
              <a:defRPr sz="18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0" indent="-190800">
              <a:defRPr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687600">
              <a:buFont typeface="Calibri" panose="020F0502020204030204" pitchFamily="34" charset="0"/>
              <a:buChar char="-"/>
              <a:defRPr sz="1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029600">
              <a:buFont typeface="Courier New" panose="02070309020205020404" pitchFamily="49" charset="0"/>
              <a:buChar char="o"/>
              <a:defRPr sz="1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4pPr>
            <a:lvl5pPr marL="1371600">
              <a:defRPr sz="1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0012C8-9FF9-BB7C-25FF-99E742376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910ABBC1-8358-479C-984D-30EAFF68FE55}" type="datetimeFigureOut">
              <a:rPr lang="en-US" smtClean="0"/>
              <a:pPr/>
              <a:t>9/16/2026</a:t>
            </a:fld>
            <a:endParaRPr 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CA804C-5FC4-D571-FEE7-EC51EAC1D9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88636D-1BA5-55CE-16F8-A655B92B2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D3A3D233-CD81-46F5-991D-D7A83076E3BB}" type="slidenum">
              <a:rPr lang="en-US" smtClean="0"/>
              <a:pPr/>
              <a:t>‹#›</a:t>
            </a:fld>
            <a:endParaRPr 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F1A37D5-48E3-AE7C-F3C2-F0412A3DFF0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473466" y="1056903"/>
            <a:ext cx="3240000" cy="5227200"/>
          </a:xfrm>
        </p:spPr>
        <p:txBody>
          <a:bodyPr/>
          <a:lstStyle>
            <a:lvl1pPr>
              <a:buNone/>
              <a:defRPr sz="18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0" indent="-190800">
              <a:defRPr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687600">
              <a:buFont typeface="Calibri" panose="020F0502020204030204" pitchFamily="34" charset="0"/>
              <a:buChar char="-"/>
              <a:defRPr sz="1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029600">
              <a:buFont typeface="Courier New" panose="02070309020205020404" pitchFamily="49" charset="0"/>
              <a:buChar char="o"/>
              <a:defRPr sz="1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4pPr>
            <a:lvl5pPr marL="1371600">
              <a:defRPr sz="1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9FF5FCB-6A8B-349E-3C93-71AE5C233EA4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108732" y="1039966"/>
            <a:ext cx="3240000" cy="5227200"/>
          </a:xfrm>
        </p:spPr>
        <p:txBody>
          <a:bodyPr/>
          <a:lstStyle>
            <a:lvl1pPr>
              <a:buNone/>
              <a:defRPr sz="18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0" indent="-190800">
              <a:defRPr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687600">
              <a:buFont typeface="Calibri" panose="020F0502020204030204" pitchFamily="34" charset="0"/>
              <a:buChar char="-"/>
              <a:defRPr sz="1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029600">
              <a:buFont typeface="Courier New" panose="02070309020205020404" pitchFamily="49" charset="0"/>
              <a:buChar char="o"/>
              <a:defRPr sz="1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4pPr>
            <a:lvl5pPr marL="1371600">
              <a:defRPr sz="1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639158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D0C33B-B4FB-916F-82D1-852CB0362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71E2A7-EC08-4F14-1AEF-F9C0CA3850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B87A7C-1C14-FB53-9C03-E85E2F832A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ABBC1-8358-479C-984D-30EAFF68FE55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EB1C61-662E-4E6B-0E0F-66FBACCA3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08F7B9-237D-84DB-58A9-C1A0BBE21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3D233-CD81-46F5-991D-D7A83076E3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9550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2F1073-3079-ACE7-AFFA-A3699E688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CC6DCA-29FC-7B84-FCE7-2866B880EB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938287-EF93-1D9D-7FC7-212E73A56A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95103D-A676-F714-4F39-9829418E9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ABBC1-8358-479C-984D-30EAFF68FE55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45E7B1-A6B5-9C7F-F457-CF4B974052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790636-661F-7A19-6A8A-5AF22894F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3D233-CD81-46F5-991D-D7A83076E3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724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32154-29A8-0D7A-A1BB-9A7611D92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391269-3EAA-078D-C64C-0082A823ED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C2E1B6-2D6C-1CB4-E0A9-EDE9DC2BAD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FDEEA6-031B-64F8-1526-288D34C70D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50340AB-A2A8-141D-E1DE-648A3A665A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A05FFCE-2304-D17A-1425-4402DAF29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ABBC1-8358-479C-984D-30EAFF68FE55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A0FB4C-5F5A-DD73-352F-4CA6454E0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6DC1F3-7488-2C3B-2D14-DCA542546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3D233-CD81-46F5-991D-D7A83076E3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0616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0C121-9DDF-3EB4-1A5E-ABBE7C6E5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4F071-AB24-3FA4-B4E5-BE790421E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ABBC1-8358-479C-984D-30EAFF68FE55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FB5031-EFE0-39A5-96D8-6C7ABFBEF6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1D5108-C1B8-35D3-0AD9-BEBDD1BE2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3D233-CD81-46F5-991D-D7A83076E3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2745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CEF44A9-5A2F-422C-4682-F578D6A8BB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ABBC1-8358-479C-984D-30EAFF68FE55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4CD392-211C-502E-EC56-D8A1C9136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385462-503F-47F9-387B-2500F2F8C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3D233-CD81-46F5-991D-D7A83076E3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6426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211466-02FD-CFDA-AEBD-2A7ED14666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E56773-7ACA-7437-5859-F4C777EB6A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EE5CED-8D40-1B01-C229-3C41FC6E13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42F90C-BE1E-EAA9-3054-F9F0D2BBC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ABBC1-8358-479C-984D-30EAFF68FE55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B75086-7D9D-7E23-FB70-E75951DD2A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1AFE5B-C6CC-7EA5-D757-68AA30901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3D233-CD81-46F5-991D-D7A83076E3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9475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90DB3-36BC-A4EA-8339-3BFCACD7A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4981061-7C1D-5379-014E-22612D2DA9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81BF27-D457-DA49-2FCB-02FB6C1C03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534F5D-EF99-BD5E-DDE0-B85CD614B8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ABBC1-8358-479C-984D-30EAFF68FE55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EC0F3C-E70F-2707-6CAF-AF94A8761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B85B6F-6B98-CA3D-5471-4A5DEBE8F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3D233-CD81-46F5-991D-D7A83076E3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7431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692B1C-429A-DE33-3F4B-61018A650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06D218-8C7B-0A83-0D10-053C3D5060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E3EE6C-60C6-B0A9-B512-4BA2DEB07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ABBC1-8358-479C-984D-30EAFF68FE55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D8ABEB-C83A-EB8A-10AE-754472C22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87B61D-3146-C5F1-42CE-A513E3D15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3D233-CD81-46F5-991D-D7A83076E3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0593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7292C8F-232D-DAE2-8E21-64FDC53723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8E5BB4-9576-09A7-2CA1-DAACEE634A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31F7D5-1EF0-28E8-DA83-3C27582B9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ABBC1-8358-479C-984D-30EAFF68FE55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F7F6E5-030C-7904-2CDA-A52D252C1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25F515-B783-DB1D-958A-8D43AE0D3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3D233-CD81-46F5-991D-D7A83076E3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6426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F32AAA-3AE0-814A-E9CA-5FE782ADB0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C0E3FF-154C-E97A-5ECD-8EC4A8F042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6D5E5D-CA31-CC9A-7793-B544327F69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0ABBC1-8358-479C-984D-30EAFF68FE55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4C5473-F8E9-C84A-1D46-E892074C66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E216E5-4C52-1C2C-591D-5B5E353527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A3D233-CD81-46F5-991D-D7A83076E3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6832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61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18" Type="http://schemas.openxmlformats.org/officeDocument/2006/relationships/image" Target="../media/image2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17" Type="http://schemas.openxmlformats.org/officeDocument/2006/relationships/image" Target="../media/image2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5" Type="http://schemas.openxmlformats.org/officeDocument/2006/relationships/image" Target="../media/image2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Relationship Id="rId1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A7595B-9205-B553-2ABE-FDAC6179398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ctr">
            <a:noAutofit/>
          </a:bodyPr>
          <a:lstStyle/>
          <a:p>
            <a:r>
              <a:rPr lang="ko-KR" altLang="en-US" sz="36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ko-KR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STOL </a:t>
            </a:r>
            <a:r>
              <a:rPr lang="ko-KR" altLang="en-US" sz="3600" b="1" dirty="0">
                <a:latin typeface="Calibri" panose="020F0502020204030204" pitchFamily="34" charset="0"/>
                <a:cs typeface="Calibri" panose="020F0502020204030204" pitchFamily="34" charset="0"/>
              </a:rPr>
              <a:t>항공기의 공력 및 성능 연구</a:t>
            </a:r>
            <a:endParaRPr lang="en-US" sz="3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DA608A-F0A8-B446-0A7A-4DC07BEC905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endParaRPr lang="en-US" altLang="ko-K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altLang="ko-K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ko-KR" altLang="en-US" b="1" dirty="0">
                <a:latin typeface="Calibri" panose="020F0502020204030204" pitchFamily="34" charset="0"/>
                <a:cs typeface="Calibri" panose="020F0502020204030204" pitchFamily="34" charset="0"/>
              </a:rPr>
              <a:t>박세환</a:t>
            </a:r>
            <a:endParaRPr lang="en-US" altLang="ko-KR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ko-KR" alt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한화에어로스페이스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37641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F8561-9AF8-4773-D7F3-A925E077AE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A2A0DE-653D-9797-17B6-33DE540E8C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Blown-Lift Wing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C6FAF3-DC66-9193-3A20-67D04B1DC0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9475" y="3791961"/>
            <a:ext cx="5040000" cy="247707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685A81F-B324-B148-86C2-370C891C8F2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788" b="5598"/>
          <a:stretch>
            <a:fillRect/>
          </a:stretch>
        </p:blipFill>
        <p:spPr>
          <a:xfrm>
            <a:off x="6329475" y="2078481"/>
            <a:ext cx="5040000" cy="154804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045CC5D-06C1-D624-5CD4-E804508FF77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6116"/>
          <a:stretch>
            <a:fillRect/>
          </a:stretch>
        </p:blipFill>
        <p:spPr>
          <a:xfrm>
            <a:off x="838200" y="3791961"/>
            <a:ext cx="5040000" cy="247707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6940C53-D7C3-113A-476F-13D653C957E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967" r="4262"/>
          <a:stretch>
            <a:fillRect/>
          </a:stretch>
        </p:blipFill>
        <p:spPr>
          <a:xfrm>
            <a:off x="825641" y="2078481"/>
            <a:ext cx="5040000" cy="1548048"/>
          </a:xfrm>
          <a:prstGeom prst="rect">
            <a:avLst/>
          </a:prstGeom>
        </p:spPr>
      </p:pic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EB0EC46E-6F01-77A0-BBD4-B61270AFF670}"/>
              </a:ext>
            </a:extLst>
          </p:cNvPr>
          <p:cNvSpPr txBox="1">
            <a:spLocks/>
          </p:cNvSpPr>
          <p:nvPr/>
        </p:nvSpPr>
        <p:spPr>
          <a:xfrm>
            <a:off x="809966" y="1439214"/>
            <a:ext cx="5040000" cy="9725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0" indent="-190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687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̶"/>
              <a:defRPr sz="12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029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◦"/>
              <a:defRPr sz="12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4pPr>
            <a:lvl5pPr marL="1371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dirty="0"/>
              <a:t>NASA X-57 Maxwell</a:t>
            </a:r>
          </a:p>
          <a:p>
            <a:pPr lvl="2"/>
            <a:r>
              <a:rPr lang="en-US" dirty="0"/>
              <a:t> Leading Edge Asynchronous Propeller (LEAP) Technology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A37AC5C2-8EF4-A3B7-8BFD-41B9A1F3AF74}"/>
              </a:ext>
            </a:extLst>
          </p:cNvPr>
          <p:cNvSpPr txBox="1">
            <a:spLocks/>
          </p:cNvSpPr>
          <p:nvPr/>
        </p:nvSpPr>
        <p:spPr>
          <a:xfrm>
            <a:off x="6342036" y="1439214"/>
            <a:ext cx="5040000" cy="9725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0" indent="-190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687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̶"/>
              <a:defRPr sz="12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029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◦"/>
              <a:defRPr sz="12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4pPr>
            <a:lvl5pPr marL="1371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dirty="0"/>
              <a:t>Electra Aero</a:t>
            </a:r>
          </a:p>
          <a:p>
            <a:pPr lvl="2"/>
            <a:r>
              <a:rPr lang="en-US" dirty="0"/>
              <a:t> Ultra STOL Aircraft with 150 ft Ground Roll</a:t>
            </a:r>
          </a:p>
        </p:txBody>
      </p:sp>
    </p:spTree>
    <p:extLst>
      <p:ext uri="{BB962C8B-B14F-4D97-AF65-F5344CB8AC3E}">
        <p14:creationId xmlns:p14="http://schemas.microsoft.com/office/powerpoint/2010/main" val="2945140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DD086-062E-FAE7-406A-01CA567FB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AFD4D4-80A4-86A9-AC31-E826523FBE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Short Takeoff and Landing (STOL)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4D8C3F-C6F0-FB14-6294-F5FC0947EA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4956" y="2719906"/>
            <a:ext cx="4492219" cy="280763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D3B354D-3BDF-8BC7-5ACB-4F00E4EA96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8" y="2719906"/>
            <a:ext cx="4492219" cy="2839142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18FD4FFB-4CF7-22D5-3268-EEEDA276F874}"/>
              </a:ext>
            </a:extLst>
          </p:cNvPr>
          <p:cNvSpPr txBox="1">
            <a:spLocks/>
          </p:cNvSpPr>
          <p:nvPr/>
        </p:nvSpPr>
        <p:spPr>
          <a:xfrm>
            <a:off x="809966" y="1439213"/>
            <a:ext cx="5040000" cy="51088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0" indent="-190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687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̶"/>
              <a:defRPr sz="12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029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◦"/>
              <a:defRPr sz="12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4pPr>
            <a:lvl5pPr marL="1371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dirty="0"/>
              <a:t>Gray Eagle 25M</a:t>
            </a:r>
          </a:p>
          <a:p>
            <a:pPr lvl="2"/>
            <a:r>
              <a:rPr lang="en-US" dirty="0"/>
              <a:t>200-HP Heavy Fuel Engine 2.0</a:t>
            </a:r>
          </a:p>
          <a:p>
            <a:pPr lvl="2"/>
            <a:r>
              <a:rPr lang="en-US" dirty="0"/>
              <a:t>Maximum Gross Takeoff Weight: 4,200 </a:t>
            </a:r>
            <a:r>
              <a:rPr lang="en-US" dirty="0" err="1"/>
              <a:t>lb</a:t>
            </a:r>
            <a:endParaRPr lang="en-US" dirty="0"/>
          </a:p>
          <a:p>
            <a:pPr lvl="2"/>
            <a:r>
              <a:rPr lang="en-US" dirty="0"/>
              <a:t>Maximum airspeed: 167 kts</a:t>
            </a:r>
          </a:p>
          <a:p>
            <a:pPr lvl="2"/>
            <a:endParaRPr lang="en-US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AD693278-24E2-A417-DF0B-CFC58736E10D}"/>
              </a:ext>
            </a:extLst>
          </p:cNvPr>
          <p:cNvSpPr txBox="1">
            <a:spLocks/>
          </p:cNvSpPr>
          <p:nvPr/>
        </p:nvSpPr>
        <p:spPr>
          <a:xfrm>
            <a:off x="6342036" y="1439213"/>
            <a:ext cx="5040000" cy="13124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0" indent="-190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687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̶"/>
              <a:defRPr sz="12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029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◦"/>
              <a:defRPr sz="12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4pPr>
            <a:lvl5pPr marL="1371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dirty="0"/>
              <a:t>Mojave STOL</a:t>
            </a:r>
          </a:p>
          <a:p>
            <a:pPr lvl="2"/>
            <a:r>
              <a:rPr lang="en-US" dirty="0"/>
              <a:t>Rolls Royce M250 (450 SHP)</a:t>
            </a:r>
          </a:p>
          <a:p>
            <a:pPr lvl="2"/>
            <a:r>
              <a:rPr lang="en-US" dirty="0"/>
              <a:t>Maximum Gross Takeoff Weight: 7,000 </a:t>
            </a:r>
            <a:r>
              <a:rPr lang="en-US" dirty="0" err="1"/>
              <a:t>lb</a:t>
            </a:r>
            <a:endParaRPr lang="en-US" dirty="0"/>
          </a:p>
          <a:p>
            <a:pPr lvl="2"/>
            <a:r>
              <a:rPr lang="en-US" dirty="0"/>
              <a:t>Maximum airspeed: 140 kts</a:t>
            </a:r>
          </a:p>
          <a:p>
            <a:pPr lvl="2"/>
            <a:r>
              <a:rPr lang="en-US" dirty="0"/>
              <a:t>Takeoff Distance: 400 – 1,000 ft</a:t>
            </a:r>
          </a:p>
        </p:txBody>
      </p:sp>
    </p:spTree>
    <p:extLst>
      <p:ext uri="{BB962C8B-B14F-4D97-AF65-F5344CB8AC3E}">
        <p14:creationId xmlns:p14="http://schemas.microsoft.com/office/powerpoint/2010/main" val="37928850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D3038E-4537-53B4-757D-96F0CBE250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60F69-AA06-C66E-9BDD-AA03170CE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Aerodynamic Modeling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79E3F0-5A08-5FCF-98AA-22EE6F99F7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Wing Modeling</a:t>
            </a:r>
          </a:p>
          <a:p>
            <a:pPr lvl="1"/>
            <a:r>
              <a:rPr lang="en-US" dirty="0"/>
              <a:t>Vortex Lattice Method</a:t>
            </a:r>
          </a:p>
          <a:p>
            <a:pPr lvl="1"/>
            <a:r>
              <a:rPr lang="en-US" dirty="0"/>
              <a:t>Flap/Aileron Surface Deflected</a:t>
            </a:r>
          </a:p>
          <a:p>
            <a:pPr lvl="1"/>
            <a:endParaRPr lang="en-US" dirty="0"/>
          </a:p>
          <a:p>
            <a:r>
              <a:rPr lang="en-US" dirty="0"/>
              <a:t>Wake Modeling</a:t>
            </a:r>
          </a:p>
          <a:p>
            <a:pPr lvl="1"/>
            <a:r>
              <a:rPr lang="en-US" dirty="0"/>
              <a:t>Free-wake</a:t>
            </a:r>
          </a:p>
          <a:p>
            <a:pPr lvl="1"/>
            <a:r>
              <a:rPr lang="en-US" dirty="0"/>
              <a:t>Constant Vorticity Contour Wake Model</a:t>
            </a:r>
          </a:p>
          <a:p>
            <a:pPr lvl="1"/>
            <a:endParaRPr lang="en-US" dirty="0"/>
          </a:p>
          <a:p>
            <a:r>
              <a:rPr lang="en-US" dirty="0"/>
              <a:t>Automation</a:t>
            </a:r>
          </a:p>
          <a:p>
            <a:pPr lvl="1"/>
            <a:r>
              <a:rPr lang="en-US" dirty="0" err="1"/>
              <a:t>OpenVSP</a:t>
            </a:r>
            <a:r>
              <a:rPr lang="en-US" dirty="0"/>
              <a:t>-to-CHARM process</a:t>
            </a:r>
          </a:p>
          <a:p>
            <a:pPr lvl="1"/>
            <a:r>
              <a:rPr lang="en-US" dirty="0"/>
              <a:t>CHARM Run/Post-Process</a:t>
            </a:r>
          </a:p>
          <a:p>
            <a:pPr lvl="1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552D831-498C-D3E2-C262-A628F154E6F7}"/>
              </a:ext>
            </a:extLst>
          </p:cNvPr>
          <p:cNvSpPr txBox="1"/>
          <p:nvPr/>
        </p:nvSpPr>
        <p:spPr>
          <a:xfrm>
            <a:off x="7596704" y="2865316"/>
            <a:ext cx="21787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err="1"/>
              <a:t>OpenVSP</a:t>
            </a:r>
            <a:r>
              <a:rPr lang="en-US" sz="1600" b="1" dirty="0"/>
              <a:t> Model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0AFDA0-7EA1-030F-3150-49B7D5FF78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19" t="19999" r="16625" b="28889"/>
          <a:stretch>
            <a:fillRect/>
          </a:stretch>
        </p:blipFill>
        <p:spPr>
          <a:xfrm>
            <a:off x="6581115" y="506987"/>
            <a:ext cx="3666669" cy="236641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4C7F26F-65D4-78F8-2881-421B1C71290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965" r="5207" b="2852"/>
          <a:stretch>
            <a:fillRect/>
          </a:stretch>
        </p:blipFill>
        <p:spPr>
          <a:xfrm>
            <a:off x="6475228" y="3472106"/>
            <a:ext cx="3878442" cy="292319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6541B98-CF51-9AAD-1E66-79CCF500A783}"/>
              </a:ext>
            </a:extLst>
          </p:cNvPr>
          <p:cNvSpPr txBox="1"/>
          <p:nvPr/>
        </p:nvSpPr>
        <p:spPr>
          <a:xfrm>
            <a:off x="7695037" y="6167942"/>
            <a:ext cx="21787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CHARM Model</a:t>
            </a:r>
          </a:p>
        </p:txBody>
      </p:sp>
    </p:spTree>
    <p:extLst>
      <p:ext uri="{BB962C8B-B14F-4D97-AF65-F5344CB8AC3E}">
        <p14:creationId xmlns:p14="http://schemas.microsoft.com/office/powerpoint/2010/main" val="18930082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B62B3-5A41-FB74-1C69-C972CF9638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Aerodynamics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3678EF-A11E-6043-E6F6-D6DD0BB3D0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Blown-Lift Effect</a:t>
            </a:r>
          </a:p>
          <a:p>
            <a:pPr lvl="1"/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65C189C-28F7-F31E-C374-D2385D53BD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2694" y="365125"/>
            <a:ext cx="5335177" cy="300573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C156894-BDE1-D24D-FCFB-4EFBE0F98BD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340" b="8973"/>
          <a:stretch>
            <a:fillRect/>
          </a:stretch>
        </p:blipFill>
        <p:spPr>
          <a:xfrm>
            <a:off x="6326311" y="3458274"/>
            <a:ext cx="5335177" cy="3337927"/>
          </a:xfrm>
          <a:prstGeom prst="rect">
            <a:avLst/>
          </a:prstGeom>
        </p:spPr>
      </p:pic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3BA90846-C60D-3194-AC82-6356DE0937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0331664"/>
              </p:ext>
            </p:extLst>
          </p:nvPr>
        </p:nvGraphicFramePr>
        <p:xfrm>
          <a:off x="145585" y="1685992"/>
          <a:ext cx="6873342" cy="1854911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38618">
                  <a:extLst>
                    <a:ext uri="{9D8B030D-6E8A-4147-A177-3AD203B41FA5}">
                      <a16:colId xmlns:a16="http://schemas.microsoft.com/office/drawing/2014/main" val="2975586167"/>
                    </a:ext>
                  </a:extLst>
                </a:gridCol>
                <a:gridCol w="1915496">
                  <a:extLst>
                    <a:ext uri="{9D8B030D-6E8A-4147-A177-3AD203B41FA5}">
                      <a16:colId xmlns:a16="http://schemas.microsoft.com/office/drawing/2014/main" val="895651106"/>
                    </a:ext>
                  </a:extLst>
                </a:gridCol>
                <a:gridCol w="1104807">
                  <a:extLst>
                    <a:ext uri="{9D8B030D-6E8A-4147-A177-3AD203B41FA5}">
                      <a16:colId xmlns:a16="http://schemas.microsoft.com/office/drawing/2014/main" val="2943267657"/>
                    </a:ext>
                  </a:extLst>
                </a:gridCol>
                <a:gridCol w="1104807">
                  <a:extLst>
                    <a:ext uri="{9D8B030D-6E8A-4147-A177-3AD203B41FA5}">
                      <a16:colId xmlns:a16="http://schemas.microsoft.com/office/drawing/2014/main" val="338787980"/>
                    </a:ext>
                  </a:extLst>
                </a:gridCol>
                <a:gridCol w="1104807">
                  <a:extLst>
                    <a:ext uri="{9D8B030D-6E8A-4147-A177-3AD203B41FA5}">
                      <a16:colId xmlns:a16="http://schemas.microsoft.com/office/drawing/2014/main" val="2269966841"/>
                    </a:ext>
                  </a:extLst>
                </a:gridCol>
                <a:gridCol w="1104807">
                  <a:extLst>
                    <a:ext uri="{9D8B030D-6E8A-4147-A177-3AD203B41FA5}">
                      <a16:colId xmlns:a16="http://schemas.microsoft.com/office/drawing/2014/main" val="2949918088"/>
                    </a:ext>
                  </a:extLst>
                </a:gridCol>
              </a:tblGrid>
              <a:tr h="20513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CaseID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Small Prop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Large Prop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delta CL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CL Multiplier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056195124"/>
                  </a:ext>
                </a:extLst>
              </a:tr>
              <a:tr h="20513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000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Flap 0 deg, Aileron 0 deg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-0.66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0.60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47142809"/>
                  </a:ext>
                </a:extLst>
              </a:tr>
              <a:tr h="20513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001</a:t>
                      </a:r>
                    </a:p>
                  </a:txBody>
                  <a:tcPr marL="6350" marR="6350" marT="6350" marB="0" anchor="b"/>
                </a:tc>
                <a:tc rowSpan="7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Flap 30 deg, Aileron 10 deg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1.00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540361707"/>
                  </a:ext>
                </a:extLst>
              </a:tr>
              <a:tr h="20949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002</a:t>
                      </a:r>
                    </a:p>
                  </a:txBody>
                  <a:tcPr marL="6350" marR="6350" marT="6350" marB="0" anchor="b"/>
                </a:tc>
                <a:tc v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Inboard/Outboard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0.12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1.07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752470873"/>
                  </a:ext>
                </a:extLst>
              </a:tr>
              <a:tr h="20513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003</a:t>
                      </a:r>
                    </a:p>
                  </a:txBody>
                  <a:tcPr marL="6350" marR="6350" marT="6350" marB="0" anchor="b"/>
                </a:tc>
                <a:tc v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Inboard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0.10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1.06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579221554"/>
                  </a:ext>
                </a:extLst>
              </a:tr>
              <a:tr h="20513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004</a:t>
                      </a:r>
                    </a:p>
                  </a:txBody>
                  <a:tcPr marL="6350" marR="6350" marT="6350" marB="0" anchor="b"/>
                </a:tc>
                <a:tc v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Outboard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0.00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1.00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75039052"/>
                  </a:ext>
                </a:extLst>
              </a:tr>
              <a:tr h="20949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005</a:t>
                      </a:r>
                    </a:p>
                  </a:txBody>
                  <a:tcPr marL="6350" marR="6350" marT="6350" marB="0" anchor="b"/>
                </a:tc>
                <a:tc v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Inboard/Outboard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0.59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1.36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76445450"/>
                  </a:ext>
                </a:extLst>
              </a:tr>
              <a:tr h="20513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006</a:t>
                      </a:r>
                    </a:p>
                  </a:txBody>
                  <a:tcPr marL="6350" marR="6350" marT="6350" marB="0" anchor="b"/>
                </a:tc>
                <a:tc v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Inboard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0.46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1.28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648939825"/>
                  </a:ext>
                </a:extLst>
              </a:tr>
              <a:tr h="20513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007</a:t>
                      </a:r>
                    </a:p>
                  </a:txBody>
                  <a:tcPr marL="6350" marR="6350" marT="6350" marB="0" anchor="b"/>
                </a:tc>
                <a:tc v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Outboard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0.18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1.11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509737242"/>
                  </a:ext>
                </a:extLst>
              </a:tr>
            </a:tbl>
          </a:graphicData>
        </a:graphic>
      </p:graphicFrame>
      <p:graphicFrame>
        <p:nvGraphicFramePr>
          <p:cNvPr id="20" name="Chart 19">
            <a:extLst>
              <a:ext uri="{FF2B5EF4-FFF2-40B4-BE49-F238E27FC236}">
                <a16:creationId xmlns:a16="http://schemas.microsoft.com/office/drawing/2014/main" id="{250760E2-E7C8-3C66-3F37-EF9C12E8361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32905479"/>
              </p:ext>
            </p:extLst>
          </p:nvPr>
        </p:nvGraphicFramePr>
        <p:xfrm>
          <a:off x="630952" y="3992917"/>
          <a:ext cx="4959776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5961220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34E89-50F9-9C81-8AA8-5AF303AF5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Takeoff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581DAD-289F-0409-2B92-4426CB8B71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Ground Roll Distance</a:t>
            </a:r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0F542D5-3DE9-F86E-B63C-CA024F78AAB6}"/>
                  </a:ext>
                </a:extLst>
              </p:cNvPr>
              <p:cNvSpPr txBox="1"/>
              <p:nvPr/>
            </p:nvSpPr>
            <p:spPr>
              <a:xfrm>
                <a:off x="3117550" y="2912896"/>
                <a:ext cx="898323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𝑊</m:t>
                      </m:r>
                    </m:oMath>
                  </m:oMathPara>
                </a14:m>
                <a:endParaRPr lang="en-US" sz="1200" b="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0F542D5-3DE9-F86E-B63C-CA024F78AA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7550" y="2912896"/>
                <a:ext cx="898323" cy="184666"/>
              </a:xfrm>
              <a:prstGeom prst="rect">
                <a:avLst/>
              </a:prstGeom>
              <a:blipFill>
                <a:blip r:embed="rId3"/>
                <a:stretch>
                  <a:fillRect l="-4054" r="-4730" b="-3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CEB003C-4929-A73F-96E9-A7429BEDB155}"/>
                  </a:ext>
                </a:extLst>
              </p:cNvPr>
              <p:cNvSpPr txBox="1"/>
              <p:nvPr/>
            </p:nvSpPr>
            <p:spPr>
              <a:xfrm>
                <a:off x="3107608" y="3211007"/>
                <a:ext cx="768159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lang="en-US" sz="1200" b="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CEB003C-4929-A73F-96E9-A7429BEDB1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7608" y="3211007"/>
                <a:ext cx="768159" cy="184666"/>
              </a:xfrm>
              <a:prstGeom prst="rect">
                <a:avLst/>
              </a:prstGeom>
              <a:blipFill>
                <a:blip r:embed="rId4"/>
                <a:stretch>
                  <a:fillRect l="-4762" r="-3968"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2BB01DD-FDE3-CB87-0246-0A36F256C8A3}"/>
                  </a:ext>
                </a:extLst>
              </p:cNvPr>
              <p:cNvSpPr txBox="1"/>
              <p:nvPr/>
            </p:nvSpPr>
            <p:spPr>
              <a:xfrm>
                <a:off x="1060663" y="2497911"/>
                <a:ext cx="1569917" cy="41498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num>
                            <m:den>
                              <m:sSubSup>
                                <m:sSubSup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den>
                          </m:f>
                        </m:e>
                      </m:d>
                      <m:sSup>
                        <m:sSup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1200" b="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2BB01DD-FDE3-CB87-0246-0A36F256C8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0663" y="2497911"/>
                <a:ext cx="1569917" cy="414985"/>
              </a:xfrm>
              <a:prstGeom prst="rect">
                <a:avLst/>
              </a:prstGeom>
              <a:blipFill>
                <a:blip r:embed="rId5"/>
                <a:stretch>
                  <a:fillRect l="-1938" r="-388" b="-73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E1F26C1-AFF0-F8B9-0F1C-D0B70DE824D3}"/>
                  </a:ext>
                </a:extLst>
              </p:cNvPr>
              <p:cNvSpPr txBox="1"/>
              <p:nvPr/>
            </p:nvSpPr>
            <p:spPr>
              <a:xfrm>
                <a:off x="3113745" y="2613070"/>
                <a:ext cx="2026132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𝐿𝑂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=1.1 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𝑠𝑡𝑎𝑙𝑙</m:t>
                          </m:r>
                        </m:sub>
                      </m:sSub>
                      <m:r>
                        <a:rPr lang="en-US" sz="1200" b="0" i="0" smtClean="0">
                          <a:latin typeface="Cambria Math" panose="02040503050406030204" pitchFamily="18" charset="0"/>
                        </a:rPr>
                        <m:t> (</m:t>
                      </m:r>
                      <m:r>
                        <m:rPr>
                          <m:sty m:val="p"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Liftoff</m:t>
                      </m:r>
                      <m:r>
                        <a:rPr lang="en-US" sz="12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Speed</m:t>
                      </m:r>
                      <m:r>
                        <a:rPr lang="en-US" sz="12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b="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E1F26C1-AFF0-F8B9-0F1C-D0B70DE824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3745" y="2613070"/>
                <a:ext cx="2026132" cy="184666"/>
              </a:xfrm>
              <a:prstGeom prst="rect">
                <a:avLst/>
              </a:prstGeom>
              <a:blipFill>
                <a:blip r:embed="rId6"/>
                <a:stretch>
                  <a:fillRect l="-1506" t="-6667" r="-2410" b="-3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F83CF34-7371-716E-BB12-904C073878D0}"/>
                  </a:ext>
                </a:extLst>
              </p:cNvPr>
              <p:cNvSpPr txBox="1"/>
              <p:nvPr/>
            </p:nvSpPr>
            <p:spPr>
              <a:xfrm>
                <a:off x="1060663" y="1541297"/>
                <a:ext cx="1587679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b="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F83CF34-7371-716E-BB12-904C073878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0663" y="1541297"/>
                <a:ext cx="1587679" cy="184666"/>
              </a:xfrm>
              <a:prstGeom prst="rect">
                <a:avLst/>
              </a:prstGeom>
              <a:blipFill>
                <a:blip r:embed="rId7"/>
                <a:stretch>
                  <a:fillRect l="-1923" t="-6667" r="-3077" b="-3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2128FF4-A349-38C9-5E1F-513D163BF1BA}"/>
                  </a:ext>
                </a:extLst>
              </p:cNvPr>
              <p:cNvSpPr txBox="1"/>
              <p:nvPr/>
            </p:nvSpPr>
            <p:spPr>
              <a:xfrm>
                <a:off x="1060663" y="1931741"/>
                <a:ext cx="1854162" cy="41498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num>
                        <m:den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den>
                      </m:f>
                      <m:d>
                        <m:d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𝑑𝑉</m:t>
                              </m:r>
                            </m:num>
                            <m:den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</m:den>
                          </m:f>
                        </m:e>
                      </m:d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𝑊</m:t>
                          </m:r>
                        </m:num>
                        <m:den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𝑔</m:t>
                          </m:r>
                        </m:den>
                      </m:f>
                      <m:d>
                        <m:d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  <m:f>
                            <m:f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𝑑𝑉</m:t>
                              </m:r>
                            </m:num>
                            <m:den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den>
                          </m:f>
                        </m:e>
                      </m:d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</m:oMath>
                  </m:oMathPara>
                </a14:m>
                <a:endParaRPr lang="en-US" sz="1200" b="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2128FF4-A349-38C9-5E1F-513D163BF1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0663" y="1931741"/>
                <a:ext cx="1854162" cy="414985"/>
              </a:xfrm>
              <a:prstGeom prst="rect">
                <a:avLst/>
              </a:prstGeom>
              <a:blipFill>
                <a:blip r:embed="rId8"/>
                <a:stretch>
                  <a:fillRect b="-88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5C09FDD-94A6-6D62-DEE3-1C75269D1135}"/>
                  </a:ext>
                </a:extLst>
              </p:cNvPr>
              <p:cNvSpPr txBox="1"/>
              <p:nvPr/>
            </p:nvSpPr>
            <p:spPr>
              <a:xfrm>
                <a:off x="3238027" y="1937767"/>
                <a:ext cx="941989" cy="4029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𝑑𝑠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𝑊𝑑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p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sSub>
                            <m:sSub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1200" b="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5C09FDD-94A6-6D62-DEE3-1C75269D11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8027" y="1937767"/>
                <a:ext cx="941989" cy="402931"/>
              </a:xfrm>
              <a:prstGeom prst="rect">
                <a:avLst/>
              </a:prstGeom>
              <a:blipFill>
                <a:blip r:embed="rId9"/>
                <a:stretch>
                  <a:fillRect l="-3871" t="-1515" r="-5806" b="-15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97EBFD1-F674-FB96-4915-9520224A85DC}"/>
                  </a:ext>
                </a:extLst>
              </p:cNvPr>
              <p:cNvSpPr txBox="1"/>
              <p:nvPr/>
            </p:nvSpPr>
            <p:spPr>
              <a:xfrm>
                <a:off x="1107496" y="3629398"/>
                <a:ext cx="2404056" cy="64165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nary>
                        <m:nary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sSub>
                            <m:sSub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sub>
                          </m:sSub>
                        </m:sup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𝑑𝑠</m:t>
                          </m:r>
                        </m:e>
                      </m:nary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𝑊</m:t>
                          </m:r>
                        </m:num>
                        <m:den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𝑔</m:t>
                          </m:r>
                        </m:den>
                      </m:f>
                      <m:nary>
                        <m:nary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sSub>
                            <m:sSub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𝐿𝑂</m:t>
                              </m:r>
                            </m:sub>
                          </m:sSub>
                        </m:sup>
                        <m:e>
                          <m:f>
                            <m:f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p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d>
                                <m:d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𝐹</m:t>
                                          </m:r>
                                        </m:e>
                                        <m:sub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𝐹</m:t>
                                          </m:r>
                                        </m:e>
                                        <m:sub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sSubSup>
                                        <m:sSubSupPr>
                                          <m:ctrl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𝑉</m:t>
                                          </m:r>
                                        </m:e>
                                        <m:sub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  <m:sup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bSup>
                                    </m:den>
                                  </m:f>
                                </m:e>
                              </m:d>
                              <m:sSup>
                                <m:sSup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p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</m:oMath>
                  </m:oMathPara>
                </a14:m>
                <a:endParaRPr lang="en-US" sz="1200" b="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97EBFD1-F674-FB96-4915-9520224A85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7496" y="3629398"/>
                <a:ext cx="2404056" cy="641651"/>
              </a:xfrm>
              <a:prstGeom prst="rect">
                <a:avLst/>
              </a:prstGeom>
              <a:blipFill>
                <a:blip r:embed="rId10"/>
                <a:stretch>
                  <a:fillRect l="-26650" t="-117925" r="-254" b="-1396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E65FB3C-03C9-6789-2D60-54064B0F6969}"/>
                  </a:ext>
                </a:extLst>
              </p:cNvPr>
              <p:cNvSpPr txBox="1"/>
              <p:nvPr/>
            </p:nvSpPr>
            <p:spPr>
              <a:xfrm>
                <a:off x="1060663" y="4519062"/>
                <a:ext cx="1617045" cy="42133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𝑊</m:t>
                          </m:r>
                        </m:num>
                        <m:den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𝑔</m:t>
                          </m:r>
                        </m:den>
                      </m:f>
                      <m:d>
                        <m:d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Sup>
                                <m:sSubSup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𝐿𝑂</m:t>
                                  </m:r>
                                </m:sub>
                                <m:sup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num>
                            <m:den>
                              <m:sSub>
                                <m:sSub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𝑙𝑛</m:t>
                      </m:r>
                      <m:f>
                        <m:f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1200" b="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E65FB3C-03C9-6789-2D60-54064B0F69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0663" y="4519062"/>
                <a:ext cx="1617045" cy="421334"/>
              </a:xfrm>
              <a:prstGeom prst="rect">
                <a:avLst/>
              </a:prstGeom>
              <a:blipFill>
                <a:blip r:embed="rId11"/>
                <a:stretch>
                  <a:fillRect l="-377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715B5201-CC9D-B577-56D5-F4B7C94AF3A6}"/>
              </a:ext>
            </a:extLst>
          </p:cNvPr>
          <p:cNvSpPr txBox="1">
            <a:spLocks/>
          </p:cNvSpPr>
          <p:nvPr/>
        </p:nvSpPr>
        <p:spPr>
          <a:xfrm>
            <a:off x="5946668" y="1056903"/>
            <a:ext cx="5082499" cy="5227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0" indent="-190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687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̶"/>
              <a:defRPr sz="12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029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◦"/>
              <a:defRPr sz="12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4pPr>
            <a:lvl5pPr marL="1371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Airborne Distance</a:t>
            </a:r>
          </a:p>
          <a:p>
            <a:pPr lvl="1"/>
            <a:r>
              <a:rPr lang="en-US" dirty="0"/>
              <a:t>Transition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Remaining Climb</a:t>
            </a:r>
          </a:p>
          <a:p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602DD1D-667C-8299-04B0-A265B6AB5144}"/>
              </a:ext>
            </a:extLst>
          </p:cNvPr>
          <p:cNvSpPr txBox="1"/>
          <p:nvPr/>
        </p:nvSpPr>
        <p:spPr>
          <a:xfrm>
            <a:off x="975769" y="5877215"/>
            <a:ext cx="394210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Source: </a:t>
            </a:r>
            <a:r>
              <a:rPr lang="en-US" sz="800" dirty="0" err="1"/>
              <a:t>Pamadi</a:t>
            </a:r>
            <a:r>
              <a:rPr lang="en-US" sz="800" dirty="0"/>
              <a:t>, B., Performance, Stability, Dynamics, and Control of Airplanes, 2015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C47A713-ECC8-CF04-3FBC-94B220A1B61B}"/>
                  </a:ext>
                </a:extLst>
              </p:cNvPr>
              <p:cNvSpPr txBox="1"/>
              <p:nvPr/>
            </p:nvSpPr>
            <p:spPr>
              <a:xfrm>
                <a:off x="6250917" y="1793251"/>
                <a:ext cx="1075551" cy="4062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𝑇𝑅</m:t>
                              </m:r>
                            </m:sub>
                            <m:sup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𝑇𝑅</m:t>
                              </m:r>
                            </m:sub>
                          </m:s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−1)</m:t>
                          </m:r>
                        </m:den>
                      </m:f>
                    </m:oMath>
                  </m:oMathPara>
                </a14:m>
                <a:endParaRPr lang="en-US" sz="1200" b="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C47A713-ECC8-CF04-3FBC-94B220A1B6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0917" y="1793251"/>
                <a:ext cx="1075551" cy="406265"/>
              </a:xfrm>
              <a:prstGeom prst="rect">
                <a:avLst/>
              </a:prstGeom>
              <a:blipFill>
                <a:blip r:embed="rId12"/>
                <a:stretch>
                  <a:fillRect l="-3390" r="-5085" b="-194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A296C4A-EAAB-A0B6-B060-86CB1A6CE823}"/>
                  </a:ext>
                </a:extLst>
              </p:cNvPr>
              <p:cNvSpPr txBox="1"/>
              <p:nvPr/>
            </p:nvSpPr>
            <p:spPr>
              <a:xfrm>
                <a:off x="6250915" y="2843531"/>
                <a:ext cx="3125407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𝑇𝑅</m:t>
                        </m:r>
                      </m:sub>
                    </m:sSub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𝑅𝑠𝑖𝑛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 sz="12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             horizontal transition distance</a:t>
                </a:r>
                <a:endParaRPr lang="en-US" sz="1200" b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A296C4A-EAAB-A0B6-B060-86CB1A6CE8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0915" y="2843531"/>
                <a:ext cx="3125407" cy="184666"/>
              </a:xfrm>
              <a:prstGeom prst="rect">
                <a:avLst/>
              </a:prstGeom>
              <a:blipFill>
                <a:blip r:embed="rId13"/>
                <a:stretch>
                  <a:fillRect l="-1170" t="-25806" r="-2144" b="-483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55FE6FEA-B7BC-1348-3D91-002B204DE4D1}"/>
                  </a:ext>
                </a:extLst>
              </p:cNvPr>
              <p:cNvSpPr txBox="1"/>
              <p:nvPr/>
            </p:nvSpPr>
            <p:spPr>
              <a:xfrm>
                <a:off x="6250915" y="2417291"/>
                <a:ext cx="3422925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𝑇𝑅</m:t>
                        </m:r>
                      </m:sub>
                    </m:sSub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(1−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𝑐𝑜𝑠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200" b="0" dirty="0"/>
                  <a:t>  </a:t>
                </a:r>
                <a:r>
                  <a:rPr lang="en-US" sz="1200" b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altitude gaine</a:t>
                </a:r>
                <a:r>
                  <a:rPr lang="en-US" sz="12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d during transition</a:t>
                </a:r>
                <a:endParaRPr lang="en-US" sz="1200" b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55FE6FEA-B7BC-1348-3D91-002B204DE4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0915" y="2417291"/>
                <a:ext cx="3422925" cy="184666"/>
              </a:xfrm>
              <a:prstGeom prst="rect">
                <a:avLst/>
              </a:prstGeom>
              <a:blipFill>
                <a:blip r:embed="rId14"/>
                <a:stretch>
                  <a:fillRect l="-1601" t="-26667" b="-5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91D7B9F6-0A7A-5FC6-D72D-AFD75B9E4EC4}"/>
                  </a:ext>
                </a:extLst>
              </p:cNvPr>
              <p:cNvSpPr txBox="1"/>
              <p:nvPr/>
            </p:nvSpPr>
            <p:spPr>
              <a:xfrm>
                <a:off x="6250915" y="3778510"/>
                <a:ext cx="1146083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=50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𝑓𝑡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𝑇𝑅</m:t>
                          </m:r>
                        </m:sub>
                      </m:sSub>
                    </m:oMath>
                  </m:oMathPara>
                </a14:m>
                <a:endParaRPr lang="en-US" sz="1200" b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91D7B9F6-0A7A-5FC6-D72D-AFD75B9E4E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0915" y="3778510"/>
                <a:ext cx="1146083" cy="184666"/>
              </a:xfrm>
              <a:prstGeom prst="rect">
                <a:avLst/>
              </a:prstGeom>
              <a:blipFill>
                <a:blip r:embed="rId15"/>
                <a:stretch>
                  <a:fillRect l="-2660" t="-3333" r="-532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18225B8C-2B7F-5E12-182D-6A20FFFD9C3B}"/>
                  </a:ext>
                </a:extLst>
              </p:cNvPr>
              <p:cNvSpPr txBox="1"/>
              <p:nvPr/>
            </p:nvSpPr>
            <p:spPr>
              <a:xfrm>
                <a:off x="6250915" y="4155131"/>
                <a:ext cx="978217" cy="3795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𝑠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𝐶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=</m:t>
                      </m:r>
                      <m:f>
                        <m:fPr>
                          <m:ctrlPr>
                            <a:rPr lang="en-US" sz="12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50−</m:t>
                          </m:r>
                          <m:sSub>
                            <m:sSub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ℎ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𝑇𝑅</m:t>
                              </m:r>
                            </m:sub>
                          </m:sSub>
                        </m:num>
                        <m:den>
                          <m:r>
                            <a:rPr lang="en-US" sz="12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𝑡𝑎𝑛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𝛾</m:t>
                          </m:r>
                        </m:den>
                      </m:f>
                    </m:oMath>
                  </m:oMathPara>
                </a14:m>
                <a:endParaRPr lang="en-US" sz="1200" b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18225B8C-2B7F-5E12-182D-6A20FFFD9C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0915" y="4155131"/>
                <a:ext cx="978217" cy="379591"/>
              </a:xfrm>
              <a:prstGeom prst="rect">
                <a:avLst/>
              </a:prstGeom>
              <a:blipFill>
                <a:blip r:embed="rId16"/>
                <a:stretch>
                  <a:fillRect l="-1242" t="-3226" b="-161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E764A01D-CF6C-0C10-67CD-9071AA439020}"/>
                  </a:ext>
                </a:extLst>
              </p:cNvPr>
              <p:cNvSpPr txBox="1"/>
              <p:nvPr/>
            </p:nvSpPr>
            <p:spPr>
              <a:xfrm>
                <a:off x="7859027" y="1796528"/>
                <a:ext cx="1257780" cy="41498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𝛾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US" sz="1200" b="0" i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1200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e>
                            <m:sup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fName>
                        <m:e>
                          <m:d>
                            <m:d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num>
                                <m:den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en-US" sz="1200" b="0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E764A01D-CF6C-0C10-67CD-9071AA4390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9027" y="1796528"/>
                <a:ext cx="1257780" cy="414985"/>
              </a:xfrm>
              <a:prstGeom prst="rect">
                <a:avLst/>
              </a:prstGeom>
              <a:blipFill>
                <a:blip r:embed="rId17"/>
                <a:stretch>
                  <a:fillRect l="-2415" b="-14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B7688D4-F49F-4603-E5B2-EF72D8A35AFE}"/>
                  </a:ext>
                </a:extLst>
              </p:cNvPr>
              <p:cNvSpPr txBox="1"/>
              <p:nvPr/>
            </p:nvSpPr>
            <p:spPr>
              <a:xfrm>
                <a:off x="6250915" y="4834330"/>
                <a:ext cx="1508426" cy="1928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𝑠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𝑇𝑂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,50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𝑠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𝐺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𝑠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𝑇𝑅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𝑠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𝐶</m:t>
                          </m:r>
                        </m:sub>
                      </m:sSub>
                    </m:oMath>
                  </m:oMathPara>
                </a14:m>
                <a:endParaRPr lang="en-US" sz="1200" b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B7688D4-F49F-4603-E5B2-EF72D8A35A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0915" y="4834330"/>
                <a:ext cx="1508426" cy="192873"/>
              </a:xfrm>
              <a:prstGeom prst="rect">
                <a:avLst/>
              </a:prstGeom>
              <a:blipFill>
                <a:blip r:embed="rId18"/>
                <a:stretch>
                  <a:fillRect l="-806" r="-403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555743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5E772-5F00-5DDD-2147-49D55CEB0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Takeoff Performance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9E4BBD7-E623-7B24-7475-E811D57FF34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44337" y="1056903"/>
                <a:ext cx="10515600" cy="5227200"/>
              </a:xfrm>
            </p:spPr>
            <p:txBody>
              <a:bodyPr/>
              <a:lstStyle/>
              <a:p>
                <a:r>
                  <a:rPr lang="en-US" dirty="0"/>
                  <a:t>Runway Condition</a:t>
                </a:r>
              </a:p>
              <a:p>
                <a:pPr lvl="1"/>
                <a:r>
                  <a:rPr lang="en-US" dirty="0"/>
                  <a:t>Unbraked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Paved Runway: 0.025 for Dry </a:t>
                </a:r>
                <a:r>
                  <a:rPr lang="en-US" sz="800" dirty="0"/>
                  <a:t>(Source: MIL-STD-3013B)</a:t>
                </a:r>
              </a:p>
              <a:p>
                <a:pPr lvl="2"/>
                <a:r>
                  <a:rPr lang="en-US" dirty="0"/>
                  <a:t>Semi-Prepared: 0.040 for Firm Dirt </a:t>
                </a:r>
                <a:r>
                  <a:rPr lang="en-US" sz="800" dirty="0"/>
                  <a:t>(Source: Raymer, 0.05 for hard turf, 0.04 for firm dirt, 0.07 for soft turf)</a:t>
                </a:r>
              </a:p>
              <a:p>
                <a:pPr lvl="2"/>
                <a:r>
                  <a:rPr lang="en-US" dirty="0" err="1"/>
                  <a:t>Martime</a:t>
                </a:r>
                <a:r>
                  <a:rPr lang="en-US" dirty="0"/>
                  <a:t>: 0.050 for Wet </a:t>
                </a:r>
                <a:r>
                  <a:rPr lang="en-US" sz="800" dirty="0"/>
                  <a:t>(Source: MIL-STD-3013B)</a:t>
                </a:r>
              </a:p>
              <a:p>
                <a:pPr lvl="2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9E4BBD7-E623-7B24-7475-E811D57FF34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44337" y="1056903"/>
                <a:ext cx="10515600" cy="5227200"/>
              </a:xfrm>
              <a:blipFill>
                <a:blip r:embed="rId2"/>
                <a:stretch>
                  <a:fillRect l="-522" t="-10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20524EDF-37FE-E438-795A-F028BAB855CF}"/>
              </a:ext>
            </a:extLst>
          </p:cNvPr>
          <p:cNvSpPr txBox="1"/>
          <p:nvPr/>
        </p:nvSpPr>
        <p:spPr>
          <a:xfrm>
            <a:off x="5353937" y="6114826"/>
            <a:ext cx="21787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Ground Roll Distance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15A5227E-DB4A-801B-3E23-3960329147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95711618"/>
              </p:ext>
            </p:extLst>
          </p:nvPr>
        </p:nvGraphicFramePr>
        <p:xfrm>
          <a:off x="6361207" y="2617119"/>
          <a:ext cx="5830793" cy="33363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A506E206-073C-F572-561A-9ED018CD354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17251694"/>
              </p:ext>
            </p:extLst>
          </p:nvPr>
        </p:nvGraphicFramePr>
        <p:xfrm>
          <a:off x="265207" y="2609185"/>
          <a:ext cx="5830793" cy="33363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0166AF01-C5E3-52A0-29EF-CD40D4371384}"/>
              </a:ext>
            </a:extLst>
          </p:cNvPr>
          <p:cNvSpPr txBox="1"/>
          <p:nvPr/>
        </p:nvSpPr>
        <p:spPr>
          <a:xfrm>
            <a:off x="11662938" y="4806175"/>
            <a:ext cx="52770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250 ft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5E79800-0133-F44E-DC90-AE6FD170325A}"/>
              </a:ext>
            </a:extLst>
          </p:cNvPr>
          <p:cNvCxnSpPr>
            <a:cxnSpLocks/>
          </p:cNvCxnSpPr>
          <p:nvPr/>
        </p:nvCxnSpPr>
        <p:spPr>
          <a:xfrm>
            <a:off x="11662938" y="4664054"/>
            <a:ext cx="0" cy="54585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81667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2C562-2DF3-CB2F-351C-8BA451BCD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Takeoff Performance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FFB1816-AD47-BFF6-0E56-4AD80975C78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Runway Condition</a:t>
                </a:r>
              </a:p>
              <a:p>
                <a:pPr lvl="1"/>
                <a:r>
                  <a:rPr lang="en-US" dirty="0"/>
                  <a:t>Unbraked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Paved runway: 0.025 for Dry </a:t>
                </a:r>
                <a:r>
                  <a:rPr lang="en-US" sz="800" dirty="0"/>
                  <a:t>(Source: MIL-STD-3013B)</a:t>
                </a:r>
              </a:p>
              <a:p>
                <a:pPr lvl="2"/>
                <a:r>
                  <a:rPr lang="en-US" dirty="0"/>
                  <a:t>Semi-prepared: 0.040 for Firm Dirt </a:t>
                </a:r>
                <a:r>
                  <a:rPr lang="en-US" sz="800" dirty="0"/>
                  <a:t>(Source: Raymer, 0.05 for hard turf, 0.04 for firm dirt, 0.07 for soft turf)</a:t>
                </a:r>
              </a:p>
              <a:p>
                <a:pPr lvl="2"/>
                <a:r>
                  <a:rPr lang="en-US" dirty="0" err="1"/>
                  <a:t>Martime</a:t>
                </a:r>
                <a:r>
                  <a:rPr lang="en-US" dirty="0"/>
                  <a:t>: 0.050 for Wet </a:t>
                </a:r>
                <a:r>
                  <a:rPr lang="en-US" sz="800" dirty="0"/>
                  <a:t>(Source: MIL-STD-3013B)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FFB1816-AD47-BFF6-0E56-4AD80975C78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0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B2FB602F-D08A-4531-BCC7-F75D26C43F4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66261"/>
              </p:ext>
            </p:extLst>
          </p:nvPr>
        </p:nvGraphicFramePr>
        <p:xfrm>
          <a:off x="3297205" y="2464733"/>
          <a:ext cx="5830793" cy="33363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9E212FC5-97C8-CBF2-C0E1-A38687CFBA3F}"/>
              </a:ext>
            </a:extLst>
          </p:cNvPr>
          <p:cNvSpPr txBox="1"/>
          <p:nvPr/>
        </p:nvSpPr>
        <p:spPr>
          <a:xfrm>
            <a:off x="4756106" y="6017775"/>
            <a:ext cx="39092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50ft </a:t>
            </a:r>
            <a:r>
              <a:rPr lang="en-US" sz="1600" b="1" dirty="0" err="1"/>
              <a:t>Clearnace</a:t>
            </a:r>
            <a:r>
              <a:rPr lang="en-US" sz="1600" b="1" dirty="0"/>
              <a:t> Takeoff Distance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B46850-262B-3691-B4E3-3563F2FC490F}"/>
              </a:ext>
            </a:extLst>
          </p:cNvPr>
          <p:cNvSpPr txBox="1"/>
          <p:nvPr/>
        </p:nvSpPr>
        <p:spPr>
          <a:xfrm>
            <a:off x="8956099" y="4738669"/>
            <a:ext cx="52770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250 ft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60E4CF8-B647-0868-9104-20687A177334}"/>
              </a:ext>
            </a:extLst>
          </p:cNvPr>
          <p:cNvCxnSpPr>
            <a:cxnSpLocks/>
          </p:cNvCxnSpPr>
          <p:nvPr/>
        </p:nvCxnSpPr>
        <p:spPr>
          <a:xfrm>
            <a:off x="8956099" y="4596548"/>
            <a:ext cx="0" cy="54585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53540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818D61-6E0C-900E-4214-D70F5E05D1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6018E-E0D5-E5D6-829D-99CB8F593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Takeoff Performance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41BC831-DDE4-BAB2-699D-B04E9E50259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Altitude Effect</a:t>
                </a:r>
              </a:p>
              <a:p>
                <a:pPr lvl="1"/>
                <a:r>
                  <a:rPr lang="en-US" dirty="0"/>
                  <a:t>Variations in air density and engine available power with altitude were considered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𝑆𝐻𝑃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𝑆𝐻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𝛿</m:t>
                    </m:r>
                    <m:rad>
                      <m:radPr>
                        <m:deg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lit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rad>
                  </m:oMath>
                </a14:m>
                <a:r>
                  <a:rPr lang="en-US" dirty="0"/>
                  <a:t> where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/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/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dirty="0"/>
              </a:p>
              <a:p>
                <a:pPr lvl="2"/>
                <a:endParaRPr lang="en-US" dirty="0"/>
              </a:p>
              <a:p>
                <a:pPr lvl="2"/>
                <a:endParaRPr lang="en-US" dirty="0"/>
              </a:p>
              <a:p>
                <a:pPr lvl="2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41BC831-DDE4-BAB2-699D-B04E9E50259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0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12B72646-A981-1FFC-F187-DBB8051EC672}"/>
              </a:ext>
            </a:extLst>
          </p:cNvPr>
          <p:cNvSpPr txBox="1"/>
          <p:nvPr/>
        </p:nvSpPr>
        <p:spPr>
          <a:xfrm>
            <a:off x="4351820" y="6114826"/>
            <a:ext cx="37469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Altitude effect on ground roll distance</a:t>
            </a:r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CDE3CEE8-E3CC-4EF6-BD5E-CA5876DAAAA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44447346"/>
              </p:ext>
            </p:extLst>
          </p:nvPr>
        </p:nvGraphicFramePr>
        <p:xfrm>
          <a:off x="2960389" y="2771622"/>
          <a:ext cx="5894294" cy="32403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CEA17774-F6A4-9350-74DF-FB89924DF8B3}"/>
              </a:ext>
            </a:extLst>
          </p:cNvPr>
          <p:cNvSpPr txBox="1"/>
          <p:nvPr/>
        </p:nvSpPr>
        <p:spPr>
          <a:xfrm>
            <a:off x="8142740" y="2640817"/>
            <a:ext cx="52770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250 ft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2C6BFEF-E1F1-306F-DEB7-CE3E0780BD38}"/>
              </a:ext>
            </a:extLst>
          </p:cNvPr>
          <p:cNvCxnSpPr/>
          <p:nvPr/>
        </p:nvCxnSpPr>
        <p:spPr>
          <a:xfrm>
            <a:off x="8054807" y="2884017"/>
            <a:ext cx="61564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11252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BBE70-6AB5-DEC7-5FC4-D28A5CEF7C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Landing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E5BD41-4202-73E1-9E1F-2A4EA3717A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Landing Distance Analysis</a:t>
            </a:r>
          </a:p>
          <a:p>
            <a:pPr lvl="1"/>
            <a:r>
              <a:rPr lang="en-US" dirty="0"/>
              <a:t>Numerical integration of deceleration from touchdown to stop</a:t>
            </a:r>
          </a:p>
          <a:p>
            <a:pPr lvl="1"/>
            <a:r>
              <a:rPr lang="en-US" dirty="0"/>
              <a:t>Aerodynamic drag, wheel braking, rolling resistance, and reverse thrust considered</a:t>
            </a:r>
          </a:p>
          <a:p>
            <a:pPr lvl="1"/>
            <a:r>
              <a:rPr lang="en-US" dirty="0"/>
              <a:t>Tire–runway friction, brake-force limit, and landing-gear load transfer accounted for</a:t>
            </a:r>
          </a:p>
          <a:p>
            <a:pPr lvl="1"/>
            <a:r>
              <a:rPr lang="en-US" dirty="0"/>
              <a:t>Runway-condition-dependent friction coefficients applied</a:t>
            </a:r>
          </a:p>
          <a:p>
            <a:pPr lvl="1"/>
            <a:endParaRPr lang="en-US" dirty="0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3D70516B-62B7-49B1-B2F8-29CCE134760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97628357"/>
              </p:ext>
            </p:extLst>
          </p:nvPr>
        </p:nvGraphicFramePr>
        <p:xfrm>
          <a:off x="3527912" y="2717394"/>
          <a:ext cx="5830793" cy="33363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25F7C2C8-5744-F55D-00F7-D5C6C9BC74FC}"/>
              </a:ext>
            </a:extLst>
          </p:cNvPr>
          <p:cNvSpPr txBox="1"/>
          <p:nvPr/>
        </p:nvSpPr>
        <p:spPr>
          <a:xfrm>
            <a:off x="5640123" y="6053758"/>
            <a:ext cx="21787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Landing Distance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02C6B8-65CC-E7C4-8E6D-A552BD8CAA44}"/>
              </a:ext>
            </a:extLst>
          </p:cNvPr>
          <p:cNvSpPr txBox="1"/>
          <p:nvPr/>
        </p:nvSpPr>
        <p:spPr>
          <a:xfrm>
            <a:off x="9226123" y="5056816"/>
            <a:ext cx="52770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250 ft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083FD04-8454-03EE-594A-09145599FAEB}"/>
              </a:ext>
            </a:extLst>
          </p:cNvPr>
          <p:cNvCxnSpPr>
            <a:cxnSpLocks/>
          </p:cNvCxnSpPr>
          <p:nvPr/>
        </p:nvCxnSpPr>
        <p:spPr>
          <a:xfrm>
            <a:off x="9226123" y="5056816"/>
            <a:ext cx="0" cy="32492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6338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B583B-3660-9CA1-6EE7-649D7C02E6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Rejected Takeoff Distance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DE8187-870A-FE39-DF41-95FA8DC42E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Rejected Takeoff</a:t>
            </a:r>
          </a:p>
          <a:p>
            <a:pPr lvl="1"/>
            <a:r>
              <a:rPr lang="en-US" altLang="ko-KR" dirty="0"/>
              <a:t>Phase 1 – Acceleration</a:t>
            </a:r>
          </a:p>
          <a:p>
            <a:pPr lvl="1"/>
            <a:r>
              <a:rPr lang="en-US" dirty="0"/>
              <a:t>Phase 2 – Recognition/Transition</a:t>
            </a:r>
          </a:p>
          <a:p>
            <a:pPr lvl="1"/>
            <a:r>
              <a:rPr lang="en-US" dirty="0"/>
              <a:t>Phase 3 – Braking</a:t>
            </a:r>
          </a:p>
          <a:p>
            <a:endParaRPr lang="en-US" dirty="0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4AC630CA-AC3E-42D0-9A12-4EADE9274B5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22836159"/>
              </p:ext>
            </p:extLst>
          </p:nvPr>
        </p:nvGraphicFramePr>
        <p:xfrm>
          <a:off x="3246853" y="2608562"/>
          <a:ext cx="5796016" cy="32881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0485318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3D4F7-5B7D-CAA1-113E-B28D04B87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1B1A32-C6D2-B071-5D25-FB0AF0E43E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  <a:p>
            <a:pPr lvl="1"/>
            <a:r>
              <a:rPr lang="en-US" dirty="0"/>
              <a:t>High-lift propeller was adopted to increase the maximum lift coefficient</a:t>
            </a:r>
          </a:p>
          <a:p>
            <a:pPr lvl="1"/>
            <a:r>
              <a:rPr lang="en-US" dirty="0"/>
              <a:t>Blown-lift effects were captured using medium-fidelity aerodynamic simulations</a:t>
            </a:r>
          </a:p>
          <a:p>
            <a:pPr lvl="1"/>
            <a:r>
              <a:rPr lang="en-US" dirty="0"/>
              <a:t>Predicted blown-lift effects were incorporated into takeoff and landing performance analysis</a:t>
            </a:r>
          </a:p>
          <a:p>
            <a:pPr lvl="1"/>
            <a:r>
              <a:rPr lang="en-US" dirty="0"/>
              <a:t>Improved low-speed performance demonstrated the potential of distributed high-lift propulsion for STOL operations</a:t>
            </a:r>
          </a:p>
          <a:p>
            <a:pPr lvl="1"/>
            <a:endParaRPr lang="en-US" dirty="0"/>
          </a:p>
          <a:p>
            <a:r>
              <a:rPr lang="en-US" dirty="0"/>
              <a:t>Future Works</a:t>
            </a:r>
          </a:p>
          <a:p>
            <a:pPr lvl="1"/>
            <a:r>
              <a:rPr lang="en-US" dirty="0"/>
              <a:t>Optimization of high-lift propeller location, geometry, and operating conditions</a:t>
            </a:r>
          </a:p>
          <a:p>
            <a:pPr lvl="1"/>
            <a:r>
              <a:rPr lang="en-US" dirty="0"/>
              <a:t>Wing chord/area reduction leveraging blown lift to improve cruise efficiency and maximum-speed capability</a:t>
            </a:r>
          </a:p>
          <a:p>
            <a:pPr lvl="1"/>
            <a:r>
              <a:rPr lang="en-US" dirty="0"/>
              <a:t>Assessment of high-lift prop system weight penalty and its impact on overall aircraft performance 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3686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9798</TotalTime>
  <Words>711</Words>
  <Application>Microsoft Office PowerPoint</Application>
  <PresentationFormat>Widescreen</PresentationFormat>
  <Paragraphs>179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Aptos</vt:lpstr>
      <vt:lpstr>Aptos Display</vt:lpstr>
      <vt:lpstr>Aptos Narrow</vt:lpstr>
      <vt:lpstr>Arial</vt:lpstr>
      <vt:lpstr>Calibri</vt:lpstr>
      <vt:lpstr>Cambria Math</vt:lpstr>
      <vt:lpstr>Courier New</vt:lpstr>
      <vt:lpstr>Office Theme</vt:lpstr>
      <vt:lpstr> STOL 항공기의 공력 및 성능 연구</vt:lpstr>
      <vt:lpstr>Introduction</vt:lpstr>
      <vt:lpstr>Introduction</vt:lpstr>
      <vt:lpstr>Aerodynamic Modeling</vt:lpstr>
      <vt:lpstr>Aerodynamics Analysis</vt:lpstr>
      <vt:lpstr>Takeoff Performance</vt:lpstr>
      <vt:lpstr>Takeoff Performance</vt:lpstr>
      <vt:lpstr>Takeoff Performance</vt:lpstr>
      <vt:lpstr>Takeoff Performance</vt:lpstr>
      <vt:lpstr>Landing Performance</vt:lpstr>
      <vt:lpstr>Rejected Takeoff Distance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Sehwan Park</dc:creator>
  <cp:lastModifiedBy>Sehwan Park</cp:lastModifiedBy>
  <cp:revision>15</cp:revision>
  <dcterms:created xsi:type="dcterms:W3CDTF">2026-08-24T12:01:55Z</dcterms:created>
  <dcterms:modified xsi:type="dcterms:W3CDTF">2026-09-16T01:33:19Z</dcterms:modified>
</cp:coreProperties>
</file>