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10C_623BB5D4.xml" ContentType="application/vnd.ms-powerpoint.comments+xml"/>
  <Override PartName="/ppt/notesSlides/notesSlide6.xml" ContentType="application/vnd.openxmlformats-officedocument.presentationml.notesSlide+xml"/>
  <Override PartName="/ppt/comments/modernComment_10D_762A2C27.xml" ContentType="application/vnd.ms-powerpoint.comment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111_77585616.xml" ContentType="application/vnd.ms-powerpoint.comments+xml"/>
  <Override PartName="/ppt/charts/chart6.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modernComment_11B_6079E34D.xml" ContentType="application/vnd.ms-powerpoint.comment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omments/modernComment_11C_1904B594.xml" ContentType="application/vnd.ms-powerpoint.comments+xml"/>
  <Override PartName="/ppt/notesSlides/notesSlide13.xml" ContentType="application/vnd.openxmlformats-officedocument.presentationml.notesSlide+xml"/>
  <Override PartName="/ppt/comments/modernComment_102_6775EA8E.xml" ContentType="application/vnd.ms-powerpoint.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omments/modernComment_101_7F8D50D3.xml" ContentType="application/vnd.ms-powerpoint.comment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omments/modernComment_104_2388B503.xml" ContentType="application/vnd.ms-powerpoint.comments+xml"/>
  <Override PartName="/ppt/notesSlides/notesSlide21.xml" ContentType="application/vnd.openxmlformats-officedocument.presentationml.notesSlide+xml"/>
  <Override PartName="/ppt/comments/modernComment_105_54824464.xml" ContentType="application/vnd.ms-powerpoint.comment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omments/modernComment_107_314405C.xml" ContentType="application/vnd.ms-powerpoint.comment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omments/modernComment_108_31F99295.xml" ContentType="application/vnd.ms-powerpoint.comments+xml"/>
  <Override PartName="/ppt/notesSlides/notesSlide26.xml" ContentType="application/vnd.openxmlformats-officedocument.presentationml.notesSlide+xml"/>
  <Override PartName="/ppt/comments/modernComment_109_5DA568DD.xml" ContentType="application/vnd.ms-powerpoint.comment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omments/modernComment_10B_573AB.xml" ContentType="application/vnd.ms-powerpoint.comment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rts/chart7.xml" ContentType="application/vnd.openxmlformats-officedocument.drawingml.chart+xml"/>
  <Override PartName="/ppt/charts/chart8.xml" ContentType="application/vnd.openxmlformats-officedocument.drawingml.chart+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charts/chart9.xml" ContentType="application/vnd.openxmlformats-officedocument.drawingml.chart+xml"/>
  <Override PartName="/ppt/charts/chart10.xml" ContentType="application/vnd.openxmlformats-officedocument.drawingml.chart+xml"/>
  <Override PartName="/ppt/notesSlides/notesSlide50.xml" ContentType="application/vnd.openxmlformats-officedocument.presentationml.notesSlide+xml"/>
  <Override PartName="/ppt/charts/chart11.xml" ContentType="application/vnd.openxmlformats-officedocument.drawingml.chart+xml"/>
  <Override PartName="/ppt/charts/chart12.xml" ContentType="application/vnd.openxmlformats-officedocument.drawingml.chart+xml"/>
  <Override PartName="/ppt/notesSlides/notesSlide51.xml" ContentType="application/vnd.openxmlformats-officedocument.presentationml.notesSlide+xml"/>
  <Override PartName="/ppt/charts/chart13.xml" ContentType="application/vnd.openxmlformats-officedocument.drawingml.chart+xml"/>
  <Override PartName="/ppt/charts/chart14.xml" ContentType="application/vnd.openxmlformats-officedocument.drawingml.chart+xml"/>
  <Override PartName="/ppt/notesSlides/notesSlide52.xml" ContentType="application/vnd.openxmlformats-officedocument.presentationml.notesSlide+xml"/>
  <Override PartName="/ppt/charts/chart15.xml" ContentType="application/vnd.openxmlformats-officedocument.drawingml.chart+xml"/>
  <Override PartName="/ppt/charts/chart16.xml" ContentType="application/vnd.openxmlformats-officedocument.drawingml.chart+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6" r:id="rId2"/>
  </p:sldMasterIdLst>
  <p:notesMasterIdLst>
    <p:notesMasterId r:id="rId64"/>
  </p:notesMasterIdLst>
  <p:sldIdLst>
    <p:sldId id="281" r:id="rId3"/>
    <p:sldId id="256" r:id="rId4"/>
    <p:sldId id="259" r:id="rId5"/>
    <p:sldId id="320" r:id="rId6"/>
    <p:sldId id="268" r:id="rId7"/>
    <p:sldId id="269" r:id="rId8"/>
    <p:sldId id="272" r:id="rId9"/>
    <p:sldId id="273" r:id="rId10"/>
    <p:sldId id="287" r:id="rId11"/>
    <p:sldId id="283" r:id="rId12"/>
    <p:sldId id="288" r:id="rId13"/>
    <p:sldId id="284" r:id="rId14"/>
    <p:sldId id="258" r:id="rId15"/>
    <p:sldId id="285" r:id="rId16"/>
    <p:sldId id="289" r:id="rId17"/>
    <p:sldId id="286" r:id="rId18"/>
    <p:sldId id="257" r:id="rId19"/>
    <p:sldId id="296" r:id="rId20"/>
    <p:sldId id="295" r:id="rId21"/>
    <p:sldId id="260" r:id="rId22"/>
    <p:sldId id="261" r:id="rId23"/>
    <p:sldId id="262" r:id="rId24"/>
    <p:sldId id="263" r:id="rId25"/>
    <p:sldId id="294" r:id="rId26"/>
    <p:sldId id="264" r:id="rId27"/>
    <p:sldId id="265" r:id="rId28"/>
    <p:sldId id="266" r:id="rId29"/>
    <p:sldId id="267" r:id="rId30"/>
    <p:sldId id="293" r:id="rId31"/>
    <p:sldId id="270" r:id="rId32"/>
    <p:sldId id="271" r:id="rId33"/>
    <p:sldId id="274" r:id="rId34"/>
    <p:sldId id="275" r:id="rId35"/>
    <p:sldId id="276" r:id="rId36"/>
    <p:sldId id="292" r:id="rId37"/>
    <p:sldId id="297" r:id="rId38"/>
    <p:sldId id="277" r:id="rId39"/>
    <p:sldId id="298" r:id="rId40"/>
    <p:sldId id="299" r:id="rId41"/>
    <p:sldId id="300" r:id="rId42"/>
    <p:sldId id="301" r:id="rId43"/>
    <p:sldId id="302" r:id="rId44"/>
    <p:sldId id="303" r:id="rId45"/>
    <p:sldId id="304" r:id="rId46"/>
    <p:sldId id="305" r:id="rId47"/>
    <p:sldId id="306" r:id="rId48"/>
    <p:sldId id="307" r:id="rId49"/>
    <p:sldId id="308" r:id="rId50"/>
    <p:sldId id="309" r:id="rId51"/>
    <p:sldId id="310" r:id="rId52"/>
    <p:sldId id="311" r:id="rId53"/>
    <p:sldId id="312" r:id="rId54"/>
    <p:sldId id="313" r:id="rId55"/>
    <p:sldId id="314" r:id="rId56"/>
    <p:sldId id="315" r:id="rId57"/>
    <p:sldId id="316" r:id="rId58"/>
    <p:sldId id="317" r:id="rId59"/>
    <p:sldId id="318" r:id="rId60"/>
    <p:sldId id="319" r:id="rId61"/>
    <p:sldId id="278" r:id="rId62"/>
    <p:sldId id="279"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id="{E246C86D-835B-4180-B904-D102664B17DE}">
          <p14:sldIdLst>
            <p14:sldId id="281"/>
            <p14:sldId id="256"/>
            <p14:sldId id="259"/>
            <p14:sldId id="320"/>
            <p14:sldId id="268"/>
            <p14:sldId id="269"/>
            <p14:sldId id="272"/>
            <p14:sldId id="273"/>
            <p14:sldId id="287"/>
            <p14:sldId id="283"/>
            <p14:sldId id="288"/>
            <p14:sldId id="284"/>
            <p14:sldId id="258"/>
            <p14:sldId id="285"/>
            <p14:sldId id="289"/>
            <p14:sldId id="286"/>
          </p14:sldIdLst>
        </p14:section>
        <p14:section name="Appendx" id="{5CD672A5-B197-41F0-98C4-DDFE957494D0}">
          <p14:sldIdLst>
            <p14:sldId id="257"/>
            <p14:sldId id="296"/>
            <p14:sldId id="295"/>
            <p14:sldId id="260"/>
            <p14:sldId id="261"/>
            <p14:sldId id="262"/>
            <p14:sldId id="263"/>
            <p14:sldId id="294"/>
            <p14:sldId id="264"/>
            <p14:sldId id="265"/>
            <p14:sldId id="266"/>
            <p14:sldId id="267"/>
            <p14:sldId id="293"/>
            <p14:sldId id="270"/>
            <p14:sldId id="271"/>
            <p14:sldId id="274"/>
            <p14:sldId id="275"/>
            <p14:sldId id="276"/>
            <p14:sldId id="292"/>
            <p14:sldId id="297"/>
            <p14:sldId id="27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278"/>
            <p14:sldId id="279"/>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5A7D1C8-7855-4F4D-981A-7FA23054EA7C}" name="Codex" initials="CX" userId="{15A7D1C8-7855-4F4D-981A-7FA23054EA7C}" providerId="Me"/>
  <p188:author id="{F63327DE-37A4-775D-A5CA-07B5A2F69AC1}" name="Sehwan Park" initials="SP" userId="2a91093fbf50c225" providerId="Windows Live"/>
  <p188:author id="{495578F4-4144-408D-AAB9-C692A128B820}" name="Codex — Rev D" initials="CX" userId="{495578F4-4144-408D-AAB9-C692A128B820}" providerId="M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1885C7"/>
    <a:srgbClr val="FFFFFF"/>
    <a:srgbClr val="D9773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04" autoAdjust="0"/>
    <p:restoredTop sz="85983" autoAdjust="0"/>
  </p:normalViewPr>
  <p:slideViewPr>
    <p:cSldViewPr snapToGrid="0">
      <p:cViewPr>
        <p:scale>
          <a:sx n="75" d="100"/>
          <a:sy n="75" d="100"/>
        </p:scale>
        <p:origin x="1476" y="3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notesMaster" Target="notesMasters/notesMaster1.xml"/><Relationship Id="rId69" Type="http://schemas.microsoft.com/office/2016/11/relationships/changesInfo" Target="changesInfos/changesInfo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hwan Park" userId="2a91093fbf50c225" providerId="LiveId" clId="{46995028-7C81-4500-86CE-C45409132E92}"/>
    <pc:docChg chg="modSld">
      <pc:chgData name="Sehwan Park" userId="2a91093fbf50c225" providerId="LiveId" clId="{46995028-7C81-4500-86CE-C45409132E92}" dt="2026-10-28T17:39:46.209" v="0" actId="1076"/>
      <pc:docMkLst>
        <pc:docMk/>
      </pc:docMkLst>
      <pc:sldChg chg="modSp mod">
        <pc:chgData name="Sehwan Park" userId="2a91093fbf50c225" providerId="LiveId" clId="{46995028-7C81-4500-86CE-C45409132E92}" dt="2026-10-28T17:39:46.209" v="0" actId="1076"/>
        <pc:sldMkLst>
          <pc:docMk/>
          <pc:sldMk cId="2019579605" sldId="320"/>
        </pc:sldMkLst>
        <pc:picChg chg="mod">
          <ac:chgData name="Sehwan Park" userId="2a91093fbf50c225" providerId="LiveId" clId="{46995028-7C81-4500-86CE-C45409132E92}" dt="2026-10-28T17:39:46.209" v="0" actId="1076"/>
          <ac:picMkLst>
            <pc:docMk/>
            <pc:sldMk cId="2019579605" sldId="320"/>
            <ac:picMk id="10" creationId="{8FE1848B-48C0-B12F-6396-BE1B79E560A3}"/>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v>Mass, kg</c:v>
          </c:tx>
          <c:dPt>
            <c:idx val="0"/>
            <c:bubble3D val="0"/>
            <c:spPr>
              <a:solidFill>
                <a:srgbClr val="315773"/>
              </a:solidFill>
              <a:ln w="4763">
                <a:solidFill>
                  <a:srgbClr val="FFFFFF"/>
                </a:solidFill>
                <a:prstDash val="solid"/>
              </a:ln>
            </c:spPr>
            <c:extLst>
              <c:ext xmlns:c16="http://schemas.microsoft.com/office/drawing/2014/chart" uri="{C3380CC4-5D6E-409C-BE32-E72D297353CC}">
                <c16:uniqueId val="{00000001-60D3-4BB8-A1ED-38BA13D12751}"/>
              </c:ext>
            </c:extLst>
          </c:dPt>
          <c:dPt>
            <c:idx val="1"/>
            <c:bubble3D val="0"/>
            <c:spPr>
              <a:solidFill>
                <a:srgbClr val="8062A5"/>
              </a:solidFill>
              <a:ln w="4763">
                <a:solidFill>
                  <a:srgbClr val="FFFFFF"/>
                </a:solidFill>
                <a:prstDash val="solid"/>
              </a:ln>
            </c:spPr>
            <c:extLst>
              <c:ext xmlns:c16="http://schemas.microsoft.com/office/drawing/2014/chart" uri="{C3380CC4-5D6E-409C-BE32-E72D297353CC}">
                <c16:uniqueId val="{00000003-60D3-4BB8-A1ED-38BA13D12751}"/>
              </c:ext>
            </c:extLst>
          </c:dPt>
          <c:dPt>
            <c:idx val="2"/>
            <c:bubble3D val="0"/>
            <c:spPr>
              <a:solidFill>
                <a:srgbClr val="168F86"/>
              </a:solidFill>
              <a:ln w="4763">
                <a:solidFill>
                  <a:srgbClr val="FFFFFF"/>
                </a:solidFill>
                <a:prstDash val="solid"/>
              </a:ln>
            </c:spPr>
            <c:extLst>
              <c:ext xmlns:c16="http://schemas.microsoft.com/office/drawing/2014/chart" uri="{C3380CC4-5D6E-409C-BE32-E72D297353CC}">
                <c16:uniqueId val="{00000005-60D3-4BB8-A1ED-38BA13D12751}"/>
              </c:ext>
            </c:extLst>
          </c:dPt>
          <c:dPt>
            <c:idx val="3"/>
            <c:bubble3D val="0"/>
            <c:spPr>
              <a:solidFill>
                <a:srgbClr val="D57530"/>
              </a:solidFill>
              <a:ln w="4763">
                <a:solidFill>
                  <a:srgbClr val="FFFFFF"/>
                </a:solidFill>
                <a:prstDash val="solid"/>
              </a:ln>
            </c:spPr>
            <c:extLst>
              <c:ext xmlns:c16="http://schemas.microsoft.com/office/drawing/2014/chart" uri="{C3380CC4-5D6E-409C-BE32-E72D297353CC}">
                <c16:uniqueId val="{00000007-60D3-4BB8-A1ED-38BA13D12751}"/>
              </c:ext>
            </c:extLst>
          </c:dPt>
          <c:dPt>
            <c:idx val="4"/>
            <c:bubble3D val="0"/>
            <c:spPr>
              <a:solidFill>
                <a:srgbClr val="8A9A42"/>
              </a:solidFill>
              <a:ln w="4763">
                <a:solidFill>
                  <a:srgbClr val="FFFFFF"/>
                </a:solidFill>
                <a:prstDash val="solid"/>
              </a:ln>
            </c:spPr>
            <c:extLst>
              <c:ext xmlns:c16="http://schemas.microsoft.com/office/drawing/2014/chart" uri="{C3380CC4-5D6E-409C-BE32-E72D297353CC}">
                <c16:uniqueId val="{00000009-60D3-4BB8-A1ED-38BA13D12751}"/>
              </c:ext>
            </c:extLst>
          </c:dPt>
          <c:dPt>
            <c:idx val="5"/>
            <c:bubble3D val="0"/>
            <c:spPr>
              <a:solidFill>
                <a:srgbClr val="D2AB39"/>
              </a:solidFill>
              <a:ln w="4763">
                <a:solidFill>
                  <a:srgbClr val="FFFFFF"/>
                </a:solidFill>
                <a:prstDash val="solid"/>
              </a:ln>
            </c:spPr>
            <c:extLst>
              <c:ext xmlns:c16="http://schemas.microsoft.com/office/drawing/2014/chart" uri="{C3380CC4-5D6E-409C-BE32-E72D297353CC}">
                <c16:uniqueId val="{0000000B-60D3-4BB8-A1ED-38BA13D12751}"/>
              </c:ext>
            </c:extLst>
          </c:dPt>
          <c:dPt>
            <c:idx val="6"/>
            <c:bubble3D val="0"/>
            <c:spPr>
              <a:solidFill>
                <a:srgbClr val="518BB7"/>
              </a:solidFill>
              <a:ln w="4763">
                <a:solidFill>
                  <a:srgbClr val="FFFFFF"/>
                </a:solidFill>
                <a:prstDash val="solid"/>
              </a:ln>
            </c:spPr>
            <c:extLst>
              <c:ext xmlns:c16="http://schemas.microsoft.com/office/drawing/2014/chart" uri="{C3380CC4-5D6E-409C-BE32-E72D297353CC}">
                <c16:uniqueId val="{0000000D-60D3-4BB8-A1ED-38BA13D12751}"/>
              </c:ext>
            </c:extLst>
          </c:dPt>
          <c:dPt>
            <c:idx val="7"/>
            <c:bubble3D val="0"/>
            <c:spPr>
              <a:solidFill>
                <a:srgbClr val="B2BAC1"/>
              </a:solidFill>
              <a:ln w="4763">
                <a:solidFill>
                  <a:srgbClr val="FFFFFF"/>
                </a:solidFill>
                <a:prstDash val="solid"/>
              </a:ln>
            </c:spPr>
            <c:extLst>
              <c:ext xmlns:c16="http://schemas.microsoft.com/office/drawing/2014/chart" uri="{C3380CC4-5D6E-409C-BE32-E72D297353CC}">
                <c16:uniqueId val="{0000000F-60D3-4BB8-A1ED-38BA13D12751}"/>
              </c:ext>
            </c:extLst>
          </c:dPt>
          <c:dPt>
            <c:idx val="8"/>
            <c:bubble3D val="0"/>
            <c:spPr>
              <a:solidFill>
                <a:srgbClr val="665A50"/>
              </a:solidFill>
              <a:ln w="4763">
                <a:solidFill>
                  <a:srgbClr val="FFFFFF"/>
                </a:solidFill>
                <a:prstDash val="solid"/>
              </a:ln>
            </c:spPr>
            <c:extLst>
              <c:ext xmlns:c16="http://schemas.microsoft.com/office/drawing/2014/chart" uri="{C3380CC4-5D6E-409C-BE32-E72D297353CC}">
                <c16:uniqueId val="{00000011-60D3-4BB8-A1ED-38BA13D12751}"/>
              </c:ext>
            </c:extLst>
          </c:dPt>
          <c:cat>
            <c:strRef>
              <c:f>'Chart Data'!$A$2:$A$10</c:f>
              <c:strCache>
                <c:ptCount val="9"/>
                <c:pt idx="0">
                  <c:v>Airframe structure</c:v>
                </c:pt>
                <c:pt idx="1">
                  <c:v>Landing gear</c:v>
                </c:pt>
                <c:pt idx="2">
                  <c:v>Vertical propulsion</c:v>
                </c:pt>
                <c:pt idx="3">
                  <c:v>Horizontal propulsion</c:v>
                </c:pt>
                <c:pt idx="4">
                  <c:v>Fuel-system hardware</c:v>
                </c:pt>
                <c:pt idx="5">
                  <c:v>Payload</c:v>
                </c:pt>
                <c:pt idx="6">
                  <c:v>Fuel</c:v>
                </c:pt>
                <c:pt idx="7">
                  <c:v>Others</c:v>
                </c:pt>
                <c:pt idx="8">
                  <c:v>Unallocated</c:v>
                </c:pt>
              </c:strCache>
            </c:strRef>
          </c:cat>
          <c:val>
            <c:numRef>
              <c:f>'Chart Data'!$B$2:$B$10</c:f>
              <c:numCache>
                <c:formatCode>General</c:formatCode>
                <c:ptCount val="9"/>
                <c:pt idx="0">
                  <c:v>69.2</c:v>
                </c:pt>
                <c:pt idx="1">
                  <c:v>11.5</c:v>
                </c:pt>
                <c:pt idx="2">
                  <c:v>70</c:v>
                </c:pt>
                <c:pt idx="3">
                  <c:v>43.5</c:v>
                </c:pt>
                <c:pt idx="4">
                  <c:v>5.2949999999999999</c:v>
                </c:pt>
                <c:pt idx="5">
                  <c:v>30</c:v>
                </c:pt>
                <c:pt idx="6">
                  <c:v>35</c:v>
                </c:pt>
                <c:pt idx="7">
                  <c:v>68.924999999999997</c:v>
                </c:pt>
                <c:pt idx="8">
                  <c:v>6.58</c:v>
                </c:pt>
              </c:numCache>
            </c:numRef>
          </c:val>
          <c:extLst>
            <c:ext xmlns:c16="http://schemas.microsoft.com/office/drawing/2014/chart" uri="{C3380CC4-5D6E-409C-BE32-E72D297353CC}">
              <c16:uniqueId val="{00000012-60D3-4BB8-A1ED-38BA13D12751}"/>
            </c:ext>
          </c:extLst>
        </c:ser>
        <c:dLbls>
          <c:showLegendKey val="0"/>
          <c:showVal val="0"/>
          <c:showCatName val="0"/>
          <c:showSerName val="0"/>
          <c:showPercent val="0"/>
          <c:showBubbleSize val="0"/>
          <c:showLeaderLines val="0"/>
        </c:dLbls>
        <c:firstSliceAng val="0"/>
      </c:pieChart>
    </c:plotArea>
    <c:plotVisOnly val="1"/>
    <c:dispBlanksAs val="zero"/>
    <c:showDLblsOverMax val="1"/>
  </c:chart>
  <c:spPr>
    <a:solidFill>
      <a:srgbClr val="FFFFFF"/>
    </a:solidFill>
    <a:ln w="0">
      <a:noFill/>
      <a:prstDash val="solid"/>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v>Mass, kg</c:v>
          </c:tx>
          <c:dPt>
            <c:idx val="0"/>
            <c:bubble3D val="0"/>
            <c:spPr>
              <a:solidFill>
                <a:srgbClr val="315773"/>
              </a:solidFill>
              <a:ln w="4763">
                <a:solidFill>
                  <a:srgbClr val="FFFFFF"/>
                </a:solidFill>
                <a:prstDash val="solid"/>
              </a:ln>
            </c:spPr>
            <c:extLst>
              <c:ext xmlns:c16="http://schemas.microsoft.com/office/drawing/2014/chart" uri="{C3380CC4-5D6E-409C-BE32-E72D297353CC}">
                <c16:uniqueId val="{00000001-FFB3-48A3-8FA5-3ABAE1EF3652}"/>
              </c:ext>
            </c:extLst>
          </c:dPt>
          <c:dPt>
            <c:idx val="1"/>
            <c:bubble3D val="0"/>
            <c:spPr>
              <a:solidFill>
                <a:srgbClr val="8062A5"/>
              </a:solidFill>
              <a:ln w="4763">
                <a:solidFill>
                  <a:srgbClr val="FFFFFF"/>
                </a:solidFill>
                <a:prstDash val="solid"/>
              </a:ln>
            </c:spPr>
            <c:extLst>
              <c:ext xmlns:c16="http://schemas.microsoft.com/office/drawing/2014/chart" uri="{C3380CC4-5D6E-409C-BE32-E72D297353CC}">
                <c16:uniqueId val="{00000003-FFB3-48A3-8FA5-3ABAE1EF3652}"/>
              </c:ext>
            </c:extLst>
          </c:dPt>
          <c:dPt>
            <c:idx val="2"/>
            <c:bubble3D val="0"/>
            <c:spPr>
              <a:solidFill>
                <a:srgbClr val="168F86"/>
              </a:solidFill>
              <a:ln w="4763">
                <a:solidFill>
                  <a:srgbClr val="FFFFFF"/>
                </a:solidFill>
                <a:prstDash val="solid"/>
              </a:ln>
            </c:spPr>
            <c:extLst>
              <c:ext xmlns:c16="http://schemas.microsoft.com/office/drawing/2014/chart" uri="{C3380CC4-5D6E-409C-BE32-E72D297353CC}">
                <c16:uniqueId val="{00000005-FFB3-48A3-8FA5-3ABAE1EF3652}"/>
              </c:ext>
            </c:extLst>
          </c:dPt>
          <c:dPt>
            <c:idx val="3"/>
            <c:bubble3D val="0"/>
            <c:spPr>
              <a:solidFill>
                <a:srgbClr val="D57530"/>
              </a:solidFill>
              <a:ln w="4763">
                <a:solidFill>
                  <a:srgbClr val="FFFFFF"/>
                </a:solidFill>
                <a:prstDash val="solid"/>
              </a:ln>
            </c:spPr>
            <c:extLst>
              <c:ext xmlns:c16="http://schemas.microsoft.com/office/drawing/2014/chart" uri="{C3380CC4-5D6E-409C-BE32-E72D297353CC}">
                <c16:uniqueId val="{00000007-FFB3-48A3-8FA5-3ABAE1EF3652}"/>
              </c:ext>
            </c:extLst>
          </c:dPt>
          <c:dPt>
            <c:idx val="4"/>
            <c:bubble3D val="0"/>
            <c:spPr>
              <a:solidFill>
                <a:srgbClr val="8A9A42"/>
              </a:solidFill>
              <a:ln w="4763">
                <a:solidFill>
                  <a:srgbClr val="FFFFFF"/>
                </a:solidFill>
                <a:prstDash val="solid"/>
              </a:ln>
            </c:spPr>
            <c:extLst>
              <c:ext xmlns:c16="http://schemas.microsoft.com/office/drawing/2014/chart" uri="{C3380CC4-5D6E-409C-BE32-E72D297353CC}">
                <c16:uniqueId val="{00000009-FFB3-48A3-8FA5-3ABAE1EF3652}"/>
              </c:ext>
            </c:extLst>
          </c:dPt>
          <c:dPt>
            <c:idx val="5"/>
            <c:bubble3D val="0"/>
            <c:spPr>
              <a:solidFill>
                <a:srgbClr val="D2AB39"/>
              </a:solidFill>
              <a:ln w="4763">
                <a:solidFill>
                  <a:srgbClr val="FFFFFF"/>
                </a:solidFill>
                <a:prstDash val="solid"/>
              </a:ln>
            </c:spPr>
            <c:extLst>
              <c:ext xmlns:c16="http://schemas.microsoft.com/office/drawing/2014/chart" uri="{C3380CC4-5D6E-409C-BE32-E72D297353CC}">
                <c16:uniqueId val="{0000000B-FFB3-48A3-8FA5-3ABAE1EF3652}"/>
              </c:ext>
            </c:extLst>
          </c:dPt>
          <c:dPt>
            <c:idx val="6"/>
            <c:bubble3D val="0"/>
            <c:spPr>
              <a:solidFill>
                <a:srgbClr val="518BB7"/>
              </a:solidFill>
              <a:ln w="4763">
                <a:solidFill>
                  <a:srgbClr val="FFFFFF"/>
                </a:solidFill>
                <a:prstDash val="solid"/>
              </a:ln>
            </c:spPr>
            <c:extLst>
              <c:ext xmlns:c16="http://schemas.microsoft.com/office/drawing/2014/chart" uri="{C3380CC4-5D6E-409C-BE32-E72D297353CC}">
                <c16:uniqueId val="{0000000D-FFB3-48A3-8FA5-3ABAE1EF3652}"/>
              </c:ext>
            </c:extLst>
          </c:dPt>
          <c:dPt>
            <c:idx val="7"/>
            <c:bubble3D val="0"/>
            <c:spPr>
              <a:solidFill>
                <a:srgbClr val="B2BAC1"/>
              </a:solidFill>
              <a:ln w="4763">
                <a:solidFill>
                  <a:srgbClr val="FFFFFF"/>
                </a:solidFill>
                <a:prstDash val="solid"/>
              </a:ln>
            </c:spPr>
            <c:extLst>
              <c:ext xmlns:c16="http://schemas.microsoft.com/office/drawing/2014/chart" uri="{C3380CC4-5D6E-409C-BE32-E72D297353CC}">
                <c16:uniqueId val="{0000000F-FFB3-48A3-8FA5-3ABAE1EF3652}"/>
              </c:ext>
            </c:extLst>
          </c:dPt>
          <c:cat>
            <c:strRef>
              <c:f>'Chart Data'!$A$2:$A$9</c:f>
              <c:strCache>
                <c:ptCount val="8"/>
                <c:pt idx="0">
                  <c:v>Airframe structure</c:v>
                </c:pt>
                <c:pt idx="1">
                  <c:v>Landing gear</c:v>
                </c:pt>
                <c:pt idx="2">
                  <c:v>Vertical propulsion</c:v>
                </c:pt>
                <c:pt idx="3">
                  <c:v>Horizontal propulsion</c:v>
                </c:pt>
                <c:pt idx="4">
                  <c:v>Fuel-system hardware</c:v>
                </c:pt>
                <c:pt idx="5">
                  <c:v>Payload</c:v>
                </c:pt>
                <c:pt idx="6">
                  <c:v>Fuel</c:v>
                </c:pt>
                <c:pt idx="7">
                  <c:v>Others</c:v>
                </c:pt>
              </c:strCache>
            </c:strRef>
          </c:cat>
          <c:val>
            <c:numRef>
              <c:f>'Chart Data'!$B$2:$B$9</c:f>
              <c:numCache>
                <c:formatCode>General</c:formatCode>
                <c:ptCount val="8"/>
                <c:pt idx="0">
                  <c:v>96.867312999999996</c:v>
                </c:pt>
                <c:pt idx="1">
                  <c:v>9.9294270000000004</c:v>
                </c:pt>
                <c:pt idx="2">
                  <c:v>121.26793600000001</c:v>
                </c:pt>
                <c:pt idx="3">
                  <c:v>52.084989999999998</c:v>
                </c:pt>
                <c:pt idx="4">
                  <c:v>4.7122809999999999</c:v>
                </c:pt>
                <c:pt idx="5">
                  <c:v>30</c:v>
                </c:pt>
                <c:pt idx="6">
                  <c:v>31.434018999999999</c:v>
                </c:pt>
                <c:pt idx="7">
                  <c:v>50.880941999999997</c:v>
                </c:pt>
              </c:numCache>
            </c:numRef>
          </c:val>
          <c:extLst>
            <c:ext xmlns:c16="http://schemas.microsoft.com/office/drawing/2014/chart" uri="{C3380CC4-5D6E-409C-BE32-E72D297353CC}">
              <c16:uniqueId val="{00000010-FFB3-48A3-8FA5-3ABAE1EF3652}"/>
            </c:ext>
          </c:extLst>
        </c:ser>
        <c:dLbls>
          <c:showLegendKey val="0"/>
          <c:showVal val="0"/>
          <c:showCatName val="0"/>
          <c:showSerName val="0"/>
          <c:showPercent val="0"/>
          <c:showBubbleSize val="0"/>
          <c:showLeaderLines val="0"/>
        </c:dLbls>
        <c:firstSliceAng val="0"/>
      </c:pieChart>
    </c:plotArea>
    <c:plotVisOnly val="1"/>
    <c:dispBlanksAs val="zero"/>
    <c:showDLblsOverMax val="1"/>
  </c:chart>
  <c:spPr>
    <a:solidFill>
      <a:srgbClr val="FFFFFF"/>
    </a:solidFill>
    <a:ln w="0">
      <a:noFill/>
      <a:prstDash val="solid"/>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v>Mass, kg</c:v>
          </c:tx>
          <c:dPt>
            <c:idx val="0"/>
            <c:bubble3D val="0"/>
            <c:spPr>
              <a:solidFill>
                <a:srgbClr val="315773"/>
              </a:solidFill>
              <a:ln w="4763">
                <a:solidFill>
                  <a:srgbClr val="FFFFFF"/>
                </a:solidFill>
                <a:prstDash val="solid"/>
              </a:ln>
            </c:spPr>
            <c:extLst>
              <c:ext xmlns:c16="http://schemas.microsoft.com/office/drawing/2014/chart" uri="{C3380CC4-5D6E-409C-BE32-E72D297353CC}">
                <c16:uniqueId val="{00000001-6D60-4029-9AA7-40513FBBFC2C}"/>
              </c:ext>
            </c:extLst>
          </c:dPt>
          <c:dPt>
            <c:idx val="1"/>
            <c:bubble3D val="0"/>
            <c:spPr>
              <a:solidFill>
                <a:srgbClr val="8062A5"/>
              </a:solidFill>
              <a:ln w="4763">
                <a:solidFill>
                  <a:srgbClr val="FFFFFF"/>
                </a:solidFill>
                <a:prstDash val="solid"/>
              </a:ln>
            </c:spPr>
            <c:extLst>
              <c:ext xmlns:c16="http://schemas.microsoft.com/office/drawing/2014/chart" uri="{C3380CC4-5D6E-409C-BE32-E72D297353CC}">
                <c16:uniqueId val="{00000003-6D60-4029-9AA7-40513FBBFC2C}"/>
              </c:ext>
            </c:extLst>
          </c:dPt>
          <c:dPt>
            <c:idx val="2"/>
            <c:bubble3D val="0"/>
            <c:spPr>
              <a:solidFill>
                <a:srgbClr val="B15E8C"/>
              </a:solidFill>
              <a:ln w="4763">
                <a:solidFill>
                  <a:srgbClr val="FFFFFF"/>
                </a:solidFill>
                <a:prstDash val="solid"/>
              </a:ln>
            </c:spPr>
            <c:extLst>
              <c:ext xmlns:c16="http://schemas.microsoft.com/office/drawing/2014/chart" uri="{C3380CC4-5D6E-409C-BE32-E72D297353CC}">
                <c16:uniqueId val="{00000005-6D60-4029-9AA7-40513FBBFC2C}"/>
              </c:ext>
            </c:extLst>
          </c:dPt>
          <c:dPt>
            <c:idx val="3"/>
            <c:bubble3D val="0"/>
            <c:spPr>
              <a:solidFill>
                <a:srgbClr val="8A9A42"/>
              </a:solidFill>
              <a:ln w="4763">
                <a:solidFill>
                  <a:srgbClr val="FFFFFF"/>
                </a:solidFill>
                <a:prstDash val="solid"/>
              </a:ln>
            </c:spPr>
            <c:extLst>
              <c:ext xmlns:c16="http://schemas.microsoft.com/office/drawing/2014/chart" uri="{C3380CC4-5D6E-409C-BE32-E72D297353CC}">
                <c16:uniqueId val="{00000007-6D60-4029-9AA7-40513FBBFC2C}"/>
              </c:ext>
            </c:extLst>
          </c:dPt>
          <c:dPt>
            <c:idx val="4"/>
            <c:bubble3D val="0"/>
            <c:spPr>
              <a:solidFill>
                <a:srgbClr val="D2AB39"/>
              </a:solidFill>
              <a:ln w="4763">
                <a:solidFill>
                  <a:srgbClr val="FFFFFF"/>
                </a:solidFill>
                <a:prstDash val="solid"/>
              </a:ln>
            </c:spPr>
            <c:extLst>
              <c:ext xmlns:c16="http://schemas.microsoft.com/office/drawing/2014/chart" uri="{C3380CC4-5D6E-409C-BE32-E72D297353CC}">
                <c16:uniqueId val="{00000009-6D60-4029-9AA7-40513FBBFC2C}"/>
              </c:ext>
            </c:extLst>
          </c:dPt>
          <c:dPt>
            <c:idx val="5"/>
            <c:bubble3D val="0"/>
            <c:spPr>
              <a:solidFill>
                <a:srgbClr val="518BB7"/>
              </a:solidFill>
              <a:ln w="4763">
                <a:solidFill>
                  <a:srgbClr val="FFFFFF"/>
                </a:solidFill>
                <a:prstDash val="solid"/>
              </a:ln>
            </c:spPr>
            <c:extLst>
              <c:ext xmlns:c16="http://schemas.microsoft.com/office/drawing/2014/chart" uri="{C3380CC4-5D6E-409C-BE32-E72D297353CC}">
                <c16:uniqueId val="{0000000B-6D60-4029-9AA7-40513FBBFC2C}"/>
              </c:ext>
            </c:extLst>
          </c:dPt>
          <c:dPt>
            <c:idx val="6"/>
            <c:bubble3D val="0"/>
            <c:spPr>
              <a:solidFill>
                <a:srgbClr val="B2BAC1"/>
              </a:solidFill>
              <a:ln w="4763">
                <a:solidFill>
                  <a:srgbClr val="FFFFFF"/>
                </a:solidFill>
                <a:prstDash val="solid"/>
              </a:ln>
            </c:spPr>
            <c:extLst>
              <c:ext xmlns:c16="http://schemas.microsoft.com/office/drawing/2014/chart" uri="{C3380CC4-5D6E-409C-BE32-E72D297353CC}">
                <c16:uniqueId val="{0000000D-6D60-4029-9AA7-40513FBBFC2C}"/>
              </c:ext>
            </c:extLst>
          </c:dPt>
          <c:cat>
            <c:strRef>
              <c:f>'Chart Data'!$A$2:$A$8</c:f>
              <c:strCache>
                <c:ptCount val="7"/>
                <c:pt idx="0">
                  <c:v>Airframe structure</c:v>
                </c:pt>
                <c:pt idx="1">
                  <c:v>Landing gear</c:v>
                </c:pt>
                <c:pt idx="2">
                  <c:v>Shared propulsion</c:v>
                </c:pt>
                <c:pt idx="3">
                  <c:v>Fuel-system hardware</c:v>
                </c:pt>
                <c:pt idx="4">
                  <c:v>Payload</c:v>
                </c:pt>
                <c:pt idx="5">
                  <c:v>Fuel</c:v>
                </c:pt>
                <c:pt idx="6">
                  <c:v>Others</c:v>
                </c:pt>
              </c:strCache>
            </c:strRef>
          </c:cat>
          <c:val>
            <c:numRef>
              <c:f>'Chart Data'!$B$2:$B$8</c:f>
              <c:numCache>
                <c:formatCode>General</c:formatCode>
                <c:ptCount val="7"/>
                <c:pt idx="0">
                  <c:v>85.738428999999996</c:v>
                </c:pt>
                <c:pt idx="1">
                  <c:v>7.4040739999999996</c:v>
                </c:pt>
                <c:pt idx="2">
                  <c:v>83.082024000000004</c:v>
                </c:pt>
                <c:pt idx="3">
                  <c:v>5.8226380000000004</c:v>
                </c:pt>
                <c:pt idx="4">
                  <c:v>30</c:v>
                </c:pt>
                <c:pt idx="5">
                  <c:v>38.819378</c:v>
                </c:pt>
                <c:pt idx="6">
                  <c:v>45.291716000000001</c:v>
                </c:pt>
              </c:numCache>
            </c:numRef>
          </c:val>
          <c:extLst>
            <c:ext xmlns:c16="http://schemas.microsoft.com/office/drawing/2014/chart" uri="{C3380CC4-5D6E-409C-BE32-E72D297353CC}">
              <c16:uniqueId val="{0000000E-6D60-4029-9AA7-40513FBBFC2C}"/>
            </c:ext>
          </c:extLst>
        </c:ser>
        <c:dLbls>
          <c:showLegendKey val="0"/>
          <c:showVal val="0"/>
          <c:showCatName val="0"/>
          <c:showSerName val="0"/>
          <c:showPercent val="0"/>
          <c:showBubbleSize val="0"/>
          <c:showLeaderLines val="0"/>
        </c:dLbls>
        <c:firstSliceAng val="0"/>
      </c:pieChart>
    </c:plotArea>
    <c:plotVisOnly val="1"/>
    <c:dispBlanksAs val="zero"/>
    <c:showDLblsOverMax val="1"/>
  </c:chart>
  <c:spPr>
    <a:solidFill>
      <a:srgbClr val="FFFFFF"/>
    </a:solidFill>
    <a:ln w="0">
      <a:noFill/>
      <a:prstDash val="solid"/>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v>Mass, kg</c:v>
          </c:tx>
          <c:dPt>
            <c:idx val="0"/>
            <c:bubble3D val="0"/>
            <c:spPr>
              <a:solidFill>
                <a:srgbClr val="315773"/>
              </a:solidFill>
              <a:ln w="4763">
                <a:solidFill>
                  <a:srgbClr val="FFFFFF"/>
                </a:solidFill>
                <a:prstDash val="solid"/>
              </a:ln>
            </c:spPr>
            <c:extLst>
              <c:ext xmlns:c16="http://schemas.microsoft.com/office/drawing/2014/chart" uri="{C3380CC4-5D6E-409C-BE32-E72D297353CC}">
                <c16:uniqueId val="{00000001-7D68-463F-8883-E21F0550E3E9}"/>
              </c:ext>
            </c:extLst>
          </c:dPt>
          <c:dPt>
            <c:idx val="1"/>
            <c:bubble3D val="0"/>
            <c:spPr>
              <a:solidFill>
                <a:srgbClr val="8062A5"/>
              </a:solidFill>
              <a:ln w="4763">
                <a:solidFill>
                  <a:srgbClr val="FFFFFF"/>
                </a:solidFill>
                <a:prstDash val="solid"/>
              </a:ln>
            </c:spPr>
            <c:extLst>
              <c:ext xmlns:c16="http://schemas.microsoft.com/office/drawing/2014/chart" uri="{C3380CC4-5D6E-409C-BE32-E72D297353CC}">
                <c16:uniqueId val="{00000003-7D68-463F-8883-E21F0550E3E9}"/>
              </c:ext>
            </c:extLst>
          </c:dPt>
          <c:dPt>
            <c:idx val="2"/>
            <c:bubble3D val="0"/>
            <c:spPr>
              <a:solidFill>
                <a:srgbClr val="168F86"/>
              </a:solidFill>
              <a:ln w="4763">
                <a:solidFill>
                  <a:srgbClr val="FFFFFF"/>
                </a:solidFill>
                <a:prstDash val="solid"/>
              </a:ln>
            </c:spPr>
            <c:extLst>
              <c:ext xmlns:c16="http://schemas.microsoft.com/office/drawing/2014/chart" uri="{C3380CC4-5D6E-409C-BE32-E72D297353CC}">
                <c16:uniqueId val="{00000005-7D68-463F-8883-E21F0550E3E9}"/>
              </c:ext>
            </c:extLst>
          </c:dPt>
          <c:dPt>
            <c:idx val="3"/>
            <c:bubble3D val="0"/>
            <c:spPr>
              <a:solidFill>
                <a:srgbClr val="D57530"/>
              </a:solidFill>
              <a:ln w="4763">
                <a:solidFill>
                  <a:srgbClr val="FFFFFF"/>
                </a:solidFill>
                <a:prstDash val="solid"/>
              </a:ln>
            </c:spPr>
            <c:extLst>
              <c:ext xmlns:c16="http://schemas.microsoft.com/office/drawing/2014/chart" uri="{C3380CC4-5D6E-409C-BE32-E72D297353CC}">
                <c16:uniqueId val="{00000007-7D68-463F-8883-E21F0550E3E9}"/>
              </c:ext>
            </c:extLst>
          </c:dPt>
          <c:dPt>
            <c:idx val="4"/>
            <c:bubble3D val="0"/>
            <c:spPr>
              <a:solidFill>
                <a:srgbClr val="8A9A42"/>
              </a:solidFill>
              <a:ln w="4763">
                <a:solidFill>
                  <a:srgbClr val="FFFFFF"/>
                </a:solidFill>
                <a:prstDash val="solid"/>
              </a:ln>
            </c:spPr>
            <c:extLst>
              <c:ext xmlns:c16="http://schemas.microsoft.com/office/drawing/2014/chart" uri="{C3380CC4-5D6E-409C-BE32-E72D297353CC}">
                <c16:uniqueId val="{00000009-7D68-463F-8883-E21F0550E3E9}"/>
              </c:ext>
            </c:extLst>
          </c:dPt>
          <c:dPt>
            <c:idx val="5"/>
            <c:bubble3D val="0"/>
            <c:spPr>
              <a:solidFill>
                <a:srgbClr val="D2AB39"/>
              </a:solidFill>
              <a:ln w="4763">
                <a:solidFill>
                  <a:srgbClr val="FFFFFF"/>
                </a:solidFill>
                <a:prstDash val="solid"/>
              </a:ln>
            </c:spPr>
            <c:extLst>
              <c:ext xmlns:c16="http://schemas.microsoft.com/office/drawing/2014/chart" uri="{C3380CC4-5D6E-409C-BE32-E72D297353CC}">
                <c16:uniqueId val="{0000000B-7D68-463F-8883-E21F0550E3E9}"/>
              </c:ext>
            </c:extLst>
          </c:dPt>
          <c:dPt>
            <c:idx val="6"/>
            <c:bubble3D val="0"/>
            <c:spPr>
              <a:solidFill>
                <a:srgbClr val="518BB7"/>
              </a:solidFill>
              <a:ln w="4763">
                <a:solidFill>
                  <a:srgbClr val="FFFFFF"/>
                </a:solidFill>
                <a:prstDash val="solid"/>
              </a:ln>
            </c:spPr>
            <c:extLst>
              <c:ext xmlns:c16="http://schemas.microsoft.com/office/drawing/2014/chart" uri="{C3380CC4-5D6E-409C-BE32-E72D297353CC}">
                <c16:uniqueId val="{0000000D-7D68-463F-8883-E21F0550E3E9}"/>
              </c:ext>
            </c:extLst>
          </c:dPt>
          <c:dPt>
            <c:idx val="7"/>
            <c:bubble3D val="0"/>
            <c:spPr>
              <a:solidFill>
                <a:srgbClr val="B2BAC1"/>
              </a:solidFill>
              <a:ln w="4763">
                <a:solidFill>
                  <a:srgbClr val="FFFFFF"/>
                </a:solidFill>
                <a:prstDash val="solid"/>
              </a:ln>
            </c:spPr>
            <c:extLst>
              <c:ext xmlns:c16="http://schemas.microsoft.com/office/drawing/2014/chart" uri="{C3380CC4-5D6E-409C-BE32-E72D297353CC}">
                <c16:uniqueId val="{0000000F-7D68-463F-8883-E21F0550E3E9}"/>
              </c:ext>
            </c:extLst>
          </c:dPt>
          <c:cat>
            <c:strRef>
              <c:f>'Chart Data'!$A$2:$A$9</c:f>
              <c:strCache>
                <c:ptCount val="8"/>
                <c:pt idx="0">
                  <c:v>Airframe structure</c:v>
                </c:pt>
                <c:pt idx="1">
                  <c:v>Landing gear</c:v>
                </c:pt>
                <c:pt idx="2">
                  <c:v>Vertical propulsion</c:v>
                </c:pt>
                <c:pt idx="3">
                  <c:v>Horizontal propulsion</c:v>
                </c:pt>
                <c:pt idx="4">
                  <c:v>Fuel-system hardware</c:v>
                </c:pt>
                <c:pt idx="5">
                  <c:v>Payload</c:v>
                </c:pt>
                <c:pt idx="6">
                  <c:v>Fuel</c:v>
                </c:pt>
                <c:pt idx="7">
                  <c:v>Others</c:v>
                </c:pt>
              </c:strCache>
            </c:strRef>
          </c:cat>
          <c:val>
            <c:numRef>
              <c:f>'Chart Data'!$B$2:$B$9</c:f>
              <c:numCache>
                <c:formatCode>General</c:formatCode>
                <c:ptCount val="8"/>
                <c:pt idx="0">
                  <c:v>93.724744000000001</c:v>
                </c:pt>
                <c:pt idx="1">
                  <c:v>9.5420870000000004</c:v>
                </c:pt>
                <c:pt idx="2">
                  <c:v>108.56335300000001</c:v>
                </c:pt>
                <c:pt idx="3">
                  <c:v>52.084994999999999</c:v>
                </c:pt>
                <c:pt idx="4">
                  <c:v>4.9656510000000003</c:v>
                </c:pt>
                <c:pt idx="5">
                  <c:v>30</c:v>
                </c:pt>
                <c:pt idx="6">
                  <c:v>33.124436000000003</c:v>
                </c:pt>
                <c:pt idx="7">
                  <c:v>49.677973000000001</c:v>
                </c:pt>
              </c:numCache>
            </c:numRef>
          </c:val>
          <c:extLst>
            <c:ext xmlns:c16="http://schemas.microsoft.com/office/drawing/2014/chart" uri="{C3380CC4-5D6E-409C-BE32-E72D297353CC}">
              <c16:uniqueId val="{00000010-7D68-463F-8883-E21F0550E3E9}"/>
            </c:ext>
          </c:extLst>
        </c:ser>
        <c:dLbls>
          <c:showLegendKey val="0"/>
          <c:showVal val="0"/>
          <c:showCatName val="0"/>
          <c:showSerName val="0"/>
          <c:showPercent val="0"/>
          <c:showBubbleSize val="0"/>
          <c:showLeaderLines val="0"/>
        </c:dLbls>
        <c:firstSliceAng val="0"/>
      </c:pieChart>
    </c:plotArea>
    <c:plotVisOnly val="1"/>
    <c:dispBlanksAs val="zero"/>
    <c:showDLblsOverMax val="1"/>
  </c:chart>
  <c:spPr>
    <a:solidFill>
      <a:srgbClr val="FFFFFF"/>
    </a:solidFill>
    <a:ln w="0">
      <a:noFill/>
      <a:prstDash val="solid"/>
    </a:ln>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v>Mass, kg</c:v>
          </c:tx>
          <c:dPt>
            <c:idx val="0"/>
            <c:bubble3D val="0"/>
            <c:spPr>
              <a:solidFill>
                <a:srgbClr val="315773"/>
              </a:solidFill>
              <a:ln w="4763">
                <a:solidFill>
                  <a:srgbClr val="FFFFFF"/>
                </a:solidFill>
                <a:prstDash val="solid"/>
              </a:ln>
            </c:spPr>
            <c:extLst>
              <c:ext xmlns:c16="http://schemas.microsoft.com/office/drawing/2014/chart" uri="{C3380CC4-5D6E-409C-BE32-E72D297353CC}">
                <c16:uniqueId val="{00000001-44AA-4207-9B35-F5380977408F}"/>
              </c:ext>
            </c:extLst>
          </c:dPt>
          <c:dPt>
            <c:idx val="1"/>
            <c:bubble3D val="0"/>
            <c:spPr>
              <a:solidFill>
                <a:srgbClr val="8062A5"/>
              </a:solidFill>
              <a:ln w="4763">
                <a:solidFill>
                  <a:srgbClr val="FFFFFF"/>
                </a:solidFill>
                <a:prstDash val="solid"/>
              </a:ln>
            </c:spPr>
            <c:extLst>
              <c:ext xmlns:c16="http://schemas.microsoft.com/office/drawing/2014/chart" uri="{C3380CC4-5D6E-409C-BE32-E72D297353CC}">
                <c16:uniqueId val="{00000003-44AA-4207-9B35-F5380977408F}"/>
              </c:ext>
            </c:extLst>
          </c:dPt>
          <c:dPt>
            <c:idx val="2"/>
            <c:bubble3D val="0"/>
            <c:spPr>
              <a:solidFill>
                <a:srgbClr val="B15E8C"/>
              </a:solidFill>
              <a:ln w="4763">
                <a:solidFill>
                  <a:srgbClr val="FFFFFF"/>
                </a:solidFill>
                <a:prstDash val="solid"/>
              </a:ln>
            </c:spPr>
            <c:extLst>
              <c:ext xmlns:c16="http://schemas.microsoft.com/office/drawing/2014/chart" uri="{C3380CC4-5D6E-409C-BE32-E72D297353CC}">
                <c16:uniqueId val="{00000005-44AA-4207-9B35-F5380977408F}"/>
              </c:ext>
            </c:extLst>
          </c:dPt>
          <c:dPt>
            <c:idx val="3"/>
            <c:bubble3D val="0"/>
            <c:spPr>
              <a:solidFill>
                <a:srgbClr val="8A9A42"/>
              </a:solidFill>
              <a:ln w="4763">
                <a:solidFill>
                  <a:srgbClr val="FFFFFF"/>
                </a:solidFill>
                <a:prstDash val="solid"/>
              </a:ln>
            </c:spPr>
            <c:extLst>
              <c:ext xmlns:c16="http://schemas.microsoft.com/office/drawing/2014/chart" uri="{C3380CC4-5D6E-409C-BE32-E72D297353CC}">
                <c16:uniqueId val="{00000007-44AA-4207-9B35-F5380977408F}"/>
              </c:ext>
            </c:extLst>
          </c:dPt>
          <c:dPt>
            <c:idx val="4"/>
            <c:bubble3D val="0"/>
            <c:spPr>
              <a:solidFill>
                <a:srgbClr val="D2AB39"/>
              </a:solidFill>
              <a:ln w="4763">
                <a:solidFill>
                  <a:srgbClr val="FFFFFF"/>
                </a:solidFill>
                <a:prstDash val="solid"/>
              </a:ln>
            </c:spPr>
            <c:extLst>
              <c:ext xmlns:c16="http://schemas.microsoft.com/office/drawing/2014/chart" uri="{C3380CC4-5D6E-409C-BE32-E72D297353CC}">
                <c16:uniqueId val="{00000009-44AA-4207-9B35-F5380977408F}"/>
              </c:ext>
            </c:extLst>
          </c:dPt>
          <c:dPt>
            <c:idx val="5"/>
            <c:bubble3D val="0"/>
            <c:spPr>
              <a:solidFill>
                <a:srgbClr val="518BB7"/>
              </a:solidFill>
              <a:ln w="4763">
                <a:solidFill>
                  <a:srgbClr val="FFFFFF"/>
                </a:solidFill>
                <a:prstDash val="solid"/>
              </a:ln>
            </c:spPr>
            <c:extLst>
              <c:ext xmlns:c16="http://schemas.microsoft.com/office/drawing/2014/chart" uri="{C3380CC4-5D6E-409C-BE32-E72D297353CC}">
                <c16:uniqueId val="{0000000B-44AA-4207-9B35-F5380977408F}"/>
              </c:ext>
            </c:extLst>
          </c:dPt>
          <c:dPt>
            <c:idx val="6"/>
            <c:bubble3D val="0"/>
            <c:spPr>
              <a:solidFill>
                <a:srgbClr val="B2BAC1"/>
              </a:solidFill>
              <a:ln w="4763">
                <a:solidFill>
                  <a:srgbClr val="FFFFFF"/>
                </a:solidFill>
                <a:prstDash val="solid"/>
              </a:ln>
            </c:spPr>
            <c:extLst>
              <c:ext xmlns:c16="http://schemas.microsoft.com/office/drawing/2014/chart" uri="{C3380CC4-5D6E-409C-BE32-E72D297353CC}">
                <c16:uniqueId val="{0000000D-44AA-4207-9B35-F5380977408F}"/>
              </c:ext>
            </c:extLst>
          </c:dPt>
          <c:cat>
            <c:strRef>
              <c:f>'Chart Data'!$A$2:$A$8</c:f>
              <c:strCache>
                <c:ptCount val="7"/>
                <c:pt idx="0">
                  <c:v>Airframe structure</c:v>
                </c:pt>
                <c:pt idx="1">
                  <c:v>Landing gear</c:v>
                </c:pt>
                <c:pt idx="2">
                  <c:v>Shared propulsion</c:v>
                </c:pt>
                <c:pt idx="3">
                  <c:v>Fuel-system hardware</c:v>
                </c:pt>
                <c:pt idx="4">
                  <c:v>Payload</c:v>
                </c:pt>
                <c:pt idx="5">
                  <c:v>Fuel</c:v>
                </c:pt>
                <c:pt idx="6">
                  <c:v>Others</c:v>
                </c:pt>
              </c:strCache>
            </c:strRef>
          </c:cat>
          <c:val>
            <c:numRef>
              <c:f>'Chart Data'!$B$2:$B$8</c:f>
              <c:numCache>
                <c:formatCode>General</c:formatCode>
                <c:ptCount val="7"/>
                <c:pt idx="0">
                  <c:v>96.570233000000002</c:v>
                </c:pt>
                <c:pt idx="1">
                  <c:v>8.0317059999999998</c:v>
                </c:pt>
                <c:pt idx="2">
                  <c:v>88.665206999999995</c:v>
                </c:pt>
                <c:pt idx="3">
                  <c:v>6.6995050000000003</c:v>
                </c:pt>
                <c:pt idx="4">
                  <c:v>30</c:v>
                </c:pt>
                <c:pt idx="5">
                  <c:v>44.665100000000002</c:v>
                </c:pt>
                <c:pt idx="6">
                  <c:v>46.640514000000003</c:v>
                </c:pt>
              </c:numCache>
            </c:numRef>
          </c:val>
          <c:extLst>
            <c:ext xmlns:c16="http://schemas.microsoft.com/office/drawing/2014/chart" uri="{C3380CC4-5D6E-409C-BE32-E72D297353CC}">
              <c16:uniqueId val="{0000000E-44AA-4207-9B35-F5380977408F}"/>
            </c:ext>
          </c:extLst>
        </c:ser>
        <c:dLbls>
          <c:showLegendKey val="0"/>
          <c:showVal val="0"/>
          <c:showCatName val="0"/>
          <c:showSerName val="0"/>
          <c:showPercent val="0"/>
          <c:showBubbleSize val="0"/>
          <c:showLeaderLines val="0"/>
        </c:dLbls>
        <c:firstSliceAng val="0"/>
      </c:pieChart>
    </c:plotArea>
    <c:plotVisOnly val="1"/>
    <c:dispBlanksAs val="zero"/>
    <c:showDLblsOverMax val="1"/>
  </c:chart>
  <c:spPr>
    <a:solidFill>
      <a:srgbClr val="FFFFFF"/>
    </a:solidFill>
    <a:ln w="0">
      <a:noFill/>
      <a:prstDash val="solid"/>
    </a:ln>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Previous: 181.88 Wh/kg</c:v>
          </c:tx>
          <c:spPr>
            <a:solidFill>
              <a:srgbClr val="087F8C"/>
            </a:solidFill>
          </c:spPr>
          <c:invertIfNegative val="0"/>
          <c:dLbls>
            <c:spPr>
              <a:noFill/>
              <a:ln>
                <a:noFill/>
              </a:ln>
              <a:effectLst/>
            </c:spPr>
            <c:txPr>
              <a:bodyPr anchorCtr="1"/>
              <a:lstStyle/>
              <a:p>
                <a:pPr>
                  <a:defRPr>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L+C retrofit</c:v>
                </c:pt>
                <c:pt idx="1">
                  <c:v>L+C clean sheet</c:v>
                </c:pt>
              </c:strCache>
            </c:strRef>
          </c:cat>
          <c:val>
            <c:numRef>
              <c:f>'Chart Data'!$B$2:$B$3</c:f>
              <c:numCache>
                <c:formatCode>General</c:formatCode>
                <c:ptCount val="2"/>
                <c:pt idx="0">
                  <c:v>397.2</c:v>
                </c:pt>
                <c:pt idx="1">
                  <c:v>381.7</c:v>
                </c:pt>
              </c:numCache>
            </c:numRef>
          </c:val>
          <c:extLst>
            <c:ext xmlns:c16="http://schemas.microsoft.com/office/drawing/2014/chart" uri="{C3380CC4-5D6E-409C-BE32-E72D297353CC}">
              <c16:uniqueId val="{00000000-2AF7-4478-8973-F4F9007F9D46}"/>
            </c:ext>
          </c:extLst>
        </c:ser>
        <c:ser>
          <c:idx val="1"/>
          <c:order val="1"/>
          <c:tx>
            <c:v>Lower energy: 142.75 Wh/kg</c:v>
          </c:tx>
          <c:spPr>
            <a:solidFill>
              <a:srgbClr val="D97732"/>
            </a:solidFill>
          </c:spPr>
          <c:invertIfNegative val="0"/>
          <c:dLbls>
            <c:spPr>
              <a:noFill/>
              <a:ln>
                <a:noFill/>
              </a:ln>
              <a:effectLst/>
            </c:spPr>
            <c:txPr>
              <a:bodyPr anchorCtr="1"/>
              <a:lstStyle/>
              <a:p>
                <a:pPr>
                  <a:defRPr>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Data'!$C$2:$C$3</c:f>
              <c:strCache>
                <c:ptCount val="2"/>
                <c:pt idx="0">
                  <c:v>L+C retrofit</c:v>
                </c:pt>
                <c:pt idx="1">
                  <c:v>L+C clean sheet</c:v>
                </c:pt>
              </c:strCache>
            </c:strRef>
          </c:cat>
          <c:val>
            <c:numRef>
              <c:f>'Chart Data'!$D$2:$D$3</c:f>
              <c:numCache>
                <c:formatCode>General</c:formatCode>
                <c:ptCount val="2"/>
                <c:pt idx="0">
                  <c:v>466.9</c:v>
                </c:pt>
                <c:pt idx="1">
                  <c:v>423.5</c:v>
                </c:pt>
              </c:numCache>
            </c:numRef>
          </c:val>
          <c:extLst>
            <c:ext xmlns:c16="http://schemas.microsoft.com/office/drawing/2014/chart" uri="{C3380CC4-5D6E-409C-BE32-E72D297353CC}">
              <c16:uniqueId val="{00000001-2AF7-4478-8973-F4F9007F9D46}"/>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scaling>
        <c:delete val="0"/>
        <c:axPos val="l"/>
        <c:title>
          <c:tx>
            <c:rich>
              <a:bodyPr/>
              <a:lstStyle/>
              <a:p>
                <a:r>
                  <a:rPr lang="en-US">
                    <a:latin typeface="Arial"/>
                    <a:ea typeface="Arial"/>
                    <a:cs typeface="Arial"/>
                  </a:rPr>
                  <a:t>Gross mass, kg</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latin typeface="Arial"/>
                <a:ea typeface="Arial"/>
                <a:cs typeface="Arial"/>
              </a:defRPr>
            </a:pPr>
            <a:endParaRPr lang="en-US"/>
          </a:p>
        </c:txPr>
        <c:crossAx val="48650112"/>
        <c:crosses val="autoZero"/>
        <c:crossBetween val="between"/>
        <c:majorUnit val="100"/>
      </c:valAx>
      <c:spPr>
        <a:solidFill>
          <a:srgbClr val="FFFFFF"/>
        </a:solidFill>
      </c:spPr>
    </c:plotArea>
    <c:legend>
      <c:legendPos val="b"/>
      <c:overlay val="0"/>
      <c:txPr>
        <a:bodyPr anchorCtr="1"/>
        <a:lstStyle/>
        <a:p>
          <a:pPr>
            <a:defRPr>
              <a:latin typeface="Arial"/>
              <a:ea typeface="Arial"/>
              <a:cs typeface="Arial"/>
            </a:defRPr>
          </a:pPr>
          <a:endParaRPr lang="en-US"/>
        </a:p>
      </c:txPr>
    </c:legend>
    <c:plotVisOnly val="1"/>
    <c:dispBlanksAs val="zero"/>
    <c:showDLblsOverMax val="1"/>
  </c:chart>
  <c:spPr>
    <a:solidFill>
      <a:srgbClr val="FFFFFF"/>
    </a:solidFill>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sz="1500"/>
              <a:t>Mechanical piston tiltrotor</a:t>
            </a:r>
          </a:p>
        </c:rich>
      </c:tx>
      <c:overlay val="0"/>
    </c:title>
    <c:autoTitleDeleted val="0"/>
    <c:plotArea>
      <c:layout/>
      <c:scatterChart>
        <c:scatterStyle val="lineMarker"/>
        <c:varyColors val="0"/>
        <c:ser>
          <c:idx val="0"/>
          <c:order val="0"/>
          <c:tx>
            <c:v>Attempted requested points</c:v>
          </c:tx>
          <c:spPr>
            <a:ln w="0">
              <a:noFill/>
            </a:ln>
          </c:spPr>
          <c:marker>
            <c:symbol val="circle"/>
            <c:size val="7"/>
            <c:spPr>
              <a:solidFill>
                <a:srgbClr val="1885C7"/>
              </a:solidFill>
            </c:spPr>
          </c:marker>
          <c:xVal>
            <c:numRef>
              <c:f>'Chart Data'!$A$2:$A$44</c:f>
              <c:numCache>
                <c:formatCode>General</c:formatCode>
                <c:ptCount val="43"/>
                <c:pt idx="0">
                  <c:v>15</c:v>
                </c:pt>
                <c:pt idx="1">
                  <c:v>22</c:v>
                </c:pt>
                <c:pt idx="2">
                  <c:v>30</c:v>
                </c:pt>
                <c:pt idx="3">
                  <c:v>40</c:v>
                </c:pt>
                <c:pt idx="4">
                  <c:v>55</c:v>
                </c:pt>
                <c:pt idx="5">
                  <c:v>70</c:v>
                </c:pt>
                <c:pt idx="6">
                  <c:v>15</c:v>
                </c:pt>
                <c:pt idx="7">
                  <c:v>22</c:v>
                </c:pt>
                <c:pt idx="8">
                  <c:v>30</c:v>
                </c:pt>
                <c:pt idx="9">
                  <c:v>40</c:v>
                </c:pt>
                <c:pt idx="10">
                  <c:v>55</c:v>
                </c:pt>
                <c:pt idx="11">
                  <c:v>70</c:v>
                </c:pt>
                <c:pt idx="12">
                  <c:v>15</c:v>
                </c:pt>
                <c:pt idx="13">
                  <c:v>22</c:v>
                </c:pt>
                <c:pt idx="14">
                  <c:v>30</c:v>
                </c:pt>
                <c:pt idx="15">
                  <c:v>40</c:v>
                </c:pt>
                <c:pt idx="16">
                  <c:v>55</c:v>
                </c:pt>
                <c:pt idx="17">
                  <c:v>10</c:v>
                </c:pt>
                <c:pt idx="18">
                  <c:v>70</c:v>
                </c:pt>
                <c:pt idx="19">
                  <c:v>12</c:v>
                </c:pt>
                <c:pt idx="20">
                  <c:v>15</c:v>
                </c:pt>
                <c:pt idx="21">
                  <c:v>18</c:v>
                </c:pt>
                <c:pt idx="22">
                  <c:v>22</c:v>
                </c:pt>
                <c:pt idx="23">
                  <c:v>30</c:v>
                </c:pt>
                <c:pt idx="24">
                  <c:v>10</c:v>
                </c:pt>
                <c:pt idx="25">
                  <c:v>40</c:v>
                </c:pt>
                <c:pt idx="26">
                  <c:v>12</c:v>
                </c:pt>
                <c:pt idx="27">
                  <c:v>55</c:v>
                </c:pt>
                <c:pt idx="28">
                  <c:v>18</c:v>
                </c:pt>
                <c:pt idx="29">
                  <c:v>70</c:v>
                </c:pt>
                <c:pt idx="30">
                  <c:v>10</c:v>
                </c:pt>
                <c:pt idx="31">
                  <c:v>15</c:v>
                </c:pt>
                <c:pt idx="32">
                  <c:v>12</c:v>
                </c:pt>
                <c:pt idx="33">
                  <c:v>22</c:v>
                </c:pt>
                <c:pt idx="34">
                  <c:v>18</c:v>
                </c:pt>
                <c:pt idx="35">
                  <c:v>30</c:v>
                </c:pt>
                <c:pt idx="36">
                  <c:v>40</c:v>
                </c:pt>
                <c:pt idx="37">
                  <c:v>55</c:v>
                </c:pt>
                <c:pt idx="38">
                  <c:v>70</c:v>
                </c:pt>
                <c:pt idx="39">
                  <c:v>48.453838230199203</c:v>
                </c:pt>
                <c:pt idx="40">
                  <c:v>18</c:v>
                </c:pt>
                <c:pt idx="41">
                  <c:v>20</c:v>
                </c:pt>
                <c:pt idx="42">
                  <c:v>20</c:v>
                </c:pt>
              </c:numCache>
            </c:numRef>
          </c:xVal>
          <c:yVal>
            <c:numRef>
              <c:f>'Chart Data'!$B$2:$B$44</c:f>
              <c:numCache>
                <c:formatCode>General</c:formatCode>
                <c:ptCount val="43"/>
                <c:pt idx="0">
                  <c:v>60</c:v>
                </c:pt>
                <c:pt idx="1">
                  <c:v>60</c:v>
                </c:pt>
                <c:pt idx="2">
                  <c:v>60</c:v>
                </c:pt>
                <c:pt idx="3">
                  <c:v>60</c:v>
                </c:pt>
                <c:pt idx="4">
                  <c:v>60</c:v>
                </c:pt>
                <c:pt idx="5">
                  <c:v>60</c:v>
                </c:pt>
                <c:pt idx="6">
                  <c:v>85</c:v>
                </c:pt>
                <c:pt idx="7">
                  <c:v>85</c:v>
                </c:pt>
                <c:pt idx="8">
                  <c:v>85</c:v>
                </c:pt>
                <c:pt idx="9">
                  <c:v>85</c:v>
                </c:pt>
                <c:pt idx="10">
                  <c:v>85</c:v>
                </c:pt>
                <c:pt idx="11">
                  <c:v>85</c:v>
                </c:pt>
                <c:pt idx="12">
                  <c:v>110</c:v>
                </c:pt>
                <c:pt idx="13">
                  <c:v>110</c:v>
                </c:pt>
                <c:pt idx="14">
                  <c:v>110</c:v>
                </c:pt>
                <c:pt idx="15">
                  <c:v>110</c:v>
                </c:pt>
                <c:pt idx="16">
                  <c:v>110</c:v>
                </c:pt>
                <c:pt idx="17">
                  <c:v>75</c:v>
                </c:pt>
                <c:pt idx="18">
                  <c:v>110</c:v>
                </c:pt>
                <c:pt idx="19">
                  <c:v>75</c:v>
                </c:pt>
                <c:pt idx="20">
                  <c:v>135</c:v>
                </c:pt>
                <c:pt idx="21">
                  <c:v>75</c:v>
                </c:pt>
                <c:pt idx="22">
                  <c:v>135</c:v>
                </c:pt>
                <c:pt idx="23">
                  <c:v>135</c:v>
                </c:pt>
                <c:pt idx="24">
                  <c:v>85</c:v>
                </c:pt>
                <c:pt idx="25">
                  <c:v>135</c:v>
                </c:pt>
                <c:pt idx="26">
                  <c:v>85</c:v>
                </c:pt>
                <c:pt idx="27">
                  <c:v>135</c:v>
                </c:pt>
                <c:pt idx="28">
                  <c:v>85</c:v>
                </c:pt>
                <c:pt idx="29">
                  <c:v>135</c:v>
                </c:pt>
                <c:pt idx="30">
                  <c:v>95</c:v>
                </c:pt>
                <c:pt idx="31">
                  <c:v>160</c:v>
                </c:pt>
                <c:pt idx="32">
                  <c:v>95</c:v>
                </c:pt>
                <c:pt idx="33">
                  <c:v>160</c:v>
                </c:pt>
                <c:pt idx="34">
                  <c:v>95</c:v>
                </c:pt>
                <c:pt idx="35">
                  <c:v>160</c:v>
                </c:pt>
                <c:pt idx="36">
                  <c:v>160</c:v>
                </c:pt>
                <c:pt idx="37">
                  <c:v>160</c:v>
                </c:pt>
                <c:pt idx="38">
                  <c:v>160</c:v>
                </c:pt>
                <c:pt idx="39">
                  <c:v>81.547619047619094</c:v>
                </c:pt>
                <c:pt idx="40">
                  <c:v>90</c:v>
                </c:pt>
                <c:pt idx="41">
                  <c:v>90</c:v>
                </c:pt>
                <c:pt idx="42">
                  <c:v>85</c:v>
                </c:pt>
              </c:numCache>
            </c:numRef>
          </c:yVal>
          <c:smooth val="0"/>
          <c:extLst>
            <c:ext xmlns:c16="http://schemas.microsoft.com/office/drawing/2014/chart" uri="{C3380CC4-5D6E-409C-BE32-E72D297353CC}">
              <c16:uniqueId val="{00000000-17DE-4C86-B24E-B000CCC23FF5}"/>
            </c:ext>
          </c:extLst>
        </c:ser>
        <c:dLbls>
          <c:showLegendKey val="0"/>
          <c:showVal val="0"/>
          <c:showCatName val="0"/>
          <c:showSerName val="0"/>
          <c:showPercent val="0"/>
          <c:showBubbleSize val="0"/>
        </c:dLbls>
        <c:axId val="48650112"/>
        <c:axId val="48672768"/>
      </c:scatterChart>
      <c:valAx>
        <c:axId val="48672768"/>
        <c:scaling>
          <c:orientation val="minMax"/>
        </c:scaling>
        <c:delete val="0"/>
        <c:axPos val="l"/>
        <c:title>
          <c:tx>
            <c:rich>
              <a:bodyPr/>
              <a:lstStyle/>
              <a:p>
                <a:r>
                  <a:rPr sz="1350"/>
                  <a:t>Wing loading, kg/m²</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125">
                <a:solidFill>
                  <a:srgbClr val="666666"/>
                </a:solidFill>
              </a:defRPr>
            </a:pPr>
            <a:endParaRPr lang="en-US"/>
          </a:p>
        </c:txPr>
        <c:crossAx val="48650112"/>
        <c:crosses val="autoZero"/>
        <c:crossBetween val="midCat"/>
      </c:valAx>
      <c:valAx>
        <c:axId val="48650112"/>
        <c:scaling>
          <c:orientation val="minMax"/>
        </c:scaling>
        <c:delete val="0"/>
        <c:axPos val="b"/>
        <c:title>
          <c:tx>
            <c:rich>
              <a:bodyPr/>
              <a:lstStyle/>
              <a:p>
                <a:r>
                  <a:rPr sz="1350"/>
                  <a:t>Disk loading, kg/m²</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125">
                <a:solidFill>
                  <a:srgbClr val="666666"/>
                </a:solidFill>
              </a:defRPr>
            </a:pPr>
            <a:endParaRPr lang="en-US"/>
          </a:p>
        </c:txPr>
        <c:crossAx val="48672768"/>
        <c:crosses val="autoZero"/>
        <c:crossBetween val="midCat"/>
      </c:valAx>
      <c:spPr>
        <a:solidFill>
          <a:srgbClr val="FFFFFF"/>
        </a:solidFill>
      </c:spPr>
    </c:plotArea>
    <c:plotVisOnly val="1"/>
    <c:dispBlanksAs val="zero"/>
    <c:showDLblsOverMax val="1"/>
  </c:chart>
  <c:spPr>
    <a:solidFill>
      <a:srgbClr val="FFFFFF"/>
    </a:solidFill>
    <a:ln w="0">
      <a:noFill/>
    </a:ln>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sz="1500"/>
              <a:t>Piston / electric lift + cruise</a:t>
            </a:r>
          </a:p>
        </c:rich>
      </c:tx>
      <c:overlay val="0"/>
    </c:title>
    <c:autoTitleDeleted val="0"/>
    <c:plotArea>
      <c:layout/>
      <c:scatterChart>
        <c:scatterStyle val="lineMarker"/>
        <c:varyColors val="0"/>
        <c:ser>
          <c:idx val="0"/>
          <c:order val="0"/>
          <c:tx>
            <c:v>Attempted requested points</c:v>
          </c:tx>
          <c:spPr>
            <a:ln w="0">
              <a:noFill/>
            </a:ln>
          </c:spPr>
          <c:marker>
            <c:symbol val="circle"/>
            <c:size val="7"/>
            <c:spPr>
              <a:solidFill>
                <a:srgbClr val="1885C7"/>
              </a:solidFill>
            </c:spPr>
          </c:marker>
          <c:xVal>
            <c:numRef>
              <c:f>'Chart Data'!$A$2:$A$45</c:f>
              <c:numCache>
                <c:formatCode>General</c:formatCode>
                <c:ptCount val="44"/>
                <c:pt idx="0">
                  <c:v>15</c:v>
                </c:pt>
                <c:pt idx="1">
                  <c:v>22</c:v>
                </c:pt>
                <c:pt idx="2">
                  <c:v>30</c:v>
                </c:pt>
                <c:pt idx="3">
                  <c:v>40</c:v>
                </c:pt>
                <c:pt idx="4">
                  <c:v>55</c:v>
                </c:pt>
                <c:pt idx="5">
                  <c:v>70</c:v>
                </c:pt>
                <c:pt idx="6">
                  <c:v>15</c:v>
                </c:pt>
                <c:pt idx="7">
                  <c:v>22</c:v>
                </c:pt>
                <c:pt idx="8">
                  <c:v>30</c:v>
                </c:pt>
                <c:pt idx="9">
                  <c:v>40</c:v>
                </c:pt>
                <c:pt idx="10">
                  <c:v>55</c:v>
                </c:pt>
                <c:pt idx="11">
                  <c:v>70</c:v>
                </c:pt>
                <c:pt idx="12">
                  <c:v>15</c:v>
                </c:pt>
                <c:pt idx="13">
                  <c:v>22</c:v>
                </c:pt>
                <c:pt idx="14">
                  <c:v>30</c:v>
                </c:pt>
                <c:pt idx="15">
                  <c:v>40</c:v>
                </c:pt>
                <c:pt idx="16">
                  <c:v>55</c:v>
                </c:pt>
                <c:pt idx="17">
                  <c:v>70</c:v>
                </c:pt>
                <c:pt idx="18">
                  <c:v>15</c:v>
                </c:pt>
                <c:pt idx="19">
                  <c:v>22</c:v>
                </c:pt>
                <c:pt idx="20">
                  <c:v>30</c:v>
                </c:pt>
                <c:pt idx="21">
                  <c:v>40</c:v>
                </c:pt>
                <c:pt idx="22">
                  <c:v>55</c:v>
                </c:pt>
                <c:pt idx="23">
                  <c:v>70</c:v>
                </c:pt>
                <c:pt idx="24">
                  <c:v>15</c:v>
                </c:pt>
                <c:pt idx="25">
                  <c:v>22</c:v>
                </c:pt>
                <c:pt idx="26">
                  <c:v>30</c:v>
                </c:pt>
                <c:pt idx="27">
                  <c:v>40</c:v>
                </c:pt>
                <c:pt idx="28">
                  <c:v>55</c:v>
                </c:pt>
                <c:pt idx="29">
                  <c:v>70</c:v>
                </c:pt>
                <c:pt idx="30">
                  <c:v>48.453838230199203</c:v>
                </c:pt>
                <c:pt idx="31">
                  <c:v>26</c:v>
                </c:pt>
                <c:pt idx="32">
                  <c:v>30</c:v>
                </c:pt>
                <c:pt idx="33">
                  <c:v>34</c:v>
                </c:pt>
                <c:pt idx="34">
                  <c:v>26</c:v>
                </c:pt>
                <c:pt idx="35">
                  <c:v>30</c:v>
                </c:pt>
                <c:pt idx="36">
                  <c:v>34</c:v>
                </c:pt>
                <c:pt idx="37">
                  <c:v>26</c:v>
                </c:pt>
                <c:pt idx="38">
                  <c:v>30</c:v>
                </c:pt>
                <c:pt idx="39">
                  <c:v>34</c:v>
                </c:pt>
                <c:pt idx="40">
                  <c:v>24</c:v>
                </c:pt>
                <c:pt idx="41">
                  <c:v>28</c:v>
                </c:pt>
                <c:pt idx="42">
                  <c:v>26</c:v>
                </c:pt>
                <c:pt idx="43">
                  <c:v>30</c:v>
                </c:pt>
              </c:numCache>
            </c:numRef>
          </c:xVal>
          <c:yVal>
            <c:numRef>
              <c:f>'Chart Data'!$B$2:$B$45</c:f>
              <c:numCache>
                <c:formatCode>General</c:formatCode>
                <c:ptCount val="44"/>
                <c:pt idx="0">
                  <c:v>60</c:v>
                </c:pt>
                <c:pt idx="1">
                  <c:v>60</c:v>
                </c:pt>
                <c:pt idx="2">
                  <c:v>60</c:v>
                </c:pt>
                <c:pt idx="3">
                  <c:v>60</c:v>
                </c:pt>
                <c:pt idx="4">
                  <c:v>60</c:v>
                </c:pt>
                <c:pt idx="5">
                  <c:v>60</c:v>
                </c:pt>
                <c:pt idx="6">
                  <c:v>85</c:v>
                </c:pt>
                <c:pt idx="7">
                  <c:v>85</c:v>
                </c:pt>
                <c:pt idx="8">
                  <c:v>85</c:v>
                </c:pt>
                <c:pt idx="9">
                  <c:v>85</c:v>
                </c:pt>
                <c:pt idx="10">
                  <c:v>85</c:v>
                </c:pt>
                <c:pt idx="11">
                  <c:v>85</c:v>
                </c:pt>
                <c:pt idx="12">
                  <c:v>110</c:v>
                </c:pt>
                <c:pt idx="13">
                  <c:v>110</c:v>
                </c:pt>
                <c:pt idx="14">
                  <c:v>110</c:v>
                </c:pt>
                <c:pt idx="15">
                  <c:v>110</c:v>
                </c:pt>
                <c:pt idx="16">
                  <c:v>110</c:v>
                </c:pt>
                <c:pt idx="17">
                  <c:v>110</c:v>
                </c:pt>
                <c:pt idx="18">
                  <c:v>135</c:v>
                </c:pt>
                <c:pt idx="19">
                  <c:v>135</c:v>
                </c:pt>
                <c:pt idx="20">
                  <c:v>135</c:v>
                </c:pt>
                <c:pt idx="21">
                  <c:v>135</c:v>
                </c:pt>
                <c:pt idx="22">
                  <c:v>135</c:v>
                </c:pt>
                <c:pt idx="23">
                  <c:v>135</c:v>
                </c:pt>
                <c:pt idx="24">
                  <c:v>160</c:v>
                </c:pt>
                <c:pt idx="25">
                  <c:v>160</c:v>
                </c:pt>
                <c:pt idx="26">
                  <c:v>160</c:v>
                </c:pt>
                <c:pt idx="27">
                  <c:v>160</c:v>
                </c:pt>
                <c:pt idx="28">
                  <c:v>160</c:v>
                </c:pt>
                <c:pt idx="29">
                  <c:v>160</c:v>
                </c:pt>
                <c:pt idx="30">
                  <c:v>81.547619047619094</c:v>
                </c:pt>
                <c:pt idx="31">
                  <c:v>75</c:v>
                </c:pt>
                <c:pt idx="32">
                  <c:v>75</c:v>
                </c:pt>
                <c:pt idx="33">
                  <c:v>75</c:v>
                </c:pt>
                <c:pt idx="34">
                  <c:v>90</c:v>
                </c:pt>
                <c:pt idx="35">
                  <c:v>90</c:v>
                </c:pt>
                <c:pt idx="36">
                  <c:v>90</c:v>
                </c:pt>
                <c:pt idx="37">
                  <c:v>95</c:v>
                </c:pt>
                <c:pt idx="38">
                  <c:v>95</c:v>
                </c:pt>
                <c:pt idx="39">
                  <c:v>95</c:v>
                </c:pt>
                <c:pt idx="40">
                  <c:v>95</c:v>
                </c:pt>
                <c:pt idx="41">
                  <c:v>95</c:v>
                </c:pt>
                <c:pt idx="42">
                  <c:v>97</c:v>
                </c:pt>
                <c:pt idx="43">
                  <c:v>97</c:v>
                </c:pt>
              </c:numCache>
            </c:numRef>
          </c:yVal>
          <c:smooth val="0"/>
          <c:extLst>
            <c:ext xmlns:c16="http://schemas.microsoft.com/office/drawing/2014/chart" uri="{C3380CC4-5D6E-409C-BE32-E72D297353CC}">
              <c16:uniqueId val="{00000000-AD45-4037-BAA6-04B90C9C022C}"/>
            </c:ext>
          </c:extLst>
        </c:ser>
        <c:dLbls>
          <c:showLegendKey val="0"/>
          <c:showVal val="0"/>
          <c:showCatName val="0"/>
          <c:showSerName val="0"/>
          <c:showPercent val="0"/>
          <c:showBubbleSize val="0"/>
        </c:dLbls>
        <c:axId val="48650112"/>
        <c:axId val="48672768"/>
      </c:scatterChart>
      <c:valAx>
        <c:axId val="48672768"/>
        <c:scaling>
          <c:orientation val="minMax"/>
        </c:scaling>
        <c:delete val="0"/>
        <c:axPos val="l"/>
        <c:title>
          <c:tx>
            <c:rich>
              <a:bodyPr/>
              <a:lstStyle/>
              <a:p>
                <a:r>
                  <a:rPr sz="1350"/>
                  <a:t>Wing loading, kg/m²</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125">
                <a:solidFill>
                  <a:srgbClr val="666666"/>
                </a:solidFill>
              </a:defRPr>
            </a:pPr>
            <a:endParaRPr lang="en-US"/>
          </a:p>
        </c:txPr>
        <c:crossAx val="48650112"/>
        <c:crosses val="autoZero"/>
        <c:crossBetween val="midCat"/>
      </c:valAx>
      <c:valAx>
        <c:axId val="48650112"/>
        <c:scaling>
          <c:orientation val="minMax"/>
        </c:scaling>
        <c:delete val="0"/>
        <c:axPos val="b"/>
        <c:title>
          <c:tx>
            <c:rich>
              <a:bodyPr/>
              <a:lstStyle/>
              <a:p>
                <a:r>
                  <a:rPr sz="1350"/>
                  <a:t>Disk loading, kg/m²</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125">
                <a:solidFill>
                  <a:srgbClr val="666666"/>
                </a:solidFill>
              </a:defRPr>
            </a:pPr>
            <a:endParaRPr lang="en-US"/>
          </a:p>
        </c:txPr>
        <c:crossAx val="48672768"/>
        <c:crosses val="autoZero"/>
        <c:crossBetween val="midCat"/>
      </c:valAx>
      <c:spPr>
        <a:solidFill>
          <a:srgbClr val="FFFFFF"/>
        </a:solidFill>
      </c:spPr>
    </c:plotArea>
    <c:plotVisOnly val="1"/>
    <c:dispBlanksAs val="zero"/>
    <c:showDLblsOverMax val="1"/>
  </c:chart>
  <c:spPr>
    <a:solidFill>
      <a:srgbClr val="FFFFFF"/>
    </a:solidFill>
    <a:ln w="0">
      <a:noFill/>
    </a:ln>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sz="1500"/>
              <a:t>Initial disk loading</a:t>
            </a:r>
          </a:p>
        </c:rich>
      </c:tx>
      <c:overlay val="0"/>
    </c:title>
    <c:autoTitleDeleted val="0"/>
    <c:plotArea>
      <c:layout/>
      <c:scatterChart>
        <c:scatterStyle val="lineMarker"/>
        <c:varyColors val="0"/>
        <c:ser>
          <c:idx val="0"/>
          <c:order val="0"/>
          <c:tx>
            <c:v>Accepted sizing points [T]</c:v>
          </c:tx>
          <c:spPr>
            <a:ln w="19050">
              <a:solidFill>
                <a:srgbClr val="1885C7"/>
              </a:solidFill>
            </a:ln>
          </c:spPr>
          <c:marker>
            <c:symbol val="circle"/>
            <c:size val="7"/>
            <c:spPr>
              <a:solidFill>
                <a:srgbClr val="1885C7"/>
              </a:solidFill>
            </c:spPr>
          </c:marker>
          <c:xVal>
            <c:numRef>
              <c:f>'Chart Data'!$A$2:$A$9</c:f>
              <c:numCache>
                <c:formatCode>General</c:formatCode>
                <c:ptCount val="8"/>
                <c:pt idx="0">
                  <c:v>7</c:v>
                </c:pt>
                <c:pt idx="1">
                  <c:v>8</c:v>
                </c:pt>
                <c:pt idx="2">
                  <c:v>9</c:v>
                </c:pt>
                <c:pt idx="3">
                  <c:v>10</c:v>
                </c:pt>
                <c:pt idx="4">
                  <c:v>11</c:v>
                </c:pt>
                <c:pt idx="5">
                  <c:v>13</c:v>
                </c:pt>
                <c:pt idx="6">
                  <c:v>14</c:v>
                </c:pt>
                <c:pt idx="7">
                  <c:v>15</c:v>
                </c:pt>
              </c:numCache>
            </c:numRef>
          </c:xVal>
          <c:yVal>
            <c:numRef>
              <c:f>'Chart Data'!$B$2:$B$9</c:f>
              <c:numCache>
                <c:formatCode>General</c:formatCode>
                <c:ptCount val="8"/>
                <c:pt idx="0">
                  <c:v>4431.3360000000002</c:v>
                </c:pt>
                <c:pt idx="1">
                  <c:v>4380.1809999999996</c:v>
                </c:pt>
                <c:pt idx="2">
                  <c:v>4346.2539999999999</c:v>
                </c:pt>
                <c:pt idx="3">
                  <c:v>4335.143</c:v>
                </c:pt>
                <c:pt idx="4">
                  <c:v>4333.2060000000001</c:v>
                </c:pt>
                <c:pt idx="5">
                  <c:v>4349.0230000000001</c:v>
                </c:pt>
                <c:pt idx="6">
                  <c:v>4363.9040000000005</c:v>
                </c:pt>
                <c:pt idx="7">
                  <c:v>4381.8239999999996</c:v>
                </c:pt>
              </c:numCache>
            </c:numRef>
          </c:yVal>
          <c:smooth val="0"/>
          <c:extLst>
            <c:ext xmlns:c16="http://schemas.microsoft.com/office/drawing/2014/chart" uri="{C3380CC4-5D6E-409C-BE32-E72D297353CC}">
              <c16:uniqueId val="{00000000-09FF-477E-BD4D-3A19823979A6}"/>
            </c:ext>
          </c:extLst>
        </c:ser>
        <c:dLbls>
          <c:showLegendKey val="0"/>
          <c:showVal val="0"/>
          <c:showCatName val="0"/>
          <c:showSerName val="0"/>
          <c:showPercent val="0"/>
          <c:showBubbleSize val="0"/>
        </c:dLbls>
        <c:axId val="48650112"/>
        <c:axId val="48672768"/>
      </c:scatterChart>
      <c:valAx>
        <c:axId val="48672768"/>
        <c:scaling>
          <c:orientation val="minMax"/>
          <c:max val="4480"/>
          <c:min val="4240"/>
        </c:scaling>
        <c:delete val="0"/>
        <c:axPos val="l"/>
        <c:title>
          <c:tx>
            <c:rich>
              <a:bodyPr/>
              <a:lstStyle/>
              <a:p>
                <a:r>
                  <a:rPr sz="1350"/>
                  <a:t>Design gross weight, lb</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125">
                <a:solidFill>
                  <a:srgbClr val="666666"/>
                </a:solidFill>
              </a:defRPr>
            </a:pPr>
            <a:endParaRPr lang="en-US"/>
          </a:p>
        </c:txPr>
        <c:crossAx val="48650112"/>
        <c:crosses val="autoZero"/>
        <c:crossBetween val="midCat"/>
      </c:valAx>
      <c:valAx>
        <c:axId val="48650112"/>
        <c:scaling>
          <c:orientation val="minMax"/>
          <c:max val="15"/>
          <c:min val="7"/>
        </c:scaling>
        <c:delete val="0"/>
        <c:axPos val="b"/>
        <c:title>
          <c:tx>
            <c:rich>
              <a:bodyPr/>
              <a:lstStyle/>
              <a:p>
                <a:r>
                  <a:rPr sz="1350"/>
                  <a:t>Disk loading, lb/ft²</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125">
                <a:solidFill>
                  <a:srgbClr val="666666"/>
                </a:solidFill>
              </a:defRPr>
            </a:pPr>
            <a:endParaRPr lang="en-US"/>
          </a:p>
        </c:txPr>
        <c:crossAx val="48672768"/>
        <c:crosses val="autoZero"/>
        <c:crossBetween val="midCat"/>
      </c:valAx>
      <c:spPr>
        <a:solidFill>
          <a:srgbClr val="FFFFFF"/>
        </a:solidFill>
      </c:spPr>
    </c:plotArea>
    <c:plotVisOnly val="1"/>
    <c:dispBlanksAs val="zero"/>
    <c:showDLblsOverMax val="1"/>
  </c:chart>
  <c:spPr>
    <a:solidFill>
      <a:srgbClr val="FFFFFF"/>
    </a:solidFill>
    <a:ln w="0">
      <a:noFill/>
    </a:ln>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sz="1500"/>
              <a:t>Wing loading</a:t>
            </a:r>
          </a:p>
        </c:rich>
      </c:tx>
      <c:overlay val="0"/>
    </c:title>
    <c:autoTitleDeleted val="0"/>
    <c:plotArea>
      <c:layout/>
      <c:scatterChart>
        <c:scatterStyle val="lineMarker"/>
        <c:varyColors val="0"/>
        <c:ser>
          <c:idx val="0"/>
          <c:order val="0"/>
          <c:tx>
            <c:v>Accepted sizing points [T]</c:v>
          </c:tx>
          <c:spPr>
            <a:ln w="19050">
              <a:solidFill>
                <a:srgbClr val="1885C7"/>
              </a:solidFill>
            </a:ln>
          </c:spPr>
          <c:marker>
            <c:symbol val="circle"/>
            <c:size val="7"/>
            <c:spPr>
              <a:solidFill>
                <a:srgbClr val="1885C7"/>
              </a:solidFill>
            </c:spPr>
          </c:marker>
          <c:xVal>
            <c:numRef>
              <c:f>'Chart Data'!$A$2:$A$9</c:f>
              <c:numCache>
                <c:formatCode>General</c:formatCode>
                <c:ptCount val="8"/>
                <c:pt idx="0">
                  <c:v>30</c:v>
                </c:pt>
                <c:pt idx="1">
                  <c:v>35</c:v>
                </c:pt>
                <c:pt idx="2">
                  <c:v>40</c:v>
                </c:pt>
                <c:pt idx="3">
                  <c:v>45</c:v>
                </c:pt>
                <c:pt idx="4">
                  <c:v>50</c:v>
                </c:pt>
                <c:pt idx="5">
                  <c:v>55</c:v>
                </c:pt>
                <c:pt idx="6">
                  <c:v>60</c:v>
                </c:pt>
                <c:pt idx="7">
                  <c:v>65</c:v>
                </c:pt>
              </c:numCache>
            </c:numRef>
          </c:xVal>
          <c:yVal>
            <c:numRef>
              <c:f>'Chart Data'!$B$2:$B$9</c:f>
              <c:numCache>
                <c:formatCode>General</c:formatCode>
                <c:ptCount val="8"/>
                <c:pt idx="0">
                  <c:v>4689.143</c:v>
                </c:pt>
                <c:pt idx="1">
                  <c:v>4525.1099999999997</c:v>
                </c:pt>
                <c:pt idx="2">
                  <c:v>4429.0619999999999</c:v>
                </c:pt>
                <c:pt idx="3">
                  <c:v>4369.6530000000002</c:v>
                </c:pt>
                <c:pt idx="4">
                  <c:v>4333.2060000000001</c:v>
                </c:pt>
                <c:pt idx="5">
                  <c:v>4310.5320000000002</c:v>
                </c:pt>
                <c:pt idx="6">
                  <c:v>4298.4219999999996</c:v>
                </c:pt>
                <c:pt idx="7">
                  <c:v>4302.38</c:v>
                </c:pt>
              </c:numCache>
            </c:numRef>
          </c:yVal>
          <c:smooth val="0"/>
          <c:extLst>
            <c:ext xmlns:c16="http://schemas.microsoft.com/office/drawing/2014/chart" uri="{C3380CC4-5D6E-409C-BE32-E72D297353CC}">
              <c16:uniqueId val="{00000000-E8F4-47CA-9918-26B126AC657C}"/>
            </c:ext>
          </c:extLst>
        </c:ser>
        <c:dLbls>
          <c:showLegendKey val="0"/>
          <c:showVal val="0"/>
          <c:showCatName val="0"/>
          <c:showSerName val="0"/>
          <c:showPercent val="0"/>
          <c:showBubbleSize val="0"/>
        </c:dLbls>
        <c:axId val="48650112"/>
        <c:axId val="48672768"/>
      </c:scatterChart>
      <c:valAx>
        <c:axId val="48672768"/>
        <c:scaling>
          <c:orientation val="minMax"/>
          <c:max val="4740"/>
          <c:min val="4210"/>
        </c:scaling>
        <c:delete val="0"/>
        <c:axPos val="l"/>
        <c:title>
          <c:tx>
            <c:rich>
              <a:bodyPr/>
              <a:lstStyle/>
              <a:p>
                <a:r>
                  <a:rPr sz="1350"/>
                  <a:t>Design gross weight, lb</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125">
                <a:solidFill>
                  <a:srgbClr val="666666"/>
                </a:solidFill>
              </a:defRPr>
            </a:pPr>
            <a:endParaRPr lang="en-US"/>
          </a:p>
        </c:txPr>
        <c:crossAx val="48650112"/>
        <c:crosses val="autoZero"/>
        <c:crossBetween val="midCat"/>
      </c:valAx>
      <c:valAx>
        <c:axId val="48650112"/>
        <c:scaling>
          <c:orientation val="minMax"/>
          <c:max val="65"/>
          <c:min val="30"/>
        </c:scaling>
        <c:delete val="0"/>
        <c:axPos val="b"/>
        <c:title>
          <c:tx>
            <c:rich>
              <a:bodyPr/>
              <a:lstStyle/>
              <a:p>
                <a:r>
                  <a:rPr sz="1350"/>
                  <a:t>Wing loading, lb/ft²</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125">
                <a:solidFill>
                  <a:srgbClr val="666666"/>
                </a:solidFill>
              </a:defRPr>
            </a:pPr>
            <a:endParaRPr lang="en-US"/>
          </a:p>
        </c:txPr>
        <c:crossAx val="48672768"/>
        <c:crosses val="autoZero"/>
        <c:crossBetween val="midCat"/>
      </c:valAx>
      <c:spPr>
        <a:solidFill>
          <a:srgbClr val="FFFFFF"/>
        </a:solidFill>
      </c:spPr>
    </c:plotArea>
    <c:plotVisOnly val="1"/>
    <c:dispBlanksAs val="zero"/>
    <c:showDLblsOverMax val="1"/>
  </c:chart>
  <c:spPr>
    <a:solidFill>
      <a:srgbClr val="FFFFFF"/>
    </a:solidFill>
    <a:ln w="0">
      <a:noFill/>
    </a:ln>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sz="1500"/>
              <a:t>Final disk loading</a:t>
            </a:r>
          </a:p>
        </c:rich>
      </c:tx>
      <c:overlay val="0"/>
    </c:title>
    <c:autoTitleDeleted val="0"/>
    <c:plotArea>
      <c:layout/>
      <c:scatterChart>
        <c:scatterStyle val="lineMarker"/>
        <c:varyColors val="0"/>
        <c:ser>
          <c:idx val="0"/>
          <c:order val="0"/>
          <c:tx>
            <c:v>Accepted sizing points [T]</c:v>
          </c:tx>
          <c:spPr>
            <a:ln w="19050">
              <a:solidFill>
                <a:srgbClr val="1885C7"/>
              </a:solidFill>
            </a:ln>
          </c:spPr>
          <c:marker>
            <c:symbol val="circle"/>
            <c:size val="7"/>
            <c:spPr>
              <a:solidFill>
                <a:srgbClr val="1885C7"/>
              </a:solidFill>
            </c:spPr>
          </c:marker>
          <c:xVal>
            <c:numRef>
              <c:f>'Chart Data'!$A$2:$A$8</c:f>
              <c:numCache>
                <c:formatCode>General</c:formatCode>
                <c:ptCount val="7"/>
                <c:pt idx="0">
                  <c:v>8</c:v>
                </c:pt>
                <c:pt idx="1">
                  <c:v>9</c:v>
                </c:pt>
                <c:pt idx="2">
                  <c:v>10</c:v>
                </c:pt>
                <c:pt idx="3">
                  <c:v>11</c:v>
                </c:pt>
                <c:pt idx="4">
                  <c:v>12</c:v>
                </c:pt>
                <c:pt idx="5">
                  <c:v>13</c:v>
                </c:pt>
                <c:pt idx="6">
                  <c:v>14</c:v>
                </c:pt>
              </c:numCache>
            </c:numRef>
          </c:xVal>
          <c:yVal>
            <c:numRef>
              <c:f>'Chart Data'!$B$2:$B$8</c:f>
              <c:numCache>
                <c:formatCode>General</c:formatCode>
                <c:ptCount val="7"/>
                <c:pt idx="0">
                  <c:v>4365.2139999999999</c:v>
                </c:pt>
                <c:pt idx="1">
                  <c:v>4326.0309999999999</c:v>
                </c:pt>
                <c:pt idx="2">
                  <c:v>4306.6090000000004</c:v>
                </c:pt>
                <c:pt idx="3">
                  <c:v>4298.4219999999996</c:v>
                </c:pt>
                <c:pt idx="4">
                  <c:v>4299.232</c:v>
                </c:pt>
                <c:pt idx="5">
                  <c:v>4305.7749999999996</c:v>
                </c:pt>
                <c:pt idx="6">
                  <c:v>4316.0410000000002</c:v>
                </c:pt>
              </c:numCache>
            </c:numRef>
          </c:yVal>
          <c:smooth val="0"/>
          <c:extLst>
            <c:ext xmlns:c16="http://schemas.microsoft.com/office/drawing/2014/chart" uri="{C3380CC4-5D6E-409C-BE32-E72D297353CC}">
              <c16:uniqueId val="{00000000-9A3A-4F95-980F-FACEF02EE17D}"/>
            </c:ext>
          </c:extLst>
        </c:ser>
        <c:dLbls>
          <c:showLegendKey val="0"/>
          <c:showVal val="0"/>
          <c:showCatName val="0"/>
          <c:showSerName val="0"/>
          <c:showPercent val="0"/>
          <c:showBubbleSize val="0"/>
        </c:dLbls>
        <c:axId val="48650112"/>
        <c:axId val="48672768"/>
      </c:scatterChart>
      <c:valAx>
        <c:axId val="48672768"/>
        <c:scaling>
          <c:orientation val="minMax"/>
          <c:max val="4410"/>
          <c:min val="4210"/>
        </c:scaling>
        <c:delete val="0"/>
        <c:axPos val="l"/>
        <c:title>
          <c:tx>
            <c:rich>
              <a:bodyPr/>
              <a:lstStyle/>
              <a:p>
                <a:r>
                  <a:rPr sz="1350"/>
                  <a:t>Design gross weight, lb</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125">
                <a:solidFill>
                  <a:srgbClr val="666666"/>
                </a:solidFill>
              </a:defRPr>
            </a:pPr>
            <a:endParaRPr lang="en-US"/>
          </a:p>
        </c:txPr>
        <c:crossAx val="48650112"/>
        <c:crosses val="autoZero"/>
        <c:crossBetween val="midCat"/>
      </c:valAx>
      <c:valAx>
        <c:axId val="48650112"/>
        <c:scaling>
          <c:orientation val="minMax"/>
          <c:max val="14"/>
          <c:min val="8"/>
        </c:scaling>
        <c:delete val="0"/>
        <c:axPos val="b"/>
        <c:title>
          <c:tx>
            <c:rich>
              <a:bodyPr/>
              <a:lstStyle/>
              <a:p>
                <a:r>
                  <a:rPr sz="1350"/>
                  <a:t>Disk loading, lb/ft²</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125">
                <a:solidFill>
                  <a:srgbClr val="666666"/>
                </a:solidFill>
              </a:defRPr>
            </a:pPr>
            <a:endParaRPr lang="en-US"/>
          </a:p>
        </c:txPr>
        <c:crossAx val="48672768"/>
        <c:crosses val="autoZero"/>
        <c:crossBetween val="midCat"/>
      </c:valAx>
      <c:spPr>
        <a:solidFill>
          <a:srgbClr val="FFFFFF"/>
        </a:solidFill>
      </c:spPr>
    </c:plotArea>
    <c:plotVisOnly val="1"/>
    <c:dispBlanksAs val="zero"/>
    <c:showDLblsOverMax val="1"/>
  </c:chart>
  <c:spPr>
    <a:solidFill>
      <a:srgbClr val="FFFFFF"/>
    </a:solidFill>
    <a:ln w="0">
      <a:noFill/>
    </a:ln>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sz="1500"/>
              <a:t>Hover tip speed</a:t>
            </a:r>
          </a:p>
        </c:rich>
      </c:tx>
      <c:overlay val="0"/>
    </c:title>
    <c:autoTitleDeleted val="0"/>
    <c:plotArea>
      <c:layout/>
      <c:scatterChart>
        <c:scatterStyle val="lineMarker"/>
        <c:varyColors val="0"/>
        <c:ser>
          <c:idx val="0"/>
          <c:order val="0"/>
          <c:tx>
            <c:v>Accepted sizing points [T]</c:v>
          </c:tx>
          <c:spPr>
            <a:ln w="19050">
              <a:solidFill>
                <a:srgbClr val="1885C7"/>
              </a:solidFill>
            </a:ln>
          </c:spPr>
          <c:marker>
            <c:symbol val="circle"/>
            <c:size val="7"/>
            <c:spPr>
              <a:solidFill>
                <a:srgbClr val="1885C7"/>
              </a:solidFill>
            </c:spPr>
          </c:marker>
          <c:xVal>
            <c:numRef>
              <c:f>'Chart Data'!$A$2:$A$8</c:f>
              <c:numCache>
                <c:formatCode>General</c:formatCode>
                <c:ptCount val="7"/>
                <c:pt idx="0">
                  <c:v>450</c:v>
                </c:pt>
                <c:pt idx="1">
                  <c:v>500</c:v>
                </c:pt>
                <c:pt idx="2">
                  <c:v>550</c:v>
                </c:pt>
                <c:pt idx="3">
                  <c:v>600</c:v>
                </c:pt>
                <c:pt idx="4">
                  <c:v>650</c:v>
                </c:pt>
                <c:pt idx="5">
                  <c:v>700</c:v>
                </c:pt>
                <c:pt idx="6">
                  <c:v>750</c:v>
                </c:pt>
              </c:numCache>
            </c:numRef>
          </c:xVal>
          <c:yVal>
            <c:numRef>
              <c:f>'Chart Data'!$B$2:$B$8</c:f>
              <c:numCache>
                <c:formatCode>General</c:formatCode>
                <c:ptCount val="7"/>
                <c:pt idx="0">
                  <c:v>4500.1490000000003</c:v>
                </c:pt>
                <c:pt idx="1">
                  <c:v>4383.3410000000003</c:v>
                </c:pt>
                <c:pt idx="2">
                  <c:v>4299.232</c:v>
                </c:pt>
                <c:pt idx="3">
                  <c:v>4268.9799999999996</c:v>
                </c:pt>
                <c:pt idx="4">
                  <c:v>4251.4570000000003</c:v>
                </c:pt>
                <c:pt idx="5">
                  <c:v>4244.1750000000002</c:v>
                </c:pt>
                <c:pt idx="6">
                  <c:v>4245.2700000000004</c:v>
                </c:pt>
              </c:numCache>
            </c:numRef>
          </c:yVal>
          <c:smooth val="0"/>
          <c:extLst>
            <c:ext xmlns:c16="http://schemas.microsoft.com/office/drawing/2014/chart" uri="{C3380CC4-5D6E-409C-BE32-E72D297353CC}">
              <c16:uniqueId val="{00000000-9E7C-4032-BB8C-B3D63E227A3B}"/>
            </c:ext>
          </c:extLst>
        </c:ser>
        <c:dLbls>
          <c:showLegendKey val="0"/>
          <c:showVal val="0"/>
          <c:showCatName val="0"/>
          <c:showSerName val="0"/>
          <c:showPercent val="0"/>
          <c:showBubbleSize val="0"/>
        </c:dLbls>
        <c:axId val="48650112"/>
        <c:axId val="48672768"/>
      </c:scatterChart>
      <c:valAx>
        <c:axId val="48672768"/>
        <c:scaling>
          <c:orientation val="minMax"/>
          <c:max val="4550"/>
          <c:min val="4150"/>
        </c:scaling>
        <c:delete val="0"/>
        <c:axPos val="l"/>
        <c:title>
          <c:tx>
            <c:rich>
              <a:bodyPr/>
              <a:lstStyle/>
              <a:p>
                <a:r>
                  <a:rPr sz="1350"/>
                  <a:t>Design gross weight, lb</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125">
                <a:solidFill>
                  <a:srgbClr val="666666"/>
                </a:solidFill>
              </a:defRPr>
            </a:pPr>
            <a:endParaRPr lang="en-US"/>
          </a:p>
        </c:txPr>
        <c:crossAx val="48650112"/>
        <c:crosses val="autoZero"/>
        <c:crossBetween val="midCat"/>
      </c:valAx>
      <c:valAx>
        <c:axId val="48650112"/>
        <c:scaling>
          <c:orientation val="minMax"/>
          <c:max val="750"/>
          <c:min val="450"/>
        </c:scaling>
        <c:delete val="0"/>
        <c:axPos val="b"/>
        <c:title>
          <c:tx>
            <c:rich>
              <a:bodyPr/>
              <a:lstStyle/>
              <a:p>
                <a:r>
                  <a:rPr sz="1350"/>
                  <a:t>Tip speed, ft/s</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125">
                <a:solidFill>
                  <a:srgbClr val="666666"/>
                </a:solidFill>
              </a:defRPr>
            </a:pPr>
            <a:endParaRPr lang="en-US"/>
          </a:p>
        </c:txPr>
        <c:crossAx val="48672768"/>
        <c:crosses val="autoZero"/>
        <c:crossBetween val="midCat"/>
      </c:valAx>
      <c:spPr>
        <a:solidFill>
          <a:srgbClr val="FFFFFF"/>
        </a:solidFill>
      </c:spPr>
    </c:plotArea>
    <c:plotVisOnly val="1"/>
    <c:dispBlanksAs val="zero"/>
    <c:showDLblsOverMax val="1"/>
  </c:chart>
  <c:spPr>
    <a:solidFill>
      <a:srgbClr val="FFFFFF"/>
    </a:solidFill>
    <a:ln w="0">
      <a:noFill/>
    </a:ln>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sz="1500"/>
              <a:t>Initial disk loading</a:t>
            </a:r>
          </a:p>
        </c:rich>
      </c:tx>
      <c:overlay val="0"/>
    </c:title>
    <c:autoTitleDeleted val="0"/>
    <c:plotArea>
      <c:layout/>
      <c:scatterChart>
        <c:scatterStyle val="lineMarker"/>
        <c:varyColors val="0"/>
        <c:ser>
          <c:idx val="0"/>
          <c:order val="0"/>
          <c:tx>
            <c:v>Accepted sizing points [T]</c:v>
          </c:tx>
          <c:spPr>
            <a:ln w="19050">
              <a:solidFill>
                <a:srgbClr val="1885C7"/>
              </a:solidFill>
            </a:ln>
          </c:spPr>
          <c:marker>
            <c:symbol val="circle"/>
            <c:size val="7"/>
            <c:spPr>
              <a:solidFill>
                <a:srgbClr val="1885C7"/>
              </a:solidFill>
            </c:spPr>
          </c:marker>
          <c:xVal>
            <c:numRef>
              <c:f>'Chart Data'!$A$2:$A$8</c:f>
              <c:numCache>
                <c:formatCode>General</c:formatCode>
                <c:ptCount val="7"/>
                <c:pt idx="0">
                  <c:v>8</c:v>
                </c:pt>
                <c:pt idx="1">
                  <c:v>9</c:v>
                </c:pt>
                <c:pt idx="2">
                  <c:v>10</c:v>
                </c:pt>
                <c:pt idx="3">
                  <c:v>11</c:v>
                </c:pt>
                <c:pt idx="4">
                  <c:v>12</c:v>
                </c:pt>
                <c:pt idx="5">
                  <c:v>13</c:v>
                </c:pt>
                <c:pt idx="6">
                  <c:v>14</c:v>
                </c:pt>
              </c:numCache>
            </c:numRef>
          </c:xVal>
          <c:yVal>
            <c:numRef>
              <c:f>'Chart Data'!$B$2:$B$8</c:f>
              <c:numCache>
                <c:formatCode>General</c:formatCode>
                <c:ptCount val="7"/>
                <c:pt idx="0">
                  <c:v>7436.9759999999997</c:v>
                </c:pt>
                <c:pt idx="1">
                  <c:v>7433.375</c:v>
                </c:pt>
                <c:pt idx="2">
                  <c:v>7469.4759999999997</c:v>
                </c:pt>
                <c:pt idx="3">
                  <c:v>7535.5140000000001</c:v>
                </c:pt>
                <c:pt idx="4">
                  <c:v>7621.5559999999996</c:v>
                </c:pt>
                <c:pt idx="5">
                  <c:v>7721.9430000000002</c:v>
                </c:pt>
                <c:pt idx="6">
                  <c:v>7829.0839999999998</c:v>
                </c:pt>
              </c:numCache>
            </c:numRef>
          </c:yVal>
          <c:smooth val="0"/>
          <c:extLst>
            <c:ext xmlns:c16="http://schemas.microsoft.com/office/drawing/2014/chart" uri="{C3380CC4-5D6E-409C-BE32-E72D297353CC}">
              <c16:uniqueId val="{00000000-5521-4666-BA37-2E01E4172D38}"/>
            </c:ext>
          </c:extLst>
        </c:ser>
        <c:dLbls>
          <c:showLegendKey val="0"/>
          <c:showVal val="0"/>
          <c:showCatName val="0"/>
          <c:showSerName val="0"/>
          <c:showPercent val="0"/>
          <c:showBubbleSize val="0"/>
        </c:dLbls>
        <c:axId val="48650112"/>
        <c:axId val="48672768"/>
      </c:scatterChart>
      <c:valAx>
        <c:axId val="48672768"/>
        <c:scaling>
          <c:orientation val="minMax"/>
          <c:max val="7910"/>
          <c:min val="7280"/>
        </c:scaling>
        <c:delete val="0"/>
        <c:axPos val="l"/>
        <c:title>
          <c:tx>
            <c:rich>
              <a:bodyPr/>
              <a:lstStyle/>
              <a:p>
                <a:r>
                  <a:rPr sz="1350"/>
                  <a:t>Design gross weight, lb</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125">
                <a:solidFill>
                  <a:srgbClr val="666666"/>
                </a:solidFill>
              </a:defRPr>
            </a:pPr>
            <a:endParaRPr lang="en-US"/>
          </a:p>
        </c:txPr>
        <c:crossAx val="48650112"/>
        <c:crosses val="autoZero"/>
        <c:crossBetween val="midCat"/>
      </c:valAx>
      <c:valAx>
        <c:axId val="48650112"/>
        <c:scaling>
          <c:orientation val="minMax"/>
          <c:max val="14"/>
          <c:min val="8"/>
        </c:scaling>
        <c:delete val="0"/>
        <c:axPos val="b"/>
        <c:title>
          <c:tx>
            <c:rich>
              <a:bodyPr/>
              <a:lstStyle/>
              <a:p>
                <a:r>
                  <a:rPr sz="1350"/>
                  <a:t>Disk loading, lb/ft²</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125">
                <a:solidFill>
                  <a:srgbClr val="666666"/>
                </a:solidFill>
              </a:defRPr>
            </a:pPr>
            <a:endParaRPr lang="en-US"/>
          </a:p>
        </c:txPr>
        <c:crossAx val="48672768"/>
        <c:crosses val="autoZero"/>
        <c:crossBetween val="midCat"/>
      </c:valAx>
      <c:spPr>
        <a:solidFill>
          <a:srgbClr val="FFFFFF"/>
        </a:solidFill>
      </c:spPr>
    </c:plotArea>
    <c:plotVisOnly val="1"/>
    <c:dispBlanksAs val="zero"/>
    <c:showDLblsOverMax val="1"/>
  </c:chart>
  <c:spPr>
    <a:solidFill>
      <a:srgbClr val="FFFFFF"/>
    </a:solidFill>
    <a:ln w="0">
      <a:noFill/>
    </a:ln>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sz="1500"/>
              <a:t>Wing loading</a:t>
            </a:r>
          </a:p>
        </c:rich>
      </c:tx>
      <c:overlay val="0"/>
    </c:title>
    <c:autoTitleDeleted val="0"/>
    <c:plotArea>
      <c:layout/>
      <c:scatterChart>
        <c:scatterStyle val="lineMarker"/>
        <c:varyColors val="0"/>
        <c:ser>
          <c:idx val="0"/>
          <c:order val="0"/>
          <c:tx>
            <c:v>Accepted sizing points [T]</c:v>
          </c:tx>
          <c:spPr>
            <a:ln w="19050">
              <a:solidFill>
                <a:srgbClr val="1885C7"/>
              </a:solidFill>
            </a:ln>
          </c:spPr>
          <c:marker>
            <c:symbol val="circle"/>
            <c:size val="7"/>
            <c:spPr>
              <a:solidFill>
                <a:srgbClr val="1885C7"/>
              </a:solidFill>
            </c:spPr>
          </c:marker>
          <c:xVal>
            <c:numRef>
              <c:f>'Chart Data'!$A$2:$A$8</c:f>
              <c:numCache>
                <c:formatCode>General</c:formatCode>
                <c:ptCount val="7"/>
                <c:pt idx="0">
                  <c:v>40</c:v>
                </c:pt>
                <c:pt idx="1">
                  <c:v>45</c:v>
                </c:pt>
                <c:pt idx="2">
                  <c:v>50</c:v>
                </c:pt>
                <c:pt idx="3">
                  <c:v>55</c:v>
                </c:pt>
                <c:pt idx="4">
                  <c:v>60</c:v>
                </c:pt>
                <c:pt idx="5">
                  <c:v>65</c:v>
                </c:pt>
                <c:pt idx="6">
                  <c:v>70</c:v>
                </c:pt>
              </c:numCache>
            </c:numRef>
          </c:xVal>
          <c:yVal>
            <c:numRef>
              <c:f>'Chart Data'!$B$2:$B$8</c:f>
              <c:numCache>
                <c:formatCode>General</c:formatCode>
                <c:ptCount val="7"/>
                <c:pt idx="0">
                  <c:v>7966.1610000000001</c:v>
                </c:pt>
                <c:pt idx="1">
                  <c:v>7636.1030000000001</c:v>
                </c:pt>
                <c:pt idx="2">
                  <c:v>7433.375</c:v>
                </c:pt>
                <c:pt idx="3">
                  <c:v>7302.415</c:v>
                </c:pt>
                <c:pt idx="4">
                  <c:v>7206.9780000000001</c:v>
                </c:pt>
                <c:pt idx="5">
                  <c:v>7140.951</c:v>
                </c:pt>
                <c:pt idx="6">
                  <c:v>7108.6120000000001</c:v>
                </c:pt>
              </c:numCache>
            </c:numRef>
          </c:yVal>
          <c:smooth val="0"/>
          <c:extLst>
            <c:ext xmlns:c16="http://schemas.microsoft.com/office/drawing/2014/chart" uri="{C3380CC4-5D6E-409C-BE32-E72D297353CC}">
              <c16:uniqueId val="{00000000-D343-446B-BE45-6ECF03A95FD6}"/>
            </c:ext>
          </c:extLst>
        </c:ser>
        <c:dLbls>
          <c:showLegendKey val="0"/>
          <c:showVal val="0"/>
          <c:showCatName val="0"/>
          <c:showSerName val="0"/>
          <c:showPercent val="0"/>
          <c:showBubbleSize val="0"/>
        </c:dLbls>
        <c:axId val="48650112"/>
        <c:axId val="48672768"/>
      </c:scatterChart>
      <c:valAx>
        <c:axId val="48672768"/>
        <c:scaling>
          <c:orientation val="minMax"/>
          <c:max val="8050"/>
          <c:min val="6960"/>
        </c:scaling>
        <c:delete val="0"/>
        <c:axPos val="l"/>
        <c:title>
          <c:tx>
            <c:rich>
              <a:bodyPr/>
              <a:lstStyle/>
              <a:p>
                <a:r>
                  <a:rPr sz="1350"/>
                  <a:t>Design gross weight, lb</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125">
                <a:solidFill>
                  <a:srgbClr val="666666"/>
                </a:solidFill>
              </a:defRPr>
            </a:pPr>
            <a:endParaRPr lang="en-US"/>
          </a:p>
        </c:txPr>
        <c:crossAx val="48650112"/>
        <c:crosses val="autoZero"/>
        <c:crossBetween val="midCat"/>
      </c:valAx>
      <c:valAx>
        <c:axId val="48650112"/>
        <c:scaling>
          <c:orientation val="minMax"/>
          <c:max val="70"/>
          <c:min val="40"/>
        </c:scaling>
        <c:delete val="0"/>
        <c:axPos val="b"/>
        <c:title>
          <c:tx>
            <c:rich>
              <a:bodyPr/>
              <a:lstStyle/>
              <a:p>
                <a:r>
                  <a:rPr sz="1350"/>
                  <a:t>Wing loading, lb/ft²</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125">
                <a:solidFill>
                  <a:srgbClr val="666666"/>
                </a:solidFill>
              </a:defRPr>
            </a:pPr>
            <a:endParaRPr lang="en-US"/>
          </a:p>
        </c:txPr>
        <c:crossAx val="48672768"/>
        <c:crosses val="autoZero"/>
        <c:crossBetween val="midCat"/>
      </c:valAx>
      <c:spPr>
        <a:solidFill>
          <a:srgbClr val="FFFFFF"/>
        </a:solidFill>
      </c:spPr>
    </c:plotArea>
    <c:plotVisOnly val="1"/>
    <c:dispBlanksAs val="zero"/>
    <c:showDLblsOverMax val="1"/>
  </c:chart>
  <c:spPr>
    <a:solidFill>
      <a:srgbClr val="FFFFFF"/>
    </a:solidFill>
    <a:ln w="0">
      <a:noFill/>
    </a:ln>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sz="1500"/>
              <a:t>Final disk loading</a:t>
            </a:r>
          </a:p>
        </c:rich>
      </c:tx>
      <c:overlay val="0"/>
    </c:title>
    <c:autoTitleDeleted val="0"/>
    <c:plotArea>
      <c:layout/>
      <c:scatterChart>
        <c:scatterStyle val="lineMarker"/>
        <c:varyColors val="0"/>
        <c:ser>
          <c:idx val="0"/>
          <c:order val="0"/>
          <c:tx>
            <c:v>Accepted sizing points [T]</c:v>
          </c:tx>
          <c:spPr>
            <a:ln w="19050">
              <a:solidFill>
                <a:srgbClr val="1885C7"/>
              </a:solidFill>
            </a:ln>
          </c:spPr>
          <c:marker>
            <c:symbol val="circle"/>
            <c:size val="7"/>
            <c:spPr>
              <a:solidFill>
                <a:srgbClr val="1885C7"/>
              </a:solidFill>
            </c:spPr>
          </c:marker>
          <c:xVal>
            <c:numRef>
              <c:f>'Chart Data'!$A$2:$A$10</c:f>
              <c:numCache>
                <c:formatCode>General</c:formatCode>
                <c:ptCount val="9"/>
                <c:pt idx="0">
                  <c:v>7</c:v>
                </c:pt>
                <c:pt idx="1">
                  <c:v>8</c:v>
                </c:pt>
                <c:pt idx="2">
                  <c:v>9</c:v>
                </c:pt>
                <c:pt idx="3">
                  <c:v>10</c:v>
                </c:pt>
                <c:pt idx="4">
                  <c:v>11</c:v>
                </c:pt>
                <c:pt idx="5">
                  <c:v>12</c:v>
                </c:pt>
                <c:pt idx="6">
                  <c:v>13</c:v>
                </c:pt>
                <c:pt idx="7">
                  <c:v>14</c:v>
                </c:pt>
                <c:pt idx="8">
                  <c:v>15</c:v>
                </c:pt>
              </c:numCache>
            </c:numRef>
          </c:xVal>
          <c:yVal>
            <c:numRef>
              <c:f>'Chart Data'!$B$2:$B$10</c:f>
              <c:numCache>
                <c:formatCode>General</c:formatCode>
                <c:ptCount val="9"/>
                <c:pt idx="0">
                  <c:v>7345.6790000000001</c:v>
                </c:pt>
                <c:pt idx="1">
                  <c:v>7197.4539999999997</c:v>
                </c:pt>
                <c:pt idx="2">
                  <c:v>7140.951</c:v>
                </c:pt>
                <c:pt idx="3">
                  <c:v>7136.7039999999997</c:v>
                </c:pt>
                <c:pt idx="4">
                  <c:v>7168.02</c:v>
                </c:pt>
                <c:pt idx="5">
                  <c:v>7221.8720000000003</c:v>
                </c:pt>
                <c:pt idx="6">
                  <c:v>7287.3</c:v>
                </c:pt>
                <c:pt idx="7">
                  <c:v>7340.8230000000003</c:v>
                </c:pt>
                <c:pt idx="8">
                  <c:v>7419.741</c:v>
                </c:pt>
              </c:numCache>
            </c:numRef>
          </c:yVal>
          <c:smooth val="0"/>
          <c:extLst>
            <c:ext xmlns:c16="http://schemas.microsoft.com/office/drawing/2014/chart" uri="{C3380CC4-5D6E-409C-BE32-E72D297353CC}">
              <c16:uniqueId val="{00000000-2CB4-4271-AEAD-F8DF10F490A0}"/>
            </c:ext>
          </c:extLst>
        </c:ser>
        <c:dLbls>
          <c:showLegendKey val="0"/>
          <c:showVal val="0"/>
          <c:showCatName val="0"/>
          <c:showSerName val="0"/>
          <c:showPercent val="0"/>
          <c:showBubbleSize val="0"/>
        </c:dLbls>
        <c:axId val="48650112"/>
        <c:axId val="48672768"/>
      </c:scatterChart>
      <c:valAx>
        <c:axId val="48672768"/>
        <c:scaling>
          <c:orientation val="minMax"/>
          <c:max val="7500"/>
          <c:min val="6990"/>
        </c:scaling>
        <c:delete val="0"/>
        <c:axPos val="l"/>
        <c:title>
          <c:tx>
            <c:rich>
              <a:bodyPr/>
              <a:lstStyle/>
              <a:p>
                <a:r>
                  <a:rPr sz="1350"/>
                  <a:t>Design gross weight, lb</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125">
                <a:solidFill>
                  <a:srgbClr val="666666"/>
                </a:solidFill>
              </a:defRPr>
            </a:pPr>
            <a:endParaRPr lang="en-US"/>
          </a:p>
        </c:txPr>
        <c:crossAx val="48650112"/>
        <c:crosses val="autoZero"/>
        <c:crossBetween val="midCat"/>
      </c:valAx>
      <c:valAx>
        <c:axId val="48650112"/>
        <c:scaling>
          <c:orientation val="minMax"/>
          <c:max val="15"/>
          <c:min val="7"/>
        </c:scaling>
        <c:delete val="0"/>
        <c:axPos val="b"/>
        <c:title>
          <c:tx>
            <c:rich>
              <a:bodyPr/>
              <a:lstStyle/>
              <a:p>
                <a:r>
                  <a:rPr sz="1350"/>
                  <a:t>Disk loading, lb/ft²</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125">
                <a:solidFill>
                  <a:srgbClr val="666666"/>
                </a:solidFill>
              </a:defRPr>
            </a:pPr>
            <a:endParaRPr lang="en-US"/>
          </a:p>
        </c:txPr>
        <c:crossAx val="48672768"/>
        <c:crosses val="autoZero"/>
        <c:crossBetween val="midCat"/>
      </c:valAx>
      <c:spPr>
        <a:solidFill>
          <a:srgbClr val="FFFFFF"/>
        </a:solidFill>
      </c:spPr>
    </c:plotArea>
    <c:plotVisOnly val="1"/>
    <c:dispBlanksAs val="zero"/>
    <c:showDLblsOverMax val="1"/>
  </c:chart>
  <c:spPr>
    <a:solidFill>
      <a:srgbClr val="FFFFFF"/>
    </a:solidFill>
    <a:ln w="0">
      <a:noFill/>
    </a:ln>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sz="1500"/>
              <a:t>Hover tip speed</a:t>
            </a:r>
          </a:p>
        </c:rich>
      </c:tx>
      <c:overlay val="0"/>
    </c:title>
    <c:autoTitleDeleted val="0"/>
    <c:plotArea>
      <c:layout/>
      <c:scatterChart>
        <c:scatterStyle val="lineMarker"/>
        <c:varyColors val="0"/>
        <c:ser>
          <c:idx val="0"/>
          <c:order val="0"/>
          <c:tx>
            <c:v>Accepted sizing points [T]</c:v>
          </c:tx>
          <c:spPr>
            <a:ln w="19050">
              <a:solidFill>
                <a:srgbClr val="1885C7"/>
              </a:solidFill>
            </a:ln>
          </c:spPr>
          <c:marker>
            <c:symbol val="circle"/>
            <c:size val="7"/>
            <c:spPr>
              <a:solidFill>
                <a:srgbClr val="1885C7"/>
              </a:solidFill>
            </c:spPr>
          </c:marker>
          <c:xVal>
            <c:numRef>
              <c:f>'Chart Data'!$A$2:$A$7</c:f>
              <c:numCache>
                <c:formatCode>General</c:formatCode>
                <c:ptCount val="6"/>
                <c:pt idx="0">
                  <c:v>400</c:v>
                </c:pt>
                <c:pt idx="1">
                  <c:v>450</c:v>
                </c:pt>
                <c:pt idx="2">
                  <c:v>500</c:v>
                </c:pt>
                <c:pt idx="3">
                  <c:v>550</c:v>
                </c:pt>
                <c:pt idx="4">
                  <c:v>600</c:v>
                </c:pt>
                <c:pt idx="5">
                  <c:v>650</c:v>
                </c:pt>
              </c:numCache>
            </c:numRef>
          </c:xVal>
          <c:yVal>
            <c:numRef>
              <c:f>'Chart Data'!$B$2:$B$7</c:f>
              <c:numCache>
                <c:formatCode>General</c:formatCode>
                <c:ptCount val="6"/>
                <c:pt idx="0">
                  <c:v>8487.9419999999991</c:v>
                </c:pt>
                <c:pt idx="1">
                  <c:v>7824.53</c:v>
                </c:pt>
                <c:pt idx="2">
                  <c:v>7411.4549999999999</c:v>
                </c:pt>
                <c:pt idx="3">
                  <c:v>7136.7039999999997</c:v>
                </c:pt>
                <c:pt idx="4">
                  <c:v>6947.942</c:v>
                </c:pt>
                <c:pt idx="5">
                  <c:v>6814.5420000000004</c:v>
                </c:pt>
              </c:numCache>
            </c:numRef>
          </c:yVal>
          <c:smooth val="0"/>
          <c:extLst>
            <c:ext xmlns:c16="http://schemas.microsoft.com/office/drawing/2014/chart" uri="{C3380CC4-5D6E-409C-BE32-E72D297353CC}">
              <c16:uniqueId val="{00000000-CFAC-4FF0-AF1B-E45DDC979354}"/>
            </c:ext>
          </c:extLst>
        </c:ser>
        <c:dLbls>
          <c:showLegendKey val="0"/>
          <c:showVal val="0"/>
          <c:showCatName val="0"/>
          <c:showSerName val="0"/>
          <c:showPercent val="0"/>
          <c:showBubbleSize val="0"/>
        </c:dLbls>
        <c:axId val="48650112"/>
        <c:axId val="48672768"/>
      </c:scatterChart>
      <c:valAx>
        <c:axId val="48672768"/>
        <c:scaling>
          <c:orientation val="minMax"/>
          <c:max val="8580"/>
          <c:min val="6670"/>
        </c:scaling>
        <c:delete val="0"/>
        <c:axPos val="l"/>
        <c:title>
          <c:tx>
            <c:rich>
              <a:bodyPr/>
              <a:lstStyle/>
              <a:p>
                <a:r>
                  <a:rPr sz="1350"/>
                  <a:t>Design gross weight, lb</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125">
                <a:solidFill>
                  <a:srgbClr val="666666"/>
                </a:solidFill>
              </a:defRPr>
            </a:pPr>
            <a:endParaRPr lang="en-US"/>
          </a:p>
        </c:txPr>
        <c:crossAx val="48650112"/>
        <c:crosses val="autoZero"/>
        <c:crossBetween val="midCat"/>
      </c:valAx>
      <c:valAx>
        <c:axId val="48650112"/>
        <c:scaling>
          <c:orientation val="minMax"/>
          <c:max val="650"/>
          <c:min val="400"/>
        </c:scaling>
        <c:delete val="0"/>
        <c:axPos val="b"/>
        <c:title>
          <c:tx>
            <c:rich>
              <a:bodyPr/>
              <a:lstStyle/>
              <a:p>
                <a:r>
                  <a:rPr sz="1350"/>
                  <a:t>Tip speed, ft/s</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125">
                <a:solidFill>
                  <a:srgbClr val="666666"/>
                </a:solidFill>
              </a:defRPr>
            </a:pPr>
            <a:endParaRPr lang="en-US"/>
          </a:p>
        </c:txPr>
        <c:crossAx val="48672768"/>
        <c:crosses val="autoZero"/>
        <c:crossBetween val="midCat"/>
      </c:valAx>
      <c:spPr>
        <a:solidFill>
          <a:srgbClr val="FFFFFF"/>
        </a:solidFill>
      </c:spPr>
    </c:plotArea>
    <c:plotVisOnly val="1"/>
    <c:dispBlanksAs val="zero"/>
    <c:showDLblsOverMax val="1"/>
  </c:chart>
  <c:spPr>
    <a:solidFill>
      <a:srgbClr val="FFFFFF"/>
    </a:solidFill>
    <a:ln w="0">
      <a:noFill/>
    </a:ln>
  </c:spPr>
  <c:externalData r:id="rId1">
    <c:autoUpdate val="0"/>
  </c:externalData>
</c:chartSpace>
</file>

<file path=ppt/comments/modernComment_10B_573AB.xml><?xml version="1.0" encoding="utf-8"?>
<p188:cmLst xmlns:a="http://schemas.openxmlformats.org/drawingml/2006/main" xmlns:r="http://schemas.openxmlformats.org/officeDocument/2006/relationships" xmlns:p188="http://schemas.microsoft.com/office/powerpoint/2018/8/main">
  <p188:cm id="{D89077C8-4F26-47E3-ACEA-6312E75E4C73}" authorId="{F63327DE-37A4-775D-A5CA-07B5A2F69AC1}" created="2026-10-27T16:08:26.364">
    <pc:sldMkLst xmlns:pc="http://schemas.microsoft.com/office/powerpoint/2013/main/command">
      <pc:docMk/>
      <pc:sldMk cId="357291" sldId="267"/>
    </pc:sldMkLst>
    <p188:replyLst>
      <p188:reply id="{00913CC5-DCC4-432B-940F-A990AE3EE7DB}" authorId="{495578F4-4144-408D-AAB9-C692A128B820}" created="2026-10-27T16:36:30Z">
        <p188:txBody>
          <a:bodyPr/>
          <a:lstStyle/>
          <a:p>
            <a:r>
              <a:t>1. Catalog candidates are identified, but no complete installation is qualified. Hirth3503 matches nominalpistonpowerclass; Rotron is L+Crotaryreference; TG-R90 is a relevantturbogeneratorclass butdifferentmass/output/busboundary. Generic75kW/25kgbareturbine remains optimistic/unmatched. 2. Mechanicaldrive17.58kg breaks into13.784kggearboxes,3.564kgshafting,.231kgbrake. These are model estimates,notverifiedsupplierproductweights. No matched COTS split/tiltgearbox was found. Requiredsupplierdata: power/torque/RPM/duty,ratio,rotation direction,tiltjoint/shaftinterface,lubrication,cooling andtorsional loads. A genericengine reductionbox alone is not evidence for the complete tiltrotordrive.</a:t>
            </a:r>
          </a:p>
        </p188:txBody>
      </p188:reply>
    </p188:replyLst>
    <p188:txBody>
      <a:bodyPr/>
      <a:lstStyle/>
      <a:p>
        <a:r>
          <a:rPr lang="en-US"/>
          <a:t>1. Do we really have proper engine for this?
2. what about gearbox? Did you check its weight  and cots product?
</a:t>
        </a:r>
      </a:p>
    </p188:txBody>
  </p188:cm>
</p188:cmLst>
</file>

<file path=ppt/comments/modernComment_10C_623BB5D4.xml><?xml version="1.0" encoding="utf-8"?>
<p188:cmLst xmlns:a="http://schemas.openxmlformats.org/drawingml/2006/main" xmlns:r="http://schemas.openxmlformats.org/officeDocument/2006/relationships" xmlns:p188="http://schemas.microsoft.com/office/powerpoint/2018/8/main">
  <p188:cm id="{B174261E-04D7-44A5-8F1D-A5C4A73521A2}" authorId="{F63327DE-37A4-775D-A5CA-07B5A2F69AC1}" created="2026-10-27T12:46:37.624">
    <pc:sldMkLst xmlns:pc="http://schemas.microsoft.com/office/powerpoint/2013/main/command">
      <pc:docMk/>
      <pc:sldMk cId="1648080340" sldId="268"/>
    </pc:sldMkLst>
    <p188:replyLst>
      <p188:reply id="{25A59708-9F49-4B37-BA4D-BBD5E85A9CB8}" authorId="{15A7D1C8-7855-4F4D-981A-7FA23054EA7C}" created="2026-10-27T12:00:00Z">
        <p188:txBody>
          <a:bodyPr/>
          <a:lstStyle/>
          <a:p>
            <a:r>
              <a:t>Slide 5 now contains the saved sizing results, geometry, fuel, main battery and engine/shaft limits for all four configurations. Separate 9.448 kg installed avionics battery systems remain included. These are the previous-assumption cases, not rerun UAV optimizations.</a:t>
            </a:r>
          </a:p>
        </p188:txBody>
      </p188:reply>
      <p188:reply id="{3D42F9E8-7137-43F1-82D7-B586FBD78D86}" authorId="{495578F4-4144-408D-AAB9-C692A128B820}" created="2026-10-27T16:36:30Z">
        <p188:txBody>
          <a:bodyPr/>
          <a:lstStyle/>
          <a:p>
            <a:r>
              <a:t>The sizing-results slide remains here, in your revised table format with baseline column and rounded gross weights. All four design columns now use the corrected30-second climb runs:397.18,381.68,296.16,321.27kg. Baseline mission-fuel entry is clarified as35kg at takeoff from37kg usable ground fuel minus2kg ground burn; the earlier40kg was not a verified mission-fuel result. The baseline engine/package identity and battery split remain unconfirmed.</a:t>
            </a:r>
          </a:p>
        </p188:txBody>
      </p188:reply>
    </p188:replyLst>
    <p188:txBody>
      <a:bodyPr/>
      <a:lstStyle/>
      <a:p>
        <a:r>
          <a:rPr lang="en-US"/>
          <a:t>The sizing result should be here
</a:t>
        </a:r>
      </a:p>
    </p188:txBody>
  </p188:cm>
</p188:cmLst>
</file>

<file path=ppt/comments/modernComment_10D_762A2C27.xml><?xml version="1.0" encoding="utf-8"?>
<p188:cmLst xmlns:a="http://schemas.openxmlformats.org/drawingml/2006/main" xmlns:r="http://schemas.openxmlformats.org/officeDocument/2006/relationships" xmlns:p188="http://schemas.microsoft.com/office/powerpoint/2018/8/main">
  <p188:cm id="{13AA86DA-149E-4527-94B2-97F63E5A3E9E}" authorId="{F63327DE-37A4-775D-A5CA-07B5A2F69AC1}" created="2026-10-27T12:51:40.611">
    <ac:txMkLst xmlns:ac="http://schemas.microsoft.com/office/drawing/2013/main/command">
      <pc:docMk xmlns:pc="http://schemas.microsoft.com/office/powerpoint/2013/main/command"/>
      <pc:sldMk xmlns:pc="http://schemas.microsoft.com/office/powerpoint/2013/main/command" cId="1982475303" sldId="269"/>
      <ac:spMk id="2" creationId="{5BF39248-0F6C-4B7F-BD91-397E3EDD64B9}"/>
      <ac:txMk cp="0" len="117">
        <ac:context len="118" hash="2433000843"/>
      </ac:txMk>
    </ac:txMkLst>
    <p188:replyLst>
      <p188:reply id="{04F0D950-34BF-49F1-8DB8-361114D5A8DF}" authorId="{15A7D1C8-7855-4F4D-981A-7FA23054EA7C}" created="2026-10-27T12:00:00Z">
        <p188:txBody>
          <a:bodyPr/>
          <a:lstStyle/>
          <a:p>
            <a:r>
              <a:t>Slide 6 now uses 340 kg takeoff mass. The reconstructed ledger totals 333.42 kg, leaving 6.58 kg explicitly unallocated instead of silently filling a model margin. L+C retrofit/clean sheet occupy the left pair and piston/turboelectric tiltrotor the right pair. Rotors belong to propulsion, landing gear and fuel-system hardware are explicit. Tiltrotor propulsion is shared between vertical and cruise flight and is not counted twice. Baseline vertical propulsion has no confirmed battery/motor/prop sub-ledger, so those masses are not invented. Others still differs in content across reference and models.</a:t>
            </a:r>
          </a:p>
        </p188:txBody>
      </p188:reply>
      <p188:reply id="{7F8BC1B8-440D-45C9-8E5A-5905B991D80B}" authorId="{495578F4-4144-408D-AAB9-C692A128B820}" created="2026-10-27T16:36:30Z">
        <p188:txBody>
          <a:bodyPr/>
          <a:lstStyle/>
          <a:p>
            <a:r>
              <a:t>1. Your revised component entries total268.42kg; adding30kg payload and35kg takeoff fuel gives333.42kg. The stated340kg takeoff reference therefore leaves6.58kg unallocated. It is shown explicitly, not assigned to an invented component. 2. Layout retained as requested: baseline at left; L+C retrofit / clean sheet in the middle top/bottom; piston / turboelectric tiltrotors at right top/bottom. Native editable pie slices and component tables use corrected30s results. Rotors are in propulsion, landing gear and fuel hardware are explicit. A tiltrotor shares propulsion between flight modes and is not counted twice.</a:t>
            </a:r>
          </a:p>
        </p188:txBody>
      </p188:reply>
    </p188:replyLst>
    <p188:txBody>
      <a:bodyPr/>
      <a:lstStyle/>
      <a:p>
        <a:r>
          <a:rPr lang="en-US"/>
          <a:t>1. The baseline weight should be 340 kg-ish. What makes 333.42 kg?
2. Change the location of the figure:
L+C retro fit        Tiltrotor Piston
L+C clean sheet  Tiltrotor Turbo-electric</a:t>
        </a:r>
      </a:p>
    </p188:txBody>
  </p188:cm>
</p188:cmLst>
</file>

<file path=ppt/comments/modernComment_11B_6079E34D.xml><?xml version="1.0" encoding="utf-8"?>
<p188:cmLst xmlns:a="http://schemas.openxmlformats.org/drawingml/2006/main" xmlns:r="http://schemas.openxmlformats.org/officeDocument/2006/relationships" xmlns:p188="http://schemas.microsoft.com/office/powerpoint/2018/8/main">
  <p188:cm id="{AEEA2315-C9DE-4EFD-A2F2-47BE0BE9D147}" authorId="{F63327DE-37A4-775D-A5CA-07B5A2F69AC1}" created="2026-10-27T13:03:46.173">
    <pc:sldMkLst xmlns:pc="http://schemas.microsoft.com/office/powerpoint/2013/main/command">
      <pc:docMk/>
      <pc:sldMk cId="1618600781" sldId="283"/>
    </pc:sldMkLst>
    <p188:replyLst>
      <p188:reply id="{AD16978B-0D32-48C1-845D-4375519FC820}" authorId="{15A7D1C8-7855-4F4D-981A-7FA23054EA7C}" created="2026-10-27T12:00:00Z">
        <p188:txBody>
          <a:bodyPr/>
          <a:lstStyle/>
          <a:p>
            <a:r>
              <a:t>Expanded into slides 9-11. Hirth 3503 is 33.5 kg without exhaust, 36 kg with exhaust, at 51.67 kW full throttle. The 46 kg model engine allocation is heavier, but this only supplies mass allowance; it does not validate SFC, cooling, altitude lapse or assumed continuous rating. Mechanical drive is separate. Rotron RT600-XE is included: 52.2 kW continuous, 74.6 kW peak and 44.5 kg system. Correction: saved L+C uses a Rotron-based rotary surrogate (41 kg, 70/100 hp), not a Hirth-based engine. Its 34 kW input shaft/drive cap is not a vendor engine rating. TR and L+C are different hardware assumptions, not a controlled engine-technology comparison. For turbine comparison, Turbotech TG-R90 is 85 kWe continuous/64 kg without equipment; TP-R150 is 104 kW shaft/86 kg equipped. Current generic 75 kW turbine at 25 kg bare is not validated by a matched product. Do not double-count generator mass when replacing the aggregate electric-drive allowance. Supplier maps and installation boundaries remain required.</a:t>
            </a:r>
          </a:p>
        </p188:txBody>
      </p188:reply>
      <p188:reply id="{811CEC79-C495-4F44-AD9C-39711EBE8330}" authorId="{495578F4-4144-408D-AAB9-C692A128B820}" created="2026-10-27T16:36:30Z">
        <p188:txBody>
          <a:bodyPr/>
          <a:lstStyle/>
          <a:p>
            <a:r>
              <a:t>1. Hirth3503 is a plausible pistonTR catalog candidate; RotronRT600-XE is the rotary L+C reference. Neither is fully matched to altitude, duty, cooling and installation. Hirth51.67kW full throttle:33.5kg excluding exhaust or36kg with exhaust. Rotron52.2kW continuous/74.6peak:44.5kg system. TG-R90 is a turbine-generator reference85kWe/64kg without equipment, not a drop-in match. 2. TR allocation46kg gives1.12kW/kg versus Hirth1.44 with exhaust: conservative in that declared mass boundary only. It does not validate fuel map, continuous power or altitude lapse. L+C allocation41kg is below current Rotron44.5kg system, with a separate34kW input drive cap. The generic TE25kg bare turbine is not supported by a matched product. Different engine choices make this an architecture/package comparison, not an isolated propulsion-technology comparison. Gearbox mass17.6kg is separate and still unverified against a COTS installation.</a:t>
            </a:r>
          </a:p>
        </p188:txBody>
      </p188:reply>
    </p188:replyLst>
    <p188:txBody>
      <a:bodyPr/>
      <a:lstStyle/>
      <a:p>
        <a:r>
          <a:rPr lang="en-US"/>
          <a:t>This is about 
1. can you find the proper commercial off-the-shelf (cots) engine?
2. compared to the cots engines, did we properly assumed the power to weight ratio in the sizing process?</a:t>
        </a:r>
      </a:p>
    </p188:txBody>
  </p188:cm>
</p188:cmLst>
</file>

<file path=ppt/comments/modernComment_11C_1904B594.xml><?xml version="1.0" encoding="utf-8"?>
<p188:cmLst xmlns:a="http://schemas.openxmlformats.org/drawingml/2006/main" xmlns:r="http://schemas.openxmlformats.org/officeDocument/2006/relationships" xmlns:p188="http://schemas.microsoft.com/office/powerpoint/2018/8/main">
  <p188:cm id="{84F20C6D-A9DD-40BE-A29D-E4E3A22CD796}" authorId="{F63327DE-37A4-775D-A5CA-07B5A2F69AC1}" created="2026-10-27T13:10:33.535">
    <ac:deMkLst xmlns:ac="http://schemas.microsoft.com/office/drawing/2013/main/command">
      <pc:docMk xmlns:pc="http://schemas.microsoft.com/office/powerpoint/2013/main/command"/>
      <pc:sldMk xmlns:pc="http://schemas.microsoft.com/office/powerpoint/2013/main/command" cId="419739028" sldId="284"/>
      <ac:spMk id="3" creationId="{4A40C7B4-E8E3-363E-B18A-739C00F7B251}"/>
    </ac:deMkLst>
    <p188:replyLst>
      <p188:reply id="{B2585D79-72EC-428F-87B0-8DE4C197C4F9}" authorId="{15A7D1C8-7855-4F4D-981A-7FA23054EA7C}" created="2026-10-27T12:00:00Z">
        <p188:txBody>
          <a:bodyPr/>
          <a:lstStyle/>
          <a:p>
            <a:r>
              <a:t>Slides 12-17 distinguish numerical reproduction from empirical validation. NASA TR and three Silva cases have selected matching outputs. Electric L+C is repeatable but differs by 16.23% gross mass and 24.44% energy; propulsion accounts for 775.8 lb of the empty-mass difference and structure 413.7 lb, but root cause is not isolated. Restricted turboelectric L+C timed out at 300 s, with no accepted result; physical infeasibility is not established. TR60 has no measured component ledger found, and 130 kg empty is assumed. Logged fixed-55-hp tests give 190.9 kg fixed geometry and 186.2 kg clean sheet. The fixed-geometry difference from 200 kg is about +16.0 kg modeled empty minus25.1 kg fuel budget, not proven lighter structures. Eagle Eye comparison mixes published capacity/rating with resized mission requirements and reconstructed geometry. Missing actual component data prevent attribution of the large gap. No TR100 run is claimed.</a:t>
            </a:r>
          </a:p>
        </p188:txBody>
      </p188:reply>
      <p188:reply id="{F248BC0F-4D0A-4662-914B-341273C9EA4D}" authorId="{495578F4-4144-408D-AAB9-C692A128B820}" created="2026-10-27T16:36:30Z">
        <p188:txBody>
          <a:bodyPr/>
          <a:lstStyle/>
          <a:p>
            <a:r>
              <a:t>The slides separate numerical reproduction, constraint checks and physical validation. Selected NASA TR, quadrotor and side-by-side metrics reproduce published calculations; this does not validate UAV-scale structures or actual hardware. L+C disagreements are retained explicitly. New literature-led diagnostic retries are reported in the appendix with actual inputs and flags: improved numerical progress is not called validation or a recovered original benchmark. TR60 lacks a measured component ledger; Eagle Eye combines differing specifications and loading assumptions. Those remain conditional reconstructions.</a:t>
            </a:r>
          </a:p>
        </p188:txBody>
      </p188:reply>
    </p188:replyLst>
    <p188:txBody>
      <a:bodyPr/>
      <a:lstStyle/>
      <a:p>
        <a:r>
          <a:rPr lang="en-US"/>
          <a:t>This is about whether the sizing tool/method is trustable. And the this and following pages will show verification results and validation results.</a:t>
        </a:r>
      </a:p>
    </p188:txBody>
  </p188:cm>
</p188:cmLst>
</file>

<file path=ppt/comments/modernComment_101_7F8D50D3.xml><?xml version="1.0" encoding="utf-8"?>
<p188:cmLst xmlns:a="http://schemas.openxmlformats.org/drawingml/2006/main" xmlns:r="http://schemas.openxmlformats.org/officeDocument/2006/relationships" xmlns:p188="http://schemas.microsoft.com/office/powerpoint/2018/8/main">
  <p188:cm id="{17C65ABC-BFAA-4E36-B4E7-2BB2FA67590A}" authorId="{F63327DE-37A4-775D-A5CA-07B5A2F69AC1}" created="2026-10-27T12:22:29.236">
    <ac:deMkLst xmlns:ac="http://schemas.microsoft.com/office/drawing/2013/main/command">
      <pc:docMk xmlns:pc="http://schemas.microsoft.com/office/powerpoint/2013/main/command"/>
      <pc:sldMk xmlns:pc="http://schemas.microsoft.com/office/powerpoint/2013/main/command" cId="2139967699" sldId="257"/>
      <ac:spMk id="18" creationId="{4F8A9936-C748-4770-B0AD-B66E7FA67AC8}"/>
    </ac:deMkLst>
    <p188:replyLst>
      <p188:reply id="{4EC0616B-DC58-4750-9189-EEA584604D1A}" authorId="{15A7D1C8-7855-4F4D-981A-7FA23054EA7C}" created="2026-10-27T12:00:00Z">
        <p188:txBody>
          <a:bodyPr/>
          <a:lstStyle/>
          <a:p>
            <a:r>
              <a:t>Numerical checks mean final sizing/mission convergence plus trim and rotor iteration flags and finite values, not exit code alone. Slide 4 now displays your caution. The remaining table describes models and open limitations, not a convergence-equals-feasibility table. Screens include power/drive/fuel limits, CLmax/1.2^2, motor torque/RPM and battery voltage/SOC. Full wind, control, clearance and installation checks remain open. Rotor/airframe models are inherited NDARC fits/regressions with corrected tail and engine allocation, not UAV-calibrated data. Battery curves are an aggregate P50B-based proxy, not characterization of your two 28S6P packs. Equivalent electrical model means 35 kg total electric-drive allowance and engine-shaft requirement Protor/0.86. No generator/bus transient validation is implied.</a:t>
            </a:r>
          </a:p>
        </p188:txBody>
      </p188:reply>
      <p188:reply id="{071116CD-D7C3-46E8-A3B7-1638FA701C5B}" authorId="{495578F4-4144-408D-AAB9-C692A128B820}" created="2026-10-27T16:36:30Z">
        <p188:txBody>
          <a:bodyPr/>
          <a:lstStyle/>
          <a:p>
            <a:r>
              <a:t>1. Yes: numerical checks include finite outputs and final sizing/mission, trim and rotor convergence; process exit alone is insufficient. 2. Retained screens cover native power/drive/fuel flags, CLmax1.8 with1.2Vs margin, motor torque and battery current/voltage/SOC/thermal constraints. Wind/control margin and complete installation remain open. 3. The table is removed and the requested caution retained. 4. Rotor/airframe use inherited NDARC empirical aerodynamic fits and weight correlations with documented corrections; battery uses a P50B-based external OCV/resistance proxy, not measured user-pack data. InitialSOC95%,SOH80%,effective-capacity factor90%;9.5Cretrofit/9Cclean uses derated effective Ah, with3V minimum,31% finalSOC floor and60C temperature ceiling. 5. Equivalent electrical model means35kg drive allowance and86% total engine-shaft-to-rotor efficiency; Pengine≈Protor/0.86 before auxiliary accounting. No generator/inverter transient network is simulated.</a:t>
            </a:r>
          </a:p>
        </p188:txBody>
      </p188:reply>
    </p188:replyLst>
    <p188:txBody>
      <a:bodyPr/>
      <a:lstStyle/>
      <a:p>
        <a:r>
          <a:rPr lang="en-US"/>
          <a:t>1. What do you mean by “numerical checks”? Convergence checks?
2. what are the constraints?
3. would better put the text
“CAUTION: Convergence does not establish feasibility” 
and remove the table and its contents
4. what is the data used for surrogate of rotor/airframe and battery ?
5. What do you mean by equivalent electrical mass and efficiency?
</a:t>
        </a:r>
      </a:p>
    </p188:txBody>
  </p188:cm>
</p188:cmLst>
</file>

<file path=ppt/comments/modernComment_102_6775EA8E.xml><?xml version="1.0" encoding="utf-8"?>
<p188:cmLst xmlns:a="http://schemas.openxmlformats.org/drawingml/2006/main" xmlns:r="http://schemas.openxmlformats.org/officeDocument/2006/relationships" xmlns:p188="http://schemas.microsoft.com/office/powerpoint/2018/8/main">
  <p188:cm id="{7B70E08E-537C-4151-B3CD-B0759A31072F}" authorId="{F63327DE-37A4-775D-A5CA-07B5A2F69AC1}" created="2026-10-27T12:31:58.360">
    <pc:sldMkLst xmlns:pc="http://schemas.microsoft.com/office/powerpoint/2013/main/command">
      <pc:docMk/>
      <pc:sldMk cId="1735781006" sldId="258"/>
    </pc:sldMkLst>
    <p188:replyLst>
      <p188:reply id="{DA1B0A24-D6B6-411C-81D3-7396FC4E966A}" authorId="{15A7D1C8-7855-4F4D-981A-7FA23054EA7C}" created="2026-10-27T12:00:00Z">
        <p188:txBody>
          <a:bodyPr/>
          <a:lstStyle/>
          <a:p>
            <a:r>
              <a:t>Slide 13 now identifies the NASA six-passenger turboshaft tiltrotor and cites its original Fig. 32. Slide 14 adds NASA quadrotor, side-by-side and L+C images from Silva Figs. 2, 4 and 6, with the illustrated propulsion variant explicitly labeled. The table separately identifies each simulated propulsion case and status. NASA L+C includes turboelectric as well as electric propulsion; this differs from our separate rotary-cruise/battery-lift UAV. Slide 15 isolates L+C mismatch. Slides 16-17 show conditional TR60 and Eagle Eye reconstruction results rather than claim measured validation.</a:t>
            </a:r>
          </a:p>
        </p188:txBody>
      </p188:reply>
      <p188:reply id="{8ED37207-B22C-44E0-BA2C-39760AE96CCF}" authorId="{495578F4-4144-408D-AAB9-C692A128B820}" created="2026-10-27T16:36:30Z">
        <p188:txBody>
          <a:bodyPr/>
          <a:lstStyle/>
          <a:p>
            <a:r>
              <a:t>1. This is NASA six-passenger turboshaft tiltrotor, not our piston UAV; the paper figure and source remain on the slide. 2. AdditionalNASAConfigurations includes the existing quadrotor, side-by-side and L+C figures and identifies variants. NASA Silva2018 describes both electric and turboelectric L+C; the latter includes an emergency propulsion battery and a generator-controlled battery/bus, unlike our present TEtiltrotor equivalent model. New L+C diagnostic attempts are separately documented. 3. TR60 fixed55hp sensitivity remains, but no measured component-weight ledger was found. EagleEye reconstruction results are in the existing research records; there is no new TR100 simulation or claim of measured validation in this deck.</a:t>
            </a:r>
          </a:p>
        </p188:txBody>
      </p188:reply>
    </p188:replyLst>
    <p188:txBody>
      <a:bodyPr/>
      <a:lstStyle/>
      <a:p>
        <a:r>
          <a:rPr lang="en-US"/>
          <a:t>1.  should mention what types of vehicle are you referring here; tilt rotor piston engine? You would find and use the aircraft figure in the literatures you referred to.
2. you can add one or two page if you have done the verification for another type of vehicles (e.g. lift+curise electric and tilt rotor turboelectric); was there lift+cruise type vehicle with other-than-electric propulsion?
3. validation pages will be followed: Validation - Bell Eagle Eye and Validation - TR100 or TR60, or both
You have some results, right?</a:t>
        </a:r>
      </a:p>
    </p188:txBody>
  </p188:cm>
</p188:cmLst>
</file>

<file path=ppt/comments/modernComment_104_2388B503.xml><?xml version="1.0" encoding="utf-8"?>
<p188:cmLst xmlns:a="http://schemas.openxmlformats.org/drawingml/2006/main" xmlns:r="http://schemas.openxmlformats.org/officeDocument/2006/relationships" xmlns:p188="http://schemas.microsoft.com/office/powerpoint/2018/8/main">
  <p188:cm id="{ED0806B6-0CCB-4E7E-AD9C-34D66C15FA3F}" authorId="{F63327DE-37A4-775D-A5CA-07B5A2F69AC1}" created="2026-10-27T13:10:58.832">
    <pc:sldMkLst xmlns:pc="http://schemas.microsoft.com/office/powerpoint/2013/main/command">
      <pc:docMk/>
      <pc:sldMk cId="596161795" sldId="260"/>
    </pc:sldMkLst>
    <p188:replyLst>
      <p188:reply id="{ED9F45E4-FF6E-45EA-AE8D-C933253EB3AC}" authorId="{495578F4-4144-408D-AAB9-C692A128B820}" created="2026-10-27T16:36:30Z">
        <p188:txBody>
          <a:bodyPr/>
          <a:lstStyle/>
          <a:p>
            <a:r>
              <a:t>1. A new disk/wing-loading explanation precedes this map. DL=mass/totaldiskarea; lowerDL reduces ideal hoverpower but enlargesrotors. WL=mass/wingarea; higherWL raisesstall speed and reducesarea. NDARC structural mass depends on geometry, loads and correlation; higherWL is not universally heavier. Fixed7m L+C span and fixedAR7 TR produce different wing trades. 2,6. The diamond is explicitly the selected clean-sheet point. It is the historical sampled candidate resized at30s, not a proven global or hardware-validated optimum; the full grid has not been rerun. 3. Its D2.162m rotor at152.4m/s gives1347rpm, below the published REB30 lower range1500rpm. Low-speed efficiency/torque/thermal capability needs supplier confirmation. 4. Mach0.6 is a reasonable new trade, not an established efficiency optimum. Atsea-levelISA Mach0.5/0.6/0.7 gives1503/1804/2104rpm;0.7 exceeds the current220m/s cap. Pitch,RPM,noise and losses must be recomputed together. 5. Unresolved means missing accepted numerical closure, including failures/nonfinite/timeout, distinct from a converged constraint violation. 7. Screen pass means only the retained model checks, not full-aircraft feasibility. 8. Point codes and legend now show Sstall,Gclearance,Mmotor,Bbattery,Pnative power/drive,Nnumerical,Oother; exact point reasons and runIDs are in notes.</a:t>
            </a:r>
          </a:p>
        </p188:txBody>
      </p188:reply>
    </p188:replyLst>
    <p188:txBody>
      <a:bodyPr/>
      <a:lstStyle/>
      <a:p>
        <a:r>
          <a:rPr lang="en-US"/>
          <a:t>1. There should be one more page before this, which explains the definition of disk loading and wing loading and why they are important. For example, disk loading is related to power required, and the wing loading is related to cruise speed and structural weight. I am not sure if NDARC results in higher structural weight due to higher wing loading. You can explain based on NDARC sizing.
2. Clean sheet should be noted when describing the optimal design point. 
3. what do you mean by conditional motor rpm match?
4. I think tip Mach of lift prop can be higher than 0.5 considering the optimal rpm of the motor with high efficiency.
5. meaning of numerical unresolved? Not converged?
6. highlighted conditional candidate? =&gt; optimal design point?
7. meaning of screen pass?
8. what constraint? Need to show the plot with the superscript and the corresponding reason below to explain the superscript symbol or alphabet. </a:t>
        </a:r>
      </a:p>
    </p188:txBody>
  </p188:cm>
</p188:cmLst>
</file>

<file path=ppt/comments/modernComment_105_54824464.xml><?xml version="1.0" encoding="utf-8"?>
<p188:cmLst xmlns:a="http://schemas.openxmlformats.org/drawingml/2006/main" xmlns:r="http://schemas.openxmlformats.org/officeDocument/2006/relationships" xmlns:p188="http://schemas.microsoft.com/office/powerpoint/2018/8/main">
  <p188:cm id="{89FA448C-A934-4EDC-A321-EACF08566FF1}" authorId="{F63327DE-37A4-775D-A5CA-07B5A2F69AC1}" created="2026-10-27T16:00:36.905">
    <pc:sldMkLst xmlns:pc="http://schemas.microsoft.com/office/powerpoint/2013/main/command">
      <pc:docMk/>
      <pc:sldMk cId="1417823332" sldId="261"/>
    </pc:sldMkLst>
    <p188:replyLst>
      <p188:reply id="{6BD93209-EB6E-42FC-8B80-1701F6E11835}" authorId="{495578F4-4144-408D-AAB9-C692A128B820}" created="2026-10-27T16:36:30Z">
        <p188:txBody>
          <a:bodyPr/>
          <a:lstStyle/>
          <a:p>
            <a:r>
              <a:t>1. Reordered: altitude, terminal power, peak C-rate, SOC, remaining fuel, with aligned phase labels. 2. InitialSOC95%,SOH80%,additional capacity derating90%,ambient35C,resistance proxy1.5×nominal; these are assumptions, not measured packs. 3. Peak labels and9.5Cretrofit/9Cclean dashed limits are shown on the deratedeffectiveAh basis. 4. Retrofit has1.5m lift rotors versus2.162m clean-sheet rotors and slightly higher gross mass; less total disk area drives much higher liftpower. Rotor operating assumptions also contribute. 5. End is changed to Ground(0s).30sclimb reduces finalSOC to47.8%/51.1%; existing cell counts remain768/528. These plots do not validate12m/s crosswind or1.3thrust margin.</a:t>
            </a:r>
          </a:p>
        </p188:txBody>
      </p188:reply>
    </p188:replyLst>
    <p188:txBody>
      <a:bodyPr/>
      <a:lstStyle/>
      <a:p>
        <a:r>
          <a:rPr lang="en-US"/>
          <a:t>1. Change the sequence, first mission profile, and then terminal power comes, and then peak c-rate, and then battery soc, and then fuel remaining.
2. what was initial battery soc and what was the soh assumed?
3. need to put the max discharge rate on the plot so that reader can easily notice it.
4. why big gap between retrofit and clean sheet for terminal power? 
5. end =&gt; ground would be better?</a:t>
        </a:r>
      </a:p>
    </p188:txBody>
  </p188:cm>
</p188:cmLst>
</file>

<file path=ppt/comments/modernComment_107_314405C.xml><?xml version="1.0" encoding="utf-8"?>
<p188:cmLst xmlns:a="http://schemas.openxmlformats.org/drawingml/2006/main" xmlns:r="http://schemas.openxmlformats.org/officeDocument/2006/relationships" xmlns:p188="http://schemas.microsoft.com/office/powerpoint/2018/8/main">
  <p188:cm id="{AFA0F6E4-F02A-4D46-8B5C-6CA37EA9B4D7}" authorId="{F63327DE-37A4-775D-A5CA-07B5A2F69AC1}" created="2026-10-27T16:03:49.997">
    <pc:sldMkLst xmlns:pc="http://schemas.microsoft.com/office/powerpoint/2013/main/command">
      <pc:docMk/>
      <pc:sldMk cId="51658844" sldId="263"/>
    </pc:sldMkLst>
    <p188:replyLst>
      <p188:reply id="{CD217409-C070-492A-AFC1-6C122FD5B6C9}" authorId="{495578F4-4144-408D-AAB9-C692A128B820}" created="2026-10-27T16:36:30Z">
        <p188:txBody>
          <a:bodyPr/>
          <a:lstStyle/>
          <a:p>
            <a:r>
              <a:t>1. Both use the same cell proxy, but different power per cell,SOC histories and internal-resistance voltage drop. Minimum loaded voltages are3.034Vretrofit/3.128Vclean. Underconstantpower,lowerVraisescurrent andheating; it can change the required cell count. 2. Yes, remainingSOC can be high because sizing is constrained by power,current,loadedvoltage and temperature as well as energy. Effectivecurrent limits9.5/9C,95%initialSOC,80%SOH and90%capacityfactor are now explicit in assumptions. Cell-group discreteness also matters. No single active-constraint attribution is claimed without a smaller-pack check. 3.1347rpm clean-sheet is below publishedREB30lower1500rpm. The newmotorappendix calculatesMach0.5/0.6/0.7 and explains that0.6 fits currenttipcap,0.7doesnot. Raisingtheallowedcapalone doesnotchange scheduledRPM; a newcoupledpitch/RPM/motor-mapstudy is needed.</a:t>
            </a:r>
          </a:p>
        </p188:txBody>
      </p188:reply>
    </p188:replyLst>
    <p188:txBody>
      <a:bodyPr/>
      <a:lstStyle/>
      <a:p>
        <a:r>
          <a:rPr lang="en-US"/>
          <a:t>1. Why do they have different cell voltage? Would it affect a lot to the final result? 
2. why do we have so high final soc level? Does it mean that the battery was sized w.r.t power rather than energy considering the not-higher-than-10c discharge rate limit? Is that one of the assumption we used for sizing? Then it should be mentioned in the assumptions and sizing method section.
3. meaning of condition: low-RPM motor match. What if we allow tip Mach up to 0.6 or 0.7?</a:t>
        </a:r>
      </a:p>
    </p188:txBody>
  </p188:cm>
</p188:cmLst>
</file>

<file path=ppt/comments/modernComment_108_31F99295.xml><?xml version="1.0" encoding="utf-8"?>
<p188:cmLst xmlns:a="http://schemas.openxmlformats.org/drawingml/2006/main" xmlns:r="http://schemas.openxmlformats.org/officeDocument/2006/relationships" xmlns:p188="http://schemas.microsoft.com/office/powerpoint/2018/8/main">
  <p188:cm id="{F69C9817-99A3-471C-B63E-3F0CE31033B5}" authorId="{F63327DE-37A4-775D-A5CA-07B5A2F69AC1}" created="2026-10-27T16:05:46.310">
    <pc:sldMkLst xmlns:pc="http://schemas.microsoft.com/office/powerpoint/2013/main/command">
      <pc:docMk/>
      <pc:sldMk cId="838439573" sldId="264"/>
    </pc:sldMkLst>
    <p188:replyLst>
      <p188:reply id="{7F67FA1C-2A23-4560-9C93-A6B2B0321D6C}" authorId="{495578F4-4144-408D-AAB9-C692A128B820}" created="2026-10-27T16:36:30Z">
        <p188:txBody>
          <a:bodyPr/>
          <a:lstStyle/>
          <a:p>
            <a:r>
              <a:t>1. Both maps now use blue for lower gross mass and red for higher, with explicit colorbar and point-status legends. They remain historical grids with corrected30sselectedpoints, not new full-grid reruns. 2. Added a mechanical-versus-turboelectric appendix: mechanical fewer conversion stages but shaft/gearbox/tilt-joint complexity; TE flexible power routing/control but extra generators/inverters/motors,cooling,protection and losses. Both central sources retain failure vulnerabilities. CurrentTEhas no propulsionbuffer battery and no demonstrated powered-engineoutlanding. Different engine/fuel assumptions prevent attributing all the mass/fuel gap to transmission type alone.</a:t>
            </a:r>
          </a:p>
        </p188:txBody>
      </p188:reply>
    </p188:replyLst>
    <p188:txBody>
      <a:bodyPr/>
      <a:lstStyle/>
      <a:p>
        <a:r>
          <a:rPr lang="en-US"/>
          <a:t>1. Isn’t it better to use color scheme red-&gt; blue instead of yellow-&gt;purple(or navy) to see the difference?
2. can we add some explanation for what is pros and cons for engine only tilt rotor and turboelectric tilt rotor?</a:t>
        </a:r>
      </a:p>
    </p188:txBody>
  </p188:cm>
</p188:cmLst>
</file>

<file path=ppt/comments/modernComment_109_5DA568DD.xml><?xml version="1.0" encoding="utf-8"?>
<p188:cmLst xmlns:a="http://schemas.openxmlformats.org/drawingml/2006/main" xmlns:r="http://schemas.openxmlformats.org/officeDocument/2006/relationships" xmlns:p188="http://schemas.microsoft.com/office/powerpoint/2018/8/main">
  <p188:cm id="{258847B8-3B3B-4255-B4DB-61EA7D417D61}" authorId="{F63327DE-37A4-775D-A5CA-07B5A2F69AC1}" created="2026-10-27T16:07:05.742">
    <pc:sldMkLst xmlns:pc="http://schemas.microsoft.com/office/powerpoint/2013/main/command">
      <pc:docMk/>
      <pc:sldMk cId="1571121373" sldId="265"/>
    </pc:sldMkLst>
    <p188:replyLst>
      <p188:reply id="{23129070-A512-4009-8134-FA6655E4C598}" authorId="{495578F4-4144-408D-AAB9-C692A128B820}" created="2026-10-27T16:36:30Z">
        <p188:txBody>
          <a:bodyPr/>
          <a:lstStyle/>
          <a:p>
            <a:r>
              <a:t>Replotted as fuel remaining at native phase starts, with altitude profile above and phase names matching the mission. Both use corrected30sclimb,300minairborne,140km/hlevel flight and two30mintransits. Initialfuel38.8kgpiston/44.7kgTE. Segmentwidths are schematic,notelapsedtime; noextra cruisereserve.20minbackup is for independent avionics. The separate30scomparison explains the verysmallmasschange and increasedL+C batteryenergy.</a:t>
            </a:r>
          </a:p>
        </p188:txBody>
      </p188:reply>
    </p188:replyLst>
    <p188:txBody>
      <a:bodyPr/>
      <a:lstStyle/>
      <a:p>
        <a:r>
          <a:rPr lang="en-US"/>
          <a:t>Show fuel remained
show mission profile on the top so that we can easily understand. Then you’d better modify the term for each segment following the mission profile. </a:t>
        </a:r>
      </a:p>
    </p188:txBody>
  </p188:cm>
</p188:cmLst>
</file>

<file path=ppt/comments/modernComment_111_77585616.xml><?xml version="1.0" encoding="utf-8"?>
<p188:cmLst xmlns:a="http://schemas.openxmlformats.org/drawingml/2006/main" xmlns:r="http://schemas.openxmlformats.org/officeDocument/2006/relationships" xmlns:p188="http://schemas.microsoft.com/office/powerpoint/2018/8/main">
  <p188:cm id="{BECBBAEA-465C-424E-86E2-6C572D85216F}" authorId="{F63327DE-37A4-775D-A5CA-07B5A2F69AC1}" created="2026-10-27T12:58:06.861">
    <pc:sldMkLst xmlns:pc="http://schemas.microsoft.com/office/powerpoint/2013/main/command">
      <pc:docMk/>
      <pc:sldMk cId="2002277910" sldId="273"/>
    </pc:sldMkLst>
    <p188:replyLst>
      <p188:reply id="{36CE9BCF-BB6F-47FE-B178-380EBB73A3A8}" authorId="{15A7D1C8-7855-4F4D-981A-7FA23054EA7C}" created="2026-10-27T12:00:00Z">
        <p188:txBody>
          <a:bodyPr/>
          <a:lstStyle/>
          <a:p>
            <a:r>
              <a:t>Slides 7-8 show previous 181.88 versus lower 142.75 Wh/kg assumptions and the coupled resized results: retrofit 397.2 to 466.9 kg; clean sheet 381.7 to 423.5 kg. The lower-energy retrofit is rejected by the saved screening; clean-sheet motor RPM remains conditional. This is not an isolated change in specific energy: voltage/mass conversion also changed, and required energy rose with resized power and mass. Neither assumption is confirmed for your proposed packs. Both tiltrotor cases lack a main propulsion battery and are unchanged in this comparison.</a:t>
            </a:r>
          </a:p>
        </p188:txBody>
      </p188:reply>
      <p188:reply id="{FFDC3AC2-D76E-4005-8965-85F42BD9FD32}" authorId="{495578F4-4144-408D-AAB9-C692A128B820}" created="2026-10-27T16:36:30Z">
        <p188:txBody>
          <a:bodyPr/>
          <a:lstStyle/>
          <a:p>
            <a:r>
              <a:t>Yes. These slides show the consequence of the lower battery assumption:181.88to142.75Wh/kg pack. The historical masses397.2to466.9kg retrofit and381.7to423.5kg clean sheet are retained, with the failed/conditional statuses. They are explicitly labeled historical17.14s mission results because the lower-energy cases were not rerun at30s. Voltage/mass conversion also changed, so the comparison is a coupled assumption change, not an isolated specific-energy sensitivity. Neither value has been confirmed for your actual packs.</a:t>
            </a:r>
          </a:p>
        </p188:txBody>
      </p188:reply>
    </p188:replyLst>
    <p188:txBody>
      <a:bodyPr/>
      <a:lstStyle/>
      <a:p>
        <a:r>
          <a:rPr lang="en-US"/>
          <a:t>This is about what if the battery technology level or assumption is overestimated in my sizing; if  the specific energy of currently available battery is lower than expected: xx kWh/kg =&gt; yy kWh/kg, this is the consequence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r>
              <a:rPr lang="en-US"/>
              <a:t>Rev D: corrected selected UAV designs use vertical30-20261028; files output/vertical30-2026-10-28/comparison.json and research/vertical30-20261028/results.json. Original template and comments retained. Historical grids, speed sweeps, lower-specific-energy cases and NASA benchmark missions are explicitly separate.</a:t>
            </a:r>
          </a:p>
          <a:p>
            <a:r>
              <a:rPr lang="en-US"/>
              <a:t>Reference key for Rev D: [R1] Silva et al., AIAA2018-3847, https://sacd.larc.nasa.gov/wp-content/uploads/sites/167/2022/02/Silva2018.pdf ; [R2] Radotich2022, local research/radotich/paper.txt and comparison.csv; [R5] Bowman2018, https://www1.grc.nasa.gov/wp-content/uploads/2018EATS-EAP-Transport-Studies-Bowman-6.2018-4984.pdf ; [R6] https://hirthengines.com/wp-content/uploads/2025-35-SERIES-3503.pdf ; [R7] https://rotronaero.com/products/rt600-xe ; [R8] https://www.turbotech-aero.com/solutions/ ; [R9] Johnson2022 NDARC Theory NASA/TP-20220000355Vol1; [R10] https://mgm-compro.com/electric-motor/reb-30-40-kw/ . [S1] research/baseline-weight-2026-10-27/sizing-component-audit.json; [S2] research/baseline-energy-2026-10-25; [S3] research/projects and research/radotich; [S4] research/tr60-vv-20261027; [S5] research/eagle-eye-threeway-2026-10-26; [S6] source/windows-cases5/weight_model.f90; [S7] output/vertical30-2026-10-28/comparison.json; [S8] research/rate-tuning-2026-10-21-RevA; [S9] research/current-trades-2026-10-21/results.json and output/turboelectric-dlwl-2026-10-21/results.json; [S10] research/presentation-speed-2026-10-26; [S11] research/nasa-retry-20261028/assessment.json. [U1] research/baseline-weight-2026-10-27/intake-rev2.json.</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962703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5071874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Sources: output/presentation-story-2026-10-26/revC/deck-data.json and extension-data.json, source runs. Main pack excludes independent avionics pack. Engine model rating differs from available power at altitude and RPM. The baseline electronics ledger exposes an unclosed equipment inventory; current sizing was not rerun with all baseline electronics. OpenVSP geometry was not fabricated.\nSlide caveat: Saved five-hour mission and earlier equipment assumptions. No 12 m/s wind, 1.3 thrust-margin, rotor-clearance or supplier-qualified installation claim.</a:t>
            </a:r>
          </a:p>
          <a:p>
            <a:r>
              <a:rPr lang="en-US"/>
              <a:t>Rev D: corrected selected UAV designs use vertical30-20261028; files output/vertical30-2026-10-28/comparison.json and research/vertical30-20261028/results.json. Original template and comments retained. Historical grids, speed sweeps, lower-specific-energy cases and NASA benchmark missions are explicitly separate.</a:t>
            </a:r>
          </a:p>
          <a:p>
            <a:r>
              <a:rPr lang="en-US"/>
              <a:t>Reference key for Rev D: [R1] Silva et al., AIAA2018-3847, https://sacd.larc.nasa.gov/wp-content/uploads/sites/167/2022/02/Silva2018.pdf ; [R2] Radotich2022, local research/radotich/paper.txt and comparison.csv; [R5] Bowman2018, https://www1.grc.nasa.gov/wp-content/uploads/2018EATS-EAP-Transport-Studies-Bowman-6.2018-4984.pdf ; [R6] https://hirthengines.com/wp-content/uploads/2025-35-SERIES-3503.pdf ; [R7] https://rotronaero.com/products/rt600-xe ; [R8] https://www.turbotech-aero.com/solutions/ ; [R9] Johnson2022 NDARC Theory NASA/TP-20220000355Vol1; [R10] https://mgm-compro.com/electric-motor/reb-30-40-kw/ . [S1] research/baseline-weight-2026-10-27/sizing-component-audit.json; [S2] research/baseline-energy-2026-10-25; [S3] research/projects and research/radotich; [S4] research/tr60-vv-20261027; [S5] research/eagle-eye-threeway-2026-10-26; [S6] source/windows-cases5/weight_model.f90; [S7] output/vertical30-2026-10-28/comparison.json; [S8] research/rate-tuning-2026-10-21-RevA; [S9] research/current-trades-2026-10-21/results.json and output/turboelectric-dlwl-2026-10-21/results.json; [S10] research/presentation-speed-2026-10-26; [S11] research/nasa-retry-20261028/assessment.json. [U1] research/baseline-weight-2026-10-27/intake-rev2.json.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r>
              <a:rPr lang="en-US"/>
              <a:t>Rev D: corrected selected UAV designs use vertical30-20261028; files output/vertical30-2026-10-28/comparison.json and research/vertical30-20261028/results.json. Original template and comments retained. Historical grids, speed sweeps, lower-specific-energy cases and NASA benchmark missions are explicitly separate.</a:t>
            </a:r>
          </a:p>
          <a:p>
            <a:r>
              <a:rPr lang="en-US"/>
              <a:t>Reference key for Rev D: [R1] Silva et al., AIAA2018-3847, https://sacd.larc.nasa.gov/wp-content/uploads/sites/167/2022/02/Silva2018.pdf ; [R2] Radotich2022, local research/radotich/paper.txt and comparison.csv; [R5] Bowman2018, https://www1.grc.nasa.gov/wp-content/uploads/2018EATS-EAP-Transport-Studies-Bowman-6.2018-4984.pdf ; [R6] https://hirthengines.com/wp-content/uploads/2025-35-SERIES-3503.pdf ; [R7] https://rotronaero.com/products/rt600-xe ; [R8] https://www.turbotech-aero.com/solutions/ ; [R9] Johnson2022 NDARC Theory NASA/TP-20220000355Vol1; [R10] https://mgm-compro.com/electric-motor/reb-30-40-kw/ . [S1] research/baseline-weight-2026-10-27/sizing-component-audit.json; [S2] research/baseline-energy-2026-10-25; [S3] research/projects and research/radotich; [S4] research/tr60-vv-20261027; [S5] research/eagle-eye-threeway-2026-10-26; [S6] source/windows-cases5/weight_model.f90; [S7] output/vertical30-2026-10-28/comparison.json; [S8] research/rate-tuning-2026-10-21-RevA; [S9] research/current-trades-2026-10-21/results.json and output/turboelectric-dlwl-2026-10-21/results.json; [S10] research/presentation-speed-2026-10-26; [S11] research/nasa-retry-20261028/assessment.json. [U1] research/baseline-weight-2026-10-27/intake-rev2.json.</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Evidence: runs/lpc-opt-common20-rate20261021-geometry-wc2-wd2-vc1.75-vd2-r0-seed394.962-warm-i3; runs/lpc-opt-common20-currenttrades20261021-lpc-d26-w97-common20-warm-i3; runs/te-dlwl-20261021-piston-d20-w90; runs/te-dlwl-20261021-central-d30-w85</a:t>
            </a:r>
          </a:p>
          <a:p>
            <a:r>
              <a:rPr lang="en-US"/>
              <a:t>Data extraction: scripts/presentation_story_20261026.py. Historical sizing figures plus four new logged L+C speed-probe executions (presentation-speed-20261026). Main pack model is an aggregate cell surrogate, not the user's two independent28S6P pack model. Baseline340kg nominal differs from earlier342.5kg accounting. All selected results remain conceptual.</a:t>
            </a:r>
          </a:p>
          <a:p>
            <a:r>
              <a:rPr lang="en-US"/>
              <a:t>Source deck-data.json previous/lower_energy, battery_nominal_BOL_kwh, battery_mass_kg. Retained surrogate OCV/resistance. Main lift pack independent of common avionics pack. Baseline energy and earlier battery masses not confirmed same configuration.</a:t>
            </a:r>
          </a:p>
          <a:p>
            <a:r>
              <a:rPr lang="en-US"/>
              <a:t>Rev D: corrected selected UAV designs use vertical30-20261028; files output/vertical30-2026-10-28/comparison.json and research/vertical30-20261028/results.json. Original template and comments retained. Historical grids, speed sweeps, lower-specific-energy cases and NASA benchmark missions are explicitly separate.</a:t>
            </a:r>
          </a:p>
          <a:p>
            <a:r>
              <a:rPr lang="en-US"/>
              <a:t>Reference key for Rev D: [R1] Silva et al., AIAA2018-3847, https://sacd.larc.nasa.gov/wp-content/uploads/sites/167/2022/02/Silva2018.pdf ; [R2] Radotich2022, local research/radotich/paper.txt and comparison.csv; [R5] Bowman2018, https://www1.grc.nasa.gov/wp-content/uploads/2018EATS-EAP-Transport-Studies-Bowman-6.2018-4984.pdf ; [R6] https://hirthengines.com/wp-content/uploads/2025-35-SERIES-3503.pdf ; [R7] https://rotronaero.com/products/rt600-xe ; [R8] https://www.turbotech-aero.com/solutions/ ; [R9] Johnson2022 NDARC Theory NASA/TP-20220000355Vol1; [R10] https://mgm-compro.com/electric-motor/reb-30-40-kw/ . [S1] research/baseline-weight-2026-10-27/sizing-component-audit.json; [S2] research/baseline-energy-2026-10-25; [S3] research/projects and research/radotich; [S4] research/tr60-vv-20261027; [S5] research/eagle-eye-threeway-2026-10-26; [S6] source/windows-cases5/weight_model.f90; [S7] output/vertical30-2026-10-28/comparison.json; [S8] research/rate-tuning-2026-10-21-RevA; [S9] research/current-trades-2026-10-21/results.json and output/turboelectric-dlwl-2026-10-21/results.json; [S10] research/presentation-speed-2026-10-26; [S11] research/nasa-retry-20261028/assessment.json. [U1] research/baseline-weight-2026-10-27/intake-rev2.json.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Evidence: runs/lpc-opt-common20-rate20261021-geometry-wc2-wd2-vc1.75-vd2-r0-seed394.962-warm-i3; runs/lpc-opt-common20-currenttrades20261021-lpc-d26-w97-common20-warm-i3; runs/te-dlwl-20261021-piston-d20-w90; runs/te-dlwl-20261021-central-d30-w85</a:t>
            </a:r>
          </a:p>
          <a:p>
            <a:r>
              <a:rPr lang="en-US"/>
              <a:t>Data extraction: scripts/presentation_story_20261026.py. Historical sizing figures plus four new logged L+C speed-probe executions (presentation-speed-20261026). Main pack model is an aggregate cell surrogate, not the user's two independent28S6P pack model. Baseline340kg nominal differs from earlier342.5kg accounting. All selected results remain conceptual.</a:t>
            </a:r>
          </a:p>
          <a:p>
            <a:r>
              <a:rPr lang="en-US"/>
              <a:t>Source deck-data.json. Approximate changes computed using full-precision values. This is a coupled battery-assumption revision. Native chart values rounded to0.1kg for display.</a:t>
            </a:r>
          </a:p>
          <a:p>
            <a:r>
              <a:rPr lang="en-US"/>
              <a:t>Rev D: corrected selected UAV designs use vertical30-20261028; files output/vertical30-2026-10-28/comparison.json and research/vertical30-20261028/results.json. Original template and comments retained. Historical grids, speed sweeps, lower-specific-energy cases and NASA benchmark missions are explicitly separate.</a:t>
            </a:r>
          </a:p>
          <a:p>
            <a:r>
              <a:rPr lang="en-US"/>
              <a:t>Reference key for Rev D: [R1] Silva et al., AIAA2018-3847, https://sacd.larc.nasa.gov/wp-content/uploads/sites/167/2022/02/Silva2018.pdf ; [R2] Radotich2022, local research/radotich/paper.txt and comparison.csv; [R5] Bowman2018, https://www1.grc.nasa.gov/wp-content/uploads/2018EATS-EAP-Transport-Studies-Bowman-6.2018-4984.pdf ; [R6] https://hirthengines.com/wp-content/uploads/2025-35-SERIES-3503.pdf ; [R7] https://rotronaero.com/products/rt600-xe ; [R8] https://www.turbotech-aero.com/solutions/ ; [R9] Johnson2022 NDARC Theory NASA/TP-20220000355Vol1; [R10] https://mgm-compro.com/electric-motor/reb-30-40-kw/ . [S1] research/baseline-weight-2026-10-27/sizing-component-audit.json; [S2] research/baseline-energy-2026-10-25; [S3] research/projects and research/radotich; [S4] research/tr60-vv-20261027; [S5] research/eagle-eye-threeway-2026-10-26; [S6] source/windows-cases5/weight_model.f90; [S7] output/vertical30-2026-10-28/comparison.json; [S8] research/rate-tuning-2026-10-21-RevA; [S9] research/current-trades-2026-10-21/results.json and output/turboelectric-dlwl-2026-10-21/results.json; [S10] research/presentation-speed-2026-10-26; [S11] research/nasa-retry-20261028/assessment.json. [U1] research/baseline-weight-2026-10-27/intake-rev2.json.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[R7] https://rotronaero.com/products/rt600-xe . [S1] runs/lpc-opt-common20-rate20261021-geometry-wc2-wd2-vc1.75-vd2-r0-seed394.962-warm-i3/input.njob lines543 onward:SET_power=1,Peng=70,rating_to=MCP,SET_limit_es=0,Plimit_es=45.594751hp;RecipModel P0_ref=70,100,Kwt0_eng=90.389527lb,sfc0_ref=2*.56;Propulsion5 Plimit_ds=45.594751hp. paramwrite describes SET_limit_es0 as input.41kg is modeled engine allocation, not independently verified complete installation. Earlier user baseline identifies RT600-EX-L, identity with current XE remains unconfirmed. PistonTR uses Hirth-based ratings and different SFC/installation choices. Distinguish RecipModel code family from actual reciprocating versus rotary engine.</a:t>
            </a:r>
          </a:p>
          <a:p>
            <a:r>
              <a:rPr lang="en-US"/>
              <a:t>Rev D: corrected selected UAV designs use vertical30-20261028; files output/vertical30-2026-10-28/comparison.json and research/vertical30-20261028/results.json. Original template and comments retained. Historical grids, speed sweeps, lower-specific-energy cases and NASA benchmark missions are explicitly separate.</a:t>
            </a:r>
          </a:p>
          <a:p>
            <a:r>
              <a:rPr lang="en-US"/>
              <a:t>Reference key for Rev D: [R1] Silva et al., AIAA2018-3847, https://sacd.larc.nasa.gov/wp-content/uploads/sites/167/2022/02/Silva2018.pdf ; [R2] Radotich2022, local research/radotich/paper.txt and comparison.csv; [R5] Bowman2018, https://www1.grc.nasa.gov/wp-content/uploads/2018EATS-EAP-Transport-Studies-Bowman-6.2018-4984.pdf ; [R6] https://hirthengines.com/wp-content/uploads/2025-35-SERIES-3503.pdf ; [R7] https://rotronaero.com/products/rt600-xe ; [R8] https://www.turbotech-aero.com/solutions/ ; [R9] Johnson2022 NDARC Theory NASA/TP-20220000355Vol1; [R10] https://mgm-compro.com/electric-motor/reb-30-40-kw/ . [S1] research/baseline-weight-2026-10-27/sizing-component-audit.json; [S2] research/baseline-energy-2026-10-25; [S3] research/projects and research/radotich; [S4] research/tr60-vv-20261027; [S5] research/eagle-eye-threeway-2026-10-26; [S6] source/windows-cases5/weight_model.f90; [S7] output/vertical30-2026-10-28/comparison.json; [S8] research/rate-tuning-2026-10-21-RevA; [S9] research/current-trades-2026-10-21/results.json and output/turboelectric-dlwl-2026-10-21/results.json; [S10] research/presentation-speed-2026-10-26; [S11] research/nasa-retry-20261028/assessment.json. [U1] research/baseline-weight-2026-10-27/intake-rev2.json.</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942821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[R6] https://hirthengines.com/wp-content/uploads/2025-35-SERIES-3503.pdf ; [R7] https://rotronaero.com/products/rt600-xe . Rotron:100hp peak,70hp continuous,44.5kg system. Mechanical hp converted0.745699872kW/hp. [S1] research/baseline-weight-2026-10-27/sizing-component-audit.json and selected piston native input. Lower nominal power/mass is conservative only for the declared mass boundary, not all performance or fuel assumptions. No new Hirth or Rotron replacement run.</a:t>
            </a:r>
          </a:p>
          <a:p>
            <a:r>
              <a:rPr lang="en-US"/>
              <a:t>Rev D: corrected selected UAV designs use vertical30-20261028; files output/vertical30-2026-10-28/comparison.json and research/vertical30-20261028/results.json. Original template and comments retained. Historical grids, speed sweeps, lower-specific-energy cases and NASA benchmark missions are explicitly separate.</a:t>
            </a:r>
          </a:p>
          <a:p>
            <a:r>
              <a:rPr lang="en-US"/>
              <a:t>Reference key for Rev D: [R1] Silva et al., AIAA2018-3847, https://sacd.larc.nasa.gov/wp-content/uploads/sites/167/2022/02/Silva2018.pdf ; [R2] Radotich2022, local research/radotich/paper.txt and comparison.csv; [R5] Bowman2018, https://www1.grc.nasa.gov/wp-content/uploads/2018EATS-EAP-Transport-Studies-Bowman-6.2018-4984.pdf ; [R6] https://hirthengines.com/wp-content/uploads/2025-35-SERIES-3503.pdf ; [R7] https://rotronaero.com/products/rt600-xe ; [R8] https://www.turbotech-aero.com/solutions/ ; [R9] Johnson2022 NDARC Theory NASA/TP-20220000355Vol1; [R10] https://mgm-compro.com/electric-motor/reb-30-40-kw/ . [S1] research/baseline-weight-2026-10-27/sizing-component-audit.json; [S2] research/baseline-energy-2026-10-25; [S3] research/projects and research/radotich; [S4] research/tr60-vv-20261027; [S5] research/eagle-eye-threeway-2026-10-26; [S6] source/windows-cases5/weight_model.f90; [S7] output/vertical30-2026-10-28/comparison.json; [S8] research/rate-tuning-2026-10-21-RevA; [S9] research/current-trades-2026-10-21/results.json and output/turboelectric-dlwl-2026-10-21/results.json; [S10] research/presentation-speed-2026-10-26; [S11] research/nasa-retry-20261028/assessment.json. [U1] research/baseline-weight-2026-10-27/intake-rev2.json.</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502307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[R8] https://www.turbotech-aero.com/solutions/ :TG-R90 continuous85kWe,64kg W/O equipment,630–800V DC;TP-R150104kW,86kg fully equipped. Output boundaries differ. TG-R90 has motors/inverters downstream still to allocate; do not add its whole64kg to the full existing35kg and retain the turbine simultaneously. Need generator versus motor/distribution split, altitude continuous output, bus compatibility, thermal and part-load fuel map. The current generic75kW turbine25kg bare is unsupported by a selected vendor product; high power/mass is not justified solely because it is a turbine. Product inquiry recommended, procurement readiness unconfirmed.</a:t>
            </a:r>
          </a:p>
          <a:p>
            <a:r>
              <a:rPr lang="en-US"/>
              <a:t>Rev D: corrected selected UAV designs use vertical30-20261028; files output/vertical30-2026-10-28/comparison.json and research/vertical30-20261028/results.json. Original template and comments retained. Historical grids, speed sweeps, lower-specific-energy cases and NASA benchmark missions are explicitly separate.</a:t>
            </a:r>
          </a:p>
          <a:p>
            <a:r>
              <a:rPr lang="en-US"/>
              <a:t>Reference key for Rev D: [R1] Silva et al., AIAA2018-3847, https://sacd.larc.nasa.gov/wp-content/uploads/sites/167/2022/02/Silva2018.pdf ; [R2] Radotich2022, local research/radotich/paper.txt and comparison.csv; [R5] Bowman2018, https://www1.grc.nasa.gov/wp-content/uploads/2018EATS-EAP-Transport-Studies-Bowman-6.2018-4984.pdf ; [R6] https://hirthengines.com/wp-content/uploads/2025-35-SERIES-3503.pdf ; [R7] https://rotronaero.com/products/rt600-xe ; [R8] https://www.turbotech-aero.com/solutions/ ; [R9] Johnson2022 NDARC Theory NASA/TP-20220000355Vol1; [R10] https://mgm-compro.com/electric-motor/reb-30-40-kw/ . [S1] research/baseline-weight-2026-10-27/sizing-component-audit.json; [S2] research/baseline-energy-2026-10-25; [S3] research/projects and research/radotich; [S4] research/tr60-vv-20261027; [S5] research/eagle-eye-threeway-2026-10-26; [S6] source/windows-cases5/weight_model.f90; [S7] output/vertical30-2026-10-28/comparison.json; [S8] research/rate-tuning-2026-10-21-RevA; [S9] research/current-trades-2026-10-21/results.json and output/turboelectric-dlwl-2026-10-21/results.json; [S10] research/presentation-speed-2026-10-26; [S11] research/nasa-retry-20261028/assessment.json. [U1] research/baseline-weight-2026-10-27/intake-rev2.json.</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2297926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Sources docs/Radotich_2022_Comparison.md, docs/Project_Benchmark_Comparison.md, research/tr60-vv-20261027/assessment.txt, research/eagle-eye-threeway-2026-10-26/threeway-comparison.json and reference-provenance.json. Existing records reviewed; no new executions. Distinguish normal completion, convergence, retained screens and validation.\nSlide caveat: Neither fixed reference gross weight nor agreement with a brochure specification constitutes an independent validated prediction.</a:t>
            </a:r>
          </a:p>
          <a:p>
            <a:r>
              <a:rPr lang="en-US"/>
              <a:t>Rev D: corrected selected UAV designs use vertical30-20261028; files output/vertical30-2026-10-28/comparison.json and research/vertical30-20261028/results.json. Original template and comments retained. Historical grids, speed sweeps, lower-specific-energy cases and NASA benchmark missions are explicitly separate.</a:t>
            </a:r>
          </a:p>
          <a:p>
            <a:r>
              <a:rPr lang="en-US"/>
              <a:t>Reference key for Rev D: [R1] Silva et al., AIAA2018-3847, https://sacd.larc.nasa.gov/wp-content/uploads/sites/167/2022/02/Silva2018.pdf ; [R2] Radotich2022, local research/radotich/paper.txt and comparison.csv; [R5] Bowman2018, https://www1.grc.nasa.gov/wp-content/uploads/2018EATS-EAP-Transport-Studies-Bowman-6.2018-4984.pdf ; [R6] https://hirthengines.com/wp-content/uploads/2025-35-SERIES-3503.pdf ; [R7] https://rotronaero.com/products/rt600-xe ; [R8] https://www.turbotech-aero.com/solutions/ ; [R9] Johnson2022 NDARC Theory NASA/TP-20220000355Vol1; [R10] https://mgm-compro.com/electric-motor/reb-30-40-kw/ . [S1] research/baseline-weight-2026-10-27/sizing-component-audit.json; [S2] research/baseline-energy-2026-10-25; [S3] research/projects and research/radotich; [S4] research/tr60-vv-20261027; [S5] research/eagle-eye-threeway-2026-10-26; [S6] source/windows-cases5/weight_model.f90; [S7] output/vertical30-2026-10-28/comparison.json; [S8] research/rate-tuning-2026-10-21-RevA; [S9] research/current-trades-2026-10-21/results.json and output/turboelectric-dlwl-2026-10-21/results.json; [S10] research/presentation-speed-2026-10-26; [S11] research/nasa-retry-20261028/assessment.json. [U1] research/baseline-weight-2026-10-27/intake-rev2.json.</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3466691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docs/Radotich_2022_Comparison.md, Tables3/4/6 in Radotich2022 https://ntrs.nasa.gov/api/citations/20210026219/downloads/1528_Radotich_011222.pdf . Figure32 cropped from local paper p14.75nm repeats at saved precision.500nm uses paper-matched11/70lb/ft² loadings and numerical relaxation, no tuned physicalcoefficients. Missionenergy differs−0.414%, so within0.4% applies only six displayed quantities. Six passengers1200lbpayload;75nm mission two37.5nm legs and20minreserve. Actual engines are turboshaft, not piston.\nSlide caveat: Fuel burn excludes reserve. Geometry / loadings and rotor fits are inherited inputs. Numerical reproduction does not validate the later piston UAV or turboelectric surrogate.</a:t>
            </a:r>
          </a:p>
          <a:p>
            <a:r>
              <a:rPr lang="en-US"/>
              <a:t>Rev D: corrected selected UAV designs use vertical30-20261028; files output/vertical30-2026-10-28/comparison.json and research/vertical30-20261028/results.json. Original template and comments retained. Historical grids, speed sweeps, lower-specific-energy cases and NASA benchmark missions are explicitly separate.</a:t>
            </a:r>
          </a:p>
          <a:p>
            <a:r>
              <a:rPr lang="en-US"/>
              <a:t>Reference key for Rev D: [R1] Silva et al., AIAA2018-3847, https://sacd.larc.nasa.gov/wp-content/uploads/sites/167/2022/02/Silva2018.pdf ; [R2] Radotich2022, local research/radotich/paper.txt and comparison.csv; [R5] Bowman2018, https://www1.grc.nasa.gov/wp-content/uploads/2018EATS-EAP-Transport-Studies-Bowman-6.2018-4984.pdf ; [R6] https://hirthengines.com/wp-content/uploads/2025-35-SERIES-3503.pdf ; [R7] https://rotronaero.com/products/rt600-xe ; [R8] https://www.turbotech-aero.com/solutions/ ; [R9] Johnson2022 NDARC Theory NASA/TP-20220000355Vol1; [R10] https://mgm-compro.com/electric-motor/reb-30-40-kw/ . [S1] research/baseline-weight-2026-10-27/sizing-component-audit.json; [S2] research/baseline-energy-2026-10-25; [S3] research/projects and research/radotich; [S4] research/tr60-vv-20261027; [S5] research/eagle-eye-threeway-2026-10-26; [S6] source/windows-cases5/weight_model.f90; [S7] output/vertical30-2026-10-28/comparison.json; [S8] research/rate-tuning-2026-10-21-RevA; [S9] research/current-trades-2026-10-21/results.json and output/turboelectric-dlwl-2026-10-21/results.json; [S10] research/presentation-speed-2026-10-26; [S11] research/nasa-retry-20261028/assessment.json. [U1] research/baseline-weight-2026-10-27/intake-rev2.json.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Sources docs/Project_Benchmark_Comparison.md; docs/Radotich_2022_Comparison.md. Silva2018Table3 https://sacd.larc.nasa.gov/wp-content/uploads/sites/167/2022/02/Silva2018.pdf . Original16jobs:5normalends,4withconvergedentirecase;11inputreadingfailures. RestrictedLPCelectric repeatable+16.228%DGW,+24.438%missionenergy,notvalidated. RestrictedTE timedout300s. Reported actual numeric comparison statuses retained.\nSlide caveat: L+C restricted runs remove the unsupported maximum-speed task; they cannot reproduce the complete original job. Successful gross-weight reproduction alone is insufficient.</a:t>
            </a:r>
          </a:p>
          <a:p>
            <a:r>
              <a:rPr lang="en-US"/>
              <a:t>Rev D: corrected selected UAV designs use vertical30-20261028; files output/vertical30-2026-10-28/comparison.json and research/vertical30-20261028/results.json. Original template and comments retained. Historical grids, speed sweeps, lower-specific-energy cases and NASA benchmark missions are explicitly separate.</a:t>
            </a:r>
          </a:p>
          <a:p>
            <a:r>
              <a:rPr lang="en-US"/>
              <a:t>Reference key for Rev D: [R1] Silva et al., AIAA2018-3847, https://sacd.larc.nasa.gov/wp-content/uploads/sites/167/2022/02/Silva2018.pdf ; [R2] Radotich2022, local research/radotich/paper.txt and comparison.csv; [R5] Bowman2018, https://www1.grc.nasa.gov/wp-content/uploads/2018EATS-EAP-Transport-Studies-Bowman-6.2018-4984.pdf ; [R6] https://hirthengines.com/wp-content/uploads/2025-35-SERIES-3503.pdf ; [R7] https://rotronaero.com/products/rt600-xe ; [R8] https://www.turbotech-aero.com/solutions/ ; [R9] Johnson2022 NDARC Theory NASA/TP-20220000355Vol1; [R10] https://mgm-compro.com/electric-motor/reb-30-40-kw/ . [S1] research/baseline-weight-2026-10-27/sizing-component-audit.json; [S2] research/baseline-energy-2026-10-25; [S3] research/projects and research/radotich; [S4] research/tr60-vv-20261027; [S5] research/eagle-eye-threeway-2026-10-26; [S6] source/windows-cases5/weight_model.f90; [S7] output/vertical30-2026-10-28/comparison.json; [S8] research/rate-tuning-2026-10-21-RevA; [S9] research/current-trades-2026-10-21/results.json and output/turboelectric-dlwl-2026-10-21/results.json; [S10] research/presentation-speed-2026-10-26; [S11] research/nasa-retry-20261028/assessment.json. [U1] research/baseline-weight-2026-10-27/intake-rev2.json.</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9842516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[R2] https://sacd.larc.nasa.gov/wp-content/uploads/sites/167/2022/02/Silva2018.pdf Table3. [S3] runs/projects-restricted-lift-cruiseE6/stdout.out finalweighttable; runs/projects-restricted-lift-cruiseTE6/stdout.out; docs/Project_Benchmark_Comparison.md. E fuel system2705.7 versus2201lb,drive465.6versus358,structure2988.7versus2575,rotorgroup1027.9versus948. Rotor is nested in structure; no double counting. Systems549.1versus540. Vib416.7andcont416.7 sum833.4; paper residual700 inferred arithmetically. Full original jobs rejected unsupported SET_Pmargin. Restricted copies remove entire maximum-speed condition instead of silently deleting its selector. Electric completed repeatably but DGW+16.23%,energy+24.44%,best-range speed+56.16%. Input/model/version/trim and mission comparison require isolation; convergence does not identify root cause. TE timeout ends amid FlyMissionSol iterations, not proof no feasible physical solution exists. No retry claimed here.</a:t>
            </a:r>
          </a:p>
          <a:p>
            <a:r>
              <a:rPr lang="en-US"/>
              <a:t>Rev D: corrected selected UAV designs use vertical30-20261028; files output/vertical30-2026-10-28/comparison.json and research/vertical30-20261028/results.json. Original template and comments retained. Historical grids, speed sweeps, lower-specific-energy cases and NASA benchmark missions are explicitly separate.</a:t>
            </a:r>
          </a:p>
          <a:p>
            <a:r>
              <a:rPr lang="en-US"/>
              <a:t>[S11] New diagnostic results: research/nasa-retry-20261028/assessment.json. Do not interpret fixed-speed diagnostic as original benchmark reproduction.</a:t>
            </a:r>
          </a:p>
          <a:p>
            <a:r>
              <a:rPr lang="en-US"/>
              <a:t>Reference key for Rev D: [R1] Silva et al., AIAA2018-3847, https://sacd.larc.nasa.gov/wp-content/uploads/sites/167/2022/02/Silva2018.pdf ; [R2] Radotich2022, local research/radotich/paper.txt and comparison.csv; [R5] Bowman2018, https://www1.grc.nasa.gov/wp-content/uploads/2018EATS-EAP-Transport-Studies-Bowman-6.2018-4984.pdf ; [R6] https://hirthengines.com/wp-content/uploads/2025-35-SERIES-3503.pdf ; [R7] https://rotronaero.com/products/rt600-xe ; [R8] https://www.turbotech-aero.com/solutions/ ; [R9] Johnson2022 NDARC Theory NASA/TP-20220000355Vol1; [R10] https://mgm-compro.com/electric-motor/reb-30-40-kw/ . [S1] research/baseline-weight-2026-10-27/sizing-component-audit.json; [S2] research/baseline-energy-2026-10-25; [S3] research/projects and research/radotich; [S4] research/tr60-vv-20261027; [S5] research/eagle-eye-threeway-2026-10-26; [S6] source/windows-cases5/weight_model.f90; [S7] output/vertical30-2026-10-28/comparison.json; [S8] research/rate-tuning-2026-10-21-RevA; [S9] research/current-trades-2026-10-21/results.json and output/turboelectric-dlwl-2026-10-21/results.json; [S10] research/presentation-speed-2026-10-26; [S11] research/nasa-retry-20261028/assessment.json. [U1] research/baseline-weight-2026-10-27/intake-rev2.json.</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8270755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[R3] https://www.itu.int/en/ITU-D/Regional-Presence/AsiaPacific/Documents/Events/2015/December-YILF2015/day1/S1_KARI.pdf . [S4] research/tr60-vv-20261027/assessment.txt; cases/tr60-vv/plan-same55hp-20261027.json; research/tr60-vv-20261027/tr60-same55hp-20261027-results.json. Both new runs normal, converged_size_mission, no recorded violation flags,300min and20kgpayload,55hp output verified. Retrofit190.914897kg/empty145.975550/fuel23.939340;clean186.164651/empty141.888955/fuel23.275716. Mass slope0.9lb/hp plus12kginstallation still assumed. Reference200kg and130kgempty fixes49kgfuel budget; referenceburn24.52kg,landing24.48kgunused. Therefore minimum-mission-fuel resizing differs from reference loading. No measured component ledger;2013flighttest and2016extendedwing full texts not recovered in present search. TR100 only literaturecheck.</a:t>
            </a:r>
          </a:p>
          <a:p>
            <a:r>
              <a:rPr lang="en-US"/>
              <a:t>Rev D: corrected selected UAV designs use vertical30-20261028; files output/vertical30-2026-10-28/comparison.json and research/vertical30-20261028/results.json. Original template and comments retained. Historical grids, speed sweeps, lower-specific-energy cases and NASA benchmark missions are explicitly separate.</a:t>
            </a:r>
          </a:p>
          <a:p>
            <a:r>
              <a:rPr lang="en-US"/>
              <a:t>Reference key for Rev D: [R1] Silva et al., AIAA2018-3847, https://sacd.larc.nasa.gov/wp-content/uploads/sites/167/2022/02/Silva2018.pdf ; [R2] Radotich2022, local research/radotich/paper.txt and comparison.csv; [R5] Bowman2018, https://www1.grc.nasa.gov/wp-content/uploads/2018EATS-EAP-Transport-Studies-Bowman-6.2018-4984.pdf ; [R6] https://hirthengines.com/wp-content/uploads/2025-35-SERIES-3503.pdf ; [R7] https://rotronaero.com/products/rt600-xe ; [R8] https://www.turbotech-aero.com/solutions/ ; [R9] Johnson2022 NDARC Theory NASA/TP-20220000355Vol1; [R10] https://mgm-compro.com/electric-motor/reb-30-40-kw/ . [S1] research/baseline-weight-2026-10-27/sizing-component-audit.json; [S2] research/baseline-energy-2026-10-25; [S3] research/projects and research/radotich; [S4] research/tr60-vv-20261027; [S5] research/eagle-eye-threeway-2026-10-26; [S6] source/windows-cases5/weight_model.f90; [S7] output/vertical30-2026-10-28/comparison.json; [S8] research/rate-tuning-2026-10-21-RevA; [S9] research/current-trades-2026-10-21/results.json and output/turboelectric-dlwl-2026-10-21/results.json; [S10] research/presentation-speed-2026-10-26; [S11] research/nasa-retry-20261028/assessment.json. [U1] research/baseline-weight-2026-10-27/intake-rev2.json.</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312636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Sources: source v1.13 weights and engine models; scripts/turboelectric_sanity.py; scripts/p50b_mission_screen.py; scripts/add_motor_audit_20261025.py; research/baseline-weight-2026-10-27/sizing-component-audit.json. CLmax1.8 and1.2Vs screen are model/analyst assumptions. Cell OCV/resistance curves are proxies, not measured user-pack characterization. Neither empirical rotor/airframe validation nor electrical transient modeling is claimed.\nSlide caveat: Equivalent electrical model: add drive mass and account for losses through Pengine = Protor / 0.86. This supports architecture trades, but does not qualify hardware.</a:t>
            </a:r>
          </a:p>
          <a:p>
            <a:r>
              <a:rPr lang="en-US"/>
              <a:t>Rev D: corrected selected UAV designs use vertical30-20261028; files output/vertical30-2026-10-28/comparison.json and research/vertical30-20261028/results.json. Original template and comments retained. Historical grids, speed sweeps, lower-specific-energy cases and NASA benchmark missions are explicitly separate.</a:t>
            </a:r>
          </a:p>
          <a:p>
            <a:r>
              <a:rPr lang="en-US"/>
              <a:t>Reference key for Rev D: [R1] Silva et al., AIAA2018-3847, https://sacd.larc.nasa.gov/wp-content/uploads/sites/167/2022/02/Silva2018.pdf ; [R2] Radotich2022, local research/radotich/paper.txt and comparison.csv; [R5] Bowman2018, https://www1.grc.nasa.gov/wp-content/uploads/2018EATS-EAP-Transport-Studies-Bowman-6.2018-4984.pdf ; [R6] https://hirthengines.com/wp-content/uploads/2025-35-SERIES-3503.pdf ; [R7] https://rotronaero.com/products/rt600-xe ; [R8] https://www.turbotech-aero.com/solutions/ ; [R9] Johnson2022 NDARC Theory NASA/TP-20220000355Vol1; [R10] https://mgm-compro.com/electric-motor/reb-30-40-kw/ . [S1] research/baseline-weight-2026-10-27/sizing-component-audit.json; [S2] research/baseline-energy-2026-10-25; [S3] research/projects and research/radotich; [S4] research/tr60-vv-20261027; [S5] research/eagle-eye-threeway-2026-10-26; [S6] source/windows-cases5/weight_model.f90; [S7] output/vertical30-2026-10-28/comparison.json; [S8] research/rate-tuning-2026-10-21-RevA; [S9] research/current-trades-2026-10-21/results.json and output/turboelectric-dlwl-2026-10-21/results.json; [S10] research/presentation-speed-2026-10-26; [S11] research/nasa-retry-20261028/assessment.json. [U1] research/baseline-weight-2026-10-27/intake-rev2.json.</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output/vertical30-2026-10-28/comparison.json; research/vertical30-20261028/results.json; cases/vertical30-20261028/plan.json. 24 native executions, including controls, outer iterations and speed probes. Clean control differs from saved by about0.015kg. Level247.6041667min; TR loiter187.6041667min after two30min transits. Independent avionics pack unchanged. No new full DL/WL grid and no lower-specific-energy30s sweep.</a:t>
            </a:r>
          </a:p>
          <a:p>
            <a:r>
              <a:rPr lang="en-US"/>
              <a:t>Reference key for Rev D: [R1] Silva et al., AIAA2018-3847, https://sacd.larc.nasa.gov/wp-content/uploads/sites/167/2022/02/Silva2018.pdf ; [R2] Radotich2022, local research/radotich/paper.txt and comparison.csv; [R5] Bowman2018, https://www1.grc.nasa.gov/wp-content/uploads/2018EATS-EAP-Transport-Studies-Bowman-6.2018-4984.pdf ; [R6] https://hirthengines.com/wp-content/uploads/2025-35-SERIES-3503.pdf ; [R7] https://rotronaero.com/products/rt600-xe ; [R8] https://www.turbotech-aero.com/solutions/ ; [R9] Johnson2022 NDARC Theory NASA/TP-20220000355Vol1; [R10] https://mgm-compro.com/electric-motor/reb-30-40-kw/ . [S1] research/baseline-weight-2026-10-27/sizing-component-audit.json; [S2] research/baseline-energy-2026-10-25; [S3] research/projects and research/radotich; [S4] research/tr60-vv-20261027; [S5] research/eagle-eye-threeway-2026-10-26; [S6] source/windows-cases5/weight_model.f90; [S7] output/vertical30-2026-10-28/comparison.json; [S8] research/rate-tuning-2026-10-21-RevA; [S9] research/current-trades-2026-10-21/results.json and output/turboelectric-dlwl-2026-10-21/results.json; [S10] research/presentation-speed-2026-10-26; [S11] research/nasa-retry-20261028/assessment.json. [U1] research/baseline-weight-2026-10-27/intake-rev2.json.</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0754609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source/windows-cases5/weight_model.f90. AFDD93 fixed wing and tiltrotor correlations use geometry and design loads, not a universal WL penalty. Ideal induced hover power W^(3/2)/sqrt(2 rho A) is an explanatory scaling, not full NDARC performance. Higher tip load, support design, aeroelasticity and UAV scale uncertainty require separate checks.</a:t>
            </a:r>
          </a:p>
          <a:p>
            <a:r>
              <a:rPr lang="en-US"/>
              <a:t>Reference key for Rev D: [R1] Silva et al., AIAA2018-3847, https://sacd.larc.nasa.gov/wp-content/uploads/sites/167/2022/02/Silva2018.pdf ; [R2] Radotich2022, local research/radotich/paper.txt and comparison.csv; [R5] Bowman2018, https://www1.grc.nasa.gov/wp-content/uploads/2018EATS-EAP-Transport-Studies-Bowman-6.2018-4984.pdf ; [R6] https://hirthengines.com/wp-content/uploads/2025-35-SERIES-3503.pdf ; [R7] https://rotronaero.com/products/rt600-xe ; [R8] https://www.turbotech-aero.com/solutions/ ; [R9] Johnson2022 NDARC Theory NASA/TP-20220000355Vol1; [R10] https://mgm-compro.com/electric-motor/reb-30-40-kw/ . [S1] research/baseline-weight-2026-10-27/sizing-component-audit.json; [S2] research/baseline-energy-2026-10-25; [S3] research/projects and research/radotich; [S4] research/tr60-vv-20261027; [S5] research/eagle-eye-threeway-2026-10-26; [S6] source/windows-cases5/weight_model.f90; [S7] output/vertical30-2026-10-28/comparison.json; [S8] research/rate-tuning-2026-10-21-RevA; [S9] research/current-trades-2026-10-21/results.json and output/turboelectric-dlwl-2026-10-21/results.json; [S10] research/presentation-speed-2026-10-26; [S11] research/nasa-retry-20261028/assessment.json. [U1] research/baseline-weight-2026-10-27/intake-rev2.json.</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6058292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Evidence: runs/lpc-opt-common20-rate20261021-geometry-wc2-wd2-vc1.75-vd2-r0-seed394.962-warm-i3; runs/lpc-opt-common20-currenttrades20261021-lpc-d26-w97-common20-warm-i3; runs/te-dlwl-20261021-piston-d20-w90; runs/te-dlwl-20261021-central-d30-w85</a:t>
            </a:r>
          </a:p>
          <a:p>
            <a:r>
              <a:rPr lang="en-US"/>
              <a:t>Data extraction: scripts/presentation_story_20261026.py. Historical sizing figures plus four new logged L+C speed-probe executions (presentation-speed-20261026). Main pack model is an aggregate cell surrogate, not the user's two independent28S6P pack model. Baseline340kg nominal differs from earlier342.5kg accounting. All selected results remain conceptual.</a:t>
            </a:r>
          </a:p>
          <a:p>
            <a:r>
              <a:rPr lang="en-US"/>
              <a:t>Previous map uses Oct21 historical15min-backup exploration, overlaid with Oct21common20 endpoints; not a fully rerun common20 grid. Latest map uses54 saved records,0pass51violation3unresolved. Previous grid lacks the newer explicit REB30 RPM-band screen. Baseline loadings use340kg/4.2m2 and340kg/(4*pi*.75²). Retrofit retains same geometry so both loadings rise with gross mass.</a:t>
            </a:r>
          </a:p>
          <a:p>
            <a:r>
              <a:rPr lang="en-US"/>
              <a:t>Rev D: corrected selected UAV designs use vertical30-20261028; files output/vertical30-2026-10-28/comparison.json and research/vertical30-20261028/results.json. Original template and comments retained. Historical grids, speed sweeps, lower-specific-energy cases and NASA benchmark missions are explicitly separate.
Point-by-point map reasons: [
  {
    "plot": "Historical 17 s grid; selected clean-sheet design resized at 30 s",
    "DL": 15.0,
    "WL": 110.0,
    "status": "violation",
    "codes": "GMPS",
    "reasons": [
      "solver/NDARC flags",
      "stall margin",
      "20% motor maximum-torque margin",
      "longitudinal/pusher clearance",
      "engine shaft power"
    ],
    "run": "lpc-opt-currenttrades20261021-lpc-d15-w110-i4"
  },
  {
    "plot": "Historical 17 s grid; selected clean-sheet design resized at 30 s",
    "DL": 15.0,
    "WL": 135.0,
    "status": "unresolved",
    "codes": "N",
    "reasons": [],
    "run": "lpc-opt-currenttrades20261021-lpc-d15-w135-i0"
  },
  {
    "plot": "Historical 17 s grid; selected clean-sheet design resized at 30 s",
    "DL": 15.0,
    "WL": 160.0,
    "status": "unresolved",
    "codes": "N",
    "reasons": [],
    "run": "lpc-opt-currenttrades20261021-lpc-d15-w160-i0"
  },
  {
    "plot": "Historical 17 s grid; selected clean-sheet design resized at 30 s",
    "DL": 15.0,
    "WL": 60.0,
    "status": "unresolved",
    "codes": "N",
    "reasons": [],
    "run": "lpc-opt-currenttrades20261021-lpc-d15-w60-i0"
  },
  {
    "plot": "Historical 17 s grid; selected clean-sheet design resized at 30 s",
    "DL": 15.0,
    "WL": 85.0,
    "status": "violation",
    "codes": "GMP",
    "reasons": [
      "solver/NDARC flags",
      "20% motor maximum-torque margin",
      "longitudinal/pusher clearance",
      "engine shaft power"
    ],
    "run": "lpc-opt-currenttrades20261021-lpc-d15-w85-i5"
  },
  {
    "plot": "Historical 17 s grid; selected clean-sheet design resized at 30 s",
    "DL": 22.0,
    "WL": 110.0,
    "status": "violation",
    "codes": "S",
    "reasons": [
      "stall margin"
    ],
    "run": "lpc-opt-currenttrades20261021-lpc-d22-w110-i5"
  },
  {
    "plot": "Historical 17 s grid; selected clean-sheet design resized at 30 s",
    "DL": 22.0,
    "WL": 135.0,
    "status": "unresolved",
    "codes": "N",
    "reasons": [],
    "run": "lpc-opt-currenttrades20261021-lpc-d22-w135-i0"
  },
  {
    "plot": "Historical 17 s grid; selected clean-sheet design resized at 30 s",
    "DL": 22.0,
    "WL": 160.0,
    "status": "unresolved",
    "codes": "N",
    "reasons": [],
    "run": "lpc-opt-currenttrades20261021-lpc-d22-w160-i0"
  },
  {
    "plot": "Historical 17 s grid; selected clean-sheet design resized at 30 s",
    "DL": 22.0,
    "WL": 60.0,
    "status": "violation",
    "codes": "MP",
    "reasons": [
      "solver/NDARC flags",
      "20% motor maximum-torque margin",
      "engine shaft power"
    ],
    "run": "lpc-opt-currenttrades20261021-lpc-d22-w60-i6"
  },
  {
    "plot": "Historical 17 s grid; selected clean-sheet design resized at 30 s",
    "DL": 22.0,
    "WL": 85.0,
    "status": "violation",
    "codes": "M",
    "reasons": [
      "20% motor maximum-torque margin"
    ],
    "run": "lpc-opt-currenttrades20261021-lpc-d22-w85-i5"
  },
  {
    "plot": "Historical 17 s grid; selected clean-sheet design resized at 30 s",
    "DL": 24,
    "WL": 95,
    "status": "pass",
    "codes": "O",
    "reasons": [],
    "run": "lpc-opt-currenttrades20261021-lpc-d24-w95-i6"
  },
  {
    "plot": "Historical 17 s grid; selected clean-sheet design resized at 30 s",
    "DL": 26.0,
    "WL": 75.0,
    "status": "pass",
    "codes": "O",
    "reasons": [],
    "run": "lpc-opt-currenttrades20261021-lpc-d26-w75-i6"
  },
  {
    "plot": "Historical 17 s grid; selected clean-sheet design resized at 30 s",
    "DL": 26,
    "WL": 90,
    "status": "pass",
    "codes": "O",
    "reasons": [],
    "run": "lpc-opt-currenttrades20261021-lpc-d26-w90-retry-i6"
  },
  {
    "plot": "Historical 17 s grid; selected clean-sheet design resized at 30 s",
    "DL": 26,
    "WL": 95,
    "status": "pass",
    "codes": "O",
    "reasons": [],
    "run": "lpc-opt-currenttrades20261021-lpc-d26-w95-i6"
  },
  {
    "plot": "Historical 17 s grid; selected clean-sheet design resized at 30 s",
    "DL": 26,
    "WL": 97,
    "status": "pass",
    "codes": "O",
    "reasons": [],
    "run": "lpc-opt-currenttrades20261021-lpc-d26-w97-i6"
  },
  {
    "plot": "Historical 17 s grid; selected clean-sheet design resized at 30 s",
    "DL": 28,
    "WL": 95,
    "status": "pass",
    "codes": "O",
    "reasons": [],
    "run": "lpc-opt-currenttrades20261021-lpc-d28-w95-i5"
  },
  {
    "plot": "Historical 17 s grid; selected clean-sheet design resized at 30 s",
    "DL": 30.0,
    "WL": 110.0,
    "status": "violation",
    "codes": "S",
    "reasons": [
      "stall margin"
    ],
    "run": "lpc-opt-currenttrades20261021-lpc-d30-w110-i6"
  },
  {
    "plot": "Historical 17 s grid; selected clean-sheet design resized at 30 s",
    "DL": 30.0,
    "WL": 135.0,
    "status": "unresolved",
    "codes": "N",
    "reasons": [],
    "run": "lpc-opt-currenttrades20261021-lpc-d30-w135-i0"
  },
  {
    "plot": "Historical 17 s grid; selected clean-sheet design resized at 30 s",
    "DL": 30.0,
    "WL": 160.0,
    "status": "unresolved",
    "codes": "N",
    "reasons": [],
    "run": "lpc-opt-currenttrades20261021-lpc-d30-w160-i0"
  },
  {
    "plot": "Historical 17 s grid; selected clean-sheet design resized at 30 s",
    "DL": 30.0,
    "WL": 60.0,
    "status": "violation",
    "codes": "P",
    "reasons": [
      "solver/NDARC flags",
      "engine shaft power"
    ],
    "run": "lpc-opt-currenttrades20261021-lpc-d30-w60-i6"
  },
  {
    "plot": "Historical 17 s grid; selected clean-sheet design resized at 30 s",
    "DL": 30.0,
    "WL": 75.0,
    "status": "pass",
    "codes": "O",
    "reasons": [],
    "run": "lpc-opt-currenttrades20261021-lpc-d30-w75-i4"
  },
  {
    "plot": "Historical 17 s grid; selected clean-sheet design resized at 30 s",
    "DL": 30.0,
    "WL": 85.0,
    "status": "pass",
    "codes": "O",
    "reasons": [],
    "run": "lpc-opt-currenttrades20261021-lpc-d30-w85-i6"
  },
  {
    "plot": "Historical 17 s grid; selected clean-sheet design resized at 30 s",
    "DL": 30.0,
    "WL": 90.0,
    "status": "pass",
    "codes": "O",
    "reasons": [],
    "run": "lpc-opt-currenttrades20261021-lpc-d30-w90-i6"
  },
  {
    "plot": "Historical 17 s grid; selected clean-sheet design resized at 30 s",
    "DL": 30.0,
    "WL": 95.0,
    "status": "pass",
    "codes": "O",
    "reasons": [],
    "run": "lpc-opt-currenttrades20261021-lpc-d30-w95-i6"
  },
  {
    "plot": "Historical 17 s grid; selected clean-sheet design resized at 30 s",
    "DL": 30,
    "WL": 97,
    "status": "pass",
    "codes": "O",
    "reasons": [],
    "run": "lpc-opt-currenttrades20261021-lpc-d30-w97-i6"
  },
  {
    "plot": "Historical 17 s grid; selected clean-sheet design resized at 30 s",
    "DL": 34.0,
    "WL": 75.0,
    "status": "pass",
    "codes": "O",
    "reasons": [],
    "run": "lpc-opt-currenttrades20261021-lpc-d34-w75-i3"
  },
  {
    "plot": "Historical 17 s grid; selected clean-sheet design resized at 30 s",
    "DL": 34.0,
    "WL": 90.0,
    "status": "pass",
    "codes": "O",
    "reasons": [],
    "run": "lpc-opt-currenttrades20261021-lpc-d34-w90-i6"
  },
  {
    "plot": "Historical 17 s grid; selected clean-sheet design resized at 30 s",
    "DL": 34.0,
    "WL": 95.0,
    "status": "pass",
    "codes": "O",
    "reasons": [],
    "run": "lpc-opt-currenttrades20261021-lpc-d34-w95-i6"
  },
  {
    "plot": "Historical 17 s grid; selected clean-sheet design resized at 30 s",
    "DL": 40.0,
    "WL": 110.0,
    "status": "violation",
    "codes": "S",
    "reasons": [
      "stall margin"
    ],
    "run": "lpc-opt-currenttrades20261021-lpc-d40-w110-i4"
  },
  {
    "plot": "Historical 17 s grid; selected clean-sheet design resized at 30 s",
    "DL": 40.0,
    "WL": 135.0,
    "status": "unresolved",
    "codes": "N",
    "reasons": [],
    "run": "lpc-opt-currenttrades20261021-lpc-d40-w135-i0"
  },
  {
    "plot": "Historical 17 s grid; selected clean-sheet design resized at 30 s",
    "DL": 40.0,
    "WL": 160.0,
    "status": "unresolved",
    "codes": "N",
    "reasons": [],
    "run": "lpc-opt-currenttrades20261021-lpc-d40-w160-i0"
  },
  {
    "plot": "Historical 17 s grid; selected clean-sheet design resized at 30 s",
    "DL": 40.0,
    "WL": 60.0,
    "status": "violation",
    "codes": "P",
    "reasons": [
      "solver/NDARC flags",
      "engine shaft power"
    ],
    "run": "lpc-opt-currenttrades20261021-lpc-d40-w60-i5"
  },
  {
    "plot": "Historical 17 s grid; selected clean-sheet design resized at 30 s",
    "DL": 40.0,
    "WL": 85.0,
    "status": "unresolved",
    "codes": "NP",
    "reasons": [
      "solver/NDARC flags"
    ],
    "run": "lpc-opt-currenttrades20261021-lpc-d40-w85-i6"
  },
  {
    "plot": "Historical 17 s grid; selected clean-sheet design resized at 30 s",
    "DL": 48.453838230199246,
    "WL": 81.54761904761905,
    "status": "pass",
    "codes": "O",
    "reasons": [],
    "run": "lpc-opt-currenttrades20261021-lpc-d48.4538-w81.5476-i5"
  },
  {
    "plot": "Historical 17 s grid; selected clean-sheet design resized at 30 s",
    "DL": 55.0,
    "WL": 110.0,
    "status": "violation",
    "codes": "S",
    "reasons": [
      "stall margin"
    ],
    "run": "lpc-opt-currenttrades20261021-lpc-d55-w110-i5"
  },
  {
    "plot": "Historical 17 s grid; selected clean-sheet design resized at 30 s",
    "DL": 55.0,
    "WL": 135.0,
    "status": "unresolved",
    "codes": "N",
    "reasons": [],
    "run": "lpc-opt-currenttrades20261021-lpc-d55-w135-i0"
  },
  {
    "plot": "Historical 17 s grid; selected clean-sheet design resized at 30 s",
    "DL": 55.0,
    "WL": 160.0,
    "status": "unresolved",
    "codes": "N",
    "reasons": [],
    "run": "lpc-opt-currenttrades20261021-lpc-d55-w160-i0"
  },
  {
    "plot": "Historical 17 s grid; selected clean-sheet design resized at 30 s",
    "DL": 55.0,
    "WL": 60.0,
    "status": "violation",
    "codes": "MP",
    "reasons": [
      "solver/NDARC flags",
      "20% motor MCP margin",
      "engine shaft power"
    ],
    "run": "lpc-opt-currenttrades20261021-lpc-d55-w60-i8"
  },
  {
    "plot": "Historical 17 s grid; selected clean-sheet design resized at 30 s",
    "DL": 55.0,
    "WL": 85.0,
    "status": "pass",
    "codes": "O",
    "reasons": [],
    "run": "lpc-opt-currenttrades20261021-lpc-d55-w85-i6"
  },
  {
    "plot": "Historical 17 s grid; selected clean-sheet design resized at 30 s",
    "DL": 70.0,
    "WL": 110.0,
    "status": "violation",
    "codes": "MS",
    "reasons": [
      "stall margin",
      "20% motor MCP margin"
    ],
    "run": "lpc-opt-currenttrades20261021-lpc-d70-w110-i5"
  },
  {
    "plot": "Historical 17 s grid; selected clean-sheet design resized at 30 s",
    "DL": 70.0,
    "WL": 135.0,
    "status": "unresolved",
    "codes": "N",
    "reasons": [],
    "run": "lpc-opt-currenttrades20261021-lpc-d70-w135-i0"
  },
  {
    "plot": "Historical 17 s grid; selected clean-sheet design resized at 30 s",
    "DL": 70.0,
    "WL": 160.0,
    "status": "unresolved",
    "codes": "N",
    "reasons": [],
    "run": "lpc-opt-currenttrades20261021-lpc-d70-w160-i0"
  },
  {
    "plot": "Historical 17 s grid; selected clean-sheet design resized at 30 s",
    "DL": 70.0,
    "WL": 60.0,
    "status": "violation",
    "codes": "MP",
    "reasons": [
      "solver/NDARC flags",
      "20% motor MCP margin",
      "engine shaft power"
    ],
    "run": "lpc-opt-currenttrades20261021-lpc-d70-w60-i7"
  },
  {
    "plot": "Historical 17 s grid; selected clean-sheet design resized at 30 s",
    "DL": 70.0,
    "WL": 85.0,
    "status": "violation",
    "codes": "M",
    "reasons": [
      "20% motor MCP margin"
    ],
    "run": "lpc-opt-currenttrades20261021-lpc-d70-w85-i7"
  },
  {
    "plot": "Piston tiltrotor",
    "DL": 10,
    "WL": 75,
    "status": "violation",
    "codes": "P",
    "reasons": [
      "Exceed (Power, Drive, Fuel)"
    ],
    "run": "te-dlwl-20261021-piston-d10-w75"
  },
  {
    "plot": "Piston tiltrotor",
    "DL": 10,
    "WL": 85,
    "status": "violation",
    "codes": "G",
    "reasons": [
      "rotor_clearance"
    ],
    "run": "te-dlwl-20261021-piston-d10-w85"
  },
  {
    "plot": "Piston tiltrotor",
    "DL": 10,
    "WL": 95,
    "status": "violation",
    "codes": "GS",
    "reasons": [
      "loiter_stall_margin",
      "rotor_clearance",
      "wingborne_stall_margin"
    ],
    "run": "te-dlwl-20261021-piston-d10-w95"
  },
  {
    "plot": "Piston tiltrotor",
    "DL": 12,
    "WL": 75,
    "status": "pass",
    "codes": "O",
    "reasons": [],
    "run": "te-dlwl-20261021-piston-d12-w75"
  },
  {
    "plot": "Piston tiltrotor",
    "DL": 12,
    "WL": 85,
    "status": "pass",
    "codes": "O",
    "reasons": [],
    "run": "te-dlwl-20261021-piston-d12-w85"
  },
  {
    "plot": "Piston tiltrotor",
    "DL": 12,
    "WL": 95,
    "status": "violation",
    "codes": "GS",
    "reasons": [
      "loiter_stall_margin",
      "rotor_clearance",
      "wingborne_stall_margin"
    ],
    "run": "te-dlwl-20261021-piston-d12-w95"
  },
  {
    "plot": "Piston tiltrotor",
    "DL": 15,
    "WL": 110,
    "status": "violation",
    "codes": "GS",
    "reasons": [
      "loiter_stall_margin",
      "rotor_clearance",
      "wingborne_stall_margin"
    ],
    "run": "te-dlwl-20261021-piston-d15-w110"
  },
  {
    "plot": "Piston tiltrotor",
    "DL": 15,
    "WL": 135,
    "status": "violation",
    "codes": "GS",
    "reasons": [
      "loiter_stall_margin",
      "rotor_clearance",
      "wingborne_stall_margin"
    ],
    "run": "te-dlwl-20261021-piston-d15-w135"
  },
  {
    "plot": "Piston tiltrotor",
    "DL": 15,
    "WL": 160,
    "status": "violation",
    "codes": "GPS",
    "reasons": [
      "Exceed (Power, Drive, Fuel)",
      "mission_flag",
      "rotor_clearance",
      "wingborne_stall_margin"
    ],
    "run": "te-dlwl-20261021-piston-d15-w160"
  },
  {
    "plot": "Piston tiltrotor",
    "DL": 15,
    "WL": 60,
    "status": "violation",
    "codes": "P",
    "reasons": [
      "Exceed (Power, Drive, Fuel)",
      "mission_flag"
    ],
    "run": "te-dlwl-20261021-piston-d15-w60"
  },
  {
    "plot": "Piston tiltrotor",
    "DL": 15,
    "WL": 85,
    "status": "pass",
    "codes": "O",
    "reasons": [],
    "run": "te-dlwl-20261021-piston-d15-w85"
  },
  {
    "plot": "Piston tiltrotor",
    "DL": 18,
    "WL": 75,
    "status": "violation",
    "codes": "P",
    "reasons": [
      "Exceed (Power, Drive, Fuel)",
      "mission_flag"
    ],
    "run": "te-dlwl-20261021-piston-d18-w75"
  },
  {
    "plot": "Piston tiltrotor",
    "DL": 18,
    "WL": 85,
    "status": "pass",
    "codes": "O",
    "reasons": [],
    "run": "te-dlwl-20261021-piston-d18-w85"
  },
  {
    "plot": "Piston tiltrotor",
    "DL": 18,
    "WL": 90,
    "status": "pass",
    "codes": "O",
    "reasons": [],
    "run": "te-dlwl-20261021-piston-d18-w90"
  },
  {
    "plot": "Piston tiltrotor",
    "DL": 18,
    "WL": 95,
    "status": "violation",
    "codes": "S",
    "reasons": [
      "loiter_stall_margin",
      "wingborne_stall_margin"
    ],
    "run": "te-dlwl-20261021-piston-d18-w95"
  },
  {
    "plot": "Piston tiltrotor",
    "DL": 20,
    "WL": 85,
    "status": "violation",
    "codes": "P",
    "reasons": [
      "Exceed (Power, Drive, Fuel)",
      "mission_flag"
    ],
    "run": "te-dlwl-20261021-piston-d20-w85"
  },
  {
    "plot": "Piston tiltrotor",
    "DL": 20,
    "WL": 90,
    "status": "pass",
    "codes": "O",
    "reasons": [],
    "run": "te-dlwl-20261021-piston-d20-w90"
  },
  {
    "plot": "Piston tiltrotor",
    "DL": 22,
    "WL": 110,
    "status": "violation",
    "codes": "S",
    "reasons": [
      "loiter_stall_margin",
      "wingborne_stall_margin"
    ],
    "run": "te-dlwl-20261021-piston-d22-w110"
  },
  {
    "plot": "Piston tiltrotor",
    "DL": 22,
    "WL": 135,
    "status": "violation",
    "codes": "S",
    "reasons": [
      "loiter_stall_margin",
      "wingborne_stall_margin"
    ],
    "run": "te-dlwl-20261021-piston-d22-w135"
  },
  {
    "plot": "Piston tiltrotor",
    "DL": 22,
    "WL": 160,
    "status": "violation",
    "codes": "GPS",
    "reasons": [
      "Exceed (Power, Drive, Fuel)",
      "mission_flag",
      "rotor_clearance",
      "wingborne_stall_margin"
    ],
    "run": "te-dlwl-20261021-piston-d22-w160"
  },
  {
    "plot": "Piston tiltrotor",
    "DL": 22,
    "WL": 60,
    "status": "violation",
    "codes": "P",
    "reasons": [
      "Exceed (Power, Drive, Fuel)",
      "mission_flag"
    ],
    "run": "te-dlwl-20261021-piston-d22-w60"
  },
  {
    "plot": "Piston tiltrotor",
    "DL": 22,
    "WL": 85,
    "status": "violation",
    "codes": "P",
    "reasons": [
      "Exceed (Power, Drive, Fuel)",
      "mission_flag"
    ],
    "run": "te-dlwl-20261021-piston-d22-w85"
  },
  {
    "plot": "Piston tiltrotor",
    "DL": 30,
    "WL": 110,
    "status": "violation",
    "codes": "PS",
    "reasons": [
      "Exceed (Power, Drive, Fuel)",
      "loiter_stall_margin",
      "mission_flag",
      "wingborne_stall_margin"
    ],
    "run": "te-dlwl-20261021-piston-d30-w110"
  },
  {
    "plot": "Piston tiltrotor",
    "DL": 30,
    "WL": 135,
    "status": "violation",
    "codes": "PS",
    "reasons": [
      "Exceed (Power, Drive, Fuel)",
      "loiter_stall_margin",
      "mission_flag",
      "wingborne_stall_margin"
    ],
    "run": "te-dlwl-20261021-piston-d30-w135"
  },
  {
    "plot": "Piston tiltrotor",
    "DL": 30,
    "WL": 160,
    "status": "unresolved",
    "codes": "NOPS",
    "reasons": [
      "Exceed (Power, Drive, Fuel)",
      "iteration_failure",
      "mission_flag",
      "wingborne_stall_margin",
      "native convergence not established",
      "loading mismatch"
    ],
    "run": "te-dlwl-20261021-piston-d30-w160"
  },
  {
    "plot": "Piston tiltrotor",
    "DL": 30,
    "WL": 60,
    "status": "violation",
    "codes": "P",
    "reasons": [
      "Exceed (Power, Drive, Fuel)",
      "mission_flag"
    ],
    "run": "te-dlwl-20261021-piston-d30-w60"
  },
  {
    "plot": "Piston tiltrotor",
    "DL": 30,
    "WL": 85,
    "status": "violation",
    "codes": "P",
    "reasons": [
      "Exceed (Power, Drive, Fuel)",
      "mission_flag"
    ],
    "run": "te-dlwl-20261021-piston-d30-w85"
  },
  {
    "plot": "Piston tiltrotor",
    "DL": 40,
    "WL": 110,
    "status": "violation",
    "codes": "PS",
    "reasons": [
      "Exceed (Power, Drive, Fuel)",
      "loiter_stall_margin",
      "mission_flag",
      "wingborne_stall_margin"
    ],
    "run": "te-dlwl-20261021-piston-d40-w110"
  },
  {
    "plot": "Piston tiltrotor",
    "DL": 40,
    "WL": 135,
    "status": "violation",
    "codes": "PS",
    "reasons": [
      "Exceed (Power, Drive, Fuel)",
      "loiter_stall_margin",
      "mission_flag",
      "wingborne_stall_margin"
    ],
    "run": "te-dlwl-20261021-piston-d40-w135"
  },
  {
    "plot": "Piston tiltrotor",
    "DL": 40,
    "WL": 160,
    "status": "unresolved",
    "codes": "NOPS",
    "reasons": [
      "Exceed (Power, Drive, Fuel)",
      "iteration_failure",
      "mission_flag",
      "wingborne_stall_margin",
      "native convergence not established",
      "loading mismatch"
    ],
    "run": "te-dlwl-20261021-piston-d40-w160"
  },
  {
    "plot": "Piston tiltrotor",
    "DL": 40,
    "WL": 60,
    "status": "violation",
    "codes": "P",
    "reasons": [
      "Exceed (Power, Drive, Fuel)",
      "mission_flag"
    ],
    "run": "te-dlwl-20261021-piston-d40-w60"
  },
  {
    "plot": "Piston tiltrotor",
    "DL": 40,
    "WL": 85,
    "status": "violation",
    "codes": "P",
    "reasons": [
      "Exceed (Power, Drive, Fuel)",
      "mission_flag"
    ],
    "run": "te-dlwl-20261021-piston-d40-w85"
  },
  {
    "plot": "Piston tiltrotor",
    "DL": 55,
    "WL": 110,
    "status": "violation",
    "codes": "PS",
    "reasons": [
      "Exceed (Power, Drive, Fuel)",
      "loiter_stall_margin",
      "mission_flag",
      "wingborne_stall_margin"
    ],
    "run": "te-dlwl-20261021-piston-d55-w110"
  },
  {
    "plot": "Piston tiltrotor",
    "DL": 55,
    "WL": 135,
    "status": "violation",
    "codes": "PS",
    "reasons": [
      "Exceed (Power, Drive, Fuel)",
      "loiter_stall_margin",
      "mission_flag",
      "wingborne_stall_margin"
    ],
    "run": "te-dlwl-20261021-piston-d55-w135"
  },
  {
    "plot": "Piston tiltrotor",
    "DL": 55,
    "WL": 160,
    "status": "unresolved",
    "codes": "NOPS",
    "reasons": [
      "Exceed (Power, Drive, Fuel)",
      "iteration_failure",
      "mission_flag",
      "wingborne_stall_margin",
      "native convergence not established",
      "loading mismatch"
    ],
    "run": "te-dlwl-20261021-piston-d55-w160"
  },
  {
    "plot": "Piston tiltrotor",
    "DL": 55,
    "WL": 60,
    "status": "unresolved",
    "codes": "NP",
    "reasons": [
      "Exceed (Power, Drive, Fuel)",
      "iteration_failure",
      "mission_flag"
    ],
    "run": "te-dlwl-20261021-piston-d55-w60"
  },
  {
    "plot": "Piston tiltrotor",
    "DL": 55,
    "WL": 85,
    "status": "violation",
    "codes": "P",
    "reasons": [
      "Exceed (Power, Drive, Fuel)",
      "mission_flag"
    ],
    "run": "te-dlwl-20261021-piston-d55-w85"
  },
  {
    "plot": "Piston tiltrotor",
    "DL": 70,
    "WL": 110,
    "status": "violation",
    "codes": "PS",
    "reasons": [
      "Exceed (Power, Drive, Fuel)",
      "loiter_stall_margin",
      "mission_flag",
      "wingborne_stall_margin"
    ],
    "run": "te-dlwl-20261021-piston-d70-w110"
  },
  {
    "plot": "Piston tiltrotor",
    "DL": 70,
    "WL": 135,
    "status": "violation",
    "codes": "PS",
    "reasons": [
      "Exceed (Power, Drive, Fuel)",
      "loiter_stall_margin",
      "mission_flag",
      "wingborne_stall_margin"
    ],
    "run": "te-dlwl-20261021-piston-d70-w135"
  },
  {
    "plot": "Piston tiltrotor",
    "DL": 70,
    "WL": 160,
    "status": "unresolved",
    "codes": "NOPS",
    "reasons": [
      "Exceed (Power, Drive, Fuel)",
      "iteration_failure",
      "mission_flag",
      "wingborne_stall_margin",
      "native convergence not established",
      "loading mismatch"
    ],
    "run": "te-dlwl-20261021-piston-d70-w160"
  },
  {
    "plot": "Piston tiltrotor",
    "DL": 70,
    "WL": 60,
    "status": "violation",
    "codes": "P",
    "reasons": [
      "Exceed (Power, Drive, Fuel)",
      "mission_flag"
    ],
    "run": "te-dlwl-20261021-piston-d70-w60"
  },
  {
    "plot": "Piston tiltrotor",
    "DL": 70,
    "WL": 85,
    "status": "violation",
    "codes": "P",
    "reasons": [
      "Exceed (Power, Drive, Fuel)",
      "mission_flag"
    ],
    "run": "te-dlwl-20261021-piston-d70-w85"
  },
  {
    "plot": "Turboelectric tiltrotor",
    "DL": 10,
    "WL": 75,
    "status": "pass",
    "codes": "O",
    "reasons": [],
    "run": "te-dlwl-20261021-central-d10-w75"
  },
  {
    "plot": "Turboelectric tiltrotor",
    "DL": 10,
    "WL": 85,
    "status": "violation",
    "codes": "G",
    "reasons": [
      "rotor_clearance"
    ],
    "run": "te-dlwl-20261021-central-d10-w85"
  },
  {
    "plot": "Turboelectric tiltrotor",
    "DL": 10,
    "WL": 95,
    "status": "violation",
    "codes": "GS",
    "reasons": [
      "loiter_stall_margin",
      "rotor_clearance",
      "wingborne_stall_margin"
    ],
    "run": "te-dlwl-20261021-central-d10-w95"
  },
  {
    "plot": "Turboelectric tiltrotor",
    "DL": 12,
    "WL": 75,
    "status": "pass",
    "codes": "O",
    "reasons": [],
    "run": "te-dlwl-20261021-central-d12-w75"
  },
  {
    "plot": "Turboelectric tiltrotor",
    "DL": 12,
    "WL": 85,
    "status": "pass",
    "codes": "O",
    "reasons": [],
    "run": "te-dlwl-20261021-central-d12-w85"
  },
  {
    "plot": "Turboelectric tiltrotor",
    "DL": 12,
    "WL": 95,
    "status": "violation",
    "codes": "GS",
    "reasons": [
      "loiter_stall_margin",
      "rotor_clearance",
      "wingborne_stall_margin"
    ],
    "run": "te-dlwl-20261021-central-d12-w95"
  },
  {
    "plot": "Turboelectric tiltrotor",
    "DL": 15,
    "WL": 110,
    "status": "violation",
    "codes": "GS",
    "reasons": [
      "loiter_stall_margin",
      "rotor_clearance",
      "wingborne_stall_margin"
    ],
    "run": "te-dlwl-20261021-central-d15-w110"
  },
  {
    "plot": "Turboelectric tiltrotor",
    "DL": 15,
    "WL": 135,
    "status": "violation",
    "codes": "GS",
    "reasons": [
      "loiter_stall_margin",
      "rotor_clearance",
      "wingborne_stall_margin"
    ],
    "run": "te-dlwl-20261021-central-d15-w135"
  },
  {
    "plot": "Turboelectric tiltrotor",
    "DL": 15,
    "WL": 160,
    "status": "violation",
    "codes": "GPS",
    "reasons": [
      "Exceed (Power, Drive, Fuel)",
      "rotor_clearance",
      "wingborne_stall_margin"
    ],
    "run": "te-dlwl-20261021-central-d15-w160"
  },
  {
    "plot": "Turboelectric tiltrotor",
    "DL": 15,
    "WL": 60,
    "status": "pass",
    "codes": "O",
    "reasons": [],
    "run": "te-dlwl-20261021-central-d15-w60"
  },
  {
    "plot": "Turboelectric tiltrotor",
    "DL": 15,
    "WL": 85,
    "status": "unresolved",
    "codes": "NP",
    "reasons": [
      "iteration_failure",
      "mission_flag"
    ],
    "run": "te-dlwl-20261021-central-d15-w85"
  },
  {
    "plot": "Turboelectric tiltrotor",
    "DL": 18,
    "WL": 75,
    "status": "pass",
    "codes": "O",
    "reasons": [],
    "run": "te-dlwl-20261021-central-d18-w75"
  },
  {
    "plot": "Turboelectric tiltrotor",
    "DL": 18,
    "WL": 85,
    "status": "pass",
    "codes": "O",
    "reasons": [],
    "run": "te-dlwl-20261021-central-d18-w85"
  },
  {
    "plot": "Turboelectric tiltrotor",
    "DL": 18,
    "WL": 90,
    "status": "pass",
    "codes": "O",
    "reasons": [],
    "run": "te-dlwl-20261021-central-d18-w90"
  },
  {
    "plot": "Turboelectric tiltrotor",
    "DL": 18,
    "WL": 95,
    "status": "violation",
    "codes": "S",
    "reasons": [
      "loiter_stall_margin",
      "wingborne_stall_margin"
    ],
    "run": "te-dlwl-20261021-central-d18-w95"
  },
  {
    "plot": "Turboelectric tiltrotor",
    "DL": 20,
    "WL": 85,
    "status": "pass",
    "codes": "O",
    "reasons": [],
    "run": "te-dlwl-20261021-central-d20-w85"
  },
  {
    "plot": "Turboelectric tiltrotor",
    "DL": 20,
    "WL": 90,
    "status": "pass",
    "codes": "O",
    "reasons": [],
    "run": "te-dlwl-20261021-central-d20-w90"
  },
  {
    "plot": "Turboelectric tiltrotor",
    "DL": 22,
    "WL": 110,
    "status": "violation",
    "codes": "S",
    "reasons": [
      "loiter_stall_margin",
      "wingborne_stall_margin"
    ],
    "run": "te-dlwl-20261021-central-d22-w110"
  },
  {
    "plot": "Turboelectric tiltrotor",
    "DL": 22,
    "WL": 135,
    "status": "violation",
    "codes": "S",
    "reasons": [
      "loiter_stall_margin",
      "wingborne_stall_margin"
    ],
    "run": "te-dlwl-20261021-central-d22-w135"
  },
  {
    "plot": "Turboelectric tiltrotor",
    "DL": 22,
    "WL": 160,
    "status": "violation",
    "codes": "GPS",
    "reasons": [
      "Exceed (Power, Drive, Fuel)",
      "rotor_clearance",
      "wingborne_stall_margin"
    ],
    "run": "te-dlwl-20261021-central-d22-w160"
  },
  {
    "plot": "Turboelectric tiltrotor",
    "DL": 22,
    "WL": 60,
    "status": "pass",
    "codes": "O",
    "reasons": [],
    "run": "te-dlwl-20261021-central-d22-w60"
  },
  {
    "plot": "Turboelectric tiltrotor",
    "DL": 22,
    "WL": 85,
    "status": "pass",
    "codes": "O",
    "reasons": [],
    "run": "te-dlwl-20261021-central-d22-w85"
  },
  {
    "plot": "Turboelectric tiltrotor",
    "DL": 30,
    "WL": 110,
    "status": "violation",
    "codes": "S",
    "reasons": [
      "loiter_stall_margin",
      "wingborne_stall_margin"
    ],
    "run": "te-dlwl-20261021-central-d30-w110"
  },
  {
    "plot": "Turboelectric tiltrotor",
    "DL": 30,
    "WL": 135,
    "status": "violation",
    "codes": "S",
    "reasons": [
      "loiter_stall_margin",
      "wingborne_stall_margin"
    ],
    "run": "te-dlwl-20261021-central-d30-w135"
  },
  {
    "plot": "Turboelectric tiltrotor",
    "DL": 30,
    "WL": 160,
    "status": "violation",
    "codes": "PS",
    "reasons": [
      "Exceed (Power, Drive, Fuel)",
      "wingborne_stall_margin"
    ],
    "run": "te-dlwl-20261021-central-d30-w160"
  },
  {
    "plot": "Turboelectric tiltrotor",
    "DL": 30,
    "WL": 60,
    "status": "violation",
    "codes": "P",
    "reasons": [
      "Exceed (Power, Drive, Fuel)",
      "mission_flag"
    ],
    "run": "te-dlwl-20261021-central-d30-w60"
  },
  {
    "plot": "Turboelectric tiltrotor",
    "DL": 30,
    "WL": 85,
    "status": "pass",
    "codes": "O",
    "reasons": [],
    "run": "te-dlwl-20261021-central-d30-w85"
  },
  {
    "plot": "Turboelectric tiltrotor",
    "DL": 40,
    "WL": 110,
    "status": "violation",
    "codes": "S",
    "reasons": [
      "loiter_stall_margin",
      "wingborne_stall_margin"
    ],
    "run": "te-dlwl-20261021-central-d40-w110"
  },
  {
    "plot": "Turboelectric tiltrotor",
    "DL": 40,
    "WL": 135,
    "status": "violation",
    "codes": "S",
    "reasons": [
      "loiter_stall_margin",
      "wingborne_stall_margin"
    ],
    "run": "te-dlwl-20261021-central-d40-w135"
  },
  {
    "plot": "Turboelectric tiltrotor",
    "DL": 40,
    "WL": 160,
    "status": "violation",
    "codes": "PS",
    "reasons": [
      "Exceed (Power, Drive, Fuel)",
      "mission_flag",
      "wingborne_stall_margin"
    ],
    "run": "te-dlwl-20261021-central-d40-w160"
  },
  {
    "plot": "Turboelectric tiltrotor",
    "DL": 40,
    "WL": 60,
    "status": "violation",
    "codes": "P",
    "reasons": [
      "Exceed (Power, Drive, Fuel)",
      "mission_flag"
    ],
    "run": "te-dlwl-20261021-central-d40-w60"
  },
  {
    "plot": "Turboelectric tiltrotor",
    "DL": 40,
    "WL": 85,
    "status": "violation",
    "codes": "P",
    "reasons": [
      "Exceed (Power, Drive, Fuel)",
      "mission_flag"
    ],
    "run": "te-dlwl-20261021-central-d40-w85"
  },
  {
    "plot": "Turboelectric tiltrotor",
    "DL": 55,
    "WL": 110,
    "status": "violation",
    "codes": "PS",
    "reasons": [
      "Exceed (Power, Drive, Fuel)",
      "loiter_stall_margin",
      "mission_flag",
      "wingborne_stall_margin"
    ],
    "run": "te-dlwl-20261021-central-d55-w110"
  },
  {
    "plot": "Turboelectric tiltrotor",
    "DL": 55,
    "WL": 135,
    "status": "violation",
    "codes": "PS",
    "reasons": [
      "Exceed (Power, Drive, Fuel)",
      "loiter_stall_margin",
      "mission_flag",
      "wingborne_stall_margin"
    ],
    "run": "te-dlwl-20261021-central-d55-w135"
  },
  {
    "plot": "Turboelectric tiltrotor",
    "DL": 55,
    "WL": 160,
    "status": "unresolved",
    "codes": "NOPS",
    "reasons": [
      "Exceed (Power, Drive, Fuel)",
      "iteration_failure",
      "mission_flag",
      "wingborne_stall_margin",
      "native convergence not established",
      "loading mismatch"
    ],
    "run": "te-dlwl-20261021-central-d55-w160"
  },
  {
    "plot": "Turboelectric tiltrotor",
    "DL": 55,
    "WL": 60,
    "status": "violation",
    "codes": "P",
    "reasons": [
      "Exceed (Power, Drive, Fuel)",
      "mission_flag"
    ],
    "run": "te-dlwl-20261021-central-d55-w60"
  },
  {
    "plot": "Turboelectric tiltrotor",
    "DL": 55,
    "WL": 85,
    "status": "violation",
    "codes": "P",
    "reasons": [
      "Exceed (Power, Drive, Fuel)",
      "mission_flag"
    ],
    "run": "te-dlwl-20261021-central-d55-w85"
  },
  {
    "plot": "Turboelectric tiltrotor",
    "DL": 70,
    "WL": 110,
    "status": "violation",
    "codes": "PS",
    "reasons": [
      "Exceed (Power, Drive, Fuel)",
      "loiter_stall_margin",
      "mission_flag",
      "wingborne_stall_margin"
    ],
    "run": "te-dlwl-20261021-central-d70-w110"
  },
  {
    "plot": "Turboelectric tiltrotor",
    "DL": 70,
    "WL": 135,
    "status": "violation",
    "codes": "PS",
    "reasons": [
      "Exceed (Power, Drive, Fuel)",
      "loiter_stall_margin",
      "mission_flag",
      "wingborne_stall_margin"
    ],
    "run": "te-dlwl-20261021-central-d70-w135"
  },
  {
    "plot": "Turboelectric tiltrotor",
    "DL": 70,
    "WL": 160,
    "status": "unresolved",
    "codes": "NOPS",
    "reasons": [
      "Exceed (Power, Drive, Fuel)",
      "iteration_failure",
      "mission_flag",
      "wingborne_stall_margin",
      "native convergence not established",
      "loading mismatch"
    ],
    "run": "te-dlwl-20261021-central-d70-w160"
  },
  {
    "plot": "Turboelectric tiltrotor",
    "DL": 70,
    "WL": 60,
    "status": "unresolved",
    "codes": "NP",
    "reasons": [
      "Exceed (Power, Drive, Fuel)",
      "iteration_failure",
      "mission_flag"
    ],
    "run": "te-dlwl-20261021-central-d70-w60"
  },
  {
    "plot": "Turboelectric tiltrotor",
    "DL": 70,
    "WL": 85,
    "status": "violation",
    "codes": "P",
    "reasons": [
      "Exceed (Power, Drive, Fuel)",
      "mission_flag"
    ],
    "run": "te-dlwl-20261021-central-d70-w85"
  }
]</a:t>
            </a:r>
          </a:p>
          <a:p>
            <a:r>
              <a:rPr lang="en-US"/>
              <a:t>Reference key for Rev D: [R1] Silva et al., AIAA2018-3847, https://sacd.larc.nasa.gov/wp-content/uploads/sites/167/2022/02/Silva2018.pdf ; [R2] Radotich2022, local research/radotich/paper.txt and comparison.csv; [R5] Bowman2018, https://www1.grc.nasa.gov/wp-content/uploads/2018EATS-EAP-Transport-Studies-Bowman-6.2018-4984.pdf ; [R6] https://hirthengines.com/wp-content/uploads/2025-35-SERIES-3503.pdf ; [R7] https://rotronaero.com/products/rt600-xe ; [R8] https://www.turbotech-aero.com/solutions/ ; [R9] Johnson2022 NDARC Theory NASA/TP-20220000355Vol1; [R10] https://mgm-compro.com/electric-motor/reb-30-40-kw/ . [S1] research/baseline-weight-2026-10-27/sizing-component-audit.json; [S2] research/baseline-energy-2026-10-25; [S3] research/projects and research/radotich; [S4] research/tr60-vv-20261027; [S5] research/eagle-eye-threeway-2026-10-26; [S6] source/windows-cases5/weight_model.f90; [S7] output/vertical30-2026-10-28/comparison.json; [S8] research/rate-tuning-2026-10-21-RevA; [S9] research/current-trades-2026-10-21/results.json and output/turboelectric-dlwl-2026-10-21/results.json; [S10] research/presentation-speed-2026-10-26; [S11] research/nasa-retry-20261028/assessment.json. [U1] research/baseline-weight-2026-10-27/intake-rev2.json.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Evidence: runs/lpc-opt-common20-rate20261021-geometry-wc2-wd2-vc1.75-vd2-r0-seed394.962-warm-i3; runs/lpc-opt-common20-currenttrades20261021-lpc-d26-w97-common20-warm-i3; runs/te-dlwl-20261021-piston-d20-w90; runs/te-dlwl-20261021-central-d30-w85</a:t>
            </a:r>
          </a:p>
          <a:p>
            <a:r>
              <a:rPr lang="en-US"/>
              <a:t>Data extraction: scripts/presentation_story_20261026.py. Historical sizing figures plus four new logged L+C speed-probe executions (presentation-speed-20261026). Main pack model is an aggregate cell surrogate, not the user's two independent28S6P pack model. Baseline340kg nominal differs from earlier342.5kg accounting. All selected results remain conceptual.</a:t>
            </a:r>
          </a:p>
          <a:p>
            <a:r>
              <a:rPr lang="en-US"/>
              <a:t>Fuel remaining is native FuelTank2 output at segment boundaries. SOC is external model segment-end state. C-rate is peak cell current/4.85Ah, correcting the legacy5Ah display denominator. Terminal power=NDARCchemical battery power*converged battery efficiency. Latest retrofit violates native/stall/motor screens and is shown diagnostically only.</a:t>
            </a:r>
          </a:p>
          <a:p>
            <a:r>
              <a:rPr lang="en-US"/>
              <a:t>Rev D: corrected selected UAV designs use vertical30-20261028; files output/vertical30-2026-10-28/comparison.json and research/vertical30-20261028/results.json. Original template and comments retained. Historical grids, speed sweeps, lower-specific-energy cases and NASA benchmark missions are explicitly separate.</a:t>
            </a:r>
          </a:p>
          <a:p>
            <a:r>
              <a:rPr lang="en-US"/>
              <a:t>Reference key for Rev D: [R1] Silva et al., AIAA2018-3847, https://sacd.larc.nasa.gov/wp-content/uploads/sites/167/2022/02/Silva2018.pdf ; [R2] Radotich2022, local research/radotich/paper.txt and comparison.csv; [R5] Bowman2018, https://www1.grc.nasa.gov/wp-content/uploads/2018EATS-EAP-Transport-Studies-Bowman-6.2018-4984.pdf ; [R6] https://hirthengines.com/wp-content/uploads/2025-35-SERIES-3503.pdf ; [R7] https://rotronaero.com/products/rt600-xe ; [R8] https://www.turbotech-aero.com/solutions/ ; [R9] Johnson2022 NDARC Theory NASA/TP-20220000355Vol1; [R10] https://mgm-compro.com/electric-motor/reb-30-40-kw/ . [S1] research/baseline-weight-2026-10-27/sizing-component-audit.json; [S2] research/baseline-energy-2026-10-25; [S3] research/projects and research/radotich; [S4] research/tr60-vv-20261027; [S5] research/eagle-eye-threeway-2026-10-26; [S6] source/windows-cases5/weight_model.f90; [S7] output/vertical30-2026-10-28/comparison.json; [S8] research/rate-tuning-2026-10-21-RevA; [S9] research/current-trades-2026-10-21/results.json and output/turboelectric-dlwl-2026-10-21/results.json; [S10] research/presentation-speed-2026-10-26; [S11] research/nasa-retry-20261028/assessment.json. [U1] research/baseline-weight-2026-10-27/intake-rev2.json.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Evidence: runs/lpc-opt-common20-rate20261021-geometry-wc2-wd2-vc1.75-vd2-r0-seed394.962-warm-i3; runs/lpc-opt-common20-currenttrades20261021-lpc-d26-w97-common20-warm-i3; runs/te-dlwl-20261021-piston-d20-w90; runs/te-dlwl-20261021-central-d30-w85</a:t>
            </a:r>
          </a:p>
          <a:p>
            <a:r>
              <a:rPr lang="en-US"/>
              <a:t>Data extraction: scripts/presentation_story_20261026.py. Historical sizing figures plus four new logged L+C speed-probe executions (presentation-speed-20261026). Main pack model is an aggregate cell surrogate, not the user's two independent28S6P pack model. Baseline340kg nominal differs from earlier342.5kg accounting. All selected results remain conceptual.</a:t>
            </a:r>
          </a:p>
          <a:p>
            <a:r>
              <a:rPr lang="en-US"/>
              <a:t>Vs=sqrt(2W/(rho*S*CLmax)) under steady level wing-borne lift assumption. Displayed equivalent Vs calculated as V*sqrt(CL/CLmax) at160km/h native CL, rounded. Criterion was analyst-selected, not an NDARC certification rule. CLmax1.8 is inherited, not validated from measured airfoil/wing data. Stall speed changes with mass and density; these are TAS at3kmISA. It is a screening margin only; no gust,bank,control or flight validation implied. Source extension-data.json and scripts/presentation_extension_20261026.py. Source mission remains unchanged.</a:t>
            </a:r>
          </a:p>
          <a:p>
            <a:r>
              <a:rPr lang="en-US"/>
              <a:t>Rev D: corrected selected UAV designs use vertical30-20261028; files output/vertical30-2026-10-28/comparison.json and research/vertical30-20261028/results.json. Original template and comments retained. Historical grids, speed sweeps, lower-specific-energy cases and NASA benchmark missions are explicitly separate.</a:t>
            </a:r>
          </a:p>
          <a:p>
            <a:r>
              <a:rPr lang="en-US"/>
              <a:t>Reference key for Rev D: [R1] Silva et al., AIAA2018-3847, https://sacd.larc.nasa.gov/wp-content/uploads/sites/167/2022/02/Silva2018.pdf ; [R2] Radotich2022, local research/radotich/paper.txt and comparison.csv; [R5] Bowman2018, https://www1.grc.nasa.gov/wp-content/uploads/2018EATS-EAP-Transport-Studies-Bowman-6.2018-4984.pdf ; [R6] https://hirthengines.com/wp-content/uploads/2025-35-SERIES-3503.pdf ; [R7] https://rotronaero.com/products/rt600-xe ; [R8] https://www.turbotech-aero.com/solutions/ ; [R9] Johnson2022 NDARC Theory NASA/TP-20220000355Vol1; [R10] https://mgm-compro.com/electric-motor/reb-30-40-kw/ . [S1] research/baseline-weight-2026-10-27/sizing-component-audit.json; [S2] research/baseline-energy-2026-10-25; [S3] research/projects and research/radotich; [S4] research/tr60-vv-20261027; [S5] research/eagle-eye-threeway-2026-10-26; [S6] source/windows-cases5/weight_model.f90; [S7] output/vertical30-2026-10-28/comparison.json; [S8] research/rate-tuning-2026-10-21-RevA; [S9] research/current-trades-2026-10-21/results.json and output/turboelectric-dlwl-2026-10-21/results.json; [S10] research/presentation-speed-2026-10-26; [S11] research/nasa-retry-20261028/assessment.json. [U1] research/baseline-weight-2026-10-27/intake-rev2.json.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Evidence: runs/lpc-opt-common20-rate20261021-geometry-wc2-wd2-vc1.75-vd2-r0-seed394.962-warm-i3; runs/lpc-opt-common20-currenttrades20261021-lpc-d26-w97-common20-warm-i3; runs/te-dlwl-20261021-piston-d20-w90; runs/te-dlwl-20261021-central-d30-w85</a:t>
            </a:r>
          </a:p>
          <a:p>
            <a:r>
              <a:rPr lang="en-US"/>
              <a:t>Data extraction: scripts/presentation_story_20261026.py. Historical sizing figures plus four new logged L+C speed-probe executions (presentation-speed-20261026). Main pack model is an aggregate cell surrogate, not the user's two independent28S6P pack model. Baseline340kg nominal differs from earlier342.5kg accounting. All selected results remain conceptual.</a:t>
            </a:r>
          </a:p>
          <a:p>
            <a:r>
              <a:rPr lang="en-US"/>
              <a:t>All values from deck-data.json and extension-data.json. Battery results use external surrogate, not actual pack qualification. Cruise limit34kW is inherited installed piston drive limit. Source overall rejection status is not erased by successful new cruise conditions. In mission, mass falls; DGW speed screening is conservative relative to lighter late-mission flight but does not establish complete feasibility.</a:t>
            </a:r>
          </a:p>
          <a:p>
            <a:r>
              <a:rPr lang="en-US"/>
              <a:t>Rev D: corrected selected UAV designs use vertical30-20261028; files output/vertical30-2026-10-28/comparison.json and research/vertical30-20261028/results.json. Original template and comments retained. Historical grids, speed sweeps, lower-specific-energy cases and NASA benchmark missions are explicitly separate.</a:t>
            </a:r>
          </a:p>
          <a:p>
            <a:r>
              <a:rPr lang="en-US"/>
              <a:t>Reference key for Rev D: [R1] Silva et al., AIAA2018-3847, https://sacd.larc.nasa.gov/wp-content/uploads/sites/167/2022/02/Silva2018.pdf ; [R2] Radotich2022, local research/radotich/paper.txt and comparison.csv; [R5] Bowman2018, https://www1.grc.nasa.gov/wp-content/uploads/2018EATS-EAP-Transport-Studies-Bowman-6.2018-4984.pdf ; [R6] https://hirthengines.com/wp-content/uploads/2025-35-SERIES-3503.pdf ; [R7] https://rotronaero.com/products/rt600-xe ; [R8] https://www.turbotech-aero.com/solutions/ ; [R9] Johnson2022 NDARC Theory NASA/TP-20220000355Vol1; [R10] https://mgm-compro.com/electric-motor/reb-30-40-kw/ . [S1] research/baseline-weight-2026-10-27/sizing-component-audit.json; [S2] research/baseline-energy-2026-10-25; [S3] research/projects and research/radotich; [S4] research/tr60-vv-20261027; [S5] research/eagle-eye-threeway-2026-10-26; [S6] source/windows-cases5/weight_model.f90; [S7] output/vertical30-2026-10-28/comparison.json; [S8] research/rate-tuning-2026-10-21-RevA; [S9] research/current-trades-2026-10-21/results.json and output/turboelectric-dlwl-2026-10-21/results.json; [S10] research/presentation-speed-2026-10-26; [S11] research/nasa-retry-20261028/assessment.json. [U1] research/baseline-weight-2026-10-27/intake-rev2.json.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https://mgm-compro.com/electric-motor/reb-30-40-kw/ ; supplier published range1500–4000rpm and150Nm must be matched to exact winding, bus voltage, cooling and duty. Q=P/omega; rpm=60Vtip/(pi D). Higher permissible tip Mach alone does not change the scheduled RPM. No0.6/0.7Mach resizing is claimed. Gearbox allocation is empirical, not supplier mass. Need power/torque/duty, ratio, splitting, tilt-nacelle articulation, lubrication, cooling, counterrotation and torsional data.</a:t>
            </a:r>
          </a:p>
          <a:p>
            <a:r>
              <a:rPr lang="en-US"/>
              <a:t>Reference key for Rev D: [R1] Silva et al., AIAA2018-3847, https://sacd.larc.nasa.gov/wp-content/uploads/sites/167/2022/02/Silva2018.pdf ; [R2] Radotich2022, local research/radotich/paper.txt and comparison.csv; [R5] Bowman2018, https://www1.grc.nasa.gov/wp-content/uploads/2018EATS-EAP-Transport-Studies-Bowman-6.2018-4984.pdf ; [R6] https://hirthengines.com/wp-content/uploads/2025-35-SERIES-3503.pdf ; [R7] https://rotronaero.com/products/rt600-xe ; [R8] https://www.turbotech-aero.com/solutions/ ; [R9] Johnson2022 NDARC Theory NASA/TP-20220000355Vol1; [R10] https://mgm-compro.com/electric-motor/reb-30-40-kw/ . [S1] research/baseline-weight-2026-10-27/sizing-component-audit.json; [S2] research/baseline-energy-2026-10-25; [S3] research/projects and research/radotich; [S4] research/tr60-vv-20261027; [S5] research/eagle-eye-threeway-2026-10-26; [S6] source/windows-cases5/weight_model.f90; [S7] output/vertical30-2026-10-28/comparison.json; [S8] research/rate-tuning-2026-10-21-RevA; [S9] research/current-trades-2026-10-21/results.json and output/turboelectric-dlwl-2026-10-21/results.json; [S10] research/presentation-speed-2026-10-26; [S11] research/nasa-retry-20261028/assessment.json. [U1] research/baseline-weight-2026-10-27/intake-rev2.json.</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406969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Evidence: runs/lpc-opt-common20-rate20261021-geometry-wc2-wd2-vc1.75-vd2-r0-seed394.962-warm-i3; runs/lpc-opt-common20-currenttrades20261021-lpc-d26-w97-common20-warm-i3; runs/te-dlwl-20261021-piston-d20-w90; runs/te-dlwl-20261021-central-d30-w85</a:t>
            </a:r>
          </a:p>
          <a:p>
            <a:r>
              <a:rPr lang="en-US"/>
              <a:t>Data extraction: scripts/presentation_story_20261026.py. Historical sizing figures plus four new logged L+C speed-probe executions (presentation-speed-20261026). Main pack model is an aggregate cell surrogate, not the user's two independent28S6P pack model. Baseline340kg nominal differs from earlier342.5kg accounting. All selected results remain conceptual.</a:t>
            </a:r>
          </a:p>
          <a:p>
            <a:r>
              <a:rPr lang="en-US"/>
              <a:t>Piston fixed51.67kW; turbine75kW nominal25kg bare; central electrical35kg total12kg combined tip mass,86%shaft-to-rotor efficiency. Same170m/s tip speed both modes. Main battery sensitivity does not change these two no-propulsion-battery cases.</a:t>
            </a:r>
          </a:p>
          <a:p>
            <a:r>
              <a:rPr lang="en-US"/>
              <a:t>Rev D: corrected selected UAV designs use vertical30-20261028; files output/vertical30-2026-10-28/comparison.json and research/vertical30-20261028/results.json. Original template and comments retained. Historical grids, speed sweeps, lower-specific-energy cases and NASA benchmark missions are explicitly separate.
Point-by-point map reasons: [
  {
    "plot": "Historical 17 s grid; selected clean-sheet design resized at 30 s",
    "DL": 15.0,
    "WL": 110.0,
    "status": "violation",
    "codes": "GMPS",
    "reasons": [
      "solver/NDARC flags",
      "stall margin",
      "20% motor maximum-torque margin",
      "longitudinal/pusher clearance",
      "engine shaft power"
    ],
    "run": "lpc-opt-currenttrades20261021-lpc-d15-w110-i4"
  },
  {
    "plot": "Historical 17 s grid; selected clean-sheet design resized at 30 s",
    "DL": 15.0,
    "WL": 135.0,
    "status": "unresolved",
    "codes": "N",
    "reasons": [],
    "run": "lpc-opt-currenttrades20261021-lpc-d15-w135-i0"
  },
  {
    "plot": "Historical 17 s grid; selected clean-sheet design resized at 30 s",
    "DL": 15.0,
    "WL": 160.0,
    "status": "unresolved",
    "codes": "N",
    "reasons": [],
    "run": "lpc-opt-currenttrades20261021-lpc-d15-w160-i0"
  },
  {
    "plot": "Historical 17 s grid; selected clean-sheet design resized at 30 s",
    "DL": 15.0,
    "WL": 60.0,
    "status": "unresolved",
    "codes": "N",
    "reasons": [],
    "run": "lpc-opt-currenttrades20261021-lpc-d15-w60-i0"
  },
  {
    "plot": "Historical 17 s grid; selected clean-sheet design resized at 30 s",
    "DL": 15.0,
    "WL": 85.0,
    "status": "violation",
    "codes": "GMP",
    "reasons": [
      "solver/NDARC flags",
      "20% motor maximum-torque margin",
      "longitudinal/pusher clearance",
      "engine shaft power"
    ],
    "run": "lpc-opt-currenttrades20261021-lpc-d15-w85-i5"
  },
  {
    "plot": "Historical 17 s grid; selected clean-sheet design resized at 30 s",
    "DL": 22.0,
    "WL": 110.0,
    "status": "violation",
    "codes": "S",
    "reasons": [
      "stall margin"
    ],
    "run": "lpc-opt-currenttrades20261021-lpc-d22-w110-i5"
  },
  {
    "plot": "Historical 17 s grid; selected clean-sheet design resized at 30 s",
    "DL": 22.0,
    "WL": 135.0,
    "status": "unresolved",
    "codes": "N",
    "reasons": [],
    "run": "lpc-opt-currenttrades20261021-lpc-d22-w135-i0"
  },
  {
    "plot": "Historical 17 s grid; selected clean-sheet design resized at 30 s",
    "DL": 22.0,
    "WL": 160.0,
    "status": "unresolved",
    "codes": "N",
    "reasons": [],
    "run": "lpc-opt-currenttrades20261021-lpc-d22-w160-i0"
  },
  {
    "plot": "Historical 17 s grid; selected clean-sheet design resized at 30 s",
    "DL": 22.0,
    "WL": 60.0,
    "status": "violation",
    "codes": "MP",
    "reasons": [
      "solver/NDARC flags",
      "20% motor maximum-torque margin",
      "engine shaft power"
    ],
    "run": "lpc-opt-currenttrades20261021-lpc-d22-w60-i6"
  },
  {
    "plot": "Historical 17 s grid; selected clean-sheet design resized at 30 s",
    "DL": 22.0,
    "WL": 85.0,
    "status": "violation",
    "codes": "M",
    "reasons": [
      "20% motor maximum-torque margin"
    ],
    "run": "lpc-opt-currenttrades20261021-lpc-d22-w85-i5"
  },
  {
    "plot": "Historical 17 s grid; selected clean-sheet design resized at 30 s",
    "DL": 24,
    "WL": 95,
    "status": "pass",
    "codes": "O",
    "reasons": [],
    "run": "lpc-opt-currenttrades20261021-lpc-d24-w95-i6"
  },
  {
    "plot": "Historical 17 s grid; selected clean-sheet design resized at 30 s",
    "DL": 26.0,
    "WL": 75.0,
    "status": "pass",
    "codes": "O",
    "reasons": [],
    "run": "lpc-opt-currenttrades20261021-lpc-d26-w75-i6"
  },
  {
    "plot": "Historical 17 s grid; selected clean-sheet design resized at 30 s",
    "DL": 26,
    "WL": 90,
    "status": "pass",
    "codes": "O",
    "reasons": [],
    "run": "lpc-opt-currenttrades20261021-lpc-d26-w90-retry-i6"
  },
  {
    "plot": "Historical 17 s grid; selected clean-sheet design resized at 30 s",
    "DL": 26,
    "WL": 95,
    "status": "pass",
    "codes": "O",
    "reasons": [],
    "run": "lpc-opt-currenttrades20261021-lpc-d26-w95-i6"
  },
  {
    "plot": "Historical 17 s grid; selected clean-sheet design resized at 30 s",
    "DL": 26,
    "WL": 97,
    "status": "pass",
    "codes": "O",
    "reasons": [],
    "run": "lpc-opt-currenttrades20261021-lpc-d26-w97-i6"
  },
  {
    "plot": "Historical 17 s grid; selected clean-sheet design resized at 30 s",
    "DL": 28,
    "WL": 95,
    "status": "pass",
    "codes": "O",
    "reasons": [],
    "run": "lpc-opt-currenttrades20261021-lpc-d28-w95-i5"
  },
  {
    "plot": "Historical 17 s grid; selected clean-sheet design resized at 30 s",
    "DL": 30.0,
    "WL": 110.0,
    "status": "violation",
    "codes": "S",
    "reasons": [
      "stall margin"
    ],
    "run": "lpc-opt-currenttrades20261021-lpc-d30-w110-i6"
  },
  {
    "plot": "Historical 17 s grid; selected clean-sheet design resized at 30 s",
    "DL": 30.0,
    "WL": 135.0,
    "status": "unresolved",
    "codes": "N",
    "reasons": [],
    "run": "lpc-opt-currenttrades20261021-lpc-d30-w135-i0"
  },
  {
    "plot": "Historical 17 s grid; selected clean-sheet design resized at 30 s",
    "DL": 30.0,
    "WL": 160.0,
    "status": "unresolved",
    "codes": "N",
    "reasons": [],
    "run": "lpc-opt-currenttrades20261021-lpc-d30-w160-i0"
  },
  {
    "plot": "Historical 17 s grid; selected clean-sheet design resized at 30 s",
    "DL": 30.0,
    "WL": 60.0,
    "status": "violation",
    "codes": "P",
    "reasons": [
      "solver/NDARC flags",
      "engine shaft power"
    ],
    "run": "lpc-opt-currenttrades20261021-lpc-d30-w60-i6"
  },
  {
    "plot": "Historical 17 s grid; selected clean-sheet design resized at 30 s",
    "DL": 30.0,
    "WL": 75.0,
    "status": "pass",
    "codes": "O",
    "reasons": [],
    "run": "lpc-opt-currenttrades20261021-lpc-d30-w75-i4"
  },
  {
    "plot": "Historical 17 s grid; selected clean-sheet design resized at 30 s",
    "DL": 30.0,
    "WL": 85.0,
    "status": "pass",
    "codes": "O",
    "reasons": [],
    "run": "lpc-opt-currenttrades20261021-lpc-d30-w85-i6"
  },
  {
    "plot": "Historical 17 s grid; selected clean-sheet design resized at 30 s",
    "DL": 30.0,
    "WL": 90.0,
    "status": "pass",
    "codes": "O",
    "reasons": [],
    "run": "lpc-opt-currenttrades20261021-lpc-d30-w90-i6"
  },
  {
    "plot": "Historical 17 s grid; selected clean-sheet design resized at 30 s",
    "DL": 30.0,
    "WL": 95.0,
    "status": "pass",
    "codes": "O",
    "reasons": [],
    "run": "lpc-opt-currenttrades20261021-lpc-d30-w95-i6"
  },
  {
    "plot": "Historical 17 s grid; selected clean-sheet design resized at 30 s",
    "DL": 30,
    "WL": 97,
    "status": "pass",
    "codes": "O",
    "reasons": [],
    "run": "lpc-opt-currenttrades20261021-lpc-d30-w97-i6"
  },
  {
    "plot": "Historical 17 s grid; selected clean-sheet design resized at 30 s",
    "DL": 34.0,
    "WL": 75.0,
    "status": "pass",
    "codes": "O",
    "reasons": [],
    "run": "lpc-opt-currenttrades20261021-lpc-d34-w75-i3"
  },
  {
    "plot": "Historical 17 s grid; selected clean-sheet design resized at 30 s",
    "DL": 34.0,
    "WL": 90.0,
    "status": "pass",
    "codes": "O",
    "reasons": [],
    "run": "lpc-opt-currenttrades20261021-lpc-d34-w90-i6"
  },
  {
    "plot": "Historical 17 s grid; selected clean-sheet design resized at 30 s",
    "DL": 34.0,
    "WL": 95.0,
    "status": "pass",
    "codes": "O",
    "reasons": [],
    "run": "lpc-opt-currenttrades20261021-lpc-d34-w95-i6"
  },
  {
    "plot": "Historical 17 s grid; selected clean-sheet design resized at 30 s",
    "DL": 40.0,
    "WL": 110.0,
    "status": "violation",
    "codes": "S",
    "reasons": [
      "stall margin"
    ],
    "run": "lpc-opt-currenttrades20261021-lpc-d40-w110-i4"
  },
  {
    "plot": "Historical 17 s grid; selected clean-sheet design resized at 30 s",
    "DL": 40.0,
    "WL": 135.0,
    "status": "unresolved",
    "codes": "N",
    "reasons": [],
    "run": "lpc-opt-currenttrades20261021-lpc-d40-w135-i0"
  },
  {
    "plot": "Historical 17 s grid; selected clean-sheet design resized at 30 s",
    "DL": 40.0,
    "WL": 160.0,
    "status": "unresolved",
    "codes": "N",
    "reasons": [],
    "run": "lpc-opt-currenttrades20261021-lpc-d40-w160-i0"
  },
  {
    "plot": "Historical 17 s grid; selected clean-sheet design resized at 30 s",
    "DL": 40.0,
    "WL": 60.0,
    "status": "violation",
    "codes": "P",
    "reasons": [
      "solver/NDARC flags",
      "engine shaft power"
    ],
    "run": "lpc-opt-currenttrades20261021-lpc-d40-w60-i5"
  },
  {
    "plot": "Historical 17 s grid; selected clean-sheet design resized at 30 s",
    "DL": 40.0,
    "WL": 85.0,
    "status": "unresolved",
    "codes": "NP",
    "reasons": [
      "solver/NDARC flags"
    ],
    "run": "lpc-opt-currenttrades20261021-lpc-d40-w85-i6"
  },
  {
    "plot": "Historical 17 s grid; selected clean-sheet design resized at 30 s",
    "DL": 48.453838230199246,
    "WL": 81.54761904761905,
    "status": "pass",
    "codes": "O",
    "reasons": [],
    "run": "lpc-opt-currenttrades20261021-lpc-d48.4538-w81.5476-i5"
  },
  {
    "plot": "Historical 17 s grid; selected clean-sheet design resized at 30 s",
    "DL": 55.0,
    "WL": 110.0,
    "status": "violation",
    "codes": "S",
    "reasons": [
      "stall margin"
    ],
    "run": "lpc-opt-currenttrades20261021-lpc-d55-w110-i5"
  },
  {
    "plot": "Historical 17 s grid; selected clean-sheet design resized at 30 s",
    "DL": 55.0,
    "WL": 135.0,
    "status": "unresolved",
    "codes": "N",
    "reasons": [],
    "run": "lpc-opt-currenttrades20261021-lpc-d55-w135-i0"
  },
  {
    "plot": "Historical 17 s grid; selected clean-sheet design resized at 30 s",
    "DL": 55.0,
    "WL": 160.0,
    "status": "unresolved",
    "codes": "N",
    "reasons": [],
    "run": "lpc-opt-currenttrades20261021-lpc-d55-w160-i0"
  },
  {
    "plot": "Historical 17 s grid; selected clean-sheet design resized at 30 s",
    "DL": 55.0,
    "WL": 60.0,
    "status": "violation",
    "codes": "MP",
    "reasons": [
      "solver/NDARC flags",
      "20% motor MCP margin",
      "engine shaft power"
    ],
    "run": "lpc-opt-currenttrades20261021-lpc-d55-w60-i8"
  },
  {
    "plot": "Historical 17 s grid; selected clean-sheet design resized at 30 s",
    "DL": 55.0,
    "WL": 85.0,
    "status": "pass",
    "codes": "O",
    "reasons": [],
    "run": "lpc-opt-currenttrades20261021-lpc-d55-w85-i6"
  },
  {
    "plot": "Historical 17 s grid; selected clean-sheet design resized at 30 s",
    "DL": 70.0,
    "WL": 110.0,
    "status": "violation",
    "codes": "MS",
    "reasons": [
      "stall margin",
      "20% motor MCP margin"
    ],
    "run": "lpc-opt-currenttrades20261021-lpc-d70-w110-i5"
  },
  {
    "plot": "Historical 17 s grid; selected clean-sheet design resized at 30 s",
    "DL": 70.0,
    "WL": 135.0,
    "status": "unresolved",
    "codes": "N",
    "reasons": [],
    "run": "lpc-opt-currenttrades20261021-lpc-d70-w135-i0"
  },
  {
    "plot": "Historical 17 s grid; selected clean-sheet design resized at 30 s",
    "DL": 70.0,
    "WL": 160.0,
    "status": "unresolved",
    "codes": "N",
    "reasons": [],
    "run": "lpc-opt-currenttrades20261021-lpc-d70-w160-i0"
  },
  {
    "plot": "Historical 17 s grid; selected clean-sheet design resized at 30 s",
    "DL": 70.0,
    "WL": 60.0,
    "status": "violation",
    "codes": "MP",
    "reasons": [
      "solver/NDARC flags",
      "20% motor MCP margin",
      "engine shaft power"
    ],
    "run": "lpc-opt-currenttrades20261021-lpc-d70-w60-i7"
  },
  {
    "plot": "Historical 17 s grid; selected clean-sheet design resized at 30 s",
    "DL": 70.0,
    "WL": 85.0,
    "status": "violation",
    "codes": "M",
    "reasons": [
      "20% motor MCP margin"
    ],
    "run": "lpc-opt-currenttrades20261021-lpc-d70-w85-i7"
  },
  {
    "plot": "Piston tiltrotor",
    "DL": 10,
    "WL": 75,
    "status": "violation",
    "codes": "P",
    "reasons": [
      "Exceed (Power, Drive, Fuel)"
    ],
    "run": "te-dlwl-20261021-piston-d10-w75"
  },
  {
    "plot": "Piston tiltrotor",
    "DL": 10,
    "WL": 85,
    "status": "violation",
    "codes": "G",
    "reasons": [
      "rotor_clearance"
    ],
    "run": "te-dlwl-20261021-piston-d10-w85"
  },
  {
    "plot": "Piston tiltrotor",
    "DL": 10,
    "WL": 95,
    "status": "violation",
    "codes": "GS",
    "reasons": [
      "loiter_stall_margin",
      "rotor_clearance",
      "wingborne_stall_margin"
    ],
    "run": "te-dlwl-20261021-piston-d10-w95"
  },
  {
    "plot": "Piston tiltrotor",
    "DL": 12,
    "WL": 75,
    "status": "pass",
    "codes": "O",
    "reasons": [],
    "run": "te-dlwl-20261021-piston-d12-w75"
  },
  {
    "plot": "Piston tiltrotor",
    "DL": 12,
    "WL": 85,
    "status": "pass",
    "codes": "O",
    "reasons": [],
    "run": "te-dlwl-20261021-piston-d12-w85"
  },
  {
    "plot": "Piston tiltrotor",
    "DL": 12,
    "WL": 95,
    "status": "violation",
    "codes": "GS",
    "reasons": [
      "loiter_stall_margin",
      "rotor_clearance",
      "wingborne_stall_margin"
    ],
    "run": "te-dlwl-20261021-piston-d12-w95"
  },
  {
    "plot": "Piston tiltrotor",
    "DL": 15,
    "WL": 110,
    "status": "violation",
    "codes": "GS",
    "reasons": [
      "loiter_stall_margin",
      "rotor_clearance",
      "wingborne_stall_margin"
    ],
    "run": "te-dlwl-20261021-piston-d15-w110"
  },
  {
    "plot": "Piston tiltrotor",
    "DL": 15,
    "WL": 135,
    "status": "violation",
    "codes": "GS",
    "reasons": [
      "loiter_stall_margin",
      "rotor_clearance",
      "wingborne_stall_margin"
    ],
    "run": "te-dlwl-20261021-piston-d15-w135"
  },
  {
    "plot": "Piston tiltrotor",
    "DL": 15,
    "WL": 160,
    "status": "violation",
    "codes": "GPS",
    "reasons": [
      "Exceed (Power, Drive, Fuel)",
      "mission_flag",
      "rotor_clearance",
      "wingborne_stall_margin"
    ],
    "run": "te-dlwl-20261021-piston-d15-w160"
  },
  {
    "plot": "Piston tiltrotor",
    "DL": 15,
    "WL": 60,
    "status": "violation",
    "codes": "P",
    "reasons": [
      "Exceed (Power, Drive, Fuel)",
      "mission_flag"
    ],
    "run": "te-dlwl-20261021-piston-d15-w60"
  },
  {
    "plot": "Piston tiltrotor",
    "DL": 15,
    "WL": 85,
    "status": "pass",
    "codes": "O",
    "reasons": [],
    "run": "te-dlwl-20261021-piston-d15-w85"
  },
  {
    "plot": "Piston tiltrotor",
    "DL": 18,
    "WL": 75,
    "status": "violation",
    "codes": "P",
    "reasons": [
      "Exceed (Power, Drive, Fuel)",
      "mission_flag"
    ],
    "run": "te-dlwl-20261021-piston-d18-w75"
  },
  {
    "plot": "Piston tiltrotor",
    "DL": 18,
    "WL": 85,
    "status": "pass",
    "codes": "O",
    "reasons": [],
    "run": "te-dlwl-20261021-piston-d18-w85"
  },
  {
    "plot": "Piston tiltrotor",
    "DL": 18,
    "WL": 90,
    "status": "pass",
    "codes": "O",
    "reasons": [],
    "run": "te-dlwl-20261021-piston-d18-w90"
  },
  {
    "plot": "Piston tiltrotor",
    "DL": 18,
    "WL": 95,
    "status": "violation",
    "codes": "S",
    "reasons": [
      "loiter_stall_margin",
      "wingborne_stall_margin"
    ],
    "run": "te-dlwl-20261021-piston-d18-w95"
  },
  {
    "plot": "Piston tiltrotor",
    "DL": 20,
    "WL": 85,
    "status": "violation",
    "codes": "P",
    "reasons": [
      "Exceed (Power, Drive, Fuel)",
      "mission_flag"
    ],
    "run": "te-dlwl-20261021-piston-d20-w85"
  },
  {
    "plot": "Piston tiltrotor",
    "DL": 20,
    "WL": 90,
    "status": "pass",
    "codes": "O",
    "reasons": [],
    "run": "te-dlwl-20261021-piston-d20-w90"
  },
  {
    "plot": "Piston tiltrotor",
    "DL": 22,
    "WL": 110,
    "status": "violation",
    "codes": "S",
    "reasons": [
      "loiter_stall_margin",
      "wingborne_stall_margin"
    ],
    "run": "te-dlwl-20261021-piston-d22-w110"
  },
  {
    "plot": "Piston tiltrotor",
    "DL": 22,
    "WL": 135,
    "status": "violation",
    "codes": "S",
    "reasons": [
      "loiter_stall_margin",
      "wingborne_stall_margin"
    ],
    "run": "te-dlwl-20261021-piston-d22-w135"
  },
  {
    "plot": "Piston tiltrotor",
    "DL": 22,
    "WL": 160,
    "status": "violation",
    "codes": "GPS",
    "reasons": [
      "Exceed (Power, Drive, Fuel)",
      "mission_flag",
      "rotor_clearance",
      "wingborne_stall_margin"
    ],
    "run": "te-dlwl-20261021-piston-d22-w160"
  },
  {
    "plot": "Piston tiltrotor",
    "DL": 22,
    "WL": 60,
    "status": "violation",
    "codes": "P",
    "reasons": [
      "Exceed (Power, Drive, Fuel)",
      "mission_flag"
    ],
    "run": "te-dlwl-20261021-piston-d22-w60"
  },
  {
    "plot": "Piston tiltrotor",
    "DL": 22,
    "WL": 85,
    "status": "violation",
    "codes": "P",
    "reasons": [
      "Exceed (Power, Drive, Fuel)",
      "mission_flag"
    ],
    "run": "te-dlwl-20261021-piston-d22-w85"
  },
  {
    "plot": "Piston tiltrotor",
    "DL": 30,
    "WL": 110,
    "status": "violation",
    "codes": "PS",
    "reasons": [
      "Exceed (Power, Drive, Fuel)",
      "loiter_stall_margin",
      "mission_flag",
      "wingborne_stall_margin"
    ],
    "run": "te-dlwl-20261021-piston-d30-w110"
  },
  {
    "plot": "Piston tiltrotor",
    "DL": 30,
    "WL": 135,
    "status": "violation",
    "codes": "PS",
    "reasons": [
      "Exceed (Power, Drive, Fuel)",
      "loiter_stall_margin",
      "mission_flag",
      "wingborne_stall_margin"
    ],
    "run": "te-dlwl-20261021-piston-d30-w135"
  },
  {
    "plot": "Piston tiltrotor",
    "DL": 30,
    "WL": 160,
    "status": "unresolved",
    "codes": "NOPS",
    "reasons": [
      "Exceed (Power, Drive, Fuel)",
      "iteration_failure",
      "mission_flag",
      "wingborne_stall_margin",
      "native convergence not established",
      "loading mismatch"
    ],
    "run": "te-dlwl-20261021-piston-d30-w160"
  },
  {
    "plot": "Piston tiltrotor",
    "DL": 30,
    "WL": 60,
    "status": "violation",
    "codes": "P",
    "reasons": [
      "Exceed (Power, Drive, Fuel)",
      "mission_flag"
    ],
    "run": "te-dlwl-20261021-piston-d30-w60"
  },
  {
    "plot": "Piston tiltrotor",
    "DL": 30,
    "WL": 85,
    "status": "violation",
    "codes": "P",
    "reasons": [
      "Exceed (Power, Drive, Fuel)",
      "mission_flag"
    ],
    "run": "te-dlwl-20261021-piston-d30-w85"
  },
  {
    "plot": "Piston tiltrotor",
    "DL": 40,
    "WL": 110,
    "status": "violation",
    "codes": "PS",
    "reasons": [
      "Exceed (Power, Drive, Fuel)",
      "loiter_stall_margin",
      "mission_flag",
      "wingborne_stall_margin"
    ],
    "run": "te-dlwl-20261021-piston-d40-w110"
  },
  {
    "plot": "Piston tiltrotor",
    "DL": 40,
    "WL": 135,
    "status": "violation",
    "codes": "PS",
    "reasons": [
      "Exceed (Power, Drive, Fuel)",
      "loiter_stall_margin",
      "mission_flag",
      "wingborne_stall_margin"
    ],
    "run": "te-dlwl-20261021-piston-d40-w135"
  },
  {
    "plot": "Piston tiltrotor",
    "DL": 40,
    "WL": 160,
    "status": "unresolved",
    "codes": "NOPS",
    "reasons": [
      "Exceed (Power, Drive, Fuel)",
      "iteration_failure",
      "mission_flag",
      "wingborne_stall_margin",
      "native convergence not established",
      "loading mismatch"
    ],
    "run": "te-dlwl-20261021-piston-d40-w160"
  },
  {
    "plot": "Piston tiltrotor",
    "DL": 40,
    "WL": 60,
    "status": "violation",
    "codes": "P",
    "reasons": [
      "Exceed (Power, Drive, Fuel)",
      "mission_flag"
    ],
    "run": "te-dlwl-20261021-piston-d40-w60"
  },
  {
    "plot": "Piston tiltrotor",
    "DL": 40,
    "WL": 85,
    "status": "violation",
    "codes": "P",
    "reasons": [
      "Exceed (Power, Drive, Fuel)",
      "mission_flag"
    ],
    "run": "te-dlwl-20261021-piston-d40-w85"
  },
  {
    "plot": "Piston tiltrotor",
    "DL": 55,
    "WL": 110,
    "status": "violation",
    "codes": "PS",
    "reasons": [
      "Exceed (Power, Drive, Fuel)",
      "loiter_stall_margin",
      "mission_flag",
      "wingborne_stall_margin"
    ],
    "run": "te-dlwl-20261021-piston-d55-w110"
  },
  {
    "plot": "Piston tiltrotor",
    "DL": 55,
    "WL": 135,
    "status": "violation",
    "codes": "PS",
    "reasons": [
      "Exceed (Power, Drive, Fuel)",
      "loiter_stall_margin",
      "mission_flag",
      "wingborne_stall_margin"
    ],
    "run": "te-dlwl-20261021-piston-d55-w135"
  },
  {
    "plot": "Piston tiltrotor",
    "DL": 55,
    "WL": 160,
    "status": "unresolved",
    "codes": "NOPS",
    "reasons": [
      "Exceed (Power, Drive, Fuel)",
      "iteration_failure",
      "mission_flag",
      "wingborne_stall_margin",
      "native convergence not established",
      "loading mismatch"
    ],
    "run": "te-dlwl-20261021-piston-d55-w160"
  },
  {
    "plot": "Piston tiltrotor",
    "DL": 55,
    "WL": 60,
    "status": "unresolved",
    "codes": "NP",
    "reasons": [
      "Exceed (Power, Drive, Fuel)",
      "iteration_failure",
      "mission_flag"
    ],
    "run": "te-dlwl-20261021-piston-d55-w60"
  },
  {
    "plot": "Piston tiltrotor",
    "DL": 55,
    "WL": 85,
    "status": "violation",
    "codes": "P",
    "reasons": [
      "Exceed (Power, Drive, Fuel)",
      "mission_flag"
    ],
    "run": "te-dlwl-20261021-piston-d55-w85"
  },
  {
    "plot": "Piston tiltrotor",
    "DL": 70,
    "WL": 110,
    "status": "violation",
    "codes": "PS",
    "reasons": [
      "Exceed (Power, Drive, Fuel)",
      "loiter_stall_margin",
      "mission_flag",
      "wingborne_stall_margin"
    ],
    "run": "te-dlwl-20261021-piston-d70-w110"
  },
  {
    "plot": "Piston tiltrotor",
    "DL": 70,
    "WL": 135,
    "status": "violation",
    "codes": "PS",
    "reasons": [
      "Exceed (Power, Drive, Fuel)",
      "loiter_stall_margin",
      "mission_flag",
      "wingborne_stall_margin"
    ],
    "run": "te-dlwl-20261021-piston-d70-w135"
  },
  {
    "plot": "Piston tiltrotor",
    "DL": 70,
    "WL": 160,
    "status": "unresolved",
    "codes": "NOPS",
    "reasons": [
      "Exceed (Power, Drive, Fuel)",
      "iteration_failure",
      "mission_flag",
      "wingborne_stall_margin",
      "native convergence not established",
      "loading mismatch"
    ],
    "run": "te-dlwl-20261021-piston-d70-w160"
  },
  {
    "plot": "Piston tiltrotor",
    "DL": 70,
    "WL": 60,
    "status": "violation",
    "codes": "P",
    "reasons": [
      "Exceed (Power, Drive, Fuel)",
      "mission_flag"
    ],
    "run": "te-dlwl-20261021-piston-d70-w60"
  },
  {
    "plot": "Piston tiltrotor",
    "DL": 70,
    "WL": 85,
    "status": "violation",
    "codes": "P",
    "reasons": [
      "Exceed (Power, Drive, Fuel)",
      "mission_flag"
    ],
    "run": "te-dlwl-20261021-piston-d70-w85"
  },
  {
    "plot": "Turboelectric tiltrotor",
    "DL": 10,
    "WL": 75,
    "status": "pass",
    "codes": "O",
    "reasons": [],
    "run": "te-dlwl-20261021-central-d10-w75"
  },
  {
    "plot": "Turboelectric tiltrotor",
    "DL": 10,
    "WL": 85,
    "status": "violation",
    "codes": "G",
    "reasons": [
      "rotor_clearance"
    ],
    "run": "te-dlwl-20261021-central-d10-w85"
  },
  {
    "plot": "Turboelectric tiltrotor",
    "DL": 10,
    "WL": 95,
    "status": "violation",
    "codes": "GS",
    "reasons": [
      "loiter_stall_margin",
      "rotor_clearance",
      "wingborne_stall_margin"
    ],
    "run": "te-dlwl-20261021-central-d10-w95"
  },
  {
    "plot": "Turboelectric tiltrotor",
    "DL": 12,
    "WL": 75,
    "status": "pass",
    "codes": "O",
    "reasons": [],
    "run": "te-dlwl-20261021-central-d12-w75"
  },
  {
    "plot": "Turboelectric tiltrotor",
    "DL": 12,
    "WL": 85,
    "status": "pass",
    "codes": "O",
    "reasons": [],
    "run": "te-dlwl-20261021-central-d12-w85"
  },
  {
    "plot": "Turboelectric tiltrotor",
    "DL": 12,
    "WL": 95,
    "status": "violation",
    "codes": "GS",
    "reasons": [
      "loiter_stall_margin",
      "rotor_clearance",
      "wingborne_stall_margin"
    ],
    "run": "te-dlwl-20261021-central-d12-w95"
  },
  {
    "plot": "Turboelectric tiltrotor",
    "DL": 15,
    "WL": 110,
    "status": "violation",
    "codes": "GS",
    "reasons": [
      "loiter_stall_margin",
      "rotor_clearance",
      "wingborne_stall_margin"
    ],
    "run": "te-dlwl-20261021-central-d15-w110"
  },
  {
    "plot": "Turboelectric tiltrotor",
    "DL": 15,
    "WL": 135,
    "status": "violation",
    "codes": "GS",
    "reasons": [
      "loiter_stall_margin",
      "rotor_clearance",
      "wingborne_stall_margin"
    ],
    "run": "te-dlwl-20261021-central-d15-w135"
  },
  {
    "plot": "Turboelectric tiltrotor",
    "DL": 15,
    "WL": 160,
    "status": "violation",
    "codes": "GPS",
    "reasons": [
      "Exceed (Power, Drive, Fuel)",
      "rotor_clearance",
      "wingborne_stall_margin"
    ],
    "run": "te-dlwl-20261021-central-d15-w160"
  },
  {
    "plot": "Turboelectric tiltrotor",
    "DL": 15,
    "WL": 60,
    "status": "pass",
    "codes": "O",
    "reasons": [],
    "run": "te-dlwl-20261021-central-d15-w60"
  },
  {
    "plot": "Turboelectric tiltrotor",
    "DL": 15,
    "WL": 85,
    "status": "unresolved",
    "codes": "NP",
    "reasons": [
      "iteration_failure",
      "mission_flag"
    ],
    "run": "te-dlwl-20261021-central-d15-w85"
  },
  {
    "plot": "Turboelectric tiltrotor",
    "DL": 18,
    "WL": 75,
    "status": "pass",
    "codes": "O",
    "reasons": [],
    "run": "te-dlwl-20261021-central-d18-w75"
  },
  {
    "plot": "Turboelectric tiltrotor",
    "DL": 18,
    "WL": 85,
    "status": "pass",
    "codes": "O",
    "reasons": [],
    "run": "te-dlwl-20261021-central-d18-w85"
  },
  {
    "plot": "Turboelectric tiltrotor",
    "DL": 18,
    "WL": 90,
    "status": "pass",
    "codes": "O",
    "reasons": [],
    "run": "te-dlwl-20261021-central-d18-w90"
  },
  {
    "plot": "Turboelectric tiltrotor",
    "DL": 18,
    "WL": 95,
    "status": "violation",
    "codes": "S",
    "reasons": [
      "loiter_stall_margin",
      "wingborne_stall_margin"
    ],
    "run": "te-dlwl-20261021-central-d18-w95"
  },
  {
    "plot": "Turboelectric tiltrotor",
    "DL": 20,
    "WL": 85,
    "status": "pass",
    "codes": "O",
    "reasons": [],
    "run": "te-dlwl-20261021-central-d20-w85"
  },
  {
    "plot": "Turboelectric tiltrotor",
    "DL": 20,
    "WL": 90,
    "status": "pass",
    "codes": "O",
    "reasons": [],
    "run": "te-dlwl-20261021-central-d20-w90"
  },
  {
    "plot": "Turboelectric tiltrotor",
    "DL": 22,
    "WL": 110,
    "status": "violation",
    "codes": "S",
    "reasons": [
      "loiter_stall_margin",
      "wingborne_stall_margin"
    ],
    "run": "te-dlwl-20261021-central-d22-w110"
  },
  {
    "plot": "Turboelectric tiltrotor",
    "DL": 22,
    "WL": 135,
    "status": "violation",
    "codes": "S",
    "reasons": [
      "loiter_stall_margin",
      "wingborne_stall_margin"
    ],
    "run": "te-dlwl-20261021-central-d22-w135"
  },
  {
    "plot": "Turboelectric tiltrotor",
    "DL": 22,
    "WL": 160,
    "status": "violation",
    "codes": "GPS",
    "reasons": [
      "Exceed (Power, Drive, Fuel)",
      "rotor_clearance",
      "wingborne_stall_margin"
    ],
    "run": "te-dlwl-20261021-central-d22-w160"
  },
  {
    "plot": "Turboelectric tiltrotor",
    "DL": 22,
    "WL": 60,
    "status": "pass",
    "codes": "O",
    "reasons": [],
    "run": "te-dlwl-20261021-central-d22-w60"
  },
  {
    "plot": "Turboelectric tiltrotor",
    "DL": 22,
    "WL": 85,
    "status": "pass",
    "codes": "O",
    "reasons": [],
    "run": "te-dlwl-20261021-central-d22-w85"
  },
  {
    "plot": "Turboelectric tiltrotor",
    "DL": 30,
    "WL": 110,
    "status": "violation",
    "codes": "S",
    "reasons": [
      "loiter_stall_margin",
      "wingborne_stall_margin"
    ],
    "run": "te-dlwl-20261021-central-d30-w110"
  },
  {
    "plot": "Turboelectric tiltrotor",
    "DL": 30,
    "WL": 135,
    "status": "violation",
    "codes": "S",
    "reasons": [
      "loiter_stall_margin",
      "wingborne_stall_margin"
    ],
    "run": "te-dlwl-20261021-central-d30-w135"
  },
  {
    "plot": "Turboelectric tiltrotor",
    "DL": 30,
    "WL": 160,
    "status": "violation",
    "codes": "PS",
    "reasons": [
      "Exceed (Power, Drive, Fuel)",
      "wingborne_stall_margin"
    ],
    "run": "te-dlwl-20261021-central-d30-w160"
  },
  {
    "plot": "Turboelectric tiltrotor",
    "DL": 30,
    "WL": 60,
    "status": "violation",
    "codes": "P",
    "reasons": [
      "Exceed (Power, Drive, Fuel)",
      "mission_flag"
    ],
    "run": "te-dlwl-20261021-central-d30-w60"
  },
  {
    "plot": "Turboelectric tiltrotor",
    "DL": 30,
    "WL": 85,
    "status": "pass",
    "codes": "O",
    "reasons": [],
    "run": "te-dlwl-20261021-central-d30-w85"
  },
  {
    "plot": "Turboelectric tiltrotor",
    "DL": 40,
    "WL": 110,
    "status": "violation",
    "codes": "S",
    "reasons": [
      "loiter_stall_margin",
      "wingborne_stall_margin"
    ],
    "run": "te-dlwl-20261021-central-d40-w110"
  },
  {
    "plot": "Turboelectric tiltrotor",
    "DL": 40,
    "WL": 135,
    "status": "violation",
    "codes": "S",
    "reasons": [
      "loiter_stall_margin",
      "wingborne_stall_margin"
    ],
    "run": "te-dlwl-20261021-central-d40-w135"
  },
  {
    "plot": "Turboelectric tiltrotor",
    "DL": 40,
    "WL": 160,
    "status": "violation",
    "codes": "PS",
    "reasons": [
      "Exceed (Power, Drive, Fuel)",
      "mission_flag",
      "wingborne_stall_margin"
    ],
    "run": "te-dlwl-20261021-central-d40-w160"
  },
  {
    "plot": "Turboelectric tiltrotor",
    "DL": 40,
    "WL": 60,
    "status": "violation",
    "codes": "P",
    "reasons": [
      "Exceed (Power, Drive, Fuel)",
      "mission_flag"
    ],
    "run": "te-dlwl-20261021-central-d40-w60"
  },
  {
    "plot": "Turboelectric tiltrotor",
    "DL": 40,
    "WL": 85,
    "status": "violation",
    "codes": "P",
    "reasons": [
      "Exceed (Power, Drive, Fuel)",
      "mission_flag"
    ],
    "run": "te-dlwl-20261021-central-d40-w85"
  },
  {
    "plot": "Turboelectric tiltrotor",
    "DL": 55,
    "WL": 110,
    "status": "violation",
    "codes": "PS",
    "reasons": [
      "Exceed (Power, Drive, Fuel)",
      "loiter_stall_margin",
      "mission_flag",
      "wingborne_stall_margin"
    ],
    "run": "te-dlwl-20261021-central-d55-w110"
  },
  {
    "plot": "Turboelectric tiltrotor",
    "DL": 55,
    "WL": 135,
    "status": "violation",
    "codes": "PS",
    "reasons": [
      "Exceed (Power, Drive, Fuel)",
      "loiter_stall_margin",
      "mission_flag",
      "wingborne_stall_margin"
    ],
    "run": "te-dlwl-20261021-central-d55-w135"
  },
  {
    "plot": "Turboelectric tiltrotor",
    "DL": 55,
    "WL": 160,
    "status": "unresolved",
    "codes": "NOPS",
    "reasons": [
      "Exceed (Power, Drive, Fuel)",
      "iteration_failure",
      "mission_flag",
      "wingborne_stall_margin",
      "native convergence not established",
      "loading mismatch"
    ],
    "run": "te-dlwl-20261021-central-d55-w160"
  },
  {
    "plot": "Turboelectric tiltrotor",
    "DL": 55,
    "WL": 60,
    "status": "violation",
    "codes": "P",
    "reasons": [
      "Exceed (Power, Drive, Fuel)",
      "mission_flag"
    ],
    "run": "te-dlwl-20261021-central-d55-w60"
  },
  {
    "plot": "Turboelectric tiltrotor",
    "DL": 55,
    "WL": 85,
    "status": "violation",
    "codes": "P",
    "reasons": [
      "Exceed (Power, Drive, Fuel)",
      "mission_flag"
    ],
    "run": "te-dlwl-20261021-central-d55-w85"
  },
  {
    "plot": "Turboelectric tiltrotor",
    "DL": 70,
    "WL": 110,
    "status": "violation",
    "codes": "PS",
    "reasons": [
      "Exceed (Power, Drive, Fuel)",
      "loiter_stall_margin",
      "mission_flag",
      "wingborne_stall_margin"
    ],
    "run": "te-dlwl-20261021-central-d70-w110"
  },
  {
    "plot": "Turboelectric tiltrotor",
    "DL": 70,
    "WL": 135,
    "status": "violation",
    "codes": "PS",
    "reasons": [
      "Exceed (Power, Drive, Fuel)",
      "loiter_stall_margin",
      "mission_flag",
      "wingborne_stall_margin"
    ],
    "run": "te-dlwl-20261021-central-d70-w135"
  },
  {
    "plot": "Turboelectric tiltrotor",
    "DL": 70,
    "WL": 160,
    "status": "unresolved",
    "codes": "NOPS",
    "reasons": [
      "Exceed (Power, Drive, Fuel)",
      "iteration_failure",
      "mission_flag",
      "wingborne_stall_margin",
      "native convergence not established",
      "loading mismatch"
    ],
    "run": "te-dlwl-20261021-central-d70-w160"
  },
  {
    "plot": "Turboelectric tiltrotor",
    "DL": 70,
    "WL": 60,
    "status": "unresolved",
    "codes": "NP",
    "reasons": [
      "Exceed (Power, Drive, Fuel)",
      "iteration_failure",
      "mission_flag"
    ],
    "run": "te-dlwl-20261021-central-d70-w60"
  },
  {
    "plot": "Turboelectric tiltrotor",
    "DL": 70,
    "WL": 85,
    "status": "violation",
    "codes": "P",
    "reasons": [
      "Exceed (Power, Drive, Fuel)",
      "mission_flag"
    ],
    "run": "te-dlwl-20261021-central-d70-w85"
  }
]</a:t>
            </a:r>
          </a:p>
          <a:p>
            <a:r>
              <a:rPr lang="en-US"/>
              <a:t>Reference key for Rev D: [R1] Silva et al., AIAA2018-3847, https://sacd.larc.nasa.gov/wp-content/uploads/sites/167/2022/02/Silva2018.pdf ; [R2] Radotich2022, local research/radotich/paper.txt and comparison.csv; [R5] Bowman2018, https://www1.grc.nasa.gov/wp-content/uploads/2018EATS-EAP-Transport-Studies-Bowman-6.2018-4984.pdf ; [R6] https://hirthengines.com/wp-content/uploads/2025-35-SERIES-3503.pdf ; [R7] https://rotronaero.com/products/rt600-xe ; [R8] https://www.turbotech-aero.com/solutions/ ; [R9] Johnson2022 NDARC Theory NASA/TP-20220000355Vol1; [R10] https://mgm-compro.com/electric-motor/reb-30-40-kw/ . [S1] research/baseline-weight-2026-10-27/sizing-component-audit.json; [S2] research/baseline-energy-2026-10-25; [S3] research/projects and research/radotich; [S4] research/tr60-vv-20261027; [S5] research/eagle-eye-threeway-2026-10-26; [S6] source/windows-cases5/weight_model.f90; [S7] output/vertical30-2026-10-28/comparison.json; [S8] research/rate-tuning-2026-10-21-RevA; [S9] research/current-trades-2026-10-21/results.json and output/turboelectric-dlwl-2026-10-21/results.json; [S10] research/presentation-speed-2026-10-26; [S11] research/nasa-retry-20261028/assessment.json. [U1] research/baseline-weight-2026-10-27/intake-rev2.json.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Evidence: runs/lpc-opt-common20-rate20261021-geometry-wc2-wd2-vc1.75-vd2-r0-seed394.962-warm-i3; runs/lpc-opt-common20-currenttrades20261021-lpc-d26-w97-common20-warm-i3; runs/te-dlwl-20261021-piston-d20-w90; runs/te-dlwl-20261021-central-d30-w85</a:t>
            </a:r>
          </a:p>
          <a:p>
            <a:r>
              <a:rPr lang="en-US"/>
              <a:t>Data extraction: scripts/presentation_story_20261026.py. Historical sizing figures plus four new logged L+C speed-probe executions (presentation-speed-20261026). Main pack model is an aggregate cell surrogate, not the user's two independent28S6P pack model. Baseline340kg nominal differs from earlier342.5kg accounting. All selected results remain conceptual.</a:t>
            </a:r>
          </a:p>
          <a:p>
            <a:r>
              <a:rPr lang="en-US"/>
              <a:t>Cumulative consumption=first native fuel-weight value minus subsequent native fuel-weight values. Equal-width segment axis; source values at segment boundaries. Small end residual retained. No fuel reserve beyond300minairborne. This is not a hardware fuel-burn validation.</a:t>
            </a:r>
          </a:p>
          <a:p>
            <a:r>
              <a:rPr lang="en-US"/>
              <a:t>Rev D: corrected selected UAV designs use vertical30-20261028; files output/vertical30-2026-10-28/comparison.json and research/vertical30-20261028/results.json. Original template and comments retained. Historical grids, speed sweeps, lower-specific-energy cases and NASA benchmark missions are explicitly separate.</a:t>
            </a:r>
          </a:p>
          <a:p>
            <a:r>
              <a:rPr lang="en-US"/>
              <a:t>Reference key for Rev D: [R1] Silva et al., AIAA2018-3847, https://sacd.larc.nasa.gov/wp-content/uploads/sites/167/2022/02/Silva2018.pdf ; [R2] Radotich2022, local research/radotich/paper.txt and comparison.csv; [R5] Bowman2018, https://www1.grc.nasa.gov/wp-content/uploads/2018EATS-EAP-Transport-Studies-Bowman-6.2018-4984.pdf ; [R6] https://hirthengines.com/wp-content/uploads/2025-35-SERIES-3503.pdf ; [R7] https://rotronaero.com/products/rt600-xe ; [R8] https://www.turbotech-aero.com/solutions/ ; [R9] Johnson2022 NDARC Theory NASA/TP-20220000355Vol1; [R10] https://mgm-compro.com/electric-motor/reb-30-40-kw/ . [S1] research/baseline-weight-2026-10-27/sizing-component-audit.json; [S2] research/baseline-energy-2026-10-25; [S3] research/projects and research/radotich; [S4] research/tr60-vv-20261027; [S5] research/eagle-eye-threeway-2026-10-26; [S6] source/windows-cases5/weight_model.f90; [S7] output/vertical30-2026-10-28/comparison.json; [S8] research/rate-tuning-2026-10-21-RevA; [S9] research/current-trades-2026-10-21/results.json and output/turboelectric-dlwl-2026-10-21/results.json; [S10] research/presentation-speed-2026-10-26; [S11] research/nasa-retry-20261028/assessment.json. [U1] research/baseline-weight-2026-10-27/intake-rev2.json.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Evidence: runs/lpc-opt-common20-rate20261021-geometry-wc2-wd2-vc1.75-vd2-r0-seed394.962-warm-i3; runs/lpc-opt-common20-currenttrades20261021-lpc-d26-w97-common20-warm-i3; runs/te-dlwl-20261021-piston-d20-w90; runs/te-dlwl-20261021-central-d30-w85</a:t>
            </a:r>
          </a:p>
          <a:p>
            <a:r>
              <a:rPr lang="en-US"/>
              <a:t>Data extraction: scripts/presentation_story_20261026.py. Historical sizing figures plus four new logged L+C speed-probe executions (presentation-speed-20261026). Main pack model is an aggregate cell surrogate, not the user's two independent28S6P pack model. Baseline340kg nominal differs from earlier342.5kg accounting. All selected results remain conceptual.</a:t>
            </a:r>
          </a:p>
          <a:p>
            <a:r>
              <a:rPr lang="en-US"/>
              <a:t>Saved source runs in extension-data.json tr_speed. Generic turbineSFC and86%shaft-to-rotor efficiency. Engine-side power is not per-motor input power. Best sampled fuel flow is conditional on sampled speeds,model and DGW; no mission resizing for that speed. Compare NASA Radotich2022Figs38–45, https://ntrs.nasa.gov/api/citations/20210026219/downloads/1528_Radotich_011222.pdf</a:t>
            </a:r>
          </a:p>
          <a:p>
            <a:r>
              <a:rPr lang="en-US"/>
              <a:t>Rev D: corrected selected UAV designs use vertical30-20261028; files output/vertical30-2026-10-28/comparison.json and research/vertical30-20261028/results.json. Original template and comments retained. Historical grids, speed sweeps, lower-specific-energy cases and NASA benchmark missions are explicitly separate.</a:t>
            </a:r>
          </a:p>
          <a:p>
            <a:r>
              <a:rPr lang="en-US"/>
              <a:t>Reference key for Rev D: [R1] Silva et al., AIAA2018-3847, https://sacd.larc.nasa.gov/wp-content/uploads/sites/167/2022/02/Silva2018.pdf ; [R2] Radotich2022, local research/radotich/paper.txt and comparison.csv; [R5] Bowman2018, https://www1.grc.nasa.gov/wp-content/uploads/2018EATS-EAP-Transport-Studies-Bowman-6.2018-4984.pdf ; [R6] https://hirthengines.com/wp-content/uploads/2025-35-SERIES-3503.pdf ; [R7] https://rotronaero.com/products/rt600-xe ; [R8] https://www.turbotech-aero.com/solutions/ ; [R9] Johnson2022 NDARC Theory NASA/TP-20220000355Vol1; [R10] https://mgm-compro.com/electric-motor/reb-30-40-kw/ . [S1] research/baseline-weight-2026-10-27/sizing-component-audit.json; [S2] research/baseline-energy-2026-10-25; [S3] research/projects and research/radotich; [S4] research/tr60-vv-20261027; [S5] research/eagle-eye-threeway-2026-10-26; [S6] source/windows-cases5/weight_model.f90; [S7] output/vertical30-2026-10-28/comparison.json; [S8] research/rate-tuning-2026-10-21-RevA; [S9] research/current-trades-2026-10-21/results.json and output/turboelectric-dlwl-2026-10-21/results.json; [S10] research/presentation-speed-2026-10-26; [S11] research/nasa-retry-20261028/assessment.json. [U1] research/baseline-weight-2026-10-27/intake-rev2.json.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Evidence: runs/lpc-opt-common20-rate20261021-geometry-wc2-wd2-vc1.75-vd2-r0-seed394.962-warm-i3; runs/lpc-opt-common20-currenttrades20261021-lpc-d26-w97-common20-warm-i3; runs/te-dlwl-20261021-piston-d20-w90; runs/te-dlwl-20261021-central-d30-w85</a:t>
            </a:r>
          </a:p>
          <a:p>
            <a:r>
              <a:rPr lang="en-US"/>
              <a:t>Data extraction: scripts/presentation_story_20261026.py. Historical sizing figures plus four new logged L+C speed-probe executions (presentation-speed-20261026). Main pack model is an aggregate cell surrogate, not the user's two independent28S6P pack model. Baseline340kg nominal differs from earlier342.5kg accounting. All selected results remain conceptual.</a:t>
            </a:r>
          </a:p>
          <a:p>
            <a:r>
              <a:rPr lang="en-US"/>
              <a:t>Source deck-data.json and extension-data.json. Same saved cases as TR map, fuel and speed pages. Installed sea-level rating differs from available shaft power at altitude and the modeled operating RPM. No main propulsion battery; independent avionics backup retained. Native convergence, retained constraints and hardware validation remain separate.</a:t>
            </a:r>
          </a:p>
          <a:p>
            <a:r>
              <a:rPr lang="en-US"/>
              <a:t>Rev D: corrected selected UAV designs use vertical30-20261028; files output/vertical30-2026-10-28/comparison.json and research/vertical30-20261028/results.json. Original template and comments retained. Historical grids, speed sweeps, lower-specific-energy cases and NASA benchmark missions are explicitly separate.</a:t>
            </a:r>
          </a:p>
          <a:p>
            <a:r>
              <a:rPr lang="en-US"/>
              <a:t>Reference key for Rev D: [R1] Silva et al., AIAA2018-3847, https://sacd.larc.nasa.gov/wp-content/uploads/sites/167/2022/02/Silva2018.pdf ; [R2] Radotich2022, local research/radotich/paper.txt and comparison.csv; [R5] Bowman2018, https://www1.grc.nasa.gov/wp-content/uploads/2018EATS-EAP-Transport-Studies-Bowman-6.2018-4984.pdf ; [R6] https://hirthengines.com/wp-content/uploads/2025-35-SERIES-3503.pdf ; [R7] https://rotronaero.com/products/rt600-xe ; [R8] https://www.turbotech-aero.com/solutions/ ; [R9] Johnson2022 NDARC Theory NASA/TP-20220000355Vol1; [R10] https://mgm-compro.com/electric-motor/reb-30-40-kw/ . [S1] research/baseline-weight-2026-10-27/sizing-component-audit.json; [S2] research/baseline-energy-2026-10-25; [S3] research/projects and research/radotich; [S4] research/tr60-vv-20261027; [S5] research/eagle-eye-threeway-2026-10-26; [S6] source/windows-cases5/weight_model.f90; [S7] output/vertical30-2026-10-28/comparison.json; [S8] research/rate-tuning-2026-10-21-RevA; [S9] research/current-trades-2026-10-21/results.json and output/turboelectric-dlwl-2026-10-21/results.json; [S10] research/presentation-speed-2026-10-26; [S11] research/nasa-retry-20261028/assessment.json. [U1] research/baseline-weight-2026-10-27/intake-rev2.json.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NASA Silva2018 TE L+C contains battery sized for emergency hover or14C, generatoramptrim canmaintainSOC. Our aggregateTEtiltrotor35kg electricdrive86%efficiency doesnot implementthisnetwork orbackup. Do not confuse architectures. COTS TG-R90 is a sourceclassreference, not matched installedsolution. Source URLs retained in main engine slides.</a:t>
            </a:r>
          </a:p>
          <a:p>
            <a:r>
              <a:rPr lang="en-US"/>
              <a:t>Reference key for Rev D: [R1] Silva et al., AIAA2018-3847, https://sacd.larc.nasa.gov/wp-content/uploads/sites/167/2022/02/Silva2018.pdf ; [R2] Radotich2022, local research/radotich/paper.txt and comparison.csv; [R5] Bowman2018, https://www1.grc.nasa.gov/wp-content/uploads/2018EATS-EAP-Transport-Studies-Bowman-6.2018-4984.pdf ; [R6] https://hirthengines.com/wp-content/uploads/2025-35-SERIES-3503.pdf ; [R7] https://rotronaero.com/products/rt600-xe ; [R8] https://www.turbotech-aero.com/solutions/ ; [R9] Johnson2022 NDARC Theory NASA/TP-20220000355Vol1; [R10] https://mgm-compro.com/electric-motor/reb-30-40-kw/ . [S1] research/baseline-weight-2026-10-27/sizing-component-audit.json; [S2] research/baseline-energy-2026-10-25; [S3] research/projects and research/radotich; [S4] research/tr60-vv-20261027; [S5] research/eagle-eye-threeway-2026-10-26; [S6] source/windows-cases5/weight_model.f90; [S7] output/vertical30-2026-10-28/comparison.json; [S8] research/rate-tuning-2026-10-21-RevA; [S9] research/current-trades-2026-10-21/results.json and output/turboelectric-dlwl-2026-10-21/results.json; [S10] research/presentation-speed-2026-10-26; [S11] research/nasa-retry-20261028/assessment.json. [U1] research/baseline-weight-2026-10-27/intake-rev2.json.</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54008844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Evidence: runs/lpc-opt-common20-rate20261021-geometry-wc2-wd2-vc1.75-vd2-r0-seed394.962-warm-i3; runs/lpc-opt-common20-currenttrades20261021-lpc-d26-w97-common20-warm-i3; runs/te-dlwl-20261021-piston-d20-w90; runs/te-dlwl-20261021-central-d30-w85</a:t>
            </a:r>
          </a:p>
          <a:p>
            <a:r>
              <a:rPr lang="en-US"/>
              <a:t>Data extraction: scripts/presentation_story_20261026.py. Historical sizing figures plus four new logged L+C speed-probe executions (presentation-speed-20261026). Main pack model is an aggregate cell surrogate, not the user's two independent28S6P pack model. Baseline340kg nominal differs from earlier342.5kg accounting. All selected results remain conceptual.{"physical":[["Component / kg","Baseline","L+C retrofit","L+C clean","Piston TR","Turboelectric"],["Airframe structure¹","69.20","96.88","93.73","85.72","96.55"],["Rotor / propeller group","In propulsion","8.94","19.26","19.49","16.16"],["Landing gear","11.50","9.93","9.54","7.40","8.03"],["Engine package²","In horiz. 43.50","41.00","41.00","46.00","37.50"],["Motor + ESC / electrical drive","In vertical 70","38.60","38.60","0.00","35.00"],["Main lift battery","In vertical 70","73.73","50.69","0.00","0.00"],["Liquid-fuel tank + plumbing","5.295","4.72","4.97","5.82","6.69"],["Mechanical drive³","In propulsion","3.36","3.36","17.58","In elec. drive"]],"equipment":[["Component / kg","Baseline","L+C retrofit","L+C clean","Piston TR","Turboelectric"],["Actuators + flight controls","9.925","9.00","9.00","9.00","9.00"],["Avionics + datalink + electronics","47.50","6.00 generic","6.00 generic","6.00 generic","6.00 generic"],["Independent backup pack + install","Not isolated","9.448","9.448","9.448","9.448"],["Auxiliary generator allowance","Not isolated","2.00","2.00","2.00","2.00"],["Paint / sealant / integration","11.50","Not isolated","Not isolated","Not isolated","Not isolated"],["Vibration allowance","Not isolated","6.70","6.35","4.53","4.91"],["Contingency allowance","Not isolated","16.74","15.88","11.31","12.28"],["Oil / ballast / unusable fuel","Not isolated","1.00","1.00","1.00","1.00"]],"source_runs":["lpc-opt-common20-rate20261021-geometry-wc2-wd2-vc1.75-vd2-r0-seed394.962-warm-i3","lpc-opt-common20-currenttrades20261021-lpc-d26-w97-common20-warm-i3","te-dlwl-20261021-piston-d20-w90","te-dlwl-20261021-central-d30-w85"],"notes":["Rows are aligned functions, not a fully reconciled additive BOM. Baseline propulsion totals are inclusive parent groups; no invented suballocation.","Structure boundary: model wing+tail+fuselage, excludes landinggear and rotor group; baseline boundary needs confirmation.","Engine package is prior presentation allocation; may overlap installation groups, do not sum comparison rows.","Electrical generic6kg=4kg general electrical+2kg instruments. Separate backup,ESC,equivalent TE drive and generator are excluded.","Equipment gap47.5-6=41.5kg is a mapping gap, not an approved additive correction.","Mechanical drive model includes gearboxes/transmission/brake; native torque-drive and installation categories may differ from package allocations."]}</a:t>
            </a:r>
          </a:p>
          <a:p>
            <a:r>
              <a:rPr lang="en-US"/>
              <a:t>Rev D: corrected selected UAV designs use vertical30-20261028; files output/vertical30-2026-10-28/comparison.json and research/vertical30-20261028/results.json. Original template and comments retained. Historical grids, speed sweeps, lower-specific-energy cases and NASA benchmark missions are explicitly separate.</a:t>
            </a:r>
          </a:p>
          <a:p>
            <a:r>
              <a:rPr lang="en-US"/>
              <a:t>Reference key for Rev D: [R1] Silva et al., AIAA2018-3847, https://sacd.larc.nasa.gov/wp-content/uploads/sites/167/2022/02/Silva2018.pdf ; [R2] Radotich2022, local research/radotich/paper.txt and comparison.csv; [R5] Bowman2018, https://www1.grc.nasa.gov/wp-content/uploads/2018EATS-EAP-Transport-Studies-Bowman-6.2018-4984.pdf ; [R6] https://hirthengines.com/wp-content/uploads/2025-35-SERIES-3503.pdf ; [R7] https://rotronaero.com/products/rt600-xe ; [R8] https://www.turbotech-aero.com/solutions/ ; [R9] Johnson2022 NDARC Theory NASA/TP-20220000355Vol1; [R10] https://mgm-compro.com/electric-motor/reb-30-40-kw/ . [S1] research/baseline-weight-2026-10-27/sizing-component-audit.json; [S2] research/baseline-energy-2026-10-25; [S3] research/projects and research/radotich; [S4] research/tr60-vv-20261027; [S5] research/eagle-eye-threeway-2026-10-26; [S6] source/windows-cases5/weight_model.f90; [S7] output/vertical30-2026-10-28/comparison.json; [S8] research/rate-tuning-2026-10-21-RevA; [S9] research/current-trades-2026-10-21/results.json and output/turboelectric-dlwl-2026-10-21/results.json; [S10] research/presentation-speed-2026-10-26; [S11] research/nasa-retry-20261028/assessment.json. [U1] research/baseline-weight-2026-10-27/intake-rev2.json.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Evidence: runs/lpc-opt-common20-rate20261021-geometry-wc2-wd2-vc1.75-vd2-r0-seed394.962-warm-i3; runs/lpc-opt-common20-currenttrades20261021-lpc-d26-w97-common20-warm-i3; runs/te-dlwl-20261021-piston-d20-w90; runs/te-dlwl-20261021-central-d30-w85</a:t>
            </a:r>
          </a:p>
          <a:p>
            <a:r>
              <a:rPr lang="en-US"/>
              <a:t>Data extraction: scripts/presentation_story_20261026.py. Historical sizing figures plus four new logged L+C speed-probe executions (presentation-speed-20261026). Main pack model is an aggregate cell surrogate, not the user's two independent28S6P pack model. Baseline340kg nominal differs from earlier342.5kg accounting. All selected results remain conceptual.</a:t>
            </a:r>
          </a:p>
          <a:p>
            <a:r>
              <a:rPr lang="en-US"/>
              <a:t>Source margin-coverage.json and sizing-component-audit.json. Baseline comparison group59kg=47.5equipment+11.5integration. Hypothetical model credit=6kg electrical/instruments+furnish/equipment0kgLPC or2kgTR+native vibration+native contingency. Using all vibration is not an endorsed reassignment: it may represent required vibration provisions. Consuming all contingency leaves none for other uncertainty. No assertion that margins already include baseline components. If allowances are replaced in a future run, remove overlapping mass and retain an explicit justified contingency; rerun nonlinear sizing. Tables on both decks show their own historical outputs. Native WE means weight empty. No solver execution.</a:t>
            </a:r>
          </a:p>
          <a:p>
            <a:r>
              <a:rPr lang="en-US"/>
              <a:t>Rev D: corrected selected UAV designs use vertical30-20261028; files output/vertical30-2026-10-28/comparison.json and research/vertical30-20261028/results.json. Original template and comments retained. Historical grids, speed sweeps, lower-specific-energy cases and NASA benchmark missions are explicitly separate.</a:t>
            </a:r>
          </a:p>
          <a:p>
            <a:r>
              <a:rPr lang="en-US"/>
              <a:t>Reference key for Rev D: [R1] Silva et al., AIAA2018-3847, https://sacd.larc.nasa.gov/wp-content/uploads/sites/167/2022/02/Silva2018.pdf ; [R2] Radotich2022, local research/radotich/paper.txt and comparison.csv; [R5] Bowman2018, https://www1.grc.nasa.gov/wp-content/uploads/2018EATS-EAP-Transport-Studies-Bowman-6.2018-4984.pdf ; [R6] https://hirthengines.com/wp-content/uploads/2025-35-SERIES-3503.pdf ; [R7] https://rotronaero.com/products/rt600-xe ; [R8] https://www.turbotech-aero.com/solutions/ ; [R9] Johnson2022 NDARC Theory NASA/TP-20220000355Vol1; [R10] https://mgm-compro.com/electric-motor/reb-30-40-kw/ . [S1] research/baseline-weight-2026-10-27/sizing-component-audit.json; [S2] research/baseline-energy-2026-10-25; [S3] research/projects and research/radotich; [S4] research/tr60-vv-20261027; [S5] research/eagle-eye-threeway-2026-10-26; [S6] source/windows-cases5/weight_model.f90; [S7] output/vertical30-2026-10-28/comparison.json; [S8] research/rate-tuning-2026-10-21-RevA; [S9] research/current-trades-2026-10-21/results.json and output/turboelectric-dlwl-2026-10-21/results.json; [S10] research/presentation-speed-2026-10-26; [S11] research/nasa-retry-20261028/assessment.json. [U1] research/baseline-weight-2026-10-27/intake-rev2.json.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Evidence: runs/lpc-opt-common20-rate20261021-geometry-wc2-wd2-vc1.75-vd2-r0-seed394.962-warm-i3; runs/lpc-opt-common20-currenttrades20261021-lpc-d26-w97-common20-warm-i3; runs/te-dlwl-20261021-piston-d20-w90; runs/te-dlwl-20261021-central-d30-w85</a:t>
            </a:r>
          </a:p>
          <a:p>
            <a:r>
              <a:rPr lang="en-US"/>
              <a:t>Data extraction: scripts/presentation_story_20261026.py. Historical sizing figures plus four new logged L+C speed-probe executions (presentation-speed-20261026). Main pack model is an aggregate cell surrogate, not the user's two independent28S6P pack model. Baseline340kg nominal differs from earlier342.5kg accounting. All selected results remain conceptual.</a:t>
            </a:r>
          </a:p>
          <a:p>
            <a:r>
              <a:rPr lang="en-US"/>
              <a:t>Transit=160km/speed*60. Loiter=247.63095238-transit. Ground warm-up1min excluded from airborne300min. Saved L+C has one aggregate level-flight segment; saved TR splits30/187.63095/0/30min. Climb distance is not included in these stipulated level-flight transit legs. These rows are time-budget alternatives, not new solver results.</a:t>
            </a:r>
          </a:p>
          <a:p>
            <a:r>
              <a:rPr lang="en-US"/>
              <a:t>Rev D: corrected selected UAV designs use vertical30-20261028; files output/vertical30-2026-10-28/comparison.json and research/vertical30-20261028/results.json. Original template and comments retained. Historical grids, speed sweeps, lower-specific-energy cases and NASA benchmark missions are explicitly separate.</a:t>
            </a:r>
          </a:p>
          <a:p>
            <a:r>
              <a:rPr lang="en-US"/>
              <a:t>Reference key for Rev D: [R1] Silva et al., AIAA2018-3847, https://sacd.larc.nasa.gov/wp-content/uploads/sites/167/2022/02/Silva2018.pdf ; [R2] Radotich2022, local research/radotich/paper.txt and comparison.csv; [R5] Bowman2018, https://www1.grc.nasa.gov/wp-content/uploads/2018EATS-EAP-Transport-Studies-Bowman-6.2018-4984.pdf ; [R6] https://hirthengines.com/wp-content/uploads/2025-35-SERIES-3503.pdf ; [R7] https://rotronaero.com/products/rt600-xe ; [R8] https://www.turbotech-aero.com/solutions/ ; [R9] Johnson2022 NDARC Theory NASA/TP-20220000355Vol1; [R10] https://mgm-compro.com/electric-motor/reb-30-40-kw/ . [S1] research/baseline-weight-2026-10-27/sizing-component-audit.json; [S2] research/baseline-energy-2026-10-25; [S3] research/projects and research/radotich; [S4] research/tr60-vv-20261027; [S5] research/eagle-eye-threeway-2026-10-26; [S6] source/windows-cases5/weight_model.f90; [S7] output/vertical30-2026-10-28/comparison.json; [S8] research/rate-tuning-2026-10-21-RevA; [S9] research/current-trades-2026-10-21/results.json and output/turboelectric-dlwl-2026-10-21/results.json; [S10] research/presentation-speed-2026-10-26; [S11] research/nasa-retry-20261028/assessment.json. [U1] research/baseline-weight-2026-10-27/intake-rev2.json.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Evidence: runs/lpc-opt-common20-rate20261021-geometry-wc2-wd2-vc1.75-vd2-r0-seed394.962-warm-i3; runs/lpc-opt-common20-currenttrades20261021-lpc-d26-w97-common20-warm-i3; runs/te-dlwl-20261021-piston-d20-w90; runs/te-dlwl-20261021-central-d30-w85</a:t>
            </a:r>
          </a:p>
          <a:p>
            <a:r>
              <a:rPr lang="en-US"/>
              <a:t>Data extraction: scripts/presentation_story_20261026.py. Historical sizing figures plus four new logged L+C speed-probe executions (presentation-speed-20261026). Main pack model is an aggregate cell surrogate, not the user's two independent28S6P pack model. Baseline340kg nominal differs from earlier342.5kg accounting. All selected results remain conceptual.</a:t>
            </a:r>
          </a:p>
          <a:p>
            <a:r>
              <a:rPr lang="en-US"/>
              <a:t>Rev D: corrected selected UAV designs use vertical30-20261028; files output/vertical30-2026-10-28/comparison.json and research/vertical30-20261028/results.json. Original template and comments retained. Historical grids, speed sweeps, lower-specific-energy cases and NASA benchmark missions are explicitly separate.</a:t>
            </a:r>
          </a:p>
          <a:p>
            <a:r>
              <a:rPr lang="en-US"/>
              <a:t>Reference key for Rev D: [R1] Silva et al., AIAA2018-3847, https://sacd.larc.nasa.gov/wp-content/uploads/sites/167/2022/02/Silva2018.pdf ; [R2] Radotich2022, local research/radotich/paper.txt and comparison.csv; [R5] Bowman2018, https://www1.grc.nasa.gov/wp-content/uploads/2018EATS-EAP-Transport-Studies-Bowman-6.2018-4984.pdf ; [R6] https://hirthengines.com/wp-content/uploads/2025-35-SERIES-3503.pdf ; [R7] https://rotronaero.com/products/rt600-xe ; [R8] https://www.turbotech-aero.com/solutions/ ; [R9] Johnson2022 NDARC Theory NASA/TP-20220000355Vol1; [R10] https://mgm-compro.com/electric-motor/reb-30-40-kw/ . [S1] research/baseline-weight-2026-10-27/sizing-component-audit.json; [S2] research/baseline-energy-2026-10-25; [S3] research/projects and research/radotich; [S4] research/tr60-vv-20261027; [S5] research/eagle-eye-threeway-2026-10-26; [S6] source/windows-cases5/weight_model.f90; [S7] output/vertical30-2026-10-28/comparison.json; [S8] research/rate-tuning-2026-10-21-RevA; [S9] research/current-trades-2026-10-21/results.json and output/turboelectric-dlwl-2026-10-21/results.json; [S10] research/presentation-speed-2026-10-26; [S11] research/nasa-retry-20261028/assessment.json. [U1] research/baseline-weight-2026-10-27/intake-rev2.json.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Evidence: runs/lpc-opt-common20-rate20261021-geometry-wc2-wd2-vc1.75-vd2-r0-seed394.962-warm-i3; runs/lpc-opt-common20-currenttrades20261021-lpc-d26-w97-common20-warm-i3; runs/te-dlwl-20261021-piston-d20-w90; runs/te-dlwl-20261021-central-d30-w85</a:t>
            </a:r>
          </a:p>
          <a:p>
            <a:r>
              <a:rPr lang="en-US"/>
              <a:t>Data extraction: scripts/presentation_story_20261026.py. Historical sizing figures plus four new logged L+C speed-probe executions (presentation-speed-20261026). Main pack model is an aggregate cell surrogate, not the user's two independent28S6P pack model. Baseline340kg nominal differs from earlier342.5kg accounting. All selected results remain conceptual.</a:t>
            </a:r>
          </a:p>
          <a:p>
            <a:r>
              <a:rPr lang="en-US"/>
              <a:t>Exact input manifests: research/current-trades-2026-10-21/results.json; research/baseline-energy-loading-trade-2026-10-25/results.json; output/turboelectric-dlwl-2026-10-21/results.json; cases/logging/presentation-speed-20261026.json. Do not interpret coarseCartesianpoints as all refinement/repeatcases. No procurement-ready commercial product selection asserted.</a:t>
            </a:r>
          </a:p>
          <a:p>
            <a:r>
              <a:rPr lang="en-US"/>
              <a:t>Rev D: corrected selected UAV designs use vertical30-20261028; files output/vertical30-2026-10-28/comparison.json and research/vertical30-20261028/results.json. Original template and comments retained. Historical grids, speed sweeps, lower-specific-energy cases and NASA benchmark missions are explicitly separate.</a:t>
            </a:r>
          </a:p>
          <a:p>
            <a:r>
              <a:rPr lang="en-US"/>
              <a:t>Reference key for Rev D: [R1] Silva et al., AIAA2018-3847, https://sacd.larc.nasa.gov/wp-content/uploads/sites/167/2022/02/Silva2018.pdf ; [R2] Radotich2022, local research/radotich/paper.txt and comparison.csv; [R5] Bowman2018, https://www1.grc.nasa.gov/wp-content/uploads/2018EATS-EAP-Transport-Studies-Bowman-6.2018-4984.pdf ; [R6] https://hirthengines.com/wp-content/uploads/2025-35-SERIES-3503.pdf ; [R7] https://rotronaero.com/products/rt600-xe ; [R8] https://www.turbotech-aero.com/solutions/ ; [R9] Johnson2022 NDARC Theory NASA/TP-20220000355Vol1; [R10] https://mgm-compro.com/electric-motor/reb-30-40-kw/ . [S1] research/baseline-weight-2026-10-27/sizing-component-audit.json; [S2] research/baseline-energy-2026-10-25; [S3] research/projects and research/radotich; [S4] research/tr60-vv-20261027; [S5] research/eagle-eye-threeway-2026-10-26; [S6] source/windows-cases5/weight_model.f90; [S7] output/vertical30-2026-10-28/comparison.json; [S8] research/rate-tuning-2026-10-21-RevA; [S9] research/current-trades-2026-10-21/results.json and output/turboelectric-dlwl-2026-10-21/results.json; [S10] research/presentation-speed-2026-10-26; [S11] research/nasa-retry-20261028/assessment.json. [U1] research/baseline-weight-2026-10-27/intake-rev2.json.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research/rate-tuning-2026-10-21-RevA/presentation-data.json and geometry-wc1/2/3-wd2-vc1-vd0.5-r0.json. Atfixed30mheight,1m/s verticalclimb30s;1.75m/s17.14s. Descent50m:100s at0.5m/s versus25s at2m/s. Main pack115.2000to73.728kg. Both fixedgeometry5h profiles; reserve0; independent backup changed withengine-offduration in historical study. 62.397754kg massreduction13.44% is a combinedmission/packageeffect. Wingclimb2to1m/s adds24.75min and removes24.75minleveltime atfixedceiling; genericmodel fixed34kWenginecap prevents automaticengineweightreduction. Pros: power margin, possibly smaller scalableengine/pack if active power constraints relax. Cons: time, energy, obstacle/mission access. Current30s mission retained as primary.</a:t>
            </a:r>
          </a:p>
          <a:p>
            <a:r>
              <a:rPr lang="en-US"/>
              <a:t>Reference key for Rev D: [R1] Silva et al., AIAA2018-3847, https://sacd.larc.nasa.gov/wp-content/uploads/sites/167/2022/02/Silva2018.pdf ; [R2] Radotich2022, local research/radotich/paper.txt and comparison.csv; [R5] Bowman2018, https://www1.grc.nasa.gov/wp-content/uploads/2018EATS-EAP-Transport-Studies-Bowman-6.2018-4984.pdf ; [R6] https://hirthengines.com/wp-content/uploads/2025-35-SERIES-3503.pdf ; [R7] https://rotronaero.com/products/rt600-xe ; [R8] https://www.turbotech-aero.com/solutions/ ; [R9] Johnson2022 NDARC Theory NASA/TP-20220000355Vol1; [R10] https://mgm-compro.com/electric-motor/reb-30-40-kw/ . [S1] research/baseline-weight-2026-10-27/sizing-component-audit.json; [S2] research/baseline-energy-2026-10-25; [S3] research/projects and research/radotich; [S4] research/tr60-vv-20261027; [S5] research/eagle-eye-threeway-2026-10-26; [S6] source/windows-cases5/weight_model.f90; [S7] output/vertical30-2026-10-28/comparison.json; [S8] research/rate-tuning-2026-10-21-RevA; [S9] research/current-trades-2026-10-21/results.json and output/turboelectric-dlwl-2026-10-21/results.json; [S10] research/presentation-speed-2026-10-26; [S11] research/nasa-retry-20261028/assessment.json. [U1] research/baseline-weight-2026-10-27/intake-rev2.json.</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88405835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https://sacd.larc.nasa.gov/wp-content/uploads/sites/167/2022/02/Silva2018.pdf. Re-read mission assumptions, generator-current trim, battery sizing, propulsion topology and structural limitations. Five executions saved, including two script-substitution diagnostics corrected after input audit. Final intended controls niter_miss30,niter_size40,relax_miss/size0.3; original restricted optimized TE times out180s. Fixed122ktTE6625lb,3706MJ vs6013lb2510MJ; flags power, negativeenergy andemergencybattery remain. Fixed112ktE9160.6lb1302MJ vs8210lb1113MJ; summary noflags butdifferentmission task. OriginalE9542.3lb remainsoriginalrestricted result; never replace it with a fixed-speed diagnostic as a reproduction. Fullinput/output and notes research/nasa-retry-20261028/assessment.json; append-only run_logs. First TE diagnostic namefixed122 actually112kt anddamped firstattemptunchanged; corrected r2inputs audited andthese errorspreservedinlogs. No physicalvalidation orsolutionuniqueness claim.</a:t>
            </a:r>
          </a:p>
          <a:p>
            <a:r>
              <a:rPr lang="en-US"/>
              <a:t>Reference key for Rev D: [R1] Silva et al., AIAA2018-3847, https://sacd.larc.nasa.gov/wp-content/uploads/sites/167/2022/02/Silva2018.pdf ; [R2] Radotich2022, local research/radotich/paper.txt and comparison.csv; [R5] Bowman2018, https://www1.grc.nasa.gov/wp-content/uploads/2018EATS-EAP-Transport-Studies-Bowman-6.2018-4984.pdf ; [R6] https://hirthengines.com/wp-content/uploads/2025-35-SERIES-3503.pdf ; [R7] https://rotronaero.com/products/rt600-xe ; [R8] https://www.turbotech-aero.com/solutions/ ; [R9] Johnson2022 NDARC Theory NASA/TP-20220000355Vol1; [R10] https://mgm-compro.com/electric-motor/reb-30-40-kw/ . [S1] research/baseline-weight-2026-10-27/sizing-component-audit.json; [S2] research/baseline-energy-2026-10-25; [S3] research/projects and research/radotich; [S4] research/tr60-vv-20261027; [S5] research/eagle-eye-threeway-2026-10-26; [S6] source/windows-cases5/weight_model.f90; [S7] output/vertical30-2026-10-28/comparison.json; [S8] research/rate-tuning-2026-10-21-RevA; [S9] research/current-trades-2026-10-21/results.json and output/turboelectric-dlwl-2026-10-21/results.json; [S10] research/presentation-speed-2026-10-26; [S11] research/nasa-retry-20261028/assessment.json. [U1] research/baseline-weight-2026-10-27/intake-rev2.json.</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46824504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Evidence: runs/lpc-opt-common20-rate20261021-geometry-wc2-wd2-vc1.75-vd2-r0-seed394.962-warm-i3; runs/lpc-opt-common20-currenttrades20261021-lpc-d26-w97-common20-warm-i3; runs/te-dlwl-20261021-piston-d20-w90; runs/te-dlwl-20261021-central-d30-w85</a:t>
            </a:r>
          </a:p>
          <a:p>
            <a:r>
              <a:rPr lang="en-US"/>
              <a:t>Data extraction: scripts/presentation_story_20261026.py. Historical sizing figures plus four new logged L+C speed-probe executions (presentation-speed-20261026). Main pack model is an aggregate cell surrogate, not the user's two independent28S6P pack model. Baseline340kg nominal differs from earlier342.5kg accounting. All selected results remain conceptual.</a:t>
            </a:r>
          </a:p>
          <a:p>
            <a:r>
              <a:rPr lang="en-US"/>
              <a:t>Radotich2022 https://ntrs.nasa.gov/api/citations/20210026219/downloads/1528_Radotich_011222.pdf</a:t>
            </a:r>
          </a:p>
          <a:p>
            <a:r>
              <a:rPr lang="en-US"/>
              <a:t>Silva2018 https://sacd.larc.nasa.gov/wp-content/uploads/sites/167/2022/02/Silva2018.pdf</a:t>
            </a:r>
          </a:p>
          <a:p>
            <a:r>
              <a:rPr lang="en-US"/>
              <a:t>Radotich2024 https://rotorcraft.arc.nasa.gov/Publications/files/1690_Radotich_Final_Revised_021324.pdf</a:t>
            </a:r>
          </a:p>
          <a:p>
            <a:r>
              <a:rPr lang="en-US"/>
              <a:t>NDARC official references https://rotorcraft.arc.nasa.gov/ndarc/index.php/reports-and-papers</a:t>
            </a:r>
          </a:p>
          <a:p>
            <a:r>
              <a:rPr lang="en-US"/>
              <a:t>Local source catalog research/reference-catalog.json. Aircraft benchmark evidence docs/Radotich_2022_Comparison.md.</a:t>
            </a:r>
          </a:p>
          <a:p>
            <a:r>
              <a:rPr lang="en-US"/>
              <a:t>Rev D: corrected selected UAV designs use vertical30-20261028; files output/vertical30-2026-10-28/comparison.json and research/vertical30-20261028/results.json. Original template and comments retained. Historical grids, speed sweeps, lower-specific-energy cases and NASA benchmark missions are explicitly separate.</a:t>
            </a:r>
          </a:p>
          <a:p>
            <a:r>
              <a:rPr lang="en-US"/>
              <a:t>Reference key for Rev D: [R1] Silva et al., AIAA2018-3847, https://sacd.larc.nasa.gov/wp-content/uploads/sites/167/2022/02/Silva2018.pdf ; [R2] Radotich2022, local research/radotich/paper.txt and comparison.csv; [R5] Bowman2018, https://www1.grc.nasa.gov/wp-content/uploads/2018EATS-EAP-Transport-Studies-Bowman-6.2018-4984.pdf ; [R6] https://hirthengines.com/wp-content/uploads/2025-35-SERIES-3503.pdf ; [R7] https://rotronaero.com/products/rt600-xe ; [R8] https://www.turbotech-aero.com/solutions/ ; [R9] Johnson2022 NDARC Theory NASA/TP-20220000355Vol1; [R10] https://mgm-compro.com/electric-motor/reb-30-40-kw/ . [S1] research/baseline-weight-2026-10-27/sizing-component-audit.json; [S2] research/baseline-energy-2026-10-25; [S3] research/projects and research/radotich; [S4] research/tr60-vv-20261027; [S5] research/eagle-eye-threeway-2026-10-26; [S6] source/windows-cases5/weight_model.f90; [S7] output/vertical30-2026-10-28/comparison.json; [S8] research/rate-tuning-2026-10-21-RevA; [S9] research/current-trades-2026-10-21/results.json and output/turboelectric-dlwl-2026-10-21/results.json; [S10] research/presentation-speed-2026-10-26; [S11] research/nasa-retry-20261028/assessment.json. [U1] research/baseline-weight-2026-10-27/intake-rev2.json.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 NDARC solver executions were performed to create this appendix. Original 37 slides retained. Full audit supplements are in design-space-evidence beside the presentation. Do not treat run counts as unique aircraft or unique design points.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3212092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Evidence: scripts/current_trade_campaign.py and archived current-trades-2026-10-21 run inputs. SI loading controls are converted to native imperial deck values. The grid describes design controls, not numerical acceptance at every grid pair. No claim that the entire historical grid was rerun under the revised30second climb.</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52033662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Scatter points use journal requested_DL/requested_WL only, not output DL inferred from geometry. A point means attempted, not converged or feasible. All statuses and duplicates retained in companion ledger.</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81744457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Pooled marginal values are not a Cartesian product. Campaign-specific evidence is in companion JSON. D and span in m, DL and WL in kg/m², speed in km/h, C in inverse hours, as named in saved L+C scripts. Retrofit retains geometry and adjusts gross mass/fuel/main battery through outer closure. Clean-sheet varies loading and geometry. Other confirm, blade, polish, dynamic, basin, battery, rate and reserve campaigns remain separately listed in the314-group supplement.</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1402528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lpc-baseline-energy-loading-trade-2-* campaign plans, including d4232726,dc7b541f,ab1178a5,276f1107. Full exact plans and evidence paths in companion JSON. Specific energy142.74888046848088Wh/kg is an explicit modeled cell/pack boundary from this branch, not a validated equivalence to historical two5.18kWh packs. Coarse30 points plus local refinements and repeated outer iterations.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70237210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Saved run result.json params and scripts/a1_trade.py. See original run paths under runs/a1-trade and a1-corrected campaign records. Earlier regression, tail and engine-allocation settings differ from later common20 and RevD runs. This slide does not use the earlier results to validate NASA or hardware.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69496690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te-dlwl-20261021-central/heavy/favorable/piston campaign plans and actual journal. Each42-folder scenario includes grid and additional checks, not42independent grid coordinates. Exact points and fixed settings in companion JSON. Overall tiltrotor_turboelectric136folders includes later30s and matchedrotary turbine controls.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47691990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Current NDARC predictions, matched-rotary-20261028*. Rotary16folders, rotary/electric14folders. Harmonized fixed assumptions:30s vertical climb,30kgpayload,300min airborne,3km,140km/h,70%continuous fraction,100hp reference engine44.5kg plus5kginstallation,BSFC0.56lb/(hph),electric efficiency0.86drive35kgtip12kg,backup9.448kg. These are explicit modeling assumptions. No DL/WL optimization within these rating sensitivity campaigns.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27092586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cases/vertical30-20261028/plan.json, run_logs and original runs; LPC20folders,piston2,TE2. Avionics8S11P1.53648kWh8.448kgcells+1kginstallation afternormalLPCengineoffuse. MainVTOLbatteryindependent. Tiltrotor engine-out assumption glide landing. These selected repeats do not demonstrate global optimality under revised mission.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32485467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Current modeling controls, not measured vehicle facts. Sources: eagle-threeway-20261026-v2-grid/refine/joint plans; cases/tr60-vv/plan-final.json; kari-dual-tr60/tr100 campaigns. Their cited literature and reference comparisons remain on original main-deck verification slides. Exact fixed mission variables and points in companion evidence. No new hardware specifications introduced here.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48244864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67physicalgridpoints repeatedwithtwobuilds=134runs;remaining67baseline/diagnostic/fixed/warm/focusedruns=201. Public finalNASA model package byte-identical to local original. Four cost-field compatibility removals. Separate isolated wingweight assignment-order correction, no coefficients tuned. Paper trade curves predate final rotor-model update, so this is a paper-style sweep with final published models rather than exact recovery of unavailable earlier deck.</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46763455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Native editable charts from [T] Current NDARC predictions: nasa-tr-sizing-20261028*; research/nasa-tr-sizing-20261028/all-results.json, sweep-summary.json and final-baseline-comparison.json.. Acceptance is accepted_sizing_point in all-results.json, not normal process exit or hardware qualification. Chart lines connect accepted samples and do not prove behavior across failed gaps. Full exact unsuccessful samples retained. </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21072253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Native editable charts from [T] Current NDARC predictions: nasa-tr-sizing-20261028*; research/nasa-tr-sizing-20261028/all-results.json, sweep-summary.json and final-baseline-comparison.json.. Acceptance is accepted_sizing_point in all-results.json, not normal process exit or hardware qualification. Chart lines connect accepted samples and do not prove behavior across failed gaps. Full exact unsuccessful samples retained. </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53032006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Native editable charts from [T] Current NDARC predictions: nasa-tr-sizing-20261028*; research/nasa-tr-sizing-20261028/all-results.json, sweep-summary.json and final-baseline-comparison.json.. Acceptance is accepted_sizing_point in all-results.json, not normal process exit or hardware qualification. Chart lines connect accepted samples and do not prove behavior across failed gaps. Full exact unsuccessful samples retained. Electric full off-design performance remains unresolved even when sizing converges.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05425140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Native editable charts from [T] Current NDARC predictions: nasa-tr-sizing-20261028*; research/nasa-tr-sizing-20261028/all-results.json, sweep-summary.json and final-baseline-comparison.json.. Acceptance is accepted_sizing_point in all-results.json, not normal process exit or hardware qualification. Chart lines connect accepted samples and do not prove behavior across failed gaps. Full exact unsuccessful samples retained. Electric full off-design performance remains unresolved even when sizing converges.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73560856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Current TS minima:DL1=11 DGW4333.206;WL60=4298.422;DL2=11=4298.422 vs12=4299.232;tip700=4244.175. ElectricDL1=9=7433.375;WL70=7108.612;DL2atWL65=10=7136.704;acceptedtip650=6814.542. Electrictip700DGW6779.204and7506768.680notaccepted. SequentialfinalDLusespaperWL65,notreoptimizedWL70. No global multidimensional optimizer claimed.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17981937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Final reference comparison at paperDL12/WL60/tip550TSandDL10/WL65/tip550electric. These are retained NASA settings, not the minimumweight points found here. Isolated GetWeightAFDD_WingTR correction assigns Wfit before using it; separate build/Debug-cases5-wingfit/ndarc.exe. Original canonical source/build preserved. Strong TS agreement supports this model reproduction but does not establish all NDARC usage or hardware validation. Electricweightmatchaloneisinsufficient.</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07729349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NASApublicdecksincludeTASK_Size1andTASK_Perf1. CompatibilityissueSET_Pmargin affectsperformance setup; removals and missioncontrols mean altered conditions. E5foldersoverall,olderLPCturboshaft_electric3,newLPCturboelectric4. NewretryE1TE4(2+2). Exactsourcevaluesandconditions inresearch/projectsandnativeevidence, no componentmassorhardwarevalidationinferred.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76884112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journal labels are included across this appendix. Unverified propulsion remains unverified. Saved reference outputs from a different NDARCversion do not count as fresh solver reproduction. Full campaign identity,inputsha256,status and nativepath in companion evidence. No systematic design grid inferred from repeated runs or performance speed matrices.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33623797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journal labels are included across this appendix. Unverified propulsion remains unverified. Saved reference outputs from a different NDARCversion do not count as fresh solver reproduction. Full campaign identity,inputsha256,status and nativepath in companion evidence. No systematic design grid inferred from repeated runs or performance speed matrices.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79034840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journal labels are included across this appendix. Unverified propulsion remains unverified. Saved reference outputs from a different NDARCversion do not count as fresh solver reproduction. Full campaign identity,inputsha256,status and nativepath in companion evidence. No systematic design grid inferred from repeated runs or performance speed matrices.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21711200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7878845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72155082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Companion files preserve all recovered sampled coordinates as marginal sets and original plans. Numerical convergence does not establish feasibility, measured performance or flight qualification. No new NDARC runs were made for slide production.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5444272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96EE024-8F99-42E6-B865-F9C14482956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D4CAC2A8-6101-4563-B1CB-A9D9840D6817}"/>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652BDCC4-408A-42C1-AE82-3BB13CF378F3}"/>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D061B2A4-AD99-44B5-B2E1-F757F907907B}"/>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FC1F2446-2954-435E-9479-025BDD3BBE0F}"/>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D159E5D-3D65-418A-A96C-4222DB1C584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6EBE2866-C82B-416B-AC21-27BC095D73D2}"/>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11579-A0B7-7472-64B8-DB16DD51E831}"/>
              </a:ext>
            </a:extLst>
          </p:cNvPr>
          <p:cNvSpPr>
            <a:spLocks noGrp="1"/>
          </p:cNvSpPr>
          <p:nvPr>
            <p:ph type="title"/>
          </p:nvPr>
        </p:nvSpPr>
        <p:spPr>
          <a:xfrm>
            <a:off x="838200" y="365125"/>
            <a:ext cx="10515600" cy="486000"/>
          </a:xfrm>
        </p:spPr>
        <p:txBody>
          <a:bodyPr>
            <a:normAutofit/>
          </a:bodyPr>
          <a:lstStyle>
            <a:lvl1pPr>
              <a:defRPr sz="2400" b="1">
                <a:latin typeface="Calibri" panose="020F0502020204030204" pitchFamily="34" charset="0"/>
                <a:ea typeface="Calibri" panose="020F0502020204030204" pitchFamily="34" charset="0"/>
                <a:cs typeface="Calibri" panose="020F0502020204030204"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79BB00A5-10A5-B0AA-9076-D879F5A87395}"/>
              </a:ext>
            </a:extLst>
          </p:cNvPr>
          <p:cNvSpPr>
            <a:spLocks noGrp="1"/>
          </p:cNvSpPr>
          <p:nvPr>
            <p:ph idx="1"/>
          </p:nvPr>
        </p:nvSpPr>
        <p:spPr>
          <a:xfrm>
            <a:off x="838200" y="1056903"/>
            <a:ext cx="10515600" cy="5227200"/>
          </a:xfrm>
        </p:spPr>
        <p:txBody>
          <a:bodyPr/>
          <a:lstStyle>
            <a:lvl1pPr>
              <a:buNone/>
              <a:defRPr sz="1800" b="1">
                <a:latin typeface="Calibri" panose="020F0502020204030204" pitchFamily="34" charset="0"/>
                <a:ea typeface="Calibri" panose="020F0502020204030204" pitchFamily="34" charset="0"/>
                <a:cs typeface="Calibri" panose="020F0502020204030204" pitchFamily="34" charset="0"/>
              </a:defRPr>
            </a:lvl1pPr>
            <a:lvl2pPr marL="0" indent="-190800">
              <a:defRPr sz="1600">
                <a:latin typeface="Calibri" panose="020F0502020204030204" pitchFamily="34" charset="0"/>
                <a:ea typeface="Calibri" panose="020F0502020204030204" pitchFamily="34" charset="0"/>
                <a:cs typeface="Calibri" panose="020F0502020204030204" pitchFamily="34" charset="0"/>
              </a:defRPr>
            </a:lvl2pPr>
            <a:lvl3pPr marL="687600">
              <a:buFont typeface="Calibri" panose="020F0502020204030204" pitchFamily="34" charset="0"/>
              <a:buChar char="̶"/>
              <a:defRPr sz="1200">
                <a:latin typeface="Calibri" panose="020F0502020204030204" pitchFamily="34" charset="0"/>
                <a:ea typeface="Calibri" panose="020F0502020204030204" pitchFamily="34" charset="0"/>
                <a:cs typeface="Calibri" panose="020F0502020204030204" pitchFamily="34" charset="0"/>
              </a:defRPr>
            </a:lvl3pPr>
            <a:lvl4pPr marL="1029600">
              <a:buFont typeface="Calibri" panose="020F0502020204030204" pitchFamily="34" charset="0"/>
              <a:buChar char="◦"/>
              <a:defRPr sz="1200">
                <a:latin typeface="Calibri" panose="020F0502020204030204" pitchFamily="34" charset="0"/>
                <a:ea typeface="Calibri" panose="020F0502020204030204" pitchFamily="34" charset="0"/>
                <a:cs typeface="Calibri" panose="020F0502020204030204" pitchFamily="34" charset="0"/>
              </a:defRPr>
            </a:lvl4pPr>
            <a:lvl5pPr marL="1371600">
              <a:defRPr sz="1200">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  </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00012C8-9FF9-BB7C-25FF-99E742376B38}"/>
              </a:ext>
            </a:extLst>
          </p:cNvPr>
          <p:cNvSpPr>
            <a:spLocks noGrp="1"/>
          </p:cNvSpPr>
          <p:nvPr>
            <p:ph type="dt" sz="half" idx="10"/>
          </p:nvPr>
        </p:nvSpPr>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fld id="{910ABBC1-8358-479C-984D-30EAFF68FE55}" type="datetimeFigureOut">
              <a:rPr lang="en-US" smtClean="0"/>
              <a:pPr/>
              <a:t>10/28/2026</a:t>
            </a:fld>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5" name="Footer Placeholder 4">
            <a:extLst>
              <a:ext uri="{FF2B5EF4-FFF2-40B4-BE49-F238E27FC236}">
                <a16:creationId xmlns:a16="http://schemas.microsoft.com/office/drawing/2014/main" id="{5DCA804C-5FC4-D571-FEE7-EC51EAC1D9AA}"/>
              </a:ext>
            </a:extLst>
          </p:cNvPr>
          <p:cNvSpPr>
            <a:spLocks noGrp="1"/>
          </p:cNvSpPr>
          <p:nvPr>
            <p:ph type="ftr" sz="quarter" idx="11"/>
          </p:nvPr>
        </p:nvSpPr>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6" name="Slide Number Placeholder 5">
            <a:extLst>
              <a:ext uri="{FF2B5EF4-FFF2-40B4-BE49-F238E27FC236}">
                <a16:creationId xmlns:a16="http://schemas.microsoft.com/office/drawing/2014/main" id="{3C88636D-1BA5-55CE-16F8-A655B92B270E}"/>
              </a:ext>
            </a:extLst>
          </p:cNvPr>
          <p:cNvSpPr>
            <a:spLocks noGrp="1"/>
          </p:cNvSpPr>
          <p:nvPr>
            <p:ph type="sldNum" sz="quarter" idx="12"/>
          </p:nvPr>
        </p:nvSpPr>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fld id="{D3A3D233-CD81-46F5-991D-D7A83076E3BB}" type="slidenum">
              <a:rPr lang="en-US" smtClean="0"/>
              <a:pPr/>
              <a:t>‹#›</a:t>
            </a:fld>
            <a:endParaRPr lang="en-US">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897911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D0F69-E493-98A5-C07A-04F5ED41C8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AC83D52-77AF-14A9-5D79-81D8476A2F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9FF680E-9569-3A79-53D0-CC80D3F5BCCB}"/>
              </a:ext>
            </a:extLst>
          </p:cNvPr>
          <p:cNvSpPr>
            <a:spLocks noGrp="1"/>
          </p:cNvSpPr>
          <p:nvPr>
            <p:ph type="dt" sz="half" idx="10"/>
          </p:nvPr>
        </p:nvSpPr>
        <p:spPr/>
        <p:txBody>
          <a:bodyPr/>
          <a:lstStyle/>
          <a:p>
            <a:fld id="{910ABBC1-8358-479C-984D-30EAFF68FE55}" type="datetimeFigureOut">
              <a:rPr lang="en-US" smtClean="0"/>
              <a:t>10/28/2026</a:t>
            </a:fld>
            <a:endParaRPr lang="en-US"/>
          </a:p>
        </p:txBody>
      </p:sp>
      <p:sp>
        <p:nvSpPr>
          <p:cNvPr id="5" name="Footer Placeholder 4">
            <a:extLst>
              <a:ext uri="{FF2B5EF4-FFF2-40B4-BE49-F238E27FC236}">
                <a16:creationId xmlns:a16="http://schemas.microsoft.com/office/drawing/2014/main" id="{A880767A-A2C4-B73C-42C0-2AD1DFF67E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20C39C-8D0C-08DE-8A4F-21980FB5F179}"/>
              </a:ext>
            </a:extLst>
          </p:cNvPr>
          <p:cNvSpPr>
            <a:spLocks noGrp="1"/>
          </p:cNvSpPr>
          <p:nvPr>
            <p:ph type="sldNum" sz="quarter" idx="12"/>
          </p:nvPr>
        </p:nvSpPr>
        <p:spPr/>
        <p:txBody>
          <a:bodyPr/>
          <a:lstStyle/>
          <a:p>
            <a:fld id="{D3A3D233-CD81-46F5-991D-D7A83076E3BB}" type="slidenum">
              <a:rPr lang="en-US" smtClean="0"/>
              <a:t>‹#›</a:t>
            </a:fld>
            <a:endParaRPr lang="en-US"/>
          </a:p>
        </p:txBody>
      </p:sp>
    </p:spTree>
    <p:extLst>
      <p:ext uri="{BB962C8B-B14F-4D97-AF65-F5344CB8AC3E}">
        <p14:creationId xmlns:p14="http://schemas.microsoft.com/office/powerpoint/2010/main" val="5846026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11579-A0B7-7472-64B8-DB16DD51E831}"/>
              </a:ext>
            </a:extLst>
          </p:cNvPr>
          <p:cNvSpPr>
            <a:spLocks noGrp="1"/>
          </p:cNvSpPr>
          <p:nvPr>
            <p:ph type="title"/>
          </p:nvPr>
        </p:nvSpPr>
        <p:spPr>
          <a:xfrm>
            <a:off x="838200" y="365125"/>
            <a:ext cx="10515600" cy="486000"/>
          </a:xfrm>
        </p:spPr>
        <p:txBody>
          <a:bodyPr>
            <a:normAutofit/>
          </a:bodyPr>
          <a:lstStyle>
            <a:lvl1pPr>
              <a:defRPr sz="2400" b="1">
                <a:latin typeface="Calibri" panose="020F0502020204030204" pitchFamily="34" charset="0"/>
                <a:ea typeface="Calibri" panose="020F0502020204030204" pitchFamily="34" charset="0"/>
                <a:cs typeface="Calibri" panose="020F0502020204030204"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79BB00A5-10A5-B0AA-9076-D879F5A87395}"/>
              </a:ext>
            </a:extLst>
          </p:cNvPr>
          <p:cNvSpPr>
            <a:spLocks noGrp="1"/>
          </p:cNvSpPr>
          <p:nvPr>
            <p:ph idx="1"/>
          </p:nvPr>
        </p:nvSpPr>
        <p:spPr>
          <a:xfrm>
            <a:off x="838200" y="1056903"/>
            <a:ext cx="10515600" cy="5227200"/>
          </a:xfrm>
        </p:spPr>
        <p:txBody>
          <a:bodyPr/>
          <a:lstStyle>
            <a:lvl1pPr>
              <a:buNone/>
              <a:defRPr sz="1800" b="1">
                <a:latin typeface="Calibri" panose="020F0502020204030204" pitchFamily="34" charset="0"/>
                <a:ea typeface="Calibri" panose="020F0502020204030204" pitchFamily="34" charset="0"/>
                <a:cs typeface="Calibri" panose="020F0502020204030204" pitchFamily="34" charset="0"/>
              </a:defRPr>
            </a:lvl1pPr>
            <a:lvl2pPr marL="0" indent="-190800">
              <a:defRPr sz="1600">
                <a:latin typeface="Calibri" panose="020F0502020204030204" pitchFamily="34" charset="0"/>
                <a:ea typeface="Calibri" panose="020F0502020204030204" pitchFamily="34" charset="0"/>
                <a:cs typeface="Calibri" panose="020F0502020204030204" pitchFamily="34" charset="0"/>
              </a:defRPr>
            </a:lvl2pPr>
            <a:lvl3pPr marL="687600">
              <a:buFont typeface="Calibri" panose="020F0502020204030204" pitchFamily="34" charset="0"/>
              <a:buChar char="̶"/>
              <a:defRPr sz="1200">
                <a:latin typeface="Calibri" panose="020F0502020204030204" pitchFamily="34" charset="0"/>
                <a:ea typeface="Calibri" panose="020F0502020204030204" pitchFamily="34" charset="0"/>
                <a:cs typeface="Calibri" panose="020F0502020204030204" pitchFamily="34" charset="0"/>
              </a:defRPr>
            </a:lvl3pPr>
            <a:lvl4pPr marL="1029600">
              <a:buFont typeface="Calibri" panose="020F0502020204030204" pitchFamily="34" charset="0"/>
              <a:buChar char="◦"/>
              <a:defRPr sz="1200">
                <a:latin typeface="Calibri" panose="020F0502020204030204" pitchFamily="34" charset="0"/>
                <a:ea typeface="Calibri" panose="020F0502020204030204" pitchFamily="34" charset="0"/>
                <a:cs typeface="Calibri" panose="020F0502020204030204" pitchFamily="34" charset="0"/>
              </a:defRPr>
            </a:lvl4pPr>
            <a:lvl5pPr marL="1371600">
              <a:defRPr sz="1200">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  </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00012C8-9FF9-BB7C-25FF-99E742376B38}"/>
              </a:ext>
            </a:extLst>
          </p:cNvPr>
          <p:cNvSpPr>
            <a:spLocks noGrp="1"/>
          </p:cNvSpPr>
          <p:nvPr>
            <p:ph type="dt" sz="half" idx="10"/>
          </p:nvPr>
        </p:nvSpPr>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fld id="{910ABBC1-8358-479C-984D-30EAFF68FE55}" type="datetimeFigureOut">
              <a:rPr lang="en-US" smtClean="0"/>
              <a:pPr/>
              <a:t>10/28/2026</a:t>
            </a:fld>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5" name="Footer Placeholder 4">
            <a:extLst>
              <a:ext uri="{FF2B5EF4-FFF2-40B4-BE49-F238E27FC236}">
                <a16:creationId xmlns:a16="http://schemas.microsoft.com/office/drawing/2014/main" id="{5DCA804C-5FC4-D571-FEE7-EC51EAC1D9AA}"/>
              </a:ext>
            </a:extLst>
          </p:cNvPr>
          <p:cNvSpPr>
            <a:spLocks noGrp="1"/>
          </p:cNvSpPr>
          <p:nvPr>
            <p:ph type="ftr" sz="quarter" idx="11"/>
          </p:nvPr>
        </p:nvSpPr>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6" name="Slide Number Placeholder 5">
            <a:extLst>
              <a:ext uri="{FF2B5EF4-FFF2-40B4-BE49-F238E27FC236}">
                <a16:creationId xmlns:a16="http://schemas.microsoft.com/office/drawing/2014/main" id="{3C88636D-1BA5-55CE-16F8-A655B92B270E}"/>
              </a:ext>
            </a:extLst>
          </p:cNvPr>
          <p:cNvSpPr>
            <a:spLocks noGrp="1"/>
          </p:cNvSpPr>
          <p:nvPr>
            <p:ph type="sldNum" sz="quarter" idx="12"/>
          </p:nvPr>
        </p:nvSpPr>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fld id="{D3A3D233-CD81-46F5-991D-D7A83076E3BB}" type="slidenum">
              <a:rPr lang="en-US" smtClean="0"/>
              <a:pPr/>
              <a:t>‹#›</a:t>
            </a:fld>
            <a:endParaRPr lang="en-US">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564669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11579-A0B7-7472-64B8-DB16DD51E831}"/>
              </a:ext>
            </a:extLst>
          </p:cNvPr>
          <p:cNvSpPr>
            <a:spLocks noGrp="1"/>
          </p:cNvSpPr>
          <p:nvPr>
            <p:ph type="title"/>
          </p:nvPr>
        </p:nvSpPr>
        <p:spPr>
          <a:xfrm>
            <a:off x="838200" y="365125"/>
            <a:ext cx="10515600" cy="486000"/>
          </a:xfrm>
        </p:spPr>
        <p:txBody>
          <a:bodyPr>
            <a:normAutofit/>
          </a:bodyPr>
          <a:lstStyle>
            <a:lvl1pPr>
              <a:defRPr sz="2400" b="1">
                <a:latin typeface="Calibri" panose="020F0502020204030204" pitchFamily="34" charset="0"/>
                <a:ea typeface="Calibri" panose="020F0502020204030204" pitchFamily="34" charset="0"/>
                <a:cs typeface="Calibri" panose="020F0502020204030204"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79BB00A5-10A5-B0AA-9076-D879F5A87395}"/>
              </a:ext>
            </a:extLst>
          </p:cNvPr>
          <p:cNvSpPr>
            <a:spLocks noGrp="1"/>
          </p:cNvSpPr>
          <p:nvPr>
            <p:ph idx="1"/>
          </p:nvPr>
        </p:nvSpPr>
        <p:spPr>
          <a:xfrm>
            <a:off x="838200" y="1056903"/>
            <a:ext cx="5040000" cy="5227200"/>
          </a:xfrm>
        </p:spPr>
        <p:txBody>
          <a:bodyPr/>
          <a:lstStyle>
            <a:lvl1pPr>
              <a:buNone/>
              <a:defRPr sz="1800" b="1">
                <a:latin typeface="Calibri" panose="020F0502020204030204" pitchFamily="34" charset="0"/>
                <a:ea typeface="Calibri" panose="020F0502020204030204" pitchFamily="34" charset="0"/>
                <a:cs typeface="Calibri" panose="020F0502020204030204" pitchFamily="34" charset="0"/>
              </a:defRPr>
            </a:lvl1pPr>
            <a:lvl2pPr marL="0" indent="-190800">
              <a:defRPr sz="1600">
                <a:latin typeface="Calibri" panose="020F0502020204030204" pitchFamily="34" charset="0"/>
                <a:ea typeface="Calibri" panose="020F0502020204030204" pitchFamily="34" charset="0"/>
                <a:cs typeface="Calibri" panose="020F0502020204030204" pitchFamily="34" charset="0"/>
              </a:defRPr>
            </a:lvl2pPr>
            <a:lvl3pPr marL="687600">
              <a:buFont typeface="Calibri" panose="020F0502020204030204" pitchFamily="34" charset="0"/>
              <a:buChar char="-"/>
              <a:defRPr sz="1200">
                <a:latin typeface="Calibri" panose="020F0502020204030204" pitchFamily="34" charset="0"/>
                <a:ea typeface="Calibri" panose="020F0502020204030204" pitchFamily="34" charset="0"/>
                <a:cs typeface="Calibri" panose="020F0502020204030204" pitchFamily="34" charset="0"/>
              </a:defRPr>
            </a:lvl3pPr>
            <a:lvl4pPr marL="1029600">
              <a:buFont typeface="Courier New" panose="02070309020205020404" pitchFamily="49" charset="0"/>
              <a:buChar char="o"/>
              <a:defRPr sz="1200">
                <a:latin typeface="Calibri" panose="020F0502020204030204" pitchFamily="34" charset="0"/>
                <a:ea typeface="Calibri" panose="020F0502020204030204" pitchFamily="34" charset="0"/>
                <a:cs typeface="Calibri" panose="020F0502020204030204" pitchFamily="34" charset="0"/>
              </a:defRPr>
            </a:lvl4pPr>
            <a:lvl5pPr marL="1371600">
              <a:defRPr sz="1200">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00012C8-9FF9-BB7C-25FF-99E742376B38}"/>
              </a:ext>
            </a:extLst>
          </p:cNvPr>
          <p:cNvSpPr>
            <a:spLocks noGrp="1"/>
          </p:cNvSpPr>
          <p:nvPr>
            <p:ph type="dt" sz="half" idx="10"/>
          </p:nvPr>
        </p:nvSpPr>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fld id="{910ABBC1-8358-479C-984D-30EAFF68FE55}" type="datetimeFigureOut">
              <a:rPr lang="en-US" smtClean="0"/>
              <a:pPr/>
              <a:t>10/28/2026</a:t>
            </a:fld>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5" name="Footer Placeholder 4">
            <a:extLst>
              <a:ext uri="{FF2B5EF4-FFF2-40B4-BE49-F238E27FC236}">
                <a16:creationId xmlns:a16="http://schemas.microsoft.com/office/drawing/2014/main" id="{5DCA804C-5FC4-D571-FEE7-EC51EAC1D9AA}"/>
              </a:ext>
            </a:extLst>
          </p:cNvPr>
          <p:cNvSpPr>
            <a:spLocks noGrp="1"/>
          </p:cNvSpPr>
          <p:nvPr>
            <p:ph type="ftr" sz="quarter" idx="11"/>
          </p:nvPr>
        </p:nvSpPr>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6" name="Slide Number Placeholder 5">
            <a:extLst>
              <a:ext uri="{FF2B5EF4-FFF2-40B4-BE49-F238E27FC236}">
                <a16:creationId xmlns:a16="http://schemas.microsoft.com/office/drawing/2014/main" id="{3C88636D-1BA5-55CE-16F8-A655B92B270E}"/>
              </a:ext>
            </a:extLst>
          </p:cNvPr>
          <p:cNvSpPr>
            <a:spLocks noGrp="1"/>
          </p:cNvSpPr>
          <p:nvPr>
            <p:ph type="sldNum" sz="quarter" idx="12"/>
          </p:nvPr>
        </p:nvSpPr>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fld id="{D3A3D233-CD81-46F5-991D-D7A83076E3BB}" type="slidenum">
              <a:rPr lang="en-US" smtClean="0"/>
              <a:pPr/>
              <a:t>‹#›</a:t>
            </a:fld>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7" name="Content Placeholder 2">
            <a:extLst>
              <a:ext uri="{FF2B5EF4-FFF2-40B4-BE49-F238E27FC236}">
                <a16:creationId xmlns:a16="http://schemas.microsoft.com/office/drawing/2014/main" id="{2F1A37D5-48E3-AE7C-F3C2-F0412A3DFF0C}"/>
              </a:ext>
            </a:extLst>
          </p:cNvPr>
          <p:cNvSpPr>
            <a:spLocks noGrp="1"/>
          </p:cNvSpPr>
          <p:nvPr>
            <p:ph idx="13"/>
          </p:nvPr>
        </p:nvSpPr>
        <p:spPr>
          <a:xfrm>
            <a:off x="6313802" y="1056903"/>
            <a:ext cx="5040000" cy="5227200"/>
          </a:xfrm>
        </p:spPr>
        <p:txBody>
          <a:bodyPr/>
          <a:lstStyle>
            <a:lvl1pPr>
              <a:buNone/>
              <a:defRPr sz="1800" b="1">
                <a:latin typeface="Calibri" panose="020F0502020204030204" pitchFamily="34" charset="0"/>
                <a:ea typeface="Calibri" panose="020F0502020204030204" pitchFamily="34" charset="0"/>
                <a:cs typeface="Calibri" panose="020F0502020204030204" pitchFamily="34" charset="0"/>
              </a:defRPr>
            </a:lvl1pPr>
            <a:lvl2pPr marL="0" indent="-190800">
              <a:defRPr sz="1600">
                <a:latin typeface="Calibri" panose="020F0502020204030204" pitchFamily="34" charset="0"/>
                <a:ea typeface="Calibri" panose="020F0502020204030204" pitchFamily="34" charset="0"/>
                <a:cs typeface="Calibri" panose="020F0502020204030204" pitchFamily="34" charset="0"/>
              </a:defRPr>
            </a:lvl2pPr>
            <a:lvl3pPr marL="687600">
              <a:buFont typeface="Calibri" panose="020F0502020204030204" pitchFamily="34" charset="0"/>
              <a:buChar char="-"/>
              <a:defRPr sz="1200">
                <a:latin typeface="Calibri" panose="020F0502020204030204" pitchFamily="34" charset="0"/>
                <a:ea typeface="Calibri" panose="020F0502020204030204" pitchFamily="34" charset="0"/>
                <a:cs typeface="Calibri" panose="020F0502020204030204" pitchFamily="34" charset="0"/>
              </a:defRPr>
            </a:lvl3pPr>
            <a:lvl4pPr marL="1029600">
              <a:buFont typeface="Courier New" panose="02070309020205020404" pitchFamily="49" charset="0"/>
              <a:buChar char="o"/>
              <a:defRPr sz="1200">
                <a:latin typeface="Calibri" panose="020F0502020204030204" pitchFamily="34" charset="0"/>
                <a:ea typeface="Calibri" panose="020F0502020204030204" pitchFamily="34" charset="0"/>
                <a:cs typeface="Calibri" panose="020F0502020204030204" pitchFamily="34" charset="0"/>
              </a:defRPr>
            </a:lvl4pPr>
            <a:lvl5pPr marL="1371600">
              <a:defRPr sz="1200">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71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11579-A0B7-7472-64B8-DB16DD51E831}"/>
              </a:ext>
            </a:extLst>
          </p:cNvPr>
          <p:cNvSpPr>
            <a:spLocks noGrp="1"/>
          </p:cNvSpPr>
          <p:nvPr>
            <p:ph type="title"/>
          </p:nvPr>
        </p:nvSpPr>
        <p:spPr>
          <a:xfrm>
            <a:off x="838200" y="365125"/>
            <a:ext cx="10515600" cy="486000"/>
          </a:xfrm>
        </p:spPr>
        <p:txBody>
          <a:bodyPr>
            <a:normAutofit/>
          </a:bodyPr>
          <a:lstStyle>
            <a:lvl1pPr>
              <a:defRPr sz="2400" b="1">
                <a:latin typeface="Calibri" panose="020F0502020204030204" pitchFamily="34" charset="0"/>
                <a:ea typeface="Calibri" panose="020F0502020204030204" pitchFamily="34" charset="0"/>
                <a:cs typeface="Calibri" panose="020F0502020204030204"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79BB00A5-10A5-B0AA-9076-D879F5A87395}"/>
              </a:ext>
            </a:extLst>
          </p:cNvPr>
          <p:cNvSpPr>
            <a:spLocks noGrp="1"/>
          </p:cNvSpPr>
          <p:nvPr>
            <p:ph idx="1"/>
          </p:nvPr>
        </p:nvSpPr>
        <p:spPr>
          <a:xfrm>
            <a:off x="838200" y="1056903"/>
            <a:ext cx="3240000" cy="5227200"/>
          </a:xfrm>
        </p:spPr>
        <p:txBody>
          <a:bodyPr/>
          <a:lstStyle>
            <a:lvl1pPr>
              <a:buNone/>
              <a:defRPr sz="1800" b="1">
                <a:latin typeface="Calibri" panose="020F0502020204030204" pitchFamily="34" charset="0"/>
                <a:ea typeface="Calibri" panose="020F0502020204030204" pitchFamily="34" charset="0"/>
                <a:cs typeface="Calibri" panose="020F0502020204030204" pitchFamily="34" charset="0"/>
              </a:defRPr>
            </a:lvl1pPr>
            <a:lvl2pPr marL="0" indent="-190800">
              <a:defRPr sz="1600">
                <a:latin typeface="Calibri" panose="020F0502020204030204" pitchFamily="34" charset="0"/>
                <a:ea typeface="Calibri" panose="020F0502020204030204" pitchFamily="34" charset="0"/>
                <a:cs typeface="Calibri" panose="020F0502020204030204" pitchFamily="34" charset="0"/>
              </a:defRPr>
            </a:lvl2pPr>
            <a:lvl3pPr marL="687600">
              <a:buFont typeface="Calibri" panose="020F0502020204030204" pitchFamily="34" charset="0"/>
              <a:buChar char="-"/>
              <a:defRPr sz="1200">
                <a:latin typeface="Calibri" panose="020F0502020204030204" pitchFamily="34" charset="0"/>
                <a:ea typeface="Calibri" panose="020F0502020204030204" pitchFamily="34" charset="0"/>
                <a:cs typeface="Calibri" panose="020F0502020204030204" pitchFamily="34" charset="0"/>
              </a:defRPr>
            </a:lvl3pPr>
            <a:lvl4pPr marL="1029600">
              <a:buFont typeface="Courier New" panose="02070309020205020404" pitchFamily="49" charset="0"/>
              <a:buChar char="o"/>
              <a:defRPr sz="1200">
                <a:latin typeface="Calibri" panose="020F0502020204030204" pitchFamily="34" charset="0"/>
                <a:ea typeface="Calibri" panose="020F0502020204030204" pitchFamily="34" charset="0"/>
                <a:cs typeface="Calibri" panose="020F0502020204030204" pitchFamily="34" charset="0"/>
              </a:defRPr>
            </a:lvl4pPr>
            <a:lvl5pPr marL="1371600">
              <a:defRPr sz="1200">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00012C8-9FF9-BB7C-25FF-99E742376B38}"/>
              </a:ext>
            </a:extLst>
          </p:cNvPr>
          <p:cNvSpPr>
            <a:spLocks noGrp="1"/>
          </p:cNvSpPr>
          <p:nvPr>
            <p:ph type="dt" sz="half" idx="10"/>
          </p:nvPr>
        </p:nvSpPr>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fld id="{910ABBC1-8358-479C-984D-30EAFF68FE55}" type="datetimeFigureOut">
              <a:rPr lang="en-US" smtClean="0"/>
              <a:pPr/>
              <a:t>10/28/2026</a:t>
            </a:fld>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5" name="Footer Placeholder 4">
            <a:extLst>
              <a:ext uri="{FF2B5EF4-FFF2-40B4-BE49-F238E27FC236}">
                <a16:creationId xmlns:a16="http://schemas.microsoft.com/office/drawing/2014/main" id="{5DCA804C-5FC4-D571-FEE7-EC51EAC1D9AA}"/>
              </a:ext>
            </a:extLst>
          </p:cNvPr>
          <p:cNvSpPr>
            <a:spLocks noGrp="1"/>
          </p:cNvSpPr>
          <p:nvPr>
            <p:ph type="ftr" sz="quarter" idx="11"/>
          </p:nvPr>
        </p:nvSpPr>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6" name="Slide Number Placeholder 5">
            <a:extLst>
              <a:ext uri="{FF2B5EF4-FFF2-40B4-BE49-F238E27FC236}">
                <a16:creationId xmlns:a16="http://schemas.microsoft.com/office/drawing/2014/main" id="{3C88636D-1BA5-55CE-16F8-A655B92B270E}"/>
              </a:ext>
            </a:extLst>
          </p:cNvPr>
          <p:cNvSpPr>
            <a:spLocks noGrp="1"/>
          </p:cNvSpPr>
          <p:nvPr>
            <p:ph type="sldNum" sz="quarter" idx="12"/>
          </p:nvPr>
        </p:nvSpPr>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fld id="{D3A3D233-CD81-46F5-991D-D7A83076E3BB}" type="slidenum">
              <a:rPr lang="en-US" smtClean="0"/>
              <a:pPr/>
              <a:t>‹#›</a:t>
            </a:fld>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7" name="Content Placeholder 2">
            <a:extLst>
              <a:ext uri="{FF2B5EF4-FFF2-40B4-BE49-F238E27FC236}">
                <a16:creationId xmlns:a16="http://schemas.microsoft.com/office/drawing/2014/main" id="{2F1A37D5-48E3-AE7C-F3C2-F0412A3DFF0C}"/>
              </a:ext>
            </a:extLst>
          </p:cNvPr>
          <p:cNvSpPr>
            <a:spLocks noGrp="1"/>
          </p:cNvSpPr>
          <p:nvPr>
            <p:ph idx="13"/>
          </p:nvPr>
        </p:nvSpPr>
        <p:spPr>
          <a:xfrm>
            <a:off x="4473466" y="1056903"/>
            <a:ext cx="3240000" cy="5227200"/>
          </a:xfrm>
        </p:spPr>
        <p:txBody>
          <a:bodyPr/>
          <a:lstStyle>
            <a:lvl1pPr>
              <a:buNone/>
              <a:defRPr sz="1800" b="1">
                <a:latin typeface="Calibri" panose="020F0502020204030204" pitchFamily="34" charset="0"/>
                <a:ea typeface="Calibri" panose="020F0502020204030204" pitchFamily="34" charset="0"/>
                <a:cs typeface="Calibri" panose="020F0502020204030204" pitchFamily="34" charset="0"/>
              </a:defRPr>
            </a:lvl1pPr>
            <a:lvl2pPr marL="0" indent="-190800">
              <a:defRPr sz="1600">
                <a:latin typeface="Calibri" panose="020F0502020204030204" pitchFamily="34" charset="0"/>
                <a:ea typeface="Calibri" panose="020F0502020204030204" pitchFamily="34" charset="0"/>
                <a:cs typeface="Calibri" panose="020F0502020204030204" pitchFamily="34" charset="0"/>
              </a:defRPr>
            </a:lvl2pPr>
            <a:lvl3pPr marL="687600">
              <a:buFont typeface="Calibri" panose="020F0502020204030204" pitchFamily="34" charset="0"/>
              <a:buChar char="-"/>
              <a:defRPr sz="1200">
                <a:latin typeface="Calibri" panose="020F0502020204030204" pitchFamily="34" charset="0"/>
                <a:ea typeface="Calibri" panose="020F0502020204030204" pitchFamily="34" charset="0"/>
                <a:cs typeface="Calibri" panose="020F0502020204030204" pitchFamily="34" charset="0"/>
              </a:defRPr>
            </a:lvl3pPr>
            <a:lvl4pPr marL="1029600">
              <a:buFont typeface="Courier New" panose="02070309020205020404" pitchFamily="49" charset="0"/>
              <a:buChar char="o"/>
              <a:defRPr sz="1200">
                <a:latin typeface="Calibri" panose="020F0502020204030204" pitchFamily="34" charset="0"/>
                <a:ea typeface="Calibri" panose="020F0502020204030204" pitchFamily="34" charset="0"/>
                <a:cs typeface="Calibri" panose="020F0502020204030204" pitchFamily="34" charset="0"/>
              </a:defRPr>
            </a:lvl4pPr>
            <a:lvl5pPr marL="1371600">
              <a:defRPr sz="1200">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a:extLst>
              <a:ext uri="{FF2B5EF4-FFF2-40B4-BE49-F238E27FC236}">
                <a16:creationId xmlns:a16="http://schemas.microsoft.com/office/drawing/2014/main" id="{E9FF5FCB-6A8B-349E-3C93-71AE5C233EA4}"/>
              </a:ext>
            </a:extLst>
          </p:cNvPr>
          <p:cNvSpPr>
            <a:spLocks noGrp="1"/>
          </p:cNvSpPr>
          <p:nvPr>
            <p:ph idx="14"/>
          </p:nvPr>
        </p:nvSpPr>
        <p:spPr>
          <a:xfrm>
            <a:off x="8108732" y="1039966"/>
            <a:ext cx="3240000" cy="5227200"/>
          </a:xfrm>
        </p:spPr>
        <p:txBody>
          <a:bodyPr/>
          <a:lstStyle>
            <a:lvl1pPr>
              <a:buNone/>
              <a:defRPr sz="1800" b="1">
                <a:latin typeface="Calibri" panose="020F0502020204030204" pitchFamily="34" charset="0"/>
                <a:ea typeface="Calibri" panose="020F0502020204030204" pitchFamily="34" charset="0"/>
                <a:cs typeface="Calibri" panose="020F0502020204030204" pitchFamily="34" charset="0"/>
              </a:defRPr>
            </a:lvl1pPr>
            <a:lvl2pPr marL="0" indent="-190800">
              <a:defRPr sz="1600">
                <a:latin typeface="Calibri" panose="020F0502020204030204" pitchFamily="34" charset="0"/>
                <a:ea typeface="Calibri" panose="020F0502020204030204" pitchFamily="34" charset="0"/>
                <a:cs typeface="Calibri" panose="020F0502020204030204" pitchFamily="34" charset="0"/>
              </a:defRPr>
            </a:lvl2pPr>
            <a:lvl3pPr marL="687600">
              <a:buFont typeface="Calibri" panose="020F0502020204030204" pitchFamily="34" charset="0"/>
              <a:buChar char="-"/>
              <a:defRPr sz="1200">
                <a:latin typeface="Calibri" panose="020F0502020204030204" pitchFamily="34" charset="0"/>
                <a:ea typeface="Calibri" panose="020F0502020204030204" pitchFamily="34" charset="0"/>
                <a:cs typeface="Calibri" panose="020F0502020204030204" pitchFamily="34" charset="0"/>
              </a:defRPr>
            </a:lvl3pPr>
            <a:lvl4pPr marL="1029600">
              <a:buFont typeface="Courier New" panose="02070309020205020404" pitchFamily="49" charset="0"/>
              <a:buChar char="o"/>
              <a:defRPr sz="1200">
                <a:latin typeface="Calibri" panose="020F0502020204030204" pitchFamily="34" charset="0"/>
                <a:ea typeface="Calibri" panose="020F0502020204030204" pitchFamily="34" charset="0"/>
                <a:cs typeface="Calibri" panose="020F0502020204030204" pitchFamily="34" charset="0"/>
              </a:defRPr>
            </a:lvl4pPr>
            <a:lvl5pPr marL="1371600">
              <a:defRPr sz="1200">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51032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0C33B-B4FB-916F-82D1-852CB03624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971E2A7-EC08-4F14-1AEF-F9C0CA38506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1B87A7C-1C14-FB53-9C03-E85E2F832A43}"/>
              </a:ext>
            </a:extLst>
          </p:cNvPr>
          <p:cNvSpPr>
            <a:spLocks noGrp="1"/>
          </p:cNvSpPr>
          <p:nvPr>
            <p:ph type="dt" sz="half" idx="10"/>
          </p:nvPr>
        </p:nvSpPr>
        <p:spPr/>
        <p:txBody>
          <a:bodyPr/>
          <a:lstStyle/>
          <a:p>
            <a:fld id="{910ABBC1-8358-479C-984D-30EAFF68FE55}" type="datetimeFigureOut">
              <a:rPr lang="en-US" smtClean="0"/>
              <a:t>10/28/2026</a:t>
            </a:fld>
            <a:endParaRPr lang="en-US"/>
          </a:p>
        </p:txBody>
      </p:sp>
      <p:sp>
        <p:nvSpPr>
          <p:cNvPr id="5" name="Footer Placeholder 4">
            <a:extLst>
              <a:ext uri="{FF2B5EF4-FFF2-40B4-BE49-F238E27FC236}">
                <a16:creationId xmlns:a16="http://schemas.microsoft.com/office/drawing/2014/main" id="{ABEB1C61-662E-4E6B-0E0F-66FBACCA3F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08F7B9-237D-84DB-58A9-C1A0BBE21FA9}"/>
              </a:ext>
            </a:extLst>
          </p:cNvPr>
          <p:cNvSpPr>
            <a:spLocks noGrp="1"/>
          </p:cNvSpPr>
          <p:nvPr>
            <p:ph type="sldNum" sz="quarter" idx="12"/>
          </p:nvPr>
        </p:nvSpPr>
        <p:spPr/>
        <p:txBody>
          <a:bodyPr/>
          <a:lstStyle/>
          <a:p>
            <a:fld id="{D3A3D233-CD81-46F5-991D-D7A83076E3BB}" type="slidenum">
              <a:rPr lang="en-US" smtClean="0"/>
              <a:t>‹#›</a:t>
            </a:fld>
            <a:endParaRPr lang="en-US"/>
          </a:p>
        </p:txBody>
      </p:sp>
    </p:spTree>
    <p:extLst>
      <p:ext uri="{BB962C8B-B14F-4D97-AF65-F5344CB8AC3E}">
        <p14:creationId xmlns:p14="http://schemas.microsoft.com/office/powerpoint/2010/main" val="24255355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F1073-3079-ACE7-AFFA-A3699E688DD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CC6DCA-29FC-7B84-FCE7-2866B880EB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B938287-EF93-1D9D-7FC7-212E73A56A7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E95103D-A676-F714-4F39-9829418E90C6}"/>
              </a:ext>
            </a:extLst>
          </p:cNvPr>
          <p:cNvSpPr>
            <a:spLocks noGrp="1"/>
          </p:cNvSpPr>
          <p:nvPr>
            <p:ph type="dt" sz="half" idx="10"/>
          </p:nvPr>
        </p:nvSpPr>
        <p:spPr/>
        <p:txBody>
          <a:bodyPr/>
          <a:lstStyle/>
          <a:p>
            <a:fld id="{910ABBC1-8358-479C-984D-30EAFF68FE55}" type="datetimeFigureOut">
              <a:rPr lang="en-US" smtClean="0"/>
              <a:t>10/28/2026</a:t>
            </a:fld>
            <a:endParaRPr lang="en-US"/>
          </a:p>
        </p:txBody>
      </p:sp>
      <p:sp>
        <p:nvSpPr>
          <p:cNvPr id="6" name="Footer Placeholder 5">
            <a:extLst>
              <a:ext uri="{FF2B5EF4-FFF2-40B4-BE49-F238E27FC236}">
                <a16:creationId xmlns:a16="http://schemas.microsoft.com/office/drawing/2014/main" id="{8A45E7B1-A6B5-9C7F-F457-CF4B974052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790636-661F-7A19-6A8A-5AF22894F987}"/>
              </a:ext>
            </a:extLst>
          </p:cNvPr>
          <p:cNvSpPr>
            <a:spLocks noGrp="1"/>
          </p:cNvSpPr>
          <p:nvPr>
            <p:ph type="sldNum" sz="quarter" idx="12"/>
          </p:nvPr>
        </p:nvSpPr>
        <p:spPr/>
        <p:txBody>
          <a:bodyPr/>
          <a:lstStyle/>
          <a:p>
            <a:fld id="{D3A3D233-CD81-46F5-991D-D7A83076E3BB}" type="slidenum">
              <a:rPr lang="en-US" smtClean="0"/>
              <a:t>‹#›</a:t>
            </a:fld>
            <a:endParaRPr lang="en-US"/>
          </a:p>
        </p:txBody>
      </p:sp>
    </p:spTree>
    <p:extLst>
      <p:ext uri="{BB962C8B-B14F-4D97-AF65-F5344CB8AC3E}">
        <p14:creationId xmlns:p14="http://schemas.microsoft.com/office/powerpoint/2010/main" val="20890097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32154-29A8-0D7A-A1BB-9A7611D9243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E391269-3EAA-078D-C64C-0082A823ED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3C2E1B6-2D6C-1CB4-E0A9-EDE9DC2BADE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4FDEEA6-031B-64F8-1526-288D34C70D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50340AB-A2A8-141D-E1DE-648A3A665AF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A05FFCE-2304-D17A-1425-4402DAF29760}"/>
              </a:ext>
            </a:extLst>
          </p:cNvPr>
          <p:cNvSpPr>
            <a:spLocks noGrp="1"/>
          </p:cNvSpPr>
          <p:nvPr>
            <p:ph type="dt" sz="half" idx="10"/>
          </p:nvPr>
        </p:nvSpPr>
        <p:spPr/>
        <p:txBody>
          <a:bodyPr/>
          <a:lstStyle/>
          <a:p>
            <a:fld id="{910ABBC1-8358-479C-984D-30EAFF68FE55}" type="datetimeFigureOut">
              <a:rPr lang="en-US" smtClean="0"/>
              <a:t>10/28/2026</a:t>
            </a:fld>
            <a:endParaRPr lang="en-US"/>
          </a:p>
        </p:txBody>
      </p:sp>
      <p:sp>
        <p:nvSpPr>
          <p:cNvPr id="8" name="Footer Placeholder 7">
            <a:extLst>
              <a:ext uri="{FF2B5EF4-FFF2-40B4-BE49-F238E27FC236}">
                <a16:creationId xmlns:a16="http://schemas.microsoft.com/office/drawing/2014/main" id="{01A0FB4C-5F5A-DD73-352F-4CA6454E09F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66DC1F3-7488-2C3B-2D14-DCA542546978}"/>
              </a:ext>
            </a:extLst>
          </p:cNvPr>
          <p:cNvSpPr>
            <a:spLocks noGrp="1"/>
          </p:cNvSpPr>
          <p:nvPr>
            <p:ph type="sldNum" sz="quarter" idx="12"/>
          </p:nvPr>
        </p:nvSpPr>
        <p:spPr/>
        <p:txBody>
          <a:bodyPr/>
          <a:lstStyle/>
          <a:p>
            <a:fld id="{D3A3D233-CD81-46F5-991D-D7A83076E3BB}" type="slidenum">
              <a:rPr lang="en-US" smtClean="0"/>
              <a:t>‹#›</a:t>
            </a:fld>
            <a:endParaRPr lang="en-US"/>
          </a:p>
        </p:txBody>
      </p:sp>
    </p:spTree>
    <p:extLst>
      <p:ext uri="{BB962C8B-B14F-4D97-AF65-F5344CB8AC3E}">
        <p14:creationId xmlns:p14="http://schemas.microsoft.com/office/powerpoint/2010/main" val="29424654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0C121-9DDF-3EB4-1A5E-ABBE7C6E558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3A4F071-AB24-3FA4-B4E5-BE790421EB94}"/>
              </a:ext>
            </a:extLst>
          </p:cNvPr>
          <p:cNvSpPr>
            <a:spLocks noGrp="1"/>
          </p:cNvSpPr>
          <p:nvPr>
            <p:ph type="dt" sz="half" idx="10"/>
          </p:nvPr>
        </p:nvSpPr>
        <p:spPr/>
        <p:txBody>
          <a:bodyPr/>
          <a:lstStyle/>
          <a:p>
            <a:fld id="{910ABBC1-8358-479C-984D-30EAFF68FE55}" type="datetimeFigureOut">
              <a:rPr lang="en-US" smtClean="0"/>
              <a:t>10/28/2026</a:t>
            </a:fld>
            <a:endParaRPr lang="en-US"/>
          </a:p>
        </p:txBody>
      </p:sp>
      <p:sp>
        <p:nvSpPr>
          <p:cNvPr id="4" name="Footer Placeholder 3">
            <a:extLst>
              <a:ext uri="{FF2B5EF4-FFF2-40B4-BE49-F238E27FC236}">
                <a16:creationId xmlns:a16="http://schemas.microsoft.com/office/drawing/2014/main" id="{FFFB5031-EFE0-39A5-96D8-6C7ABFBEF60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51D5108-C1B8-35D3-0AD9-BEBDD1BE2E70}"/>
              </a:ext>
            </a:extLst>
          </p:cNvPr>
          <p:cNvSpPr>
            <a:spLocks noGrp="1"/>
          </p:cNvSpPr>
          <p:nvPr>
            <p:ph type="sldNum" sz="quarter" idx="12"/>
          </p:nvPr>
        </p:nvSpPr>
        <p:spPr/>
        <p:txBody>
          <a:bodyPr/>
          <a:lstStyle/>
          <a:p>
            <a:fld id="{D3A3D233-CD81-46F5-991D-D7A83076E3BB}" type="slidenum">
              <a:rPr lang="en-US" smtClean="0"/>
              <a:t>‹#›</a:t>
            </a:fld>
            <a:endParaRPr lang="en-US"/>
          </a:p>
        </p:txBody>
      </p:sp>
    </p:spTree>
    <p:extLst>
      <p:ext uri="{BB962C8B-B14F-4D97-AF65-F5344CB8AC3E}">
        <p14:creationId xmlns:p14="http://schemas.microsoft.com/office/powerpoint/2010/main" val="39592733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EF44A9-5A2F-422C-4682-F578D6A8BBB5}"/>
              </a:ext>
            </a:extLst>
          </p:cNvPr>
          <p:cNvSpPr>
            <a:spLocks noGrp="1"/>
          </p:cNvSpPr>
          <p:nvPr>
            <p:ph type="dt" sz="half" idx="10"/>
          </p:nvPr>
        </p:nvSpPr>
        <p:spPr/>
        <p:txBody>
          <a:bodyPr/>
          <a:lstStyle/>
          <a:p>
            <a:fld id="{910ABBC1-8358-479C-984D-30EAFF68FE55}" type="datetimeFigureOut">
              <a:rPr lang="en-US" smtClean="0"/>
              <a:t>10/28/2026</a:t>
            </a:fld>
            <a:endParaRPr lang="en-US"/>
          </a:p>
        </p:txBody>
      </p:sp>
      <p:sp>
        <p:nvSpPr>
          <p:cNvPr id="3" name="Footer Placeholder 2">
            <a:extLst>
              <a:ext uri="{FF2B5EF4-FFF2-40B4-BE49-F238E27FC236}">
                <a16:creationId xmlns:a16="http://schemas.microsoft.com/office/drawing/2014/main" id="{0D4CD392-211C-502E-EC56-D8A1C91364C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8385462-503F-47F9-387B-2500F2F8CD77}"/>
              </a:ext>
            </a:extLst>
          </p:cNvPr>
          <p:cNvSpPr>
            <a:spLocks noGrp="1"/>
          </p:cNvSpPr>
          <p:nvPr>
            <p:ph type="sldNum" sz="quarter" idx="12"/>
          </p:nvPr>
        </p:nvSpPr>
        <p:spPr/>
        <p:txBody>
          <a:bodyPr/>
          <a:lstStyle/>
          <a:p>
            <a:fld id="{D3A3D233-CD81-46F5-991D-D7A83076E3BB}" type="slidenum">
              <a:rPr lang="en-US" smtClean="0"/>
              <a:t>‹#›</a:t>
            </a:fld>
            <a:endParaRPr lang="en-US"/>
          </a:p>
        </p:txBody>
      </p:sp>
    </p:spTree>
    <p:extLst>
      <p:ext uri="{BB962C8B-B14F-4D97-AF65-F5344CB8AC3E}">
        <p14:creationId xmlns:p14="http://schemas.microsoft.com/office/powerpoint/2010/main" val="14565186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11466-02FD-CFDA-AEBD-2A7ED14666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E56773-7ACA-7437-5859-F4C777EB6A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EE5CED-8D40-1B01-C229-3C41FC6E13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42F90C-BE1E-EAA9-3054-F9F0D2BBC8A2}"/>
              </a:ext>
            </a:extLst>
          </p:cNvPr>
          <p:cNvSpPr>
            <a:spLocks noGrp="1"/>
          </p:cNvSpPr>
          <p:nvPr>
            <p:ph type="dt" sz="half" idx="10"/>
          </p:nvPr>
        </p:nvSpPr>
        <p:spPr/>
        <p:txBody>
          <a:bodyPr/>
          <a:lstStyle/>
          <a:p>
            <a:fld id="{910ABBC1-8358-479C-984D-30EAFF68FE55}" type="datetimeFigureOut">
              <a:rPr lang="en-US" smtClean="0"/>
              <a:t>10/28/2026</a:t>
            </a:fld>
            <a:endParaRPr lang="en-US"/>
          </a:p>
        </p:txBody>
      </p:sp>
      <p:sp>
        <p:nvSpPr>
          <p:cNvPr id="6" name="Footer Placeholder 5">
            <a:extLst>
              <a:ext uri="{FF2B5EF4-FFF2-40B4-BE49-F238E27FC236}">
                <a16:creationId xmlns:a16="http://schemas.microsoft.com/office/drawing/2014/main" id="{46B75086-7D9D-7E23-FB70-E75951DD2A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1AFE5B-C6CC-7EA5-D757-68AA30901EE0}"/>
              </a:ext>
            </a:extLst>
          </p:cNvPr>
          <p:cNvSpPr>
            <a:spLocks noGrp="1"/>
          </p:cNvSpPr>
          <p:nvPr>
            <p:ph type="sldNum" sz="quarter" idx="12"/>
          </p:nvPr>
        </p:nvSpPr>
        <p:spPr/>
        <p:txBody>
          <a:bodyPr/>
          <a:lstStyle/>
          <a:p>
            <a:fld id="{D3A3D233-CD81-46F5-991D-D7A83076E3BB}" type="slidenum">
              <a:rPr lang="en-US" smtClean="0"/>
              <a:t>‹#›</a:t>
            </a:fld>
            <a:endParaRPr lang="en-US"/>
          </a:p>
        </p:txBody>
      </p:sp>
    </p:spTree>
    <p:extLst>
      <p:ext uri="{BB962C8B-B14F-4D97-AF65-F5344CB8AC3E}">
        <p14:creationId xmlns:p14="http://schemas.microsoft.com/office/powerpoint/2010/main" val="12683757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90DB3-36BC-A4EA-8339-3BFCACD7AD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4981061-7C1D-5379-014E-22612D2DA9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D81BF27-D457-DA49-2FCB-02FB6C1C03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534F5D-EF99-BD5E-DDE0-B85CD614B8AA}"/>
              </a:ext>
            </a:extLst>
          </p:cNvPr>
          <p:cNvSpPr>
            <a:spLocks noGrp="1"/>
          </p:cNvSpPr>
          <p:nvPr>
            <p:ph type="dt" sz="half" idx="10"/>
          </p:nvPr>
        </p:nvSpPr>
        <p:spPr/>
        <p:txBody>
          <a:bodyPr/>
          <a:lstStyle/>
          <a:p>
            <a:fld id="{910ABBC1-8358-479C-984D-30EAFF68FE55}" type="datetimeFigureOut">
              <a:rPr lang="en-US" smtClean="0"/>
              <a:t>10/28/2026</a:t>
            </a:fld>
            <a:endParaRPr lang="en-US"/>
          </a:p>
        </p:txBody>
      </p:sp>
      <p:sp>
        <p:nvSpPr>
          <p:cNvPr id="6" name="Footer Placeholder 5">
            <a:extLst>
              <a:ext uri="{FF2B5EF4-FFF2-40B4-BE49-F238E27FC236}">
                <a16:creationId xmlns:a16="http://schemas.microsoft.com/office/drawing/2014/main" id="{2BEC0F3C-E70F-2707-6CAF-AF94A87611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B85B6F-6B98-CA3D-5471-4A5DEBE8F53D}"/>
              </a:ext>
            </a:extLst>
          </p:cNvPr>
          <p:cNvSpPr>
            <a:spLocks noGrp="1"/>
          </p:cNvSpPr>
          <p:nvPr>
            <p:ph type="sldNum" sz="quarter" idx="12"/>
          </p:nvPr>
        </p:nvSpPr>
        <p:spPr/>
        <p:txBody>
          <a:bodyPr/>
          <a:lstStyle/>
          <a:p>
            <a:fld id="{D3A3D233-CD81-46F5-991D-D7A83076E3BB}" type="slidenum">
              <a:rPr lang="en-US" smtClean="0"/>
              <a:t>‹#›</a:t>
            </a:fld>
            <a:endParaRPr lang="en-US"/>
          </a:p>
        </p:txBody>
      </p:sp>
    </p:spTree>
    <p:extLst>
      <p:ext uri="{BB962C8B-B14F-4D97-AF65-F5344CB8AC3E}">
        <p14:creationId xmlns:p14="http://schemas.microsoft.com/office/powerpoint/2010/main" val="2792187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92B1C-429A-DE33-3F4B-61018A650AA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606D218-8C7B-0A83-0D10-053C3D50607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E3EE6C-60C6-B0A9-B512-4BA2DEB07A79}"/>
              </a:ext>
            </a:extLst>
          </p:cNvPr>
          <p:cNvSpPr>
            <a:spLocks noGrp="1"/>
          </p:cNvSpPr>
          <p:nvPr>
            <p:ph type="dt" sz="half" idx="10"/>
          </p:nvPr>
        </p:nvSpPr>
        <p:spPr/>
        <p:txBody>
          <a:bodyPr/>
          <a:lstStyle/>
          <a:p>
            <a:fld id="{910ABBC1-8358-479C-984D-30EAFF68FE55}" type="datetimeFigureOut">
              <a:rPr lang="en-US" smtClean="0"/>
              <a:t>10/28/2026</a:t>
            </a:fld>
            <a:endParaRPr lang="en-US"/>
          </a:p>
        </p:txBody>
      </p:sp>
      <p:sp>
        <p:nvSpPr>
          <p:cNvPr id="5" name="Footer Placeholder 4">
            <a:extLst>
              <a:ext uri="{FF2B5EF4-FFF2-40B4-BE49-F238E27FC236}">
                <a16:creationId xmlns:a16="http://schemas.microsoft.com/office/drawing/2014/main" id="{1CD8ABEB-C83A-EB8A-10AE-754472C221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87B61D-3146-C5F1-42CE-A513E3D15016}"/>
              </a:ext>
            </a:extLst>
          </p:cNvPr>
          <p:cNvSpPr>
            <a:spLocks noGrp="1"/>
          </p:cNvSpPr>
          <p:nvPr>
            <p:ph type="sldNum" sz="quarter" idx="12"/>
          </p:nvPr>
        </p:nvSpPr>
        <p:spPr/>
        <p:txBody>
          <a:bodyPr/>
          <a:lstStyle/>
          <a:p>
            <a:fld id="{D3A3D233-CD81-46F5-991D-D7A83076E3BB}" type="slidenum">
              <a:rPr lang="en-US" smtClean="0"/>
              <a:t>‹#›</a:t>
            </a:fld>
            <a:endParaRPr lang="en-US"/>
          </a:p>
        </p:txBody>
      </p:sp>
    </p:spTree>
    <p:extLst>
      <p:ext uri="{BB962C8B-B14F-4D97-AF65-F5344CB8AC3E}">
        <p14:creationId xmlns:p14="http://schemas.microsoft.com/office/powerpoint/2010/main" val="13290665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7292C8F-232D-DAE2-8E21-64FDC537234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18E5BB4-9576-09A7-2CA1-DAACEE634AB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31F7D5-1EF0-28E8-DA83-3C27582B96E5}"/>
              </a:ext>
            </a:extLst>
          </p:cNvPr>
          <p:cNvSpPr>
            <a:spLocks noGrp="1"/>
          </p:cNvSpPr>
          <p:nvPr>
            <p:ph type="dt" sz="half" idx="10"/>
          </p:nvPr>
        </p:nvSpPr>
        <p:spPr/>
        <p:txBody>
          <a:bodyPr/>
          <a:lstStyle/>
          <a:p>
            <a:fld id="{910ABBC1-8358-479C-984D-30EAFF68FE55}" type="datetimeFigureOut">
              <a:rPr lang="en-US" smtClean="0"/>
              <a:t>10/28/2026</a:t>
            </a:fld>
            <a:endParaRPr lang="en-US"/>
          </a:p>
        </p:txBody>
      </p:sp>
      <p:sp>
        <p:nvSpPr>
          <p:cNvPr id="5" name="Footer Placeholder 4">
            <a:extLst>
              <a:ext uri="{FF2B5EF4-FFF2-40B4-BE49-F238E27FC236}">
                <a16:creationId xmlns:a16="http://schemas.microsoft.com/office/drawing/2014/main" id="{35F7F6E5-030C-7904-2CDA-A52D252C10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25F515-B783-DB1D-958A-8D43AE0D3DF7}"/>
              </a:ext>
            </a:extLst>
          </p:cNvPr>
          <p:cNvSpPr>
            <a:spLocks noGrp="1"/>
          </p:cNvSpPr>
          <p:nvPr>
            <p:ph type="sldNum" sz="quarter" idx="12"/>
          </p:nvPr>
        </p:nvSpPr>
        <p:spPr/>
        <p:txBody>
          <a:bodyPr/>
          <a:lstStyle/>
          <a:p>
            <a:fld id="{D3A3D233-CD81-46F5-991D-D7A83076E3BB}" type="slidenum">
              <a:rPr lang="en-US" smtClean="0"/>
              <a:t>‹#›</a:t>
            </a:fld>
            <a:endParaRPr lang="en-US"/>
          </a:p>
        </p:txBody>
      </p:sp>
    </p:spTree>
    <p:extLst>
      <p:ext uri="{BB962C8B-B14F-4D97-AF65-F5344CB8AC3E}">
        <p14:creationId xmlns:p14="http://schemas.microsoft.com/office/powerpoint/2010/main" val="219150031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F32AAA-3AE0-814A-E9CA-5FE782ADB0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C0E3FF-154C-E97A-5ECD-8EC4A8F042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6D5E5D-CA31-CC9A-7793-B544327F69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10ABBC1-8358-479C-984D-30EAFF68FE55}" type="datetimeFigureOut">
              <a:rPr lang="en-US" smtClean="0"/>
              <a:t>10/28/2026</a:t>
            </a:fld>
            <a:endParaRPr lang="en-US"/>
          </a:p>
        </p:txBody>
      </p:sp>
      <p:sp>
        <p:nvSpPr>
          <p:cNvPr id="5" name="Footer Placeholder 4">
            <a:extLst>
              <a:ext uri="{FF2B5EF4-FFF2-40B4-BE49-F238E27FC236}">
                <a16:creationId xmlns:a16="http://schemas.microsoft.com/office/drawing/2014/main" id="{C14C5473-F8E9-C84A-1D46-E892074C66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1E216E5-4C52-1C2C-591D-5B5E353527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3A3D233-CD81-46F5-991D-D7A83076E3BB}" type="slidenum">
              <a:rPr lang="en-US" smtClean="0"/>
              <a:t>‹#›</a:t>
            </a:fld>
            <a:endParaRPr lang="en-US"/>
          </a:p>
        </p:txBody>
      </p:sp>
    </p:spTree>
    <p:extLst>
      <p:ext uri="{BB962C8B-B14F-4D97-AF65-F5344CB8AC3E}">
        <p14:creationId xmlns:p14="http://schemas.microsoft.com/office/powerpoint/2010/main" val="2834441583"/>
      </p:ext>
    </p:extLst>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 id="2147483668" r:id="rId12"/>
    <p:sldLayoutId id="2147483669"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png"/><Relationship Id="rId7" Type="http://schemas.microsoft.com/office/2007/relationships/hdphoto" Target="../media/hdphoto2.wdp"/><Relationship Id="rId2" Type="http://schemas.openxmlformats.org/officeDocument/2006/relationships/notesSlide" Target="../notesSlides/notesSlide4.xml"/><Relationship Id="rId1" Type="http://schemas.openxmlformats.org/officeDocument/2006/relationships/slideLayout" Target="../slideLayouts/slideLayout14.xml"/><Relationship Id="rId6" Type="http://schemas.openxmlformats.org/officeDocument/2006/relationships/image" Target="../media/image3.png"/><Relationship Id="rId5" Type="http://schemas.microsoft.com/office/2007/relationships/hdphoto" Target="../media/hdphoto1.wdp"/><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microsoft.com/office/2018/10/relationships/comments" Target="../comments/modernComment_10C_623BB5D4.xml"/><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8" Type="http://schemas.openxmlformats.org/officeDocument/2006/relationships/chart" Target="../charts/chart5.xml"/><Relationship Id="rId3" Type="http://schemas.microsoft.com/office/2018/10/relationships/comments" Target="../comments/modernComment_10D_762A2C27.xml"/><Relationship Id="rId7" Type="http://schemas.openxmlformats.org/officeDocument/2006/relationships/chart" Target="../charts/chart4.xml"/><Relationship Id="rId2" Type="http://schemas.openxmlformats.org/officeDocument/2006/relationships/notesSlide" Target="../notesSlides/notesSlide6.xml"/><Relationship Id="rId1" Type="http://schemas.openxmlformats.org/officeDocument/2006/relationships/slideLayout" Target="../slideLayouts/slideLayout14.xml"/><Relationship Id="rId6" Type="http://schemas.openxmlformats.org/officeDocument/2006/relationships/chart" Target="../charts/chart3.xml"/><Relationship Id="rId5" Type="http://schemas.openxmlformats.org/officeDocument/2006/relationships/chart" Target="../charts/chart2.xml"/><Relationship Id="rId4" Type="http://schemas.openxmlformats.org/officeDocument/2006/relationships/chart" Target="../charts/char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microsoft.com/office/2018/10/relationships/comments" Target="../comments/modernComment_111_77585616.xml"/><Relationship Id="rId2" Type="http://schemas.openxmlformats.org/officeDocument/2006/relationships/notesSlide" Target="../notesSlides/notesSlide8.xml"/><Relationship Id="rId1" Type="http://schemas.openxmlformats.org/officeDocument/2006/relationships/slideLayout" Target="../slideLayouts/slideLayout14.xml"/><Relationship Id="rId4" Type="http://schemas.openxmlformats.org/officeDocument/2006/relationships/chart" Target="../charts/char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microsoft.com/office/2018/10/relationships/comments" Target="../comments/modernComment_11B_6079E34D.xml"/><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microsoft.com/office/2018/10/relationships/comments" Target="../comments/modernComment_11C_1904B594.xml"/><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microsoft.com/office/2018/10/relationships/comments" Target="../comments/modernComment_102_6775EA8E.xml"/><Relationship Id="rId2" Type="http://schemas.openxmlformats.org/officeDocument/2006/relationships/notesSlide" Target="../notesSlides/notesSlide13.xml"/><Relationship Id="rId1" Type="http://schemas.openxmlformats.org/officeDocument/2006/relationships/slideLayout" Target="../slideLayouts/slideLayout14.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4.xml"/><Relationship Id="rId5" Type="http://schemas.openxmlformats.org/officeDocument/2006/relationships/image" Target="../media/image8.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microsoft.com/office/2018/10/relationships/comments" Target="../comments/modernComment_101_7F8D50D3.xml"/><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microsoft.com/office/2018/10/relationships/comments" Target="../comments/modernComment_104_2388B503.xml"/><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microsoft.com/office/2018/10/relationships/comments" Target="../comments/modernComment_105_54824464.xml"/><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microsoft.com/office/2018/10/relationships/comments" Target="../comments/modernComment_107_314405C.xml"/><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microsoft.com/office/2018/10/relationships/comments" Target="../comments/modernComment_108_31F99295.xml"/><Relationship Id="rId2" Type="http://schemas.openxmlformats.org/officeDocument/2006/relationships/notesSlide" Target="../notesSlides/notesSlide25.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microsoft.com/office/2018/10/relationships/comments" Target="../comments/modernComment_109_5DA568DD.xml"/><Relationship Id="rId2" Type="http://schemas.openxmlformats.org/officeDocument/2006/relationships/notesSlide" Target="../notesSlides/notesSlide26.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microsoft.com/office/2018/10/relationships/comments" Target="../comments/modernComment_10B_573AB.xml"/><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40.xml"/><Relationship Id="rId1" Type="http://schemas.openxmlformats.org/officeDocument/2006/relationships/slideLayout" Target="../slideLayouts/slideLayout4.xml"/><Relationship Id="rId4" Type="http://schemas.openxmlformats.org/officeDocument/2006/relationships/chart" Target="../charts/chart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49.xml"/><Relationship Id="rId1" Type="http://schemas.openxmlformats.org/officeDocument/2006/relationships/slideLayout" Target="../slideLayouts/slideLayout4.xml"/><Relationship Id="rId4" Type="http://schemas.openxmlformats.org/officeDocument/2006/relationships/chart" Target="../charts/chart10.xml"/></Relationships>
</file>

<file path=ppt/slides/_rels/slide50.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50.xml"/><Relationship Id="rId1" Type="http://schemas.openxmlformats.org/officeDocument/2006/relationships/slideLayout" Target="../slideLayouts/slideLayout4.xml"/><Relationship Id="rId4" Type="http://schemas.openxmlformats.org/officeDocument/2006/relationships/chart" Target="../charts/chart12.xml"/></Relationships>
</file>

<file path=ppt/slides/_rels/slide51.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51.xml"/><Relationship Id="rId1" Type="http://schemas.openxmlformats.org/officeDocument/2006/relationships/slideLayout" Target="../slideLayouts/slideLayout4.xml"/><Relationship Id="rId4" Type="http://schemas.openxmlformats.org/officeDocument/2006/relationships/chart" Target="../charts/chart14.xml"/></Relationships>
</file>

<file path=ppt/slides/_rels/slide52.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52.xml"/><Relationship Id="rId1" Type="http://schemas.openxmlformats.org/officeDocument/2006/relationships/slideLayout" Target="../slideLayouts/slideLayout4.xml"/><Relationship Id="rId4" Type="http://schemas.openxmlformats.org/officeDocument/2006/relationships/chart" Target="../charts/chart1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3038E-4537-53B4-757D-96F0CBE250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460F69-AA06-C66E-9BDD-AA03170CE80D}"/>
              </a:ext>
            </a:extLst>
          </p:cNvPr>
          <p:cNvSpPr>
            <a:spLocks noGrp="1"/>
          </p:cNvSpPr>
          <p:nvPr>
            <p:ph type="title"/>
          </p:nvPr>
        </p:nvSpPr>
        <p:spPr/>
        <p:txBody>
          <a:bodyPr/>
          <a:lstStyle/>
          <a:p>
            <a:r>
              <a:rPr lang="en-US" altLang="ko-KR" dirty="0"/>
              <a:t>Overview</a:t>
            </a:r>
            <a:endParaRPr lang="en-US" dirty="0"/>
          </a:p>
        </p:txBody>
      </p:sp>
      <p:sp>
        <p:nvSpPr>
          <p:cNvPr id="3" name="Content Placeholder 2">
            <a:extLst>
              <a:ext uri="{FF2B5EF4-FFF2-40B4-BE49-F238E27FC236}">
                <a16:creationId xmlns:a16="http://schemas.microsoft.com/office/drawing/2014/main" id="{DB79E3F0-5A08-5FCF-98AA-22EE6F99F7BA}"/>
              </a:ext>
            </a:extLst>
          </p:cNvPr>
          <p:cNvSpPr>
            <a:spLocks noGrp="1"/>
          </p:cNvSpPr>
          <p:nvPr>
            <p:ph idx="1"/>
          </p:nvPr>
        </p:nvSpPr>
        <p:spPr/>
        <p:txBody>
          <a:bodyPr/>
          <a:lstStyle/>
          <a:p>
            <a:r>
              <a:rPr lang="en-US" altLang="ko-KR" dirty="0"/>
              <a:t>1. Requirements and Mission Profile</a:t>
            </a:r>
          </a:p>
          <a:p>
            <a:endParaRPr lang="en-US" dirty="0"/>
          </a:p>
          <a:p>
            <a:r>
              <a:rPr lang="en-US" altLang="ko-KR" dirty="0"/>
              <a:t>2. Assumptions and Sizing Method</a:t>
            </a:r>
          </a:p>
          <a:p>
            <a:endParaRPr lang="en-US" dirty="0"/>
          </a:p>
          <a:p>
            <a:r>
              <a:rPr lang="en-US" altLang="ko-KR" dirty="0"/>
              <a:t>3. Sizing Result</a:t>
            </a:r>
          </a:p>
          <a:p>
            <a:endParaRPr lang="en-US" dirty="0"/>
          </a:p>
          <a:p>
            <a:r>
              <a:rPr lang="en-US" dirty="0"/>
              <a:t>4. Risk</a:t>
            </a:r>
            <a:r>
              <a:rPr lang="en-US" altLang="ko-KR" dirty="0"/>
              <a:t> Analysis</a:t>
            </a:r>
          </a:p>
          <a:p>
            <a:endParaRPr lang="en-US" dirty="0"/>
          </a:p>
          <a:p>
            <a:r>
              <a:rPr lang="en-US" dirty="0"/>
              <a:t>5. Appendix</a:t>
            </a:r>
          </a:p>
        </p:txBody>
      </p:sp>
      <p:sp>
        <p:nvSpPr>
          <p:cNvPr id="4" name="TextBox 3">
            <a:extLst>
              <a:ext uri="{FF2B5EF4-FFF2-40B4-BE49-F238E27FC236}">
                <a16:creationId xmlns:a16="http://schemas.microsoft.com/office/drawing/2014/main" id="{3BFAEF5E-5CC9-8EE8-7335-1AAAB2ED2253}"/>
              </a:ext>
            </a:extLst>
          </p:cNvPr>
          <p:cNvSpPr txBox="1"/>
          <p:nvPr/>
        </p:nvSpPr>
        <p:spPr>
          <a:xfrm>
            <a:off x="11671300" y="6527800"/>
            <a:ext cx="355600" cy="153888"/>
          </a:xfrm>
          <a:prstGeom prst="rect">
            <a:avLst/>
          </a:prstGeom>
          <a:noFill/>
        </p:spPr>
        <p:txBody>
          <a:bodyPr vert="horz" lIns="0" tIns="0" rIns="0" bIns="0" rtlCol="0">
            <a:spAutoFit/>
          </a:bodyPr>
          <a:lstStyle/>
          <a:p>
            <a:r>
              <a:rPr lang="en-US" sz="1000">
                <a:solidFill>
                  <a:srgbClr val="000000"/>
                </a:solidFill>
                <a:latin typeface="Calibri" panose="020F0502020204030204" pitchFamily="34" charset="0"/>
              </a:rPr>
              <a:t>1</a:t>
            </a:r>
          </a:p>
        </p:txBody>
      </p:sp>
    </p:spTree>
    <p:extLst>
      <p:ext uri="{BB962C8B-B14F-4D97-AF65-F5344CB8AC3E}">
        <p14:creationId xmlns:p14="http://schemas.microsoft.com/office/powerpoint/2010/main" val="18930082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B8E1CEE-F3FB-A8CA-6191-A31B5E8DBBC4}"/>
              </a:ext>
            </a:extLst>
          </p:cNvPr>
          <p:cNvSpPr>
            <a:spLocks noGrp="1"/>
          </p:cNvSpPr>
          <p:nvPr/>
        </p:nvSpPr>
        <p:spPr>
          <a:xfrm>
            <a:off x="838200" y="361950"/>
            <a:ext cx="10896600" cy="495300"/>
          </a:xfrm>
          <a:prstGeom prst="rect">
            <a:avLst/>
          </a:prstGeom>
          <a:noFill/>
          <a:ln w="0">
            <a:noFill/>
            <a:prstDash val="solid"/>
          </a:ln>
        </p:spPr>
        <p:txBody>
          <a:bodyPr lIns="0" tIns="0" rIns="0" bIns="0"/>
          <a:lstStyle>
            <a:defPPr>
              <a:defRPr sz="2400" b="1">
                <a:solidFill>
                  <a:srgbClr val="000000"/>
                </a:solidFill>
                <a:latin typeface="Calibri"/>
                <a:ea typeface="Calibri"/>
                <a:cs typeface="Calibri"/>
              </a:defRPr>
            </a:defPPr>
            <a:lvl1pPr>
              <a:defRPr sz="2400" b="1">
                <a:solidFill>
                  <a:srgbClr val="000000"/>
                </a:solidFill>
                <a:latin typeface="Calibri"/>
                <a:ea typeface="Calibri"/>
                <a:cs typeface="Calibri"/>
              </a:defRPr>
            </a:lvl1pPr>
            <a:lvl2pPr>
              <a:defRPr sz="2400" b="1">
                <a:solidFill>
                  <a:srgbClr val="000000"/>
                </a:solidFill>
                <a:latin typeface="Calibri"/>
                <a:ea typeface="Calibri"/>
                <a:cs typeface="Calibri"/>
              </a:defRPr>
            </a:lvl2pPr>
            <a:lvl3pPr>
              <a:defRPr sz="2400" b="1">
                <a:solidFill>
                  <a:srgbClr val="000000"/>
                </a:solidFill>
                <a:latin typeface="Calibri"/>
                <a:ea typeface="Calibri"/>
                <a:cs typeface="Calibri"/>
              </a:defRPr>
            </a:lvl3pPr>
            <a:lvl4pPr>
              <a:defRPr sz="2400" b="1">
                <a:solidFill>
                  <a:srgbClr val="000000"/>
                </a:solidFill>
                <a:latin typeface="Calibri"/>
                <a:ea typeface="Calibri"/>
                <a:cs typeface="Calibri"/>
              </a:defRPr>
            </a:lvl4pPr>
            <a:lvl5pPr>
              <a:defRPr sz="2400" b="1">
                <a:solidFill>
                  <a:srgbClr val="000000"/>
                </a:solidFill>
                <a:latin typeface="Calibri"/>
                <a:ea typeface="Calibri"/>
                <a:cs typeface="Calibri"/>
              </a:defRPr>
            </a:lvl5pPr>
            <a:lvl6pPr>
              <a:defRPr sz="2400" b="1">
                <a:solidFill>
                  <a:srgbClr val="000000"/>
                </a:solidFill>
                <a:latin typeface="Calibri"/>
                <a:ea typeface="Calibri"/>
                <a:cs typeface="Calibri"/>
              </a:defRPr>
            </a:lvl6pPr>
            <a:lvl7pPr>
              <a:defRPr sz="2400" b="1">
                <a:solidFill>
                  <a:srgbClr val="000000"/>
                </a:solidFill>
                <a:latin typeface="Calibri"/>
                <a:ea typeface="Calibri"/>
                <a:cs typeface="Calibri"/>
              </a:defRPr>
            </a:lvl7pPr>
            <a:lvl8pPr>
              <a:defRPr sz="2400" b="1">
                <a:solidFill>
                  <a:srgbClr val="000000"/>
                </a:solidFill>
                <a:latin typeface="Calibri"/>
                <a:ea typeface="Calibri"/>
                <a:cs typeface="Calibri"/>
              </a:defRPr>
            </a:lvl8pPr>
            <a:lvl9pPr>
              <a:defRPr sz="2400" b="1">
                <a:solidFill>
                  <a:srgbClr val="000000"/>
                </a:solidFill>
                <a:latin typeface="Calibri"/>
                <a:ea typeface="Calibri"/>
                <a:cs typeface="Calibri"/>
              </a:defRPr>
            </a:lvl9pPr>
          </a:lstStyle>
          <a:p>
            <a:pPr>
              <a:defRPr sz="2400" b="1">
                <a:solidFill>
                  <a:srgbClr val="000000"/>
                </a:solidFill>
                <a:latin typeface="Calibri"/>
                <a:ea typeface="Calibri"/>
                <a:cs typeface="Calibri"/>
              </a:defRPr>
            </a:pPr>
            <a:r>
              <a:rPr sz="2400" b="1">
                <a:solidFill>
                  <a:srgbClr val="000000"/>
                </a:solidFill>
                <a:latin typeface="Calibri" panose="020F0502020204030204" pitchFamily="34" charset="0"/>
                <a:ea typeface="Calibri"/>
                <a:cs typeface="Calibri"/>
              </a:rPr>
              <a:t>Requirements and Mission Profile</a:t>
            </a:r>
          </a:p>
        </p:txBody>
      </p:sp>
      <p:sp>
        <p:nvSpPr>
          <p:cNvPr id="3" name="Rectangle 2">
            <a:extLst>
              <a:ext uri="{FF2B5EF4-FFF2-40B4-BE49-F238E27FC236}">
                <a16:creationId xmlns:a16="http://schemas.microsoft.com/office/drawing/2014/main" id="{F4BE6A5E-5C41-B9F5-AFD1-ED131893C0F7}"/>
              </a:ext>
            </a:extLst>
          </p:cNvPr>
          <p:cNvSpPr>
            <a:spLocks noGrp="1"/>
          </p:cNvSpPr>
          <p:nvPr/>
        </p:nvSpPr>
        <p:spPr>
          <a:xfrm>
            <a:off x="11382375" y="6524625"/>
            <a:ext cx="333375" cy="219075"/>
          </a:xfrm>
          <a:prstGeom prst="rect">
            <a:avLst/>
          </a:prstGeom>
          <a:noFill/>
          <a:ln w="0">
            <a:noFill/>
            <a:prstDash val="solid"/>
          </a:ln>
        </p:spPr>
        <p:txBody>
          <a:bodyPr lIns="0" tIns="0" rIns="0" bIns="0"/>
          <a:lstStyle>
            <a:defPPr>
              <a:defRPr sz="1125" b="0">
                <a:solidFill>
                  <a:srgbClr val="444444"/>
                </a:solidFill>
                <a:latin typeface="Calibri"/>
                <a:ea typeface="Calibri"/>
                <a:cs typeface="Calibri"/>
              </a:defRPr>
            </a:defPPr>
            <a:lvl1pPr>
              <a:defRPr sz="1125" b="0">
                <a:solidFill>
                  <a:srgbClr val="444444"/>
                </a:solidFill>
                <a:latin typeface="Calibri"/>
                <a:ea typeface="Calibri"/>
                <a:cs typeface="Calibri"/>
              </a:defRPr>
            </a:lvl1pPr>
            <a:lvl2pPr>
              <a:defRPr sz="1125" b="0">
                <a:solidFill>
                  <a:srgbClr val="444444"/>
                </a:solidFill>
                <a:latin typeface="Calibri"/>
                <a:ea typeface="Calibri"/>
                <a:cs typeface="Calibri"/>
              </a:defRPr>
            </a:lvl2pPr>
            <a:lvl3pPr>
              <a:defRPr sz="1125" b="0">
                <a:solidFill>
                  <a:srgbClr val="444444"/>
                </a:solidFill>
                <a:latin typeface="Calibri"/>
                <a:ea typeface="Calibri"/>
                <a:cs typeface="Calibri"/>
              </a:defRPr>
            </a:lvl3pPr>
            <a:lvl4pPr>
              <a:defRPr sz="1125" b="0">
                <a:solidFill>
                  <a:srgbClr val="444444"/>
                </a:solidFill>
                <a:latin typeface="Calibri"/>
                <a:ea typeface="Calibri"/>
                <a:cs typeface="Calibri"/>
              </a:defRPr>
            </a:lvl4pPr>
            <a:lvl5pPr>
              <a:defRPr sz="1125" b="0">
                <a:solidFill>
                  <a:srgbClr val="444444"/>
                </a:solidFill>
                <a:latin typeface="Calibri"/>
                <a:ea typeface="Calibri"/>
                <a:cs typeface="Calibri"/>
              </a:defRPr>
            </a:lvl5pPr>
            <a:lvl6pPr>
              <a:defRPr sz="1125" b="0">
                <a:solidFill>
                  <a:srgbClr val="444444"/>
                </a:solidFill>
                <a:latin typeface="Calibri"/>
                <a:ea typeface="Calibri"/>
                <a:cs typeface="Calibri"/>
              </a:defRPr>
            </a:lvl6pPr>
            <a:lvl7pPr>
              <a:defRPr sz="1125" b="0">
                <a:solidFill>
                  <a:srgbClr val="444444"/>
                </a:solidFill>
                <a:latin typeface="Calibri"/>
                <a:ea typeface="Calibri"/>
                <a:cs typeface="Calibri"/>
              </a:defRPr>
            </a:lvl7pPr>
            <a:lvl8pPr>
              <a:defRPr sz="1125" b="0">
                <a:solidFill>
                  <a:srgbClr val="444444"/>
                </a:solidFill>
                <a:latin typeface="Calibri"/>
                <a:ea typeface="Calibri"/>
                <a:cs typeface="Calibri"/>
              </a:defRPr>
            </a:lvl8pPr>
            <a:lvl9pPr>
              <a:defRPr sz="1125" b="0">
                <a:solidFill>
                  <a:srgbClr val="444444"/>
                </a:solidFill>
                <a:latin typeface="Calibri"/>
                <a:ea typeface="Calibri"/>
                <a:cs typeface="Calibri"/>
              </a:defRPr>
            </a:lvl9pPr>
          </a:lstStyle>
          <a:p>
            <a:pPr>
              <a:defRPr sz="1125" b="0">
                <a:solidFill>
                  <a:srgbClr val="444444"/>
                </a:solidFill>
                <a:latin typeface="Calibri"/>
                <a:ea typeface="Calibri"/>
                <a:cs typeface="Calibri"/>
              </a:defRPr>
            </a:pPr>
            <a:endParaRPr sz="1125" b="0">
              <a:solidFill>
                <a:srgbClr val="444444"/>
              </a:solidFill>
              <a:latin typeface="Calibri" panose="020F0502020204030204" pitchFamily="34" charset="0"/>
              <a:ea typeface="Calibri"/>
              <a:cs typeface="Calibri"/>
            </a:endParaRPr>
          </a:p>
        </p:txBody>
      </p:sp>
      <p:sp>
        <p:nvSpPr>
          <p:cNvPr id="4" name="Rectangle 3">
            <a:extLst>
              <a:ext uri="{FF2B5EF4-FFF2-40B4-BE49-F238E27FC236}">
                <a16:creationId xmlns:a16="http://schemas.microsoft.com/office/drawing/2014/main" id="{9A4FB4E0-49EB-F768-5F19-390DC8E655AE}"/>
              </a:ext>
            </a:extLst>
          </p:cNvPr>
          <p:cNvSpPr>
            <a:spLocks noGrp="1"/>
          </p:cNvSpPr>
          <p:nvPr/>
        </p:nvSpPr>
        <p:spPr>
          <a:xfrm>
            <a:off x="476250" y="1246437"/>
            <a:ext cx="2143125" cy="400050"/>
          </a:xfrm>
          <a:prstGeom prst="rect">
            <a:avLst/>
          </a:prstGeom>
          <a:noFill/>
          <a:ln w="0">
            <a:noFill/>
            <a:prstDash val="solid"/>
          </a:ln>
        </p:spPr>
        <p:txBody>
          <a:bodyPr lIns="0" tIns="0" rIns="0" bIns="0"/>
          <a:lstStyle>
            <a:defPPr>
              <a:defRPr sz="2250" b="1">
                <a:solidFill>
                  <a:srgbClr val="000000"/>
                </a:solidFill>
                <a:latin typeface="Calibri"/>
                <a:ea typeface="Calibri"/>
                <a:cs typeface="Calibri"/>
              </a:defRPr>
            </a:defPPr>
            <a:lvl1pPr>
              <a:defRPr sz="2250" b="1">
                <a:solidFill>
                  <a:srgbClr val="000000"/>
                </a:solidFill>
                <a:latin typeface="Calibri"/>
                <a:ea typeface="Calibri"/>
                <a:cs typeface="Calibri"/>
              </a:defRPr>
            </a:lvl1pPr>
            <a:lvl2pPr>
              <a:defRPr sz="2250" b="1">
                <a:solidFill>
                  <a:srgbClr val="000000"/>
                </a:solidFill>
                <a:latin typeface="Calibri"/>
                <a:ea typeface="Calibri"/>
                <a:cs typeface="Calibri"/>
              </a:defRPr>
            </a:lvl2pPr>
            <a:lvl3pPr>
              <a:defRPr sz="2250" b="1">
                <a:solidFill>
                  <a:srgbClr val="000000"/>
                </a:solidFill>
                <a:latin typeface="Calibri"/>
                <a:ea typeface="Calibri"/>
                <a:cs typeface="Calibri"/>
              </a:defRPr>
            </a:lvl3pPr>
            <a:lvl4pPr>
              <a:defRPr sz="2250" b="1">
                <a:solidFill>
                  <a:srgbClr val="000000"/>
                </a:solidFill>
                <a:latin typeface="Calibri"/>
                <a:ea typeface="Calibri"/>
                <a:cs typeface="Calibri"/>
              </a:defRPr>
            </a:lvl4pPr>
            <a:lvl5pPr>
              <a:defRPr sz="2250" b="1">
                <a:solidFill>
                  <a:srgbClr val="000000"/>
                </a:solidFill>
                <a:latin typeface="Calibri"/>
                <a:ea typeface="Calibri"/>
                <a:cs typeface="Calibri"/>
              </a:defRPr>
            </a:lvl5pPr>
            <a:lvl6pPr>
              <a:defRPr sz="2250" b="1">
                <a:solidFill>
                  <a:srgbClr val="000000"/>
                </a:solidFill>
                <a:latin typeface="Calibri"/>
                <a:ea typeface="Calibri"/>
                <a:cs typeface="Calibri"/>
              </a:defRPr>
            </a:lvl6pPr>
            <a:lvl7pPr>
              <a:defRPr sz="2250" b="1">
                <a:solidFill>
                  <a:srgbClr val="000000"/>
                </a:solidFill>
                <a:latin typeface="Calibri"/>
                <a:ea typeface="Calibri"/>
                <a:cs typeface="Calibri"/>
              </a:defRPr>
            </a:lvl7pPr>
            <a:lvl8pPr>
              <a:defRPr sz="2250" b="1">
                <a:solidFill>
                  <a:srgbClr val="000000"/>
                </a:solidFill>
                <a:latin typeface="Calibri"/>
                <a:ea typeface="Calibri"/>
                <a:cs typeface="Calibri"/>
              </a:defRPr>
            </a:lvl8pPr>
            <a:lvl9pPr>
              <a:defRPr sz="2250" b="1">
                <a:solidFill>
                  <a:srgbClr val="000000"/>
                </a:solidFill>
                <a:latin typeface="Calibri"/>
                <a:ea typeface="Calibri"/>
                <a:cs typeface="Calibri"/>
              </a:defRPr>
            </a:lvl9pPr>
          </a:lstStyle>
          <a:p>
            <a:pPr>
              <a:defRPr sz="2250" b="1">
                <a:solidFill>
                  <a:srgbClr val="000000"/>
                </a:solidFill>
                <a:latin typeface="Calibri"/>
                <a:ea typeface="Calibri"/>
                <a:cs typeface="Calibri"/>
              </a:defRPr>
            </a:pPr>
            <a:r>
              <a:rPr sz="2250" b="1">
                <a:solidFill>
                  <a:srgbClr val="000000"/>
                </a:solidFill>
                <a:latin typeface="Calibri" panose="020F0502020204030204" pitchFamily="34" charset="0"/>
                <a:ea typeface="Calibri"/>
                <a:cs typeface="Calibri"/>
              </a:rPr>
              <a:t>30 kg</a:t>
            </a:r>
          </a:p>
        </p:txBody>
      </p:sp>
      <p:sp>
        <p:nvSpPr>
          <p:cNvPr id="5" name="Rectangle 4">
            <a:extLst>
              <a:ext uri="{FF2B5EF4-FFF2-40B4-BE49-F238E27FC236}">
                <a16:creationId xmlns:a16="http://schemas.microsoft.com/office/drawing/2014/main" id="{1586E588-8EC7-E7F7-E893-4F6BF9D74DA6}"/>
              </a:ext>
            </a:extLst>
          </p:cNvPr>
          <p:cNvSpPr>
            <a:spLocks noGrp="1"/>
          </p:cNvSpPr>
          <p:nvPr/>
        </p:nvSpPr>
        <p:spPr>
          <a:xfrm>
            <a:off x="476250" y="999011"/>
            <a:ext cx="2143125" cy="285750"/>
          </a:xfrm>
          <a:prstGeom prst="rect">
            <a:avLst/>
          </a:prstGeom>
          <a:noFill/>
          <a:ln w="0">
            <a:noFill/>
            <a:prstDash val="solid"/>
          </a:ln>
        </p:spPr>
        <p:txBody>
          <a:bodyPr lIns="0" tIns="0" rIns="0" bIns="0"/>
          <a:lstStyle>
            <a:defPPr>
              <a:defRPr sz="1350" b="0">
                <a:solidFill>
                  <a:srgbClr val="444444"/>
                </a:solidFill>
                <a:latin typeface="Calibri"/>
                <a:ea typeface="Calibri"/>
                <a:cs typeface="Calibri"/>
              </a:defRPr>
            </a:defPPr>
            <a:lvl1pPr>
              <a:defRPr sz="1350" b="0">
                <a:solidFill>
                  <a:srgbClr val="444444"/>
                </a:solidFill>
                <a:latin typeface="Calibri"/>
                <a:ea typeface="Calibri"/>
                <a:cs typeface="Calibri"/>
              </a:defRPr>
            </a:lvl1pPr>
            <a:lvl2pPr>
              <a:defRPr sz="1350" b="0">
                <a:solidFill>
                  <a:srgbClr val="444444"/>
                </a:solidFill>
                <a:latin typeface="Calibri"/>
                <a:ea typeface="Calibri"/>
                <a:cs typeface="Calibri"/>
              </a:defRPr>
            </a:lvl2pPr>
            <a:lvl3pPr>
              <a:defRPr sz="1350" b="0">
                <a:solidFill>
                  <a:srgbClr val="444444"/>
                </a:solidFill>
                <a:latin typeface="Calibri"/>
                <a:ea typeface="Calibri"/>
                <a:cs typeface="Calibri"/>
              </a:defRPr>
            </a:lvl3pPr>
            <a:lvl4pPr>
              <a:defRPr sz="1350" b="0">
                <a:solidFill>
                  <a:srgbClr val="444444"/>
                </a:solidFill>
                <a:latin typeface="Calibri"/>
                <a:ea typeface="Calibri"/>
                <a:cs typeface="Calibri"/>
              </a:defRPr>
            </a:lvl4pPr>
            <a:lvl5pPr>
              <a:defRPr sz="1350" b="0">
                <a:solidFill>
                  <a:srgbClr val="444444"/>
                </a:solidFill>
                <a:latin typeface="Calibri"/>
                <a:ea typeface="Calibri"/>
                <a:cs typeface="Calibri"/>
              </a:defRPr>
            </a:lvl5pPr>
            <a:lvl6pPr>
              <a:defRPr sz="1350" b="0">
                <a:solidFill>
                  <a:srgbClr val="444444"/>
                </a:solidFill>
                <a:latin typeface="Calibri"/>
                <a:ea typeface="Calibri"/>
                <a:cs typeface="Calibri"/>
              </a:defRPr>
            </a:lvl6pPr>
            <a:lvl7pPr>
              <a:defRPr sz="1350" b="0">
                <a:solidFill>
                  <a:srgbClr val="444444"/>
                </a:solidFill>
                <a:latin typeface="Calibri"/>
                <a:ea typeface="Calibri"/>
                <a:cs typeface="Calibri"/>
              </a:defRPr>
            </a:lvl7pPr>
            <a:lvl8pPr>
              <a:defRPr sz="1350" b="0">
                <a:solidFill>
                  <a:srgbClr val="444444"/>
                </a:solidFill>
                <a:latin typeface="Calibri"/>
                <a:ea typeface="Calibri"/>
                <a:cs typeface="Calibri"/>
              </a:defRPr>
            </a:lvl8pPr>
            <a:lvl9pPr>
              <a:defRPr sz="1350" b="0">
                <a:solidFill>
                  <a:srgbClr val="444444"/>
                </a:solidFill>
                <a:latin typeface="Calibri"/>
                <a:ea typeface="Calibri"/>
                <a:cs typeface="Calibri"/>
              </a:defRPr>
            </a:lvl9pPr>
          </a:lstStyle>
          <a:p>
            <a:pPr>
              <a:defRPr sz="1350" b="0">
                <a:solidFill>
                  <a:srgbClr val="444444"/>
                </a:solidFill>
                <a:latin typeface="Calibri"/>
                <a:ea typeface="Calibri"/>
                <a:cs typeface="Calibri"/>
              </a:defRPr>
            </a:pPr>
            <a:r>
              <a:rPr sz="1350" b="0" dirty="0">
                <a:solidFill>
                  <a:srgbClr val="444444"/>
                </a:solidFill>
                <a:latin typeface="Calibri" panose="020F0502020204030204" pitchFamily="34" charset="0"/>
                <a:ea typeface="Calibri"/>
                <a:cs typeface="Calibri"/>
              </a:rPr>
              <a:t>EO/IR payload</a:t>
            </a:r>
          </a:p>
        </p:txBody>
      </p:sp>
      <p:sp>
        <p:nvSpPr>
          <p:cNvPr id="6" name="Rectangle 5">
            <a:extLst>
              <a:ext uri="{FF2B5EF4-FFF2-40B4-BE49-F238E27FC236}">
                <a16:creationId xmlns:a16="http://schemas.microsoft.com/office/drawing/2014/main" id="{E7F3362C-6BA0-B5EE-DF14-FB94AB40288A}"/>
              </a:ext>
            </a:extLst>
          </p:cNvPr>
          <p:cNvSpPr>
            <a:spLocks noGrp="1"/>
          </p:cNvSpPr>
          <p:nvPr/>
        </p:nvSpPr>
        <p:spPr>
          <a:xfrm>
            <a:off x="2771775" y="1246437"/>
            <a:ext cx="2143125" cy="400050"/>
          </a:xfrm>
          <a:prstGeom prst="rect">
            <a:avLst/>
          </a:prstGeom>
          <a:noFill/>
          <a:ln w="0">
            <a:noFill/>
            <a:prstDash val="solid"/>
          </a:ln>
        </p:spPr>
        <p:txBody>
          <a:bodyPr lIns="0" tIns="0" rIns="0" bIns="0"/>
          <a:lstStyle>
            <a:defPPr>
              <a:defRPr sz="2250" b="1">
                <a:solidFill>
                  <a:srgbClr val="000000"/>
                </a:solidFill>
                <a:latin typeface="Calibri"/>
                <a:ea typeface="Calibri"/>
                <a:cs typeface="Calibri"/>
              </a:defRPr>
            </a:defPPr>
            <a:lvl1pPr>
              <a:defRPr sz="2250" b="1">
                <a:solidFill>
                  <a:srgbClr val="000000"/>
                </a:solidFill>
                <a:latin typeface="Calibri"/>
                <a:ea typeface="Calibri"/>
                <a:cs typeface="Calibri"/>
              </a:defRPr>
            </a:lvl1pPr>
            <a:lvl2pPr>
              <a:defRPr sz="2250" b="1">
                <a:solidFill>
                  <a:srgbClr val="000000"/>
                </a:solidFill>
                <a:latin typeface="Calibri"/>
                <a:ea typeface="Calibri"/>
                <a:cs typeface="Calibri"/>
              </a:defRPr>
            </a:lvl2pPr>
            <a:lvl3pPr>
              <a:defRPr sz="2250" b="1">
                <a:solidFill>
                  <a:srgbClr val="000000"/>
                </a:solidFill>
                <a:latin typeface="Calibri"/>
                <a:ea typeface="Calibri"/>
                <a:cs typeface="Calibri"/>
              </a:defRPr>
            </a:lvl3pPr>
            <a:lvl4pPr>
              <a:defRPr sz="2250" b="1">
                <a:solidFill>
                  <a:srgbClr val="000000"/>
                </a:solidFill>
                <a:latin typeface="Calibri"/>
                <a:ea typeface="Calibri"/>
                <a:cs typeface="Calibri"/>
              </a:defRPr>
            </a:lvl4pPr>
            <a:lvl5pPr>
              <a:defRPr sz="2250" b="1">
                <a:solidFill>
                  <a:srgbClr val="000000"/>
                </a:solidFill>
                <a:latin typeface="Calibri"/>
                <a:ea typeface="Calibri"/>
                <a:cs typeface="Calibri"/>
              </a:defRPr>
            </a:lvl5pPr>
            <a:lvl6pPr>
              <a:defRPr sz="2250" b="1">
                <a:solidFill>
                  <a:srgbClr val="000000"/>
                </a:solidFill>
                <a:latin typeface="Calibri"/>
                <a:ea typeface="Calibri"/>
                <a:cs typeface="Calibri"/>
              </a:defRPr>
            </a:lvl6pPr>
            <a:lvl7pPr>
              <a:defRPr sz="2250" b="1">
                <a:solidFill>
                  <a:srgbClr val="000000"/>
                </a:solidFill>
                <a:latin typeface="Calibri"/>
                <a:ea typeface="Calibri"/>
                <a:cs typeface="Calibri"/>
              </a:defRPr>
            </a:lvl7pPr>
            <a:lvl8pPr>
              <a:defRPr sz="2250" b="1">
                <a:solidFill>
                  <a:srgbClr val="000000"/>
                </a:solidFill>
                <a:latin typeface="Calibri"/>
                <a:ea typeface="Calibri"/>
                <a:cs typeface="Calibri"/>
              </a:defRPr>
            </a:lvl8pPr>
            <a:lvl9pPr>
              <a:defRPr sz="2250" b="1">
                <a:solidFill>
                  <a:srgbClr val="000000"/>
                </a:solidFill>
                <a:latin typeface="Calibri"/>
                <a:ea typeface="Calibri"/>
                <a:cs typeface="Calibri"/>
              </a:defRPr>
            </a:lvl9pPr>
          </a:lstStyle>
          <a:p>
            <a:pPr>
              <a:defRPr sz="2250" b="1">
                <a:solidFill>
                  <a:srgbClr val="000000"/>
                </a:solidFill>
                <a:latin typeface="Calibri"/>
                <a:ea typeface="Calibri"/>
                <a:cs typeface="Calibri"/>
              </a:defRPr>
            </a:pPr>
            <a:r>
              <a:rPr sz="2250" b="1">
                <a:solidFill>
                  <a:srgbClr val="000000"/>
                </a:solidFill>
                <a:latin typeface="Calibri" panose="020F0502020204030204" pitchFamily="34" charset="0"/>
                <a:ea typeface="Calibri"/>
                <a:cs typeface="Calibri"/>
              </a:rPr>
              <a:t>5 h</a:t>
            </a:r>
          </a:p>
        </p:txBody>
      </p:sp>
      <p:sp>
        <p:nvSpPr>
          <p:cNvPr id="7" name="Rectangle 6">
            <a:extLst>
              <a:ext uri="{FF2B5EF4-FFF2-40B4-BE49-F238E27FC236}">
                <a16:creationId xmlns:a16="http://schemas.microsoft.com/office/drawing/2014/main" id="{AE3B634C-B633-4782-B989-9CAE90236581}"/>
              </a:ext>
            </a:extLst>
          </p:cNvPr>
          <p:cNvSpPr>
            <a:spLocks noGrp="1"/>
          </p:cNvSpPr>
          <p:nvPr/>
        </p:nvSpPr>
        <p:spPr>
          <a:xfrm>
            <a:off x="2771775" y="999011"/>
            <a:ext cx="2143125" cy="285750"/>
          </a:xfrm>
          <a:prstGeom prst="rect">
            <a:avLst/>
          </a:prstGeom>
          <a:noFill/>
          <a:ln w="0">
            <a:noFill/>
            <a:prstDash val="solid"/>
          </a:ln>
        </p:spPr>
        <p:txBody>
          <a:bodyPr lIns="0" tIns="0" rIns="0" bIns="0"/>
          <a:lstStyle>
            <a:defPPr>
              <a:defRPr sz="1350" b="0">
                <a:solidFill>
                  <a:srgbClr val="444444"/>
                </a:solidFill>
                <a:latin typeface="Calibri"/>
                <a:ea typeface="Calibri"/>
                <a:cs typeface="Calibri"/>
              </a:defRPr>
            </a:defPPr>
            <a:lvl1pPr>
              <a:defRPr sz="1350" b="0">
                <a:solidFill>
                  <a:srgbClr val="444444"/>
                </a:solidFill>
                <a:latin typeface="Calibri"/>
                <a:ea typeface="Calibri"/>
                <a:cs typeface="Calibri"/>
              </a:defRPr>
            </a:lvl1pPr>
            <a:lvl2pPr>
              <a:defRPr sz="1350" b="0">
                <a:solidFill>
                  <a:srgbClr val="444444"/>
                </a:solidFill>
                <a:latin typeface="Calibri"/>
                <a:ea typeface="Calibri"/>
                <a:cs typeface="Calibri"/>
              </a:defRPr>
            </a:lvl2pPr>
            <a:lvl3pPr>
              <a:defRPr sz="1350" b="0">
                <a:solidFill>
                  <a:srgbClr val="444444"/>
                </a:solidFill>
                <a:latin typeface="Calibri"/>
                <a:ea typeface="Calibri"/>
                <a:cs typeface="Calibri"/>
              </a:defRPr>
            </a:lvl3pPr>
            <a:lvl4pPr>
              <a:defRPr sz="1350" b="0">
                <a:solidFill>
                  <a:srgbClr val="444444"/>
                </a:solidFill>
                <a:latin typeface="Calibri"/>
                <a:ea typeface="Calibri"/>
                <a:cs typeface="Calibri"/>
              </a:defRPr>
            </a:lvl4pPr>
            <a:lvl5pPr>
              <a:defRPr sz="1350" b="0">
                <a:solidFill>
                  <a:srgbClr val="444444"/>
                </a:solidFill>
                <a:latin typeface="Calibri"/>
                <a:ea typeface="Calibri"/>
                <a:cs typeface="Calibri"/>
              </a:defRPr>
            </a:lvl5pPr>
            <a:lvl6pPr>
              <a:defRPr sz="1350" b="0">
                <a:solidFill>
                  <a:srgbClr val="444444"/>
                </a:solidFill>
                <a:latin typeface="Calibri"/>
                <a:ea typeface="Calibri"/>
                <a:cs typeface="Calibri"/>
              </a:defRPr>
            </a:lvl6pPr>
            <a:lvl7pPr>
              <a:defRPr sz="1350" b="0">
                <a:solidFill>
                  <a:srgbClr val="444444"/>
                </a:solidFill>
                <a:latin typeface="Calibri"/>
                <a:ea typeface="Calibri"/>
                <a:cs typeface="Calibri"/>
              </a:defRPr>
            </a:lvl7pPr>
            <a:lvl8pPr>
              <a:defRPr sz="1350" b="0">
                <a:solidFill>
                  <a:srgbClr val="444444"/>
                </a:solidFill>
                <a:latin typeface="Calibri"/>
                <a:ea typeface="Calibri"/>
                <a:cs typeface="Calibri"/>
              </a:defRPr>
            </a:lvl8pPr>
            <a:lvl9pPr>
              <a:defRPr sz="1350" b="0">
                <a:solidFill>
                  <a:srgbClr val="444444"/>
                </a:solidFill>
                <a:latin typeface="Calibri"/>
                <a:ea typeface="Calibri"/>
                <a:cs typeface="Calibri"/>
              </a:defRPr>
            </a:lvl9pPr>
          </a:lstStyle>
          <a:p>
            <a:pPr>
              <a:defRPr sz="1350" b="0">
                <a:solidFill>
                  <a:srgbClr val="444444"/>
                </a:solidFill>
                <a:latin typeface="Calibri"/>
                <a:ea typeface="Calibri"/>
                <a:cs typeface="Calibri"/>
              </a:defRPr>
            </a:pPr>
            <a:r>
              <a:rPr sz="1350" b="0">
                <a:solidFill>
                  <a:srgbClr val="444444"/>
                </a:solidFill>
                <a:latin typeface="Calibri" panose="020F0502020204030204" pitchFamily="34" charset="0"/>
                <a:ea typeface="Calibri"/>
                <a:cs typeface="Calibri"/>
              </a:rPr>
              <a:t>Airborne endurance</a:t>
            </a:r>
          </a:p>
        </p:txBody>
      </p:sp>
      <p:sp>
        <p:nvSpPr>
          <p:cNvPr id="8" name="Rectangle 7">
            <a:extLst>
              <a:ext uri="{FF2B5EF4-FFF2-40B4-BE49-F238E27FC236}">
                <a16:creationId xmlns:a16="http://schemas.microsoft.com/office/drawing/2014/main" id="{A82A6A00-276C-807D-E652-1762DE404044}"/>
              </a:ext>
            </a:extLst>
          </p:cNvPr>
          <p:cNvSpPr>
            <a:spLocks noGrp="1"/>
          </p:cNvSpPr>
          <p:nvPr/>
        </p:nvSpPr>
        <p:spPr>
          <a:xfrm>
            <a:off x="5067300" y="1246437"/>
            <a:ext cx="2143125" cy="400050"/>
          </a:xfrm>
          <a:prstGeom prst="rect">
            <a:avLst/>
          </a:prstGeom>
          <a:noFill/>
          <a:ln w="0">
            <a:noFill/>
            <a:prstDash val="solid"/>
          </a:ln>
        </p:spPr>
        <p:txBody>
          <a:bodyPr lIns="0" tIns="0" rIns="0" bIns="0"/>
          <a:lstStyle>
            <a:defPPr>
              <a:defRPr sz="2250" b="1">
                <a:solidFill>
                  <a:srgbClr val="000000"/>
                </a:solidFill>
                <a:latin typeface="Calibri"/>
                <a:ea typeface="Calibri"/>
                <a:cs typeface="Calibri"/>
              </a:defRPr>
            </a:defPPr>
            <a:lvl1pPr>
              <a:defRPr sz="2250" b="1">
                <a:solidFill>
                  <a:srgbClr val="000000"/>
                </a:solidFill>
                <a:latin typeface="Calibri"/>
                <a:ea typeface="Calibri"/>
                <a:cs typeface="Calibri"/>
              </a:defRPr>
            </a:lvl1pPr>
            <a:lvl2pPr>
              <a:defRPr sz="2250" b="1">
                <a:solidFill>
                  <a:srgbClr val="000000"/>
                </a:solidFill>
                <a:latin typeface="Calibri"/>
                <a:ea typeface="Calibri"/>
                <a:cs typeface="Calibri"/>
              </a:defRPr>
            </a:lvl2pPr>
            <a:lvl3pPr>
              <a:defRPr sz="2250" b="1">
                <a:solidFill>
                  <a:srgbClr val="000000"/>
                </a:solidFill>
                <a:latin typeface="Calibri"/>
                <a:ea typeface="Calibri"/>
                <a:cs typeface="Calibri"/>
              </a:defRPr>
            </a:lvl3pPr>
            <a:lvl4pPr>
              <a:defRPr sz="2250" b="1">
                <a:solidFill>
                  <a:srgbClr val="000000"/>
                </a:solidFill>
                <a:latin typeface="Calibri"/>
                <a:ea typeface="Calibri"/>
                <a:cs typeface="Calibri"/>
              </a:defRPr>
            </a:lvl4pPr>
            <a:lvl5pPr>
              <a:defRPr sz="2250" b="1">
                <a:solidFill>
                  <a:srgbClr val="000000"/>
                </a:solidFill>
                <a:latin typeface="Calibri"/>
                <a:ea typeface="Calibri"/>
                <a:cs typeface="Calibri"/>
              </a:defRPr>
            </a:lvl5pPr>
            <a:lvl6pPr>
              <a:defRPr sz="2250" b="1">
                <a:solidFill>
                  <a:srgbClr val="000000"/>
                </a:solidFill>
                <a:latin typeface="Calibri"/>
                <a:ea typeface="Calibri"/>
                <a:cs typeface="Calibri"/>
              </a:defRPr>
            </a:lvl6pPr>
            <a:lvl7pPr>
              <a:defRPr sz="2250" b="1">
                <a:solidFill>
                  <a:srgbClr val="000000"/>
                </a:solidFill>
                <a:latin typeface="Calibri"/>
                <a:ea typeface="Calibri"/>
                <a:cs typeface="Calibri"/>
              </a:defRPr>
            </a:lvl7pPr>
            <a:lvl8pPr>
              <a:defRPr sz="2250" b="1">
                <a:solidFill>
                  <a:srgbClr val="000000"/>
                </a:solidFill>
                <a:latin typeface="Calibri"/>
                <a:ea typeface="Calibri"/>
                <a:cs typeface="Calibri"/>
              </a:defRPr>
            </a:lvl8pPr>
            <a:lvl9pPr>
              <a:defRPr sz="2250" b="1">
                <a:solidFill>
                  <a:srgbClr val="000000"/>
                </a:solidFill>
                <a:latin typeface="Calibri"/>
                <a:ea typeface="Calibri"/>
                <a:cs typeface="Calibri"/>
              </a:defRPr>
            </a:lvl9pPr>
          </a:lstStyle>
          <a:p>
            <a:pPr>
              <a:defRPr sz="2250" b="1">
                <a:solidFill>
                  <a:srgbClr val="000000"/>
                </a:solidFill>
                <a:latin typeface="Calibri"/>
                <a:ea typeface="Calibri"/>
                <a:cs typeface="Calibri"/>
              </a:defRPr>
            </a:pPr>
            <a:r>
              <a:rPr sz="2250" b="1">
                <a:solidFill>
                  <a:srgbClr val="000000"/>
                </a:solidFill>
                <a:latin typeface="Calibri" panose="020F0502020204030204" pitchFamily="34" charset="0"/>
                <a:ea typeface="Calibri"/>
                <a:cs typeface="Calibri"/>
              </a:rPr>
              <a:t>3,000 m</a:t>
            </a:r>
          </a:p>
        </p:txBody>
      </p:sp>
      <p:sp>
        <p:nvSpPr>
          <p:cNvPr id="9" name="Rectangle 8">
            <a:extLst>
              <a:ext uri="{FF2B5EF4-FFF2-40B4-BE49-F238E27FC236}">
                <a16:creationId xmlns:a16="http://schemas.microsoft.com/office/drawing/2014/main" id="{8EE1C157-9EF7-5653-F9AE-40B262E041B9}"/>
              </a:ext>
            </a:extLst>
          </p:cNvPr>
          <p:cNvSpPr>
            <a:spLocks noGrp="1"/>
          </p:cNvSpPr>
          <p:nvPr/>
        </p:nvSpPr>
        <p:spPr>
          <a:xfrm>
            <a:off x="5067300" y="999011"/>
            <a:ext cx="2143125" cy="285750"/>
          </a:xfrm>
          <a:prstGeom prst="rect">
            <a:avLst/>
          </a:prstGeom>
          <a:noFill/>
          <a:ln w="0">
            <a:noFill/>
            <a:prstDash val="solid"/>
          </a:ln>
        </p:spPr>
        <p:txBody>
          <a:bodyPr lIns="0" tIns="0" rIns="0" bIns="0"/>
          <a:lstStyle>
            <a:defPPr>
              <a:defRPr sz="1350" b="0">
                <a:solidFill>
                  <a:srgbClr val="444444"/>
                </a:solidFill>
                <a:latin typeface="Calibri"/>
                <a:ea typeface="Calibri"/>
                <a:cs typeface="Calibri"/>
              </a:defRPr>
            </a:defPPr>
            <a:lvl1pPr>
              <a:defRPr sz="1350" b="0">
                <a:solidFill>
                  <a:srgbClr val="444444"/>
                </a:solidFill>
                <a:latin typeface="Calibri"/>
                <a:ea typeface="Calibri"/>
                <a:cs typeface="Calibri"/>
              </a:defRPr>
            </a:lvl1pPr>
            <a:lvl2pPr>
              <a:defRPr sz="1350" b="0">
                <a:solidFill>
                  <a:srgbClr val="444444"/>
                </a:solidFill>
                <a:latin typeface="Calibri"/>
                <a:ea typeface="Calibri"/>
                <a:cs typeface="Calibri"/>
              </a:defRPr>
            </a:lvl2pPr>
            <a:lvl3pPr>
              <a:defRPr sz="1350" b="0">
                <a:solidFill>
                  <a:srgbClr val="444444"/>
                </a:solidFill>
                <a:latin typeface="Calibri"/>
                <a:ea typeface="Calibri"/>
                <a:cs typeface="Calibri"/>
              </a:defRPr>
            </a:lvl3pPr>
            <a:lvl4pPr>
              <a:defRPr sz="1350" b="0">
                <a:solidFill>
                  <a:srgbClr val="444444"/>
                </a:solidFill>
                <a:latin typeface="Calibri"/>
                <a:ea typeface="Calibri"/>
                <a:cs typeface="Calibri"/>
              </a:defRPr>
            </a:lvl4pPr>
            <a:lvl5pPr>
              <a:defRPr sz="1350" b="0">
                <a:solidFill>
                  <a:srgbClr val="444444"/>
                </a:solidFill>
                <a:latin typeface="Calibri"/>
                <a:ea typeface="Calibri"/>
                <a:cs typeface="Calibri"/>
              </a:defRPr>
            </a:lvl5pPr>
            <a:lvl6pPr>
              <a:defRPr sz="1350" b="0">
                <a:solidFill>
                  <a:srgbClr val="444444"/>
                </a:solidFill>
                <a:latin typeface="Calibri"/>
                <a:ea typeface="Calibri"/>
                <a:cs typeface="Calibri"/>
              </a:defRPr>
            </a:lvl6pPr>
            <a:lvl7pPr>
              <a:defRPr sz="1350" b="0">
                <a:solidFill>
                  <a:srgbClr val="444444"/>
                </a:solidFill>
                <a:latin typeface="Calibri"/>
                <a:ea typeface="Calibri"/>
                <a:cs typeface="Calibri"/>
              </a:defRPr>
            </a:lvl7pPr>
            <a:lvl8pPr>
              <a:defRPr sz="1350" b="0">
                <a:solidFill>
                  <a:srgbClr val="444444"/>
                </a:solidFill>
                <a:latin typeface="Calibri"/>
                <a:ea typeface="Calibri"/>
                <a:cs typeface="Calibri"/>
              </a:defRPr>
            </a:lvl8pPr>
            <a:lvl9pPr>
              <a:defRPr sz="1350" b="0">
                <a:solidFill>
                  <a:srgbClr val="444444"/>
                </a:solidFill>
                <a:latin typeface="Calibri"/>
                <a:ea typeface="Calibri"/>
                <a:cs typeface="Calibri"/>
              </a:defRPr>
            </a:lvl9pPr>
          </a:lstStyle>
          <a:p>
            <a:pPr>
              <a:defRPr sz="1350" b="0">
                <a:solidFill>
                  <a:srgbClr val="444444"/>
                </a:solidFill>
                <a:latin typeface="Calibri"/>
                <a:ea typeface="Calibri"/>
                <a:cs typeface="Calibri"/>
              </a:defRPr>
            </a:pPr>
            <a:r>
              <a:rPr sz="1350" b="0">
                <a:solidFill>
                  <a:srgbClr val="444444"/>
                </a:solidFill>
                <a:latin typeface="Calibri" panose="020F0502020204030204" pitchFamily="34" charset="0"/>
                <a:ea typeface="Calibri"/>
                <a:cs typeface="Calibri"/>
              </a:rPr>
              <a:t>Operating altitude</a:t>
            </a:r>
          </a:p>
        </p:txBody>
      </p:sp>
      <p:sp>
        <p:nvSpPr>
          <p:cNvPr id="10" name="Rectangle 9">
            <a:extLst>
              <a:ext uri="{FF2B5EF4-FFF2-40B4-BE49-F238E27FC236}">
                <a16:creationId xmlns:a16="http://schemas.microsoft.com/office/drawing/2014/main" id="{EC5C4848-4D3B-2264-AC78-5BDA325C7872}"/>
              </a:ext>
            </a:extLst>
          </p:cNvPr>
          <p:cNvSpPr>
            <a:spLocks noGrp="1"/>
          </p:cNvSpPr>
          <p:nvPr/>
        </p:nvSpPr>
        <p:spPr>
          <a:xfrm>
            <a:off x="7362825" y="1246437"/>
            <a:ext cx="2143125" cy="400050"/>
          </a:xfrm>
          <a:prstGeom prst="rect">
            <a:avLst/>
          </a:prstGeom>
          <a:noFill/>
          <a:ln w="0">
            <a:noFill/>
            <a:prstDash val="solid"/>
          </a:ln>
        </p:spPr>
        <p:txBody>
          <a:bodyPr lIns="0" tIns="0" rIns="0" bIns="0"/>
          <a:lstStyle>
            <a:defPPr>
              <a:defRPr sz="2250" b="1">
                <a:solidFill>
                  <a:srgbClr val="000000"/>
                </a:solidFill>
                <a:latin typeface="Calibri"/>
                <a:ea typeface="Calibri"/>
                <a:cs typeface="Calibri"/>
              </a:defRPr>
            </a:defPPr>
            <a:lvl1pPr>
              <a:defRPr sz="2250" b="1">
                <a:solidFill>
                  <a:srgbClr val="000000"/>
                </a:solidFill>
                <a:latin typeface="Calibri"/>
                <a:ea typeface="Calibri"/>
                <a:cs typeface="Calibri"/>
              </a:defRPr>
            </a:lvl1pPr>
            <a:lvl2pPr>
              <a:defRPr sz="2250" b="1">
                <a:solidFill>
                  <a:srgbClr val="000000"/>
                </a:solidFill>
                <a:latin typeface="Calibri"/>
                <a:ea typeface="Calibri"/>
                <a:cs typeface="Calibri"/>
              </a:defRPr>
            </a:lvl2pPr>
            <a:lvl3pPr>
              <a:defRPr sz="2250" b="1">
                <a:solidFill>
                  <a:srgbClr val="000000"/>
                </a:solidFill>
                <a:latin typeface="Calibri"/>
                <a:ea typeface="Calibri"/>
                <a:cs typeface="Calibri"/>
              </a:defRPr>
            </a:lvl3pPr>
            <a:lvl4pPr>
              <a:defRPr sz="2250" b="1">
                <a:solidFill>
                  <a:srgbClr val="000000"/>
                </a:solidFill>
                <a:latin typeface="Calibri"/>
                <a:ea typeface="Calibri"/>
                <a:cs typeface="Calibri"/>
              </a:defRPr>
            </a:lvl4pPr>
            <a:lvl5pPr>
              <a:defRPr sz="2250" b="1">
                <a:solidFill>
                  <a:srgbClr val="000000"/>
                </a:solidFill>
                <a:latin typeface="Calibri"/>
                <a:ea typeface="Calibri"/>
                <a:cs typeface="Calibri"/>
              </a:defRPr>
            </a:lvl5pPr>
            <a:lvl6pPr>
              <a:defRPr sz="2250" b="1">
                <a:solidFill>
                  <a:srgbClr val="000000"/>
                </a:solidFill>
                <a:latin typeface="Calibri"/>
                <a:ea typeface="Calibri"/>
                <a:cs typeface="Calibri"/>
              </a:defRPr>
            </a:lvl6pPr>
            <a:lvl7pPr>
              <a:defRPr sz="2250" b="1">
                <a:solidFill>
                  <a:srgbClr val="000000"/>
                </a:solidFill>
                <a:latin typeface="Calibri"/>
                <a:ea typeface="Calibri"/>
                <a:cs typeface="Calibri"/>
              </a:defRPr>
            </a:lvl7pPr>
            <a:lvl8pPr>
              <a:defRPr sz="2250" b="1">
                <a:solidFill>
                  <a:srgbClr val="000000"/>
                </a:solidFill>
                <a:latin typeface="Calibri"/>
                <a:ea typeface="Calibri"/>
                <a:cs typeface="Calibri"/>
              </a:defRPr>
            </a:lvl8pPr>
            <a:lvl9pPr>
              <a:defRPr sz="2250" b="1">
                <a:solidFill>
                  <a:srgbClr val="000000"/>
                </a:solidFill>
                <a:latin typeface="Calibri"/>
                <a:ea typeface="Calibri"/>
                <a:cs typeface="Calibri"/>
              </a:defRPr>
            </a:lvl9pPr>
          </a:lstStyle>
          <a:p>
            <a:pPr>
              <a:defRPr sz="2250" b="1">
                <a:solidFill>
                  <a:srgbClr val="000000"/>
                </a:solidFill>
                <a:latin typeface="Calibri"/>
                <a:ea typeface="Calibri"/>
                <a:cs typeface="Calibri"/>
              </a:defRPr>
            </a:pPr>
            <a:r>
              <a:rPr sz="2250" b="1">
                <a:solidFill>
                  <a:srgbClr val="000000"/>
                </a:solidFill>
                <a:latin typeface="Calibri" panose="020F0502020204030204" pitchFamily="34" charset="0"/>
                <a:ea typeface="Calibri"/>
                <a:cs typeface="Calibri"/>
              </a:rPr>
              <a:t>160 km/h</a:t>
            </a:r>
          </a:p>
        </p:txBody>
      </p:sp>
      <p:sp>
        <p:nvSpPr>
          <p:cNvPr id="11" name="Rectangle 10">
            <a:extLst>
              <a:ext uri="{FF2B5EF4-FFF2-40B4-BE49-F238E27FC236}">
                <a16:creationId xmlns:a16="http://schemas.microsoft.com/office/drawing/2014/main" id="{AF4D4B2E-DA92-777D-EA1D-CDF0D0C4F6E1}"/>
              </a:ext>
            </a:extLst>
          </p:cNvPr>
          <p:cNvSpPr>
            <a:spLocks noGrp="1"/>
          </p:cNvSpPr>
          <p:nvPr/>
        </p:nvSpPr>
        <p:spPr>
          <a:xfrm>
            <a:off x="7362825" y="999011"/>
            <a:ext cx="2143125" cy="285750"/>
          </a:xfrm>
          <a:prstGeom prst="rect">
            <a:avLst/>
          </a:prstGeom>
          <a:noFill/>
          <a:ln w="0">
            <a:noFill/>
            <a:prstDash val="solid"/>
          </a:ln>
        </p:spPr>
        <p:txBody>
          <a:bodyPr lIns="0" tIns="0" rIns="0" bIns="0"/>
          <a:lstStyle>
            <a:defPPr>
              <a:defRPr sz="1350" b="0">
                <a:solidFill>
                  <a:srgbClr val="444444"/>
                </a:solidFill>
                <a:latin typeface="Calibri"/>
                <a:ea typeface="Calibri"/>
                <a:cs typeface="Calibri"/>
              </a:defRPr>
            </a:defPPr>
            <a:lvl1pPr>
              <a:defRPr sz="1350" b="0">
                <a:solidFill>
                  <a:srgbClr val="444444"/>
                </a:solidFill>
                <a:latin typeface="Calibri"/>
                <a:ea typeface="Calibri"/>
                <a:cs typeface="Calibri"/>
              </a:defRPr>
            </a:lvl1pPr>
            <a:lvl2pPr>
              <a:defRPr sz="1350" b="0">
                <a:solidFill>
                  <a:srgbClr val="444444"/>
                </a:solidFill>
                <a:latin typeface="Calibri"/>
                <a:ea typeface="Calibri"/>
                <a:cs typeface="Calibri"/>
              </a:defRPr>
            </a:lvl2pPr>
            <a:lvl3pPr>
              <a:defRPr sz="1350" b="0">
                <a:solidFill>
                  <a:srgbClr val="444444"/>
                </a:solidFill>
                <a:latin typeface="Calibri"/>
                <a:ea typeface="Calibri"/>
                <a:cs typeface="Calibri"/>
              </a:defRPr>
            </a:lvl3pPr>
            <a:lvl4pPr>
              <a:defRPr sz="1350" b="0">
                <a:solidFill>
                  <a:srgbClr val="444444"/>
                </a:solidFill>
                <a:latin typeface="Calibri"/>
                <a:ea typeface="Calibri"/>
                <a:cs typeface="Calibri"/>
              </a:defRPr>
            </a:lvl4pPr>
            <a:lvl5pPr>
              <a:defRPr sz="1350" b="0">
                <a:solidFill>
                  <a:srgbClr val="444444"/>
                </a:solidFill>
                <a:latin typeface="Calibri"/>
                <a:ea typeface="Calibri"/>
                <a:cs typeface="Calibri"/>
              </a:defRPr>
            </a:lvl5pPr>
            <a:lvl6pPr>
              <a:defRPr sz="1350" b="0">
                <a:solidFill>
                  <a:srgbClr val="444444"/>
                </a:solidFill>
                <a:latin typeface="Calibri"/>
                <a:ea typeface="Calibri"/>
                <a:cs typeface="Calibri"/>
              </a:defRPr>
            </a:lvl6pPr>
            <a:lvl7pPr>
              <a:defRPr sz="1350" b="0">
                <a:solidFill>
                  <a:srgbClr val="444444"/>
                </a:solidFill>
                <a:latin typeface="Calibri"/>
                <a:ea typeface="Calibri"/>
                <a:cs typeface="Calibri"/>
              </a:defRPr>
            </a:lvl7pPr>
            <a:lvl8pPr>
              <a:defRPr sz="1350" b="0">
                <a:solidFill>
                  <a:srgbClr val="444444"/>
                </a:solidFill>
                <a:latin typeface="Calibri"/>
                <a:ea typeface="Calibri"/>
                <a:cs typeface="Calibri"/>
              </a:defRPr>
            </a:lvl8pPr>
            <a:lvl9pPr>
              <a:defRPr sz="1350" b="0">
                <a:solidFill>
                  <a:srgbClr val="444444"/>
                </a:solidFill>
                <a:latin typeface="Calibri"/>
                <a:ea typeface="Calibri"/>
                <a:cs typeface="Calibri"/>
              </a:defRPr>
            </a:lvl9pPr>
          </a:lstStyle>
          <a:p>
            <a:pPr>
              <a:defRPr sz="1350" b="0">
                <a:solidFill>
                  <a:srgbClr val="444444"/>
                </a:solidFill>
                <a:latin typeface="Calibri"/>
                <a:ea typeface="Calibri"/>
                <a:cs typeface="Calibri"/>
              </a:defRPr>
            </a:pPr>
            <a:r>
              <a:rPr sz="1350" b="0">
                <a:solidFill>
                  <a:srgbClr val="444444"/>
                </a:solidFill>
                <a:latin typeface="Calibri" panose="020F0502020204030204" pitchFamily="34" charset="0"/>
                <a:ea typeface="Calibri"/>
                <a:cs typeface="Calibri"/>
              </a:rPr>
              <a:t>Maximum speed</a:t>
            </a:r>
          </a:p>
        </p:txBody>
      </p:sp>
      <p:sp>
        <p:nvSpPr>
          <p:cNvPr id="12" name="Rectangle 11">
            <a:extLst>
              <a:ext uri="{FF2B5EF4-FFF2-40B4-BE49-F238E27FC236}">
                <a16:creationId xmlns:a16="http://schemas.microsoft.com/office/drawing/2014/main" id="{0EB4A7F4-38A7-5132-0753-ECAE9538B53F}"/>
              </a:ext>
            </a:extLst>
          </p:cNvPr>
          <p:cNvSpPr>
            <a:spLocks noGrp="1"/>
          </p:cNvSpPr>
          <p:nvPr/>
        </p:nvSpPr>
        <p:spPr>
          <a:xfrm>
            <a:off x="9658350" y="1246437"/>
            <a:ext cx="2143125" cy="400050"/>
          </a:xfrm>
          <a:prstGeom prst="rect">
            <a:avLst/>
          </a:prstGeom>
          <a:noFill/>
          <a:ln w="0">
            <a:noFill/>
            <a:prstDash val="solid"/>
          </a:ln>
        </p:spPr>
        <p:txBody>
          <a:bodyPr lIns="0" tIns="0" rIns="0" bIns="0"/>
          <a:lstStyle>
            <a:defPPr>
              <a:defRPr sz="2250" b="1">
                <a:solidFill>
                  <a:srgbClr val="000000"/>
                </a:solidFill>
                <a:latin typeface="Calibri"/>
                <a:ea typeface="Calibri"/>
                <a:cs typeface="Calibri"/>
              </a:defRPr>
            </a:defPPr>
            <a:lvl1pPr>
              <a:defRPr sz="2250" b="1">
                <a:solidFill>
                  <a:srgbClr val="000000"/>
                </a:solidFill>
                <a:latin typeface="Calibri"/>
                <a:ea typeface="Calibri"/>
                <a:cs typeface="Calibri"/>
              </a:defRPr>
            </a:lvl1pPr>
            <a:lvl2pPr>
              <a:defRPr sz="2250" b="1">
                <a:solidFill>
                  <a:srgbClr val="000000"/>
                </a:solidFill>
                <a:latin typeface="Calibri"/>
                <a:ea typeface="Calibri"/>
                <a:cs typeface="Calibri"/>
              </a:defRPr>
            </a:lvl2pPr>
            <a:lvl3pPr>
              <a:defRPr sz="2250" b="1">
                <a:solidFill>
                  <a:srgbClr val="000000"/>
                </a:solidFill>
                <a:latin typeface="Calibri"/>
                <a:ea typeface="Calibri"/>
                <a:cs typeface="Calibri"/>
              </a:defRPr>
            </a:lvl3pPr>
            <a:lvl4pPr>
              <a:defRPr sz="2250" b="1">
                <a:solidFill>
                  <a:srgbClr val="000000"/>
                </a:solidFill>
                <a:latin typeface="Calibri"/>
                <a:ea typeface="Calibri"/>
                <a:cs typeface="Calibri"/>
              </a:defRPr>
            </a:lvl4pPr>
            <a:lvl5pPr>
              <a:defRPr sz="2250" b="1">
                <a:solidFill>
                  <a:srgbClr val="000000"/>
                </a:solidFill>
                <a:latin typeface="Calibri"/>
                <a:ea typeface="Calibri"/>
                <a:cs typeface="Calibri"/>
              </a:defRPr>
            </a:lvl5pPr>
            <a:lvl6pPr>
              <a:defRPr sz="2250" b="1">
                <a:solidFill>
                  <a:srgbClr val="000000"/>
                </a:solidFill>
                <a:latin typeface="Calibri"/>
                <a:ea typeface="Calibri"/>
                <a:cs typeface="Calibri"/>
              </a:defRPr>
            </a:lvl6pPr>
            <a:lvl7pPr>
              <a:defRPr sz="2250" b="1">
                <a:solidFill>
                  <a:srgbClr val="000000"/>
                </a:solidFill>
                <a:latin typeface="Calibri"/>
                <a:ea typeface="Calibri"/>
                <a:cs typeface="Calibri"/>
              </a:defRPr>
            </a:lvl7pPr>
            <a:lvl8pPr>
              <a:defRPr sz="2250" b="1">
                <a:solidFill>
                  <a:srgbClr val="000000"/>
                </a:solidFill>
                <a:latin typeface="Calibri"/>
                <a:ea typeface="Calibri"/>
                <a:cs typeface="Calibri"/>
              </a:defRPr>
            </a:lvl8pPr>
            <a:lvl9pPr>
              <a:defRPr sz="2250" b="1">
                <a:solidFill>
                  <a:srgbClr val="000000"/>
                </a:solidFill>
                <a:latin typeface="Calibri"/>
                <a:ea typeface="Calibri"/>
                <a:cs typeface="Calibri"/>
              </a:defRPr>
            </a:lvl9pPr>
          </a:lstStyle>
          <a:p>
            <a:pPr>
              <a:defRPr sz="2250" b="1">
                <a:solidFill>
                  <a:srgbClr val="000000"/>
                </a:solidFill>
                <a:latin typeface="Calibri"/>
                <a:ea typeface="Calibri"/>
                <a:cs typeface="Calibri"/>
              </a:defRPr>
            </a:pPr>
            <a:r>
              <a:rPr sz="2250" b="1" dirty="0">
                <a:solidFill>
                  <a:srgbClr val="000000"/>
                </a:solidFill>
                <a:latin typeface="Calibri" panose="020F0502020204030204" pitchFamily="34" charset="0"/>
                <a:ea typeface="Calibri"/>
                <a:cs typeface="Calibri"/>
              </a:rPr>
              <a:t>12 m/s</a:t>
            </a:r>
          </a:p>
        </p:txBody>
      </p:sp>
      <p:sp>
        <p:nvSpPr>
          <p:cNvPr id="13" name="Rectangle 12">
            <a:extLst>
              <a:ext uri="{FF2B5EF4-FFF2-40B4-BE49-F238E27FC236}">
                <a16:creationId xmlns:a16="http://schemas.microsoft.com/office/drawing/2014/main" id="{735E36D1-F499-D56A-7097-EF0FA6D24600}"/>
              </a:ext>
            </a:extLst>
          </p:cNvPr>
          <p:cNvSpPr>
            <a:spLocks noGrp="1"/>
          </p:cNvSpPr>
          <p:nvPr/>
        </p:nvSpPr>
        <p:spPr>
          <a:xfrm>
            <a:off x="9658350" y="999011"/>
            <a:ext cx="2143125" cy="285750"/>
          </a:xfrm>
          <a:prstGeom prst="rect">
            <a:avLst/>
          </a:prstGeom>
          <a:noFill/>
          <a:ln w="0">
            <a:noFill/>
            <a:prstDash val="solid"/>
          </a:ln>
        </p:spPr>
        <p:txBody>
          <a:bodyPr lIns="0" tIns="0" rIns="0" bIns="0"/>
          <a:lstStyle>
            <a:defPPr>
              <a:defRPr sz="1350" b="0">
                <a:solidFill>
                  <a:srgbClr val="444444"/>
                </a:solidFill>
                <a:latin typeface="Calibri"/>
                <a:ea typeface="Calibri"/>
                <a:cs typeface="Calibri"/>
              </a:defRPr>
            </a:defPPr>
            <a:lvl1pPr>
              <a:defRPr sz="1350" b="0">
                <a:solidFill>
                  <a:srgbClr val="444444"/>
                </a:solidFill>
                <a:latin typeface="Calibri"/>
                <a:ea typeface="Calibri"/>
                <a:cs typeface="Calibri"/>
              </a:defRPr>
            </a:lvl1pPr>
            <a:lvl2pPr>
              <a:defRPr sz="1350" b="0">
                <a:solidFill>
                  <a:srgbClr val="444444"/>
                </a:solidFill>
                <a:latin typeface="Calibri"/>
                <a:ea typeface="Calibri"/>
                <a:cs typeface="Calibri"/>
              </a:defRPr>
            </a:lvl2pPr>
            <a:lvl3pPr>
              <a:defRPr sz="1350" b="0">
                <a:solidFill>
                  <a:srgbClr val="444444"/>
                </a:solidFill>
                <a:latin typeface="Calibri"/>
                <a:ea typeface="Calibri"/>
                <a:cs typeface="Calibri"/>
              </a:defRPr>
            </a:lvl3pPr>
            <a:lvl4pPr>
              <a:defRPr sz="1350" b="0">
                <a:solidFill>
                  <a:srgbClr val="444444"/>
                </a:solidFill>
                <a:latin typeface="Calibri"/>
                <a:ea typeface="Calibri"/>
                <a:cs typeface="Calibri"/>
              </a:defRPr>
            </a:lvl4pPr>
            <a:lvl5pPr>
              <a:defRPr sz="1350" b="0">
                <a:solidFill>
                  <a:srgbClr val="444444"/>
                </a:solidFill>
                <a:latin typeface="Calibri"/>
                <a:ea typeface="Calibri"/>
                <a:cs typeface="Calibri"/>
              </a:defRPr>
            </a:lvl5pPr>
            <a:lvl6pPr>
              <a:defRPr sz="1350" b="0">
                <a:solidFill>
                  <a:srgbClr val="444444"/>
                </a:solidFill>
                <a:latin typeface="Calibri"/>
                <a:ea typeface="Calibri"/>
                <a:cs typeface="Calibri"/>
              </a:defRPr>
            </a:lvl6pPr>
            <a:lvl7pPr>
              <a:defRPr sz="1350" b="0">
                <a:solidFill>
                  <a:srgbClr val="444444"/>
                </a:solidFill>
                <a:latin typeface="Calibri"/>
                <a:ea typeface="Calibri"/>
                <a:cs typeface="Calibri"/>
              </a:defRPr>
            </a:lvl7pPr>
            <a:lvl8pPr>
              <a:defRPr sz="1350" b="0">
                <a:solidFill>
                  <a:srgbClr val="444444"/>
                </a:solidFill>
                <a:latin typeface="Calibri"/>
                <a:ea typeface="Calibri"/>
                <a:cs typeface="Calibri"/>
              </a:defRPr>
            </a:lvl8pPr>
            <a:lvl9pPr>
              <a:defRPr sz="1350" b="0">
                <a:solidFill>
                  <a:srgbClr val="444444"/>
                </a:solidFill>
                <a:latin typeface="Calibri"/>
                <a:ea typeface="Calibri"/>
                <a:cs typeface="Calibri"/>
              </a:defRPr>
            </a:lvl9pPr>
          </a:lstStyle>
          <a:p>
            <a:pPr>
              <a:defRPr sz="1350" b="0">
                <a:solidFill>
                  <a:srgbClr val="444444"/>
                </a:solidFill>
                <a:latin typeface="Calibri"/>
                <a:ea typeface="Calibri"/>
                <a:cs typeface="Calibri"/>
              </a:defRPr>
            </a:pPr>
            <a:r>
              <a:rPr sz="1350" b="0">
                <a:solidFill>
                  <a:srgbClr val="444444"/>
                </a:solidFill>
                <a:latin typeface="Calibri" panose="020F0502020204030204" pitchFamily="34" charset="0"/>
                <a:ea typeface="Calibri"/>
                <a:cs typeface="Calibri"/>
              </a:rPr>
              <a:t>VTOL wind</a:t>
            </a:r>
          </a:p>
        </p:txBody>
      </p:sp>
      <p:sp>
        <p:nvSpPr>
          <p:cNvPr id="14" name="Rectangle 13">
            <a:extLst>
              <a:ext uri="{FF2B5EF4-FFF2-40B4-BE49-F238E27FC236}">
                <a16:creationId xmlns:a16="http://schemas.microsoft.com/office/drawing/2014/main" id="{1AB3EDBF-8535-8E1E-DE24-26DC50067291}"/>
              </a:ext>
            </a:extLst>
          </p:cNvPr>
          <p:cNvSpPr>
            <a:spLocks noGrp="1"/>
          </p:cNvSpPr>
          <p:nvPr/>
        </p:nvSpPr>
        <p:spPr>
          <a:xfrm>
            <a:off x="476250" y="2152650"/>
            <a:ext cx="952500" cy="285750"/>
          </a:xfrm>
          <a:prstGeom prst="rect">
            <a:avLst/>
          </a:prstGeom>
          <a:noFill/>
          <a:ln w="0">
            <a:noFill/>
            <a:prstDash val="solid"/>
          </a:ln>
        </p:spPr>
        <p:txBody>
          <a:bodyPr lIns="0" tIns="0" rIns="0" bIns="0"/>
          <a:lstStyle>
            <a:defPPr>
              <a:defRPr sz="1350" b="0">
                <a:solidFill>
                  <a:srgbClr val="444444"/>
                </a:solidFill>
                <a:latin typeface="Calibri"/>
                <a:ea typeface="Calibri"/>
                <a:cs typeface="Calibri"/>
              </a:defRPr>
            </a:defPPr>
            <a:lvl1pPr>
              <a:defRPr sz="1350" b="0">
                <a:solidFill>
                  <a:srgbClr val="444444"/>
                </a:solidFill>
                <a:latin typeface="Calibri"/>
                <a:ea typeface="Calibri"/>
                <a:cs typeface="Calibri"/>
              </a:defRPr>
            </a:lvl1pPr>
            <a:lvl2pPr>
              <a:defRPr sz="1350" b="0">
                <a:solidFill>
                  <a:srgbClr val="444444"/>
                </a:solidFill>
                <a:latin typeface="Calibri"/>
                <a:ea typeface="Calibri"/>
                <a:cs typeface="Calibri"/>
              </a:defRPr>
            </a:lvl2pPr>
            <a:lvl3pPr>
              <a:defRPr sz="1350" b="0">
                <a:solidFill>
                  <a:srgbClr val="444444"/>
                </a:solidFill>
                <a:latin typeface="Calibri"/>
                <a:ea typeface="Calibri"/>
                <a:cs typeface="Calibri"/>
              </a:defRPr>
            </a:lvl3pPr>
            <a:lvl4pPr>
              <a:defRPr sz="1350" b="0">
                <a:solidFill>
                  <a:srgbClr val="444444"/>
                </a:solidFill>
                <a:latin typeface="Calibri"/>
                <a:ea typeface="Calibri"/>
                <a:cs typeface="Calibri"/>
              </a:defRPr>
            </a:lvl4pPr>
            <a:lvl5pPr>
              <a:defRPr sz="1350" b="0">
                <a:solidFill>
                  <a:srgbClr val="444444"/>
                </a:solidFill>
                <a:latin typeface="Calibri"/>
                <a:ea typeface="Calibri"/>
                <a:cs typeface="Calibri"/>
              </a:defRPr>
            </a:lvl5pPr>
            <a:lvl6pPr>
              <a:defRPr sz="1350" b="0">
                <a:solidFill>
                  <a:srgbClr val="444444"/>
                </a:solidFill>
                <a:latin typeface="Calibri"/>
                <a:ea typeface="Calibri"/>
                <a:cs typeface="Calibri"/>
              </a:defRPr>
            </a:lvl6pPr>
            <a:lvl7pPr>
              <a:defRPr sz="1350" b="0">
                <a:solidFill>
                  <a:srgbClr val="444444"/>
                </a:solidFill>
                <a:latin typeface="Calibri"/>
                <a:ea typeface="Calibri"/>
                <a:cs typeface="Calibri"/>
              </a:defRPr>
            </a:lvl7pPr>
            <a:lvl8pPr>
              <a:defRPr sz="1350" b="0">
                <a:solidFill>
                  <a:srgbClr val="444444"/>
                </a:solidFill>
                <a:latin typeface="Calibri"/>
                <a:ea typeface="Calibri"/>
                <a:cs typeface="Calibri"/>
              </a:defRPr>
            </a:lvl8pPr>
            <a:lvl9pPr>
              <a:defRPr sz="1350" b="0">
                <a:solidFill>
                  <a:srgbClr val="444444"/>
                </a:solidFill>
                <a:latin typeface="Calibri"/>
                <a:ea typeface="Calibri"/>
                <a:cs typeface="Calibri"/>
              </a:defRPr>
            </a:lvl9pPr>
          </a:lstStyle>
          <a:p>
            <a:pPr>
              <a:defRPr sz="1350" b="0">
                <a:solidFill>
                  <a:srgbClr val="444444"/>
                </a:solidFill>
                <a:latin typeface="Calibri"/>
                <a:ea typeface="Calibri"/>
                <a:cs typeface="Calibri"/>
              </a:defRPr>
            </a:pPr>
            <a:r>
              <a:rPr sz="1350" b="0">
                <a:solidFill>
                  <a:srgbClr val="444444"/>
                </a:solidFill>
                <a:latin typeface="Calibri" panose="020F0502020204030204" pitchFamily="34" charset="0"/>
                <a:ea typeface="Calibri"/>
                <a:cs typeface="Calibri"/>
              </a:rPr>
              <a:t>Altitude</a:t>
            </a:r>
          </a:p>
        </p:txBody>
      </p:sp>
      <p:sp>
        <p:nvSpPr>
          <p:cNvPr id="15" name="Freeform: Shape 14">
            <a:extLst>
              <a:ext uri="{FF2B5EF4-FFF2-40B4-BE49-F238E27FC236}">
                <a16:creationId xmlns:a16="http://schemas.microsoft.com/office/drawing/2014/main" id="{BC033672-4A04-93B4-4240-B1084BFF0138}"/>
              </a:ext>
            </a:extLst>
          </p:cNvPr>
          <p:cNvSpPr>
            <a:spLocks noGrp="1"/>
          </p:cNvSpPr>
          <p:nvPr/>
        </p:nvSpPr>
        <p:spPr>
          <a:xfrm>
            <a:off x="1190625" y="2381250"/>
            <a:ext cx="9525" cy="2238375"/>
          </a:xfrm>
          <a:custGeom>
            <a:avLst/>
            <a:gdLst/>
            <a:ahLst/>
            <a:cxnLst/>
            <a:rect l="0" t="0" r="0" b="0"/>
            <a:pathLst>
              <a:path w="9525" h="2238375">
                <a:moveTo>
                  <a:pt x="0" y="2238375"/>
                </a:moveTo>
                <a:lnTo>
                  <a:pt x="0" y="0"/>
                </a:lnTo>
              </a:path>
            </a:pathLst>
          </a:custGeom>
          <a:noFill/>
          <a:ln w="19050">
            <a:solidFill>
              <a:srgbClr val="444444"/>
            </a:solidFill>
            <a:prstDash val="solid"/>
          </a:ln>
        </p:spPr>
        <p:txBody>
          <a:bodyPr/>
          <a:lstStyle/>
          <a:p>
            <a:endParaRPr lang="en-US">
              <a:latin typeface="Calibri" panose="020F0502020204030204" pitchFamily="34" charset="0"/>
            </a:endParaRPr>
          </a:p>
        </p:txBody>
      </p:sp>
      <p:sp>
        <p:nvSpPr>
          <p:cNvPr id="16" name="Rectangle 15">
            <a:extLst>
              <a:ext uri="{FF2B5EF4-FFF2-40B4-BE49-F238E27FC236}">
                <a16:creationId xmlns:a16="http://schemas.microsoft.com/office/drawing/2014/main" id="{B15219AA-A828-F64C-3454-226D4E179333}"/>
              </a:ext>
            </a:extLst>
          </p:cNvPr>
          <p:cNvSpPr>
            <a:spLocks noGrp="1"/>
          </p:cNvSpPr>
          <p:nvPr/>
        </p:nvSpPr>
        <p:spPr>
          <a:xfrm>
            <a:off x="552450" y="2695575"/>
            <a:ext cx="590550" cy="285750"/>
          </a:xfrm>
          <a:prstGeom prst="rect">
            <a:avLst/>
          </a:prstGeom>
          <a:noFill/>
          <a:ln w="0">
            <a:noFill/>
            <a:prstDash val="solid"/>
          </a:ln>
        </p:spPr>
        <p:txBody>
          <a:bodyPr lIns="0" tIns="0" rIns="0" bIns="0"/>
          <a:lstStyle>
            <a:defPPr>
              <a:defRPr sz="1500" b="0">
                <a:solidFill>
                  <a:srgbClr val="000000"/>
                </a:solidFill>
                <a:latin typeface="Calibri"/>
                <a:ea typeface="Calibri"/>
                <a:cs typeface="Calibri"/>
              </a:defRPr>
            </a:defPPr>
            <a:lvl1pPr>
              <a:defRPr sz="1500" b="0">
                <a:solidFill>
                  <a:srgbClr val="000000"/>
                </a:solidFill>
                <a:latin typeface="Calibri"/>
                <a:ea typeface="Calibri"/>
                <a:cs typeface="Calibri"/>
              </a:defRPr>
            </a:lvl1pPr>
            <a:lvl2pPr>
              <a:defRPr sz="1500" b="0">
                <a:solidFill>
                  <a:srgbClr val="000000"/>
                </a:solidFill>
                <a:latin typeface="Calibri"/>
                <a:ea typeface="Calibri"/>
                <a:cs typeface="Calibri"/>
              </a:defRPr>
            </a:lvl2pPr>
            <a:lvl3pPr>
              <a:defRPr sz="1500" b="0">
                <a:solidFill>
                  <a:srgbClr val="000000"/>
                </a:solidFill>
                <a:latin typeface="Calibri"/>
                <a:ea typeface="Calibri"/>
                <a:cs typeface="Calibri"/>
              </a:defRPr>
            </a:lvl3pPr>
            <a:lvl4pPr>
              <a:defRPr sz="1500" b="0">
                <a:solidFill>
                  <a:srgbClr val="000000"/>
                </a:solidFill>
                <a:latin typeface="Calibri"/>
                <a:ea typeface="Calibri"/>
                <a:cs typeface="Calibri"/>
              </a:defRPr>
            </a:lvl4pPr>
            <a:lvl5pPr>
              <a:defRPr sz="1500" b="0">
                <a:solidFill>
                  <a:srgbClr val="000000"/>
                </a:solidFill>
                <a:latin typeface="Calibri"/>
                <a:ea typeface="Calibri"/>
                <a:cs typeface="Calibri"/>
              </a:defRPr>
            </a:lvl5pPr>
            <a:lvl6pPr>
              <a:defRPr sz="1500" b="0">
                <a:solidFill>
                  <a:srgbClr val="000000"/>
                </a:solidFill>
                <a:latin typeface="Calibri"/>
                <a:ea typeface="Calibri"/>
                <a:cs typeface="Calibri"/>
              </a:defRPr>
            </a:lvl6pPr>
            <a:lvl7pPr>
              <a:defRPr sz="1500" b="0">
                <a:solidFill>
                  <a:srgbClr val="000000"/>
                </a:solidFill>
                <a:latin typeface="Calibri"/>
                <a:ea typeface="Calibri"/>
                <a:cs typeface="Calibri"/>
              </a:defRPr>
            </a:lvl7pPr>
            <a:lvl8pPr>
              <a:defRPr sz="1500" b="0">
                <a:solidFill>
                  <a:srgbClr val="000000"/>
                </a:solidFill>
                <a:latin typeface="Calibri"/>
                <a:ea typeface="Calibri"/>
                <a:cs typeface="Calibri"/>
              </a:defRPr>
            </a:lvl8pPr>
            <a:lvl9pPr>
              <a:defRPr sz="1500" b="0">
                <a:solidFill>
                  <a:srgbClr val="000000"/>
                </a:solidFill>
                <a:latin typeface="Calibri"/>
                <a:ea typeface="Calibri"/>
                <a:cs typeface="Calibri"/>
              </a:defRPr>
            </a:lvl9pPr>
          </a:lstStyle>
          <a:p>
            <a:pPr>
              <a:defRPr sz="1500" b="0">
                <a:solidFill>
                  <a:srgbClr val="000000"/>
                </a:solidFill>
                <a:latin typeface="Calibri"/>
                <a:ea typeface="Calibri"/>
                <a:cs typeface="Calibri"/>
              </a:defRPr>
            </a:pPr>
            <a:r>
              <a:rPr sz="1500" b="0">
                <a:solidFill>
                  <a:srgbClr val="000000"/>
                </a:solidFill>
                <a:latin typeface="Calibri" panose="020F0502020204030204" pitchFamily="34" charset="0"/>
                <a:ea typeface="Calibri"/>
                <a:cs typeface="Calibri"/>
              </a:rPr>
              <a:t>3 km</a:t>
            </a:r>
          </a:p>
        </p:txBody>
      </p:sp>
      <p:sp>
        <p:nvSpPr>
          <p:cNvPr id="17" name="Rectangle 16">
            <a:extLst>
              <a:ext uri="{FF2B5EF4-FFF2-40B4-BE49-F238E27FC236}">
                <a16:creationId xmlns:a16="http://schemas.microsoft.com/office/drawing/2014/main" id="{1A43DD61-F692-F89B-F65E-0538501DCD86}"/>
              </a:ext>
            </a:extLst>
          </p:cNvPr>
          <p:cNvSpPr>
            <a:spLocks noGrp="1"/>
          </p:cNvSpPr>
          <p:nvPr/>
        </p:nvSpPr>
        <p:spPr>
          <a:xfrm>
            <a:off x="552450" y="4429125"/>
            <a:ext cx="590550" cy="285750"/>
          </a:xfrm>
          <a:prstGeom prst="rect">
            <a:avLst/>
          </a:prstGeom>
          <a:noFill/>
          <a:ln w="0">
            <a:noFill/>
            <a:prstDash val="solid"/>
          </a:ln>
        </p:spPr>
        <p:txBody>
          <a:bodyPr lIns="0" tIns="0" rIns="0" bIns="0"/>
          <a:lstStyle>
            <a:defPPr>
              <a:defRPr sz="1500" b="0">
                <a:solidFill>
                  <a:srgbClr val="000000"/>
                </a:solidFill>
                <a:latin typeface="Calibri"/>
                <a:ea typeface="Calibri"/>
                <a:cs typeface="Calibri"/>
              </a:defRPr>
            </a:defPPr>
            <a:lvl1pPr>
              <a:defRPr sz="1500" b="0">
                <a:solidFill>
                  <a:srgbClr val="000000"/>
                </a:solidFill>
                <a:latin typeface="Calibri"/>
                <a:ea typeface="Calibri"/>
                <a:cs typeface="Calibri"/>
              </a:defRPr>
            </a:lvl1pPr>
            <a:lvl2pPr>
              <a:defRPr sz="1500" b="0">
                <a:solidFill>
                  <a:srgbClr val="000000"/>
                </a:solidFill>
                <a:latin typeface="Calibri"/>
                <a:ea typeface="Calibri"/>
                <a:cs typeface="Calibri"/>
              </a:defRPr>
            </a:lvl2pPr>
            <a:lvl3pPr>
              <a:defRPr sz="1500" b="0">
                <a:solidFill>
                  <a:srgbClr val="000000"/>
                </a:solidFill>
                <a:latin typeface="Calibri"/>
                <a:ea typeface="Calibri"/>
                <a:cs typeface="Calibri"/>
              </a:defRPr>
            </a:lvl3pPr>
            <a:lvl4pPr>
              <a:defRPr sz="1500" b="0">
                <a:solidFill>
                  <a:srgbClr val="000000"/>
                </a:solidFill>
                <a:latin typeface="Calibri"/>
                <a:ea typeface="Calibri"/>
                <a:cs typeface="Calibri"/>
              </a:defRPr>
            </a:lvl4pPr>
            <a:lvl5pPr>
              <a:defRPr sz="1500" b="0">
                <a:solidFill>
                  <a:srgbClr val="000000"/>
                </a:solidFill>
                <a:latin typeface="Calibri"/>
                <a:ea typeface="Calibri"/>
                <a:cs typeface="Calibri"/>
              </a:defRPr>
            </a:lvl5pPr>
            <a:lvl6pPr>
              <a:defRPr sz="1500" b="0">
                <a:solidFill>
                  <a:srgbClr val="000000"/>
                </a:solidFill>
                <a:latin typeface="Calibri"/>
                <a:ea typeface="Calibri"/>
                <a:cs typeface="Calibri"/>
              </a:defRPr>
            </a:lvl6pPr>
            <a:lvl7pPr>
              <a:defRPr sz="1500" b="0">
                <a:solidFill>
                  <a:srgbClr val="000000"/>
                </a:solidFill>
                <a:latin typeface="Calibri"/>
                <a:ea typeface="Calibri"/>
                <a:cs typeface="Calibri"/>
              </a:defRPr>
            </a:lvl7pPr>
            <a:lvl8pPr>
              <a:defRPr sz="1500" b="0">
                <a:solidFill>
                  <a:srgbClr val="000000"/>
                </a:solidFill>
                <a:latin typeface="Calibri"/>
                <a:ea typeface="Calibri"/>
                <a:cs typeface="Calibri"/>
              </a:defRPr>
            </a:lvl8pPr>
            <a:lvl9pPr>
              <a:defRPr sz="1500" b="0">
                <a:solidFill>
                  <a:srgbClr val="000000"/>
                </a:solidFill>
                <a:latin typeface="Calibri"/>
                <a:ea typeface="Calibri"/>
                <a:cs typeface="Calibri"/>
              </a:defRPr>
            </a:lvl9pPr>
          </a:lstStyle>
          <a:p>
            <a:pPr>
              <a:defRPr sz="1500" b="0">
                <a:solidFill>
                  <a:srgbClr val="000000"/>
                </a:solidFill>
                <a:latin typeface="Calibri"/>
                <a:ea typeface="Calibri"/>
                <a:cs typeface="Calibri"/>
              </a:defRPr>
            </a:pPr>
            <a:r>
              <a:rPr sz="1500" b="0">
                <a:solidFill>
                  <a:srgbClr val="000000"/>
                </a:solidFill>
                <a:latin typeface="Calibri" panose="020F0502020204030204" pitchFamily="34" charset="0"/>
                <a:ea typeface="Calibri"/>
                <a:cs typeface="Calibri"/>
              </a:rPr>
              <a:t>0 km</a:t>
            </a:r>
          </a:p>
        </p:txBody>
      </p:sp>
      <p:sp>
        <p:nvSpPr>
          <p:cNvPr id="18" name="Freeform: Shape 17">
            <a:extLst>
              <a:ext uri="{FF2B5EF4-FFF2-40B4-BE49-F238E27FC236}">
                <a16:creationId xmlns:a16="http://schemas.microsoft.com/office/drawing/2014/main" id="{AAB2D924-C80E-A1BA-8CA2-63DE9FEB300C}"/>
              </a:ext>
            </a:extLst>
          </p:cNvPr>
          <p:cNvSpPr>
            <a:spLocks noGrp="1"/>
          </p:cNvSpPr>
          <p:nvPr/>
        </p:nvSpPr>
        <p:spPr>
          <a:xfrm>
            <a:off x="1190625" y="4619625"/>
            <a:ext cx="10429875" cy="9525"/>
          </a:xfrm>
          <a:custGeom>
            <a:avLst/>
            <a:gdLst/>
            <a:ahLst/>
            <a:cxnLst/>
            <a:rect l="0" t="0" r="0" b="0"/>
            <a:pathLst>
              <a:path w="10429875" h="9525">
                <a:moveTo>
                  <a:pt x="0" y="0"/>
                </a:moveTo>
                <a:lnTo>
                  <a:pt x="10429875" y="0"/>
                </a:lnTo>
              </a:path>
            </a:pathLst>
          </a:custGeom>
          <a:ln/>
        </p:spPr>
        <p:style>
          <a:lnRef idx="1">
            <a:schemeClr val="dk1"/>
          </a:lnRef>
          <a:fillRef idx="0">
            <a:schemeClr val="dk1"/>
          </a:fillRef>
          <a:effectRef idx="0">
            <a:schemeClr val="dk1"/>
          </a:effectRef>
          <a:fontRef idx="minor">
            <a:schemeClr val="tx1"/>
          </a:fontRef>
        </p:style>
        <p:txBody>
          <a:bodyPr/>
          <a:lstStyle/>
          <a:p>
            <a:endParaRPr lang="en-US" b="1">
              <a:latin typeface="Calibri" panose="020F0502020204030204" pitchFamily="34" charset="0"/>
            </a:endParaRPr>
          </a:p>
        </p:txBody>
      </p:sp>
      <p:sp>
        <p:nvSpPr>
          <p:cNvPr id="20" name="Freeform: Shape 19">
            <a:extLst>
              <a:ext uri="{FF2B5EF4-FFF2-40B4-BE49-F238E27FC236}">
                <a16:creationId xmlns:a16="http://schemas.microsoft.com/office/drawing/2014/main" id="{9CB48ACD-90F9-7DFE-1878-F42980B92BB5}"/>
              </a:ext>
            </a:extLst>
          </p:cNvPr>
          <p:cNvSpPr>
            <a:spLocks noGrp="1"/>
          </p:cNvSpPr>
          <p:nvPr/>
        </p:nvSpPr>
        <p:spPr>
          <a:xfrm>
            <a:off x="1333500" y="4305300"/>
            <a:ext cx="619125" cy="266700"/>
          </a:xfrm>
          <a:custGeom>
            <a:avLst/>
            <a:gdLst/>
            <a:ahLst/>
            <a:cxnLst/>
            <a:rect l="0" t="0" r="0" b="0"/>
            <a:pathLst>
              <a:path w="619125" h="266700">
                <a:moveTo>
                  <a:pt x="0" y="266700"/>
                </a:moveTo>
                <a:lnTo>
                  <a:pt x="619125" y="0"/>
                </a:lnTo>
              </a:path>
            </a:pathLst>
          </a:custGeom>
          <a:noFill/>
          <a:ln w="38100">
            <a:solidFill>
              <a:srgbClr val="000000"/>
            </a:solidFill>
            <a:prstDash val="solid"/>
          </a:ln>
        </p:spPr>
        <p:txBody>
          <a:bodyPr/>
          <a:lstStyle/>
          <a:p>
            <a:endParaRPr lang="en-US">
              <a:latin typeface="Calibri" panose="020F0502020204030204" pitchFamily="34" charset="0"/>
            </a:endParaRPr>
          </a:p>
        </p:txBody>
      </p:sp>
      <p:sp>
        <p:nvSpPr>
          <p:cNvPr id="21" name="Freeform: Shape 20">
            <a:extLst>
              <a:ext uri="{FF2B5EF4-FFF2-40B4-BE49-F238E27FC236}">
                <a16:creationId xmlns:a16="http://schemas.microsoft.com/office/drawing/2014/main" id="{B87F0C6F-FE1A-5E87-3E87-0265CDAE12AA}"/>
              </a:ext>
            </a:extLst>
          </p:cNvPr>
          <p:cNvSpPr>
            <a:spLocks noGrp="1"/>
          </p:cNvSpPr>
          <p:nvPr/>
        </p:nvSpPr>
        <p:spPr>
          <a:xfrm>
            <a:off x="1952625" y="4305300"/>
            <a:ext cx="904875" cy="9525"/>
          </a:xfrm>
          <a:custGeom>
            <a:avLst/>
            <a:gdLst/>
            <a:ahLst/>
            <a:cxnLst/>
            <a:rect l="0" t="0" r="0" b="0"/>
            <a:pathLst>
              <a:path w="904875" h="9525">
                <a:moveTo>
                  <a:pt x="0" y="0"/>
                </a:moveTo>
                <a:lnTo>
                  <a:pt x="904875" y="0"/>
                </a:lnTo>
              </a:path>
            </a:pathLst>
          </a:custGeom>
          <a:noFill/>
          <a:ln w="38100">
            <a:solidFill>
              <a:srgbClr val="000000"/>
            </a:solidFill>
            <a:prstDash val="solid"/>
          </a:ln>
        </p:spPr>
        <p:txBody>
          <a:bodyPr/>
          <a:lstStyle/>
          <a:p>
            <a:endParaRPr lang="en-US">
              <a:latin typeface="Calibri" panose="020F0502020204030204" pitchFamily="34" charset="0"/>
            </a:endParaRPr>
          </a:p>
        </p:txBody>
      </p:sp>
      <p:sp>
        <p:nvSpPr>
          <p:cNvPr id="23" name="Freeform: Shape 22">
            <a:extLst>
              <a:ext uri="{FF2B5EF4-FFF2-40B4-BE49-F238E27FC236}">
                <a16:creationId xmlns:a16="http://schemas.microsoft.com/office/drawing/2014/main" id="{3038DBAA-2EEC-690D-DD10-E2693C53BEDC}"/>
              </a:ext>
            </a:extLst>
          </p:cNvPr>
          <p:cNvSpPr>
            <a:spLocks noGrp="1"/>
          </p:cNvSpPr>
          <p:nvPr/>
        </p:nvSpPr>
        <p:spPr>
          <a:xfrm>
            <a:off x="2857500" y="2857500"/>
            <a:ext cx="952500" cy="1447800"/>
          </a:xfrm>
          <a:custGeom>
            <a:avLst/>
            <a:gdLst/>
            <a:ahLst/>
            <a:cxnLst/>
            <a:rect l="0" t="0" r="0" b="0"/>
            <a:pathLst>
              <a:path w="952500" h="1447800">
                <a:moveTo>
                  <a:pt x="0" y="1447800"/>
                </a:moveTo>
                <a:lnTo>
                  <a:pt x="952500" y="0"/>
                </a:lnTo>
              </a:path>
            </a:pathLst>
          </a:custGeom>
          <a:noFill/>
          <a:ln w="38100">
            <a:solidFill>
              <a:srgbClr val="000000"/>
            </a:solidFill>
            <a:prstDash val="solid"/>
          </a:ln>
        </p:spPr>
        <p:txBody>
          <a:bodyPr/>
          <a:lstStyle/>
          <a:p>
            <a:endParaRPr lang="en-US">
              <a:latin typeface="Calibri" panose="020F0502020204030204" pitchFamily="34" charset="0"/>
            </a:endParaRPr>
          </a:p>
        </p:txBody>
      </p:sp>
      <p:sp>
        <p:nvSpPr>
          <p:cNvPr id="189" name="Freeform: Shape 188">
            <a:extLst>
              <a:ext uri="{FF2B5EF4-FFF2-40B4-BE49-F238E27FC236}">
                <a16:creationId xmlns:a16="http://schemas.microsoft.com/office/drawing/2014/main" id="{77659C23-B847-B828-0F8B-8FB38A382DCD}"/>
              </a:ext>
            </a:extLst>
          </p:cNvPr>
          <p:cNvSpPr>
            <a:spLocks noGrp="1"/>
          </p:cNvSpPr>
          <p:nvPr/>
        </p:nvSpPr>
        <p:spPr>
          <a:xfrm>
            <a:off x="3810000" y="2857500"/>
            <a:ext cx="1238250" cy="0"/>
          </a:xfrm>
          <a:custGeom>
            <a:avLst/>
            <a:gdLst/>
            <a:ahLst/>
            <a:cxnLst/>
            <a:rect l="0" t="0" r="0" b="0"/>
            <a:pathLst>
              <a:path w="1238250" h="9525">
                <a:moveTo>
                  <a:pt x="0" y="0"/>
                </a:moveTo>
                <a:lnTo>
                  <a:pt x="1238250" y="0"/>
                </a:lnTo>
              </a:path>
            </a:pathLst>
          </a:custGeom>
          <a:noFill/>
          <a:ln w="38100">
            <a:solidFill>
              <a:srgbClr val="000000"/>
            </a:solidFill>
            <a:prstDash val="solid"/>
          </a:ln>
        </p:spPr>
        <p:txBody>
          <a:bodyPr/>
          <a:lstStyle/>
          <a:p>
            <a:endParaRPr lang="en-US">
              <a:latin typeface="Calibri" panose="020F0502020204030204" pitchFamily="34" charset="0"/>
            </a:endParaRPr>
          </a:p>
        </p:txBody>
      </p:sp>
      <p:sp>
        <p:nvSpPr>
          <p:cNvPr id="190" name="Freeform: Shape 189">
            <a:extLst>
              <a:ext uri="{FF2B5EF4-FFF2-40B4-BE49-F238E27FC236}">
                <a16:creationId xmlns:a16="http://schemas.microsoft.com/office/drawing/2014/main" id="{83CF4125-43C4-D9D2-BD31-497E054DFEA1}"/>
              </a:ext>
            </a:extLst>
          </p:cNvPr>
          <p:cNvSpPr>
            <a:spLocks noGrp="1"/>
          </p:cNvSpPr>
          <p:nvPr/>
        </p:nvSpPr>
        <p:spPr>
          <a:xfrm>
            <a:off x="5048250" y="2857500"/>
            <a:ext cx="285750" cy="0"/>
          </a:xfrm>
          <a:custGeom>
            <a:avLst/>
            <a:gdLst/>
            <a:ahLst/>
            <a:cxnLst/>
            <a:rect l="0" t="0" r="0" b="0"/>
            <a:pathLst>
              <a:path w="285750" h="9525">
                <a:moveTo>
                  <a:pt x="0" y="0"/>
                </a:moveTo>
                <a:lnTo>
                  <a:pt x="285750" y="0"/>
                </a:lnTo>
              </a:path>
            </a:pathLst>
          </a:custGeom>
          <a:noFill/>
          <a:ln w="38100">
            <a:solidFill>
              <a:srgbClr val="000000"/>
            </a:solidFill>
            <a:prstDash val="solid"/>
          </a:ln>
        </p:spPr>
        <p:txBody>
          <a:bodyPr/>
          <a:lstStyle/>
          <a:p>
            <a:endParaRPr lang="en-US">
              <a:latin typeface="Calibri" panose="020F0502020204030204" pitchFamily="34" charset="0"/>
            </a:endParaRPr>
          </a:p>
        </p:txBody>
      </p:sp>
      <p:sp>
        <p:nvSpPr>
          <p:cNvPr id="191" name="Oval 190">
            <a:extLst>
              <a:ext uri="{FF2B5EF4-FFF2-40B4-BE49-F238E27FC236}">
                <a16:creationId xmlns:a16="http://schemas.microsoft.com/office/drawing/2014/main" id="{1009ED39-A1A6-5865-0E38-F6CBED048B97}"/>
              </a:ext>
            </a:extLst>
          </p:cNvPr>
          <p:cNvSpPr>
            <a:spLocks noGrp="1"/>
          </p:cNvSpPr>
          <p:nvPr/>
        </p:nvSpPr>
        <p:spPr>
          <a:xfrm>
            <a:off x="5334000" y="2590800"/>
            <a:ext cx="1952625" cy="533400"/>
          </a:xfrm>
          <a:prstGeom prst="ellipse">
            <a:avLst/>
          </a:prstGeom>
          <a:noFill/>
          <a:ln w="38100">
            <a:solidFill>
              <a:srgbClr val="000000"/>
            </a:solidFill>
            <a:prstDash val="solid"/>
          </a:ln>
        </p:spPr>
        <p:txBody>
          <a:bodyPr/>
          <a:lstStyle/>
          <a:p>
            <a:endParaRPr lang="en-US">
              <a:latin typeface="Calibri" panose="020F0502020204030204" pitchFamily="34" charset="0"/>
            </a:endParaRPr>
          </a:p>
        </p:txBody>
      </p:sp>
      <p:sp>
        <p:nvSpPr>
          <p:cNvPr id="192" name="Freeform: Shape 191">
            <a:extLst>
              <a:ext uri="{FF2B5EF4-FFF2-40B4-BE49-F238E27FC236}">
                <a16:creationId xmlns:a16="http://schemas.microsoft.com/office/drawing/2014/main" id="{9FC01854-EFBD-C62B-9E8F-92BCE42ADF9D}"/>
              </a:ext>
            </a:extLst>
          </p:cNvPr>
          <p:cNvSpPr>
            <a:spLocks noGrp="1"/>
          </p:cNvSpPr>
          <p:nvPr/>
        </p:nvSpPr>
        <p:spPr>
          <a:xfrm>
            <a:off x="7286625" y="2857500"/>
            <a:ext cx="333375" cy="0"/>
          </a:xfrm>
          <a:custGeom>
            <a:avLst/>
            <a:gdLst/>
            <a:ahLst/>
            <a:cxnLst/>
            <a:rect l="0" t="0" r="0" b="0"/>
            <a:pathLst>
              <a:path w="333375" h="9525">
                <a:moveTo>
                  <a:pt x="0" y="0"/>
                </a:moveTo>
                <a:lnTo>
                  <a:pt x="333375" y="0"/>
                </a:lnTo>
              </a:path>
            </a:pathLst>
          </a:custGeom>
          <a:noFill/>
          <a:ln w="38100">
            <a:solidFill>
              <a:srgbClr val="000000"/>
            </a:solidFill>
            <a:prstDash val="solid"/>
          </a:ln>
        </p:spPr>
        <p:txBody>
          <a:bodyPr/>
          <a:lstStyle/>
          <a:p>
            <a:endParaRPr lang="en-US">
              <a:latin typeface="Calibri" panose="020F0502020204030204" pitchFamily="34" charset="0"/>
            </a:endParaRPr>
          </a:p>
        </p:txBody>
      </p:sp>
      <p:sp>
        <p:nvSpPr>
          <p:cNvPr id="195" name="Freeform: Shape 194">
            <a:extLst>
              <a:ext uri="{FF2B5EF4-FFF2-40B4-BE49-F238E27FC236}">
                <a16:creationId xmlns:a16="http://schemas.microsoft.com/office/drawing/2014/main" id="{A2EB16B7-6B3C-F67B-C512-EF3DCA8B190E}"/>
              </a:ext>
            </a:extLst>
          </p:cNvPr>
          <p:cNvSpPr>
            <a:spLocks noGrp="1"/>
          </p:cNvSpPr>
          <p:nvPr/>
        </p:nvSpPr>
        <p:spPr>
          <a:xfrm>
            <a:off x="7620000" y="2857500"/>
            <a:ext cx="1143000" cy="0"/>
          </a:xfrm>
          <a:custGeom>
            <a:avLst/>
            <a:gdLst/>
            <a:ahLst/>
            <a:cxnLst/>
            <a:rect l="0" t="0" r="0" b="0"/>
            <a:pathLst>
              <a:path w="1143000" h="9525">
                <a:moveTo>
                  <a:pt x="0" y="0"/>
                </a:moveTo>
                <a:lnTo>
                  <a:pt x="1143000" y="0"/>
                </a:lnTo>
              </a:path>
            </a:pathLst>
          </a:custGeom>
          <a:noFill/>
          <a:ln w="38100">
            <a:solidFill>
              <a:srgbClr val="000000"/>
            </a:solidFill>
            <a:prstDash val="solid"/>
          </a:ln>
        </p:spPr>
        <p:txBody>
          <a:bodyPr/>
          <a:lstStyle/>
          <a:p>
            <a:endParaRPr lang="en-US">
              <a:latin typeface="Calibri" panose="020F0502020204030204" pitchFamily="34" charset="0"/>
            </a:endParaRPr>
          </a:p>
        </p:txBody>
      </p:sp>
      <p:sp>
        <p:nvSpPr>
          <p:cNvPr id="196" name="Freeform: Shape 195">
            <a:extLst>
              <a:ext uri="{FF2B5EF4-FFF2-40B4-BE49-F238E27FC236}">
                <a16:creationId xmlns:a16="http://schemas.microsoft.com/office/drawing/2014/main" id="{FF48D723-36A8-C92B-AE35-DFD9268C3478}"/>
              </a:ext>
            </a:extLst>
          </p:cNvPr>
          <p:cNvSpPr>
            <a:spLocks noGrp="1"/>
          </p:cNvSpPr>
          <p:nvPr/>
        </p:nvSpPr>
        <p:spPr>
          <a:xfrm>
            <a:off x="8763000" y="2857500"/>
            <a:ext cx="1095375" cy="1447800"/>
          </a:xfrm>
          <a:custGeom>
            <a:avLst/>
            <a:gdLst/>
            <a:ahLst/>
            <a:cxnLst/>
            <a:rect l="0" t="0" r="0" b="0"/>
            <a:pathLst>
              <a:path w="1095375" h="1447800">
                <a:moveTo>
                  <a:pt x="0" y="0"/>
                </a:moveTo>
                <a:lnTo>
                  <a:pt x="1095375" y="1447800"/>
                </a:lnTo>
              </a:path>
            </a:pathLst>
          </a:custGeom>
          <a:noFill/>
          <a:ln w="38100">
            <a:solidFill>
              <a:srgbClr val="000000"/>
            </a:solidFill>
            <a:prstDash val="solid"/>
          </a:ln>
        </p:spPr>
        <p:txBody>
          <a:bodyPr/>
          <a:lstStyle/>
          <a:p>
            <a:endParaRPr lang="en-US">
              <a:latin typeface="Calibri" panose="020F0502020204030204" pitchFamily="34" charset="0"/>
            </a:endParaRPr>
          </a:p>
        </p:txBody>
      </p:sp>
      <p:sp>
        <p:nvSpPr>
          <p:cNvPr id="197" name="Freeform: Shape 196">
            <a:extLst>
              <a:ext uri="{FF2B5EF4-FFF2-40B4-BE49-F238E27FC236}">
                <a16:creationId xmlns:a16="http://schemas.microsoft.com/office/drawing/2014/main" id="{F836501D-396F-C75C-CC03-FDC0925B4D64}"/>
              </a:ext>
            </a:extLst>
          </p:cNvPr>
          <p:cNvSpPr>
            <a:spLocks noGrp="1"/>
          </p:cNvSpPr>
          <p:nvPr/>
        </p:nvSpPr>
        <p:spPr>
          <a:xfrm>
            <a:off x="9858375" y="4305300"/>
            <a:ext cx="1047750" cy="9525"/>
          </a:xfrm>
          <a:custGeom>
            <a:avLst/>
            <a:gdLst/>
            <a:ahLst/>
            <a:cxnLst/>
            <a:rect l="0" t="0" r="0" b="0"/>
            <a:pathLst>
              <a:path w="1047750" h="9525">
                <a:moveTo>
                  <a:pt x="0" y="0"/>
                </a:moveTo>
                <a:lnTo>
                  <a:pt x="1047750" y="0"/>
                </a:lnTo>
              </a:path>
            </a:pathLst>
          </a:custGeom>
          <a:noFill/>
          <a:ln w="38100">
            <a:solidFill>
              <a:srgbClr val="000000"/>
            </a:solidFill>
            <a:prstDash val="solid"/>
          </a:ln>
        </p:spPr>
        <p:txBody>
          <a:bodyPr/>
          <a:lstStyle/>
          <a:p>
            <a:endParaRPr lang="en-US">
              <a:latin typeface="Calibri" panose="020F0502020204030204" pitchFamily="34" charset="0"/>
            </a:endParaRPr>
          </a:p>
        </p:txBody>
      </p:sp>
      <p:sp>
        <p:nvSpPr>
          <p:cNvPr id="198" name="Freeform: Shape 197">
            <a:extLst>
              <a:ext uri="{FF2B5EF4-FFF2-40B4-BE49-F238E27FC236}">
                <a16:creationId xmlns:a16="http://schemas.microsoft.com/office/drawing/2014/main" id="{9C388E8A-D465-0CEB-4D03-9D39034BC7B5}"/>
              </a:ext>
            </a:extLst>
          </p:cNvPr>
          <p:cNvSpPr>
            <a:spLocks noGrp="1"/>
          </p:cNvSpPr>
          <p:nvPr/>
        </p:nvSpPr>
        <p:spPr>
          <a:xfrm>
            <a:off x="10906125" y="4305300"/>
            <a:ext cx="619125" cy="266700"/>
          </a:xfrm>
          <a:custGeom>
            <a:avLst/>
            <a:gdLst/>
            <a:ahLst/>
            <a:cxnLst/>
            <a:rect l="0" t="0" r="0" b="0"/>
            <a:pathLst>
              <a:path w="619125" h="266700">
                <a:moveTo>
                  <a:pt x="0" y="0"/>
                </a:moveTo>
                <a:lnTo>
                  <a:pt x="619125" y="266700"/>
                </a:lnTo>
              </a:path>
            </a:pathLst>
          </a:custGeom>
          <a:noFill/>
          <a:ln w="38100">
            <a:solidFill>
              <a:srgbClr val="000000"/>
            </a:solidFill>
            <a:prstDash val="solid"/>
          </a:ln>
        </p:spPr>
        <p:txBody>
          <a:bodyPr/>
          <a:lstStyle/>
          <a:p>
            <a:endParaRPr lang="en-US">
              <a:latin typeface="Calibri" panose="020F0502020204030204" pitchFamily="34" charset="0"/>
            </a:endParaRPr>
          </a:p>
        </p:txBody>
      </p:sp>
      <p:sp>
        <p:nvSpPr>
          <p:cNvPr id="199" name="Rectangle 198">
            <a:extLst>
              <a:ext uri="{FF2B5EF4-FFF2-40B4-BE49-F238E27FC236}">
                <a16:creationId xmlns:a16="http://schemas.microsoft.com/office/drawing/2014/main" id="{5A46BB9F-4FEC-D050-32B1-C7378ED5086A}"/>
              </a:ext>
            </a:extLst>
          </p:cNvPr>
          <p:cNvSpPr>
            <a:spLocks noGrp="1"/>
          </p:cNvSpPr>
          <p:nvPr/>
        </p:nvSpPr>
        <p:spPr>
          <a:xfrm>
            <a:off x="1285875" y="4762500"/>
            <a:ext cx="666750" cy="466725"/>
          </a:xfrm>
          <a:prstGeom prst="rect">
            <a:avLst/>
          </a:prstGeom>
          <a:noFill/>
          <a:ln w="0">
            <a:noFill/>
            <a:prstDash val="solid"/>
          </a:ln>
        </p:spPr>
        <p:txBody>
          <a:bodyPr lIns="0" tIns="0" rIns="0" bIns="0"/>
          <a:lstStyle>
            <a:defPPr>
              <a:defRPr sz="1275" b="0">
                <a:solidFill>
                  <a:srgbClr val="000000"/>
                </a:solidFill>
                <a:latin typeface="Calibri"/>
                <a:ea typeface="Calibri"/>
                <a:cs typeface="Calibri"/>
              </a:defRPr>
            </a:defPPr>
            <a:lvl1pPr>
              <a:defRPr sz="1275" b="0">
                <a:solidFill>
                  <a:srgbClr val="000000"/>
                </a:solidFill>
                <a:latin typeface="Calibri"/>
                <a:ea typeface="Calibri"/>
                <a:cs typeface="Calibri"/>
              </a:defRPr>
            </a:lvl1pPr>
            <a:lvl2pPr>
              <a:defRPr sz="1275" b="0">
                <a:solidFill>
                  <a:srgbClr val="000000"/>
                </a:solidFill>
                <a:latin typeface="Calibri"/>
                <a:ea typeface="Calibri"/>
                <a:cs typeface="Calibri"/>
              </a:defRPr>
            </a:lvl2pPr>
            <a:lvl3pPr>
              <a:defRPr sz="1275" b="0">
                <a:solidFill>
                  <a:srgbClr val="000000"/>
                </a:solidFill>
                <a:latin typeface="Calibri"/>
                <a:ea typeface="Calibri"/>
                <a:cs typeface="Calibri"/>
              </a:defRPr>
            </a:lvl3pPr>
            <a:lvl4pPr>
              <a:defRPr sz="1275" b="0">
                <a:solidFill>
                  <a:srgbClr val="000000"/>
                </a:solidFill>
                <a:latin typeface="Calibri"/>
                <a:ea typeface="Calibri"/>
                <a:cs typeface="Calibri"/>
              </a:defRPr>
            </a:lvl4pPr>
            <a:lvl5pPr>
              <a:defRPr sz="1275" b="0">
                <a:solidFill>
                  <a:srgbClr val="000000"/>
                </a:solidFill>
                <a:latin typeface="Calibri"/>
                <a:ea typeface="Calibri"/>
                <a:cs typeface="Calibri"/>
              </a:defRPr>
            </a:lvl5pPr>
            <a:lvl6pPr>
              <a:defRPr sz="1275" b="0">
                <a:solidFill>
                  <a:srgbClr val="000000"/>
                </a:solidFill>
                <a:latin typeface="Calibri"/>
                <a:ea typeface="Calibri"/>
                <a:cs typeface="Calibri"/>
              </a:defRPr>
            </a:lvl6pPr>
            <a:lvl7pPr>
              <a:defRPr sz="1275" b="0">
                <a:solidFill>
                  <a:srgbClr val="000000"/>
                </a:solidFill>
                <a:latin typeface="Calibri"/>
                <a:ea typeface="Calibri"/>
                <a:cs typeface="Calibri"/>
              </a:defRPr>
            </a:lvl7pPr>
            <a:lvl8pPr>
              <a:defRPr sz="1275" b="0">
                <a:solidFill>
                  <a:srgbClr val="000000"/>
                </a:solidFill>
                <a:latin typeface="Calibri"/>
                <a:ea typeface="Calibri"/>
                <a:cs typeface="Calibri"/>
              </a:defRPr>
            </a:lvl8pPr>
            <a:lvl9pPr>
              <a:defRPr sz="1275" b="0">
                <a:solidFill>
                  <a:srgbClr val="000000"/>
                </a:solidFill>
                <a:latin typeface="Calibri"/>
                <a:ea typeface="Calibri"/>
                <a:cs typeface="Calibri"/>
              </a:defRPr>
            </a:lvl9pPr>
          </a:lstStyle>
          <a:p>
            <a:pPr>
              <a:defRPr sz="1275" b="0">
                <a:solidFill>
                  <a:srgbClr val="000000"/>
                </a:solidFill>
                <a:latin typeface="Calibri"/>
                <a:ea typeface="Calibri"/>
                <a:cs typeface="Calibri"/>
              </a:defRPr>
            </a:pPr>
            <a:r>
              <a:rPr sz="1275" b="1">
                <a:solidFill>
                  <a:srgbClr val="000000"/>
                </a:solidFill>
                <a:latin typeface="Calibri" panose="020F0502020204030204" pitchFamily="34" charset="0"/>
                <a:ea typeface="Calibri"/>
                <a:cs typeface="Calibri"/>
              </a:rPr>
              <a:t>Vertical</a:t>
            </a:r>
          </a:p>
          <a:p>
            <a:pPr>
              <a:defRPr sz="1275" b="0">
                <a:solidFill>
                  <a:srgbClr val="000000"/>
                </a:solidFill>
                <a:latin typeface="Calibri"/>
                <a:ea typeface="Calibri"/>
                <a:cs typeface="Calibri"/>
              </a:defRPr>
            </a:pPr>
            <a:r>
              <a:rPr sz="1275" b="1">
                <a:solidFill>
                  <a:srgbClr val="000000"/>
                </a:solidFill>
                <a:latin typeface="Calibri" panose="020F0502020204030204" pitchFamily="34" charset="0"/>
                <a:ea typeface="Calibri"/>
                <a:cs typeface="Calibri"/>
              </a:rPr>
              <a:t>climb</a:t>
            </a:r>
          </a:p>
        </p:txBody>
      </p:sp>
      <p:sp>
        <p:nvSpPr>
          <p:cNvPr id="200" name="Rectangle 199">
            <a:extLst>
              <a:ext uri="{FF2B5EF4-FFF2-40B4-BE49-F238E27FC236}">
                <a16:creationId xmlns:a16="http://schemas.microsoft.com/office/drawing/2014/main" id="{916909A4-7EB2-A32C-A023-C1CA5B160FEB}"/>
              </a:ext>
            </a:extLst>
          </p:cNvPr>
          <p:cNvSpPr>
            <a:spLocks noGrp="1"/>
          </p:cNvSpPr>
          <p:nvPr/>
        </p:nvSpPr>
        <p:spPr>
          <a:xfrm>
            <a:off x="1285875" y="5267325"/>
            <a:ext cx="666750" cy="238125"/>
          </a:xfrm>
          <a:prstGeom prst="rect">
            <a:avLst/>
          </a:prstGeom>
          <a:noFill/>
          <a:ln w="0">
            <a:noFill/>
            <a:prstDash val="solid"/>
          </a:ln>
        </p:spPr>
        <p:txBody>
          <a:bodyPr lIns="0" tIns="0" rIns="0" bIns="0"/>
          <a:lstStyle>
            <a:defPPr>
              <a:defRPr sz="1275" b="1">
                <a:solidFill>
                  <a:srgbClr val="000000"/>
                </a:solidFill>
                <a:latin typeface="Calibri"/>
                <a:ea typeface="Calibri"/>
                <a:cs typeface="Calibri"/>
              </a:defRPr>
            </a:defPPr>
            <a:lvl1pPr>
              <a:defRPr sz="1275" b="1">
                <a:solidFill>
                  <a:srgbClr val="000000"/>
                </a:solidFill>
                <a:latin typeface="Calibri"/>
                <a:ea typeface="Calibri"/>
                <a:cs typeface="Calibri"/>
              </a:defRPr>
            </a:lvl1pPr>
            <a:lvl2pPr>
              <a:defRPr sz="1275" b="1">
                <a:solidFill>
                  <a:srgbClr val="000000"/>
                </a:solidFill>
                <a:latin typeface="Calibri"/>
                <a:ea typeface="Calibri"/>
                <a:cs typeface="Calibri"/>
              </a:defRPr>
            </a:lvl2pPr>
            <a:lvl3pPr>
              <a:defRPr sz="1275" b="1">
                <a:solidFill>
                  <a:srgbClr val="000000"/>
                </a:solidFill>
                <a:latin typeface="Calibri"/>
                <a:ea typeface="Calibri"/>
                <a:cs typeface="Calibri"/>
              </a:defRPr>
            </a:lvl3pPr>
            <a:lvl4pPr>
              <a:defRPr sz="1275" b="1">
                <a:solidFill>
                  <a:srgbClr val="000000"/>
                </a:solidFill>
                <a:latin typeface="Calibri"/>
                <a:ea typeface="Calibri"/>
                <a:cs typeface="Calibri"/>
              </a:defRPr>
            </a:lvl4pPr>
            <a:lvl5pPr>
              <a:defRPr sz="1275" b="1">
                <a:solidFill>
                  <a:srgbClr val="000000"/>
                </a:solidFill>
                <a:latin typeface="Calibri"/>
                <a:ea typeface="Calibri"/>
                <a:cs typeface="Calibri"/>
              </a:defRPr>
            </a:lvl5pPr>
            <a:lvl6pPr>
              <a:defRPr sz="1275" b="1">
                <a:solidFill>
                  <a:srgbClr val="000000"/>
                </a:solidFill>
                <a:latin typeface="Calibri"/>
                <a:ea typeface="Calibri"/>
                <a:cs typeface="Calibri"/>
              </a:defRPr>
            </a:lvl6pPr>
            <a:lvl7pPr>
              <a:defRPr sz="1275" b="1">
                <a:solidFill>
                  <a:srgbClr val="000000"/>
                </a:solidFill>
                <a:latin typeface="Calibri"/>
                <a:ea typeface="Calibri"/>
                <a:cs typeface="Calibri"/>
              </a:defRPr>
            </a:lvl7pPr>
            <a:lvl8pPr>
              <a:defRPr sz="1275" b="1">
                <a:solidFill>
                  <a:srgbClr val="000000"/>
                </a:solidFill>
                <a:latin typeface="Calibri"/>
                <a:ea typeface="Calibri"/>
                <a:cs typeface="Calibri"/>
              </a:defRPr>
            </a:lvl8pPr>
            <a:lvl9pPr>
              <a:defRPr sz="1275" b="1">
                <a:solidFill>
                  <a:srgbClr val="000000"/>
                </a:solidFill>
                <a:latin typeface="Calibri"/>
                <a:ea typeface="Calibri"/>
                <a:cs typeface="Calibri"/>
              </a:defRPr>
            </a:lvl9pPr>
          </a:lstStyle>
          <a:p>
            <a:pPr>
              <a:defRPr sz="1275" b="1">
                <a:solidFill>
                  <a:srgbClr val="000000"/>
                </a:solidFill>
                <a:latin typeface="Calibri"/>
                <a:ea typeface="Calibri"/>
                <a:cs typeface="Calibri"/>
              </a:defRPr>
            </a:pPr>
            <a:r>
              <a:rPr lang="en-US" sz="1275" b="0">
                <a:solidFill>
                  <a:srgbClr val="000000"/>
                </a:solidFill>
                <a:latin typeface="Calibri" panose="020F0502020204030204" pitchFamily="34" charset="0"/>
                <a:ea typeface="Calibri"/>
                <a:cs typeface="Calibri"/>
              </a:rPr>
              <a:t>30 sec</a:t>
            </a:r>
            <a:endParaRPr sz="1275" b="0" dirty="0">
              <a:solidFill>
                <a:srgbClr val="000000"/>
              </a:solidFill>
              <a:latin typeface="Calibri" panose="020F0502020204030204" pitchFamily="34" charset="0"/>
              <a:ea typeface="Calibri"/>
              <a:cs typeface="Calibri"/>
            </a:endParaRPr>
          </a:p>
        </p:txBody>
      </p:sp>
      <p:sp>
        <p:nvSpPr>
          <p:cNvPr id="201" name="Rectangle 200">
            <a:extLst>
              <a:ext uri="{FF2B5EF4-FFF2-40B4-BE49-F238E27FC236}">
                <a16:creationId xmlns:a16="http://schemas.microsoft.com/office/drawing/2014/main" id="{61333BF0-80B7-63FB-08A1-89C7CD2BE5C2}"/>
              </a:ext>
            </a:extLst>
          </p:cNvPr>
          <p:cNvSpPr>
            <a:spLocks noGrp="1"/>
          </p:cNvSpPr>
          <p:nvPr/>
        </p:nvSpPr>
        <p:spPr>
          <a:xfrm>
            <a:off x="1971675" y="4762500"/>
            <a:ext cx="904875" cy="466725"/>
          </a:xfrm>
          <a:prstGeom prst="rect">
            <a:avLst/>
          </a:prstGeom>
          <a:noFill/>
          <a:ln w="0">
            <a:noFill/>
            <a:prstDash val="solid"/>
          </a:ln>
        </p:spPr>
        <p:txBody>
          <a:bodyPr lIns="0" tIns="0" rIns="0" bIns="0"/>
          <a:lstStyle>
            <a:defPPr>
              <a:defRPr sz="1275" b="0">
                <a:solidFill>
                  <a:srgbClr val="000000"/>
                </a:solidFill>
                <a:latin typeface="Calibri"/>
                <a:ea typeface="Calibri"/>
                <a:cs typeface="Calibri"/>
              </a:defRPr>
            </a:defPPr>
            <a:lvl1pPr>
              <a:defRPr sz="1275" b="0">
                <a:solidFill>
                  <a:srgbClr val="000000"/>
                </a:solidFill>
                <a:latin typeface="Calibri"/>
                <a:ea typeface="Calibri"/>
                <a:cs typeface="Calibri"/>
              </a:defRPr>
            </a:lvl1pPr>
            <a:lvl2pPr>
              <a:defRPr sz="1275" b="0">
                <a:solidFill>
                  <a:srgbClr val="000000"/>
                </a:solidFill>
                <a:latin typeface="Calibri"/>
                <a:ea typeface="Calibri"/>
                <a:cs typeface="Calibri"/>
              </a:defRPr>
            </a:lvl2pPr>
            <a:lvl3pPr>
              <a:defRPr sz="1275" b="0">
                <a:solidFill>
                  <a:srgbClr val="000000"/>
                </a:solidFill>
                <a:latin typeface="Calibri"/>
                <a:ea typeface="Calibri"/>
                <a:cs typeface="Calibri"/>
              </a:defRPr>
            </a:lvl3pPr>
            <a:lvl4pPr>
              <a:defRPr sz="1275" b="0">
                <a:solidFill>
                  <a:srgbClr val="000000"/>
                </a:solidFill>
                <a:latin typeface="Calibri"/>
                <a:ea typeface="Calibri"/>
                <a:cs typeface="Calibri"/>
              </a:defRPr>
            </a:lvl4pPr>
            <a:lvl5pPr>
              <a:defRPr sz="1275" b="0">
                <a:solidFill>
                  <a:srgbClr val="000000"/>
                </a:solidFill>
                <a:latin typeface="Calibri"/>
                <a:ea typeface="Calibri"/>
                <a:cs typeface="Calibri"/>
              </a:defRPr>
            </a:lvl5pPr>
            <a:lvl6pPr>
              <a:defRPr sz="1275" b="0">
                <a:solidFill>
                  <a:srgbClr val="000000"/>
                </a:solidFill>
                <a:latin typeface="Calibri"/>
                <a:ea typeface="Calibri"/>
                <a:cs typeface="Calibri"/>
              </a:defRPr>
            </a:lvl6pPr>
            <a:lvl7pPr>
              <a:defRPr sz="1275" b="0">
                <a:solidFill>
                  <a:srgbClr val="000000"/>
                </a:solidFill>
                <a:latin typeface="Calibri"/>
                <a:ea typeface="Calibri"/>
                <a:cs typeface="Calibri"/>
              </a:defRPr>
            </a:lvl7pPr>
            <a:lvl8pPr>
              <a:defRPr sz="1275" b="0">
                <a:solidFill>
                  <a:srgbClr val="000000"/>
                </a:solidFill>
                <a:latin typeface="Calibri"/>
                <a:ea typeface="Calibri"/>
                <a:cs typeface="Calibri"/>
              </a:defRPr>
            </a:lvl8pPr>
            <a:lvl9pPr>
              <a:defRPr sz="1275" b="0">
                <a:solidFill>
                  <a:srgbClr val="000000"/>
                </a:solidFill>
                <a:latin typeface="Calibri"/>
                <a:ea typeface="Calibri"/>
                <a:cs typeface="Calibri"/>
              </a:defRPr>
            </a:lvl9pPr>
          </a:lstStyle>
          <a:p>
            <a:pPr>
              <a:defRPr sz="1275" b="0">
                <a:solidFill>
                  <a:srgbClr val="000000"/>
                </a:solidFill>
                <a:latin typeface="Calibri"/>
                <a:ea typeface="Calibri"/>
                <a:cs typeface="Calibri"/>
              </a:defRPr>
            </a:pPr>
            <a:r>
              <a:rPr sz="1275" b="1">
                <a:solidFill>
                  <a:srgbClr val="000000"/>
                </a:solidFill>
                <a:latin typeface="Calibri" panose="020F0502020204030204" pitchFamily="34" charset="0"/>
                <a:ea typeface="Calibri"/>
                <a:cs typeface="Calibri"/>
              </a:rPr>
              <a:t>Transition</a:t>
            </a:r>
          </a:p>
        </p:txBody>
      </p:sp>
      <p:sp>
        <p:nvSpPr>
          <p:cNvPr id="202" name="Rectangle 201">
            <a:extLst>
              <a:ext uri="{FF2B5EF4-FFF2-40B4-BE49-F238E27FC236}">
                <a16:creationId xmlns:a16="http://schemas.microsoft.com/office/drawing/2014/main" id="{8093F83B-5773-DCFD-08C1-7CC5FB72C416}"/>
              </a:ext>
            </a:extLst>
          </p:cNvPr>
          <p:cNvSpPr>
            <a:spLocks noGrp="1"/>
          </p:cNvSpPr>
          <p:nvPr/>
        </p:nvSpPr>
        <p:spPr>
          <a:xfrm>
            <a:off x="1971675" y="5267325"/>
            <a:ext cx="904875" cy="238125"/>
          </a:xfrm>
          <a:prstGeom prst="rect">
            <a:avLst/>
          </a:prstGeom>
          <a:noFill/>
          <a:ln w="0">
            <a:noFill/>
            <a:prstDash val="solid"/>
          </a:ln>
        </p:spPr>
        <p:txBody>
          <a:bodyPr lIns="0" tIns="0" rIns="0" bIns="0"/>
          <a:lstStyle>
            <a:defPPr>
              <a:defRPr sz="1275" b="1">
                <a:solidFill>
                  <a:srgbClr val="000000"/>
                </a:solidFill>
                <a:latin typeface="Calibri"/>
                <a:ea typeface="Calibri"/>
                <a:cs typeface="Calibri"/>
              </a:defRPr>
            </a:defPPr>
            <a:lvl1pPr>
              <a:defRPr sz="1275" b="1">
                <a:solidFill>
                  <a:srgbClr val="000000"/>
                </a:solidFill>
                <a:latin typeface="Calibri"/>
                <a:ea typeface="Calibri"/>
                <a:cs typeface="Calibri"/>
              </a:defRPr>
            </a:lvl1pPr>
            <a:lvl2pPr>
              <a:defRPr sz="1275" b="1">
                <a:solidFill>
                  <a:srgbClr val="000000"/>
                </a:solidFill>
                <a:latin typeface="Calibri"/>
                <a:ea typeface="Calibri"/>
                <a:cs typeface="Calibri"/>
              </a:defRPr>
            </a:lvl2pPr>
            <a:lvl3pPr>
              <a:defRPr sz="1275" b="1">
                <a:solidFill>
                  <a:srgbClr val="000000"/>
                </a:solidFill>
                <a:latin typeface="Calibri"/>
                <a:ea typeface="Calibri"/>
                <a:cs typeface="Calibri"/>
              </a:defRPr>
            </a:lvl3pPr>
            <a:lvl4pPr>
              <a:defRPr sz="1275" b="1">
                <a:solidFill>
                  <a:srgbClr val="000000"/>
                </a:solidFill>
                <a:latin typeface="Calibri"/>
                <a:ea typeface="Calibri"/>
                <a:cs typeface="Calibri"/>
              </a:defRPr>
            </a:lvl4pPr>
            <a:lvl5pPr>
              <a:defRPr sz="1275" b="1">
                <a:solidFill>
                  <a:srgbClr val="000000"/>
                </a:solidFill>
                <a:latin typeface="Calibri"/>
                <a:ea typeface="Calibri"/>
                <a:cs typeface="Calibri"/>
              </a:defRPr>
            </a:lvl5pPr>
            <a:lvl6pPr>
              <a:defRPr sz="1275" b="1">
                <a:solidFill>
                  <a:srgbClr val="000000"/>
                </a:solidFill>
                <a:latin typeface="Calibri"/>
                <a:ea typeface="Calibri"/>
                <a:cs typeface="Calibri"/>
              </a:defRPr>
            </a:lvl6pPr>
            <a:lvl7pPr>
              <a:defRPr sz="1275" b="1">
                <a:solidFill>
                  <a:srgbClr val="000000"/>
                </a:solidFill>
                <a:latin typeface="Calibri"/>
                <a:ea typeface="Calibri"/>
                <a:cs typeface="Calibri"/>
              </a:defRPr>
            </a:lvl7pPr>
            <a:lvl8pPr>
              <a:defRPr sz="1275" b="1">
                <a:solidFill>
                  <a:srgbClr val="000000"/>
                </a:solidFill>
                <a:latin typeface="Calibri"/>
                <a:ea typeface="Calibri"/>
                <a:cs typeface="Calibri"/>
              </a:defRPr>
            </a:lvl8pPr>
            <a:lvl9pPr>
              <a:defRPr sz="1275" b="1">
                <a:solidFill>
                  <a:srgbClr val="000000"/>
                </a:solidFill>
                <a:latin typeface="Calibri"/>
                <a:ea typeface="Calibri"/>
                <a:cs typeface="Calibri"/>
              </a:defRPr>
            </a:lvl9pPr>
          </a:lstStyle>
          <a:p>
            <a:pPr>
              <a:defRPr sz="1275" b="1">
                <a:solidFill>
                  <a:srgbClr val="000000"/>
                </a:solidFill>
                <a:latin typeface="Calibri"/>
                <a:ea typeface="Calibri"/>
                <a:cs typeface="Calibri"/>
              </a:defRPr>
            </a:pPr>
            <a:r>
              <a:rPr sz="1275" b="0" dirty="0">
                <a:solidFill>
                  <a:srgbClr val="000000"/>
                </a:solidFill>
                <a:latin typeface="Calibri" panose="020F0502020204030204" pitchFamily="34" charset="0"/>
                <a:ea typeface="Calibri"/>
                <a:cs typeface="Calibri"/>
              </a:rPr>
              <a:t>60 s</a:t>
            </a:r>
            <a:r>
              <a:rPr lang="en-US" sz="1275" b="0" dirty="0">
                <a:solidFill>
                  <a:srgbClr val="000000"/>
                </a:solidFill>
                <a:latin typeface="Calibri" panose="020F0502020204030204" pitchFamily="34" charset="0"/>
                <a:ea typeface="Calibri"/>
                <a:cs typeface="Calibri"/>
              </a:rPr>
              <a:t>ec</a:t>
            </a:r>
            <a:endParaRPr sz="1275" b="0" dirty="0">
              <a:solidFill>
                <a:srgbClr val="000000"/>
              </a:solidFill>
              <a:latin typeface="Calibri" panose="020F0502020204030204" pitchFamily="34" charset="0"/>
              <a:ea typeface="Calibri"/>
              <a:cs typeface="Calibri"/>
            </a:endParaRPr>
          </a:p>
        </p:txBody>
      </p:sp>
      <p:sp>
        <p:nvSpPr>
          <p:cNvPr id="203" name="Rectangle 202">
            <a:extLst>
              <a:ext uri="{FF2B5EF4-FFF2-40B4-BE49-F238E27FC236}">
                <a16:creationId xmlns:a16="http://schemas.microsoft.com/office/drawing/2014/main" id="{F8CE9BAB-C5F1-A36C-C464-581CCD20FC90}"/>
              </a:ext>
            </a:extLst>
          </p:cNvPr>
          <p:cNvSpPr>
            <a:spLocks noGrp="1"/>
          </p:cNvSpPr>
          <p:nvPr/>
        </p:nvSpPr>
        <p:spPr>
          <a:xfrm>
            <a:off x="2886075" y="4762500"/>
            <a:ext cx="952500" cy="466725"/>
          </a:xfrm>
          <a:prstGeom prst="rect">
            <a:avLst/>
          </a:prstGeom>
          <a:noFill/>
          <a:ln w="0">
            <a:noFill/>
            <a:prstDash val="solid"/>
          </a:ln>
        </p:spPr>
        <p:txBody>
          <a:bodyPr lIns="0" tIns="0" rIns="0" bIns="0"/>
          <a:lstStyle>
            <a:defPPr>
              <a:defRPr sz="1275" b="0">
                <a:solidFill>
                  <a:srgbClr val="000000"/>
                </a:solidFill>
                <a:latin typeface="Calibri"/>
                <a:ea typeface="Calibri"/>
                <a:cs typeface="Calibri"/>
              </a:defRPr>
            </a:defPPr>
            <a:lvl1pPr>
              <a:defRPr sz="1275" b="0">
                <a:solidFill>
                  <a:srgbClr val="000000"/>
                </a:solidFill>
                <a:latin typeface="Calibri"/>
                <a:ea typeface="Calibri"/>
                <a:cs typeface="Calibri"/>
              </a:defRPr>
            </a:lvl1pPr>
            <a:lvl2pPr>
              <a:defRPr sz="1275" b="0">
                <a:solidFill>
                  <a:srgbClr val="000000"/>
                </a:solidFill>
                <a:latin typeface="Calibri"/>
                <a:ea typeface="Calibri"/>
                <a:cs typeface="Calibri"/>
              </a:defRPr>
            </a:lvl2pPr>
            <a:lvl3pPr>
              <a:defRPr sz="1275" b="0">
                <a:solidFill>
                  <a:srgbClr val="000000"/>
                </a:solidFill>
                <a:latin typeface="Calibri"/>
                <a:ea typeface="Calibri"/>
                <a:cs typeface="Calibri"/>
              </a:defRPr>
            </a:lvl3pPr>
            <a:lvl4pPr>
              <a:defRPr sz="1275" b="0">
                <a:solidFill>
                  <a:srgbClr val="000000"/>
                </a:solidFill>
                <a:latin typeface="Calibri"/>
                <a:ea typeface="Calibri"/>
                <a:cs typeface="Calibri"/>
              </a:defRPr>
            </a:lvl4pPr>
            <a:lvl5pPr>
              <a:defRPr sz="1275" b="0">
                <a:solidFill>
                  <a:srgbClr val="000000"/>
                </a:solidFill>
                <a:latin typeface="Calibri"/>
                <a:ea typeface="Calibri"/>
                <a:cs typeface="Calibri"/>
              </a:defRPr>
            </a:lvl5pPr>
            <a:lvl6pPr>
              <a:defRPr sz="1275" b="0">
                <a:solidFill>
                  <a:srgbClr val="000000"/>
                </a:solidFill>
                <a:latin typeface="Calibri"/>
                <a:ea typeface="Calibri"/>
                <a:cs typeface="Calibri"/>
              </a:defRPr>
            </a:lvl6pPr>
            <a:lvl7pPr>
              <a:defRPr sz="1275" b="0">
                <a:solidFill>
                  <a:srgbClr val="000000"/>
                </a:solidFill>
                <a:latin typeface="Calibri"/>
                <a:ea typeface="Calibri"/>
                <a:cs typeface="Calibri"/>
              </a:defRPr>
            </a:lvl7pPr>
            <a:lvl8pPr>
              <a:defRPr sz="1275" b="0">
                <a:solidFill>
                  <a:srgbClr val="000000"/>
                </a:solidFill>
                <a:latin typeface="Calibri"/>
                <a:ea typeface="Calibri"/>
                <a:cs typeface="Calibri"/>
              </a:defRPr>
            </a:lvl8pPr>
            <a:lvl9pPr>
              <a:defRPr sz="1275" b="0">
                <a:solidFill>
                  <a:srgbClr val="000000"/>
                </a:solidFill>
                <a:latin typeface="Calibri"/>
                <a:ea typeface="Calibri"/>
                <a:cs typeface="Calibri"/>
              </a:defRPr>
            </a:lvl9pPr>
          </a:lstStyle>
          <a:p>
            <a:pPr>
              <a:defRPr sz="1275" b="0">
                <a:solidFill>
                  <a:srgbClr val="000000"/>
                </a:solidFill>
                <a:latin typeface="Calibri"/>
                <a:ea typeface="Calibri"/>
                <a:cs typeface="Calibri"/>
              </a:defRPr>
            </a:pPr>
            <a:r>
              <a:rPr sz="1275" b="1" dirty="0" err="1">
                <a:solidFill>
                  <a:srgbClr val="000000"/>
                </a:solidFill>
                <a:latin typeface="Calibri" panose="020F0502020204030204" pitchFamily="34" charset="0"/>
                <a:ea typeface="Calibri"/>
                <a:cs typeface="Calibri"/>
              </a:rPr>
              <a:t>Wingborne</a:t>
            </a:r>
            <a:endParaRPr sz="1275" b="1" dirty="0">
              <a:solidFill>
                <a:srgbClr val="000000"/>
              </a:solidFill>
              <a:latin typeface="Calibri" panose="020F0502020204030204" pitchFamily="34" charset="0"/>
              <a:ea typeface="Calibri"/>
              <a:cs typeface="Calibri"/>
            </a:endParaRPr>
          </a:p>
          <a:p>
            <a:pPr>
              <a:defRPr sz="1275" b="0">
                <a:solidFill>
                  <a:srgbClr val="000000"/>
                </a:solidFill>
                <a:latin typeface="Calibri"/>
                <a:ea typeface="Calibri"/>
                <a:cs typeface="Calibri"/>
              </a:defRPr>
            </a:pPr>
            <a:r>
              <a:rPr sz="1275" b="1" dirty="0">
                <a:solidFill>
                  <a:srgbClr val="000000"/>
                </a:solidFill>
                <a:latin typeface="Calibri" panose="020F0502020204030204" pitchFamily="34" charset="0"/>
                <a:ea typeface="Calibri"/>
                <a:cs typeface="Calibri"/>
              </a:rPr>
              <a:t>climb</a:t>
            </a:r>
          </a:p>
        </p:txBody>
      </p:sp>
      <p:sp>
        <p:nvSpPr>
          <p:cNvPr id="204" name="Rectangle 203">
            <a:extLst>
              <a:ext uri="{FF2B5EF4-FFF2-40B4-BE49-F238E27FC236}">
                <a16:creationId xmlns:a16="http://schemas.microsoft.com/office/drawing/2014/main" id="{5C05B6B0-4F7D-4EA0-6C97-7A9139857CCE}"/>
              </a:ext>
            </a:extLst>
          </p:cNvPr>
          <p:cNvSpPr>
            <a:spLocks noGrp="1"/>
          </p:cNvSpPr>
          <p:nvPr/>
        </p:nvSpPr>
        <p:spPr>
          <a:xfrm>
            <a:off x="2886075" y="5267325"/>
            <a:ext cx="952500" cy="238125"/>
          </a:xfrm>
          <a:prstGeom prst="rect">
            <a:avLst/>
          </a:prstGeom>
          <a:noFill/>
          <a:ln w="0">
            <a:noFill/>
            <a:prstDash val="solid"/>
          </a:ln>
        </p:spPr>
        <p:txBody>
          <a:bodyPr lIns="0" tIns="0" rIns="0" bIns="0"/>
          <a:lstStyle>
            <a:defPPr>
              <a:defRPr sz="1275" b="1">
                <a:solidFill>
                  <a:srgbClr val="000000"/>
                </a:solidFill>
                <a:latin typeface="Calibri"/>
                <a:ea typeface="Calibri"/>
                <a:cs typeface="Calibri"/>
              </a:defRPr>
            </a:defPPr>
            <a:lvl1pPr>
              <a:defRPr sz="1275" b="1">
                <a:solidFill>
                  <a:srgbClr val="000000"/>
                </a:solidFill>
                <a:latin typeface="Calibri"/>
                <a:ea typeface="Calibri"/>
                <a:cs typeface="Calibri"/>
              </a:defRPr>
            </a:lvl1pPr>
            <a:lvl2pPr>
              <a:defRPr sz="1275" b="1">
                <a:solidFill>
                  <a:srgbClr val="000000"/>
                </a:solidFill>
                <a:latin typeface="Calibri"/>
                <a:ea typeface="Calibri"/>
                <a:cs typeface="Calibri"/>
              </a:defRPr>
            </a:lvl2pPr>
            <a:lvl3pPr>
              <a:defRPr sz="1275" b="1">
                <a:solidFill>
                  <a:srgbClr val="000000"/>
                </a:solidFill>
                <a:latin typeface="Calibri"/>
                <a:ea typeface="Calibri"/>
                <a:cs typeface="Calibri"/>
              </a:defRPr>
            </a:lvl3pPr>
            <a:lvl4pPr>
              <a:defRPr sz="1275" b="1">
                <a:solidFill>
                  <a:srgbClr val="000000"/>
                </a:solidFill>
                <a:latin typeface="Calibri"/>
                <a:ea typeface="Calibri"/>
                <a:cs typeface="Calibri"/>
              </a:defRPr>
            </a:lvl4pPr>
            <a:lvl5pPr>
              <a:defRPr sz="1275" b="1">
                <a:solidFill>
                  <a:srgbClr val="000000"/>
                </a:solidFill>
                <a:latin typeface="Calibri"/>
                <a:ea typeface="Calibri"/>
                <a:cs typeface="Calibri"/>
              </a:defRPr>
            </a:lvl5pPr>
            <a:lvl6pPr>
              <a:defRPr sz="1275" b="1">
                <a:solidFill>
                  <a:srgbClr val="000000"/>
                </a:solidFill>
                <a:latin typeface="Calibri"/>
                <a:ea typeface="Calibri"/>
                <a:cs typeface="Calibri"/>
              </a:defRPr>
            </a:lvl6pPr>
            <a:lvl7pPr>
              <a:defRPr sz="1275" b="1">
                <a:solidFill>
                  <a:srgbClr val="000000"/>
                </a:solidFill>
                <a:latin typeface="Calibri"/>
                <a:ea typeface="Calibri"/>
                <a:cs typeface="Calibri"/>
              </a:defRPr>
            </a:lvl7pPr>
            <a:lvl8pPr>
              <a:defRPr sz="1275" b="1">
                <a:solidFill>
                  <a:srgbClr val="000000"/>
                </a:solidFill>
                <a:latin typeface="Calibri"/>
                <a:ea typeface="Calibri"/>
                <a:cs typeface="Calibri"/>
              </a:defRPr>
            </a:lvl8pPr>
            <a:lvl9pPr>
              <a:defRPr sz="1275" b="1">
                <a:solidFill>
                  <a:srgbClr val="000000"/>
                </a:solidFill>
                <a:latin typeface="Calibri"/>
                <a:ea typeface="Calibri"/>
                <a:cs typeface="Calibri"/>
              </a:defRPr>
            </a:lvl9pPr>
          </a:lstStyle>
          <a:p>
            <a:pPr>
              <a:defRPr sz="1275" b="1">
                <a:solidFill>
                  <a:srgbClr val="000000"/>
                </a:solidFill>
                <a:latin typeface="Calibri"/>
                <a:ea typeface="Calibri"/>
                <a:cs typeface="Calibri"/>
              </a:defRPr>
            </a:pPr>
            <a:r>
              <a:rPr lang="en-US" sz="1275" b="0">
                <a:solidFill>
                  <a:srgbClr val="000000"/>
                </a:solidFill>
                <a:latin typeface="Calibri" panose="020F0502020204030204" pitchFamily="34" charset="0"/>
                <a:ea typeface="Calibri"/>
                <a:cs typeface="Calibri"/>
              </a:rPr>
              <a:t>24.6 min</a:t>
            </a:r>
            <a:endParaRPr sz="1275" b="0">
              <a:solidFill>
                <a:srgbClr val="000000"/>
              </a:solidFill>
              <a:latin typeface="Calibri" panose="020F0502020204030204" pitchFamily="34" charset="0"/>
              <a:ea typeface="Calibri"/>
              <a:cs typeface="Calibri"/>
            </a:endParaRPr>
          </a:p>
        </p:txBody>
      </p:sp>
      <p:sp>
        <p:nvSpPr>
          <p:cNvPr id="205" name="Rectangle 204">
            <a:extLst>
              <a:ext uri="{FF2B5EF4-FFF2-40B4-BE49-F238E27FC236}">
                <a16:creationId xmlns:a16="http://schemas.microsoft.com/office/drawing/2014/main" id="{C5C7BB89-3A20-ECB2-FD7A-375D3FC84C52}"/>
              </a:ext>
            </a:extLst>
          </p:cNvPr>
          <p:cNvSpPr>
            <a:spLocks noGrp="1"/>
          </p:cNvSpPr>
          <p:nvPr/>
        </p:nvSpPr>
        <p:spPr>
          <a:xfrm>
            <a:off x="3857625" y="4762500"/>
            <a:ext cx="1190625" cy="466725"/>
          </a:xfrm>
          <a:prstGeom prst="rect">
            <a:avLst/>
          </a:prstGeom>
          <a:noFill/>
          <a:ln w="0">
            <a:noFill/>
            <a:prstDash val="solid"/>
          </a:ln>
        </p:spPr>
        <p:txBody>
          <a:bodyPr lIns="0" tIns="0" rIns="0" bIns="0"/>
          <a:lstStyle>
            <a:defPPr>
              <a:defRPr sz="1275" b="0">
                <a:solidFill>
                  <a:srgbClr val="000000"/>
                </a:solidFill>
                <a:latin typeface="Calibri"/>
                <a:ea typeface="Calibri"/>
                <a:cs typeface="Calibri"/>
              </a:defRPr>
            </a:defPPr>
            <a:lvl1pPr>
              <a:defRPr sz="1275" b="0">
                <a:solidFill>
                  <a:srgbClr val="000000"/>
                </a:solidFill>
                <a:latin typeface="Calibri"/>
                <a:ea typeface="Calibri"/>
                <a:cs typeface="Calibri"/>
              </a:defRPr>
            </a:lvl1pPr>
            <a:lvl2pPr>
              <a:defRPr sz="1275" b="0">
                <a:solidFill>
                  <a:srgbClr val="000000"/>
                </a:solidFill>
                <a:latin typeface="Calibri"/>
                <a:ea typeface="Calibri"/>
                <a:cs typeface="Calibri"/>
              </a:defRPr>
            </a:lvl2pPr>
            <a:lvl3pPr>
              <a:defRPr sz="1275" b="0">
                <a:solidFill>
                  <a:srgbClr val="000000"/>
                </a:solidFill>
                <a:latin typeface="Calibri"/>
                <a:ea typeface="Calibri"/>
                <a:cs typeface="Calibri"/>
              </a:defRPr>
            </a:lvl3pPr>
            <a:lvl4pPr>
              <a:defRPr sz="1275" b="0">
                <a:solidFill>
                  <a:srgbClr val="000000"/>
                </a:solidFill>
                <a:latin typeface="Calibri"/>
                <a:ea typeface="Calibri"/>
                <a:cs typeface="Calibri"/>
              </a:defRPr>
            </a:lvl4pPr>
            <a:lvl5pPr>
              <a:defRPr sz="1275" b="0">
                <a:solidFill>
                  <a:srgbClr val="000000"/>
                </a:solidFill>
                <a:latin typeface="Calibri"/>
                <a:ea typeface="Calibri"/>
                <a:cs typeface="Calibri"/>
              </a:defRPr>
            </a:lvl5pPr>
            <a:lvl6pPr>
              <a:defRPr sz="1275" b="0">
                <a:solidFill>
                  <a:srgbClr val="000000"/>
                </a:solidFill>
                <a:latin typeface="Calibri"/>
                <a:ea typeface="Calibri"/>
                <a:cs typeface="Calibri"/>
              </a:defRPr>
            </a:lvl6pPr>
            <a:lvl7pPr>
              <a:defRPr sz="1275" b="0">
                <a:solidFill>
                  <a:srgbClr val="000000"/>
                </a:solidFill>
                <a:latin typeface="Calibri"/>
                <a:ea typeface="Calibri"/>
                <a:cs typeface="Calibri"/>
              </a:defRPr>
            </a:lvl7pPr>
            <a:lvl8pPr>
              <a:defRPr sz="1275" b="0">
                <a:solidFill>
                  <a:srgbClr val="000000"/>
                </a:solidFill>
                <a:latin typeface="Calibri"/>
                <a:ea typeface="Calibri"/>
                <a:cs typeface="Calibri"/>
              </a:defRPr>
            </a:lvl8pPr>
            <a:lvl9pPr>
              <a:defRPr sz="1275" b="0">
                <a:solidFill>
                  <a:srgbClr val="000000"/>
                </a:solidFill>
                <a:latin typeface="Calibri"/>
                <a:ea typeface="Calibri"/>
                <a:cs typeface="Calibri"/>
              </a:defRPr>
            </a:lvl9pPr>
          </a:lstStyle>
          <a:p>
            <a:pPr algn="ctr">
              <a:defRPr sz="1275" b="0">
                <a:solidFill>
                  <a:srgbClr val="000000"/>
                </a:solidFill>
                <a:latin typeface="Calibri"/>
                <a:ea typeface="Calibri"/>
                <a:cs typeface="Calibri"/>
              </a:defRPr>
            </a:pPr>
            <a:r>
              <a:rPr sz="1275" b="1">
                <a:solidFill>
                  <a:srgbClr val="000000"/>
                </a:solidFill>
                <a:latin typeface="Calibri" panose="020F0502020204030204" pitchFamily="34" charset="0"/>
                <a:ea typeface="Calibri"/>
                <a:cs typeface="Calibri"/>
              </a:rPr>
              <a:t>Cruise</a:t>
            </a:r>
          </a:p>
        </p:txBody>
      </p:sp>
      <p:sp>
        <p:nvSpPr>
          <p:cNvPr id="206" name="Rectangle 205">
            <a:extLst>
              <a:ext uri="{FF2B5EF4-FFF2-40B4-BE49-F238E27FC236}">
                <a16:creationId xmlns:a16="http://schemas.microsoft.com/office/drawing/2014/main" id="{320C2031-7438-5FFA-8825-90100B57294D}"/>
              </a:ext>
            </a:extLst>
          </p:cNvPr>
          <p:cNvSpPr>
            <a:spLocks noGrp="1"/>
          </p:cNvSpPr>
          <p:nvPr/>
        </p:nvSpPr>
        <p:spPr>
          <a:xfrm>
            <a:off x="3857625" y="5267325"/>
            <a:ext cx="1190625" cy="238125"/>
          </a:xfrm>
          <a:prstGeom prst="rect">
            <a:avLst/>
          </a:prstGeom>
          <a:noFill/>
          <a:ln w="0">
            <a:noFill/>
            <a:prstDash val="solid"/>
          </a:ln>
        </p:spPr>
        <p:txBody>
          <a:bodyPr lIns="0" tIns="0" rIns="0" bIns="0"/>
          <a:lstStyle>
            <a:defPPr>
              <a:defRPr sz="1275" b="1">
                <a:solidFill>
                  <a:srgbClr val="000000"/>
                </a:solidFill>
                <a:latin typeface="Calibri"/>
                <a:ea typeface="Calibri"/>
                <a:cs typeface="Calibri"/>
              </a:defRPr>
            </a:defPPr>
            <a:lvl1pPr>
              <a:defRPr sz="1275" b="1">
                <a:solidFill>
                  <a:srgbClr val="000000"/>
                </a:solidFill>
                <a:latin typeface="Calibri"/>
                <a:ea typeface="Calibri"/>
                <a:cs typeface="Calibri"/>
              </a:defRPr>
            </a:lvl1pPr>
            <a:lvl2pPr>
              <a:defRPr sz="1275" b="1">
                <a:solidFill>
                  <a:srgbClr val="000000"/>
                </a:solidFill>
                <a:latin typeface="Calibri"/>
                <a:ea typeface="Calibri"/>
                <a:cs typeface="Calibri"/>
              </a:defRPr>
            </a:lvl2pPr>
            <a:lvl3pPr>
              <a:defRPr sz="1275" b="1">
                <a:solidFill>
                  <a:srgbClr val="000000"/>
                </a:solidFill>
                <a:latin typeface="Calibri"/>
                <a:ea typeface="Calibri"/>
                <a:cs typeface="Calibri"/>
              </a:defRPr>
            </a:lvl3pPr>
            <a:lvl4pPr>
              <a:defRPr sz="1275" b="1">
                <a:solidFill>
                  <a:srgbClr val="000000"/>
                </a:solidFill>
                <a:latin typeface="Calibri"/>
                <a:ea typeface="Calibri"/>
                <a:cs typeface="Calibri"/>
              </a:defRPr>
            </a:lvl4pPr>
            <a:lvl5pPr>
              <a:defRPr sz="1275" b="1">
                <a:solidFill>
                  <a:srgbClr val="000000"/>
                </a:solidFill>
                <a:latin typeface="Calibri"/>
                <a:ea typeface="Calibri"/>
                <a:cs typeface="Calibri"/>
              </a:defRPr>
            </a:lvl5pPr>
            <a:lvl6pPr>
              <a:defRPr sz="1275" b="1">
                <a:solidFill>
                  <a:srgbClr val="000000"/>
                </a:solidFill>
                <a:latin typeface="Calibri"/>
                <a:ea typeface="Calibri"/>
                <a:cs typeface="Calibri"/>
              </a:defRPr>
            </a:lvl6pPr>
            <a:lvl7pPr>
              <a:defRPr sz="1275" b="1">
                <a:solidFill>
                  <a:srgbClr val="000000"/>
                </a:solidFill>
                <a:latin typeface="Calibri"/>
                <a:ea typeface="Calibri"/>
                <a:cs typeface="Calibri"/>
              </a:defRPr>
            </a:lvl7pPr>
            <a:lvl8pPr>
              <a:defRPr sz="1275" b="1">
                <a:solidFill>
                  <a:srgbClr val="000000"/>
                </a:solidFill>
                <a:latin typeface="Calibri"/>
                <a:ea typeface="Calibri"/>
                <a:cs typeface="Calibri"/>
              </a:defRPr>
            </a:lvl8pPr>
            <a:lvl9pPr>
              <a:defRPr sz="1275" b="1">
                <a:solidFill>
                  <a:srgbClr val="000000"/>
                </a:solidFill>
                <a:latin typeface="Calibri"/>
                <a:ea typeface="Calibri"/>
                <a:cs typeface="Calibri"/>
              </a:defRPr>
            </a:lvl9pPr>
          </a:lstStyle>
          <a:p>
            <a:pPr algn="ctr">
              <a:defRPr sz="1275" b="1">
                <a:solidFill>
                  <a:srgbClr val="000000"/>
                </a:solidFill>
                <a:latin typeface="Calibri"/>
                <a:ea typeface="Calibri"/>
                <a:cs typeface="Calibri"/>
              </a:defRPr>
            </a:pPr>
            <a:r>
              <a:rPr sz="1275" b="0" dirty="0">
                <a:solidFill>
                  <a:srgbClr val="000000"/>
                </a:solidFill>
                <a:latin typeface="Calibri" panose="020F0502020204030204" pitchFamily="34" charset="0"/>
                <a:ea typeface="Calibri"/>
                <a:cs typeface="Calibri"/>
              </a:rPr>
              <a:t>30 min</a:t>
            </a:r>
          </a:p>
        </p:txBody>
      </p:sp>
      <p:sp>
        <p:nvSpPr>
          <p:cNvPr id="207" name="Rectangle 206">
            <a:extLst>
              <a:ext uri="{FF2B5EF4-FFF2-40B4-BE49-F238E27FC236}">
                <a16:creationId xmlns:a16="http://schemas.microsoft.com/office/drawing/2014/main" id="{6CF23203-F576-15AB-77F5-90F42EAC9E72}"/>
              </a:ext>
            </a:extLst>
          </p:cNvPr>
          <p:cNvSpPr>
            <a:spLocks noGrp="1"/>
          </p:cNvSpPr>
          <p:nvPr/>
        </p:nvSpPr>
        <p:spPr>
          <a:xfrm>
            <a:off x="3857625" y="5524500"/>
            <a:ext cx="1190625" cy="228600"/>
          </a:xfrm>
          <a:prstGeom prst="rect">
            <a:avLst/>
          </a:prstGeom>
          <a:noFill/>
          <a:ln w="0">
            <a:noFill/>
            <a:prstDash val="solid"/>
          </a:ln>
        </p:spPr>
        <p:txBody>
          <a:bodyPr lIns="0" tIns="0" rIns="0" bIns="0"/>
          <a:lstStyle>
            <a:defPPr>
              <a:defRPr sz="1200" b="0">
                <a:solidFill>
                  <a:srgbClr val="444444"/>
                </a:solidFill>
                <a:latin typeface="Calibri"/>
                <a:ea typeface="Calibri"/>
                <a:cs typeface="Calibri"/>
              </a:defRPr>
            </a:defPPr>
            <a:lvl1pPr>
              <a:defRPr sz="1200" b="0">
                <a:solidFill>
                  <a:srgbClr val="444444"/>
                </a:solidFill>
                <a:latin typeface="Calibri"/>
                <a:ea typeface="Calibri"/>
                <a:cs typeface="Calibri"/>
              </a:defRPr>
            </a:lvl1pPr>
            <a:lvl2pPr>
              <a:defRPr sz="1200" b="0">
                <a:solidFill>
                  <a:srgbClr val="444444"/>
                </a:solidFill>
                <a:latin typeface="Calibri"/>
                <a:ea typeface="Calibri"/>
                <a:cs typeface="Calibri"/>
              </a:defRPr>
            </a:lvl2pPr>
            <a:lvl3pPr>
              <a:defRPr sz="1200" b="0">
                <a:solidFill>
                  <a:srgbClr val="444444"/>
                </a:solidFill>
                <a:latin typeface="Calibri"/>
                <a:ea typeface="Calibri"/>
                <a:cs typeface="Calibri"/>
              </a:defRPr>
            </a:lvl3pPr>
            <a:lvl4pPr>
              <a:defRPr sz="1200" b="0">
                <a:solidFill>
                  <a:srgbClr val="444444"/>
                </a:solidFill>
                <a:latin typeface="Calibri"/>
                <a:ea typeface="Calibri"/>
                <a:cs typeface="Calibri"/>
              </a:defRPr>
            </a:lvl4pPr>
            <a:lvl5pPr>
              <a:defRPr sz="1200" b="0">
                <a:solidFill>
                  <a:srgbClr val="444444"/>
                </a:solidFill>
                <a:latin typeface="Calibri"/>
                <a:ea typeface="Calibri"/>
                <a:cs typeface="Calibri"/>
              </a:defRPr>
            </a:lvl5pPr>
            <a:lvl6pPr>
              <a:defRPr sz="1200" b="0">
                <a:solidFill>
                  <a:srgbClr val="444444"/>
                </a:solidFill>
                <a:latin typeface="Calibri"/>
                <a:ea typeface="Calibri"/>
                <a:cs typeface="Calibri"/>
              </a:defRPr>
            </a:lvl6pPr>
            <a:lvl7pPr>
              <a:defRPr sz="1200" b="0">
                <a:solidFill>
                  <a:srgbClr val="444444"/>
                </a:solidFill>
                <a:latin typeface="Calibri"/>
                <a:ea typeface="Calibri"/>
                <a:cs typeface="Calibri"/>
              </a:defRPr>
            </a:lvl7pPr>
            <a:lvl8pPr>
              <a:defRPr sz="1200" b="0">
                <a:solidFill>
                  <a:srgbClr val="444444"/>
                </a:solidFill>
                <a:latin typeface="Calibri"/>
                <a:ea typeface="Calibri"/>
                <a:cs typeface="Calibri"/>
              </a:defRPr>
            </a:lvl8pPr>
            <a:lvl9pPr>
              <a:defRPr sz="1200" b="0">
                <a:solidFill>
                  <a:srgbClr val="444444"/>
                </a:solidFill>
                <a:latin typeface="Calibri"/>
                <a:ea typeface="Calibri"/>
                <a:cs typeface="Calibri"/>
              </a:defRPr>
            </a:lvl9pPr>
          </a:lstStyle>
          <a:p>
            <a:pPr algn="ctr">
              <a:defRPr sz="1200" b="0">
                <a:solidFill>
                  <a:srgbClr val="444444"/>
                </a:solidFill>
                <a:latin typeface="Calibri"/>
                <a:ea typeface="Calibri"/>
                <a:cs typeface="Calibri"/>
              </a:defRPr>
            </a:pPr>
            <a:r>
              <a:rPr sz="1200">
                <a:solidFill>
                  <a:srgbClr val="444444"/>
                </a:solidFill>
                <a:latin typeface="Calibri" panose="020F0502020204030204" pitchFamily="34" charset="0"/>
                <a:ea typeface="Calibri"/>
                <a:cs typeface="Calibri"/>
              </a:rPr>
              <a:t>(70 km)</a:t>
            </a:r>
          </a:p>
        </p:txBody>
      </p:sp>
      <p:sp>
        <p:nvSpPr>
          <p:cNvPr id="208" name="Rectangle 207">
            <a:extLst>
              <a:ext uri="{FF2B5EF4-FFF2-40B4-BE49-F238E27FC236}">
                <a16:creationId xmlns:a16="http://schemas.microsoft.com/office/drawing/2014/main" id="{7E63AC21-18E0-E2AD-3CDA-52ED52E720F3}"/>
              </a:ext>
            </a:extLst>
          </p:cNvPr>
          <p:cNvSpPr>
            <a:spLocks noGrp="1"/>
          </p:cNvSpPr>
          <p:nvPr/>
        </p:nvSpPr>
        <p:spPr>
          <a:xfrm>
            <a:off x="5095875" y="4762500"/>
            <a:ext cx="2524125" cy="466725"/>
          </a:xfrm>
          <a:prstGeom prst="rect">
            <a:avLst/>
          </a:prstGeom>
          <a:noFill/>
          <a:ln w="0">
            <a:noFill/>
            <a:prstDash val="solid"/>
          </a:ln>
        </p:spPr>
        <p:txBody>
          <a:bodyPr lIns="0" tIns="0" rIns="0" bIns="0"/>
          <a:lstStyle>
            <a:defPPr>
              <a:defRPr sz="1275" b="0">
                <a:solidFill>
                  <a:srgbClr val="000000"/>
                </a:solidFill>
                <a:latin typeface="Calibri"/>
                <a:ea typeface="Calibri"/>
                <a:cs typeface="Calibri"/>
              </a:defRPr>
            </a:defPPr>
            <a:lvl1pPr>
              <a:defRPr sz="1275" b="0">
                <a:solidFill>
                  <a:srgbClr val="000000"/>
                </a:solidFill>
                <a:latin typeface="Calibri"/>
                <a:ea typeface="Calibri"/>
                <a:cs typeface="Calibri"/>
              </a:defRPr>
            </a:lvl1pPr>
            <a:lvl2pPr>
              <a:defRPr sz="1275" b="0">
                <a:solidFill>
                  <a:srgbClr val="000000"/>
                </a:solidFill>
                <a:latin typeface="Calibri"/>
                <a:ea typeface="Calibri"/>
                <a:cs typeface="Calibri"/>
              </a:defRPr>
            </a:lvl2pPr>
            <a:lvl3pPr>
              <a:defRPr sz="1275" b="0">
                <a:solidFill>
                  <a:srgbClr val="000000"/>
                </a:solidFill>
                <a:latin typeface="Calibri"/>
                <a:ea typeface="Calibri"/>
                <a:cs typeface="Calibri"/>
              </a:defRPr>
            </a:lvl3pPr>
            <a:lvl4pPr>
              <a:defRPr sz="1275" b="0">
                <a:solidFill>
                  <a:srgbClr val="000000"/>
                </a:solidFill>
                <a:latin typeface="Calibri"/>
                <a:ea typeface="Calibri"/>
                <a:cs typeface="Calibri"/>
              </a:defRPr>
            </a:lvl4pPr>
            <a:lvl5pPr>
              <a:defRPr sz="1275" b="0">
                <a:solidFill>
                  <a:srgbClr val="000000"/>
                </a:solidFill>
                <a:latin typeface="Calibri"/>
                <a:ea typeface="Calibri"/>
                <a:cs typeface="Calibri"/>
              </a:defRPr>
            </a:lvl5pPr>
            <a:lvl6pPr>
              <a:defRPr sz="1275" b="0">
                <a:solidFill>
                  <a:srgbClr val="000000"/>
                </a:solidFill>
                <a:latin typeface="Calibri"/>
                <a:ea typeface="Calibri"/>
                <a:cs typeface="Calibri"/>
              </a:defRPr>
            </a:lvl6pPr>
            <a:lvl7pPr>
              <a:defRPr sz="1275" b="0">
                <a:solidFill>
                  <a:srgbClr val="000000"/>
                </a:solidFill>
                <a:latin typeface="Calibri"/>
                <a:ea typeface="Calibri"/>
                <a:cs typeface="Calibri"/>
              </a:defRPr>
            </a:lvl7pPr>
            <a:lvl8pPr>
              <a:defRPr sz="1275" b="0">
                <a:solidFill>
                  <a:srgbClr val="000000"/>
                </a:solidFill>
                <a:latin typeface="Calibri"/>
                <a:ea typeface="Calibri"/>
                <a:cs typeface="Calibri"/>
              </a:defRPr>
            </a:lvl8pPr>
            <a:lvl9pPr>
              <a:defRPr sz="1275" b="0">
                <a:solidFill>
                  <a:srgbClr val="000000"/>
                </a:solidFill>
                <a:latin typeface="Calibri"/>
                <a:ea typeface="Calibri"/>
                <a:cs typeface="Calibri"/>
              </a:defRPr>
            </a:lvl9pPr>
          </a:lstStyle>
          <a:p>
            <a:pPr algn="ctr">
              <a:defRPr sz="1275" b="0">
                <a:solidFill>
                  <a:srgbClr val="000000"/>
                </a:solidFill>
                <a:latin typeface="Calibri"/>
                <a:ea typeface="Calibri"/>
                <a:cs typeface="Calibri"/>
              </a:defRPr>
            </a:pPr>
            <a:r>
              <a:rPr sz="1275" b="1">
                <a:solidFill>
                  <a:srgbClr val="000000"/>
                </a:solidFill>
                <a:latin typeface="Calibri" panose="020F0502020204030204" pitchFamily="34" charset="0"/>
                <a:ea typeface="Calibri"/>
                <a:cs typeface="Calibri"/>
              </a:rPr>
              <a:t>Loiter</a:t>
            </a:r>
          </a:p>
        </p:txBody>
      </p:sp>
      <p:sp>
        <p:nvSpPr>
          <p:cNvPr id="209" name="Rectangle 208">
            <a:extLst>
              <a:ext uri="{FF2B5EF4-FFF2-40B4-BE49-F238E27FC236}">
                <a16:creationId xmlns:a16="http://schemas.microsoft.com/office/drawing/2014/main" id="{2824B3B1-7260-424E-CB06-2FAC7E5A45A3}"/>
              </a:ext>
            </a:extLst>
          </p:cNvPr>
          <p:cNvSpPr>
            <a:spLocks noGrp="1"/>
          </p:cNvSpPr>
          <p:nvPr/>
        </p:nvSpPr>
        <p:spPr>
          <a:xfrm>
            <a:off x="5095875" y="5267325"/>
            <a:ext cx="2524125" cy="238125"/>
          </a:xfrm>
          <a:prstGeom prst="rect">
            <a:avLst/>
          </a:prstGeom>
          <a:noFill/>
          <a:ln w="0">
            <a:noFill/>
            <a:prstDash val="solid"/>
          </a:ln>
        </p:spPr>
        <p:txBody>
          <a:bodyPr lIns="0" tIns="0" rIns="0" bIns="0"/>
          <a:lstStyle>
            <a:defPPr>
              <a:defRPr sz="1275" b="1">
                <a:solidFill>
                  <a:srgbClr val="000000"/>
                </a:solidFill>
                <a:latin typeface="Calibri"/>
                <a:ea typeface="Calibri"/>
                <a:cs typeface="Calibri"/>
              </a:defRPr>
            </a:defPPr>
            <a:lvl1pPr>
              <a:defRPr sz="1275" b="1">
                <a:solidFill>
                  <a:srgbClr val="000000"/>
                </a:solidFill>
                <a:latin typeface="Calibri"/>
                <a:ea typeface="Calibri"/>
                <a:cs typeface="Calibri"/>
              </a:defRPr>
            </a:lvl1pPr>
            <a:lvl2pPr>
              <a:defRPr sz="1275" b="1">
                <a:solidFill>
                  <a:srgbClr val="000000"/>
                </a:solidFill>
                <a:latin typeface="Calibri"/>
                <a:ea typeface="Calibri"/>
                <a:cs typeface="Calibri"/>
              </a:defRPr>
            </a:lvl2pPr>
            <a:lvl3pPr>
              <a:defRPr sz="1275" b="1">
                <a:solidFill>
                  <a:srgbClr val="000000"/>
                </a:solidFill>
                <a:latin typeface="Calibri"/>
                <a:ea typeface="Calibri"/>
                <a:cs typeface="Calibri"/>
              </a:defRPr>
            </a:lvl3pPr>
            <a:lvl4pPr>
              <a:defRPr sz="1275" b="1">
                <a:solidFill>
                  <a:srgbClr val="000000"/>
                </a:solidFill>
                <a:latin typeface="Calibri"/>
                <a:ea typeface="Calibri"/>
                <a:cs typeface="Calibri"/>
              </a:defRPr>
            </a:lvl4pPr>
            <a:lvl5pPr>
              <a:defRPr sz="1275" b="1">
                <a:solidFill>
                  <a:srgbClr val="000000"/>
                </a:solidFill>
                <a:latin typeface="Calibri"/>
                <a:ea typeface="Calibri"/>
                <a:cs typeface="Calibri"/>
              </a:defRPr>
            </a:lvl5pPr>
            <a:lvl6pPr>
              <a:defRPr sz="1275" b="1">
                <a:solidFill>
                  <a:srgbClr val="000000"/>
                </a:solidFill>
                <a:latin typeface="Calibri"/>
                <a:ea typeface="Calibri"/>
                <a:cs typeface="Calibri"/>
              </a:defRPr>
            </a:lvl6pPr>
            <a:lvl7pPr>
              <a:defRPr sz="1275" b="1">
                <a:solidFill>
                  <a:srgbClr val="000000"/>
                </a:solidFill>
                <a:latin typeface="Calibri"/>
                <a:ea typeface="Calibri"/>
                <a:cs typeface="Calibri"/>
              </a:defRPr>
            </a:lvl7pPr>
            <a:lvl8pPr>
              <a:defRPr sz="1275" b="1">
                <a:solidFill>
                  <a:srgbClr val="000000"/>
                </a:solidFill>
                <a:latin typeface="Calibri"/>
                <a:ea typeface="Calibri"/>
                <a:cs typeface="Calibri"/>
              </a:defRPr>
            </a:lvl8pPr>
            <a:lvl9pPr>
              <a:defRPr sz="1275" b="1">
                <a:solidFill>
                  <a:srgbClr val="000000"/>
                </a:solidFill>
                <a:latin typeface="Calibri"/>
                <a:ea typeface="Calibri"/>
                <a:cs typeface="Calibri"/>
              </a:defRPr>
            </a:lvl9pPr>
          </a:lstStyle>
          <a:p>
            <a:pPr algn="ctr">
              <a:defRPr sz="1275" b="1">
                <a:solidFill>
                  <a:srgbClr val="000000"/>
                </a:solidFill>
                <a:latin typeface="Calibri"/>
                <a:ea typeface="Calibri"/>
                <a:cs typeface="Calibri"/>
              </a:defRPr>
            </a:pPr>
            <a:r>
              <a:rPr sz="1275" b="0">
                <a:solidFill>
                  <a:srgbClr val="000000"/>
                </a:solidFill>
                <a:latin typeface="Calibri" panose="020F0502020204030204" pitchFamily="34" charset="0"/>
                <a:ea typeface="Calibri"/>
                <a:cs typeface="Calibri"/>
              </a:rPr>
              <a:t>187.6 min</a:t>
            </a:r>
          </a:p>
        </p:txBody>
      </p:sp>
      <p:sp>
        <p:nvSpPr>
          <p:cNvPr id="210" name="Rectangle 209">
            <a:extLst>
              <a:ext uri="{FF2B5EF4-FFF2-40B4-BE49-F238E27FC236}">
                <a16:creationId xmlns:a16="http://schemas.microsoft.com/office/drawing/2014/main" id="{E63C8A6C-1752-3356-CD99-2461083B4CBA}"/>
              </a:ext>
            </a:extLst>
          </p:cNvPr>
          <p:cNvSpPr>
            <a:spLocks noGrp="1"/>
          </p:cNvSpPr>
          <p:nvPr/>
        </p:nvSpPr>
        <p:spPr>
          <a:xfrm>
            <a:off x="7686675" y="4762500"/>
            <a:ext cx="1143000" cy="466725"/>
          </a:xfrm>
          <a:prstGeom prst="rect">
            <a:avLst/>
          </a:prstGeom>
          <a:noFill/>
          <a:ln w="0">
            <a:noFill/>
            <a:prstDash val="solid"/>
          </a:ln>
        </p:spPr>
        <p:txBody>
          <a:bodyPr lIns="0" tIns="0" rIns="0" bIns="0"/>
          <a:lstStyle>
            <a:defPPr>
              <a:defRPr sz="1275" b="0">
                <a:solidFill>
                  <a:srgbClr val="000000"/>
                </a:solidFill>
                <a:latin typeface="Calibri"/>
                <a:ea typeface="Calibri"/>
                <a:cs typeface="Calibri"/>
              </a:defRPr>
            </a:defPPr>
            <a:lvl1pPr>
              <a:defRPr sz="1275" b="0">
                <a:solidFill>
                  <a:srgbClr val="000000"/>
                </a:solidFill>
                <a:latin typeface="Calibri"/>
                <a:ea typeface="Calibri"/>
                <a:cs typeface="Calibri"/>
              </a:defRPr>
            </a:lvl1pPr>
            <a:lvl2pPr>
              <a:defRPr sz="1275" b="0">
                <a:solidFill>
                  <a:srgbClr val="000000"/>
                </a:solidFill>
                <a:latin typeface="Calibri"/>
                <a:ea typeface="Calibri"/>
                <a:cs typeface="Calibri"/>
              </a:defRPr>
            </a:lvl2pPr>
            <a:lvl3pPr>
              <a:defRPr sz="1275" b="0">
                <a:solidFill>
                  <a:srgbClr val="000000"/>
                </a:solidFill>
                <a:latin typeface="Calibri"/>
                <a:ea typeface="Calibri"/>
                <a:cs typeface="Calibri"/>
              </a:defRPr>
            </a:lvl3pPr>
            <a:lvl4pPr>
              <a:defRPr sz="1275" b="0">
                <a:solidFill>
                  <a:srgbClr val="000000"/>
                </a:solidFill>
                <a:latin typeface="Calibri"/>
                <a:ea typeface="Calibri"/>
                <a:cs typeface="Calibri"/>
              </a:defRPr>
            </a:lvl4pPr>
            <a:lvl5pPr>
              <a:defRPr sz="1275" b="0">
                <a:solidFill>
                  <a:srgbClr val="000000"/>
                </a:solidFill>
                <a:latin typeface="Calibri"/>
                <a:ea typeface="Calibri"/>
                <a:cs typeface="Calibri"/>
              </a:defRPr>
            </a:lvl5pPr>
            <a:lvl6pPr>
              <a:defRPr sz="1275" b="0">
                <a:solidFill>
                  <a:srgbClr val="000000"/>
                </a:solidFill>
                <a:latin typeface="Calibri"/>
                <a:ea typeface="Calibri"/>
                <a:cs typeface="Calibri"/>
              </a:defRPr>
            </a:lvl6pPr>
            <a:lvl7pPr>
              <a:defRPr sz="1275" b="0">
                <a:solidFill>
                  <a:srgbClr val="000000"/>
                </a:solidFill>
                <a:latin typeface="Calibri"/>
                <a:ea typeface="Calibri"/>
                <a:cs typeface="Calibri"/>
              </a:defRPr>
            </a:lvl7pPr>
            <a:lvl8pPr>
              <a:defRPr sz="1275" b="0">
                <a:solidFill>
                  <a:srgbClr val="000000"/>
                </a:solidFill>
                <a:latin typeface="Calibri"/>
                <a:ea typeface="Calibri"/>
                <a:cs typeface="Calibri"/>
              </a:defRPr>
            </a:lvl8pPr>
            <a:lvl9pPr>
              <a:defRPr sz="1275" b="0">
                <a:solidFill>
                  <a:srgbClr val="000000"/>
                </a:solidFill>
                <a:latin typeface="Calibri"/>
                <a:ea typeface="Calibri"/>
                <a:cs typeface="Calibri"/>
              </a:defRPr>
            </a:lvl9pPr>
          </a:lstStyle>
          <a:p>
            <a:pPr algn="ctr">
              <a:defRPr sz="1275" b="0">
                <a:solidFill>
                  <a:srgbClr val="000000"/>
                </a:solidFill>
                <a:latin typeface="Calibri"/>
                <a:ea typeface="Calibri"/>
                <a:cs typeface="Calibri"/>
              </a:defRPr>
            </a:pPr>
            <a:r>
              <a:rPr sz="1275" b="1">
                <a:solidFill>
                  <a:srgbClr val="000000"/>
                </a:solidFill>
                <a:latin typeface="Calibri" panose="020F0502020204030204" pitchFamily="34" charset="0"/>
                <a:ea typeface="Calibri"/>
                <a:cs typeface="Calibri"/>
              </a:rPr>
              <a:t>Cruise</a:t>
            </a:r>
          </a:p>
        </p:txBody>
      </p:sp>
      <p:sp>
        <p:nvSpPr>
          <p:cNvPr id="211" name="Rectangle 210">
            <a:extLst>
              <a:ext uri="{FF2B5EF4-FFF2-40B4-BE49-F238E27FC236}">
                <a16:creationId xmlns:a16="http://schemas.microsoft.com/office/drawing/2014/main" id="{ACACC076-3318-385A-0ECF-1A72C7EB2E34}"/>
              </a:ext>
            </a:extLst>
          </p:cNvPr>
          <p:cNvSpPr>
            <a:spLocks noGrp="1"/>
          </p:cNvSpPr>
          <p:nvPr/>
        </p:nvSpPr>
        <p:spPr>
          <a:xfrm>
            <a:off x="7686675" y="5267325"/>
            <a:ext cx="1143000" cy="238125"/>
          </a:xfrm>
          <a:prstGeom prst="rect">
            <a:avLst/>
          </a:prstGeom>
          <a:noFill/>
          <a:ln w="0">
            <a:noFill/>
            <a:prstDash val="solid"/>
          </a:ln>
        </p:spPr>
        <p:txBody>
          <a:bodyPr lIns="0" tIns="0" rIns="0" bIns="0"/>
          <a:lstStyle>
            <a:defPPr>
              <a:defRPr sz="1275" b="1">
                <a:solidFill>
                  <a:srgbClr val="000000"/>
                </a:solidFill>
                <a:latin typeface="Calibri"/>
                <a:ea typeface="Calibri"/>
                <a:cs typeface="Calibri"/>
              </a:defRPr>
            </a:defPPr>
            <a:lvl1pPr>
              <a:defRPr sz="1275" b="1">
                <a:solidFill>
                  <a:srgbClr val="000000"/>
                </a:solidFill>
                <a:latin typeface="Calibri"/>
                <a:ea typeface="Calibri"/>
                <a:cs typeface="Calibri"/>
              </a:defRPr>
            </a:lvl1pPr>
            <a:lvl2pPr>
              <a:defRPr sz="1275" b="1">
                <a:solidFill>
                  <a:srgbClr val="000000"/>
                </a:solidFill>
                <a:latin typeface="Calibri"/>
                <a:ea typeface="Calibri"/>
                <a:cs typeface="Calibri"/>
              </a:defRPr>
            </a:lvl2pPr>
            <a:lvl3pPr>
              <a:defRPr sz="1275" b="1">
                <a:solidFill>
                  <a:srgbClr val="000000"/>
                </a:solidFill>
                <a:latin typeface="Calibri"/>
                <a:ea typeface="Calibri"/>
                <a:cs typeface="Calibri"/>
              </a:defRPr>
            </a:lvl3pPr>
            <a:lvl4pPr>
              <a:defRPr sz="1275" b="1">
                <a:solidFill>
                  <a:srgbClr val="000000"/>
                </a:solidFill>
                <a:latin typeface="Calibri"/>
                <a:ea typeface="Calibri"/>
                <a:cs typeface="Calibri"/>
              </a:defRPr>
            </a:lvl4pPr>
            <a:lvl5pPr>
              <a:defRPr sz="1275" b="1">
                <a:solidFill>
                  <a:srgbClr val="000000"/>
                </a:solidFill>
                <a:latin typeface="Calibri"/>
                <a:ea typeface="Calibri"/>
                <a:cs typeface="Calibri"/>
              </a:defRPr>
            </a:lvl5pPr>
            <a:lvl6pPr>
              <a:defRPr sz="1275" b="1">
                <a:solidFill>
                  <a:srgbClr val="000000"/>
                </a:solidFill>
                <a:latin typeface="Calibri"/>
                <a:ea typeface="Calibri"/>
                <a:cs typeface="Calibri"/>
              </a:defRPr>
            </a:lvl6pPr>
            <a:lvl7pPr>
              <a:defRPr sz="1275" b="1">
                <a:solidFill>
                  <a:srgbClr val="000000"/>
                </a:solidFill>
                <a:latin typeface="Calibri"/>
                <a:ea typeface="Calibri"/>
                <a:cs typeface="Calibri"/>
              </a:defRPr>
            </a:lvl7pPr>
            <a:lvl8pPr>
              <a:defRPr sz="1275" b="1">
                <a:solidFill>
                  <a:srgbClr val="000000"/>
                </a:solidFill>
                <a:latin typeface="Calibri"/>
                <a:ea typeface="Calibri"/>
                <a:cs typeface="Calibri"/>
              </a:defRPr>
            </a:lvl8pPr>
            <a:lvl9pPr>
              <a:defRPr sz="1275" b="1">
                <a:solidFill>
                  <a:srgbClr val="000000"/>
                </a:solidFill>
                <a:latin typeface="Calibri"/>
                <a:ea typeface="Calibri"/>
                <a:cs typeface="Calibri"/>
              </a:defRPr>
            </a:lvl9pPr>
          </a:lstStyle>
          <a:p>
            <a:pPr algn="ctr">
              <a:defRPr sz="1275" b="1">
                <a:solidFill>
                  <a:srgbClr val="000000"/>
                </a:solidFill>
                <a:latin typeface="Calibri"/>
                <a:ea typeface="Calibri"/>
                <a:cs typeface="Calibri"/>
              </a:defRPr>
            </a:pPr>
            <a:r>
              <a:rPr sz="1275" b="0">
                <a:solidFill>
                  <a:srgbClr val="000000"/>
                </a:solidFill>
                <a:latin typeface="Calibri" panose="020F0502020204030204" pitchFamily="34" charset="0"/>
                <a:ea typeface="Calibri"/>
                <a:cs typeface="Calibri"/>
              </a:rPr>
              <a:t>30 min</a:t>
            </a:r>
          </a:p>
        </p:txBody>
      </p:sp>
      <p:sp>
        <p:nvSpPr>
          <p:cNvPr id="212" name="Rectangle 211">
            <a:extLst>
              <a:ext uri="{FF2B5EF4-FFF2-40B4-BE49-F238E27FC236}">
                <a16:creationId xmlns:a16="http://schemas.microsoft.com/office/drawing/2014/main" id="{7D674BC6-76DD-BF39-3117-3F9DE8CC7A85}"/>
              </a:ext>
            </a:extLst>
          </p:cNvPr>
          <p:cNvSpPr>
            <a:spLocks noGrp="1"/>
          </p:cNvSpPr>
          <p:nvPr/>
        </p:nvSpPr>
        <p:spPr>
          <a:xfrm>
            <a:off x="7686675" y="5524500"/>
            <a:ext cx="1143000" cy="228600"/>
          </a:xfrm>
          <a:prstGeom prst="rect">
            <a:avLst/>
          </a:prstGeom>
          <a:noFill/>
          <a:ln w="0">
            <a:noFill/>
            <a:prstDash val="solid"/>
          </a:ln>
        </p:spPr>
        <p:txBody>
          <a:bodyPr lIns="0" tIns="0" rIns="0" bIns="0"/>
          <a:lstStyle>
            <a:defPPr>
              <a:defRPr sz="1200" b="0">
                <a:solidFill>
                  <a:srgbClr val="444444"/>
                </a:solidFill>
                <a:latin typeface="Calibri"/>
                <a:ea typeface="Calibri"/>
                <a:cs typeface="Calibri"/>
              </a:defRPr>
            </a:defPPr>
            <a:lvl1pPr>
              <a:defRPr sz="1200" b="0">
                <a:solidFill>
                  <a:srgbClr val="444444"/>
                </a:solidFill>
                <a:latin typeface="Calibri"/>
                <a:ea typeface="Calibri"/>
                <a:cs typeface="Calibri"/>
              </a:defRPr>
            </a:lvl1pPr>
            <a:lvl2pPr>
              <a:defRPr sz="1200" b="0">
                <a:solidFill>
                  <a:srgbClr val="444444"/>
                </a:solidFill>
                <a:latin typeface="Calibri"/>
                <a:ea typeface="Calibri"/>
                <a:cs typeface="Calibri"/>
              </a:defRPr>
            </a:lvl2pPr>
            <a:lvl3pPr>
              <a:defRPr sz="1200" b="0">
                <a:solidFill>
                  <a:srgbClr val="444444"/>
                </a:solidFill>
                <a:latin typeface="Calibri"/>
                <a:ea typeface="Calibri"/>
                <a:cs typeface="Calibri"/>
              </a:defRPr>
            </a:lvl3pPr>
            <a:lvl4pPr>
              <a:defRPr sz="1200" b="0">
                <a:solidFill>
                  <a:srgbClr val="444444"/>
                </a:solidFill>
                <a:latin typeface="Calibri"/>
                <a:ea typeface="Calibri"/>
                <a:cs typeface="Calibri"/>
              </a:defRPr>
            </a:lvl4pPr>
            <a:lvl5pPr>
              <a:defRPr sz="1200" b="0">
                <a:solidFill>
                  <a:srgbClr val="444444"/>
                </a:solidFill>
                <a:latin typeface="Calibri"/>
                <a:ea typeface="Calibri"/>
                <a:cs typeface="Calibri"/>
              </a:defRPr>
            </a:lvl5pPr>
            <a:lvl6pPr>
              <a:defRPr sz="1200" b="0">
                <a:solidFill>
                  <a:srgbClr val="444444"/>
                </a:solidFill>
                <a:latin typeface="Calibri"/>
                <a:ea typeface="Calibri"/>
                <a:cs typeface="Calibri"/>
              </a:defRPr>
            </a:lvl6pPr>
            <a:lvl7pPr>
              <a:defRPr sz="1200" b="0">
                <a:solidFill>
                  <a:srgbClr val="444444"/>
                </a:solidFill>
                <a:latin typeface="Calibri"/>
                <a:ea typeface="Calibri"/>
                <a:cs typeface="Calibri"/>
              </a:defRPr>
            </a:lvl7pPr>
            <a:lvl8pPr>
              <a:defRPr sz="1200" b="0">
                <a:solidFill>
                  <a:srgbClr val="444444"/>
                </a:solidFill>
                <a:latin typeface="Calibri"/>
                <a:ea typeface="Calibri"/>
                <a:cs typeface="Calibri"/>
              </a:defRPr>
            </a:lvl8pPr>
            <a:lvl9pPr>
              <a:defRPr sz="1200" b="0">
                <a:solidFill>
                  <a:srgbClr val="444444"/>
                </a:solidFill>
                <a:latin typeface="Calibri"/>
                <a:ea typeface="Calibri"/>
                <a:cs typeface="Calibri"/>
              </a:defRPr>
            </a:lvl9pPr>
          </a:lstStyle>
          <a:p>
            <a:pPr algn="ctr">
              <a:defRPr sz="1200" b="0">
                <a:solidFill>
                  <a:srgbClr val="444444"/>
                </a:solidFill>
                <a:latin typeface="Calibri"/>
                <a:ea typeface="Calibri"/>
                <a:cs typeface="Calibri"/>
              </a:defRPr>
            </a:pPr>
            <a:r>
              <a:rPr sz="1200">
                <a:solidFill>
                  <a:srgbClr val="444444"/>
                </a:solidFill>
                <a:latin typeface="Calibri" panose="020F0502020204030204" pitchFamily="34" charset="0"/>
                <a:ea typeface="Calibri"/>
                <a:cs typeface="Calibri"/>
              </a:rPr>
              <a:t>(70 km)</a:t>
            </a:r>
          </a:p>
        </p:txBody>
      </p:sp>
      <p:sp>
        <p:nvSpPr>
          <p:cNvPr id="213" name="Rectangle 212">
            <a:extLst>
              <a:ext uri="{FF2B5EF4-FFF2-40B4-BE49-F238E27FC236}">
                <a16:creationId xmlns:a16="http://schemas.microsoft.com/office/drawing/2014/main" id="{28B4E452-8320-36D4-9BC3-F9789B9382DC}"/>
              </a:ext>
            </a:extLst>
          </p:cNvPr>
          <p:cNvSpPr>
            <a:spLocks noGrp="1"/>
          </p:cNvSpPr>
          <p:nvPr/>
        </p:nvSpPr>
        <p:spPr>
          <a:xfrm>
            <a:off x="8877300" y="4762500"/>
            <a:ext cx="1028700" cy="466725"/>
          </a:xfrm>
          <a:prstGeom prst="rect">
            <a:avLst/>
          </a:prstGeom>
          <a:noFill/>
          <a:ln w="0">
            <a:noFill/>
            <a:prstDash val="solid"/>
          </a:ln>
        </p:spPr>
        <p:txBody>
          <a:bodyPr lIns="0" tIns="0" rIns="0" bIns="0"/>
          <a:lstStyle>
            <a:defPPr>
              <a:defRPr sz="1275" b="0">
                <a:solidFill>
                  <a:srgbClr val="000000"/>
                </a:solidFill>
                <a:latin typeface="Calibri"/>
                <a:ea typeface="Calibri"/>
                <a:cs typeface="Calibri"/>
              </a:defRPr>
            </a:defPPr>
            <a:lvl1pPr>
              <a:defRPr sz="1275" b="0">
                <a:solidFill>
                  <a:srgbClr val="000000"/>
                </a:solidFill>
                <a:latin typeface="Calibri"/>
                <a:ea typeface="Calibri"/>
                <a:cs typeface="Calibri"/>
              </a:defRPr>
            </a:lvl1pPr>
            <a:lvl2pPr>
              <a:defRPr sz="1275" b="0">
                <a:solidFill>
                  <a:srgbClr val="000000"/>
                </a:solidFill>
                <a:latin typeface="Calibri"/>
                <a:ea typeface="Calibri"/>
                <a:cs typeface="Calibri"/>
              </a:defRPr>
            </a:lvl2pPr>
            <a:lvl3pPr>
              <a:defRPr sz="1275" b="0">
                <a:solidFill>
                  <a:srgbClr val="000000"/>
                </a:solidFill>
                <a:latin typeface="Calibri"/>
                <a:ea typeface="Calibri"/>
                <a:cs typeface="Calibri"/>
              </a:defRPr>
            </a:lvl3pPr>
            <a:lvl4pPr>
              <a:defRPr sz="1275" b="0">
                <a:solidFill>
                  <a:srgbClr val="000000"/>
                </a:solidFill>
                <a:latin typeface="Calibri"/>
                <a:ea typeface="Calibri"/>
                <a:cs typeface="Calibri"/>
              </a:defRPr>
            </a:lvl4pPr>
            <a:lvl5pPr>
              <a:defRPr sz="1275" b="0">
                <a:solidFill>
                  <a:srgbClr val="000000"/>
                </a:solidFill>
                <a:latin typeface="Calibri"/>
                <a:ea typeface="Calibri"/>
                <a:cs typeface="Calibri"/>
              </a:defRPr>
            </a:lvl5pPr>
            <a:lvl6pPr>
              <a:defRPr sz="1275" b="0">
                <a:solidFill>
                  <a:srgbClr val="000000"/>
                </a:solidFill>
                <a:latin typeface="Calibri"/>
                <a:ea typeface="Calibri"/>
                <a:cs typeface="Calibri"/>
              </a:defRPr>
            </a:lvl6pPr>
            <a:lvl7pPr>
              <a:defRPr sz="1275" b="0">
                <a:solidFill>
                  <a:srgbClr val="000000"/>
                </a:solidFill>
                <a:latin typeface="Calibri"/>
                <a:ea typeface="Calibri"/>
                <a:cs typeface="Calibri"/>
              </a:defRPr>
            </a:lvl7pPr>
            <a:lvl8pPr>
              <a:defRPr sz="1275" b="0">
                <a:solidFill>
                  <a:srgbClr val="000000"/>
                </a:solidFill>
                <a:latin typeface="Calibri"/>
                <a:ea typeface="Calibri"/>
                <a:cs typeface="Calibri"/>
              </a:defRPr>
            </a:lvl8pPr>
            <a:lvl9pPr>
              <a:defRPr sz="1275" b="0">
                <a:solidFill>
                  <a:srgbClr val="000000"/>
                </a:solidFill>
                <a:latin typeface="Calibri"/>
                <a:ea typeface="Calibri"/>
                <a:cs typeface="Calibri"/>
              </a:defRPr>
            </a:lvl9pPr>
          </a:lstStyle>
          <a:p>
            <a:pPr>
              <a:defRPr sz="1275" b="0">
                <a:solidFill>
                  <a:srgbClr val="000000"/>
                </a:solidFill>
                <a:latin typeface="Calibri"/>
                <a:ea typeface="Calibri"/>
                <a:cs typeface="Calibri"/>
              </a:defRPr>
            </a:pPr>
            <a:r>
              <a:rPr sz="1275" b="1">
                <a:solidFill>
                  <a:srgbClr val="000000"/>
                </a:solidFill>
                <a:latin typeface="Calibri" panose="020F0502020204030204" pitchFamily="34" charset="0"/>
                <a:ea typeface="Calibri"/>
                <a:cs typeface="Calibri"/>
              </a:rPr>
              <a:t>Wingborne</a:t>
            </a:r>
          </a:p>
          <a:p>
            <a:pPr>
              <a:defRPr sz="1275" b="0">
                <a:solidFill>
                  <a:srgbClr val="000000"/>
                </a:solidFill>
                <a:latin typeface="Calibri"/>
                <a:ea typeface="Calibri"/>
                <a:cs typeface="Calibri"/>
              </a:defRPr>
            </a:pPr>
            <a:r>
              <a:rPr sz="1275" b="1">
                <a:solidFill>
                  <a:srgbClr val="000000"/>
                </a:solidFill>
                <a:latin typeface="Calibri" panose="020F0502020204030204" pitchFamily="34" charset="0"/>
                <a:ea typeface="Calibri"/>
                <a:cs typeface="Calibri"/>
              </a:rPr>
              <a:t>descent</a:t>
            </a:r>
          </a:p>
        </p:txBody>
      </p:sp>
      <p:sp>
        <p:nvSpPr>
          <p:cNvPr id="214" name="Rectangle 213">
            <a:extLst>
              <a:ext uri="{FF2B5EF4-FFF2-40B4-BE49-F238E27FC236}">
                <a16:creationId xmlns:a16="http://schemas.microsoft.com/office/drawing/2014/main" id="{4392D15D-FB7E-4617-0A08-3D7659256815}"/>
              </a:ext>
            </a:extLst>
          </p:cNvPr>
          <p:cNvSpPr>
            <a:spLocks noGrp="1"/>
          </p:cNvSpPr>
          <p:nvPr/>
        </p:nvSpPr>
        <p:spPr>
          <a:xfrm>
            <a:off x="8877300" y="5267325"/>
            <a:ext cx="1028700" cy="238125"/>
          </a:xfrm>
          <a:prstGeom prst="rect">
            <a:avLst/>
          </a:prstGeom>
          <a:noFill/>
          <a:ln w="0">
            <a:noFill/>
            <a:prstDash val="solid"/>
          </a:ln>
        </p:spPr>
        <p:txBody>
          <a:bodyPr lIns="0" tIns="0" rIns="0" bIns="0"/>
          <a:lstStyle>
            <a:defPPr>
              <a:defRPr sz="1275" b="1">
                <a:solidFill>
                  <a:srgbClr val="000000"/>
                </a:solidFill>
                <a:latin typeface="Calibri"/>
                <a:ea typeface="Calibri"/>
                <a:cs typeface="Calibri"/>
              </a:defRPr>
            </a:defPPr>
            <a:lvl1pPr>
              <a:defRPr sz="1275" b="1">
                <a:solidFill>
                  <a:srgbClr val="000000"/>
                </a:solidFill>
                <a:latin typeface="Calibri"/>
                <a:ea typeface="Calibri"/>
                <a:cs typeface="Calibri"/>
              </a:defRPr>
            </a:lvl1pPr>
            <a:lvl2pPr>
              <a:defRPr sz="1275" b="1">
                <a:solidFill>
                  <a:srgbClr val="000000"/>
                </a:solidFill>
                <a:latin typeface="Calibri"/>
                <a:ea typeface="Calibri"/>
                <a:cs typeface="Calibri"/>
              </a:defRPr>
            </a:lvl2pPr>
            <a:lvl3pPr>
              <a:defRPr sz="1275" b="1">
                <a:solidFill>
                  <a:srgbClr val="000000"/>
                </a:solidFill>
                <a:latin typeface="Calibri"/>
                <a:ea typeface="Calibri"/>
                <a:cs typeface="Calibri"/>
              </a:defRPr>
            </a:lvl3pPr>
            <a:lvl4pPr>
              <a:defRPr sz="1275" b="1">
                <a:solidFill>
                  <a:srgbClr val="000000"/>
                </a:solidFill>
                <a:latin typeface="Calibri"/>
                <a:ea typeface="Calibri"/>
                <a:cs typeface="Calibri"/>
              </a:defRPr>
            </a:lvl4pPr>
            <a:lvl5pPr>
              <a:defRPr sz="1275" b="1">
                <a:solidFill>
                  <a:srgbClr val="000000"/>
                </a:solidFill>
                <a:latin typeface="Calibri"/>
                <a:ea typeface="Calibri"/>
                <a:cs typeface="Calibri"/>
              </a:defRPr>
            </a:lvl5pPr>
            <a:lvl6pPr>
              <a:defRPr sz="1275" b="1">
                <a:solidFill>
                  <a:srgbClr val="000000"/>
                </a:solidFill>
                <a:latin typeface="Calibri"/>
                <a:ea typeface="Calibri"/>
                <a:cs typeface="Calibri"/>
              </a:defRPr>
            </a:lvl6pPr>
            <a:lvl7pPr>
              <a:defRPr sz="1275" b="1">
                <a:solidFill>
                  <a:srgbClr val="000000"/>
                </a:solidFill>
                <a:latin typeface="Calibri"/>
                <a:ea typeface="Calibri"/>
                <a:cs typeface="Calibri"/>
              </a:defRPr>
            </a:lvl7pPr>
            <a:lvl8pPr>
              <a:defRPr sz="1275" b="1">
                <a:solidFill>
                  <a:srgbClr val="000000"/>
                </a:solidFill>
                <a:latin typeface="Calibri"/>
                <a:ea typeface="Calibri"/>
                <a:cs typeface="Calibri"/>
              </a:defRPr>
            </a:lvl8pPr>
            <a:lvl9pPr>
              <a:defRPr sz="1275" b="1">
                <a:solidFill>
                  <a:srgbClr val="000000"/>
                </a:solidFill>
                <a:latin typeface="Calibri"/>
                <a:ea typeface="Calibri"/>
                <a:cs typeface="Calibri"/>
              </a:defRPr>
            </a:lvl9pPr>
          </a:lstStyle>
          <a:p>
            <a:pPr>
              <a:defRPr sz="1275" b="1">
                <a:solidFill>
                  <a:srgbClr val="000000"/>
                </a:solidFill>
                <a:latin typeface="Calibri"/>
                <a:ea typeface="Calibri"/>
                <a:cs typeface="Calibri"/>
              </a:defRPr>
            </a:pPr>
            <a:r>
              <a:rPr sz="1275" b="0">
                <a:solidFill>
                  <a:srgbClr val="000000"/>
                </a:solidFill>
                <a:latin typeface="Calibri" panose="020F0502020204030204" pitchFamily="34" charset="0"/>
                <a:ea typeface="Calibri"/>
                <a:cs typeface="Calibri"/>
              </a:rPr>
              <a:t>24.6 min</a:t>
            </a:r>
          </a:p>
        </p:txBody>
      </p:sp>
      <p:sp>
        <p:nvSpPr>
          <p:cNvPr id="215" name="Rectangle 214">
            <a:extLst>
              <a:ext uri="{FF2B5EF4-FFF2-40B4-BE49-F238E27FC236}">
                <a16:creationId xmlns:a16="http://schemas.microsoft.com/office/drawing/2014/main" id="{2E70AD4A-A4B2-2F01-42ED-D02FB4EEAB58}"/>
              </a:ext>
            </a:extLst>
          </p:cNvPr>
          <p:cNvSpPr>
            <a:spLocks noGrp="1"/>
          </p:cNvSpPr>
          <p:nvPr/>
        </p:nvSpPr>
        <p:spPr>
          <a:xfrm>
            <a:off x="9953625" y="4762500"/>
            <a:ext cx="952500" cy="466725"/>
          </a:xfrm>
          <a:prstGeom prst="rect">
            <a:avLst/>
          </a:prstGeom>
          <a:noFill/>
          <a:ln w="0">
            <a:noFill/>
            <a:prstDash val="solid"/>
          </a:ln>
        </p:spPr>
        <p:txBody>
          <a:bodyPr lIns="0" tIns="0" rIns="0" bIns="0"/>
          <a:lstStyle>
            <a:defPPr>
              <a:defRPr sz="1275" b="0">
                <a:solidFill>
                  <a:srgbClr val="000000"/>
                </a:solidFill>
                <a:latin typeface="Calibri"/>
                <a:ea typeface="Calibri"/>
                <a:cs typeface="Calibri"/>
              </a:defRPr>
            </a:defPPr>
            <a:lvl1pPr>
              <a:defRPr sz="1275" b="0">
                <a:solidFill>
                  <a:srgbClr val="000000"/>
                </a:solidFill>
                <a:latin typeface="Calibri"/>
                <a:ea typeface="Calibri"/>
                <a:cs typeface="Calibri"/>
              </a:defRPr>
            </a:lvl1pPr>
            <a:lvl2pPr>
              <a:defRPr sz="1275" b="0">
                <a:solidFill>
                  <a:srgbClr val="000000"/>
                </a:solidFill>
                <a:latin typeface="Calibri"/>
                <a:ea typeface="Calibri"/>
                <a:cs typeface="Calibri"/>
              </a:defRPr>
            </a:lvl2pPr>
            <a:lvl3pPr>
              <a:defRPr sz="1275" b="0">
                <a:solidFill>
                  <a:srgbClr val="000000"/>
                </a:solidFill>
                <a:latin typeface="Calibri"/>
                <a:ea typeface="Calibri"/>
                <a:cs typeface="Calibri"/>
              </a:defRPr>
            </a:lvl3pPr>
            <a:lvl4pPr>
              <a:defRPr sz="1275" b="0">
                <a:solidFill>
                  <a:srgbClr val="000000"/>
                </a:solidFill>
                <a:latin typeface="Calibri"/>
                <a:ea typeface="Calibri"/>
                <a:cs typeface="Calibri"/>
              </a:defRPr>
            </a:lvl4pPr>
            <a:lvl5pPr>
              <a:defRPr sz="1275" b="0">
                <a:solidFill>
                  <a:srgbClr val="000000"/>
                </a:solidFill>
                <a:latin typeface="Calibri"/>
                <a:ea typeface="Calibri"/>
                <a:cs typeface="Calibri"/>
              </a:defRPr>
            </a:lvl5pPr>
            <a:lvl6pPr>
              <a:defRPr sz="1275" b="0">
                <a:solidFill>
                  <a:srgbClr val="000000"/>
                </a:solidFill>
                <a:latin typeface="Calibri"/>
                <a:ea typeface="Calibri"/>
                <a:cs typeface="Calibri"/>
              </a:defRPr>
            </a:lvl6pPr>
            <a:lvl7pPr>
              <a:defRPr sz="1275" b="0">
                <a:solidFill>
                  <a:srgbClr val="000000"/>
                </a:solidFill>
                <a:latin typeface="Calibri"/>
                <a:ea typeface="Calibri"/>
                <a:cs typeface="Calibri"/>
              </a:defRPr>
            </a:lvl7pPr>
            <a:lvl8pPr>
              <a:defRPr sz="1275" b="0">
                <a:solidFill>
                  <a:srgbClr val="000000"/>
                </a:solidFill>
                <a:latin typeface="Calibri"/>
                <a:ea typeface="Calibri"/>
                <a:cs typeface="Calibri"/>
              </a:defRPr>
            </a:lvl8pPr>
            <a:lvl9pPr>
              <a:defRPr sz="1275" b="0">
                <a:solidFill>
                  <a:srgbClr val="000000"/>
                </a:solidFill>
                <a:latin typeface="Calibri"/>
                <a:ea typeface="Calibri"/>
                <a:cs typeface="Calibri"/>
              </a:defRPr>
            </a:lvl9pPr>
          </a:lstStyle>
          <a:p>
            <a:pPr>
              <a:defRPr sz="1275" b="0">
                <a:solidFill>
                  <a:srgbClr val="000000"/>
                </a:solidFill>
                <a:latin typeface="Calibri"/>
                <a:ea typeface="Calibri"/>
                <a:cs typeface="Calibri"/>
              </a:defRPr>
            </a:pPr>
            <a:r>
              <a:rPr sz="1275" b="1">
                <a:solidFill>
                  <a:srgbClr val="000000"/>
                </a:solidFill>
                <a:latin typeface="Calibri" panose="020F0502020204030204" pitchFamily="34" charset="0"/>
                <a:ea typeface="Calibri"/>
                <a:cs typeface="Calibri"/>
              </a:rPr>
              <a:t>Transition</a:t>
            </a:r>
          </a:p>
        </p:txBody>
      </p:sp>
      <p:sp>
        <p:nvSpPr>
          <p:cNvPr id="216" name="Rectangle 215">
            <a:extLst>
              <a:ext uri="{FF2B5EF4-FFF2-40B4-BE49-F238E27FC236}">
                <a16:creationId xmlns:a16="http://schemas.microsoft.com/office/drawing/2014/main" id="{438F7DB0-2E5A-A077-6C22-819374EB46FB}"/>
              </a:ext>
            </a:extLst>
          </p:cNvPr>
          <p:cNvSpPr>
            <a:spLocks noGrp="1"/>
          </p:cNvSpPr>
          <p:nvPr/>
        </p:nvSpPr>
        <p:spPr>
          <a:xfrm>
            <a:off x="9953625" y="5267325"/>
            <a:ext cx="952500" cy="238125"/>
          </a:xfrm>
          <a:prstGeom prst="rect">
            <a:avLst/>
          </a:prstGeom>
          <a:noFill/>
          <a:ln w="0">
            <a:noFill/>
            <a:prstDash val="solid"/>
          </a:ln>
        </p:spPr>
        <p:txBody>
          <a:bodyPr lIns="0" tIns="0" rIns="0" bIns="0"/>
          <a:lstStyle>
            <a:defPPr>
              <a:defRPr sz="1275" b="1">
                <a:solidFill>
                  <a:srgbClr val="000000"/>
                </a:solidFill>
                <a:latin typeface="Calibri"/>
                <a:ea typeface="Calibri"/>
                <a:cs typeface="Calibri"/>
              </a:defRPr>
            </a:defPPr>
            <a:lvl1pPr>
              <a:defRPr sz="1275" b="1">
                <a:solidFill>
                  <a:srgbClr val="000000"/>
                </a:solidFill>
                <a:latin typeface="Calibri"/>
                <a:ea typeface="Calibri"/>
                <a:cs typeface="Calibri"/>
              </a:defRPr>
            </a:lvl1pPr>
            <a:lvl2pPr>
              <a:defRPr sz="1275" b="1">
                <a:solidFill>
                  <a:srgbClr val="000000"/>
                </a:solidFill>
                <a:latin typeface="Calibri"/>
                <a:ea typeface="Calibri"/>
                <a:cs typeface="Calibri"/>
              </a:defRPr>
            </a:lvl2pPr>
            <a:lvl3pPr>
              <a:defRPr sz="1275" b="1">
                <a:solidFill>
                  <a:srgbClr val="000000"/>
                </a:solidFill>
                <a:latin typeface="Calibri"/>
                <a:ea typeface="Calibri"/>
                <a:cs typeface="Calibri"/>
              </a:defRPr>
            </a:lvl3pPr>
            <a:lvl4pPr>
              <a:defRPr sz="1275" b="1">
                <a:solidFill>
                  <a:srgbClr val="000000"/>
                </a:solidFill>
                <a:latin typeface="Calibri"/>
                <a:ea typeface="Calibri"/>
                <a:cs typeface="Calibri"/>
              </a:defRPr>
            </a:lvl4pPr>
            <a:lvl5pPr>
              <a:defRPr sz="1275" b="1">
                <a:solidFill>
                  <a:srgbClr val="000000"/>
                </a:solidFill>
                <a:latin typeface="Calibri"/>
                <a:ea typeface="Calibri"/>
                <a:cs typeface="Calibri"/>
              </a:defRPr>
            </a:lvl5pPr>
            <a:lvl6pPr>
              <a:defRPr sz="1275" b="1">
                <a:solidFill>
                  <a:srgbClr val="000000"/>
                </a:solidFill>
                <a:latin typeface="Calibri"/>
                <a:ea typeface="Calibri"/>
                <a:cs typeface="Calibri"/>
              </a:defRPr>
            </a:lvl6pPr>
            <a:lvl7pPr>
              <a:defRPr sz="1275" b="1">
                <a:solidFill>
                  <a:srgbClr val="000000"/>
                </a:solidFill>
                <a:latin typeface="Calibri"/>
                <a:ea typeface="Calibri"/>
                <a:cs typeface="Calibri"/>
              </a:defRPr>
            </a:lvl7pPr>
            <a:lvl8pPr>
              <a:defRPr sz="1275" b="1">
                <a:solidFill>
                  <a:srgbClr val="000000"/>
                </a:solidFill>
                <a:latin typeface="Calibri"/>
                <a:ea typeface="Calibri"/>
                <a:cs typeface="Calibri"/>
              </a:defRPr>
            </a:lvl8pPr>
            <a:lvl9pPr>
              <a:defRPr sz="1275" b="1">
                <a:solidFill>
                  <a:srgbClr val="000000"/>
                </a:solidFill>
                <a:latin typeface="Calibri"/>
                <a:ea typeface="Calibri"/>
                <a:cs typeface="Calibri"/>
              </a:defRPr>
            </a:lvl9pPr>
          </a:lstStyle>
          <a:p>
            <a:pPr>
              <a:defRPr sz="1275" b="1">
                <a:solidFill>
                  <a:srgbClr val="000000"/>
                </a:solidFill>
                <a:latin typeface="Calibri"/>
                <a:ea typeface="Calibri"/>
                <a:cs typeface="Calibri"/>
              </a:defRPr>
            </a:pPr>
            <a:r>
              <a:rPr sz="1275" b="0" dirty="0">
                <a:solidFill>
                  <a:srgbClr val="000000"/>
                </a:solidFill>
                <a:latin typeface="Calibri" panose="020F0502020204030204" pitchFamily="34" charset="0"/>
                <a:ea typeface="Calibri"/>
                <a:cs typeface="Calibri"/>
              </a:rPr>
              <a:t>80 s</a:t>
            </a:r>
            <a:r>
              <a:rPr lang="en-US" sz="1275" b="0" dirty="0">
                <a:solidFill>
                  <a:srgbClr val="000000"/>
                </a:solidFill>
                <a:latin typeface="Calibri" panose="020F0502020204030204" pitchFamily="34" charset="0"/>
                <a:ea typeface="Calibri"/>
                <a:cs typeface="Calibri"/>
              </a:rPr>
              <a:t>ec</a:t>
            </a:r>
            <a:endParaRPr sz="1275" b="0" dirty="0">
              <a:solidFill>
                <a:srgbClr val="000000"/>
              </a:solidFill>
              <a:latin typeface="Calibri" panose="020F0502020204030204" pitchFamily="34" charset="0"/>
              <a:ea typeface="Calibri"/>
              <a:cs typeface="Calibri"/>
            </a:endParaRPr>
          </a:p>
        </p:txBody>
      </p:sp>
      <p:sp>
        <p:nvSpPr>
          <p:cNvPr id="217" name="Rectangle 216">
            <a:extLst>
              <a:ext uri="{FF2B5EF4-FFF2-40B4-BE49-F238E27FC236}">
                <a16:creationId xmlns:a16="http://schemas.microsoft.com/office/drawing/2014/main" id="{C4B59045-183C-CA4E-2D49-E9C2D18C7B86}"/>
              </a:ext>
            </a:extLst>
          </p:cNvPr>
          <p:cNvSpPr>
            <a:spLocks noGrp="1"/>
          </p:cNvSpPr>
          <p:nvPr/>
        </p:nvSpPr>
        <p:spPr>
          <a:xfrm>
            <a:off x="10953750" y="4762500"/>
            <a:ext cx="809625" cy="466725"/>
          </a:xfrm>
          <a:prstGeom prst="rect">
            <a:avLst/>
          </a:prstGeom>
          <a:noFill/>
          <a:ln w="0">
            <a:noFill/>
            <a:prstDash val="solid"/>
          </a:ln>
        </p:spPr>
        <p:txBody>
          <a:bodyPr lIns="0" tIns="0" rIns="0" bIns="0"/>
          <a:lstStyle>
            <a:defPPr>
              <a:defRPr sz="1275" b="0">
                <a:solidFill>
                  <a:srgbClr val="000000"/>
                </a:solidFill>
                <a:latin typeface="Calibri"/>
                <a:ea typeface="Calibri"/>
                <a:cs typeface="Calibri"/>
              </a:defRPr>
            </a:defPPr>
            <a:lvl1pPr>
              <a:defRPr sz="1275" b="0">
                <a:solidFill>
                  <a:srgbClr val="000000"/>
                </a:solidFill>
                <a:latin typeface="Calibri"/>
                <a:ea typeface="Calibri"/>
                <a:cs typeface="Calibri"/>
              </a:defRPr>
            </a:lvl1pPr>
            <a:lvl2pPr>
              <a:defRPr sz="1275" b="0">
                <a:solidFill>
                  <a:srgbClr val="000000"/>
                </a:solidFill>
                <a:latin typeface="Calibri"/>
                <a:ea typeface="Calibri"/>
                <a:cs typeface="Calibri"/>
              </a:defRPr>
            </a:lvl2pPr>
            <a:lvl3pPr>
              <a:defRPr sz="1275" b="0">
                <a:solidFill>
                  <a:srgbClr val="000000"/>
                </a:solidFill>
                <a:latin typeface="Calibri"/>
                <a:ea typeface="Calibri"/>
                <a:cs typeface="Calibri"/>
              </a:defRPr>
            </a:lvl3pPr>
            <a:lvl4pPr>
              <a:defRPr sz="1275" b="0">
                <a:solidFill>
                  <a:srgbClr val="000000"/>
                </a:solidFill>
                <a:latin typeface="Calibri"/>
                <a:ea typeface="Calibri"/>
                <a:cs typeface="Calibri"/>
              </a:defRPr>
            </a:lvl4pPr>
            <a:lvl5pPr>
              <a:defRPr sz="1275" b="0">
                <a:solidFill>
                  <a:srgbClr val="000000"/>
                </a:solidFill>
                <a:latin typeface="Calibri"/>
                <a:ea typeface="Calibri"/>
                <a:cs typeface="Calibri"/>
              </a:defRPr>
            </a:lvl5pPr>
            <a:lvl6pPr>
              <a:defRPr sz="1275" b="0">
                <a:solidFill>
                  <a:srgbClr val="000000"/>
                </a:solidFill>
                <a:latin typeface="Calibri"/>
                <a:ea typeface="Calibri"/>
                <a:cs typeface="Calibri"/>
              </a:defRPr>
            </a:lvl6pPr>
            <a:lvl7pPr>
              <a:defRPr sz="1275" b="0">
                <a:solidFill>
                  <a:srgbClr val="000000"/>
                </a:solidFill>
                <a:latin typeface="Calibri"/>
                <a:ea typeface="Calibri"/>
                <a:cs typeface="Calibri"/>
              </a:defRPr>
            </a:lvl7pPr>
            <a:lvl8pPr>
              <a:defRPr sz="1275" b="0">
                <a:solidFill>
                  <a:srgbClr val="000000"/>
                </a:solidFill>
                <a:latin typeface="Calibri"/>
                <a:ea typeface="Calibri"/>
                <a:cs typeface="Calibri"/>
              </a:defRPr>
            </a:lvl8pPr>
            <a:lvl9pPr>
              <a:defRPr sz="1275" b="0">
                <a:solidFill>
                  <a:srgbClr val="000000"/>
                </a:solidFill>
                <a:latin typeface="Calibri"/>
                <a:ea typeface="Calibri"/>
                <a:cs typeface="Calibri"/>
              </a:defRPr>
            </a:lvl9pPr>
          </a:lstStyle>
          <a:p>
            <a:pPr>
              <a:defRPr sz="1275" b="0">
                <a:solidFill>
                  <a:srgbClr val="000000"/>
                </a:solidFill>
                <a:latin typeface="Calibri"/>
                <a:ea typeface="Calibri"/>
                <a:cs typeface="Calibri"/>
              </a:defRPr>
            </a:pPr>
            <a:r>
              <a:rPr sz="1275" b="1">
                <a:solidFill>
                  <a:srgbClr val="000000"/>
                </a:solidFill>
                <a:latin typeface="Calibri" panose="020F0502020204030204" pitchFamily="34" charset="0"/>
                <a:ea typeface="Calibri"/>
                <a:cs typeface="Calibri"/>
              </a:rPr>
              <a:t>Vertical</a:t>
            </a:r>
          </a:p>
          <a:p>
            <a:pPr>
              <a:defRPr sz="1275" b="0">
                <a:solidFill>
                  <a:srgbClr val="000000"/>
                </a:solidFill>
                <a:latin typeface="Calibri"/>
                <a:ea typeface="Calibri"/>
                <a:cs typeface="Calibri"/>
              </a:defRPr>
            </a:pPr>
            <a:r>
              <a:rPr sz="1275" b="1">
                <a:solidFill>
                  <a:srgbClr val="000000"/>
                </a:solidFill>
                <a:latin typeface="Calibri" panose="020F0502020204030204" pitchFamily="34" charset="0"/>
                <a:ea typeface="Calibri"/>
                <a:cs typeface="Calibri"/>
              </a:rPr>
              <a:t>descent</a:t>
            </a:r>
          </a:p>
        </p:txBody>
      </p:sp>
      <p:sp>
        <p:nvSpPr>
          <p:cNvPr id="218" name="Rectangle 217">
            <a:extLst>
              <a:ext uri="{FF2B5EF4-FFF2-40B4-BE49-F238E27FC236}">
                <a16:creationId xmlns:a16="http://schemas.microsoft.com/office/drawing/2014/main" id="{72893B4A-9602-0DF5-460E-9A93D2A128C0}"/>
              </a:ext>
            </a:extLst>
          </p:cNvPr>
          <p:cNvSpPr>
            <a:spLocks noGrp="1"/>
          </p:cNvSpPr>
          <p:nvPr/>
        </p:nvSpPr>
        <p:spPr>
          <a:xfrm>
            <a:off x="10953750" y="5267325"/>
            <a:ext cx="809625" cy="238125"/>
          </a:xfrm>
          <a:prstGeom prst="rect">
            <a:avLst/>
          </a:prstGeom>
          <a:noFill/>
          <a:ln w="0">
            <a:noFill/>
            <a:prstDash val="solid"/>
          </a:ln>
        </p:spPr>
        <p:txBody>
          <a:bodyPr lIns="0" tIns="0" rIns="0" bIns="0"/>
          <a:lstStyle>
            <a:defPPr>
              <a:defRPr sz="1275" b="1">
                <a:solidFill>
                  <a:srgbClr val="000000"/>
                </a:solidFill>
                <a:latin typeface="Calibri"/>
                <a:ea typeface="Calibri"/>
                <a:cs typeface="Calibri"/>
              </a:defRPr>
            </a:defPPr>
            <a:lvl1pPr>
              <a:defRPr sz="1275" b="1">
                <a:solidFill>
                  <a:srgbClr val="000000"/>
                </a:solidFill>
                <a:latin typeface="Calibri"/>
                <a:ea typeface="Calibri"/>
                <a:cs typeface="Calibri"/>
              </a:defRPr>
            </a:lvl1pPr>
            <a:lvl2pPr>
              <a:defRPr sz="1275" b="1">
                <a:solidFill>
                  <a:srgbClr val="000000"/>
                </a:solidFill>
                <a:latin typeface="Calibri"/>
                <a:ea typeface="Calibri"/>
                <a:cs typeface="Calibri"/>
              </a:defRPr>
            </a:lvl2pPr>
            <a:lvl3pPr>
              <a:defRPr sz="1275" b="1">
                <a:solidFill>
                  <a:srgbClr val="000000"/>
                </a:solidFill>
                <a:latin typeface="Calibri"/>
                <a:ea typeface="Calibri"/>
                <a:cs typeface="Calibri"/>
              </a:defRPr>
            </a:lvl3pPr>
            <a:lvl4pPr>
              <a:defRPr sz="1275" b="1">
                <a:solidFill>
                  <a:srgbClr val="000000"/>
                </a:solidFill>
                <a:latin typeface="Calibri"/>
                <a:ea typeface="Calibri"/>
                <a:cs typeface="Calibri"/>
              </a:defRPr>
            </a:lvl4pPr>
            <a:lvl5pPr>
              <a:defRPr sz="1275" b="1">
                <a:solidFill>
                  <a:srgbClr val="000000"/>
                </a:solidFill>
                <a:latin typeface="Calibri"/>
                <a:ea typeface="Calibri"/>
                <a:cs typeface="Calibri"/>
              </a:defRPr>
            </a:lvl5pPr>
            <a:lvl6pPr>
              <a:defRPr sz="1275" b="1">
                <a:solidFill>
                  <a:srgbClr val="000000"/>
                </a:solidFill>
                <a:latin typeface="Calibri"/>
                <a:ea typeface="Calibri"/>
                <a:cs typeface="Calibri"/>
              </a:defRPr>
            </a:lvl6pPr>
            <a:lvl7pPr>
              <a:defRPr sz="1275" b="1">
                <a:solidFill>
                  <a:srgbClr val="000000"/>
                </a:solidFill>
                <a:latin typeface="Calibri"/>
                <a:ea typeface="Calibri"/>
                <a:cs typeface="Calibri"/>
              </a:defRPr>
            </a:lvl7pPr>
            <a:lvl8pPr>
              <a:defRPr sz="1275" b="1">
                <a:solidFill>
                  <a:srgbClr val="000000"/>
                </a:solidFill>
                <a:latin typeface="Calibri"/>
                <a:ea typeface="Calibri"/>
                <a:cs typeface="Calibri"/>
              </a:defRPr>
            </a:lvl8pPr>
            <a:lvl9pPr>
              <a:defRPr sz="1275" b="1">
                <a:solidFill>
                  <a:srgbClr val="000000"/>
                </a:solidFill>
                <a:latin typeface="Calibri"/>
                <a:ea typeface="Calibri"/>
                <a:cs typeface="Calibri"/>
              </a:defRPr>
            </a:lvl9pPr>
          </a:lstStyle>
          <a:p>
            <a:pPr>
              <a:defRPr sz="1275" b="1">
                <a:solidFill>
                  <a:srgbClr val="000000"/>
                </a:solidFill>
                <a:latin typeface="Calibri"/>
                <a:ea typeface="Calibri"/>
                <a:cs typeface="Calibri"/>
              </a:defRPr>
            </a:pPr>
            <a:r>
              <a:rPr sz="1275" b="0" dirty="0">
                <a:solidFill>
                  <a:srgbClr val="000000"/>
                </a:solidFill>
                <a:latin typeface="Calibri" panose="020F0502020204030204" pitchFamily="34" charset="0"/>
                <a:ea typeface="Calibri"/>
                <a:cs typeface="Calibri"/>
              </a:rPr>
              <a:t>25 s</a:t>
            </a:r>
            <a:r>
              <a:rPr lang="en-US" sz="1275" b="0" dirty="0">
                <a:solidFill>
                  <a:srgbClr val="000000"/>
                </a:solidFill>
                <a:latin typeface="Calibri" panose="020F0502020204030204" pitchFamily="34" charset="0"/>
                <a:ea typeface="Calibri"/>
                <a:cs typeface="Calibri"/>
              </a:rPr>
              <a:t>ec</a:t>
            </a:r>
            <a:endParaRPr sz="1275" b="0" dirty="0">
              <a:solidFill>
                <a:srgbClr val="000000"/>
              </a:solidFill>
              <a:latin typeface="Calibri" panose="020F0502020204030204" pitchFamily="34" charset="0"/>
              <a:ea typeface="Calibri"/>
              <a:cs typeface="Calibri"/>
            </a:endParaRPr>
          </a:p>
        </p:txBody>
      </p:sp>
      <p:sp>
        <p:nvSpPr>
          <p:cNvPr id="219" name="Rectangle 218">
            <a:extLst>
              <a:ext uri="{FF2B5EF4-FFF2-40B4-BE49-F238E27FC236}">
                <a16:creationId xmlns:a16="http://schemas.microsoft.com/office/drawing/2014/main" id="{38086318-6FB0-556F-8EA7-0368C44847D6}"/>
              </a:ext>
            </a:extLst>
          </p:cNvPr>
          <p:cNvSpPr>
            <a:spLocks noGrp="1"/>
          </p:cNvSpPr>
          <p:nvPr/>
        </p:nvSpPr>
        <p:spPr>
          <a:xfrm>
            <a:off x="5391039" y="3348037"/>
            <a:ext cx="2062273" cy="304800"/>
          </a:xfrm>
          <a:prstGeom prst="rect">
            <a:avLst/>
          </a:prstGeom>
          <a:noFill/>
          <a:ln w="0">
            <a:noFill/>
            <a:prstDash val="solid"/>
          </a:ln>
        </p:spPr>
        <p:txBody>
          <a:bodyPr lIns="0" tIns="0" rIns="0" bIns="0"/>
          <a:lstStyle>
            <a:defPPr>
              <a:defRPr sz="1725" b="1">
                <a:solidFill>
                  <a:srgbClr val="000000"/>
                </a:solidFill>
                <a:latin typeface="Calibri"/>
                <a:ea typeface="Calibri"/>
                <a:cs typeface="Calibri"/>
              </a:defRPr>
            </a:defPPr>
            <a:lvl1pPr>
              <a:defRPr sz="1725" b="1">
                <a:solidFill>
                  <a:srgbClr val="000000"/>
                </a:solidFill>
                <a:latin typeface="Calibri"/>
                <a:ea typeface="Calibri"/>
                <a:cs typeface="Calibri"/>
              </a:defRPr>
            </a:lvl1pPr>
            <a:lvl2pPr>
              <a:defRPr sz="1725" b="1">
                <a:solidFill>
                  <a:srgbClr val="000000"/>
                </a:solidFill>
                <a:latin typeface="Calibri"/>
                <a:ea typeface="Calibri"/>
                <a:cs typeface="Calibri"/>
              </a:defRPr>
            </a:lvl2pPr>
            <a:lvl3pPr>
              <a:defRPr sz="1725" b="1">
                <a:solidFill>
                  <a:srgbClr val="000000"/>
                </a:solidFill>
                <a:latin typeface="Calibri"/>
                <a:ea typeface="Calibri"/>
                <a:cs typeface="Calibri"/>
              </a:defRPr>
            </a:lvl3pPr>
            <a:lvl4pPr>
              <a:defRPr sz="1725" b="1">
                <a:solidFill>
                  <a:srgbClr val="000000"/>
                </a:solidFill>
                <a:latin typeface="Calibri"/>
                <a:ea typeface="Calibri"/>
                <a:cs typeface="Calibri"/>
              </a:defRPr>
            </a:lvl4pPr>
            <a:lvl5pPr>
              <a:defRPr sz="1725" b="1">
                <a:solidFill>
                  <a:srgbClr val="000000"/>
                </a:solidFill>
                <a:latin typeface="Calibri"/>
                <a:ea typeface="Calibri"/>
                <a:cs typeface="Calibri"/>
              </a:defRPr>
            </a:lvl5pPr>
            <a:lvl6pPr>
              <a:defRPr sz="1725" b="1">
                <a:solidFill>
                  <a:srgbClr val="000000"/>
                </a:solidFill>
                <a:latin typeface="Calibri"/>
                <a:ea typeface="Calibri"/>
                <a:cs typeface="Calibri"/>
              </a:defRPr>
            </a:lvl6pPr>
            <a:lvl7pPr>
              <a:defRPr sz="1725" b="1">
                <a:solidFill>
                  <a:srgbClr val="000000"/>
                </a:solidFill>
                <a:latin typeface="Calibri"/>
                <a:ea typeface="Calibri"/>
                <a:cs typeface="Calibri"/>
              </a:defRPr>
            </a:lvl7pPr>
            <a:lvl8pPr>
              <a:defRPr sz="1725" b="1">
                <a:solidFill>
                  <a:srgbClr val="000000"/>
                </a:solidFill>
                <a:latin typeface="Calibri"/>
                <a:ea typeface="Calibri"/>
                <a:cs typeface="Calibri"/>
              </a:defRPr>
            </a:lvl8pPr>
            <a:lvl9pPr>
              <a:defRPr sz="1725" b="1">
                <a:solidFill>
                  <a:srgbClr val="000000"/>
                </a:solidFill>
                <a:latin typeface="Calibri"/>
                <a:ea typeface="Calibri"/>
                <a:cs typeface="Calibri"/>
              </a:defRPr>
            </a:lvl9pPr>
          </a:lstStyle>
          <a:p>
            <a:pPr>
              <a:defRPr sz="1725" b="1">
                <a:solidFill>
                  <a:srgbClr val="000000"/>
                </a:solidFill>
                <a:latin typeface="Calibri"/>
                <a:ea typeface="Calibri"/>
                <a:cs typeface="Calibri"/>
              </a:defRPr>
            </a:pPr>
            <a:r>
              <a:rPr sz="1725" b="1" dirty="0">
                <a:solidFill>
                  <a:srgbClr val="000000"/>
                </a:solidFill>
                <a:latin typeface="Calibri" panose="020F0502020204030204" pitchFamily="34" charset="0"/>
                <a:ea typeface="Calibri"/>
                <a:cs typeface="Calibri"/>
              </a:rPr>
              <a:t>140 km/h level flight</a:t>
            </a:r>
          </a:p>
        </p:txBody>
      </p:sp>
      <p:sp>
        <p:nvSpPr>
          <p:cNvPr id="220" name="Rectangle 219">
            <a:extLst>
              <a:ext uri="{FF2B5EF4-FFF2-40B4-BE49-F238E27FC236}">
                <a16:creationId xmlns:a16="http://schemas.microsoft.com/office/drawing/2014/main" id="{2E4DFE3B-1B48-4884-19FA-BBBF5E922940}"/>
              </a:ext>
            </a:extLst>
          </p:cNvPr>
          <p:cNvSpPr>
            <a:spLocks noGrp="1"/>
          </p:cNvSpPr>
          <p:nvPr/>
        </p:nvSpPr>
        <p:spPr>
          <a:xfrm>
            <a:off x="476250" y="5953125"/>
            <a:ext cx="11239500" cy="323850"/>
          </a:xfrm>
          <a:prstGeom prst="rect">
            <a:avLst/>
          </a:prstGeom>
          <a:noFill/>
          <a:ln w="0">
            <a:noFill/>
            <a:prstDash val="solid"/>
          </a:ln>
        </p:spPr>
        <p:txBody>
          <a:bodyPr lIns="0" tIns="0" rIns="0" bIns="0"/>
          <a:lstStyle>
            <a:defPPr>
              <a:defRPr sz="1200" b="0">
                <a:solidFill>
                  <a:srgbClr val="444444"/>
                </a:solidFill>
                <a:latin typeface="Calibri"/>
                <a:ea typeface="Calibri"/>
                <a:cs typeface="Calibri"/>
              </a:defRPr>
            </a:defPPr>
            <a:lvl1pPr>
              <a:defRPr sz="1200" b="0">
                <a:solidFill>
                  <a:srgbClr val="444444"/>
                </a:solidFill>
                <a:latin typeface="Calibri"/>
                <a:ea typeface="Calibri"/>
                <a:cs typeface="Calibri"/>
              </a:defRPr>
            </a:lvl1pPr>
            <a:lvl2pPr>
              <a:defRPr sz="1200" b="0">
                <a:solidFill>
                  <a:srgbClr val="444444"/>
                </a:solidFill>
                <a:latin typeface="Calibri"/>
                <a:ea typeface="Calibri"/>
                <a:cs typeface="Calibri"/>
              </a:defRPr>
            </a:lvl2pPr>
            <a:lvl3pPr>
              <a:defRPr sz="1200" b="0">
                <a:solidFill>
                  <a:srgbClr val="444444"/>
                </a:solidFill>
                <a:latin typeface="Calibri"/>
                <a:ea typeface="Calibri"/>
                <a:cs typeface="Calibri"/>
              </a:defRPr>
            </a:lvl3pPr>
            <a:lvl4pPr>
              <a:defRPr sz="1200" b="0">
                <a:solidFill>
                  <a:srgbClr val="444444"/>
                </a:solidFill>
                <a:latin typeface="Calibri"/>
                <a:ea typeface="Calibri"/>
                <a:cs typeface="Calibri"/>
              </a:defRPr>
            </a:lvl4pPr>
            <a:lvl5pPr>
              <a:defRPr sz="1200" b="0">
                <a:solidFill>
                  <a:srgbClr val="444444"/>
                </a:solidFill>
                <a:latin typeface="Calibri"/>
                <a:ea typeface="Calibri"/>
                <a:cs typeface="Calibri"/>
              </a:defRPr>
            </a:lvl5pPr>
            <a:lvl6pPr>
              <a:defRPr sz="1200" b="0">
                <a:solidFill>
                  <a:srgbClr val="444444"/>
                </a:solidFill>
                <a:latin typeface="Calibri"/>
                <a:ea typeface="Calibri"/>
                <a:cs typeface="Calibri"/>
              </a:defRPr>
            </a:lvl6pPr>
            <a:lvl7pPr>
              <a:defRPr sz="1200" b="0">
                <a:solidFill>
                  <a:srgbClr val="444444"/>
                </a:solidFill>
                <a:latin typeface="Calibri"/>
                <a:ea typeface="Calibri"/>
                <a:cs typeface="Calibri"/>
              </a:defRPr>
            </a:lvl7pPr>
            <a:lvl8pPr>
              <a:defRPr sz="1200" b="0">
                <a:solidFill>
                  <a:srgbClr val="444444"/>
                </a:solidFill>
                <a:latin typeface="Calibri"/>
                <a:ea typeface="Calibri"/>
                <a:cs typeface="Calibri"/>
              </a:defRPr>
            </a:lvl8pPr>
            <a:lvl9pPr>
              <a:defRPr sz="1200" b="0">
                <a:solidFill>
                  <a:srgbClr val="444444"/>
                </a:solidFill>
                <a:latin typeface="Calibri"/>
                <a:ea typeface="Calibri"/>
                <a:cs typeface="Calibri"/>
              </a:defRPr>
            </a:lvl9pPr>
          </a:lstStyle>
          <a:p>
            <a:pPr>
              <a:defRPr sz="1200" b="0">
                <a:solidFill>
                  <a:srgbClr val="444444"/>
                </a:solidFill>
                <a:latin typeface="Calibri"/>
                <a:ea typeface="Calibri"/>
                <a:cs typeface="Calibri"/>
              </a:defRPr>
            </a:pPr>
            <a:endParaRPr>
              <a:latin typeface="Calibri" panose="020F0502020204030204" pitchFamily="34" charset="0"/>
            </a:endParaRPr>
          </a:p>
        </p:txBody>
      </p:sp>
      <p:sp>
        <p:nvSpPr>
          <p:cNvPr id="22" name="TextBox 21">
            <a:extLst>
              <a:ext uri="{FF2B5EF4-FFF2-40B4-BE49-F238E27FC236}">
                <a16:creationId xmlns:a16="http://schemas.microsoft.com/office/drawing/2014/main" id="{043C1846-C94B-EABA-85D2-D94880321438}"/>
              </a:ext>
            </a:extLst>
          </p:cNvPr>
          <p:cNvSpPr txBox="1"/>
          <p:nvPr/>
        </p:nvSpPr>
        <p:spPr>
          <a:xfrm>
            <a:off x="11671300" y="6527800"/>
            <a:ext cx="355600" cy="153888"/>
          </a:xfrm>
          <a:prstGeom prst="rect">
            <a:avLst/>
          </a:prstGeom>
          <a:noFill/>
        </p:spPr>
        <p:txBody>
          <a:bodyPr vert="horz" lIns="0" tIns="0" rIns="0" bIns="0" rtlCol="0">
            <a:spAutoFit/>
          </a:bodyPr>
          <a:lstStyle/>
          <a:p>
            <a:r>
              <a:rPr lang="en-US" sz="1000">
                <a:solidFill>
                  <a:srgbClr val="000000"/>
                </a:solidFill>
                <a:latin typeface="Calibri" panose="020F0502020204030204" pitchFamily="34" charset="0"/>
              </a:rPr>
              <a:t>2</a:t>
            </a:r>
          </a:p>
        </p:txBody>
      </p:sp>
    </p:spTree>
    <p:extLst>
      <p:ext uri="{BB962C8B-B14F-4D97-AF65-F5344CB8AC3E}">
        <p14:creationId xmlns:p14="http://schemas.microsoft.com/office/powerpoint/2010/main" val="1595489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8F8E9F0-E366-B28F-1228-80A6C544FE69}"/>
              </a:ext>
            </a:extLst>
          </p:cNvPr>
          <p:cNvSpPr>
            <a:spLocks noGrp="1"/>
          </p:cNvSpPr>
          <p:nvPr/>
        </p:nvSpPr>
        <p:spPr>
          <a:xfrm>
            <a:off x="838200" y="361950"/>
            <a:ext cx="10896600" cy="495300"/>
          </a:xfrm>
          <a:prstGeom prst="rect">
            <a:avLst/>
          </a:prstGeom>
          <a:noFill/>
          <a:ln w="0">
            <a:noFill/>
            <a:prstDash val="solid"/>
          </a:ln>
        </p:spPr>
        <p:txBody>
          <a:bodyPr lIns="0" tIns="0" rIns="0" bIns="0"/>
          <a:lstStyle>
            <a:defPPr>
              <a:defRPr sz="2400" b="1">
                <a:solidFill>
                  <a:srgbClr val="000000"/>
                </a:solidFill>
                <a:latin typeface="Calibri"/>
                <a:ea typeface="Calibri"/>
                <a:cs typeface="Calibri"/>
              </a:defRPr>
            </a:defPPr>
            <a:lvl1pPr>
              <a:defRPr sz="2400" b="1">
                <a:solidFill>
                  <a:srgbClr val="000000"/>
                </a:solidFill>
                <a:latin typeface="Calibri"/>
                <a:ea typeface="Calibri"/>
                <a:cs typeface="Calibri"/>
              </a:defRPr>
            </a:lvl1pPr>
            <a:lvl2pPr>
              <a:defRPr sz="2400" b="1">
                <a:solidFill>
                  <a:srgbClr val="000000"/>
                </a:solidFill>
                <a:latin typeface="Calibri"/>
                <a:ea typeface="Calibri"/>
                <a:cs typeface="Calibri"/>
              </a:defRPr>
            </a:lvl2pPr>
            <a:lvl3pPr>
              <a:defRPr sz="2400" b="1">
                <a:solidFill>
                  <a:srgbClr val="000000"/>
                </a:solidFill>
                <a:latin typeface="Calibri"/>
                <a:ea typeface="Calibri"/>
                <a:cs typeface="Calibri"/>
              </a:defRPr>
            </a:lvl3pPr>
            <a:lvl4pPr>
              <a:defRPr sz="2400" b="1">
                <a:solidFill>
                  <a:srgbClr val="000000"/>
                </a:solidFill>
                <a:latin typeface="Calibri"/>
                <a:ea typeface="Calibri"/>
                <a:cs typeface="Calibri"/>
              </a:defRPr>
            </a:lvl4pPr>
            <a:lvl5pPr>
              <a:defRPr sz="2400" b="1">
                <a:solidFill>
                  <a:srgbClr val="000000"/>
                </a:solidFill>
                <a:latin typeface="Calibri"/>
                <a:ea typeface="Calibri"/>
                <a:cs typeface="Calibri"/>
              </a:defRPr>
            </a:lvl5pPr>
            <a:lvl6pPr>
              <a:defRPr sz="2400" b="1">
                <a:solidFill>
                  <a:srgbClr val="000000"/>
                </a:solidFill>
                <a:latin typeface="Calibri"/>
                <a:ea typeface="Calibri"/>
                <a:cs typeface="Calibri"/>
              </a:defRPr>
            </a:lvl6pPr>
            <a:lvl7pPr>
              <a:defRPr sz="2400" b="1">
                <a:solidFill>
                  <a:srgbClr val="000000"/>
                </a:solidFill>
                <a:latin typeface="Calibri"/>
                <a:ea typeface="Calibri"/>
                <a:cs typeface="Calibri"/>
              </a:defRPr>
            </a:lvl7pPr>
            <a:lvl8pPr>
              <a:defRPr sz="2400" b="1">
                <a:solidFill>
                  <a:srgbClr val="000000"/>
                </a:solidFill>
                <a:latin typeface="Calibri"/>
                <a:ea typeface="Calibri"/>
                <a:cs typeface="Calibri"/>
              </a:defRPr>
            </a:lvl8pPr>
            <a:lvl9pPr>
              <a:defRPr sz="2400" b="1">
                <a:solidFill>
                  <a:srgbClr val="000000"/>
                </a:solidFill>
                <a:latin typeface="Calibri"/>
                <a:ea typeface="Calibri"/>
                <a:cs typeface="Calibri"/>
              </a:defRPr>
            </a:lvl9pPr>
          </a:lstStyle>
          <a:p>
            <a:pPr>
              <a:defRPr sz="2400" b="1">
                <a:solidFill>
                  <a:srgbClr val="000000"/>
                </a:solidFill>
                <a:latin typeface="Calibri"/>
                <a:ea typeface="Calibri"/>
                <a:cs typeface="Calibri"/>
              </a:defRPr>
            </a:pPr>
            <a:r>
              <a:rPr sz="2400" b="1" dirty="0">
                <a:solidFill>
                  <a:srgbClr val="000000"/>
                </a:solidFill>
                <a:latin typeface="Calibri" panose="020F0502020204030204" pitchFamily="34" charset="0"/>
                <a:ea typeface="Calibri"/>
                <a:cs typeface="Calibri"/>
              </a:rPr>
              <a:t>Propulsion System Architecture Candidates</a:t>
            </a:r>
          </a:p>
        </p:txBody>
      </p:sp>
      <p:sp>
        <p:nvSpPr>
          <p:cNvPr id="4" name="Rectangle 3">
            <a:extLst>
              <a:ext uri="{FF2B5EF4-FFF2-40B4-BE49-F238E27FC236}">
                <a16:creationId xmlns:a16="http://schemas.microsoft.com/office/drawing/2014/main" id="{4438B2A3-8BB1-4FE4-8C36-639AB94125B1}"/>
              </a:ext>
            </a:extLst>
          </p:cNvPr>
          <p:cNvSpPr>
            <a:spLocks noGrp="1"/>
          </p:cNvSpPr>
          <p:nvPr/>
        </p:nvSpPr>
        <p:spPr>
          <a:xfrm>
            <a:off x="11382375" y="6524625"/>
            <a:ext cx="333375" cy="219075"/>
          </a:xfrm>
          <a:prstGeom prst="rect">
            <a:avLst/>
          </a:prstGeom>
          <a:noFill/>
          <a:ln w="0">
            <a:noFill/>
            <a:prstDash val="solid"/>
          </a:ln>
        </p:spPr>
        <p:txBody>
          <a:bodyPr lIns="0" tIns="0" rIns="0" bIns="0"/>
          <a:lstStyle>
            <a:defPPr>
              <a:defRPr sz="1125" b="0">
                <a:solidFill>
                  <a:srgbClr val="444444"/>
                </a:solidFill>
                <a:latin typeface="Calibri"/>
                <a:ea typeface="Calibri"/>
                <a:cs typeface="Calibri"/>
              </a:defRPr>
            </a:defPPr>
            <a:lvl1pPr>
              <a:defRPr sz="1125" b="0">
                <a:solidFill>
                  <a:srgbClr val="444444"/>
                </a:solidFill>
                <a:latin typeface="Calibri"/>
                <a:ea typeface="Calibri"/>
                <a:cs typeface="Calibri"/>
              </a:defRPr>
            </a:lvl1pPr>
            <a:lvl2pPr>
              <a:defRPr sz="1125" b="0">
                <a:solidFill>
                  <a:srgbClr val="444444"/>
                </a:solidFill>
                <a:latin typeface="Calibri"/>
                <a:ea typeface="Calibri"/>
                <a:cs typeface="Calibri"/>
              </a:defRPr>
            </a:lvl2pPr>
            <a:lvl3pPr>
              <a:defRPr sz="1125" b="0">
                <a:solidFill>
                  <a:srgbClr val="444444"/>
                </a:solidFill>
                <a:latin typeface="Calibri"/>
                <a:ea typeface="Calibri"/>
                <a:cs typeface="Calibri"/>
              </a:defRPr>
            </a:lvl3pPr>
            <a:lvl4pPr>
              <a:defRPr sz="1125" b="0">
                <a:solidFill>
                  <a:srgbClr val="444444"/>
                </a:solidFill>
                <a:latin typeface="Calibri"/>
                <a:ea typeface="Calibri"/>
                <a:cs typeface="Calibri"/>
              </a:defRPr>
            </a:lvl4pPr>
            <a:lvl5pPr>
              <a:defRPr sz="1125" b="0">
                <a:solidFill>
                  <a:srgbClr val="444444"/>
                </a:solidFill>
                <a:latin typeface="Calibri"/>
                <a:ea typeface="Calibri"/>
                <a:cs typeface="Calibri"/>
              </a:defRPr>
            </a:lvl5pPr>
            <a:lvl6pPr>
              <a:defRPr sz="1125" b="0">
                <a:solidFill>
                  <a:srgbClr val="444444"/>
                </a:solidFill>
                <a:latin typeface="Calibri"/>
                <a:ea typeface="Calibri"/>
                <a:cs typeface="Calibri"/>
              </a:defRPr>
            </a:lvl6pPr>
            <a:lvl7pPr>
              <a:defRPr sz="1125" b="0">
                <a:solidFill>
                  <a:srgbClr val="444444"/>
                </a:solidFill>
                <a:latin typeface="Calibri"/>
                <a:ea typeface="Calibri"/>
                <a:cs typeface="Calibri"/>
              </a:defRPr>
            </a:lvl7pPr>
            <a:lvl8pPr>
              <a:defRPr sz="1125" b="0">
                <a:solidFill>
                  <a:srgbClr val="444444"/>
                </a:solidFill>
                <a:latin typeface="Calibri"/>
                <a:ea typeface="Calibri"/>
                <a:cs typeface="Calibri"/>
              </a:defRPr>
            </a:lvl8pPr>
            <a:lvl9pPr>
              <a:defRPr sz="1125" b="0">
                <a:solidFill>
                  <a:srgbClr val="444444"/>
                </a:solidFill>
                <a:latin typeface="Calibri"/>
                <a:ea typeface="Calibri"/>
                <a:cs typeface="Calibri"/>
              </a:defRPr>
            </a:lvl9pPr>
          </a:lstStyle>
          <a:p>
            <a:pPr>
              <a:defRPr sz="1125" b="0">
                <a:solidFill>
                  <a:srgbClr val="444444"/>
                </a:solidFill>
                <a:latin typeface="Calibri"/>
                <a:ea typeface="Calibri"/>
                <a:cs typeface="Calibri"/>
              </a:defRPr>
            </a:pPr>
            <a:endParaRPr sz="1125" b="0">
              <a:solidFill>
                <a:srgbClr val="444444"/>
              </a:solidFill>
              <a:latin typeface="Calibri" panose="020F0502020204030204" pitchFamily="34" charset="0"/>
              <a:ea typeface="Calibri"/>
              <a:cs typeface="Calibri"/>
            </a:endParaRPr>
          </a:p>
        </p:txBody>
      </p:sp>
      <p:sp>
        <p:nvSpPr>
          <p:cNvPr id="5" name="Rectangle 4">
            <a:extLst>
              <a:ext uri="{FF2B5EF4-FFF2-40B4-BE49-F238E27FC236}">
                <a16:creationId xmlns:a16="http://schemas.microsoft.com/office/drawing/2014/main" id="{2BCBBA59-34B8-DE8F-66A3-6B1F74879027}"/>
              </a:ext>
            </a:extLst>
          </p:cNvPr>
          <p:cNvSpPr>
            <a:spLocks noGrp="1"/>
          </p:cNvSpPr>
          <p:nvPr/>
        </p:nvSpPr>
        <p:spPr>
          <a:xfrm>
            <a:off x="523875" y="1608200"/>
            <a:ext cx="3429000" cy="323850"/>
          </a:xfrm>
          <a:prstGeom prst="rect">
            <a:avLst/>
          </a:prstGeom>
          <a:noFill/>
          <a:ln w="0">
            <a:noFill/>
            <a:prstDash val="solid"/>
          </a:ln>
        </p:spPr>
        <p:txBody>
          <a:bodyPr lIns="0" tIns="0" rIns="0" bIns="0"/>
          <a:lstStyle>
            <a:defPPr>
              <a:defRPr sz="1875" b="1">
                <a:solidFill>
                  <a:srgbClr val="000000"/>
                </a:solidFill>
                <a:latin typeface="Calibri"/>
                <a:ea typeface="Calibri"/>
                <a:cs typeface="Calibri"/>
              </a:defRPr>
            </a:defPPr>
            <a:lvl1pPr>
              <a:defRPr sz="1875" b="1">
                <a:solidFill>
                  <a:srgbClr val="000000"/>
                </a:solidFill>
                <a:latin typeface="Calibri"/>
                <a:ea typeface="Calibri"/>
                <a:cs typeface="Calibri"/>
              </a:defRPr>
            </a:lvl1pPr>
            <a:lvl2pPr>
              <a:defRPr sz="1875" b="1">
                <a:solidFill>
                  <a:srgbClr val="000000"/>
                </a:solidFill>
                <a:latin typeface="Calibri"/>
                <a:ea typeface="Calibri"/>
                <a:cs typeface="Calibri"/>
              </a:defRPr>
            </a:lvl2pPr>
            <a:lvl3pPr>
              <a:defRPr sz="1875" b="1">
                <a:solidFill>
                  <a:srgbClr val="000000"/>
                </a:solidFill>
                <a:latin typeface="Calibri"/>
                <a:ea typeface="Calibri"/>
                <a:cs typeface="Calibri"/>
              </a:defRPr>
            </a:lvl3pPr>
            <a:lvl4pPr>
              <a:defRPr sz="1875" b="1">
                <a:solidFill>
                  <a:srgbClr val="000000"/>
                </a:solidFill>
                <a:latin typeface="Calibri"/>
                <a:ea typeface="Calibri"/>
                <a:cs typeface="Calibri"/>
              </a:defRPr>
            </a:lvl4pPr>
            <a:lvl5pPr>
              <a:defRPr sz="1875" b="1">
                <a:solidFill>
                  <a:srgbClr val="000000"/>
                </a:solidFill>
                <a:latin typeface="Calibri"/>
                <a:ea typeface="Calibri"/>
                <a:cs typeface="Calibri"/>
              </a:defRPr>
            </a:lvl5pPr>
            <a:lvl6pPr>
              <a:defRPr sz="1875" b="1">
                <a:solidFill>
                  <a:srgbClr val="000000"/>
                </a:solidFill>
                <a:latin typeface="Calibri"/>
                <a:ea typeface="Calibri"/>
                <a:cs typeface="Calibri"/>
              </a:defRPr>
            </a:lvl6pPr>
            <a:lvl7pPr>
              <a:defRPr sz="1875" b="1">
                <a:solidFill>
                  <a:srgbClr val="000000"/>
                </a:solidFill>
                <a:latin typeface="Calibri"/>
                <a:ea typeface="Calibri"/>
                <a:cs typeface="Calibri"/>
              </a:defRPr>
            </a:lvl7pPr>
            <a:lvl8pPr>
              <a:defRPr sz="1875" b="1">
                <a:solidFill>
                  <a:srgbClr val="000000"/>
                </a:solidFill>
                <a:latin typeface="Calibri"/>
                <a:ea typeface="Calibri"/>
                <a:cs typeface="Calibri"/>
              </a:defRPr>
            </a:lvl8pPr>
            <a:lvl9pPr>
              <a:defRPr sz="1875" b="1">
                <a:solidFill>
                  <a:srgbClr val="000000"/>
                </a:solidFill>
                <a:latin typeface="Calibri"/>
                <a:ea typeface="Calibri"/>
                <a:cs typeface="Calibri"/>
              </a:defRPr>
            </a:lvl9pPr>
          </a:lstStyle>
          <a:p>
            <a:pPr algn="ctr">
              <a:defRPr sz="1875" b="1">
                <a:solidFill>
                  <a:srgbClr val="000000"/>
                </a:solidFill>
                <a:latin typeface="Calibri"/>
                <a:ea typeface="Calibri"/>
                <a:cs typeface="Calibri"/>
              </a:defRPr>
            </a:pPr>
            <a:r>
              <a:rPr lang="en-US" dirty="0">
                <a:latin typeface="Calibri" panose="020F0502020204030204" pitchFamily="34" charset="0"/>
              </a:rPr>
              <a:t>LIFT + CRUISE</a:t>
            </a:r>
          </a:p>
        </p:txBody>
      </p:sp>
      <p:sp>
        <p:nvSpPr>
          <p:cNvPr id="6" name="Rectangle 5">
            <a:extLst>
              <a:ext uri="{FF2B5EF4-FFF2-40B4-BE49-F238E27FC236}">
                <a16:creationId xmlns:a16="http://schemas.microsoft.com/office/drawing/2014/main" id="{883B7C18-6DE7-C79E-2775-7CEA166F17D0}"/>
              </a:ext>
            </a:extLst>
          </p:cNvPr>
          <p:cNvSpPr>
            <a:spLocks noGrp="1"/>
          </p:cNvSpPr>
          <p:nvPr/>
        </p:nvSpPr>
        <p:spPr>
          <a:xfrm>
            <a:off x="4191000" y="1608200"/>
            <a:ext cx="3619500" cy="323850"/>
          </a:xfrm>
          <a:prstGeom prst="rect">
            <a:avLst/>
          </a:prstGeom>
          <a:noFill/>
          <a:ln w="0">
            <a:noFill/>
            <a:prstDash val="solid"/>
          </a:ln>
        </p:spPr>
        <p:txBody>
          <a:bodyPr lIns="0" tIns="0" rIns="0" bIns="0"/>
          <a:lstStyle>
            <a:defPPr>
              <a:defRPr sz="1875" b="1">
                <a:solidFill>
                  <a:srgbClr val="000000"/>
                </a:solidFill>
                <a:latin typeface="Calibri"/>
                <a:ea typeface="Calibri"/>
                <a:cs typeface="Calibri"/>
              </a:defRPr>
            </a:defPPr>
            <a:lvl1pPr>
              <a:defRPr sz="1875" b="1">
                <a:solidFill>
                  <a:srgbClr val="000000"/>
                </a:solidFill>
                <a:latin typeface="Calibri"/>
                <a:ea typeface="Calibri"/>
                <a:cs typeface="Calibri"/>
              </a:defRPr>
            </a:lvl1pPr>
            <a:lvl2pPr>
              <a:defRPr sz="1875" b="1">
                <a:solidFill>
                  <a:srgbClr val="000000"/>
                </a:solidFill>
                <a:latin typeface="Calibri"/>
                <a:ea typeface="Calibri"/>
                <a:cs typeface="Calibri"/>
              </a:defRPr>
            </a:lvl2pPr>
            <a:lvl3pPr>
              <a:defRPr sz="1875" b="1">
                <a:solidFill>
                  <a:srgbClr val="000000"/>
                </a:solidFill>
                <a:latin typeface="Calibri"/>
                <a:ea typeface="Calibri"/>
                <a:cs typeface="Calibri"/>
              </a:defRPr>
            </a:lvl3pPr>
            <a:lvl4pPr>
              <a:defRPr sz="1875" b="1">
                <a:solidFill>
                  <a:srgbClr val="000000"/>
                </a:solidFill>
                <a:latin typeface="Calibri"/>
                <a:ea typeface="Calibri"/>
                <a:cs typeface="Calibri"/>
              </a:defRPr>
            </a:lvl4pPr>
            <a:lvl5pPr>
              <a:defRPr sz="1875" b="1">
                <a:solidFill>
                  <a:srgbClr val="000000"/>
                </a:solidFill>
                <a:latin typeface="Calibri"/>
                <a:ea typeface="Calibri"/>
                <a:cs typeface="Calibri"/>
              </a:defRPr>
            </a:lvl5pPr>
            <a:lvl6pPr>
              <a:defRPr sz="1875" b="1">
                <a:solidFill>
                  <a:srgbClr val="000000"/>
                </a:solidFill>
                <a:latin typeface="Calibri"/>
                <a:ea typeface="Calibri"/>
                <a:cs typeface="Calibri"/>
              </a:defRPr>
            </a:lvl6pPr>
            <a:lvl7pPr>
              <a:defRPr sz="1875" b="1">
                <a:solidFill>
                  <a:srgbClr val="000000"/>
                </a:solidFill>
                <a:latin typeface="Calibri"/>
                <a:ea typeface="Calibri"/>
                <a:cs typeface="Calibri"/>
              </a:defRPr>
            </a:lvl7pPr>
            <a:lvl8pPr>
              <a:defRPr sz="1875" b="1">
                <a:solidFill>
                  <a:srgbClr val="000000"/>
                </a:solidFill>
                <a:latin typeface="Calibri"/>
                <a:ea typeface="Calibri"/>
                <a:cs typeface="Calibri"/>
              </a:defRPr>
            </a:lvl8pPr>
            <a:lvl9pPr>
              <a:defRPr sz="1875" b="1">
                <a:solidFill>
                  <a:srgbClr val="000000"/>
                </a:solidFill>
                <a:latin typeface="Calibri"/>
                <a:ea typeface="Calibri"/>
                <a:cs typeface="Calibri"/>
              </a:defRPr>
            </a:lvl9pPr>
          </a:lstStyle>
          <a:p>
            <a:pPr algn="ctr">
              <a:defRPr sz="1875" b="1">
                <a:solidFill>
                  <a:srgbClr val="000000"/>
                </a:solidFill>
                <a:latin typeface="Calibri"/>
                <a:ea typeface="Calibri"/>
                <a:cs typeface="Calibri"/>
              </a:defRPr>
            </a:pPr>
            <a:r>
              <a:rPr sz="1875" b="1" dirty="0">
                <a:solidFill>
                  <a:srgbClr val="000000"/>
                </a:solidFill>
                <a:latin typeface="Calibri" panose="020F0502020204030204" pitchFamily="34" charset="0"/>
                <a:ea typeface="Calibri"/>
                <a:cs typeface="Calibri"/>
              </a:rPr>
              <a:t>TILTROTOR</a:t>
            </a:r>
            <a:r>
              <a:rPr lang="en-US" dirty="0">
                <a:latin typeface="Calibri" panose="020F0502020204030204" pitchFamily="34" charset="0"/>
              </a:rPr>
              <a:t> PISTON</a:t>
            </a:r>
            <a:endParaRPr sz="1875" b="1" dirty="0">
              <a:solidFill>
                <a:srgbClr val="000000"/>
              </a:solidFill>
              <a:latin typeface="Calibri" panose="020F0502020204030204" pitchFamily="34" charset="0"/>
              <a:ea typeface="Calibri"/>
              <a:cs typeface="Calibri"/>
            </a:endParaRPr>
          </a:p>
        </p:txBody>
      </p:sp>
      <p:sp>
        <p:nvSpPr>
          <p:cNvPr id="7" name="Rectangle 6">
            <a:extLst>
              <a:ext uri="{FF2B5EF4-FFF2-40B4-BE49-F238E27FC236}">
                <a16:creationId xmlns:a16="http://schemas.microsoft.com/office/drawing/2014/main" id="{EE688E64-1518-FC5E-B8AC-B89C59C6BAAA}"/>
              </a:ext>
            </a:extLst>
          </p:cNvPr>
          <p:cNvSpPr>
            <a:spLocks noGrp="1"/>
          </p:cNvSpPr>
          <p:nvPr/>
        </p:nvSpPr>
        <p:spPr>
          <a:xfrm>
            <a:off x="7953375" y="1608200"/>
            <a:ext cx="3857625" cy="323850"/>
          </a:xfrm>
          <a:prstGeom prst="rect">
            <a:avLst/>
          </a:prstGeom>
          <a:noFill/>
          <a:ln w="0">
            <a:noFill/>
            <a:prstDash val="solid"/>
          </a:ln>
        </p:spPr>
        <p:txBody>
          <a:bodyPr lIns="0" tIns="0" rIns="0" bIns="0"/>
          <a:lstStyle>
            <a:defPPr>
              <a:defRPr sz="1800" b="1">
                <a:solidFill>
                  <a:srgbClr val="000000"/>
                </a:solidFill>
                <a:latin typeface="Calibri"/>
                <a:ea typeface="Calibri"/>
                <a:cs typeface="Calibri"/>
              </a:defRPr>
            </a:defPPr>
            <a:lvl1pPr>
              <a:defRPr sz="1800" b="1">
                <a:solidFill>
                  <a:srgbClr val="000000"/>
                </a:solidFill>
                <a:latin typeface="Calibri"/>
                <a:ea typeface="Calibri"/>
                <a:cs typeface="Calibri"/>
              </a:defRPr>
            </a:lvl1pPr>
            <a:lvl2pPr>
              <a:defRPr sz="1800" b="1">
                <a:solidFill>
                  <a:srgbClr val="000000"/>
                </a:solidFill>
                <a:latin typeface="Calibri"/>
                <a:ea typeface="Calibri"/>
                <a:cs typeface="Calibri"/>
              </a:defRPr>
            </a:lvl2pPr>
            <a:lvl3pPr>
              <a:defRPr sz="1800" b="1">
                <a:solidFill>
                  <a:srgbClr val="000000"/>
                </a:solidFill>
                <a:latin typeface="Calibri"/>
                <a:ea typeface="Calibri"/>
                <a:cs typeface="Calibri"/>
              </a:defRPr>
            </a:lvl3pPr>
            <a:lvl4pPr>
              <a:defRPr sz="1800" b="1">
                <a:solidFill>
                  <a:srgbClr val="000000"/>
                </a:solidFill>
                <a:latin typeface="Calibri"/>
                <a:ea typeface="Calibri"/>
                <a:cs typeface="Calibri"/>
              </a:defRPr>
            </a:lvl4pPr>
            <a:lvl5pPr>
              <a:defRPr sz="1800" b="1">
                <a:solidFill>
                  <a:srgbClr val="000000"/>
                </a:solidFill>
                <a:latin typeface="Calibri"/>
                <a:ea typeface="Calibri"/>
                <a:cs typeface="Calibri"/>
              </a:defRPr>
            </a:lvl5pPr>
            <a:lvl6pPr>
              <a:defRPr sz="1800" b="1">
                <a:solidFill>
                  <a:srgbClr val="000000"/>
                </a:solidFill>
                <a:latin typeface="Calibri"/>
                <a:ea typeface="Calibri"/>
                <a:cs typeface="Calibri"/>
              </a:defRPr>
            </a:lvl6pPr>
            <a:lvl7pPr>
              <a:defRPr sz="1800" b="1">
                <a:solidFill>
                  <a:srgbClr val="000000"/>
                </a:solidFill>
                <a:latin typeface="Calibri"/>
                <a:ea typeface="Calibri"/>
                <a:cs typeface="Calibri"/>
              </a:defRPr>
            </a:lvl7pPr>
            <a:lvl8pPr>
              <a:defRPr sz="1800" b="1">
                <a:solidFill>
                  <a:srgbClr val="000000"/>
                </a:solidFill>
                <a:latin typeface="Calibri"/>
                <a:ea typeface="Calibri"/>
                <a:cs typeface="Calibri"/>
              </a:defRPr>
            </a:lvl8pPr>
            <a:lvl9pPr>
              <a:defRPr sz="1800" b="1">
                <a:solidFill>
                  <a:srgbClr val="000000"/>
                </a:solidFill>
                <a:latin typeface="Calibri"/>
                <a:ea typeface="Calibri"/>
                <a:cs typeface="Calibri"/>
              </a:defRPr>
            </a:lvl9pPr>
          </a:lstStyle>
          <a:p>
            <a:pPr algn="ctr">
              <a:defRPr sz="1800" b="1">
                <a:solidFill>
                  <a:srgbClr val="000000"/>
                </a:solidFill>
                <a:latin typeface="Calibri"/>
                <a:ea typeface="Calibri"/>
                <a:cs typeface="Calibri"/>
              </a:defRPr>
            </a:pPr>
            <a:r>
              <a:rPr sz="1800" b="1" dirty="0">
                <a:solidFill>
                  <a:srgbClr val="000000"/>
                </a:solidFill>
                <a:latin typeface="Calibri" panose="020F0502020204030204" pitchFamily="34" charset="0"/>
                <a:ea typeface="Calibri"/>
                <a:cs typeface="Calibri"/>
              </a:rPr>
              <a:t>TILTROTOR</a:t>
            </a:r>
            <a:r>
              <a:rPr lang="en-US" dirty="0">
                <a:latin typeface="Calibri" panose="020F0502020204030204" pitchFamily="34" charset="0"/>
              </a:rPr>
              <a:t> TURBOELECTRIC </a:t>
            </a:r>
            <a:endParaRPr sz="1800" b="1" dirty="0">
              <a:solidFill>
                <a:srgbClr val="000000"/>
              </a:solidFill>
              <a:latin typeface="Calibri" panose="020F0502020204030204" pitchFamily="34" charset="0"/>
              <a:ea typeface="Calibri"/>
              <a:cs typeface="Calibri"/>
            </a:endParaRPr>
          </a:p>
        </p:txBody>
      </p:sp>
      <p:sp>
        <p:nvSpPr>
          <p:cNvPr id="8" name="Freeform: Shape 7">
            <a:extLst>
              <a:ext uri="{FF2B5EF4-FFF2-40B4-BE49-F238E27FC236}">
                <a16:creationId xmlns:a16="http://schemas.microsoft.com/office/drawing/2014/main" id="{723E97A7-84F9-8623-1ED0-412E7FDFC2A1}"/>
              </a:ext>
            </a:extLst>
          </p:cNvPr>
          <p:cNvSpPr>
            <a:spLocks noGrp="1"/>
          </p:cNvSpPr>
          <p:nvPr/>
        </p:nvSpPr>
        <p:spPr>
          <a:xfrm>
            <a:off x="4147360" y="1608200"/>
            <a:ext cx="9525" cy="4238625"/>
          </a:xfrm>
          <a:custGeom>
            <a:avLst/>
            <a:gdLst/>
            <a:ahLst/>
            <a:cxnLst/>
            <a:rect l="0" t="0" r="0" b="0"/>
            <a:pathLst>
              <a:path w="9525" h="4238625">
                <a:moveTo>
                  <a:pt x="0" y="0"/>
                </a:moveTo>
                <a:lnTo>
                  <a:pt x="0" y="4238625"/>
                </a:lnTo>
              </a:path>
            </a:pathLst>
          </a:custGeom>
          <a:noFill/>
          <a:ln w="19050">
            <a:solidFill>
              <a:schemeClr val="bg1">
                <a:lumMod val="50000"/>
              </a:schemeClr>
            </a:solidFill>
            <a:prstDash val="solid"/>
          </a:ln>
        </p:spPr>
        <p:txBody>
          <a:bodyPr/>
          <a:lstStyle/>
          <a:p>
            <a:endParaRPr lang="en-US">
              <a:latin typeface="Calibri" panose="020F0502020204030204" pitchFamily="34" charset="0"/>
            </a:endParaRPr>
          </a:p>
        </p:txBody>
      </p:sp>
      <p:sp>
        <p:nvSpPr>
          <p:cNvPr id="9" name="Freeform: Shape 8">
            <a:extLst>
              <a:ext uri="{FF2B5EF4-FFF2-40B4-BE49-F238E27FC236}">
                <a16:creationId xmlns:a16="http://schemas.microsoft.com/office/drawing/2014/main" id="{B6AC3039-22B3-1B7D-09C1-F64C2C904149}"/>
              </a:ext>
            </a:extLst>
          </p:cNvPr>
          <p:cNvSpPr>
            <a:spLocks noGrp="1"/>
          </p:cNvSpPr>
          <p:nvPr/>
        </p:nvSpPr>
        <p:spPr>
          <a:xfrm>
            <a:off x="7858125" y="1608200"/>
            <a:ext cx="9525" cy="4238625"/>
          </a:xfrm>
          <a:custGeom>
            <a:avLst/>
            <a:gdLst/>
            <a:ahLst/>
            <a:cxnLst/>
            <a:rect l="0" t="0" r="0" b="0"/>
            <a:pathLst>
              <a:path w="9525" h="4238625">
                <a:moveTo>
                  <a:pt x="0" y="0"/>
                </a:moveTo>
                <a:lnTo>
                  <a:pt x="0" y="4238625"/>
                </a:lnTo>
              </a:path>
            </a:pathLst>
          </a:custGeom>
          <a:noFill/>
          <a:ln w="19050">
            <a:solidFill>
              <a:schemeClr val="bg1">
                <a:lumMod val="50000"/>
              </a:schemeClr>
            </a:solidFill>
            <a:prstDash val="solid"/>
          </a:ln>
        </p:spPr>
        <p:txBody>
          <a:bodyPr/>
          <a:lstStyle/>
          <a:p>
            <a:endParaRPr lang="en-US">
              <a:latin typeface="Calibri" panose="020F0502020204030204" pitchFamily="34" charset="0"/>
            </a:endParaRPr>
          </a:p>
        </p:txBody>
      </p:sp>
      <p:sp>
        <p:nvSpPr>
          <p:cNvPr id="10" name="Rectangle 9">
            <a:extLst>
              <a:ext uri="{FF2B5EF4-FFF2-40B4-BE49-F238E27FC236}">
                <a16:creationId xmlns:a16="http://schemas.microsoft.com/office/drawing/2014/main" id="{FD9D4484-EC92-CE47-46AB-F48EC977D510}"/>
              </a:ext>
            </a:extLst>
          </p:cNvPr>
          <p:cNvSpPr>
            <a:spLocks noGrp="1"/>
          </p:cNvSpPr>
          <p:nvPr/>
        </p:nvSpPr>
        <p:spPr>
          <a:xfrm>
            <a:off x="523875" y="2322575"/>
            <a:ext cx="952500" cy="400050"/>
          </a:xfrm>
          <a:prstGeom prst="rect">
            <a:avLst/>
          </a:prstGeom>
          <a:solidFill>
            <a:srgbClr val="FFFFFF"/>
          </a:solidFill>
          <a:ln w="15240">
            <a:solidFill>
              <a:srgbClr val="1885C7"/>
            </a:solidFill>
            <a:prstDash val="solid"/>
          </a:ln>
        </p:spPr>
        <p:txBody>
          <a:bodyPr/>
          <a:lstStyle/>
          <a:p>
            <a:pPr algn="ctr"/>
            <a:endParaRPr lang="en-US">
              <a:latin typeface="Calibri" panose="020F0502020204030204" pitchFamily="34" charset="0"/>
            </a:endParaRPr>
          </a:p>
        </p:txBody>
      </p:sp>
      <p:sp>
        <p:nvSpPr>
          <p:cNvPr id="12" name="Rectangle 11">
            <a:extLst>
              <a:ext uri="{FF2B5EF4-FFF2-40B4-BE49-F238E27FC236}">
                <a16:creationId xmlns:a16="http://schemas.microsoft.com/office/drawing/2014/main" id="{C8E8A270-D2E9-B32D-EBB0-7ACBEC0AB658}"/>
              </a:ext>
            </a:extLst>
          </p:cNvPr>
          <p:cNvSpPr>
            <a:spLocks noGrp="1"/>
          </p:cNvSpPr>
          <p:nvPr/>
        </p:nvSpPr>
        <p:spPr>
          <a:xfrm>
            <a:off x="590550" y="2320807"/>
            <a:ext cx="819150" cy="314325"/>
          </a:xfrm>
          <a:prstGeom prst="rect">
            <a:avLst/>
          </a:prstGeom>
          <a:noFill/>
          <a:ln w="0">
            <a:noFill/>
            <a:prstDash val="solid"/>
          </a:ln>
        </p:spPr>
        <p:txBody>
          <a:bodyPr lIns="0" tIns="0" rIns="0" bIns="0"/>
          <a:lstStyle>
            <a:defPPr>
              <a:defRPr sz="1350" b="0">
                <a:solidFill>
                  <a:srgbClr val="1885C7"/>
                </a:solidFill>
                <a:latin typeface="Calibri"/>
                <a:ea typeface="Calibri"/>
                <a:cs typeface="Calibri"/>
              </a:defRPr>
            </a:defPPr>
            <a:lvl1pPr>
              <a:defRPr sz="1350" b="0">
                <a:solidFill>
                  <a:srgbClr val="1885C7"/>
                </a:solidFill>
                <a:latin typeface="Calibri"/>
                <a:ea typeface="Calibri"/>
                <a:cs typeface="Calibri"/>
              </a:defRPr>
            </a:lvl1pPr>
            <a:lvl2pPr>
              <a:defRPr sz="1350" b="0">
                <a:solidFill>
                  <a:srgbClr val="1885C7"/>
                </a:solidFill>
                <a:latin typeface="Calibri"/>
                <a:ea typeface="Calibri"/>
                <a:cs typeface="Calibri"/>
              </a:defRPr>
            </a:lvl2pPr>
            <a:lvl3pPr>
              <a:defRPr sz="1350" b="0">
                <a:solidFill>
                  <a:srgbClr val="1885C7"/>
                </a:solidFill>
                <a:latin typeface="Calibri"/>
                <a:ea typeface="Calibri"/>
                <a:cs typeface="Calibri"/>
              </a:defRPr>
            </a:lvl3pPr>
            <a:lvl4pPr>
              <a:defRPr sz="1350" b="0">
                <a:solidFill>
                  <a:srgbClr val="1885C7"/>
                </a:solidFill>
                <a:latin typeface="Calibri"/>
                <a:ea typeface="Calibri"/>
                <a:cs typeface="Calibri"/>
              </a:defRPr>
            </a:lvl4pPr>
            <a:lvl5pPr>
              <a:defRPr sz="1350" b="0">
                <a:solidFill>
                  <a:srgbClr val="1885C7"/>
                </a:solidFill>
                <a:latin typeface="Calibri"/>
                <a:ea typeface="Calibri"/>
                <a:cs typeface="Calibri"/>
              </a:defRPr>
            </a:lvl5pPr>
            <a:lvl6pPr>
              <a:defRPr sz="1350" b="0">
                <a:solidFill>
                  <a:srgbClr val="1885C7"/>
                </a:solidFill>
                <a:latin typeface="Calibri"/>
                <a:ea typeface="Calibri"/>
                <a:cs typeface="Calibri"/>
              </a:defRPr>
            </a:lvl6pPr>
            <a:lvl7pPr>
              <a:defRPr sz="1350" b="0">
                <a:solidFill>
                  <a:srgbClr val="1885C7"/>
                </a:solidFill>
                <a:latin typeface="Calibri"/>
                <a:ea typeface="Calibri"/>
                <a:cs typeface="Calibri"/>
              </a:defRPr>
            </a:lvl7pPr>
            <a:lvl8pPr>
              <a:defRPr sz="1350" b="0">
                <a:solidFill>
                  <a:srgbClr val="1885C7"/>
                </a:solidFill>
                <a:latin typeface="Calibri"/>
                <a:ea typeface="Calibri"/>
                <a:cs typeface="Calibri"/>
              </a:defRPr>
            </a:lvl8pPr>
            <a:lvl9pPr>
              <a:defRPr sz="1350" b="0">
                <a:solidFill>
                  <a:srgbClr val="1885C7"/>
                </a:solidFill>
                <a:latin typeface="Calibri"/>
                <a:ea typeface="Calibri"/>
                <a:cs typeface="Calibri"/>
              </a:defRPr>
            </a:lvl9pPr>
          </a:lstStyle>
          <a:p>
            <a:pPr algn="ctr">
              <a:defRPr sz="1350" b="0">
                <a:solidFill>
                  <a:srgbClr val="1885C7"/>
                </a:solidFill>
                <a:latin typeface="Calibri"/>
                <a:ea typeface="Calibri"/>
                <a:cs typeface="Calibri"/>
              </a:defRPr>
            </a:pPr>
            <a:r>
              <a:rPr lang="en-US" sz="1350" b="0" dirty="0">
                <a:solidFill>
                  <a:srgbClr val="1885C7"/>
                </a:solidFill>
                <a:latin typeface="Calibri" panose="020F0502020204030204" pitchFamily="34" charset="0"/>
                <a:ea typeface="Calibri"/>
                <a:cs typeface="Calibri"/>
              </a:rPr>
              <a:t>Battery Pack</a:t>
            </a:r>
            <a:endParaRPr sz="1350" b="0" dirty="0">
              <a:solidFill>
                <a:srgbClr val="1885C7"/>
              </a:solidFill>
              <a:latin typeface="Calibri" panose="020F0502020204030204" pitchFamily="34" charset="0"/>
              <a:ea typeface="Calibri"/>
              <a:cs typeface="Calibri"/>
            </a:endParaRPr>
          </a:p>
        </p:txBody>
      </p:sp>
      <p:sp>
        <p:nvSpPr>
          <p:cNvPr id="15" name="Rectangle 14">
            <a:extLst>
              <a:ext uri="{FF2B5EF4-FFF2-40B4-BE49-F238E27FC236}">
                <a16:creationId xmlns:a16="http://schemas.microsoft.com/office/drawing/2014/main" id="{113B4100-CD1A-B8CC-CD09-F28BE791CB38}"/>
              </a:ext>
            </a:extLst>
          </p:cNvPr>
          <p:cNvSpPr>
            <a:spLocks noGrp="1"/>
          </p:cNvSpPr>
          <p:nvPr/>
        </p:nvSpPr>
        <p:spPr>
          <a:xfrm>
            <a:off x="523875" y="3132200"/>
            <a:ext cx="952500" cy="400050"/>
          </a:xfrm>
          <a:prstGeom prst="rect">
            <a:avLst/>
          </a:prstGeom>
          <a:solidFill>
            <a:srgbClr val="FFFFFF"/>
          </a:solidFill>
          <a:ln w="15240">
            <a:solidFill>
              <a:srgbClr val="1885C7"/>
            </a:solidFill>
            <a:prstDash val="solid"/>
          </a:ln>
        </p:spPr>
        <p:txBody>
          <a:bodyPr/>
          <a:lstStyle/>
          <a:p>
            <a:pPr algn="ctr"/>
            <a:endParaRPr lang="en-US">
              <a:latin typeface="Calibri" panose="020F0502020204030204" pitchFamily="34" charset="0"/>
            </a:endParaRPr>
          </a:p>
        </p:txBody>
      </p:sp>
      <p:sp>
        <p:nvSpPr>
          <p:cNvPr id="19" name="Rectangle 18">
            <a:extLst>
              <a:ext uri="{FF2B5EF4-FFF2-40B4-BE49-F238E27FC236}">
                <a16:creationId xmlns:a16="http://schemas.microsoft.com/office/drawing/2014/main" id="{F03FD1FE-3DF1-B0A0-F623-05CC8FE79FA6}"/>
              </a:ext>
            </a:extLst>
          </p:cNvPr>
          <p:cNvSpPr>
            <a:spLocks noGrp="1"/>
          </p:cNvSpPr>
          <p:nvPr/>
        </p:nvSpPr>
        <p:spPr>
          <a:xfrm>
            <a:off x="590550" y="3208400"/>
            <a:ext cx="819150" cy="314325"/>
          </a:xfrm>
          <a:prstGeom prst="rect">
            <a:avLst/>
          </a:prstGeom>
          <a:noFill/>
          <a:ln w="0">
            <a:noFill/>
            <a:prstDash val="solid"/>
          </a:ln>
        </p:spPr>
        <p:txBody>
          <a:bodyPr lIns="0" tIns="0" rIns="0" bIns="0"/>
          <a:lstStyle>
            <a:defPPr>
              <a:defRPr sz="1350" b="0">
                <a:solidFill>
                  <a:srgbClr val="1885C7"/>
                </a:solidFill>
                <a:latin typeface="Calibri"/>
                <a:ea typeface="Calibri"/>
                <a:cs typeface="Calibri"/>
              </a:defRPr>
            </a:defPPr>
            <a:lvl1pPr>
              <a:defRPr sz="1350" b="0">
                <a:solidFill>
                  <a:srgbClr val="1885C7"/>
                </a:solidFill>
                <a:latin typeface="Calibri"/>
                <a:ea typeface="Calibri"/>
                <a:cs typeface="Calibri"/>
              </a:defRPr>
            </a:lvl1pPr>
            <a:lvl2pPr>
              <a:defRPr sz="1350" b="0">
                <a:solidFill>
                  <a:srgbClr val="1885C7"/>
                </a:solidFill>
                <a:latin typeface="Calibri"/>
                <a:ea typeface="Calibri"/>
                <a:cs typeface="Calibri"/>
              </a:defRPr>
            </a:lvl2pPr>
            <a:lvl3pPr>
              <a:defRPr sz="1350" b="0">
                <a:solidFill>
                  <a:srgbClr val="1885C7"/>
                </a:solidFill>
                <a:latin typeface="Calibri"/>
                <a:ea typeface="Calibri"/>
                <a:cs typeface="Calibri"/>
              </a:defRPr>
            </a:lvl3pPr>
            <a:lvl4pPr>
              <a:defRPr sz="1350" b="0">
                <a:solidFill>
                  <a:srgbClr val="1885C7"/>
                </a:solidFill>
                <a:latin typeface="Calibri"/>
                <a:ea typeface="Calibri"/>
                <a:cs typeface="Calibri"/>
              </a:defRPr>
            </a:lvl4pPr>
            <a:lvl5pPr>
              <a:defRPr sz="1350" b="0">
                <a:solidFill>
                  <a:srgbClr val="1885C7"/>
                </a:solidFill>
                <a:latin typeface="Calibri"/>
                <a:ea typeface="Calibri"/>
                <a:cs typeface="Calibri"/>
              </a:defRPr>
            </a:lvl5pPr>
            <a:lvl6pPr>
              <a:defRPr sz="1350" b="0">
                <a:solidFill>
                  <a:srgbClr val="1885C7"/>
                </a:solidFill>
                <a:latin typeface="Calibri"/>
                <a:ea typeface="Calibri"/>
                <a:cs typeface="Calibri"/>
              </a:defRPr>
            </a:lvl6pPr>
            <a:lvl7pPr>
              <a:defRPr sz="1350" b="0">
                <a:solidFill>
                  <a:srgbClr val="1885C7"/>
                </a:solidFill>
                <a:latin typeface="Calibri"/>
                <a:ea typeface="Calibri"/>
                <a:cs typeface="Calibri"/>
              </a:defRPr>
            </a:lvl7pPr>
            <a:lvl8pPr>
              <a:defRPr sz="1350" b="0">
                <a:solidFill>
                  <a:srgbClr val="1885C7"/>
                </a:solidFill>
                <a:latin typeface="Calibri"/>
                <a:ea typeface="Calibri"/>
                <a:cs typeface="Calibri"/>
              </a:defRPr>
            </a:lvl8pPr>
            <a:lvl9pPr>
              <a:defRPr sz="1350" b="0">
                <a:solidFill>
                  <a:srgbClr val="1885C7"/>
                </a:solidFill>
                <a:latin typeface="Calibri"/>
                <a:ea typeface="Calibri"/>
                <a:cs typeface="Calibri"/>
              </a:defRPr>
            </a:lvl9pPr>
          </a:lstStyle>
          <a:p>
            <a:pPr algn="ctr">
              <a:defRPr sz="1350" b="0">
                <a:solidFill>
                  <a:srgbClr val="1885C7"/>
                </a:solidFill>
                <a:latin typeface="Calibri"/>
                <a:ea typeface="Calibri"/>
                <a:cs typeface="Calibri"/>
              </a:defRPr>
            </a:pPr>
            <a:r>
              <a:rPr sz="1350" b="0">
                <a:solidFill>
                  <a:srgbClr val="1885C7"/>
                </a:solidFill>
                <a:latin typeface="Calibri" panose="020F0502020204030204" pitchFamily="34" charset="0"/>
                <a:ea typeface="Calibri"/>
                <a:cs typeface="Calibri"/>
              </a:rPr>
              <a:t>2 inverters</a:t>
            </a:r>
          </a:p>
        </p:txBody>
      </p:sp>
      <p:sp>
        <p:nvSpPr>
          <p:cNvPr id="23" name="Rectangle 22">
            <a:extLst>
              <a:ext uri="{FF2B5EF4-FFF2-40B4-BE49-F238E27FC236}">
                <a16:creationId xmlns:a16="http://schemas.microsoft.com/office/drawing/2014/main" id="{0F019762-95C9-472C-E89F-B405AF40DC8E}"/>
              </a:ext>
            </a:extLst>
          </p:cNvPr>
          <p:cNvSpPr>
            <a:spLocks noGrp="1"/>
          </p:cNvSpPr>
          <p:nvPr/>
        </p:nvSpPr>
        <p:spPr>
          <a:xfrm>
            <a:off x="523875" y="3941825"/>
            <a:ext cx="952500" cy="400050"/>
          </a:xfrm>
          <a:prstGeom prst="rect">
            <a:avLst/>
          </a:prstGeom>
          <a:solidFill>
            <a:srgbClr val="FFFFFF"/>
          </a:solidFill>
          <a:ln w="15240">
            <a:solidFill>
              <a:srgbClr val="1885C7"/>
            </a:solidFill>
            <a:prstDash val="solid"/>
          </a:ln>
        </p:spPr>
        <p:txBody>
          <a:bodyPr/>
          <a:lstStyle/>
          <a:p>
            <a:pPr algn="ctr"/>
            <a:endParaRPr lang="en-US">
              <a:latin typeface="Calibri" panose="020F0502020204030204" pitchFamily="34" charset="0"/>
            </a:endParaRPr>
          </a:p>
        </p:txBody>
      </p:sp>
      <p:sp>
        <p:nvSpPr>
          <p:cNvPr id="26" name="Rectangle 25">
            <a:extLst>
              <a:ext uri="{FF2B5EF4-FFF2-40B4-BE49-F238E27FC236}">
                <a16:creationId xmlns:a16="http://schemas.microsoft.com/office/drawing/2014/main" id="{39F6DBCE-482B-F284-1BF6-B1A5FDD5FDB0}"/>
              </a:ext>
            </a:extLst>
          </p:cNvPr>
          <p:cNvSpPr>
            <a:spLocks noGrp="1"/>
          </p:cNvSpPr>
          <p:nvPr/>
        </p:nvSpPr>
        <p:spPr>
          <a:xfrm>
            <a:off x="590550" y="4018025"/>
            <a:ext cx="819150" cy="314325"/>
          </a:xfrm>
          <a:prstGeom prst="rect">
            <a:avLst/>
          </a:prstGeom>
          <a:noFill/>
          <a:ln w="0">
            <a:noFill/>
            <a:prstDash val="solid"/>
          </a:ln>
        </p:spPr>
        <p:txBody>
          <a:bodyPr lIns="0" tIns="0" rIns="0" bIns="0"/>
          <a:lstStyle>
            <a:defPPr>
              <a:defRPr sz="1350" b="0">
                <a:solidFill>
                  <a:srgbClr val="1885C7"/>
                </a:solidFill>
                <a:latin typeface="Calibri"/>
                <a:ea typeface="Calibri"/>
                <a:cs typeface="Calibri"/>
              </a:defRPr>
            </a:defPPr>
            <a:lvl1pPr>
              <a:defRPr sz="1350" b="0">
                <a:solidFill>
                  <a:srgbClr val="1885C7"/>
                </a:solidFill>
                <a:latin typeface="Calibri"/>
                <a:ea typeface="Calibri"/>
                <a:cs typeface="Calibri"/>
              </a:defRPr>
            </a:lvl1pPr>
            <a:lvl2pPr>
              <a:defRPr sz="1350" b="0">
                <a:solidFill>
                  <a:srgbClr val="1885C7"/>
                </a:solidFill>
                <a:latin typeface="Calibri"/>
                <a:ea typeface="Calibri"/>
                <a:cs typeface="Calibri"/>
              </a:defRPr>
            </a:lvl2pPr>
            <a:lvl3pPr>
              <a:defRPr sz="1350" b="0">
                <a:solidFill>
                  <a:srgbClr val="1885C7"/>
                </a:solidFill>
                <a:latin typeface="Calibri"/>
                <a:ea typeface="Calibri"/>
                <a:cs typeface="Calibri"/>
              </a:defRPr>
            </a:lvl3pPr>
            <a:lvl4pPr>
              <a:defRPr sz="1350" b="0">
                <a:solidFill>
                  <a:srgbClr val="1885C7"/>
                </a:solidFill>
                <a:latin typeface="Calibri"/>
                <a:ea typeface="Calibri"/>
                <a:cs typeface="Calibri"/>
              </a:defRPr>
            </a:lvl4pPr>
            <a:lvl5pPr>
              <a:defRPr sz="1350" b="0">
                <a:solidFill>
                  <a:srgbClr val="1885C7"/>
                </a:solidFill>
                <a:latin typeface="Calibri"/>
                <a:ea typeface="Calibri"/>
                <a:cs typeface="Calibri"/>
              </a:defRPr>
            </a:lvl5pPr>
            <a:lvl6pPr>
              <a:defRPr sz="1350" b="0">
                <a:solidFill>
                  <a:srgbClr val="1885C7"/>
                </a:solidFill>
                <a:latin typeface="Calibri"/>
                <a:ea typeface="Calibri"/>
                <a:cs typeface="Calibri"/>
              </a:defRPr>
            </a:lvl6pPr>
            <a:lvl7pPr>
              <a:defRPr sz="1350" b="0">
                <a:solidFill>
                  <a:srgbClr val="1885C7"/>
                </a:solidFill>
                <a:latin typeface="Calibri"/>
                <a:ea typeface="Calibri"/>
                <a:cs typeface="Calibri"/>
              </a:defRPr>
            </a:lvl7pPr>
            <a:lvl8pPr>
              <a:defRPr sz="1350" b="0">
                <a:solidFill>
                  <a:srgbClr val="1885C7"/>
                </a:solidFill>
                <a:latin typeface="Calibri"/>
                <a:ea typeface="Calibri"/>
                <a:cs typeface="Calibri"/>
              </a:defRPr>
            </a:lvl8pPr>
            <a:lvl9pPr>
              <a:defRPr sz="1350" b="0">
                <a:solidFill>
                  <a:srgbClr val="1885C7"/>
                </a:solidFill>
                <a:latin typeface="Calibri"/>
                <a:ea typeface="Calibri"/>
                <a:cs typeface="Calibri"/>
              </a:defRPr>
            </a:lvl9pPr>
          </a:lstStyle>
          <a:p>
            <a:pPr algn="ctr">
              <a:defRPr sz="1350" b="0">
                <a:solidFill>
                  <a:srgbClr val="1885C7"/>
                </a:solidFill>
                <a:latin typeface="Calibri"/>
                <a:ea typeface="Calibri"/>
                <a:cs typeface="Calibri"/>
              </a:defRPr>
            </a:pPr>
            <a:r>
              <a:rPr sz="1350" b="0">
                <a:solidFill>
                  <a:srgbClr val="1885C7"/>
                </a:solidFill>
                <a:latin typeface="Calibri" panose="020F0502020204030204" pitchFamily="34" charset="0"/>
                <a:ea typeface="Calibri"/>
                <a:cs typeface="Calibri"/>
              </a:rPr>
              <a:t>2 motors</a:t>
            </a:r>
          </a:p>
        </p:txBody>
      </p:sp>
      <p:sp>
        <p:nvSpPr>
          <p:cNvPr id="29" name="Freeform: Shape 28">
            <a:extLst>
              <a:ext uri="{FF2B5EF4-FFF2-40B4-BE49-F238E27FC236}">
                <a16:creationId xmlns:a16="http://schemas.microsoft.com/office/drawing/2014/main" id="{ECB3B1F0-A5EF-C6DC-1A58-A00F4242AB5A}"/>
              </a:ext>
            </a:extLst>
          </p:cNvPr>
          <p:cNvSpPr>
            <a:spLocks noGrp="1"/>
          </p:cNvSpPr>
          <p:nvPr/>
        </p:nvSpPr>
        <p:spPr>
          <a:xfrm>
            <a:off x="1000125" y="2722625"/>
            <a:ext cx="9525" cy="409575"/>
          </a:xfrm>
          <a:custGeom>
            <a:avLst/>
            <a:gdLst/>
            <a:ahLst/>
            <a:cxnLst/>
            <a:rect l="0" t="0" r="0" b="0"/>
            <a:pathLst>
              <a:path w="9525" h="409575">
                <a:moveTo>
                  <a:pt x="0" y="0"/>
                </a:moveTo>
                <a:lnTo>
                  <a:pt x="0" y="409575"/>
                </a:lnTo>
              </a:path>
            </a:pathLst>
          </a:custGeom>
          <a:noFill/>
          <a:ln w="23813">
            <a:solidFill>
              <a:srgbClr val="1885C7"/>
            </a:solidFill>
            <a:prstDash val="solid"/>
          </a:ln>
        </p:spPr>
        <p:txBody>
          <a:bodyPr/>
          <a:lstStyle/>
          <a:p>
            <a:pPr algn="ctr"/>
            <a:endParaRPr lang="en-US">
              <a:latin typeface="Calibri" panose="020F0502020204030204" pitchFamily="34" charset="0"/>
            </a:endParaRPr>
          </a:p>
        </p:txBody>
      </p:sp>
      <p:sp>
        <p:nvSpPr>
          <p:cNvPr id="30" name="Freeform: Shape 29">
            <a:extLst>
              <a:ext uri="{FF2B5EF4-FFF2-40B4-BE49-F238E27FC236}">
                <a16:creationId xmlns:a16="http://schemas.microsoft.com/office/drawing/2014/main" id="{D1AAB172-7590-91C4-7C26-DB74C3AFDE26}"/>
              </a:ext>
            </a:extLst>
          </p:cNvPr>
          <p:cNvSpPr>
            <a:spLocks noGrp="1"/>
          </p:cNvSpPr>
          <p:nvPr/>
        </p:nvSpPr>
        <p:spPr>
          <a:xfrm>
            <a:off x="962025" y="3065525"/>
            <a:ext cx="38100" cy="66675"/>
          </a:xfrm>
          <a:custGeom>
            <a:avLst/>
            <a:gdLst/>
            <a:ahLst/>
            <a:cxnLst/>
            <a:rect l="0" t="0" r="0" b="0"/>
            <a:pathLst>
              <a:path w="38100" h="66675">
                <a:moveTo>
                  <a:pt x="0" y="0"/>
                </a:moveTo>
                <a:lnTo>
                  <a:pt x="38100" y="66675"/>
                </a:lnTo>
              </a:path>
            </a:pathLst>
          </a:custGeom>
          <a:noFill/>
          <a:ln w="19050">
            <a:solidFill>
              <a:srgbClr val="1885C7"/>
            </a:solidFill>
            <a:prstDash val="solid"/>
          </a:ln>
        </p:spPr>
        <p:txBody>
          <a:bodyPr/>
          <a:lstStyle/>
          <a:p>
            <a:pPr algn="ctr"/>
            <a:endParaRPr lang="en-US">
              <a:latin typeface="Calibri" panose="020F0502020204030204" pitchFamily="34" charset="0"/>
            </a:endParaRPr>
          </a:p>
        </p:txBody>
      </p:sp>
      <p:sp>
        <p:nvSpPr>
          <p:cNvPr id="31" name="Freeform: Shape 30">
            <a:extLst>
              <a:ext uri="{FF2B5EF4-FFF2-40B4-BE49-F238E27FC236}">
                <a16:creationId xmlns:a16="http://schemas.microsoft.com/office/drawing/2014/main" id="{F405BACD-5B0E-B764-15BC-CCF5073428AA}"/>
              </a:ext>
            </a:extLst>
          </p:cNvPr>
          <p:cNvSpPr>
            <a:spLocks noGrp="1"/>
          </p:cNvSpPr>
          <p:nvPr/>
        </p:nvSpPr>
        <p:spPr>
          <a:xfrm>
            <a:off x="1000125" y="3065525"/>
            <a:ext cx="38100" cy="66675"/>
          </a:xfrm>
          <a:custGeom>
            <a:avLst/>
            <a:gdLst/>
            <a:ahLst/>
            <a:cxnLst/>
            <a:rect l="0" t="0" r="0" b="0"/>
            <a:pathLst>
              <a:path w="38100" h="66675">
                <a:moveTo>
                  <a:pt x="38100" y="0"/>
                </a:moveTo>
                <a:lnTo>
                  <a:pt x="0" y="66675"/>
                </a:lnTo>
              </a:path>
            </a:pathLst>
          </a:custGeom>
          <a:noFill/>
          <a:ln w="19050">
            <a:solidFill>
              <a:srgbClr val="1885C7"/>
            </a:solidFill>
            <a:prstDash val="solid"/>
          </a:ln>
        </p:spPr>
        <p:txBody>
          <a:bodyPr/>
          <a:lstStyle/>
          <a:p>
            <a:pPr algn="ctr"/>
            <a:endParaRPr lang="en-US">
              <a:latin typeface="Calibri" panose="020F0502020204030204" pitchFamily="34" charset="0"/>
            </a:endParaRPr>
          </a:p>
        </p:txBody>
      </p:sp>
      <p:sp>
        <p:nvSpPr>
          <p:cNvPr id="33" name="Freeform: Shape 32">
            <a:extLst>
              <a:ext uri="{FF2B5EF4-FFF2-40B4-BE49-F238E27FC236}">
                <a16:creationId xmlns:a16="http://schemas.microsoft.com/office/drawing/2014/main" id="{D50CEE85-B100-A36F-A5A3-6287077C2E74}"/>
              </a:ext>
            </a:extLst>
          </p:cNvPr>
          <p:cNvSpPr>
            <a:spLocks noGrp="1"/>
          </p:cNvSpPr>
          <p:nvPr/>
        </p:nvSpPr>
        <p:spPr>
          <a:xfrm>
            <a:off x="1000125" y="3532250"/>
            <a:ext cx="9525" cy="409575"/>
          </a:xfrm>
          <a:custGeom>
            <a:avLst/>
            <a:gdLst/>
            <a:ahLst/>
            <a:cxnLst/>
            <a:rect l="0" t="0" r="0" b="0"/>
            <a:pathLst>
              <a:path w="9525" h="409575">
                <a:moveTo>
                  <a:pt x="0" y="0"/>
                </a:moveTo>
                <a:lnTo>
                  <a:pt x="0" y="409575"/>
                </a:lnTo>
              </a:path>
            </a:pathLst>
          </a:custGeom>
          <a:noFill/>
          <a:ln w="23813">
            <a:solidFill>
              <a:srgbClr val="1885C7"/>
            </a:solidFill>
            <a:prstDash val="solid"/>
          </a:ln>
        </p:spPr>
        <p:txBody>
          <a:bodyPr/>
          <a:lstStyle/>
          <a:p>
            <a:pPr algn="ctr"/>
            <a:endParaRPr lang="en-US">
              <a:latin typeface="Calibri" panose="020F0502020204030204" pitchFamily="34" charset="0"/>
            </a:endParaRPr>
          </a:p>
        </p:txBody>
      </p:sp>
      <p:sp>
        <p:nvSpPr>
          <p:cNvPr id="157" name="Freeform: Shape 156">
            <a:extLst>
              <a:ext uri="{FF2B5EF4-FFF2-40B4-BE49-F238E27FC236}">
                <a16:creationId xmlns:a16="http://schemas.microsoft.com/office/drawing/2014/main" id="{F4204FB5-D6CD-05FF-2668-66A91FFD200A}"/>
              </a:ext>
            </a:extLst>
          </p:cNvPr>
          <p:cNvSpPr>
            <a:spLocks noGrp="1"/>
          </p:cNvSpPr>
          <p:nvPr/>
        </p:nvSpPr>
        <p:spPr>
          <a:xfrm>
            <a:off x="962025" y="3875150"/>
            <a:ext cx="38100" cy="66675"/>
          </a:xfrm>
          <a:custGeom>
            <a:avLst/>
            <a:gdLst/>
            <a:ahLst/>
            <a:cxnLst/>
            <a:rect l="0" t="0" r="0" b="0"/>
            <a:pathLst>
              <a:path w="38100" h="66675">
                <a:moveTo>
                  <a:pt x="0" y="0"/>
                </a:moveTo>
                <a:lnTo>
                  <a:pt x="38100" y="66675"/>
                </a:lnTo>
              </a:path>
            </a:pathLst>
          </a:custGeom>
          <a:noFill/>
          <a:ln w="19050">
            <a:solidFill>
              <a:srgbClr val="1885C7"/>
            </a:solidFill>
            <a:prstDash val="solid"/>
          </a:ln>
        </p:spPr>
        <p:txBody>
          <a:bodyPr/>
          <a:lstStyle/>
          <a:p>
            <a:pPr algn="ctr"/>
            <a:endParaRPr lang="en-US">
              <a:latin typeface="Calibri" panose="020F0502020204030204" pitchFamily="34" charset="0"/>
            </a:endParaRPr>
          </a:p>
        </p:txBody>
      </p:sp>
      <p:sp>
        <p:nvSpPr>
          <p:cNvPr id="158" name="Freeform: Shape 157">
            <a:extLst>
              <a:ext uri="{FF2B5EF4-FFF2-40B4-BE49-F238E27FC236}">
                <a16:creationId xmlns:a16="http://schemas.microsoft.com/office/drawing/2014/main" id="{27788547-6323-D0D1-D369-40C4428F8086}"/>
              </a:ext>
            </a:extLst>
          </p:cNvPr>
          <p:cNvSpPr>
            <a:spLocks noGrp="1"/>
          </p:cNvSpPr>
          <p:nvPr/>
        </p:nvSpPr>
        <p:spPr>
          <a:xfrm>
            <a:off x="1000125" y="3875150"/>
            <a:ext cx="38100" cy="66675"/>
          </a:xfrm>
          <a:custGeom>
            <a:avLst/>
            <a:gdLst/>
            <a:ahLst/>
            <a:cxnLst/>
            <a:rect l="0" t="0" r="0" b="0"/>
            <a:pathLst>
              <a:path w="38100" h="66675">
                <a:moveTo>
                  <a:pt x="38100" y="0"/>
                </a:moveTo>
                <a:lnTo>
                  <a:pt x="0" y="66675"/>
                </a:lnTo>
              </a:path>
            </a:pathLst>
          </a:custGeom>
          <a:noFill/>
          <a:ln w="19050">
            <a:solidFill>
              <a:srgbClr val="1885C7"/>
            </a:solidFill>
            <a:prstDash val="solid"/>
          </a:ln>
        </p:spPr>
        <p:txBody>
          <a:bodyPr/>
          <a:lstStyle/>
          <a:p>
            <a:pPr algn="ctr"/>
            <a:endParaRPr lang="en-US">
              <a:latin typeface="Calibri" panose="020F0502020204030204" pitchFamily="34" charset="0"/>
            </a:endParaRPr>
          </a:p>
        </p:txBody>
      </p:sp>
      <p:sp>
        <p:nvSpPr>
          <p:cNvPr id="159" name="Freeform: Shape 158">
            <a:extLst>
              <a:ext uri="{FF2B5EF4-FFF2-40B4-BE49-F238E27FC236}">
                <a16:creationId xmlns:a16="http://schemas.microsoft.com/office/drawing/2014/main" id="{D09EE079-37C0-48EE-E56F-80D0FF7FFA10}"/>
              </a:ext>
            </a:extLst>
          </p:cNvPr>
          <p:cNvSpPr>
            <a:spLocks noGrp="1"/>
          </p:cNvSpPr>
          <p:nvPr/>
        </p:nvSpPr>
        <p:spPr>
          <a:xfrm>
            <a:off x="1000125" y="4341875"/>
            <a:ext cx="9525" cy="552450"/>
          </a:xfrm>
          <a:custGeom>
            <a:avLst/>
            <a:gdLst/>
            <a:ahLst/>
            <a:cxnLst/>
            <a:rect l="0" t="0" r="0" b="0"/>
            <a:pathLst>
              <a:path w="9525" h="552450">
                <a:moveTo>
                  <a:pt x="0" y="0"/>
                </a:moveTo>
                <a:lnTo>
                  <a:pt x="0" y="552450"/>
                </a:lnTo>
              </a:path>
            </a:pathLst>
          </a:custGeom>
          <a:noFill/>
          <a:ln w="23813">
            <a:solidFill>
              <a:srgbClr val="000000"/>
            </a:solidFill>
            <a:prstDash val="solid"/>
          </a:ln>
        </p:spPr>
        <p:txBody>
          <a:bodyPr/>
          <a:lstStyle/>
          <a:p>
            <a:pPr algn="ctr"/>
            <a:endParaRPr lang="en-US">
              <a:latin typeface="Calibri" panose="020F0502020204030204" pitchFamily="34" charset="0"/>
            </a:endParaRPr>
          </a:p>
        </p:txBody>
      </p:sp>
      <p:sp>
        <p:nvSpPr>
          <p:cNvPr id="160" name="Freeform: Shape 159">
            <a:extLst>
              <a:ext uri="{FF2B5EF4-FFF2-40B4-BE49-F238E27FC236}">
                <a16:creationId xmlns:a16="http://schemas.microsoft.com/office/drawing/2014/main" id="{5138C73E-0A95-8295-E5AD-24093859A304}"/>
              </a:ext>
            </a:extLst>
          </p:cNvPr>
          <p:cNvSpPr>
            <a:spLocks noGrp="1"/>
          </p:cNvSpPr>
          <p:nvPr/>
        </p:nvSpPr>
        <p:spPr>
          <a:xfrm>
            <a:off x="962025" y="4827650"/>
            <a:ext cx="38100" cy="66675"/>
          </a:xfrm>
          <a:custGeom>
            <a:avLst/>
            <a:gdLst/>
            <a:ahLst/>
            <a:cxnLst/>
            <a:rect l="0" t="0" r="0" b="0"/>
            <a:pathLst>
              <a:path w="38100" h="66675">
                <a:moveTo>
                  <a:pt x="0" y="0"/>
                </a:moveTo>
                <a:lnTo>
                  <a:pt x="38100" y="66675"/>
                </a:lnTo>
              </a:path>
            </a:pathLst>
          </a:custGeom>
          <a:noFill/>
          <a:ln w="19050">
            <a:solidFill>
              <a:srgbClr val="000000"/>
            </a:solidFill>
            <a:prstDash val="solid"/>
          </a:ln>
        </p:spPr>
        <p:txBody>
          <a:bodyPr/>
          <a:lstStyle/>
          <a:p>
            <a:pPr algn="ctr"/>
            <a:endParaRPr lang="en-US">
              <a:latin typeface="Calibri" panose="020F0502020204030204" pitchFamily="34" charset="0"/>
            </a:endParaRPr>
          </a:p>
        </p:txBody>
      </p:sp>
      <p:sp>
        <p:nvSpPr>
          <p:cNvPr id="161" name="Freeform: Shape 160">
            <a:extLst>
              <a:ext uri="{FF2B5EF4-FFF2-40B4-BE49-F238E27FC236}">
                <a16:creationId xmlns:a16="http://schemas.microsoft.com/office/drawing/2014/main" id="{FD0AE061-98AA-229A-9C61-25A8F1088DCB}"/>
              </a:ext>
            </a:extLst>
          </p:cNvPr>
          <p:cNvSpPr>
            <a:spLocks noGrp="1"/>
          </p:cNvSpPr>
          <p:nvPr/>
        </p:nvSpPr>
        <p:spPr>
          <a:xfrm>
            <a:off x="1000125" y="4827650"/>
            <a:ext cx="38100" cy="66675"/>
          </a:xfrm>
          <a:custGeom>
            <a:avLst/>
            <a:gdLst/>
            <a:ahLst/>
            <a:cxnLst/>
            <a:rect l="0" t="0" r="0" b="0"/>
            <a:pathLst>
              <a:path w="38100" h="66675">
                <a:moveTo>
                  <a:pt x="38100" y="0"/>
                </a:moveTo>
                <a:lnTo>
                  <a:pt x="0" y="66675"/>
                </a:lnTo>
              </a:path>
            </a:pathLst>
          </a:custGeom>
          <a:noFill/>
          <a:ln w="19050">
            <a:solidFill>
              <a:srgbClr val="000000"/>
            </a:solidFill>
            <a:prstDash val="solid"/>
          </a:ln>
        </p:spPr>
        <p:txBody>
          <a:bodyPr/>
          <a:lstStyle/>
          <a:p>
            <a:pPr algn="ctr"/>
            <a:endParaRPr lang="en-US">
              <a:latin typeface="Calibri" panose="020F0502020204030204" pitchFamily="34" charset="0"/>
            </a:endParaRPr>
          </a:p>
        </p:txBody>
      </p:sp>
      <p:sp>
        <p:nvSpPr>
          <p:cNvPr id="162" name="Oval 161">
            <a:extLst>
              <a:ext uri="{FF2B5EF4-FFF2-40B4-BE49-F238E27FC236}">
                <a16:creationId xmlns:a16="http://schemas.microsoft.com/office/drawing/2014/main" id="{72D415AD-EA04-C81C-E273-D52FEABB8A55}"/>
              </a:ext>
            </a:extLst>
          </p:cNvPr>
          <p:cNvSpPr>
            <a:spLocks noGrp="1"/>
          </p:cNvSpPr>
          <p:nvPr/>
        </p:nvSpPr>
        <p:spPr>
          <a:xfrm>
            <a:off x="771525" y="4932425"/>
            <a:ext cx="457200" cy="457200"/>
          </a:xfrm>
          <a:prstGeom prst="ellipse">
            <a:avLst/>
          </a:prstGeom>
          <a:solidFill>
            <a:srgbClr val="FFFFFF"/>
          </a:solidFill>
          <a:ln w="14288">
            <a:solidFill>
              <a:srgbClr val="000000"/>
            </a:solidFill>
            <a:prstDash val="solid"/>
          </a:ln>
        </p:spPr>
        <p:txBody>
          <a:bodyPr/>
          <a:lstStyle/>
          <a:p>
            <a:pPr algn="ctr"/>
            <a:endParaRPr lang="en-US">
              <a:latin typeface="Calibri" panose="020F0502020204030204" pitchFamily="34" charset="0"/>
            </a:endParaRPr>
          </a:p>
        </p:txBody>
      </p:sp>
      <p:sp>
        <p:nvSpPr>
          <p:cNvPr id="163" name="Freeform: Shape 162">
            <a:extLst>
              <a:ext uri="{FF2B5EF4-FFF2-40B4-BE49-F238E27FC236}">
                <a16:creationId xmlns:a16="http://schemas.microsoft.com/office/drawing/2014/main" id="{8462C49D-D7E6-B26C-401C-EF3F37425B32}"/>
              </a:ext>
            </a:extLst>
          </p:cNvPr>
          <p:cNvSpPr>
            <a:spLocks noGrp="1"/>
          </p:cNvSpPr>
          <p:nvPr/>
        </p:nvSpPr>
        <p:spPr>
          <a:xfrm>
            <a:off x="1000125" y="4987798"/>
            <a:ext cx="100013" cy="173227"/>
          </a:xfrm>
          <a:custGeom>
            <a:avLst/>
            <a:gdLst/>
            <a:ahLst/>
            <a:cxnLst/>
            <a:rect l="0" t="0" r="0" b="0"/>
            <a:pathLst>
              <a:path w="100013" h="173227">
                <a:moveTo>
                  <a:pt x="0" y="173227"/>
                </a:moveTo>
                <a:lnTo>
                  <a:pt x="100013" y="0"/>
                </a:lnTo>
              </a:path>
            </a:pathLst>
          </a:custGeom>
          <a:noFill/>
          <a:ln w="57150">
            <a:solidFill>
              <a:srgbClr val="000000"/>
            </a:solidFill>
            <a:prstDash val="solid"/>
          </a:ln>
        </p:spPr>
        <p:txBody>
          <a:bodyPr/>
          <a:lstStyle/>
          <a:p>
            <a:pPr algn="ctr"/>
            <a:endParaRPr lang="en-US">
              <a:latin typeface="Calibri" panose="020F0502020204030204" pitchFamily="34" charset="0"/>
            </a:endParaRPr>
          </a:p>
        </p:txBody>
      </p:sp>
      <p:sp>
        <p:nvSpPr>
          <p:cNvPr id="164" name="Freeform: Shape 163">
            <a:extLst>
              <a:ext uri="{FF2B5EF4-FFF2-40B4-BE49-F238E27FC236}">
                <a16:creationId xmlns:a16="http://schemas.microsoft.com/office/drawing/2014/main" id="{E0A25719-B63E-ED97-BBC3-922C9D9550A1}"/>
              </a:ext>
            </a:extLst>
          </p:cNvPr>
          <p:cNvSpPr>
            <a:spLocks noGrp="1"/>
          </p:cNvSpPr>
          <p:nvPr/>
        </p:nvSpPr>
        <p:spPr>
          <a:xfrm>
            <a:off x="900113" y="5161025"/>
            <a:ext cx="100013" cy="173227"/>
          </a:xfrm>
          <a:custGeom>
            <a:avLst/>
            <a:gdLst/>
            <a:ahLst/>
            <a:cxnLst/>
            <a:rect l="0" t="0" r="0" b="0"/>
            <a:pathLst>
              <a:path w="100013" h="173227">
                <a:moveTo>
                  <a:pt x="100013" y="0"/>
                </a:moveTo>
                <a:lnTo>
                  <a:pt x="0" y="173227"/>
                </a:lnTo>
              </a:path>
            </a:pathLst>
          </a:custGeom>
          <a:noFill/>
          <a:ln w="57150">
            <a:solidFill>
              <a:srgbClr val="000000"/>
            </a:solidFill>
            <a:prstDash val="solid"/>
          </a:ln>
        </p:spPr>
        <p:txBody>
          <a:bodyPr/>
          <a:lstStyle/>
          <a:p>
            <a:pPr algn="ctr"/>
            <a:endParaRPr lang="en-US">
              <a:latin typeface="Calibri" panose="020F0502020204030204" pitchFamily="34" charset="0"/>
            </a:endParaRPr>
          </a:p>
        </p:txBody>
      </p:sp>
      <p:sp>
        <p:nvSpPr>
          <p:cNvPr id="165" name="Oval 164">
            <a:extLst>
              <a:ext uri="{FF2B5EF4-FFF2-40B4-BE49-F238E27FC236}">
                <a16:creationId xmlns:a16="http://schemas.microsoft.com/office/drawing/2014/main" id="{EADF1615-0032-6F72-89E4-9B926A22E9FF}"/>
              </a:ext>
            </a:extLst>
          </p:cNvPr>
          <p:cNvSpPr>
            <a:spLocks noGrp="1"/>
          </p:cNvSpPr>
          <p:nvPr/>
        </p:nvSpPr>
        <p:spPr>
          <a:xfrm>
            <a:off x="971550" y="5132450"/>
            <a:ext cx="57150" cy="57150"/>
          </a:xfrm>
          <a:prstGeom prst="ellipse">
            <a:avLst/>
          </a:prstGeom>
          <a:solidFill>
            <a:srgbClr val="FFFFFF"/>
          </a:solidFill>
          <a:ln w="9525">
            <a:solidFill>
              <a:srgbClr val="000000"/>
            </a:solidFill>
            <a:prstDash val="solid"/>
          </a:ln>
        </p:spPr>
        <p:txBody>
          <a:bodyPr/>
          <a:lstStyle/>
          <a:p>
            <a:pPr algn="ctr"/>
            <a:endParaRPr lang="en-US">
              <a:latin typeface="Calibri" panose="020F0502020204030204" pitchFamily="34" charset="0"/>
            </a:endParaRPr>
          </a:p>
        </p:txBody>
      </p:sp>
      <p:sp>
        <p:nvSpPr>
          <p:cNvPr id="166" name="Rectangle 165">
            <a:extLst>
              <a:ext uri="{FF2B5EF4-FFF2-40B4-BE49-F238E27FC236}">
                <a16:creationId xmlns:a16="http://schemas.microsoft.com/office/drawing/2014/main" id="{EBB207B5-E127-D81C-6E9A-AAA15F146644}"/>
              </a:ext>
            </a:extLst>
          </p:cNvPr>
          <p:cNvSpPr>
            <a:spLocks noGrp="1"/>
          </p:cNvSpPr>
          <p:nvPr/>
        </p:nvSpPr>
        <p:spPr>
          <a:xfrm>
            <a:off x="474259" y="5446775"/>
            <a:ext cx="1095375" cy="266700"/>
          </a:xfrm>
          <a:prstGeom prst="rect">
            <a:avLst/>
          </a:prstGeom>
          <a:noFill/>
          <a:ln w="0">
            <a:noFill/>
            <a:prstDash val="solid"/>
          </a:ln>
        </p:spPr>
        <p:txBody>
          <a:bodyPr lIns="0" tIns="0" rIns="0" bIns="0"/>
          <a:lstStyle>
            <a:defPPr>
              <a:defRPr sz="1275" b="0">
                <a:solidFill>
                  <a:srgbClr val="000000"/>
                </a:solidFill>
                <a:latin typeface="Calibri"/>
                <a:ea typeface="Calibri"/>
                <a:cs typeface="Calibri"/>
              </a:defRPr>
            </a:defPPr>
            <a:lvl1pPr>
              <a:defRPr sz="1275" b="0">
                <a:solidFill>
                  <a:srgbClr val="000000"/>
                </a:solidFill>
                <a:latin typeface="Calibri"/>
                <a:ea typeface="Calibri"/>
                <a:cs typeface="Calibri"/>
              </a:defRPr>
            </a:lvl1pPr>
            <a:lvl2pPr>
              <a:defRPr sz="1275" b="0">
                <a:solidFill>
                  <a:srgbClr val="000000"/>
                </a:solidFill>
                <a:latin typeface="Calibri"/>
                <a:ea typeface="Calibri"/>
                <a:cs typeface="Calibri"/>
              </a:defRPr>
            </a:lvl2pPr>
            <a:lvl3pPr>
              <a:defRPr sz="1275" b="0">
                <a:solidFill>
                  <a:srgbClr val="000000"/>
                </a:solidFill>
                <a:latin typeface="Calibri"/>
                <a:ea typeface="Calibri"/>
                <a:cs typeface="Calibri"/>
              </a:defRPr>
            </a:lvl3pPr>
            <a:lvl4pPr>
              <a:defRPr sz="1275" b="0">
                <a:solidFill>
                  <a:srgbClr val="000000"/>
                </a:solidFill>
                <a:latin typeface="Calibri"/>
                <a:ea typeface="Calibri"/>
                <a:cs typeface="Calibri"/>
              </a:defRPr>
            </a:lvl4pPr>
            <a:lvl5pPr>
              <a:defRPr sz="1275" b="0">
                <a:solidFill>
                  <a:srgbClr val="000000"/>
                </a:solidFill>
                <a:latin typeface="Calibri"/>
                <a:ea typeface="Calibri"/>
                <a:cs typeface="Calibri"/>
              </a:defRPr>
            </a:lvl5pPr>
            <a:lvl6pPr>
              <a:defRPr sz="1275" b="0">
                <a:solidFill>
                  <a:srgbClr val="000000"/>
                </a:solidFill>
                <a:latin typeface="Calibri"/>
                <a:ea typeface="Calibri"/>
                <a:cs typeface="Calibri"/>
              </a:defRPr>
            </a:lvl6pPr>
            <a:lvl7pPr>
              <a:defRPr sz="1275" b="0">
                <a:solidFill>
                  <a:srgbClr val="000000"/>
                </a:solidFill>
                <a:latin typeface="Calibri"/>
                <a:ea typeface="Calibri"/>
                <a:cs typeface="Calibri"/>
              </a:defRPr>
            </a:lvl7pPr>
            <a:lvl8pPr>
              <a:defRPr sz="1275" b="0">
                <a:solidFill>
                  <a:srgbClr val="000000"/>
                </a:solidFill>
                <a:latin typeface="Calibri"/>
                <a:ea typeface="Calibri"/>
                <a:cs typeface="Calibri"/>
              </a:defRPr>
            </a:lvl8pPr>
            <a:lvl9pPr>
              <a:defRPr sz="1275" b="0">
                <a:solidFill>
                  <a:srgbClr val="000000"/>
                </a:solidFill>
                <a:latin typeface="Calibri"/>
                <a:ea typeface="Calibri"/>
                <a:cs typeface="Calibri"/>
              </a:defRPr>
            </a:lvl9pPr>
          </a:lstStyle>
          <a:p>
            <a:pPr algn="ctr">
              <a:defRPr sz="1275" b="0">
                <a:solidFill>
                  <a:srgbClr val="000000"/>
                </a:solidFill>
                <a:latin typeface="Calibri"/>
                <a:ea typeface="Calibri"/>
                <a:cs typeface="Calibri"/>
              </a:defRPr>
            </a:pPr>
            <a:r>
              <a:rPr sz="1275" b="0">
                <a:solidFill>
                  <a:srgbClr val="000000"/>
                </a:solidFill>
                <a:latin typeface="Calibri" panose="020F0502020204030204" pitchFamily="34" charset="0"/>
                <a:ea typeface="Calibri"/>
                <a:cs typeface="Calibri"/>
              </a:rPr>
              <a:t>2 lift props</a:t>
            </a:r>
          </a:p>
        </p:txBody>
      </p:sp>
      <p:sp>
        <p:nvSpPr>
          <p:cNvPr id="167" name="Rectangle 166">
            <a:extLst>
              <a:ext uri="{FF2B5EF4-FFF2-40B4-BE49-F238E27FC236}">
                <a16:creationId xmlns:a16="http://schemas.microsoft.com/office/drawing/2014/main" id="{4BC89E4E-D46D-62FE-86C5-9DD6ED1A0224}"/>
              </a:ext>
            </a:extLst>
          </p:cNvPr>
          <p:cNvSpPr>
            <a:spLocks noGrp="1"/>
          </p:cNvSpPr>
          <p:nvPr/>
        </p:nvSpPr>
        <p:spPr>
          <a:xfrm>
            <a:off x="1666875" y="2322575"/>
            <a:ext cx="952500" cy="400050"/>
          </a:xfrm>
          <a:prstGeom prst="rect">
            <a:avLst/>
          </a:prstGeom>
          <a:solidFill>
            <a:srgbClr val="FFFFFF"/>
          </a:solidFill>
          <a:ln w="15240">
            <a:solidFill>
              <a:srgbClr val="1885C7"/>
            </a:solidFill>
            <a:prstDash val="solid"/>
          </a:ln>
        </p:spPr>
        <p:txBody>
          <a:bodyPr/>
          <a:lstStyle/>
          <a:p>
            <a:pPr algn="ctr"/>
            <a:endParaRPr lang="en-US">
              <a:latin typeface="Calibri" panose="020F0502020204030204" pitchFamily="34" charset="0"/>
            </a:endParaRPr>
          </a:p>
        </p:txBody>
      </p:sp>
      <p:sp>
        <p:nvSpPr>
          <p:cNvPr id="168" name="Rectangle 167">
            <a:extLst>
              <a:ext uri="{FF2B5EF4-FFF2-40B4-BE49-F238E27FC236}">
                <a16:creationId xmlns:a16="http://schemas.microsoft.com/office/drawing/2014/main" id="{DDAE6B8A-ED93-AF78-48B0-47F64138506A}"/>
              </a:ext>
            </a:extLst>
          </p:cNvPr>
          <p:cNvSpPr>
            <a:spLocks noGrp="1"/>
          </p:cNvSpPr>
          <p:nvPr/>
        </p:nvSpPr>
        <p:spPr>
          <a:xfrm>
            <a:off x="1733550" y="2320807"/>
            <a:ext cx="819150" cy="314325"/>
          </a:xfrm>
          <a:prstGeom prst="rect">
            <a:avLst/>
          </a:prstGeom>
          <a:noFill/>
          <a:ln w="0">
            <a:noFill/>
            <a:prstDash val="solid"/>
          </a:ln>
        </p:spPr>
        <p:txBody>
          <a:bodyPr lIns="0" tIns="0" rIns="0" bIns="0"/>
          <a:lstStyle>
            <a:defPPr>
              <a:defRPr sz="1350" b="0">
                <a:solidFill>
                  <a:srgbClr val="1885C7"/>
                </a:solidFill>
                <a:latin typeface="Calibri"/>
                <a:ea typeface="Calibri"/>
                <a:cs typeface="Calibri"/>
              </a:defRPr>
            </a:defPPr>
            <a:lvl1pPr>
              <a:defRPr sz="1350" b="0">
                <a:solidFill>
                  <a:srgbClr val="1885C7"/>
                </a:solidFill>
                <a:latin typeface="Calibri"/>
                <a:ea typeface="Calibri"/>
                <a:cs typeface="Calibri"/>
              </a:defRPr>
            </a:lvl1pPr>
            <a:lvl2pPr>
              <a:defRPr sz="1350" b="0">
                <a:solidFill>
                  <a:srgbClr val="1885C7"/>
                </a:solidFill>
                <a:latin typeface="Calibri"/>
                <a:ea typeface="Calibri"/>
                <a:cs typeface="Calibri"/>
              </a:defRPr>
            </a:lvl2pPr>
            <a:lvl3pPr>
              <a:defRPr sz="1350" b="0">
                <a:solidFill>
                  <a:srgbClr val="1885C7"/>
                </a:solidFill>
                <a:latin typeface="Calibri"/>
                <a:ea typeface="Calibri"/>
                <a:cs typeface="Calibri"/>
              </a:defRPr>
            </a:lvl3pPr>
            <a:lvl4pPr>
              <a:defRPr sz="1350" b="0">
                <a:solidFill>
                  <a:srgbClr val="1885C7"/>
                </a:solidFill>
                <a:latin typeface="Calibri"/>
                <a:ea typeface="Calibri"/>
                <a:cs typeface="Calibri"/>
              </a:defRPr>
            </a:lvl4pPr>
            <a:lvl5pPr>
              <a:defRPr sz="1350" b="0">
                <a:solidFill>
                  <a:srgbClr val="1885C7"/>
                </a:solidFill>
                <a:latin typeface="Calibri"/>
                <a:ea typeface="Calibri"/>
                <a:cs typeface="Calibri"/>
              </a:defRPr>
            </a:lvl5pPr>
            <a:lvl6pPr>
              <a:defRPr sz="1350" b="0">
                <a:solidFill>
                  <a:srgbClr val="1885C7"/>
                </a:solidFill>
                <a:latin typeface="Calibri"/>
                <a:ea typeface="Calibri"/>
                <a:cs typeface="Calibri"/>
              </a:defRPr>
            </a:lvl6pPr>
            <a:lvl7pPr>
              <a:defRPr sz="1350" b="0">
                <a:solidFill>
                  <a:srgbClr val="1885C7"/>
                </a:solidFill>
                <a:latin typeface="Calibri"/>
                <a:ea typeface="Calibri"/>
                <a:cs typeface="Calibri"/>
              </a:defRPr>
            </a:lvl7pPr>
            <a:lvl8pPr>
              <a:defRPr sz="1350" b="0">
                <a:solidFill>
                  <a:srgbClr val="1885C7"/>
                </a:solidFill>
                <a:latin typeface="Calibri"/>
                <a:ea typeface="Calibri"/>
                <a:cs typeface="Calibri"/>
              </a:defRPr>
            </a:lvl8pPr>
            <a:lvl9pPr>
              <a:defRPr sz="1350" b="0">
                <a:solidFill>
                  <a:srgbClr val="1885C7"/>
                </a:solidFill>
                <a:latin typeface="Calibri"/>
                <a:ea typeface="Calibri"/>
                <a:cs typeface="Calibri"/>
              </a:defRPr>
            </a:lvl9pPr>
          </a:lstStyle>
          <a:p>
            <a:pPr algn="ctr">
              <a:defRPr sz="1350" b="0">
                <a:solidFill>
                  <a:srgbClr val="1885C7"/>
                </a:solidFill>
                <a:latin typeface="Calibri"/>
                <a:ea typeface="Calibri"/>
                <a:cs typeface="Calibri"/>
              </a:defRPr>
            </a:pPr>
            <a:r>
              <a:rPr lang="en-US" sz="1350" b="0" dirty="0">
                <a:solidFill>
                  <a:srgbClr val="1885C7"/>
                </a:solidFill>
                <a:latin typeface="Calibri" panose="020F0502020204030204" pitchFamily="34" charset="0"/>
                <a:ea typeface="Calibri"/>
                <a:cs typeface="Calibri"/>
              </a:rPr>
              <a:t>Battery Pack</a:t>
            </a:r>
            <a:endParaRPr sz="1350" b="0" dirty="0">
              <a:solidFill>
                <a:srgbClr val="1885C7"/>
              </a:solidFill>
              <a:latin typeface="Calibri" panose="020F0502020204030204" pitchFamily="34" charset="0"/>
              <a:ea typeface="Calibri"/>
              <a:cs typeface="Calibri"/>
            </a:endParaRPr>
          </a:p>
        </p:txBody>
      </p:sp>
      <p:sp>
        <p:nvSpPr>
          <p:cNvPr id="169" name="Rectangle 168">
            <a:extLst>
              <a:ext uri="{FF2B5EF4-FFF2-40B4-BE49-F238E27FC236}">
                <a16:creationId xmlns:a16="http://schemas.microsoft.com/office/drawing/2014/main" id="{A46BC59F-15F2-DAB3-29B6-9E993FC90216}"/>
              </a:ext>
            </a:extLst>
          </p:cNvPr>
          <p:cNvSpPr>
            <a:spLocks noGrp="1"/>
          </p:cNvSpPr>
          <p:nvPr/>
        </p:nvSpPr>
        <p:spPr>
          <a:xfrm>
            <a:off x="1666875" y="3132200"/>
            <a:ext cx="952500" cy="400050"/>
          </a:xfrm>
          <a:prstGeom prst="rect">
            <a:avLst/>
          </a:prstGeom>
          <a:solidFill>
            <a:srgbClr val="FFFFFF"/>
          </a:solidFill>
          <a:ln w="15240">
            <a:solidFill>
              <a:srgbClr val="1885C7"/>
            </a:solidFill>
            <a:prstDash val="solid"/>
          </a:ln>
        </p:spPr>
        <p:txBody>
          <a:bodyPr/>
          <a:lstStyle/>
          <a:p>
            <a:pPr algn="ctr"/>
            <a:endParaRPr lang="en-US">
              <a:latin typeface="Calibri" panose="020F0502020204030204" pitchFamily="34" charset="0"/>
            </a:endParaRPr>
          </a:p>
        </p:txBody>
      </p:sp>
      <p:sp>
        <p:nvSpPr>
          <p:cNvPr id="170" name="Rectangle 169">
            <a:extLst>
              <a:ext uri="{FF2B5EF4-FFF2-40B4-BE49-F238E27FC236}">
                <a16:creationId xmlns:a16="http://schemas.microsoft.com/office/drawing/2014/main" id="{3D0EC7F5-7DD7-D45B-67A3-5648DFC6E4FD}"/>
              </a:ext>
            </a:extLst>
          </p:cNvPr>
          <p:cNvSpPr>
            <a:spLocks noGrp="1"/>
          </p:cNvSpPr>
          <p:nvPr/>
        </p:nvSpPr>
        <p:spPr>
          <a:xfrm>
            <a:off x="1733550" y="3208400"/>
            <a:ext cx="819150" cy="314325"/>
          </a:xfrm>
          <a:prstGeom prst="rect">
            <a:avLst/>
          </a:prstGeom>
          <a:noFill/>
          <a:ln w="0">
            <a:noFill/>
            <a:prstDash val="solid"/>
          </a:ln>
        </p:spPr>
        <p:txBody>
          <a:bodyPr lIns="0" tIns="0" rIns="0" bIns="0"/>
          <a:lstStyle>
            <a:defPPr>
              <a:defRPr sz="1350" b="0">
                <a:solidFill>
                  <a:srgbClr val="1885C7"/>
                </a:solidFill>
                <a:latin typeface="Calibri"/>
                <a:ea typeface="Calibri"/>
                <a:cs typeface="Calibri"/>
              </a:defRPr>
            </a:defPPr>
            <a:lvl1pPr>
              <a:defRPr sz="1350" b="0">
                <a:solidFill>
                  <a:srgbClr val="1885C7"/>
                </a:solidFill>
                <a:latin typeface="Calibri"/>
                <a:ea typeface="Calibri"/>
                <a:cs typeface="Calibri"/>
              </a:defRPr>
            </a:lvl1pPr>
            <a:lvl2pPr>
              <a:defRPr sz="1350" b="0">
                <a:solidFill>
                  <a:srgbClr val="1885C7"/>
                </a:solidFill>
                <a:latin typeface="Calibri"/>
                <a:ea typeface="Calibri"/>
                <a:cs typeface="Calibri"/>
              </a:defRPr>
            </a:lvl2pPr>
            <a:lvl3pPr>
              <a:defRPr sz="1350" b="0">
                <a:solidFill>
                  <a:srgbClr val="1885C7"/>
                </a:solidFill>
                <a:latin typeface="Calibri"/>
                <a:ea typeface="Calibri"/>
                <a:cs typeface="Calibri"/>
              </a:defRPr>
            </a:lvl3pPr>
            <a:lvl4pPr>
              <a:defRPr sz="1350" b="0">
                <a:solidFill>
                  <a:srgbClr val="1885C7"/>
                </a:solidFill>
                <a:latin typeface="Calibri"/>
                <a:ea typeface="Calibri"/>
                <a:cs typeface="Calibri"/>
              </a:defRPr>
            </a:lvl4pPr>
            <a:lvl5pPr>
              <a:defRPr sz="1350" b="0">
                <a:solidFill>
                  <a:srgbClr val="1885C7"/>
                </a:solidFill>
                <a:latin typeface="Calibri"/>
                <a:ea typeface="Calibri"/>
                <a:cs typeface="Calibri"/>
              </a:defRPr>
            </a:lvl5pPr>
            <a:lvl6pPr>
              <a:defRPr sz="1350" b="0">
                <a:solidFill>
                  <a:srgbClr val="1885C7"/>
                </a:solidFill>
                <a:latin typeface="Calibri"/>
                <a:ea typeface="Calibri"/>
                <a:cs typeface="Calibri"/>
              </a:defRPr>
            </a:lvl6pPr>
            <a:lvl7pPr>
              <a:defRPr sz="1350" b="0">
                <a:solidFill>
                  <a:srgbClr val="1885C7"/>
                </a:solidFill>
                <a:latin typeface="Calibri"/>
                <a:ea typeface="Calibri"/>
                <a:cs typeface="Calibri"/>
              </a:defRPr>
            </a:lvl7pPr>
            <a:lvl8pPr>
              <a:defRPr sz="1350" b="0">
                <a:solidFill>
                  <a:srgbClr val="1885C7"/>
                </a:solidFill>
                <a:latin typeface="Calibri"/>
                <a:ea typeface="Calibri"/>
                <a:cs typeface="Calibri"/>
              </a:defRPr>
            </a:lvl8pPr>
            <a:lvl9pPr>
              <a:defRPr sz="1350" b="0">
                <a:solidFill>
                  <a:srgbClr val="1885C7"/>
                </a:solidFill>
                <a:latin typeface="Calibri"/>
                <a:ea typeface="Calibri"/>
                <a:cs typeface="Calibri"/>
              </a:defRPr>
            </a:lvl9pPr>
          </a:lstStyle>
          <a:p>
            <a:pPr algn="ctr">
              <a:defRPr sz="1350" b="0">
                <a:solidFill>
                  <a:srgbClr val="1885C7"/>
                </a:solidFill>
                <a:latin typeface="Calibri"/>
                <a:ea typeface="Calibri"/>
                <a:cs typeface="Calibri"/>
              </a:defRPr>
            </a:pPr>
            <a:r>
              <a:rPr sz="1350" b="0">
                <a:solidFill>
                  <a:srgbClr val="1885C7"/>
                </a:solidFill>
                <a:latin typeface="Calibri" panose="020F0502020204030204" pitchFamily="34" charset="0"/>
                <a:ea typeface="Calibri"/>
                <a:cs typeface="Calibri"/>
              </a:rPr>
              <a:t>2 inverters</a:t>
            </a:r>
          </a:p>
        </p:txBody>
      </p:sp>
      <p:sp>
        <p:nvSpPr>
          <p:cNvPr id="171" name="Rectangle 170">
            <a:extLst>
              <a:ext uri="{FF2B5EF4-FFF2-40B4-BE49-F238E27FC236}">
                <a16:creationId xmlns:a16="http://schemas.microsoft.com/office/drawing/2014/main" id="{45AD72AF-FDCE-61CC-FA50-B2CCF371A319}"/>
              </a:ext>
            </a:extLst>
          </p:cNvPr>
          <p:cNvSpPr>
            <a:spLocks noGrp="1"/>
          </p:cNvSpPr>
          <p:nvPr/>
        </p:nvSpPr>
        <p:spPr>
          <a:xfrm>
            <a:off x="1666875" y="3941825"/>
            <a:ext cx="952500" cy="400050"/>
          </a:xfrm>
          <a:prstGeom prst="rect">
            <a:avLst/>
          </a:prstGeom>
          <a:solidFill>
            <a:srgbClr val="FFFFFF"/>
          </a:solidFill>
          <a:ln w="15240">
            <a:solidFill>
              <a:srgbClr val="1885C7"/>
            </a:solidFill>
            <a:prstDash val="solid"/>
          </a:ln>
        </p:spPr>
        <p:txBody>
          <a:bodyPr/>
          <a:lstStyle/>
          <a:p>
            <a:pPr algn="ctr"/>
            <a:endParaRPr lang="en-US">
              <a:latin typeface="Calibri" panose="020F0502020204030204" pitchFamily="34" charset="0"/>
            </a:endParaRPr>
          </a:p>
        </p:txBody>
      </p:sp>
      <p:sp>
        <p:nvSpPr>
          <p:cNvPr id="172" name="Rectangle 171">
            <a:extLst>
              <a:ext uri="{FF2B5EF4-FFF2-40B4-BE49-F238E27FC236}">
                <a16:creationId xmlns:a16="http://schemas.microsoft.com/office/drawing/2014/main" id="{AB62AF46-1ADB-7B25-8BEC-AC56F1449F13}"/>
              </a:ext>
            </a:extLst>
          </p:cNvPr>
          <p:cNvSpPr>
            <a:spLocks noGrp="1"/>
          </p:cNvSpPr>
          <p:nvPr/>
        </p:nvSpPr>
        <p:spPr>
          <a:xfrm>
            <a:off x="1733550" y="4018025"/>
            <a:ext cx="819150" cy="314325"/>
          </a:xfrm>
          <a:prstGeom prst="rect">
            <a:avLst/>
          </a:prstGeom>
          <a:noFill/>
          <a:ln w="0">
            <a:noFill/>
            <a:prstDash val="solid"/>
          </a:ln>
        </p:spPr>
        <p:txBody>
          <a:bodyPr lIns="0" tIns="0" rIns="0" bIns="0"/>
          <a:lstStyle>
            <a:defPPr>
              <a:defRPr sz="1350" b="0">
                <a:solidFill>
                  <a:srgbClr val="1885C7"/>
                </a:solidFill>
                <a:latin typeface="Calibri"/>
                <a:ea typeface="Calibri"/>
                <a:cs typeface="Calibri"/>
              </a:defRPr>
            </a:defPPr>
            <a:lvl1pPr>
              <a:defRPr sz="1350" b="0">
                <a:solidFill>
                  <a:srgbClr val="1885C7"/>
                </a:solidFill>
                <a:latin typeface="Calibri"/>
                <a:ea typeface="Calibri"/>
                <a:cs typeface="Calibri"/>
              </a:defRPr>
            </a:lvl1pPr>
            <a:lvl2pPr>
              <a:defRPr sz="1350" b="0">
                <a:solidFill>
                  <a:srgbClr val="1885C7"/>
                </a:solidFill>
                <a:latin typeface="Calibri"/>
                <a:ea typeface="Calibri"/>
                <a:cs typeface="Calibri"/>
              </a:defRPr>
            </a:lvl2pPr>
            <a:lvl3pPr>
              <a:defRPr sz="1350" b="0">
                <a:solidFill>
                  <a:srgbClr val="1885C7"/>
                </a:solidFill>
                <a:latin typeface="Calibri"/>
                <a:ea typeface="Calibri"/>
                <a:cs typeface="Calibri"/>
              </a:defRPr>
            </a:lvl3pPr>
            <a:lvl4pPr>
              <a:defRPr sz="1350" b="0">
                <a:solidFill>
                  <a:srgbClr val="1885C7"/>
                </a:solidFill>
                <a:latin typeface="Calibri"/>
                <a:ea typeface="Calibri"/>
                <a:cs typeface="Calibri"/>
              </a:defRPr>
            </a:lvl4pPr>
            <a:lvl5pPr>
              <a:defRPr sz="1350" b="0">
                <a:solidFill>
                  <a:srgbClr val="1885C7"/>
                </a:solidFill>
                <a:latin typeface="Calibri"/>
                <a:ea typeface="Calibri"/>
                <a:cs typeface="Calibri"/>
              </a:defRPr>
            </a:lvl5pPr>
            <a:lvl6pPr>
              <a:defRPr sz="1350" b="0">
                <a:solidFill>
                  <a:srgbClr val="1885C7"/>
                </a:solidFill>
                <a:latin typeface="Calibri"/>
                <a:ea typeface="Calibri"/>
                <a:cs typeface="Calibri"/>
              </a:defRPr>
            </a:lvl6pPr>
            <a:lvl7pPr>
              <a:defRPr sz="1350" b="0">
                <a:solidFill>
                  <a:srgbClr val="1885C7"/>
                </a:solidFill>
                <a:latin typeface="Calibri"/>
                <a:ea typeface="Calibri"/>
                <a:cs typeface="Calibri"/>
              </a:defRPr>
            </a:lvl7pPr>
            <a:lvl8pPr>
              <a:defRPr sz="1350" b="0">
                <a:solidFill>
                  <a:srgbClr val="1885C7"/>
                </a:solidFill>
                <a:latin typeface="Calibri"/>
                <a:ea typeface="Calibri"/>
                <a:cs typeface="Calibri"/>
              </a:defRPr>
            </a:lvl8pPr>
            <a:lvl9pPr>
              <a:defRPr sz="1350" b="0">
                <a:solidFill>
                  <a:srgbClr val="1885C7"/>
                </a:solidFill>
                <a:latin typeface="Calibri"/>
                <a:ea typeface="Calibri"/>
                <a:cs typeface="Calibri"/>
              </a:defRPr>
            </a:lvl9pPr>
          </a:lstStyle>
          <a:p>
            <a:pPr algn="ctr">
              <a:defRPr sz="1350" b="0">
                <a:solidFill>
                  <a:srgbClr val="1885C7"/>
                </a:solidFill>
                <a:latin typeface="Calibri"/>
                <a:ea typeface="Calibri"/>
                <a:cs typeface="Calibri"/>
              </a:defRPr>
            </a:pPr>
            <a:r>
              <a:rPr sz="1350" b="0">
                <a:solidFill>
                  <a:srgbClr val="1885C7"/>
                </a:solidFill>
                <a:latin typeface="Calibri" panose="020F0502020204030204" pitchFamily="34" charset="0"/>
                <a:ea typeface="Calibri"/>
                <a:cs typeface="Calibri"/>
              </a:rPr>
              <a:t>2 motors</a:t>
            </a:r>
          </a:p>
        </p:txBody>
      </p:sp>
      <p:sp>
        <p:nvSpPr>
          <p:cNvPr id="173" name="Freeform: Shape 172">
            <a:extLst>
              <a:ext uri="{FF2B5EF4-FFF2-40B4-BE49-F238E27FC236}">
                <a16:creationId xmlns:a16="http://schemas.microsoft.com/office/drawing/2014/main" id="{866A1732-CD6E-5024-26CC-A4087E165DF7}"/>
              </a:ext>
            </a:extLst>
          </p:cNvPr>
          <p:cNvSpPr>
            <a:spLocks noGrp="1"/>
          </p:cNvSpPr>
          <p:nvPr/>
        </p:nvSpPr>
        <p:spPr>
          <a:xfrm>
            <a:off x="2143125" y="2722625"/>
            <a:ext cx="9525" cy="409575"/>
          </a:xfrm>
          <a:custGeom>
            <a:avLst/>
            <a:gdLst/>
            <a:ahLst/>
            <a:cxnLst/>
            <a:rect l="0" t="0" r="0" b="0"/>
            <a:pathLst>
              <a:path w="9525" h="409575">
                <a:moveTo>
                  <a:pt x="0" y="0"/>
                </a:moveTo>
                <a:lnTo>
                  <a:pt x="0" y="409575"/>
                </a:lnTo>
              </a:path>
            </a:pathLst>
          </a:custGeom>
          <a:noFill/>
          <a:ln w="23813">
            <a:solidFill>
              <a:srgbClr val="1885C7"/>
            </a:solidFill>
            <a:prstDash val="solid"/>
          </a:ln>
        </p:spPr>
        <p:txBody>
          <a:bodyPr/>
          <a:lstStyle/>
          <a:p>
            <a:pPr algn="ctr"/>
            <a:endParaRPr lang="en-US">
              <a:latin typeface="Calibri" panose="020F0502020204030204" pitchFamily="34" charset="0"/>
            </a:endParaRPr>
          </a:p>
        </p:txBody>
      </p:sp>
      <p:sp>
        <p:nvSpPr>
          <p:cNvPr id="174" name="Freeform: Shape 173">
            <a:extLst>
              <a:ext uri="{FF2B5EF4-FFF2-40B4-BE49-F238E27FC236}">
                <a16:creationId xmlns:a16="http://schemas.microsoft.com/office/drawing/2014/main" id="{D9424DEB-7779-5156-BE69-3DEE335E421B}"/>
              </a:ext>
            </a:extLst>
          </p:cNvPr>
          <p:cNvSpPr>
            <a:spLocks noGrp="1"/>
          </p:cNvSpPr>
          <p:nvPr/>
        </p:nvSpPr>
        <p:spPr>
          <a:xfrm>
            <a:off x="2105025" y="3065525"/>
            <a:ext cx="38100" cy="66675"/>
          </a:xfrm>
          <a:custGeom>
            <a:avLst/>
            <a:gdLst/>
            <a:ahLst/>
            <a:cxnLst/>
            <a:rect l="0" t="0" r="0" b="0"/>
            <a:pathLst>
              <a:path w="38100" h="66675">
                <a:moveTo>
                  <a:pt x="0" y="0"/>
                </a:moveTo>
                <a:lnTo>
                  <a:pt x="38100" y="66675"/>
                </a:lnTo>
              </a:path>
            </a:pathLst>
          </a:custGeom>
          <a:noFill/>
          <a:ln w="19050">
            <a:solidFill>
              <a:srgbClr val="1885C7"/>
            </a:solidFill>
            <a:prstDash val="solid"/>
          </a:ln>
        </p:spPr>
        <p:txBody>
          <a:bodyPr/>
          <a:lstStyle/>
          <a:p>
            <a:pPr algn="ctr"/>
            <a:endParaRPr lang="en-US">
              <a:latin typeface="Calibri" panose="020F0502020204030204" pitchFamily="34" charset="0"/>
            </a:endParaRPr>
          </a:p>
        </p:txBody>
      </p:sp>
      <p:sp>
        <p:nvSpPr>
          <p:cNvPr id="175" name="Freeform: Shape 174">
            <a:extLst>
              <a:ext uri="{FF2B5EF4-FFF2-40B4-BE49-F238E27FC236}">
                <a16:creationId xmlns:a16="http://schemas.microsoft.com/office/drawing/2014/main" id="{B3C0D908-E2BB-7A8B-6F37-D122A9F48117}"/>
              </a:ext>
            </a:extLst>
          </p:cNvPr>
          <p:cNvSpPr>
            <a:spLocks noGrp="1"/>
          </p:cNvSpPr>
          <p:nvPr/>
        </p:nvSpPr>
        <p:spPr>
          <a:xfrm>
            <a:off x="2143125" y="3065525"/>
            <a:ext cx="38100" cy="66675"/>
          </a:xfrm>
          <a:custGeom>
            <a:avLst/>
            <a:gdLst/>
            <a:ahLst/>
            <a:cxnLst/>
            <a:rect l="0" t="0" r="0" b="0"/>
            <a:pathLst>
              <a:path w="38100" h="66675">
                <a:moveTo>
                  <a:pt x="38100" y="0"/>
                </a:moveTo>
                <a:lnTo>
                  <a:pt x="0" y="66675"/>
                </a:lnTo>
              </a:path>
            </a:pathLst>
          </a:custGeom>
          <a:noFill/>
          <a:ln w="19050">
            <a:solidFill>
              <a:srgbClr val="1885C7"/>
            </a:solidFill>
            <a:prstDash val="solid"/>
          </a:ln>
        </p:spPr>
        <p:txBody>
          <a:bodyPr/>
          <a:lstStyle/>
          <a:p>
            <a:pPr algn="ctr"/>
            <a:endParaRPr lang="en-US">
              <a:latin typeface="Calibri" panose="020F0502020204030204" pitchFamily="34" charset="0"/>
            </a:endParaRPr>
          </a:p>
        </p:txBody>
      </p:sp>
      <p:sp>
        <p:nvSpPr>
          <p:cNvPr id="176" name="Freeform: Shape 175">
            <a:extLst>
              <a:ext uri="{FF2B5EF4-FFF2-40B4-BE49-F238E27FC236}">
                <a16:creationId xmlns:a16="http://schemas.microsoft.com/office/drawing/2014/main" id="{6F51A8B3-CC49-001C-D165-302F5ACA9173}"/>
              </a:ext>
            </a:extLst>
          </p:cNvPr>
          <p:cNvSpPr>
            <a:spLocks noGrp="1"/>
          </p:cNvSpPr>
          <p:nvPr/>
        </p:nvSpPr>
        <p:spPr>
          <a:xfrm>
            <a:off x="2143125" y="3532250"/>
            <a:ext cx="9525" cy="409575"/>
          </a:xfrm>
          <a:custGeom>
            <a:avLst/>
            <a:gdLst/>
            <a:ahLst/>
            <a:cxnLst/>
            <a:rect l="0" t="0" r="0" b="0"/>
            <a:pathLst>
              <a:path w="9525" h="409575">
                <a:moveTo>
                  <a:pt x="0" y="0"/>
                </a:moveTo>
                <a:lnTo>
                  <a:pt x="0" y="409575"/>
                </a:lnTo>
              </a:path>
            </a:pathLst>
          </a:custGeom>
          <a:noFill/>
          <a:ln w="23813">
            <a:solidFill>
              <a:srgbClr val="1885C7"/>
            </a:solidFill>
            <a:prstDash val="solid"/>
          </a:ln>
        </p:spPr>
        <p:txBody>
          <a:bodyPr/>
          <a:lstStyle/>
          <a:p>
            <a:pPr algn="ctr"/>
            <a:endParaRPr lang="en-US">
              <a:latin typeface="Calibri" panose="020F0502020204030204" pitchFamily="34" charset="0"/>
            </a:endParaRPr>
          </a:p>
        </p:txBody>
      </p:sp>
      <p:sp>
        <p:nvSpPr>
          <p:cNvPr id="177" name="Freeform: Shape 176">
            <a:extLst>
              <a:ext uri="{FF2B5EF4-FFF2-40B4-BE49-F238E27FC236}">
                <a16:creationId xmlns:a16="http://schemas.microsoft.com/office/drawing/2014/main" id="{4537BD0F-85BD-41E2-66C3-423174F88119}"/>
              </a:ext>
            </a:extLst>
          </p:cNvPr>
          <p:cNvSpPr>
            <a:spLocks noGrp="1"/>
          </p:cNvSpPr>
          <p:nvPr/>
        </p:nvSpPr>
        <p:spPr>
          <a:xfrm>
            <a:off x="2105025" y="3875150"/>
            <a:ext cx="38100" cy="66675"/>
          </a:xfrm>
          <a:custGeom>
            <a:avLst/>
            <a:gdLst/>
            <a:ahLst/>
            <a:cxnLst/>
            <a:rect l="0" t="0" r="0" b="0"/>
            <a:pathLst>
              <a:path w="38100" h="66675">
                <a:moveTo>
                  <a:pt x="0" y="0"/>
                </a:moveTo>
                <a:lnTo>
                  <a:pt x="38100" y="66675"/>
                </a:lnTo>
              </a:path>
            </a:pathLst>
          </a:custGeom>
          <a:noFill/>
          <a:ln w="19050">
            <a:solidFill>
              <a:srgbClr val="1885C7"/>
            </a:solidFill>
            <a:prstDash val="solid"/>
          </a:ln>
        </p:spPr>
        <p:txBody>
          <a:bodyPr/>
          <a:lstStyle/>
          <a:p>
            <a:pPr algn="ctr"/>
            <a:endParaRPr lang="en-US">
              <a:latin typeface="Calibri" panose="020F0502020204030204" pitchFamily="34" charset="0"/>
            </a:endParaRPr>
          </a:p>
        </p:txBody>
      </p:sp>
      <p:sp>
        <p:nvSpPr>
          <p:cNvPr id="178" name="Freeform: Shape 177">
            <a:extLst>
              <a:ext uri="{FF2B5EF4-FFF2-40B4-BE49-F238E27FC236}">
                <a16:creationId xmlns:a16="http://schemas.microsoft.com/office/drawing/2014/main" id="{185BEF4E-5AA3-040A-CCEC-A2E3AEB4140E}"/>
              </a:ext>
            </a:extLst>
          </p:cNvPr>
          <p:cNvSpPr>
            <a:spLocks noGrp="1"/>
          </p:cNvSpPr>
          <p:nvPr/>
        </p:nvSpPr>
        <p:spPr>
          <a:xfrm>
            <a:off x="2143125" y="3875150"/>
            <a:ext cx="38100" cy="66675"/>
          </a:xfrm>
          <a:custGeom>
            <a:avLst/>
            <a:gdLst/>
            <a:ahLst/>
            <a:cxnLst/>
            <a:rect l="0" t="0" r="0" b="0"/>
            <a:pathLst>
              <a:path w="38100" h="66675">
                <a:moveTo>
                  <a:pt x="38100" y="0"/>
                </a:moveTo>
                <a:lnTo>
                  <a:pt x="0" y="66675"/>
                </a:lnTo>
              </a:path>
            </a:pathLst>
          </a:custGeom>
          <a:noFill/>
          <a:ln w="19050">
            <a:solidFill>
              <a:srgbClr val="1885C7"/>
            </a:solidFill>
            <a:prstDash val="solid"/>
          </a:ln>
        </p:spPr>
        <p:txBody>
          <a:bodyPr/>
          <a:lstStyle/>
          <a:p>
            <a:pPr algn="ctr"/>
            <a:endParaRPr lang="en-US">
              <a:latin typeface="Calibri" panose="020F0502020204030204" pitchFamily="34" charset="0"/>
            </a:endParaRPr>
          </a:p>
        </p:txBody>
      </p:sp>
      <p:sp>
        <p:nvSpPr>
          <p:cNvPr id="179" name="Freeform: Shape 178">
            <a:extLst>
              <a:ext uri="{FF2B5EF4-FFF2-40B4-BE49-F238E27FC236}">
                <a16:creationId xmlns:a16="http://schemas.microsoft.com/office/drawing/2014/main" id="{DDF160DA-5509-58C9-79BF-0DE3D6A5E0BC}"/>
              </a:ext>
            </a:extLst>
          </p:cNvPr>
          <p:cNvSpPr>
            <a:spLocks noGrp="1"/>
          </p:cNvSpPr>
          <p:nvPr/>
        </p:nvSpPr>
        <p:spPr>
          <a:xfrm>
            <a:off x="2143125" y="4341875"/>
            <a:ext cx="9525" cy="552450"/>
          </a:xfrm>
          <a:custGeom>
            <a:avLst/>
            <a:gdLst/>
            <a:ahLst/>
            <a:cxnLst/>
            <a:rect l="0" t="0" r="0" b="0"/>
            <a:pathLst>
              <a:path w="9525" h="552450">
                <a:moveTo>
                  <a:pt x="0" y="0"/>
                </a:moveTo>
                <a:lnTo>
                  <a:pt x="0" y="552450"/>
                </a:lnTo>
              </a:path>
            </a:pathLst>
          </a:custGeom>
          <a:noFill/>
          <a:ln w="23813">
            <a:solidFill>
              <a:srgbClr val="000000"/>
            </a:solidFill>
            <a:prstDash val="solid"/>
          </a:ln>
        </p:spPr>
        <p:txBody>
          <a:bodyPr/>
          <a:lstStyle/>
          <a:p>
            <a:pPr algn="ctr"/>
            <a:endParaRPr lang="en-US">
              <a:latin typeface="Calibri" panose="020F0502020204030204" pitchFamily="34" charset="0"/>
            </a:endParaRPr>
          </a:p>
        </p:txBody>
      </p:sp>
      <p:sp>
        <p:nvSpPr>
          <p:cNvPr id="180" name="Freeform: Shape 179">
            <a:extLst>
              <a:ext uri="{FF2B5EF4-FFF2-40B4-BE49-F238E27FC236}">
                <a16:creationId xmlns:a16="http://schemas.microsoft.com/office/drawing/2014/main" id="{AEEB766A-37A0-D7DF-4421-C346CC795CA3}"/>
              </a:ext>
            </a:extLst>
          </p:cNvPr>
          <p:cNvSpPr>
            <a:spLocks noGrp="1"/>
          </p:cNvSpPr>
          <p:nvPr/>
        </p:nvSpPr>
        <p:spPr>
          <a:xfrm>
            <a:off x="2105025" y="4827650"/>
            <a:ext cx="38100" cy="66675"/>
          </a:xfrm>
          <a:custGeom>
            <a:avLst/>
            <a:gdLst/>
            <a:ahLst/>
            <a:cxnLst/>
            <a:rect l="0" t="0" r="0" b="0"/>
            <a:pathLst>
              <a:path w="38100" h="66675">
                <a:moveTo>
                  <a:pt x="0" y="0"/>
                </a:moveTo>
                <a:lnTo>
                  <a:pt x="38100" y="66675"/>
                </a:lnTo>
              </a:path>
            </a:pathLst>
          </a:custGeom>
          <a:noFill/>
          <a:ln w="19050">
            <a:solidFill>
              <a:srgbClr val="000000"/>
            </a:solidFill>
            <a:prstDash val="solid"/>
          </a:ln>
        </p:spPr>
        <p:txBody>
          <a:bodyPr/>
          <a:lstStyle/>
          <a:p>
            <a:pPr algn="ctr"/>
            <a:endParaRPr lang="en-US">
              <a:latin typeface="Calibri" panose="020F0502020204030204" pitchFamily="34" charset="0"/>
            </a:endParaRPr>
          </a:p>
        </p:txBody>
      </p:sp>
      <p:sp>
        <p:nvSpPr>
          <p:cNvPr id="181" name="Freeform: Shape 180">
            <a:extLst>
              <a:ext uri="{FF2B5EF4-FFF2-40B4-BE49-F238E27FC236}">
                <a16:creationId xmlns:a16="http://schemas.microsoft.com/office/drawing/2014/main" id="{F51E6DFC-A9D7-014B-478D-FCC3D81E5931}"/>
              </a:ext>
            </a:extLst>
          </p:cNvPr>
          <p:cNvSpPr>
            <a:spLocks noGrp="1"/>
          </p:cNvSpPr>
          <p:nvPr/>
        </p:nvSpPr>
        <p:spPr>
          <a:xfrm>
            <a:off x="2143125" y="4827650"/>
            <a:ext cx="38100" cy="66675"/>
          </a:xfrm>
          <a:custGeom>
            <a:avLst/>
            <a:gdLst/>
            <a:ahLst/>
            <a:cxnLst/>
            <a:rect l="0" t="0" r="0" b="0"/>
            <a:pathLst>
              <a:path w="38100" h="66675">
                <a:moveTo>
                  <a:pt x="38100" y="0"/>
                </a:moveTo>
                <a:lnTo>
                  <a:pt x="0" y="66675"/>
                </a:lnTo>
              </a:path>
            </a:pathLst>
          </a:custGeom>
          <a:noFill/>
          <a:ln w="19050">
            <a:solidFill>
              <a:srgbClr val="000000"/>
            </a:solidFill>
            <a:prstDash val="solid"/>
          </a:ln>
        </p:spPr>
        <p:txBody>
          <a:bodyPr/>
          <a:lstStyle/>
          <a:p>
            <a:pPr algn="ctr"/>
            <a:endParaRPr lang="en-US">
              <a:latin typeface="Calibri" panose="020F0502020204030204" pitchFamily="34" charset="0"/>
            </a:endParaRPr>
          </a:p>
        </p:txBody>
      </p:sp>
      <p:sp>
        <p:nvSpPr>
          <p:cNvPr id="182" name="Oval 181">
            <a:extLst>
              <a:ext uri="{FF2B5EF4-FFF2-40B4-BE49-F238E27FC236}">
                <a16:creationId xmlns:a16="http://schemas.microsoft.com/office/drawing/2014/main" id="{30990BD6-D5D6-6D0A-000E-1B923B790F78}"/>
              </a:ext>
            </a:extLst>
          </p:cNvPr>
          <p:cNvSpPr>
            <a:spLocks noGrp="1"/>
          </p:cNvSpPr>
          <p:nvPr/>
        </p:nvSpPr>
        <p:spPr>
          <a:xfrm>
            <a:off x="1914525" y="4932425"/>
            <a:ext cx="457200" cy="457200"/>
          </a:xfrm>
          <a:prstGeom prst="ellipse">
            <a:avLst/>
          </a:prstGeom>
          <a:solidFill>
            <a:srgbClr val="FFFFFF"/>
          </a:solidFill>
          <a:ln w="14288">
            <a:solidFill>
              <a:srgbClr val="000000"/>
            </a:solidFill>
            <a:prstDash val="solid"/>
          </a:ln>
        </p:spPr>
        <p:txBody>
          <a:bodyPr/>
          <a:lstStyle/>
          <a:p>
            <a:pPr algn="ctr"/>
            <a:endParaRPr lang="en-US">
              <a:latin typeface="Calibri" panose="020F0502020204030204" pitchFamily="34" charset="0"/>
            </a:endParaRPr>
          </a:p>
        </p:txBody>
      </p:sp>
      <p:sp>
        <p:nvSpPr>
          <p:cNvPr id="183" name="Freeform: Shape 182">
            <a:extLst>
              <a:ext uri="{FF2B5EF4-FFF2-40B4-BE49-F238E27FC236}">
                <a16:creationId xmlns:a16="http://schemas.microsoft.com/office/drawing/2014/main" id="{3E000CEC-80B8-BA05-7086-D6C09667236A}"/>
              </a:ext>
            </a:extLst>
          </p:cNvPr>
          <p:cNvSpPr>
            <a:spLocks noGrp="1"/>
          </p:cNvSpPr>
          <p:nvPr/>
        </p:nvSpPr>
        <p:spPr>
          <a:xfrm>
            <a:off x="2143125" y="4987798"/>
            <a:ext cx="100013" cy="173227"/>
          </a:xfrm>
          <a:custGeom>
            <a:avLst/>
            <a:gdLst/>
            <a:ahLst/>
            <a:cxnLst/>
            <a:rect l="0" t="0" r="0" b="0"/>
            <a:pathLst>
              <a:path w="100013" h="173227">
                <a:moveTo>
                  <a:pt x="0" y="173227"/>
                </a:moveTo>
                <a:lnTo>
                  <a:pt x="100013" y="0"/>
                </a:lnTo>
              </a:path>
            </a:pathLst>
          </a:custGeom>
          <a:noFill/>
          <a:ln w="57150">
            <a:solidFill>
              <a:srgbClr val="000000"/>
            </a:solidFill>
            <a:prstDash val="solid"/>
          </a:ln>
        </p:spPr>
        <p:txBody>
          <a:bodyPr/>
          <a:lstStyle/>
          <a:p>
            <a:pPr algn="ctr"/>
            <a:endParaRPr lang="en-US">
              <a:latin typeface="Calibri" panose="020F0502020204030204" pitchFamily="34" charset="0"/>
            </a:endParaRPr>
          </a:p>
        </p:txBody>
      </p:sp>
      <p:sp>
        <p:nvSpPr>
          <p:cNvPr id="184" name="Freeform: Shape 183">
            <a:extLst>
              <a:ext uri="{FF2B5EF4-FFF2-40B4-BE49-F238E27FC236}">
                <a16:creationId xmlns:a16="http://schemas.microsoft.com/office/drawing/2014/main" id="{7A87211F-0871-5283-48B3-AA134EB330D7}"/>
              </a:ext>
            </a:extLst>
          </p:cNvPr>
          <p:cNvSpPr>
            <a:spLocks noGrp="1"/>
          </p:cNvSpPr>
          <p:nvPr/>
        </p:nvSpPr>
        <p:spPr>
          <a:xfrm>
            <a:off x="2043113" y="5161025"/>
            <a:ext cx="100013" cy="173227"/>
          </a:xfrm>
          <a:custGeom>
            <a:avLst/>
            <a:gdLst/>
            <a:ahLst/>
            <a:cxnLst/>
            <a:rect l="0" t="0" r="0" b="0"/>
            <a:pathLst>
              <a:path w="100013" h="173227">
                <a:moveTo>
                  <a:pt x="100013" y="0"/>
                </a:moveTo>
                <a:lnTo>
                  <a:pt x="0" y="173227"/>
                </a:lnTo>
              </a:path>
            </a:pathLst>
          </a:custGeom>
          <a:noFill/>
          <a:ln w="57150">
            <a:solidFill>
              <a:srgbClr val="000000"/>
            </a:solidFill>
            <a:prstDash val="solid"/>
          </a:ln>
        </p:spPr>
        <p:txBody>
          <a:bodyPr/>
          <a:lstStyle/>
          <a:p>
            <a:pPr algn="ctr"/>
            <a:endParaRPr lang="en-US">
              <a:latin typeface="Calibri" panose="020F0502020204030204" pitchFamily="34" charset="0"/>
            </a:endParaRPr>
          </a:p>
        </p:txBody>
      </p:sp>
      <p:sp>
        <p:nvSpPr>
          <p:cNvPr id="185" name="Oval 184">
            <a:extLst>
              <a:ext uri="{FF2B5EF4-FFF2-40B4-BE49-F238E27FC236}">
                <a16:creationId xmlns:a16="http://schemas.microsoft.com/office/drawing/2014/main" id="{A1F13A87-5495-84CB-AB81-E992F27E4F38}"/>
              </a:ext>
            </a:extLst>
          </p:cNvPr>
          <p:cNvSpPr>
            <a:spLocks noGrp="1"/>
          </p:cNvSpPr>
          <p:nvPr/>
        </p:nvSpPr>
        <p:spPr>
          <a:xfrm>
            <a:off x="2114550" y="5132450"/>
            <a:ext cx="57150" cy="57150"/>
          </a:xfrm>
          <a:prstGeom prst="ellipse">
            <a:avLst/>
          </a:prstGeom>
          <a:solidFill>
            <a:srgbClr val="FFFFFF"/>
          </a:solidFill>
          <a:ln w="9525">
            <a:solidFill>
              <a:srgbClr val="000000"/>
            </a:solidFill>
            <a:prstDash val="solid"/>
          </a:ln>
        </p:spPr>
        <p:txBody>
          <a:bodyPr/>
          <a:lstStyle/>
          <a:p>
            <a:pPr algn="ctr"/>
            <a:endParaRPr lang="en-US">
              <a:latin typeface="Calibri" panose="020F0502020204030204" pitchFamily="34" charset="0"/>
            </a:endParaRPr>
          </a:p>
        </p:txBody>
      </p:sp>
      <p:sp>
        <p:nvSpPr>
          <p:cNvPr id="186" name="Rectangle 185">
            <a:extLst>
              <a:ext uri="{FF2B5EF4-FFF2-40B4-BE49-F238E27FC236}">
                <a16:creationId xmlns:a16="http://schemas.microsoft.com/office/drawing/2014/main" id="{3F6247DD-6F5D-CEBB-300E-76F0231C446F}"/>
              </a:ext>
            </a:extLst>
          </p:cNvPr>
          <p:cNvSpPr>
            <a:spLocks noGrp="1"/>
          </p:cNvSpPr>
          <p:nvPr/>
        </p:nvSpPr>
        <p:spPr>
          <a:xfrm>
            <a:off x="1617259" y="5446775"/>
            <a:ext cx="1095375" cy="266700"/>
          </a:xfrm>
          <a:prstGeom prst="rect">
            <a:avLst/>
          </a:prstGeom>
          <a:noFill/>
          <a:ln w="0">
            <a:noFill/>
            <a:prstDash val="solid"/>
          </a:ln>
        </p:spPr>
        <p:txBody>
          <a:bodyPr lIns="0" tIns="0" rIns="0" bIns="0"/>
          <a:lstStyle>
            <a:defPPr>
              <a:defRPr sz="1275" b="0">
                <a:solidFill>
                  <a:srgbClr val="000000"/>
                </a:solidFill>
                <a:latin typeface="Calibri"/>
                <a:ea typeface="Calibri"/>
                <a:cs typeface="Calibri"/>
              </a:defRPr>
            </a:defPPr>
            <a:lvl1pPr>
              <a:defRPr sz="1275" b="0">
                <a:solidFill>
                  <a:srgbClr val="000000"/>
                </a:solidFill>
                <a:latin typeface="Calibri"/>
                <a:ea typeface="Calibri"/>
                <a:cs typeface="Calibri"/>
              </a:defRPr>
            </a:lvl1pPr>
            <a:lvl2pPr>
              <a:defRPr sz="1275" b="0">
                <a:solidFill>
                  <a:srgbClr val="000000"/>
                </a:solidFill>
                <a:latin typeface="Calibri"/>
                <a:ea typeface="Calibri"/>
                <a:cs typeface="Calibri"/>
              </a:defRPr>
            </a:lvl2pPr>
            <a:lvl3pPr>
              <a:defRPr sz="1275" b="0">
                <a:solidFill>
                  <a:srgbClr val="000000"/>
                </a:solidFill>
                <a:latin typeface="Calibri"/>
                <a:ea typeface="Calibri"/>
                <a:cs typeface="Calibri"/>
              </a:defRPr>
            </a:lvl3pPr>
            <a:lvl4pPr>
              <a:defRPr sz="1275" b="0">
                <a:solidFill>
                  <a:srgbClr val="000000"/>
                </a:solidFill>
                <a:latin typeface="Calibri"/>
                <a:ea typeface="Calibri"/>
                <a:cs typeface="Calibri"/>
              </a:defRPr>
            </a:lvl4pPr>
            <a:lvl5pPr>
              <a:defRPr sz="1275" b="0">
                <a:solidFill>
                  <a:srgbClr val="000000"/>
                </a:solidFill>
                <a:latin typeface="Calibri"/>
                <a:ea typeface="Calibri"/>
                <a:cs typeface="Calibri"/>
              </a:defRPr>
            </a:lvl5pPr>
            <a:lvl6pPr>
              <a:defRPr sz="1275" b="0">
                <a:solidFill>
                  <a:srgbClr val="000000"/>
                </a:solidFill>
                <a:latin typeface="Calibri"/>
                <a:ea typeface="Calibri"/>
                <a:cs typeface="Calibri"/>
              </a:defRPr>
            </a:lvl6pPr>
            <a:lvl7pPr>
              <a:defRPr sz="1275" b="0">
                <a:solidFill>
                  <a:srgbClr val="000000"/>
                </a:solidFill>
                <a:latin typeface="Calibri"/>
                <a:ea typeface="Calibri"/>
                <a:cs typeface="Calibri"/>
              </a:defRPr>
            </a:lvl7pPr>
            <a:lvl8pPr>
              <a:defRPr sz="1275" b="0">
                <a:solidFill>
                  <a:srgbClr val="000000"/>
                </a:solidFill>
                <a:latin typeface="Calibri"/>
                <a:ea typeface="Calibri"/>
                <a:cs typeface="Calibri"/>
              </a:defRPr>
            </a:lvl8pPr>
            <a:lvl9pPr>
              <a:defRPr sz="1275" b="0">
                <a:solidFill>
                  <a:srgbClr val="000000"/>
                </a:solidFill>
                <a:latin typeface="Calibri"/>
                <a:ea typeface="Calibri"/>
                <a:cs typeface="Calibri"/>
              </a:defRPr>
            </a:lvl9pPr>
          </a:lstStyle>
          <a:p>
            <a:pPr algn="ctr">
              <a:defRPr sz="1275" b="0">
                <a:solidFill>
                  <a:srgbClr val="000000"/>
                </a:solidFill>
                <a:latin typeface="Calibri"/>
                <a:ea typeface="Calibri"/>
                <a:cs typeface="Calibri"/>
              </a:defRPr>
            </a:pPr>
            <a:r>
              <a:rPr sz="1275" b="0" dirty="0">
                <a:solidFill>
                  <a:srgbClr val="000000"/>
                </a:solidFill>
                <a:latin typeface="Calibri" panose="020F0502020204030204" pitchFamily="34" charset="0"/>
                <a:ea typeface="Calibri"/>
                <a:cs typeface="Calibri"/>
              </a:rPr>
              <a:t>2 lift props</a:t>
            </a:r>
          </a:p>
        </p:txBody>
      </p:sp>
      <p:sp>
        <p:nvSpPr>
          <p:cNvPr id="187" name="Rectangle 186">
            <a:extLst>
              <a:ext uri="{FF2B5EF4-FFF2-40B4-BE49-F238E27FC236}">
                <a16:creationId xmlns:a16="http://schemas.microsoft.com/office/drawing/2014/main" id="{3B69BEF7-76DB-9301-C8D4-9A911D7C5384}"/>
              </a:ext>
            </a:extLst>
          </p:cNvPr>
          <p:cNvSpPr>
            <a:spLocks noGrp="1"/>
          </p:cNvSpPr>
          <p:nvPr/>
        </p:nvSpPr>
        <p:spPr>
          <a:xfrm>
            <a:off x="2857500" y="2322575"/>
            <a:ext cx="952500" cy="400050"/>
          </a:xfrm>
          <a:prstGeom prst="rect">
            <a:avLst/>
          </a:prstGeom>
          <a:solidFill>
            <a:srgbClr val="FFFFFF"/>
          </a:solidFill>
          <a:ln w="15240">
            <a:solidFill>
              <a:srgbClr val="D97732"/>
            </a:solidFill>
            <a:prstDash val="solid"/>
          </a:ln>
        </p:spPr>
        <p:txBody>
          <a:bodyPr/>
          <a:lstStyle/>
          <a:p>
            <a:pPr algn="ctr"/>
            <a:endParaRPr lang="en-US">
              <a:latin typeface="Calibri" panose="020F0502020204030204" pitchFamily="34" charset="0"/>
            </a:endParaRPr>
          </a:p>
        </p:txBody>
      </p:sp>
      <p:sp>
        <p:nvSpPr>
          <p:cNvPr id="188" name="Rectangle 187">
            <a:extLst>
              <a:ext uri="{FF2B5EF4-FFF2-40B4-BE49-F238E27FC236}">
                <a16:creationId xmlns:a16="http://schemas.microsoft.com/office/drawing/2014/main" id="{427F59BE-F544-22E9-315C-711C2CC80F9C}"/>
              </a:ext>
            </a:extLst>
          </p:cNvPr>
          <p:cNvSpPr>
            <a:spLocks noGrp="1"/>
          </p:cNvSpPr>
          <p:nvPr/>
        </p:nvSpPr>
        <p:spPr>
          <a:xfrm>
            <a:off x="2924175" y="2398775"/>
            <a:ext cx="819150" cy="314325"/>
          </a:xfrm>
          <a:prstGeom prst="rect">
            <a:avLst/>
          </a:prstGeom>
          <a:noFill/>
          <a:ln w="0">
            <a:noFill/>
            <a:prstDash val="solid"/>
          </a:ln>
        </p:spPr>
        <p:txBody>
          <a:bodyPr lIns="0" tIns="0" rIns="0" bIns="0"/>
          <a:lstStyle>
            <a:defPPr>
              <a:defRPr sz="1350" b="0">
                <a:solidFill>
                  <a:srgbClr val="D97732"/>
                </a:solidFill>
                <a:latin typeface="Calibri"/>
                <a:ea typeface="Calibri"/>
                <a:cs typeface="Calibri"/>
              </a:defRPr>
            </a:defPPr>
            <a:lvl1pPr>
              <a:defRPr sz="1350" b="0">
                <a:solidFill>
                  <a:srgbClr val="D97732"/>
                </a:solidFill>
                <a:latin typeface="Calibri"/>
                <a:ea typeface="Calibri"/>
                <a:cs typeface="Calibri"/>
              </a:defRPr>
            </a:lvl1pPr>
            <a:lvl2pPr>
              <a:defRPr sz="1350" b="0">
                <a:solidFill>
                  <a:srgbClr val="D97732"/>
                </a:solidFill>
                <a:latin typeface="Calibri"/>
                <a:ea typeface="Calibri"/>
                <a:cs typeface="Calibri"/>
              </a:defRPr>
            </a:lvl2pPr>
            <a:lvl3pPr>
              <a:defRPr sz="1350" b="0">
                <a:solidFill>
                  <a:srgbClr val="D97732"/>
                </a:solidFill>
                <a:latin typeface="Calibri"/>
                <a:ea typeface="Calibri"/>
                <a:cs typeface="Calibri"/>
              </a:defRPr>
            </a:lvl3pPr>
            <a:lvl4pPr>
              <a:defRPr sz="1350" b="0">
                <a:solidFill>
                  <a:srgbClr val="D97732"/>
                </a:solidFill>
                <a:latin typeface="Calibri"/>
                <a:ea typeface="Calibri"/>
                <a:cs typeface="Calibri"/>
              </a:defRPr>
            </a:lvl4pPr>
            <a:lvl5pPr>
              <a:defRPr sz="1350" b="0">
                <a:solidFill>
                  <a:srgbClr val="D97732"/>
                </a:solidFill>
                <a:latin typeface="Calibri"/>
                <a:ea typeface="Calibri"/>
                <a:cs typeface="Calibri"/>
              </a:defRPr>
            </a:lvl5pPr>
            <a:lvl6pPr>
              <a:defRPr sz="1350" b="0">
                <a:solidFill>
                  <a:srgbClr val="D97732"/>
                </a:solidFill>
                <a:latin typeface="Calibri"/>
                <a:ea typeface="Calibri"/>
                <a:cs typeface="Calibri"/>
              </a:defRPr>
            </a:lvl6pPr>
            <a:lvl7pPr>
              <a:defRPr sz="1350" b="0">
                <a:solidFill>
                  <a:srgbClr val="D97732"/>
                </a:solidFill>
                <a:latin typeface="Calibri"/>
                <a:ea typeface="Calibri"/>
                <a:cs typeface="Calibri"/>
              </a:defRPr>
            </a:lvl7pPr>
            <a:lvl8pPr>
              <a:defRPr sz="1350" b="0">
                <a:solidFill>
                  <a:srgbClr val="D97732"/>
                </a:solidFill>
                <a:latin typeface="Calibri"/>
                <a:ea typeface="Calibri"/>
                <a:cs typeface="Calibri"/>
              </a:defRPr>
            </a:lvl8pPr>
            <a:lvl9pPr>
              <a:defRPr sz="1350" b="0">
                <a:solidFill>
                  <a:srgbClr val="D97732"/>
                </a:solidFill>
                <a:latin typeface="Calibri"/>
                <a:ea typeface="Calibri"/>
                <a:cs typeface="Calibri"/>
              </a:defRPr>
            </a:lvl9pPr>
          </a:lstStyle>
          <a:p>
            <a:pPr algn="ctr">
              <a:defRPr sz="1350" b="0">
                <a:solidFill>
                  <a:srgbClr val="D97732"/>
                </a:solidFill>
                <a:latin typeface="Calibri"/>
                <a:ea typeface="Calibri"/>
                <a:cs typeface="Calibri"/>
              </a:defRPr>
            </a:pPr>
            <a:r>
              <a:rPr sz="1350" b="0">
                <a:solidFill>
                  <a:srgbClr val="D97732"/>
                </a:solidFill>
                <a:latin typeface="Calibri" panose="020F0502020204030204" pitchFamily="34" charset="0"/>
                <a:ea typeface="Calibri"/>
                <a:cs typeface="Calibri"/>
              </a:rPr>
              <a:t>Fuel</a:t>
            </a:r>
          </a:p>
        </p:txBody>
      </p:sp>
      <p:sp>
        <p:nvSpPr>
          <p:cNvPr id="189" name="Rectangle 188">
            <a:extLst>
              <a:ext uri="{FF2B5EF4-FFF2-40B4-BE49-F238E27FC236}">
                <a16:creationId xmlns:a16="http://schemas.microsoft.com/office/drawing/2014/main" id="{F2978025-3EFC-1242-7AFA-1EC6CBF9EBF8}"/>
              </a:ext>
            </a:extLst>
          </p:cNvPr>
          <p:cNvSpPr>
            <a:spLocks noGrp="1"/>
          </p:cNvSpPr>
          <p:nvPr/>
        </p:nvSpPr>
        <p:spPr>
          <a:xfrm>
            <a:off x="2857500" y="3132200"/>
            <a:ext cx="952500" cy="390525"/>
          </a:xfrm>
          <a:prstGeom prst="rect">
            <a:avLst/>
          </a:prstGeom>
          <a:solidFill>
            <a:srgbClr val="FFFFFF"/>
          </a:solidFill>
          <a:ln w="15240">
            <a:solidFill>
              <a:srgbClr val="D97732"/>
            </a:solidFill>
            <a:prstDash val="solid"/>
          </a:ln>
        </p:spPr>
        <p:txBody>
          <a:bodyPr/>
          <a:lstStyle/>
          <a:p>
            <a:pPr algn="ctr"/>
            <a:endParaRPr lang="en-US">
              <a:latin typeface="Calibri" panose="020F0502020204030204" pitchFamily="34" charset="0"/>
            </a:endParaRPr>
          </a:p>
        </p:txBody>
      </p:sp>
      <p:sp>
        <p:nvSpPr>
          <p:cNvPr id="190" name="Rectangle 189">
            <a:extLst>
              <a:ext uri="{FF2B5EF4-FFF2-40B4-BE49-F238E27FC236}">
                <a16:creationId xmlns:a16="http://schemas.microsoft.com/office/drawing/2014/main" id="{B73028F1-51D5-4733-0BD4-213CAA371406}"/>
              </a:ext>
            </a:extLst>
          </p:cNvPr>
          <p:cNvSpPr>
            <a:spLocks noGrp="1"/>
          </p:cNvSpPr>
          <p:nvPr/>
        </p:nvSpPr>
        <p:spPr>
          <a:xfrm>
            <a:off x="2924175" y="3123344"/>
            <a:ext cx="819150" cy="314325"/>
          </a:xfrm>
          <a:prstGeom prst="rect">
            <a:avLst/>
          </a:prstGeom>
          <a:noFill/>
          <a:ln w="0">
            <a:noFill/>
            <a:prstDash val="solid"/>
          </a:ln>
        </p:spPr>
        <p:txBody>
          <a:bodyPr lIns="0" tIns="0" rIns="0" bIns="0"/>
          <a:lstStyle>
            <a:defPPr>
              <a:defRPr sz="1350" b="0">
                <a:solidFill>
                  <a:srgbClr val="D97732"/>
                </a:solidFill>
                <a:latin typeface="Calibri"/>
                <a:ea typeface="Calibri"/>
                <a:cs typeface="Calibri"/>
              </a:defRPr>
            </a:defPPr>
            <a:lvl1pPr>
              <a:defRPr sz="1350" b="0">
                <a:solidFill>
                  <a:srgbClr val="D97732"/>
                </a:solidFill>
                <a:latin typeface="Calibri"/>
                <a:ea typeface="Calibri"/>
                <a:cs typeface="Calibri"/>
              </a:defRPr>
            </a:lvl1pPr>
            <a:lvl2pPr>
              <a:defRPr sz="1350" b="0">
                <a:solidFill>
                  <a:srgbClr val="D97732"/>
                </a:solidFill>
                <a:latin typeface="Calibri"/>
                <a:ea typeface="Calibri"/>
                <a:cs typeface="Calibri"/>
              </a:defRPr>
            </a:lvl2pPr>
            <a:lvl3pPr>
              <a:defRPr sz="1350" b="0">
                <a:solidFill>
                  <a:srgbClr val="D97732"/>
                </a:solidFill>
                <a:latin typeface="Calibri"/>
                <a:ea typeface="Calibri"/>
                <a:cs typeface="Calibri"/>
              </a:defRPr>
            </a:lvl3pPr>
            <a:lvl4pPr>
              <a:defRPr sz="1350" b="0">
                <a:solidFill>
                  <a:srgbClr val="D97732"/>
                </a:solidFill>
                <a:latin typeface="Calibri"/>
                <a:ea typeface="Calibri"/>
                <a:cs typeface="Calibri"/>
              </a:defRPr>
            </a:lvl4pPr>
            <a:lvl5pPr>
              <a:defRPr sz="1350" b="0">
                <a:solidFill>
                  <a:srgbClr val="D97732"/>
                </a:solidFill>
                <a:latin typeface="Calibri"/>
                <a:ea typeface="Calibri"/>
                <a:cs typeface="Calibri"/>
              </a:defRPr>
            </a:lvl5pPr>
            <a:lvl6pPr>
              <a:defRPr sz="1350" b="0">
                <a:solidFill>
                  <a:srgbClr val="D97732"/>
                </a:solidFill>
                <a:latin typeface="Calibri"/>
                <a:ea typeface="Calibri"/>
                <a:cs typeface="Calibri"/>
              </a:defRPr>
            </a:lvl6pPr>
            <a:lvl7pPr>
              <a:defRPr sz="1350" b="0">
                <a:solidFill>
                  <a:srgbClr val="D97732"/>
                </a:solidFill>
                <a:latin typeface="Calibri"/>
                <a:ea typeface="Calibri"/>
                <a:cs typeface="Calibri"/>
              </a:defRPr>
            </a:lvl7pPr>
            <a:lvl8pPr>
              <a:defRPr sz="1350" b="0">
                <a:solidFill>
                  <a:srgbClr val="D97732"/>
                </a:solidFill>
                <a:latin typeface="Calibri"/>
                <a:ea typeface="Calibri"/>
                <a:cs typeface="Calibri"/>
              </a:defRPr>
            </a:lvl8pPr>
            <a:lvl9pPr>
              <a:defRPr sz="1350" b="0">
                <a:solidFill>
                  <a:srgbClr val="D97732"/>
                </a:solidFill>
                <a:latin typeface="Calibri"/>
                <a:ea typeface="Calibri"/>
                <a:cs typeface="Calibri"/>
              </a:defRPr>
            </a:lvl9pPr>
          </a:lstStyle>
          <a:p>
            <a:pPr algn="ctr">
              <a:defRPr sz="1350" b="0">
                <a:solidFill>
                  <a:srgbClr val="D97732"/>
                </a:solidFill>
                <a:latin typeface="Calibri"/>
                <a:ea typeface="Calibri"/>
                <a:cs typeface="Calibri"/>
              </a:defRPr>
            </a:pPr>
            <a:r>
              <a:rPr lang="en-US" sz="1350" b="0" dirty="0">
                <a:solidFill>
                  <a:srgbClr val="D97732"/>
                </a:solidFill>
                <a:latin typeface="Calibri" panose="020F0502020204030204" pitchFamily="34" charset="0"/>
                <a:ea typeface="Calibri"/>
                <a:cs typeface="Calibri"/>
              </a:rPr>
              <a:t>Rotary </a:t>
            </a:r>
          </a:p>
          <a:p>
            <a:pPr algn="ctr">
              <a:defRPr sz="1350" b="0">
                <a:solidFill>
                  <a:srgbClr val="D97732"/>
                </a:solidFill>
                <a:latin typeface="Calibri"/>
                <a:ea typeface="Calibri"/>
                <a:cs typeface="Calibri"/>
              </a:defRPr>
            </a:pPr>
            <a:r>
              <a:rPr lang="en-US" sz="1350" b="0" dirty="0">
                <a:solidFill>
                  <a:srgbClr val="D97732"/>
                </a:solidFill>
                <a:latin typeface="Calibri" panose="020F0502020204030204" pitchFamily="34" charset="0"/>
                <a:ea typeface="Calibri"/>
                <a:cs typeface="Calibri"/>
              </a:rPr>
              <a:t>E</a:t>
            </a:r>
            <a:r>
              <a:rPr sz="1350" b="0" dirty="0">
                <a:solidFill>
                  <a:srgbClr val="D97732"/>
                </a:solidFill>
                <a:latin typeface="Calibri" panose="020F0502020204030204" pitchFamily="34" charset="0"/>
                <a:ea typeface="Calibri"/>
                <a:cs typeface="Calibri"/>
              </a:rPr>
              <a:t>ngine</a:t>
            </a:r>
          </a:p>
        </p:txBody>
      </p:sp>
      <p:sp>
        <p:nvSpPr>
          <p:cNvPr id="191" name="Freeform: Shape 190">
            <a:extLst>
              <a:ext uri="{FF2B5EF4-FFF2-40B4-BE49-F238E27FC236}">
                <a16:creationId xmlns:a16="http://schemas.microsoft.com/office/drawing/2014/main" id="{76170CA7-EA19-4247-06F1-2D5866B650B2}"/>
              </a:ext>
            </a:extLst>
          </p:cNvPr>
          <p:cNvSpPr>
            <a:spLocks noGrp="1"/>
          </p:cNvSpPr>
          <p:nvPr/>
        </p:nvSpPr>
        <p:spPr>
          <a:xfrm>
            <a:off x="3333750" y="2722625"/>
            <a:ext cx="9525" cy="409575"/>
          </a:xfrm>
          <a:custGeom>
            <a:avLst/>
            <a:gdLst/>
            <a:ahLst/>
            <a:cxnLst/>
            <a:rect l="0" t="0" r="0" b="0"/>
            <a:pathLst>
              <a:path w="9525" h="409575">
                <a:moveTo>
                  <a:pt x="0" y="0"/>
                </a:moveTo>
                <a:lnTo>
                  <a:pt x="0" y="409575"/>
                </a:lnTo>
              </a:path>
            </a:pathLst>
          </a:custGeom>
          <a:noFill/>
          <a:ln w="23813">
            <a:solidFill>
              <a:srgbClr val="D97732"/>
            </a:solidFill>
            <a:prstDash val="solid"/>
          </a:ln>
        </p:spPr>
        <p:txBody>
          <a:bodyPr/>
          <a:lstStyle/>
          <a:p>
            <a:pPr algn="ctr"/>
            <a:endParaRPr lang="en-US">
              <a:latin typeface="Calibri" panose="020F0502020204030204" pitchFamily="34" charset="0"/>
            </a:endParaRPr>
          </a:p>
        </p:txBody>
      </p:sp>
      <p:sp>
        <p:nvSpPr>
          <p:cNvPr id="192" name="Freeform: Shape 191">
            <a:extLst>
              <a:ext uri="{FF2B5EF4-FFF2-40B4-BE49-F238E27FC236}">
                <a16:creationId xmlns:a16="http://schemas.microsoft.com/office/drawing/2014/main" id="{5061ECDB-0119-EB57-4806-629727A7CBEE}"/>
              </a:ext>
            </a:extLst>
          </p:cNvPr>
          <p:cNvSpPr>
            <a:spLocks noGrp="1"/>
          </p:cNvSpPr>
          <p:nvPr/>
        </p:nvSpPr>
        <p:spPr>
          <a:xfrm>
            <a:off x="3295650" y="3065525"/>
            <a:ext cx="38100" cy="66675"/>
          </a:xfrm>
          <a:custGeom>
            <a:avLst/>
            <a:gdLst/>
            <a:ahLst/>
            <a:cxnLst/>
            <a:rect l="0" t="0" r="0" b="0"/>
            <a:pathLst>
              <a:path w="38100" h="66675">
                <a:moveTo>
                  <a:pt x="0" y="0"/>
                </a:moveTo>
                <a:lnTo>
                  <a:pt x="38100" y="66675"/>
                </a:lnTo>
              </a:path>
            </a:pathLst>
          </a:custGeom>
          <a:noFill/>
          <a:ln w="19050">
            <a:solidFill>
              <a:srgbClr val="D97732"/>
            </a:solidFill>
            <a:prstDash val="solid"/>
          </a:ln>
        </p:spPr>
        <p:txBody>
          <a:bodyPr/>
          <a:lstStyle/>
          <a:p>
            <a:pPr algn="ctr"/>
            <a:endParaRPr lang="en-US">
              <a:latin typeface="Calibri" panose="020F0502020204030204" pitchFamily="34" charset="0"/>
            </a:endParaRPr>
          </a:p>
        </p:txBody>
      </p:sp>
      <p:sp>
        <p:nvSpPr>
          <p:cNvPr id="193" name="Freeform: Shape 192">
            <a:extLst>
              <a:ext uri="{FF2B5EF4-FFF2-40B4-BE49-F238E27FC236}">
                <a16:creationId xmlns:a16="http://schemas.microsoft.com/office/drawing/2014/main" id="{4EEC8B74-A225-AB79-BD6F-A5D7F785C5AF}"/>
              </a:ext>
            </a:extLst>
          </p:cNvPr>
          <p:cNvSpPr>
            <a:spLocks noGrp="1"/>
          </p:cNvSpPr>
          <p:nvPr/>
        </p:nvSpPr>
        <p:spPr>
          <a:xfrm>
            <a:off x="3333750" y="3065525"/>
            <a:ext cx="38100" cy="66675"/>
          </a:xfrm>
          <a:custGeom>
            <a:avLst/>
            <a:gdLst/>
            <a:ahLst/>
            <a:cxnLst/>
            <a:rect l="0" t="0" r="0" b="0"/>
            <a:pathLst>
              <a:path w="38100" h="66675">
                <a:moveTo>
                  <a:pt x="38100" y="0"/>
                </a:moveTo>
                <a:lnTo>
                  <a:pt x="0" y="66675"/>
                </a:lnTo>
              </a:path>
            </a:pathLst>
          </a:custGeom>
          <a:noFill/>
          <a:ln w="19050">
            <a:solidFill>
              <a:srgbClr val="D97732"/>
            </a:solidFill>
            <a:prstDash val="solid"/>
          </a:ln>
        </p:spPr>
        <p:txBody>
          <a:bodyPr/>
          <a:lstStyle/>
          <a:p>
            <a:pPr algn="ctr"/>
            <a:endParaRPr lang="en-US">
              <a:latin typeface="Calibri" panose="020F0502020204030204" pitchFamily="34" charset="0"/>
            </a:endParaRPr>
          </a:p>
        </p:txBody>
      </p:sp>
      <p:sp>
        <p:nvSpPr>
          <p:cNvPr id="194" name="Freeform: Shape 193">
            <a:extLst>
              <a:ext uri="{FF2B5EF4-FFF2-40B4-BE49-F238E27FC236}">
                <a16:creationId xmlns:a16="http://schemas.microsoft.com/office/drawing/2014/main" id="{B2E6AF20-0342-262A-EDC5-301B62CA308A}"/>
              </a:ext>
            </a:extLst>
          </p:cNvPr>
          <p:cNvSpPr>
            <a:spLocks noGrp="1"/>
          </p:cNvSpPr>
          <p:nvPr/>
        </p:nvSpPr>
        <p:spPr>
          <a:xfrm>
            <a:off x="3333750" y="3526715"/>
            <a:ext cx="0" cy="1371600"/>
          </a:xfrm>
          <a:custGeom>
            <a:avLst/>
            <a:gdLst/>
            <a:ahLst/>
            <a:cxnLst/>
            <a:rect l="0" t="0" r="0" b="0"/>
            <a:pathLst>
              <a:path w="9525" h="1162050">
                <a:moveTo>
                  <a:pt x="0" y="0"/>
                </a:moveTo>
                <a:lnTo>
                  <a:pt x="0" y="1162050"/>
                </a:lnTo>
              </a:path>
            </a:pathLst>
          </a:custGeom>
          <a:noFill/>
          <a:ln w="23813">
            <a:solidFill>
              <a:srgbClr val="000000"/>
            </a:solidFill>
            <a:prstDash val="solid"/>
          </a:ln>
        </p:spPr>
        <p:txBody>
          <a:bodyPr/>
          <a:lstStyle/>
          <a:p>
            <a:pPr algn="ctr"/>
            <a:endParaRPr lang="en-US">
              <a:latin typeface="Calibri" panose="020F0502020204030204" pitchFamily="34" charset="0"/>
            </a:endParaRPr>
          </a:p>
        </p:txBody>
      </p:sp>
      <p:sp>
        <p:nvSpPr>
          <p:cNvPr id="195" name="Freeform: Shape 194">
            <a:extLst>
              <a:ext uri="{FF2B5EF4-FFF2-40B4-BE49-F238E27FC236}">
                <a16:creationId xmlns:a16="http://schemas.microsoft.com/office/drawing/2014/main" id="{AE81AB29-33C2-FCE1-D184-5B1D448F2ADC}"/>
              </a:ext>
            </a:extLst>
          </p:cNvPr>
          <p:cNvSpPr>
            <a:spLocks noGrp="1"/>
          </p:cNvSpPr>
          <p:nvPr/>
        </p:nvSpPr>
        <p:spPr>
          <a:xfrm>
            <a:off x="3295650" y="4827650"/>
            <a:ext cx="38100" cy="66675"/>
          </a:xfrm>
          <a:custGeom>
            <a:avLst/>
            <a:gdLst/>
            <a:ahLst/>
            <a:cxnLst/>
            <a:rect l="0" t="0" r="0" b="0"/>
            <a:pathLst>
              <a:path w="38100" h="66675">
                <a:moveTo>
                  <a:pt x="0" y="0"/>
                </a:moveTo>
                <a:lnTo>
                  <a:pt x="38100" y="66675"/>
                </a:lnTo>
              </a:path>
            </a:pathLst>
          </a:custGeom>
          <a:noFill/>
          <a:ln w="19050">
            <a:solidFill>
              <a:srgbClr val="000000"/>
            </a:solidFill>
            <a:prstDash val="solid"/>
          </a:ln>
        </p:spPr>
        <p:txBody>
          <a:bodyPr/>
          <a:lstStyle/>
          <a:p>
            <a:pPr algn="ctr"/>
            <a:endParaRPr lang="en-US">
              <a:latin typeface="Calibri" panose="020F0502020204030204" pitchFamily="34" charset="0"/>
            </a:endParaRPr>
          </a:p>
        </p:txBody>
      </p:sp>
      <p:sp>
        <p:nvSpPr>
          <p:cNvPr id="196" name="Freeform: Shape 195">
            <a:extLst>
              <a:ext uri="{FF2B5EF4-FFF2-40B4-BE49-F238E27FC236}">
                <a16:creationId xmlns:a16="http://schemas.microsoft.com/office/drawing/2014/main" id="{02BBDA24-37F5-7345-ED59-19E4EA5E4B27}"/>
              </a:ext>
            </a:extLst>
          </p:cNvPr>
          <p:cNvSpPr>
            <a:spLocks noGrp="1"/>
          </p:cNvSpPr>
          <p:nvPr/>
        </p:nvSpPr>
        <p:spPr>
          <a:xfrm>
            <a:off x="3333750" y="4827650"/>
            <a:ext cx="38100" cy="66675"/>
          </a:xfrm>
          <a:custGeom>
            <a:avLst/>
            <a:gdLst/>
            <a:ahLst/>
            <a:cxnLst/>
            <a:rect l="0" t="0" r="0" b="0"/>
            <a:pathLst>
              <a:path w="38100" h="66675">
                <a:moveTo>
                  <a:pt x="38100" y="0"/>
                </a:moveTo>
                <a:lnTo>
                  <a:pt x="0" y="66675"/>
                </a:lnTo>
              </a:path>
            </a:pathLst>
          </a:custGeom>
          <a:noFill/>
          <a:ln w="19050">
            <a:solidFill>
              <a:srgbClr val="000000"/>
            </a:solidFill>
            <a:prstDash val="solid"/>
          </a:ln>
        </p:spPr>
        <p:txBody>
          <a:bodyPr/>
          <a:lstStyle/>
          <a:p>
            <a:pPr algn="ctr"/>
            <a:endParaRPr lang="en-US">
              <a:latin typeface="Calibri" panose="020F0502020204030204" pitchFamily="34" charset="0"/>
            </a:endParaRPr>
          </a:p>
        </p:txBody>
      </p:sp>
      <p:sp>
        <p:nvSpPr>
          <p:cNvPr id="197" name="Oval 196">
            <a:extLst>
              <a:ext uri="{FF2B5EF4-FFF2-40B4-BE49-F238E27FC236}">
                <a16:creationId xmlns:a16="http://schemas.microsoft.com/office/drawing/2014/main" id="{C518D4AE-C735-0AFD-3DDA-B4B155881584}"/>
              </a:ext>
            </a:extLst>
          </p:cNvPr>
          <p:cNvSpPr>
            <a:spLocks noGrp="1"/>
          </p:cNvSpPr>
          <p:nvPr/>
        </p:nvSpPr>
        <p:spPr>
          <a:xfrm>
            <a:off x="3105150" y="4932425"/>
            <a:ext cx="457200" cy="457200"/>
          </a:xfrm>
          <a:prstGeom prst="ellipse">
            <a:avLst/>
          </a:prstGeom>
          <a:solidFill>
            <a:srgbClr val="FFFFFF"/>
          </a:solidFill>
          <a:ln w="14288">
            <a:solidFill>
              <a:srgbClr val="000000"/>
            </a:solidFill>
            <a:prstDash val="solid"/>
          </a:ln>
        </p:spPr>
        <p:txBody>
          <a:bodyPr/>
          <a:lstStyle/>
          <a:p>
            <a:pPr algn="ctr"/>
            <a:endParaRPr lang="en-US">
              <a:latin typeface="Calibri" panose="020F0502020204030204" pitchFamily="34" charset="0"/>
            </a:endParaRPr>
          </a:p>
        </p:txBody>
      </p:sp>
      <p:sp>
        <p:nvSpPr>
          <p:cNvPr id="198" name="Freeform: Shape 197">
            <a:extLst>
              <a:ext uri="{FF2B5EF4-FFF2-40B4-BE49-F238E27FC236}">
                <a16:creationId xmlns:a16="http://schemas.microsoft.com/office/drawing/2014/main" id="{E61061DC-FF14-180C-5945-57D52384062C}"/>
              </a:ext>
            </a:extLst>
          </p:cNvPr>
          <p:cNvSpPr>
            <a:spLocks noGrp="1"/>
          </p:cNvSpPr>
          <p:nvPr/>
        </p:nvSpPr>
        <p:spPr>
          <a:xfrm>
            <a:off x="3333750" y="4987798"/>
            <a:ext cx="100013" cy="173227"/>
          </a:xfrm>
          <a:custGeom>
            <a:avLst/>
            <a:gdLst/>
            <a:ahLst/>
            <a:cxnLst/>
            <a:rect l="0" t="0" r="0" b="0"/>
            <a:pathLst>
              <a:path w="100013" h="173227">
                <a:moveTo>
                  <a:pt x="0" y="173227"/>
                </a:moveTo>
                <a:lnTo>
                  <a:pt x="100013" y="0"/>
                </a:lnTo>
              </a:path>
            </a:pathLst>
          </a:custGeom>
          <a:noFill/>
          <a:ln w="57150">
            <a:solidFill>
              <a:srgbClr val="000000"/>
            </a:solidFill>
            <a:prstDash val="solid"/>
          </a:ln>
        </p:spPr>
        <p:txBody>
          <a:bodyPr/>
          <a:lstStyle/>
          <a:p>
            <a:pPr algn="ctr"/>
            <a:endParaRPr lang="en-US">
              <a:latin typeface="Calibri" panose="020F0502020204030204" pitchFamily="34" charset="0"/>
            </a:endParaRPr>
          </a:p>
        </p:txBody>
      </p:sp>
      <p:sp>
        <p:nvSpPr>
          <p:cNvPr id="199" name="Freeform: Shape 198">
            <a:extLst>
              <a:ext uri="{FF2B5EF4-FFF2-40B4-BE49-F238E27FC236}">
                <a16:creationId xmlns:a16="http://schemas.microsoft.com/office/drawing/2014/main" id="{4C1FBBE9-054D-12C8-83E5-10A8082C5C5B}"/>
              </a:ext>
            </a:extLst>
          </p:cNvPr>
          <p:cNvSpPr>
            <a:spLocks noGrp="1"/>
          </p:cNvSpPr>
          <p:nvPr/>
        </p:nvSpPr>
        <p:spPr>
          <a:xfrm>
            <a:off x="3333750" y="5161025"/>
            <a:ext cx="100013" cy="173227"/>
          </a:xfrm>
          <a:custGeom>
            <a:avLst/>
            <a:gdLst/>
            <a:ahLst/>
            <a:cxnLst/>
            <a:rect l="0" t="0" r="0" b="0"/>
            <a:pathLst>
              <a:path w="100013" h="173227">
                <a:moveTo>
                  <a:pt x="0" y="0"/>
                </a:moveTo>
                <a:lnTo>
                  <a:pt x="100013" y="173227"/>
                </a:lnTo>
              </a:path>
            </a:pathLst>
          </a:custGeom>
          <a:noFill/>
          <a:ln w="57150">
            <a:solidFill>
              <a:srgbClr val="000000"/>
            </a:solidFill>
            <a:prstDash val="solid"/>
          </a:ln>
        </p:spPr>
        <p:txBody>
          <a:bodyPr/>
          <a:lstStyle/>
          <a:p>
            <a:pPr algn="ctr"/>
            <a:endParaRPr lang="en-US">
              <a:latin typeface="Calibri" panose="020F0502020204030204" pitchFamily="34" charset="0"/>
            </a:endParaRPr>
          </a:p>
        </p:txBody>
      </p:sp>
      <p:sp>
        <p:nvSpPr>
          <p:cNvPr id="200" name="Freeform: Shape 199">
            <a:extLst>
              <a:ext uri="{FF2B5EF4-FFF2-40B4-BE49-F238E27FC236}">
                <a16:creationId xmlns:a16="http://schemas.microsoft.com/office/drawing/2014/main" id="{0D1F20D1-3025-86B3-0271-00CF2E19812C}"/>
              </a:ext>
            </a:extLst>
          </p:cNvPr>
          <p:cNvSpPr>
            <a:spLocks noGrp="1"/>
          </p:cNvSpPr>
          <p:nvPr/>
        </p:nvSpPr>
        <p:spPr>
          <a:xfrm>
            <a:off x="3133725" y="5161025"/>
            <a:ext cx="200025" cy="9525"/>
          </a:xfrm>
          <a:custGeom>
            <a:avLst/>
            <a:gdLst/>
            <a:ahLst/>
            <a:cxnLst/>
            <a:rect l="0" t="0" r="0" b="0"/>
            <a:pathLst>
              <a:path w="200025" h="9525">
                <a:moveTo>
                  <a:pt x="200025" y="0"/>
                </a:moveTo>
                <a:lnTo>
                  <a:pt x="0" y="0"/>
                </a:lnTo>
              </a:path>
            </a:pathLst>
          </a:custGeom>
          <a:noFill/>
          <a:ln w="57150">
            <a:solidFill>
              <a:srgbClr val="000000"/>
            </a:solidFill>
            <a:prstDash val="solid"/>
          </a:ln>
        </p:spPr>
        <p:txBody>
          <a:bodyPr/>
          <a:lstStyle/>
          <a:p>
            <a:pPr algn="ctr"/>
            <a:endParaRPr lang="en-US">
              <a:latin typeface="Calibri" panose="020F0502020204030204" pitchFamily="34" charset="0"/>
            </a:endParaRPr>
          </a:p>
        </p:txBody>
      </p:sp>
      <p:sp>
        <p:nvSpPr>
          <p:cNvPr id="201" name="Oval 200">
            <a:extLst>
              <a:ext uri="{FF2B5EF4-FFF2-40B4-BE49-F238E27FC236}">
                <a16:creationId xmlns:a16="http://schemas.microsoft.com/office/drawing/2014/main" id="{AC5AAA86-F5BF-A3FF-49F7-C485E1533B38}"/>
              </a:ext>
            </a:extLst>
          </p:cNvPr>
          <p:cNvSpPr>
            <a:spLocks noGrp="1"/>
          </p:cNvSpPr>
          <p:nvPr/>
        </p:nvSpPr>
        <p:spPr>
          <a:xfrm>
            <a:off x="3305175" y="5132450"/>
            <a:ext cx="57150" cy="57150"/>
          </a:xfrm>
          <a:prstGeom prst="ellipse">
            <a:avLst/>
          </a:prstGeom>
          <a:solidFill>
            <a:srgbClr val="FFFFFF"/>
          </a:solidFill>
          <a:ln w="9525">
            <a:solidFill>
              <a:srgbClr val="000000"/>
            </a:solidFill>
            <a:prstDash val="solid"/>
          </a:ln>
        </p:spPr>
        <p:txBody>
          <a:bodyPr/>
          <a:lstStyle/>
          <a:p>
            <a:pPr algn="ctr"/>
            <a:endParaRPr lang="en-US">
              <a:latin typeface="Calibri" panose="020F0502020204030204" pitchFamily="34" charset="0"/>
            </a:endParaRPr>
          </a:p>
        </p:txBody>
      </p:sp>
      <p:sp>
        <p:nvSpPr>
          <p:cNvPr id="202" name="Rectangle 201">
            <a:extLst>
              <a:ext uri="{FF2B5EF4-FFF2-40B4-BE49-F238E27FC236}">
                <a16:creationId xmlns:a16="http://schemas.microsoft.com/office/drawing/2014/main" id="{D0A8C82E-8A9F-7021-F4D5-7F3D6999CCD5}"/>
              </a:ext>
            </a:extLst>
          </p:cNvPr>
          <p:cNvSpPr>
            <a:spLocks noGrp="1"/>
          </p:cNvSpPr>
          <p:nvPr/>
        </p:nvSpPr>
        <p:spPr>
          <a:xfrm>
            <a:off x="2790825" y="5446775"/>
            <a:ext cx="1095375" cy="266700"/>
          </a:xfrm>
          <a:prstGeom prst="rect">
            <a:avLst/>
          </a:prstGeom>
          <a:noFill/>
          <a:ln w="0">
            <a:noFill/>
            <a:prstDash val="solid"/>
          </a:ln>
        </p:spPr>
        <p:txBody>
          <a:bodyPr lIns="0" tIns="0" rIns="0" bIns="0"/>
          <a:lstStyle>
            <a:defPPr>
              <a:defRPr sz="1275" b="0">
                <a:solidFill>
                  <a:srgbClr val="000000"/>
                </a:solidFill>
                <a:latin typeface="Calibri"/>
                <a:ea typeface="Calibri"/>
                <a:cs typeface="Calibri"/>
              </a:defRPr>
            </a:defPPr>
            <a:lvl1pPr>
              <a:defRPr sz="1275" b="0">
                <a:solidFill>
                  <a:srgbClr val="000000"/>
                </a:solidFill>
                <a:latin typeface="Calibri"/>
                <a:ea typeface="Calibri"/>
                <a:cs typeface="Calibri"/>
              </a:defRPr>
            </a:lvl1pPr>
            <a:lvl2pPr>
              <a:defRPr sz="1275" b="0">
                <a:solidFill>
                  <a:srgbClr val="000000"/>
                </a:solidFill>
                <a:latin typeface="Calibri"/>
                <a:ea typeface="Calibri"/>
                <a:cs typeface="Calibri"/>
              </a:defRPr>
            </a:lvl2pPr>
            <a:lvl3pPr>
              <a:defRPr sz="1275" b="0">
                <a:solidFill>
                  <a:srgbClr val="000000"/>
                </a:solidFill>
                <a:latin typeface="Calibri"/>
                <a:ea typeface="Calibri"/>
                <a:cs typeface="Calibri"/>
              </a:defRPr>
            </a:lvl3pPr>
            <a:lvl4pPr>
              <a:defRPr sz="1275" b="0">
                <a:solidFill>
                  <a:srgbClr val="000000"/>
                </a:solidFill>
                <a:latin typeface="Calibri"/>
                <a:ea typeface="Calibri"/>
                <a:cs typeface="Calibri"/>
              </a:defRPr>
            </a:lvl4pPr>
            <a:lvl5pPr>
              <a:defRPr sz="1275" b="0">
                <a:solidFill>
                  <a:srgbClr val="000000"/>
                </a:solidFill>
                <a:latin typeface="Calibri"/>
                <a:ea typeface="Calibri"/>
                <a:cs typeface="Calibri"/>
              </a:defRPr>
            </a:lvl5pPr>
            <a:lvl6pPr>
              <a:defRPr sz="1275" b="0">
                <a:solidFill>
                  <a:srgbClr val="000000"/>
                </a:solidFill>
                <a:latin typeface="Calibri"/>
                <a:ea typeface="Calibri"/>
                <a:cs typeface="Calibri"/>
              </a:defRPr>
            </a:lvl6pPr>
            <a:lvl7pPr>
              <a:defRPr sz="1275" b="0">
                <a:solidFill>
                  <a:srgbClr val="000000"/>
                </a:solidFill>
                <a:latin typeface="Calibri"/>
                <a:ea typeface="Calibri"/>
                <a:cs typeface="Calibri"/>
              </a:defRPr>
            </a:lvl7pPr>
            <a:lvl8pPr>
              <a:defRPr sz="1275" b="0">
                <a:solidFill>
                  <a:srgbClr val="000000"/>
                </a:solidFill>
                <a:latin typeface="Calibri"/>
                <a:ea typeface="Calibri"/>
                <a:cs typeface="Calibri"/>
              </a:defRPr>
            </a:lvl8pPr>
            <a:lvl9pPr>
              <a:defRPr sz="1275" b="0">
                <a:solidFill>
                  <a:srgbClr val="000000"/>
                </a:solidFill>
                <a:latin typeface="Calibri"/>
                <a:ea typeface="Calibri"/>
                <a:cs typeface="Calibri"/>
              </a:defRPr>
            </a:lvl9pPr>
          </a:lstStyle>
          <a:p>
            <a:pPr algn="ctr">
              <a:defRPr sz="1275" b="0">
                <a:solidFill>
                  <a:srgbClr val="000000"/>
                </a:solidFill>
                <a:latin typeface="Calibri"/>
                <a:ea typeface="Calibri"/>
                <a:cs typeface="Calibri"/>
              </a:defRPr>
            </a:pPr>
            <a:r>
              <a:rPr sz="1275" b="0" dirty="0">
                <a:solidFill>
                  <a:srgbClr val="000000"/>
                </a:solidFill>
                <a:latin typeface="Calibri" panose="020F0502020204030204" pitchFamily="34" charset="0"/>
                <a:ea typeface="Calibri"/>
                <a:cs typeface="Calibri"/>
              </a:rPr>
              <a:t>Cruise prop</a:t>
            </a:r>
          </a:p>
        </p:txBody>
      </p:sp>
      <p:sp>
        <p:nvSpPr>
          <p:cNvPr id="203" name="Rectangle 202">
            <a:extLst>
              <a:ext uri="{FF2B5EF4-FFF2-40B4-BE49-F238E27FC236}">
                <a16:creationId xmlns:a16="http://schemas.microsoft.com/office/drawing/2014/main" id="{00192556-7E73-611C-8787-F6CA548363F4}"/>
              </a:ext>
            </a:extLst>
          </p:cNvPr>
          <p:cNvSpPr>
            <a:spLocks noGrp="1"/>
          </p:cNvSpPr>
          <p:nvPr/>
        </p:nvSpPr>
        <p:spPr>
          <a:xfrm>
            <a:off x="5090778" y="2322575"/>
            <a:ext cx="1828800" cy="400050"/>
          </a:xfrm>
          <a:prstGeom prst="rect">
            <a:avLst/>
          </a:prstGeom>
          <a:solidFill>
            <a:srgbClr val="FFFFFF"/>
          </a:solidFill>
          <a:ln w="15240">
            <a:solidFill>
              <a:srgbClr val="D97732"/>
            </a:solidFill>
            <a:prstDash val="solid"/>
          </a:ln>
        </p:spPr>
        <p:txBody>
          <a:bodyPr/>
          <a:lstStyle/>
          <a:p>
            <a:pPr algn="ctr"/>
            <a:endParaRPr lang="en-US">
              <a:latin typeface="Calibri" panose="020F0502020204030204" pitchFamily="34" charset="0"/>
            </a:endParaRPr>
          </a:p>
        </p:txBody>
      </p:sp>
      <p:sp>
        <p:nvSpPr>
          <p:cNvPr id="204" name="Rectangle 203">
            <a:extLst>
              <a:ext uri="{FF2B5EF4-FFF2-40B4-BE49-F238E27FC236}">
                <a16:creationId xmlns:a16="http://schemas.microsoft.com/office/drawing/2014/main" id="{9D0A9088-B10D-8D79-0A25-D0D0A827DED9}"/>
              </a:ext>
            </a:extLst>
          </p:cNvPr>
          <p:cNvSpPr>
            <a:spLocks noGrp="1"/>
          </p:cNvSpPr>
          <p:nvPr/>
        </p:nvSpPr>
        <p:spPr>
          <a:xfrm>
            <a:off x="5114925" y="2398775"/>
            <a:ext cx="1771650" cy="314325"/>
          </a:xfrm>
          <a:prstGeom prst="rect">
            <a:avLst/>
          </a:prstGeom>
          <a:noFill/>
          <a:ln w="0">
            <a:noFill/>
            <a:prstDash val="solid"/>
          </a:ln>
        </p:spPr>
        <p:txBody>
          <a:bodyPr lIns="0" tIns="0" rIns="0" bIns="0"/>
          <a:lstStyle>
            <a:defPPr>
              <a:defRPr sz="1350" b="0">
                <a:solidFill>
                  <a:srgbClr val="D97732"/>
                </a:solidFill>
                <a:latin typeface="Calibri"/>
                <a:ea typeface="Calibri"/>
                <a:cs typeface="Calibri"/>
              </a:defRPr>
            </a:defPPr>
            <a:lvl1pPr>
              <a:defRPr sz="1350" b="0">
                <a:solidFill>
                  <a:srgbClr val="D97732"/>
                </a:solidFill>
                <a:latin typeface="Calibri"/>
                <a:ea typeface="Calibri"/>
                <a:cs typeface="Calibri"/>
              </a:defRPr>
            </a:lvl1pPr>
            <a:lvl2pPr>
              <a:defRPr sz="1350" b="0">
                <a:solidFill>
                  <a:srgbClr val="D97732"/>
                </a:solidFill>
                <a:latin typeface="Calibri"/>
                <a:ea typeface="Calibri"/>
                <a:cs typeface="Calibri"/>
              </a:defRPr>
            </a:lvl2pPr>
            <a:lvl3pPr>
              <a:defRPr sz="1350" b="0">
                <a:solidFill>
                  <a:srgbClr val="D97732"/>
                </a:solidFill>
                <a:latin typeface="Calibri"/>
                <a:ea typeface="Calibri"/>
                <a:cs typeface="Calibri"/>
              </a:defRPr>
            </a:lvl3pPr>
            <a:lvl4pPr>
              <a:defRPr sz="1350" b="0">
                <a:solidFill>
                  <a:srgbClr val="D97732"/>
                </a:solidFill>
                <a:latin typeface="Calibri"/>
                <a:ea typeface="Calibri"/>
                <a:cs typeface="Calibri"/>
              </a:defRPr>
            </a:lvl4pPr>
            <a:lvl5pPr>
              <a:defRPr sz="1350" b="0">
                <a:solidFill>
                  <a:srgbClr val="D97732"/>
                </a:solidFill>
                <a:latin typeface="Calibri"/>
                <a:ea typeface="Calibri"/>
                <a:cs typeface="Calibri"/>
              </a:defRPr>
            </a:lvl5pPr>
            <a:lvl6pPr>
              <a:defRPr sz="1350" b="0">
                <a:solidFill>
                  <a:srgbClr val="D97732"/>
                </a:solidFill>
                <a:latin typeface="Calibri"/>
                <a:ea typeface="Calibri"/>
                <a:cs typeface="Calibri"/>
              </a:defRPr>
            </a:lvl6pPr>
            <a:lvl7pPr>
              <a:defRPr sz="1350" b="0">
                <a:solidFill>
                  <a:srgbClr val="D97732"/>
                </a:solidFill>
                <a:latin typeface="Calibri"/>
                <a:ea typeface="Calibri"/>
                <a:cs typeface="Calibri"/>
              </a:defRPr>
            </a:lvl7pPr>
            <a:lvl8pPr>
              <a:defRPr sz="1350" b="0">
                <a:solidFill>
                  <a:srgbClr val="D97732"/>
                </a:solidFill>
                <a:latin typeface="Calibri"/>
                <a:ea typeface="Calibri"/>
                <a:cs typeface="Calibri"/>
              </a:defRPr>
            </a:lvl8pPr>
            <a:lvl9pPr>
              <a:defRPr sz="1350" b="0">
                <a:solidFill>
                  <a:srgbClr val="D97732"/>
                </a:solidFill>
                <a:latin typeface="Calibri"/>
                <a:ea typeface="Calibri"/>
                <a:cs typeface="Calibri"/>
              </a:defRPr>
            </a:lvl9pPr>
          </a:lstStyle>
          <a:p>
            <a:pPr algn="ctr">
              <a:defRPr sz="1350" b="0">
                <a:solidFill>
                  <a:srgbClr val="D97732"/>
                </a:solidFill>
                <a:latin typeface="Calibri"/>
                <a:ea typeface="Calibri"/>
                <a:cs typeface="Calibri"/>
              </a:defRPr>
            </a:pPr>
            <a:r>
              <a:rPr sz="1350" b="0">
                <a:solidFill>
                  <a:srgbClr val="D97732"/>
                </a:solidFill>
                <a:latin typeface="Calibri" panose="020F0502020204030204" pitchFamily="34" charset="0"/>
                <a:ea typeface="Calibri"/>
                <a:cs typeface="Calibri"/>
              </a:rPr>
              <a:t>Fuel</a:t>
            </a:r>
          </a:p>
        </p:txBody>
      </p:sp>
      <p:sp>
        <p:nvSpPr>
          <p:cNvPr id="205" name="Rectangle 204">
            <a:extLst>
              <a:ext uri="{FF2B5EF4-FFF2-40B4-BE49-F238E27FC236}">
                <a16:creationId xmlns:a16="http://schemas.microsoft.com/office/drawing/2014/main" id="{EB0D56F1-EBF7-5507-D428-143BFA8331FD}"/>
              </a:ext>
            </a:extLst>
          </p:cNvPr>
          <p:cNvSpPr>
            <a:spLocks noGrp="1"/>
          </p:cNvSpPr>
          <p:nvPr/>
        </p:nvSpPr>
        <p:spPr>
          <a:xfrm>
            <a:off x="5100080" y="3132200"/>
            <a:ext cx="1828800" cy="400050"/>
          </a:xfrm>
          <a:prstGeom prst="rect">
            <a:avLst/>
          </a:prstGeom>
          <a:solidFill>
            <a:srgbClr val="FFFFFF"/>
          </a:solidFill>
          <a:ln w="15240">
            <a:solidFill>
              <a:srgbClr val="D97732"/>
            </a:solidFill>
            <a:prstDash val="solid"/>
          </a:ln>
        </p:spPr>
        <p:txBody>
          <a:bodyPr/>
          <a:lstStyle/>
          <a:p>
            <a:pPr algn="ctr"/>
            <a:endParaRPr lang="en-US">
              <a:latin typeface="Calibri" panose="020F0502020204030204" pitchFamily="34" charset="0"/>
            </a:endParaRPr>
          </a:p>
        </p:txBody>
      </p:sp>
      <p:sp>
        <p:nvSpPr>
          <p:cNvPr id="206" name="Rectangle 205">
            <a:extLst>
              <a:ext uri="{FF2B5EF4-FFF2-40B4-BE49-F238E27FC236}">
                <a16:creationId xmlns:a16="http://schemas.microsoft.com/office/drawing/2014/main" id="{0F8A2011-CF0E-0419-F111-02741602EBFE}"/>
              </a:ext>
            </a:extLst>
          </p:cNvPr>
          <p:cNvSpPr>
            <a:spLocks noGrp="1"/>
          </p:cNvSpPr>
          <p:nvPr/>
        </p:nvSpPr>
        <p:spPr>
          <a:xfrm>
            <a:off x="5114925" y="3208400"/>
            <a:ext cx="1771650" cy="314325"/>
          </a:xfrm>
          <a:prstGeom prst="rect">
            <a:avLst/>
          </a:prstGeom>
          <a:noFill/>
          <a:ln w="0">
            <a:noFill/>
            <a:prstDash val="solid"/>
          </a:ln>
        </p:spPr>
        <p:txBody>
          <a:bodyPr lIns="0" tIns="0" rIns="0" bIns="0"/>
          <a:lstStyle>
            <a:defPPr>
              <a:defRPr sz="1350" b="0">
                <a:solidFill>
                  <a:srgbClr val="D97732"/>
                </a:solidFill>
                <a:latin typeface="Calibri"/>
                <a:ea typeface="Calibri"/>
                <a:cs typeface="Calibri"/>
              </a:defRPr>
            </a:defPPr>
            <a:lvl1pPr>
              <a:defRPr sz="1350" b="0">
                <a:solidFill>
                  <a:srgbClr val="D97732"/>
                </a:solidFill>
                <a:latin typeface="Calibri"/>
                <a:ea typeface="Calibri"/>
                <a:cs typeface="Calibri"/>
              </a:defRPr>
            </a:lvl1pPr>
            <a:lvl2pPr>
              <a:defRPr sz="1350" b="0">
                <a:solidFill>
                  <a:srgbClr val="D97732"/>
                </a:solidFill>
                <a:latin typeface="Calibri"/>
                <a:ea typeface="Calibri"/>
                <a:cs typeface="Calibri"/>
              </a:defRPr>
            </a:lvl2pPr>
            <a:lvl3pPr>
              <a:defRPr sz="1350" b="0">
                <a:solidFill>
                  <a:srgbClr val="D97732"/>
                </a:solidFill>
                <a:latin typeface="Calibri"/>
                <a:ea typeface="Calibri"/>
                <a:cs typeface="Calibri"/>
              </a:defRPr>
            </a:lvl3pPr>
            <a:lvl4pPr>
              <a:defRPr sz="1350" b="0">
                <a:solidFill>
                  <a:srgbClr val="D97732"/>
                </a:solidFill>
                <a:latin typeface="Calibri"/>
                <a:ea typeface="Calibri"/>
                <a:cs typeface="Calibri"/>
              </a:defRPr>
            </a:lvl4pPr>
            <a:lvl5pPr>
              <a:defRPr sz="1350" b="0">
                <a:solidFill>
                  <a:srgbClr val="D97732"/>
                </a:solidFill>
                <a:latin typeface="Calibri"/>
                <a:ea typeface="Calibri"/>
                <a:cs typeface="Calibri"/>
              </a:defRPr>
            </a:lvl5pPr>
            <a:lvl6pPr>
              <a:defRPr sz="1350" b="0">
                <a:solidFill>
                  <a:srgbClr val="D97732"/>
                </a:solidFill>
                <a:latin typeface="Calibri"/>
                <a:ea typeface="Calibri"/>
                <a:cs typeface="Calibri"/>
              </a:defRPr>
            </a:lvl6pPr>
            <a:lvl7pPr>
              <a:defRPr sz="1350" b="0">
                <a:solidFill>
                  <a:srgbClr val="D97732"/>
                </a:solidFill>
                <a:latin typeface="Calibri"/>
                <a:ea typeface="Calibri"/>
                <a:cs typeface="Calibri"/>
              </a:defRPr>
            </a:lvl7pPr>
            <a:lvl8pPr>
              <a:defRPr sz="1350" b="0">
                <a:solidFill>
                  <a:srgbClr val="D97732"/>
                </a:solidFill>
                <a:latin typeface="Calibri"/>
                <a:ea typeface="Calibri"/>
                <a:cs typeface="Calibri"/>
              </a:defRPr>
            </a:lvl8pPr>
            <a:lvl9pPr>
              <a:defRPr sz="1350" b="0">
                <a:solidFill>
                  <a:srgbClr val="D97732"/>
                </a:solidFill>
                <a:latin typeface="Calibri"/>
                <a:ea typeface="Calibri"/>
                <a:cs typeface="Calibri"/>
              </a:defRPr>
            </a:lvl9pPr>
          </a:lstStyle>
          <a:p>
            <a:pPr algn="ctr">
              <a:defRPr sz="1350" b="0">
                <a:solidFill>
                  <a:srgbClr val="D97732"/>
                </a:solidFill>
                <a:latin typeface="Calibri"/>
                <a:ea typeface="Calibri"/>
                <a:cs typeface="Calibri"/>
              </a:defRPr>
            </a:pPr>
            <a:r>
              <a:rPr lang="en-US" sz="1350" b="0" dirty="0">
                <a:solidFill>
                  <a:srgbClr val="D97732"/>
                </a:solidFill>
                <a:latin typeface="Calibri" panose="020F0502020204030204" pitchFamily="34" charset="0"/>
                <a:ea typeface="Calibri"/>
                <a:cs typeface="Calibri"/>
              </a:rPr>
              <a:t>Piston E</a:t>
            </a:r>
            <a:r>
              <a:rPr sz="1350" b="0" dirty="0">
                <a:solidFill>
                  <a:srgbClr val="D97732"/>
                </a:solidFill>
                <a:latin typeface="Calibri" panose="020F0502020204030204" pitchFamily="34" charset="0"/>
                <a:ea typeface="Calibri"/>
                <a:cs typeface="Calibri"/>
              </a:rPr>
              <a:t>ngine</a:t>
            </a:r>
          </a:p>
        </p:txBody>
      </p:sp>
      <p:sp>
        <p:nvSpPr>
          <p:cNvPr id="207" name="Rectangle 206">
            <a:extLst>
              <a:ext uri="{FF2B5EF4-FFF2-40B4-BE49-F238E27FC236}">
                <a16:creationId xmlns:a16="http://schemas.microsoft.com/office/drawing/2014/main" id="{549D656C-8A23-C1D0-A26C-854D07C09181}"/>
              </a:ext>
            </a:extLst>
          </p:cNvPr>
          <p:cNvSpPr>
            <a:spLocks noGrp="1"/>
          </p:cNvSpPr>
          <p:nvPr/>
        </p:nvSpPr>
        <p:spPr>
          <a:xfrm>
            <a:off x="5105838" y="3941825"/>
            <a:ext cx="1828800" cy="400050"/>
          </a:xfrm>
          <a:prstGeom prst="rect">
            <a:avLst/>
          </a:prstGeom>
          <a:solidFill>
            <a:srgbClr val="FFFFFF"/>
          </a:solidFill>
          <a:ln w="15240">
            <a:solidFill>
              <a:srgbClr val="000000"/>
            </a:solidFill>
            <a:prstDash val="solid"/>
          </a:ln>
        </p:spPr>
        <p:txBody>
          <a:bodyPr/>
          <a:lstStyle/>
          <a:p>
            <a:pPr algn="ctr"/>
            <a:endParaRPr lang="en-US">
              <a:latin typeface="Calibri" panose="020F0502020204030204" pitchFamily="34" charset="0"/>
            </a:endParaRPr>
          </a:p>
        </p:txBody>
      </p:sp>
      <p:sp>
        <p:nvSpPr>
          <p:cNvPr id="208" name="Rectangle 207">
            <a:extLst>
              <a:ext uri="{FF2B5EF4-FFF2-40B4-BE49-F238E27FC236}">
                <a16:creationId xmlns:a16="http://schemas.microsoft.com/office/drawing/2014/main" id="{3974C2BC-4748-2FC3-A4D8-B7F685541DD5}"/>
              </a:ext>
            </a:extLst>
          </p:cNvPr>
          <p:cNvSpPr>
            <a:spLocks noGrp="1"/>
          </p:cNvSpPr>
          <p:nvPr/>
        </p:nvSpPr>
        <p:spPr>
          <a:xfrm>
            <a:off x="4924425" y="4018025"/>
            <a:ext cx="2152650" cy="314325"/>
          </a:xfrm>
          <a:prstGeom prst="rect">
            <a:avLst/>
          </a:prstGeom>
          <a:noFill/>
          <a:ln w="0">
            <a:noFill/>
            <a:prstDash val="solid"/>
          </a:ln>
        </p:spPr>
        <p:txBody>
          <a:bodyPr lIns="0" tIns="0" rIns="0" bIns="0"/>
          <a:lstStyle>
            <a:defPPr>
              <a:defRPr sz="1350" b="0">
                <a:solidFill>
                  <a:srgbClr val="000000"/>
                </a:solidFill>
                <a:latin typeface="Calibri"/>
                <a:ea typeface="Calibri"/>
                <a:cs typeface="Calibri"/>
              </a:defRPr>
            </a:defPPr>
            <a:lvl1pPr>
              <a:defRPr sz="1350" b="0">
                <a:solidFill>
                  <a:srgbClr val="000000"/>
                </a:solidFill>
                <a:latin typeface="Calibri"/>
                <a:ea typeface="Calibri"/>
                <a:cs typeface="Calibri"/>
              </a:defRPr>
            </a:lvl1pPr>
            <a:lvl2pPr>
              <a:defRPr sz="1350" b="0">
                <a:solidFill>
                  <a:srgbClr val="000000"/>
                </a:solidFill>
                <a:latin typeface="Calibri"/>
                <a:ea typeface="Calibri"/>
                <a:cs typeface="Calibri"/>
              </a:defRPr>
            </a:lvl2pPr>
            <a:lvl3pPr>
              <a:defRPr sz="1350" b="0">
                <a:solidFill>
                  <a:srgbClr val="000000"/>
                </a:solidFill>
                <a:latin typeface="Calibri"/>
                <a:ea typeface="Calibri"/>
                <a:cs typeface="Calibri"/>
              </a:defRPr>
            </a:lvl3pPr>
            <a:lvl4pPr>
              <a:defRPr sz="1350" b="0">
                <a:solidFill>
                  <a:srgbClr val="000000"/>
                </a:solidFill>
                <a:latin typeface="Calibri"/>
                <a:ea typeface="Calibri"/>
                <a:cs typeface="Calibri"/>
              </a:defRPr>
            </a:lvl4pPr>
            <a:lvl5pPr>
              <a:defRPr sz="1350" b="0">
                <a:solidFill>
                  <a:srgbClr val="000000"/>
                </a:solidFill>
                <a:latin typeface="Calibri"/>
                <a:ea typeface="Calibri"/>
                <a:cs typeface="Calibri"/>
              </a:defRPr>
            </a:lvl5pPr>
            <a:lvl6pPr>
              <a:defRPr sz="1350" b="0">
                <a:solidFill>
                  <a:srgbClr val="000000"/>
                </a:solidFill>
                <a:latin typeface="Calibri"/>
                <a:ea typeface="Calibri"/>
                <a:cs typeface="Calibri"/>
              </a:defRPr>
            </a:lvl6pPr>
            <a:lvl7pPr>
              <a:defRPr sz="1350" b="0">
                <a:solidFill>
                  <a:srgbClr val="000000"/>
                </a:solidFill>
                <a:latin typeface="Calibri"/>
                <a:ea typeface="Calibri"/>
                <a:cs typeface="Calibri"/>
              </a:defRPr>
            </a:lvl7pPr>
            <a:lvl8pPr>
              <a:defRPr sz="1350" b="0">
                <a:solidFill>
                  <a:srgbClr val="000000"/>
                </a:solidFill>
                <a:latin typeface="Calibri"/>
                <a:ea typeface="Calibri"/>
                <a:cs typeface="Calibri"/>
              </a:defRPr>
            </a:lvl8pPr>
            <a:lvl9pPr>
              <a:defRPr sz="1350" b="0">
                <a:solidFill>
                  <a:srgbClr val="000000"/>
                </a:solidFill>
                <a:latin typeface="Calibri"/>
                <a:ea typeface="Calibri"/>
                <a:cs typeface="Calibri"/>
              </a:defRPr>
            </a:lvl9pPr>
          </a:lstStyle>
          <a:p>
            <a:pPr algn="ctr">
              <a:defRPr sz="1350" b="0">
                <a:solidFill>
                  <a:srgbClr val="000000"/>
                </a:solidFill>
                <a:latin typeface="Calibri"/>
                <a:ea typeface="Calibri"/>
                <a:cs typeface="Calibri"/>
              </a:defRPr>
            </a:pPr>
            <a:r>
              <a:rPr sz="1350" b="0">
                <a:solidFill>
                  <a:srgbClr val="000000"/>
                </a:solidFill>
                <a:latin typeface="Calibri" panose="020F0502020204030204" pitchFamily="34" charset="0"/>
                <a:ea typeface="Calibri"/>
                <a:cs typeface="Calibri"/>
              </a:rPr>
              <a:t>Gearbox / shaft</a:t>
            </a:r>
          </a:p>
        </p:txBody>
      </p:sp>
      <p:sp>
        <p:nvSpPr>
          <p:cNvPr id="209" name="Freeform: Shape 208">
            <a:extLst>
              <a:ext uri="{FF2B5EF4-FFF2-40B4-BE49-F238E27FC236}">
                <a16:creationId xmlns:a16="http://schemas.microsoft.com/office/drawing/2014/main" id="{B94379D8-611C-296B-0F22-80D252D83918}"/>
              </a:ext>
            </a:extLst>
          </p:cNvPr>
          <p:cNvSpPr>
            <a:spLocks noGrp="1"/>
          </p:cNvSpPr>
          <p:nvPr/>
        </p:nvSpPr>
        <p:spPr>
          <a:xfrm>
            <a:off x="6000750" y="2722625"/>
            <a:ext cx="9525" cy="409575"/>
          </a:xfrm>
          <a:custGeom>
            <a:avLst/>
            <a:gdLst/>
            <a:ahLst/>
            <a:cxnLst/>
            <a:rect l="0" t="0" r="0" b="0"/>
            <a:pathLst>
              <a:path w="9525" h="409575">
                <a:moveTo>
                  <a:pt x="0" y="0"/>
                </a:moveTo>
                <a:lnTo>
                  <a:pt x="0" y="409575"/>
                </a:lnTo>
              </a:path>
            </a:pathLst>
          </a:custGeom>
          <a:noFill/>
          <a:ln w="23813">
            <a:solidFill>
              <a:srgbClr val="D97732"/>
            </a:solidFill>
            <a:prstDash val="solid"/>
          </a:ln>
        </p:spPr>
        <p:txBody>
          <a:bodyPr/>
          <a:lstStyle/>
          <a:p>
            <a:pPr algn="ctr"/>
            <a:endParaRPr lang="en-US">
              <a:latin typeface="Calibri" panose="020F0502020204030204" pitchFamily="34" charset="0"/>
            </a:endParaRPr>
          </a:p>
        </p:txBody>
      </p:sp>
      <p:sp>
        <p:nvSpPr>
          <p:cNvPr id="210" name="Freeform: Shape 209">
            <a:extLst>
              <a:ext uri="{FF2B5EF4-FFF2-40B4-BE49-F238E27FC236}">
                <a16:creationId xmlns:a16="http://schemas.microsoft.com/office/drawing/2014/main" id="{DF17C667-41E9-1B22-2917-0CBDEABC1002}"/>
              </a:ext>
            </a:extLst>
          </p:cNvPr>
          <p:cNvSpPr>
            <a:spLocks noGrp="1"/>
          </p:cNvSpPr>
          <p:nvPr/>
        </p:nvSpPr>
        <p:spPr>
          <a:xfrm>
            <a:off x="5962650" y="3065525"/>
            <a:ext cx="38100" cy="66675"/>
          </a:xfrm>
          <a:custGeom>
            <a:avLst/>
            <a:gdLst/>
            <a:ahLst/>
            <a:cxnLst/>
            <a:rect l="0" t="0" r="0" b="0"/>
            <a:pathLst>
              <a:path w="38100" h="66675">
                <a:moveTo>
                  <a:pt x="0" y="0"/>
                </a:moveTo>
                <a:lnTo>
                  <a:pt x="38100" y="66675"/>
                </a:lnTo>
              </a:path>
            </a:pathLst>
          </a:custGeom>
          <a:noFill/>
          <a:ln w="19050">
            <a:solidFill>
              <a:srgbClr val="D97732"/>
            </a:solidFill>
            <a:prstDash val="solid"/>
          </a:ln>
        </p:spPr>
        <p:txBody>
          <a:bodyPr/>
          <a:lstStyle/>
          <a:p>
            <a:pPr algn="ctr"/>
            <a:endParaRPr lang="en-US">
              <a:latin typeface="Calibri" panose="020F0502020204030204" pitchFamily="34" charset="0"/>
            </a:endParaRPr>
          </a:p>
        </p:txBody>
      </p:sp>
      <p:sp>
        <p:nvSpPr>
          <p:cNvPr id="211" name="Freeform: Shape 210">
            <a:extLst>
              <a:ext uri="{FF2B5EF4-FFF2-40B4-BE49-F238E27FC236}">
                <a16:creationId xmlns:a16="http://schemas.microsoft.com/office/drawing/2014/main" id="{D5F74E01-2CD1-DDBD-B061-55DE79D155DD}"/>
              </a:ext>
            </a:extLst>
          </p:cNvPr>
          <p:cNvSpPr>
            <a:spLocks noGrp="1"/>
          </p:cNvSpPr>
          <p:nvPr/>
        </p:nvSpPr>
        <p:spPr>
          <a:xfrm>
            <a:off x="6000750" y="3065525"/>
            <a:ext cx="38100" cy="66675"/>
          </a:xfrm>
          <a:custGeom>
            <a:avLst/>
            <a:gdLst/>
            <a:ahLst/>
            <a:cxnLst/>
            <a:rect l="0" t="0" r="0" b="0"/>
            <a:pathLst>
              <a:path w="38100" h="66675">
                <a:moveTo>
                  <a:pt x="38100" y="0"/>
                </a:moveTo>
                <a:lnTo>
                  <a:pt x="0" y="66675"/>
                </a:lnTo>
              </a:path>
            </a:pathLst>
          </a:custGeom>
          <a:noFill/>
          <a:ln w="19050">
            <a:solidFill>
              <a:srgbClr val="D97732"/>
            </a:solidFill>
            <a:prstDash val="solid"/>
          </a:ln>
        </p:spPr>
        <p:txBody>
          <a:bodyPr/>
          <a:lstStyle/>
          <a:p>
            <a:pPr algn="ctr"/>
            <a:endParaRPr lang="en-US">
              <a:latin typeface="Calibri" panose="020F0502020204030204" pitchFamily="34" charset="0"/>
            </a:endParaRPr>
          </a:p>
        </p:txBody>
      </p:sp>
      <p:sp>
        <p:nvSpPr>
          <p:cNvPr id="212" name="Freeform: Shape 211">
            <a:extLst>
              <a:ext uri="{FF2B5EF4-FFF2-40B4-BE49-F238E27FC236}">
                <a16:creationId xmlns:a16="http://schemas.microsoft.com/office/drawing/2014/main" id="{389C05C6-B0DC-9D5F-AD10-7E52D2A7577B}"/>
              </a:ext>
            </a:extLst>
          </p:cNvPr>
          <p:cNvSpPr>
            <a:spLocks noGrp="1"/>
          </p:cNvSpPr>
          <p:nvPr/>
        </p:nvSpPr>
        <p:spPr>
          <a:xfrm>
            <a:off x="6000750" y="3532250"/>
            <a:ext cx="9525" cy="409575"/>
          </a:xfrm>
          <a:custGeom>
            <a:avLst/>
            <a:gdLst/>
            <a:ahLst/>
            <a:cxnLst/>
            <a:rect l="0" t="0" r="0" b="0"/>
            <a:pathLst>
              <a:path w="9525" h="409575">
                <a:moveTo>
                  <a:pt x="0" y="0"/>
                </a:moveTo>
                <a:lnTo>
                  <a:pt x="0" y="409575"/>
                </a:lnTo>
              </a:path>
            </a:pathLst>
          </a:custGeom>
          <a:noFill/>
          <a:ln w="23813">
            <a:solidFill>
              <a:srgbClr val="000000"/>
            </a:solidFill>
            <a:prstDash val="solid"/>
          </a:ln>
        </p:spPr>
        <p:txBody>
          <a:bodyPr/>
          <a:lstStyle/>
          <a:p>
            <a:pPr algn="ctr"/>
            <a:endParaRPr lang="en-US">
              <a:latin typeface="Calibri" panose="020F0502020204030204" pitchFamily="34" charset="0"/>
            </a:endParaRPr>
          </a:p>
        </p:txBody>
      </p:sp>
      <p:sp>
        <p:nvSpPr>
          <p:cNvPr id="213" name="Freeform: Shape 212">
            <a:extLst>
              <a:ext uri="{FF2B5EF4-FFF2-40B4-BE49-F238E27FC236}">
                <a16:creationId xmlns:a16="http://schemas.microsoft.com/office/drawing/2014/main" id="{B7CAEECD-6062-10CE-9347-797356D6343A}"/>
              </a:ext>
            </a:extLst>
          </p:cNvPr>
          <p:cNvSpPr>
            <a:spLocks noGrp="1"/>
          </p:cNvSpPr>
          <p:nvPr/>
        </p:nvSpPr>
        <p:spPr>
          <a:xfrm>
            <a:off x="5962650" y="3875150"/>
            <a:ext cx="38100" cy="66675"/>
          </a:xfrm>
          <a:custGeom>
            <a:avLst/>
            <a:gdLst/>
            <a:ahLst/>
            <a:cxnLst/>
            <a:rect l="0" t="0" r="0" b="0"/>
            <a:pathLst>
              <a:path w="38100" h="66675">
                <a:moveTo>
                  <a:pt x="0" y="0"/>
                </a:moveTo>
                <a:lnTo>
                  <a:pt x="38100" y="66675"/>
                </a:lnTo>
              </a:path>
            </a:pathLst>
          </a:custGeom>
          <a:noFill/>
          <a:ln w="19050">
            <a:solidFill>
              <a:srgbClr val="000000"/>
            </a:solidFill>
            <a:prstDash val="solid"/>
          </a:ln>
        </p:spPr>
        <p:txBody>
          <a:bodyPr/>
          <a:lstStyle/>
          <a:p>
            <a:pPr algn="ctr"/>
            <a:endParaRPr lang="en-US">
              <a:latin typeface="Calibri" panose="020F0502020204030204" pitchFamily="34" charset="0"/>
            </a:endParaRPr>
          </a:p>
        </p:txBody>
      </p:sp>
      <p:sp>
        <p:nvSpPr>
          <p:cNvPr id="214" name="Freeform: Shape 213">
            <a:extLst>
              <a:ext uri="{FF2B5EF4-FFF2-40B4-BE49-F238E27FC236}">
                <a16:creationId xmlns:a16="http://schemas.microsoft.com/office/drawing/2014/main" id="{CAC0C73B-C0AE-F931-5E55-74E246811EB6}"/>
              </a:ext>
            </a:extLst>
          </p:cNvPr>
          <p:cNvSpPr>
            <a:spLocks noGrp="1"/>
          </p:cNvSpPr>
          <p:nvPr/>
        </p:nvSpPr>
        <p:spPr>
          <a:xfrm>
            <a:off x="6000750" y="3875150"/>
            <a:ext cx="38100" cy="66675"/>
          </a:xfrm>
          <a:custGeom>
            <a:avLst/>
            <a:gdLst/>
            <a:ahLst/>
            <a:cxnLst/>
            <a:rect l="0" t="0" r="0" b="0"/>
            <a:pathLst>
              <a:path w="38100" h="66675">
                <a:moveTo>
                  <a:pt x="38100" y="0"/>
                </a:moveTo>
                <a:lnTo>
                  <a:pt x="0" y="66675"/>
                </a:lnTo>
              </a:path>
            </a:pathLst>
          </a:custGeom>
          <a:noFill/>
          <a:ln w="19050">
            <a:solidFill>
              <a:srgbClr val="000000"/>
            </a:solidFill>
            <a:prstDash val="solid"/>
          </a:ln>
        </p:spPr>
        <p:txBody>
          <a:bodyPr/>
          <a:lstStyle/>
          <a:p>
            <a:pPr algn="ctr"/>
            <a:endParaRPr lang="en-US">
              <a:latin typeface="Calibri" panose="020F0502020204030204" pitchFamily="34" charset="0"/>
            </a:endParaRPr>
          </a:p>
        </p:txBody>
      </p:sp>
      <p:sp>
        <p:nvSpPr>
          <p:cNvPr id="215" name="Freeform: Shape 214">
            <a:extLst>
              <a:ext uri="{FF2B5EF4-FFF2-40B4-BE49-F238E27FC236}">
                <a16:creationId xmlns:a16="http://schemas.microsoft.com/office/drawing/2014/main" id="{1277A586-EDED-1F17-ED85-A7F52CEDE06C}"/>
              </a:ext>
            </a:extLst>
          </p:cNvPr>
          <p:cNvSpPr>
            <a:spLocks noGrp="1"/>
          </p:cNvSpPr>
          <p:nvPr/>
        </p:nvSpPr>
        <p:spPr>
          <a:xfrm>
            <a:off x="6000750" y="4341875"/>
            <a:ext cx="9525" cy="266700"/>
          </a:xfrm>
          <a:custGeom>
            <a:avLst/>
            <a:gdLst/>
            <a:ahLst/>
            <a:cxnLst/>
            <a:rect l="0" t="0" r="0" b="0"/>
            <a:pathLst>
              <a:path w="9525" h="266700">
                <a:moveTo>
                  <a:pt x="0" y="0"/>
                </a:moveTo>
                <a:lnTo>
                  <a:pt x="0" y="266700"/>
                </a:lnTo>
              </a:path>
            </a:pathLst>
          </a:custGeom>
          <a:noFill/>
          <a:ln w="19050">
            <a:solidFill>
              <a:srgbClr val="000000"/>
            </a:solidFill>
            <a:prstDash val="solid"/>
          </a:ln>
        </p:spPr>
        <p:txBody>
          <a:bodyPr/>
          <a:lstStyle/>
          <a:p>
            <a:pPr algn="ctr"/>
            <a:endParaRPr lang="en-US">
              <a:latin typeface="Calibri" panose="020F0502020204030204" pitchFamily="34" charset="0"/>
            </a:endParaRPr>
          </a:p>
        </p:txBody>
      </p:sp>
      <p:sp>
        <p:nvSpPr>
          <p:cNvPr id="216" name="Freeform: Shape 215">
            <a:extLst>
              <a:ext uri="{FF2B5EF4-FFF2-40B4-BE49-F238E27FC236}">
                <a16:creationId xmlns:a16="http://schemas.microsoft.com/office/drawing/2014/main" id="{15CCB107-8F8C-A04E-6CDA-1ABDCFFCDDED}"/>
              </a:ext>
            </a:extLst>
          </p:cNvPr>
          <p:cNvSpPr>
            <a:spLocks noGrp="1"/>
          </p:cNvSpPr>
          <p:nvPr/>
        </p:nvSpPr>
        <p:spPr>
          <a:xfrm>
            <a:off x="4953000" y="4608575"/>
            <a:ext cx="2095500" cy="9525"/>
          </a:xfrm>
          <a:custGeom>
            <a:avLst/>
            <a:gdLst/>
            <a:ahLst/>
            <a:cxnLst/>
            <a:rect l="0" t="0" r="0" b="0"/>
            <a:pathLst>
              <a:path w="2095500" h="9525">
                <a:moveTo>
                  <a:pt x="0" y="0"/>
                </a:moveTo>
                <a:lnTo>
                  <a:pt x="2095500" y="0"/>
                </a:lnTo>
              </a:path>
            </a:pathLst>
          </a:custGeom>
          <a:noFill/>
          <a:ln w="19050">
            <a:solidFill>
              <a:srgbClr val="000000"/>
            </a:solidFill>
            <a:prstDash val="solid"/>
          </a:ln>
        </p:spPr>
        <p:txBody>
          <a:bodyPr/>
          <a:lstStyle/>
          <a:p>
            <a:pPr algn="ctr"/>
            <a:endParaRPr lang="en-US">
              <a:latin typeface="Calibri" panose="020F0502020204030204" pitchFamily="34" charset="0"/>
            </a:endParaRPr>
          </a:p>
        </p:txBody>
      </p:sp>
      <p:sp>
        <p:nvSpPr>
          <p:cNvPr id="217" name="Freeform: Shape 216">
            <a:extLst>
              <a:ext uri="{FF2B5EF4-FFF2-40B4-BE49-F238E27FC236}">
                <a16:creationId xmlns:a16="http://schemas.microsoft.com/office/drawing/2014/main" id="{245B05C4-517A-EA85-AE0F-090C2A64DA41}"/>
              </a:ext>
            </a:extLst>
          </p:cNvPr>
          <p:cNvSpPr>
            <a:spLocks noGrp="1"/>
          </p:cNvSpPr>
          <p:nvPr/>
        </p:nvSpPr>
        <p:spPr>
          <a:xfrm>
            <a:off x="4953000" y="4608575"/>
            <a:ext cx="9525" cy="285750"/>
          </a:xfrm>
          <a:custGeom>
            <a:avLst/>
            <a:gdLst/>
            <a:ahLst/>
            <a:cxnLst/>
            <a:rect l="0" t="0" r="0" b="0"/>
            <a:pathLst>
              <a:path w="9525" h="285750">
                <a:moveTo>
                  <a:pt x="0" y="0"/>
                </a:moveTo>
                <a:lnTo>
                  <a:pt x="0" y="285750"/>
                </a:lnTo>
              </a:path>
            </a:pathLst>
          </a:custGeom>
          <a:noFill/>
          <a:ln w="23813">
            <a:solidFill>
              <a:srgbClr val="000000"/>
            </a:solidFill>
            <a:prstDash val="solid"/>
          </a:ln>
        </p:spPr>
        <p:txBody>
          <a:bodyPr/>
          <a:lstStyle/>
          <a:p>
            <a:pPr algn="ctr"/>
            <a:endParaRPr lang="en-US">
              <a:latin typeface="Calibri" panose="020F0502020204030204" pitchFamily="34" charset="0"/>
            </a:endParaRPr>
          </a:p>
        </p:txBody>
      </p:sp>
      <p:sp>
        <p:nvSpPr>
          <p:cNvPr id="218" name="Freeform: Shape 217">
            <a:extLst>
              <a:ext uri="{FF2B5EF4-FFF2-40B4-BE49-F238E27FC236}">
                <a16:creationId xmlns:a16="http://schemas.microsoft.com/office/drawing/2014/main" id="{A4C495C3-3C30-947F-EEA4-C18CBB49791D}"/>
              </a:ext>
            </a:extLst>
          </p:cNvPr>
          <p:cNvSpPr>
            <a:spLocks noGrp="1"/>
          </p:cNvSpPr>
          <p:nvPr/>
        </p:nvSpPr>
        <p:spPr>
          <a:xfrm>
            <a:off x="4914900" y="4827650"/>
            <a:ext cx="38100" cy="66675"/>
          </a:xfrm>
          <a:custGeom>
            <a:avLst/>
            <a:gdLst/>
            <a:ahLst/>
            <a:cxnLst/>
            <a:rect l="0" t="0" r="0" b="0"/>
            <a:pathLst>
              <a:path w="38100" h="66675">
                <a:moveTo>
                  <a:pt x="0" y="0"/>
                </a:moveTo>
                <a:lnTo>
                  <a:pt x="38100" y="66675"/>
                </a:lnTo>
              </a:path>
            </a:pathLst>
          </a:custGeom>
          <a:noFill/>
          <a:ln w="19050">
            <a:solidFill>
              <a:srgbClr val="000000"/>
            </a:solidFill>
            <a:prstDash val="solid"/>
          </a:ln>
        </p:spPr>
        <p:txBody>
          <a:bodyPr/>
          <a:lstStyle/>
          <a:p>
            <a:pPr algn="ctr"/>
            <a:endParaRPr lang="en-US">
              <a:latin typeface="Calibri" panose="020F0502020204030204" pitchFamily="34" charset="0"/>
            </a:endParaRPr>
          </a:p>
        </p:txBody>
      </p:sp>
      <p:sp>
        <p:nvSpPr>
          <p:cNvPr id="219" name="Freeform: Shape 218">
            <a:extLst>
              <a:ext uri="{FF2B5EF4-FFF2-40B4-BE49-F238E27FC236}">
                <a16:creationId xmlns:a16="http://schemas.microsoft.com/office/drawing/2014/main" id="{8CEE3FA9-640E-5CCA-ED30-B5681A5411E4}"/>
              </a:ext>
            </a:extLst>
          </p:cNvPr>
          <p:cNvSpPr>
            <a:spLocks noGrp="1"/>
          </p:cNvSpPr>
          <p:nvPr/>
        </p:nvSpPr>
        <p:spPr>
          <a:xfrm>
            <a:off x="4953000" y="4827650"/>
            <a:ext cx="38100" cy="66675"/>
          </a:xfrm>
          <a:custGeom>
            <a:avLst/>
            <a:gdLst/>
            <a:ahLst/>
            <a:cxnLst/>
            <a:rect l="0" t="0" r="0" b="0"/>
            <a:pathLst>
              <a:path w="38100" h="66675">
                <a:moveTo>
                  <a:pt x="38100" y="0"/>
                </a:moveTo>
                <a:lnTo>
                  <a:pt x="0" y="66675"/>
                </a:lnTo>
              </a:path>
            </a:pathLst>
          </a:custGeom>
          <a:noFill/>
          <a:ln w="19050">
            <a:solidFill>
              <a:srgbClr val="000000"/>
            </a:solidFill>
            <a:prstDash val="solid"/>
          </a:ln>
        </p:spPr>
        <p:txBody>
          <a:bodyPr/>
          <a:lstStyle/>
          <a:p>
            <a:pPr algn="ctr"/>
            <a:endParaRPr lang="en-US">
              <a:latin typeface="Calibri" panose="020F0502020204030204" pitchFamily="34" charset="0"/>
            </a:endParaRPr>
          </a:p>
        </p:txBody>
      </p:sp>
      <p:sp>
        <p:nvSpPr>
          <p:cNvPr id="220" name="Freeform: Shape 219">
            <a:extLst>
              <a:ext uri="{FF2B5EF4-FFF2-40B4-BE49-F238E27FC236}">
                <a16:creationId xmlns:a16="http://schemas.microsoft.com/office/drawing/2014/main" id="{BB80F6B9-7F42-C2EC-7845-6CF4B441ACAC}"/>
              </a:ext>
            </a:extLst>
          </p:cNvPr>
          <p:cNvSpPr>
            <a:spLocks noGrp="1"/>
          </p:cNvSpPr>
          <p:nvPr/>
        </p:nvSpPr>
        <p:spPr>
          <a:xfrm>
            <a:off x="7048500" y="4608575"/>
            <a:ext cx="9525" cy="285750"/>
          </a:xfrm>
          <a:custGeom>
            <a:avLst/>
            <a:gdLst/>
            <a:ahLst/>
            <a:cxnLst/>
            <a:rect l="0" t="0" r="0" b="0"/>
            <a:pathLst>
              <a:path w="9525" h="285750">
                <a:moveTo>
                  <a:pt x="0" y="0"/>
                </a:moveTo>
                <a:lnTo>
                  <a:pt x="0" y="285750"/>
                </a:lnTo>
              </a:path>
            </a:pathLst>
          </a:custGeom>
          <a:noFill/>
          <a:ln w="23813">
            <a:solidFill>
              <a:srgbClr val="000000"/>
            </a:solidFill>
            <a:prstDash val="solid"/>
          </a:ln>
        </p:spPr>
        <p:txBody>
          <a:bodyPr/>
          <a:lstStyle/>
          <a:p>
            <a:pPr algn="ctr"/>
            <a:endParaRPr lang="en-US">
              <a:latin typeface="Calibri" panose="020F0502020204030204" pitchFamily="34" charset="0"/>
            </a:endParaRPr>
          </a:p>
        </p:txBody>
      </p:sp>
      <p:sp>
        <p:nvSpPr>
          <p:cNvPr id="221" name="Freeform: Shape 220">
            <a:extLst>
              <a:ext uri="{FF2B5EF4-FFF2-40B4-BE49-F238E27FC236}">
                <a16:creationId xmlns:a16="http://schemas.microsoft.com/office/drawing/2014/main" id="{3A1BB268-61C6-ECBD-AC45-6B8536D674A2}"/>
              </a:ext>
            </a:extLst>
          </p:cNvPr>
          <p:cNvSpPr>
            <a:spLocks noGrp="1"/>
          </p:cNvSpPr>
          <p:nvPr/>
        </p:nvSpPr>
        <p:spPr>
          <a:xfrm>
            <a:off x="7010400" y="4827650"/>
            <a:ext cx="38100" cy="66675"/>
          </a:xfrm>
          <a:custGeom>
            <a:avLst/>
            <a:gdLst/>
            <a:ahLst/>
            <a:cxnLst/>
            <a:rect l="0" t="0" r="0" b="0"/>
            <a:pathLst>
              <a:path w="38100" h="66675">
                <a:moveTo>
                  <a:pt x="0" y="0"/>
                </a:moveTo>
                <a:lnTo>
                  <a:pt x="38100" y="66675"/>
                </a:lnTo>
              </a:path>
            </a:pathLst>
          </a:custGeom>
          <a:noFill/>
          <a:ln w="19050">
            <a:solidFill>
              <a:srgbClr val="000000"/>
            </a:solidFill>
            <a:prstDash val="solid"/>
          </a:ln>
        </p:spPr>
        <p:txBody>
          <a:bodyPr/>
          <a:lstStyle/>
          <a:p>
            <a:pPr algn="ctr"/>
            <a:endParaRPr lang="en-US">
              <a:latin typeface="Calibri" panose="020F0502020204030204" pitchFamily="34" charset="0"/>
            </a:endParaRPr>
          </a:p>
        </p:txBody>
      </p:sp>
      <p:sp>
        <p:nvSpPr>
          <p:cNvPr id="222" name="Freeform: Shape 221">
            <a:extLst>
              <a:ext uri="{FF2B5EF4-FFF2-40B4-BE49-F238E27FC236}">
                <a16:creationId xmlns:a16="http://schemas.microsoft.com/office/drawing/2014/main" id="{21553666-5C55-AAEE-2395-937B7BA96F56}"/>
              </a:ext>
            </a:extLst>
          </p:cNvPr>
          <p:cNvSpPr>
            <a:spLocks noGrp="1"/>
          </p:cNvSpPr>
          <p:nvPr/>
        </p:nvSpPr>
        <p:spPr>
          <a:xfrm>
            <a:off x="7048500" y="4827650"/>
            <a:ext cx="38100" cy="66675"/>
          </a:xfrm>
          <a:custGeom>
            <a:avLst/>
            <a:gdLst/>
            <a:ahLst/>
            <a:cxnLst/>
            <a:rect l="0" t="0" r="0" b="0"/>
            <a:pathLst>
              <a:path w="38100" h="66675">
                <a:moveTo>
                  <a:pt x="38100" y="0"/>
                </a:moveTo>
                <a:lnTo>
                  <a:pt x="0" y="66675"/>
                </a:lnTo>
              </a:path>
            </a:pathLst>
          </a:custGeom>
          <a:noFill/>
          <a:ln w="19050">
            <a:solidFill>
              <a:srgbClr val="000000"/>
            </a:solidFill>
            <a:prstDash val="solid"/>
          </a:ln>
        </p:spPr>
        <p:txBody>
          <a:bodyPr/>
          <a:lstStyle/>
          <a:p>
            <a:pPr algn="ctr"/>
            <a:endParaRPr lang="en-US">
              <a:latin typeface="Calibri" panose="020F0502020204030204" pitchFamily="34" charset="0"/>
            </a:endParaRPr>
          </a:p>
        </p:txBody>
      </p:sp>
      <p:sp>
        <p:nvSpPr>
          <p:cNvPr id="223" name="Oval 222">
            <a:extLst>
              <a:ext uri="{FF2B5EF4-FFF2-40B4-BE49-F238E27FC236}">
                <a16:creationId xmlns:a16="http://schemas.microsoft.com/office/drawing/2014/main" id="{1900ED01-66A4-4730-5816-13328067CB47}"/>
              </a:ext>
            </a:extLst>
          </p:cNvPr>
          <p:cNvSpPr>
            <a:spLocks noGrp="1"/>
          </p:cNvSpPr>
          <p:nvPr/>
        </p:nvSpPr>
        <p:spPr>
          <a:xfrm>
            <a:off x="4724400" y="4951475"/>
            <a:ext cx="457200" cy="457200"/>
          </a:xfrm>
          <a:prstGeom prst="ellipse">
            <a:avLst/>
          </a:prstGeom>
          <a:solidFill>
            <a:srgbClr val="FFFFFF"/>
          </a:solidFill>
          <a:ln w="14288">
            <a:solidFill>
              <a:srgbClr val="000000"/>
            </a:solidFill>
            <a:prstDash val="solid"/>
          </a:ln>
        </p:spPr>
        <p:txBody>
          <a:bodyPr/>
          <a:lstStyle/>
          <a:p>
            <a:pPr algn="ctr"/>
            <a:endParaRPr lang="en-US">
              <a:latin typeface="Calibri" panose="020F0502020204030204" pitchFamily="34" charset="0"/>
            </a:endParaRPr>
          </a:p>
        </p:txBody>
      </p:sp>
      <p:sp>
        <p:nvSpPr>
          <p:cNvPr id="224" name="Freeform: Shape 223">
            <a:extLst>
              <a:ext uri="{FF2B5EF4-FFF2-40B4-BE49-F238E27FC236}">
                <a16:creationId xmlns:a16="http://schemas.microsoft.com/office/drawing/2014/main" id="{EF06BFA1-0068-A14D-C450-4B0B12C4F3B6}"/>
              </a:ext>
            </a:extLst>
          </p:cNvPr>
          <p:cNvSpPr>
            <a:spLocks noGrp="1"/>
          </p:cNvSpPr>
          <p:nvPr/>
        </p:nvSpPr>
        <p:spPr>
          <a:xfrm>
            <a:off x="4953000" y="5006848"/>
            <a:ext cx="100013" cy="173227"/>
          </a:xfrm>
          <a:custGeom>
            <a:avLst/>
            <a:gdLst/>
            <a:ahLst/>
            <a:cxnLst/>
            <a:rect l="0" t="0" r="0" b="0"/>
            <a:pathLst>
              <a:path w="100013" h="173227">
                <a:moveTo>
                  <a:pt x="0" y="173227"/>
                </a:moveTo>
                <a:lnTo>
                  <a:pt x="100013" y="0"/>
                </a:lnTo>
              </a:path>
            </a:pathLst>
          </a:custGeom>
          <a:noFill/>
          <a:ln w="57150">
            <a:solidFill>
              <a:srgbClr val="000000"/>
            </a:solidFill>
            <a:prstDash val="solid"/>
          </a:ln>
        </p:spPr>
        <p:txBody>
          <a:bodyPr/>
          <a:lstStyle/>
          <a:p>
            <a:pPr algn="ctr"/>
            <a:endParaRPr lang="en-US">
              <a:latin typeface="Calibri" panose="020F0502020204030204" pitchFamily="34" charset="0"/>
            </a:endParaRPr>
          </a:p>
        </p:txBody>
      </p:sp>
      <p:sp>
        <p:nvSpPr>
          <p:cNvPr id="225" name="Freeform: Shape 224">
            <a:extLst>
              <a:ext uri="{FF2B5EF4-FFF2-40B4-BE49-F238E27FC236}">
                <a16:creationId xmlns:a16="http://schemas.microsoft.com/office/drawing/2014/main" id="{67C2623A-E321-CC5C-3BF2-2DBCFFA037D6}"/>
              </a:ext>
            </a:extLst>
          </p:cNvPr>
          <p:cNvSpPr>
            <a:spLocks noGrp="1"/>
          </p:cNvSpPr>
          <p:nvPr/>
        </p:nvSpPr>
        <p:spPr>
          <a:xfrm>
            <a:off x="4953000" y="5180075"/>
            <a:ext cx="100013" cy="173227"/>
          </a:xfrm>
          <a:custGeom>
            <a:avLst/>
            <a:gdLst/>
            <a:ahLst/>
            <a:cxnLst/>
            <a:rect l="0" t="0" r="0" b="0"/>
            <a:pathLst>
              <a:path w="100013" h="173227">
                <a:moveTo>
                  <a:pt x="0" y="0"/>
                </a:moveTo>
                <a:lnTo>
                  <a:pt x="100013" y="173227"/>
                </a:lnTo>
              </a:path>
            </a:pathLst>
          </a:custGeom>
          <a:noFill/>
          <a:ln w="57150">
            <a:solidFill>
              <a:srgbClr val="000000"/>
            </a:solidFill>
            <a:prstDash val="solid"/>
          </a:ln>
        </p:spPr>
        <p:txBody>
          <a:bodyPr/>
          <a:lstStyle/>
          <a:p>
            <a:pPr algn="ctr"/>
            <a:endParaRPr lang="en-US">
              <a:latin typeface="Calibri" panose="020F0502020204030204" pitchFamily="34" charset="0"/>
            </a:endParaRPr>
          </a:p>
        </p:txBody>
      </p:sp>
      <p:sp>
        <p:nvSpPr>
          <p:cNvPr id="226" name="Freeform: Shape 225">
            <a:extLst>
              <a:ext uri="{FF2B5EF4-FFF2-40B4-BE49-F238E27FC236}">
                <a16:creationId xmlns:a16="http://schemas.microsoft.com/office/drawing/2014/main" id="{EABB7354-537D-1590-16E4-7D29FC249A65}"/>
              </a:ext>
            </a:extLst>
          </p:cNvPr>
          <p:cNvSpPr>
            <a:spLocks noGrp="1"/>
          </p:cNvSpPr>
          <p:nvPr/>
        </p:nvSpPr>
        <p:spPr>
          <a:xfrm>
            <a:off x="4752975" y="5180075"/>
            <a:ext cx="200025" cy="9525"/>
          </a:xfrm>
          <a:custGeom>
            <a:avLst/>
            <a:gdLst/>
            <a:ahLst/>
            <a:cxnLst/>
            <a:rect l="0" t="0" r="0" b="0"/>
            <a:pathLst>
              <a:path w="200025" h="9525">
                <a:moveTo>
                  <a:pt x="200025" y="0"/>
                </a:moveTo>
                <a:lnTo>
                  <a:pt x="0" y="0"/>
                </a:lnTo>
              </a:path>
            </a:pathLst>
          </a:custGeom>
          <a:noFill/>
          <a:ln w="57150">
            <a:solidFill>
              <a:srgbClr val="000000"/>
            </a:solidFill>
            <a:prstDash val="solid"/>
          </a:ln>
        </p:spPr>
        <p:txBody>
          <a:bodyPr/>
          <a:lstStyle/>
          <a:p>
            <a:pPr algn="ctr"/>
            <a:endParaRPr lang="en-US">
              <a:latin typeface="Calibri" panose="020F0502020204030204" pitchFamily="34" charset="0"/>
            </a:endParaRPr>
          </a:p>
        </p:txBody>
      </p:sp>
      <p:sp>
        <p:nvSpPr>
          <p:cNvPr id="227" name="Oval 226">
            <a:extLst>
              <a:ext uri="{FF2B5EF4-FFF2-40B4-BE49-F238E27FC236}">
                <a16:creationId xmlns:a16="http://schemas.microsoft.com/office/drawing/2014/main" id="{4132D548-B204-A91A-AC37-F4D63B91AB92}"/>
              </a:ext>
            </a:extLst>
          </p:cNvPr>
          <p:cNvSpPr>
            <a:spLocks noGrp="1"/>
          </p:cNvSpPr>
          <p:nvPr/>
        </p:nvSpPr>
        <p:spPr>
          <a:xfrm>
            <a:off x="4924425" y="5151500"/>
            <a:ext cx="57150" cy="57150"/>
          </a:xfrm>
          <a:prstGeom prst="ellipse">
            <a:avLst/>
          </a:prstGeom>
          <a:solidFill>
            <a:srgbClr val="FFFFFF"/>
          </a:solidFill>
          <a:ln w="9525">
            <a:solidFill>
              <a:srgbClr val="000000"/>
            </a:solidFill>
            <a:prstDash val="solid"/>
          </a:ln>
        </p:spPr>
        <p:txBody>
          <a:bodyPr/>
          <a:lstStyle/>
          <a:p>
            <a:pPr algn="ctr"/>
            <a:endParaRPr lang="en-US">
              <a:latin typeface="Calibri" panose="020F0502020204030204" pitchFamily="34" charset="0"/>
            </a:endParaRPr>
          </a:p>
        </p:txBody>
      </p:sp>
      <p:sp>
        <p:nvSpPr>
          <p:cNvPr id="228" name="Oval 227">
            <a:extLst>
              <a:ext uri="{FF2B5EF4-FFF2-40B4-BE49-F238E27FC236}">
                <a16:creationId xmlns:a16="http://schemas.microsoft.com/office/drawing/2014/main" id="{A1C5E7A4-E746-2443-F705-79184A309684}"/>
              </a:ext>
            </a:extLst>
          </p:cNvPr>
          <p:cNvSpPr>
            <a:spLocks noGrp="1"/>
          </p:cNvSpPr>
          <p:nvPr/>
        </p:nvSpPr>
        <p:spPr>
          <a:xfrm>
            <a:off x="6819900" y="4951475"/>
            <a:ext cx="457200" cy="457200"/>
          </a:xfrm>
          <a:prstGeom prst="ellipse">
            <a:avLst/>
          </a:prstGeom>
          <a:solidFill>
            <a:srgbClr val="FFFFFF"/>
          </a:solidFill>
          <a:ln w="14288">
            <a:solidFill>
              <a:srgbClr val="000000"/>
            </a:solidFill>
            <a:prstDash val="solid"/>
          </a:ln>
        </p:spPr>
        <p:txBody>
          <a:bodyPr/>
          <a:lstStyle/>
          <a:p>
            <a:pPr algn="ctr"/>
            <a:endParaRPr lang="en-US">
              <a:latin typeface="Calibri" panose="020F0502020204030204" pitchFamily="34" charset="0"/>
            </a:endParaRPr>
          </a:p>
        </p:txBody>
      </p:sp>
      <p:sp>
        <p:nvSpPr>
          <p:cNvPr id="229" name="Freeform: Shape 228">
            <a:extLst>
              <a:ext uri="{FF2B5EF4-FFF2-40B4-BE49-F238E27FC236}">
                <a16:creationId xmlns:a16="http://schemas.microsoft.com/office/drawing/2014/main" id="{88F7DD4B-8634-27FC-69E9-AF9CBCBA0CDF}"/>
              </a:ext>
            </a:extLst>
          </p:cNvPr>
          <p:cNvSpPr>
            <a:spLocks noGrp="1"/>
          </p:cNvSpPr>
          <p:nvPr/>
        </p:nvSpPr>
        <p:spPr>
          <a:xfrm>
            <a:off x="7048500" y="5006848"/>
            <a:ext cx="100013" cy="173227"/>
          </a:xfrm>
          <a:custGeom>
            <a:avLst/>
            <a:gdLst/>
            <a:ahLst/>
            <a:cxnLst/>
            <a:rect l="0" t="0" r="0" b="0"/>
            <a:pathLst>
              <a:path w="100013" h="173227">
                <a:moveTo>
                  <a:pt x="0" y="173227"/>
                </a:moveTo>
                <a:lnTo>
                  <a:pt x="100013" y="0"/>
                </a:lnTo>
              </a:path>
            </a:pathLst>
          </a:custGeom>
          <a:noFill/>
          <a:ln w="57150">
            <a:solidFill>
              <a:srgbClr val="000000"/>
            </a:solidFill>
            <a:prstDash val="solid"/>
          </a:ln>
        </p:spPr>
        <p:txBody>
          <a:bodyPr/>
          <a:lstStyle/>
          <a:p>
            <a:pPr algn="ctr"/>
            <a:endParaRPr lang="en-US">
              <a:latin typeface="Calibri" panose="020F0502020204030204" pitchFamily="34" charset="0"/>
            </a:endParaRPr>
          </a:p>
        </p:txBody>
      </p:sp>
      <p:sp>
        <p:nvSpPr>
          <p:cNvPr id="230" name="Freeform: Shape 229">
            <a:extLst>
              <a:ext uri="{FF2B5EF4-FFF2-40B4-BE49-F238E27FC236}">
                <a16:creationId xmlns:a16="http://schemas.microsoft.com/office/drawing/2014/main" id="{CCF24F20-67A4-3C6B-F08C-A1643F1AD1D4}"/>
              </a:ext>
            </a:extLst>
          </p:cNvPr>
          <p:cNvSpPr>
            <a:spLocks noGrp="1"/>
          </p:cNvSpPr>
          <p:nvPr/>
        </p:nvSpPr>
        <p:spPr>
          <a:xfrm>
            <a:off x="7048500" y="5180075"/>
            <a:ext cx="100013" cy="173227"/>
          </a:xfrm>
          <a:custGeom>
            <a:avLst/>
            <a:gdLst/>
            <a:ahLst/>
            <a:cxnLst/>
            <a:rect l="0" t="0" r="0" b="0"/>
            <a:pathLst>
              <a:path w="100013" h="173227">
                <a:moveTo>
                  <a:pt x="0" y="0"/>
                </a:moveTo>
                <a:lnTo>
                  <a:pt x="100013" y="173227"/>
                </a:lnTo>
              </a:path>
            </a:pathLst>
          </a:custGeom>
          <a:noFill/>
          <a:ln w="57150">
            <a:solidFill>
              <a:srgbClr val="000000"/>
            </a:solidFill>
            <a:prstDash val="solid"/>
          </a:ln>
        </p:spPr>
        <p:txBody>
          <a:bodyPr/>
          <a:lstStyle/>
          <a:p>
            <a:pPr algn="ctr"/>
            <a:endParaRPr lang="en-US">
              <a:latin typeface="Calibri" panose="020F0502020204030204" pitchFamily="34" charset="0"/>
            </a:endParaRPr>
          </a:p>
        </p:txBody>
      </p:sp>
      <p:sp>
        <p:nvSpPr>
          <p:cNvPr id="231" name="Freeform: Shape 230">
            <a:extLst>
              <a:ext uri="{FF2B5EF4-FFF2-40B4-BE49-F238E27FC236}">
                <a16:creationId xmlns:a16="http://schemas.microsoft.com/office/drawing/2014/main" id="{7F6E3DC7-23D1-0EE1-E38A-BBE6B79D279E}"/>
              </a:ext>
            </a:extLst>
          </p:cNvPr>
          <p:cNvSpPr>
            <a:spLocks noGrp="1"/>
          </p:cNvSpPr>
          <p:nvPr/>
        </p:nvSpPr>
        <p:spPr>
          <a:xfrm>
            <a:off x="6848475" y="5180075"/>
            <a:ext cx="200025" cy="9525"/>
          </a:xfrm>
          <a:custGeom>
            <a:avLst/>
            <a:gdLst/>
            <a:ahLst/>
            <a:cxnLst/>
            <a:rect l="0" t="0" r="0" b="0"/>
            <a:pathLst>
              <a:path w="200025" h="9525">
                <a:moveTo>
                  <a:pt x="200025" y="0"/>
                </a:moveTo>
                <a:lnTo>
                  <a:pt x="0" y="0"/>
                </a:lnTo>
              </a:path>
            </a:pathLst>
          </a:custGeom>
          <a:noFill/>
          <a:ln w="57150">
            <a:solidFill>
              <a:srgbClr val="000000"/>
            </a:solidFill>
            <a:prstDash val="solid"/>
          </a:ln>
        </p:spPr>
        <p:txBody>
          <a:bodyPr/>
          <a:lstStyle/>
          <a:p>
            <a:pPr algn="ctr"/>
            <a:endParaRPr lang="en-US">
              <a:latin typeface="Calibri" panose="020F0502020204030204" pitchFamily="34" charset="0"/>
            </a:endParaRPr>
          </a:p>
        </p:txBody>
      </p:sp>
      <p:sp>
        <p:nvSpPr>
          <p:cNvPr id="232" name="Oval 231">
            <a:extLst>
              <a:ext uri="{FF2B5EF4-FFF2-40B4-BE49-F238E27FC236}">
                <a16:creationId xmlns:a16="http://schemas.microsoft.com/office/drawing/2014/main" id="{098C1C83-9740-0FF2-904E-0C269971068F}"/>
              </a:ext>
            </a:extLst>
          </p:cNvPr>
          <p:cNvSpPr>
            <a:spLocks noGrp="1"/>
          </p:cNvSpPr>
          <p:nvPr/>
        </p:nvSpPr>
        <p:spPr>
          <a:xfrm>
            <a:off x="7019925" y="5151500"/>
            <a:ext cx="57150" cy="57150"/>
          </a:xfrm>
          <a:prstGeom prst="ellipse">
            <a:avLst/>
          </a:prstGeom>
          <a:solidFill>
            <a:srgbClr val="FFFFFF"/>
          </a:solidFill>
          <a:ln w="9525">
            <a:solidFill>
              <a:srgbClr val="000000"/>
            </a:solidFill>
            <a:prstDash val="solid"/>
          </a:ln>
        </p:spPr>
        <p:txBody>
          <a:bodyPr/>
          <a:lstStyle/>
          <a:p>
            <a:pPr algn="ctr"/>
            <a:endParaRPr lang="en-US">
              <a:latin typeface="Calibri" panose="020F0502020204030204" pitchFamily="34" charset="0"/>
            </a:endParaRPr>
          </a:p>
        </p:txBody>
      </p:sp>
      <p:sp>
        <p:nvSpPr>
          <p:cNvPr id="233" name="Rectangle 232">
            <a:extLst>
              <a:ext uri="{FF2B5EF4-FFF2-40B4-BE49-F238E27FC236}">
                <a16:creationId xmlns:a16="http://schemas.microsoft.com/office/drawing/2014/main" id="{3D77E475-57AB-A789-6BF8-226B6414C59A}"/>
              </a:ext>
            </a:extLst>
          </p:cNvPr>
          <p:cNvSpPr>
            <a:spLocks noGrp="1"/>
          </p:cNvSpPr>
          <p:nvPr/>
        </p:nvSpPr>
        <p:spPr>
          <a:xfrm>
            <a:off x="4392359" y="5542025"/>
            <a:ext cx="1143000" cy="238125"/>
          </a:xfrm>
          <a:prstGeom prst="rect">
            <a:avLst/>
          </a:prstGeom>
          <a:noFill/>
          <a:ln w="0">
            <a:noFill/>
            <a:prstDash val="solid"/>
          </a:ln>
        </p:spPr>
        <p:txBody>
          <a:bodyPr lIns="0" tIns="0" rIns="0" bIns="0"/>
          <a:lstStyle>
            <a:defPPr>
              <a:defRPr sz="1275" b="0">
                <a:solidFill>
                  <a:srgbClr val="000000"/>
                </a:solidFill>
                <a:latin typeface="Calibri"/>
                <a:ea typeface="Calibri"/>
                <a:cs typeface="Calibri"/>
              </a:defRPr>
            </a:defPPr>
            <a:lvl1pPr>
              <a:defRPr sz="1275" b="0">
                <a:solidFill>
                  <a:srgbClr val="000000"/>
                </a:solidFill>
                <a:latin typeface="Calibri"/>
                <a:ea typeface="Calibri"/>
                <a:cs typeface="Calibri"/>
              </a:defRPr>
            </a:lvl1pPr>
            <a:lvl2pPr>
              <a:defRPr sz="1275" b="0">
                <a:solidFill>
                  <a:srgbClr val="000000"/>
                </a:solidFill>
                <a:latin typeface="Calibri"/>
                <a:ea typeface="Calibri"/>
                <a:cs typeface="Calibri"/>
              </a:defRPr>
            </a:lvl2pPr>
            <a:lvl3pPr>
              <a:defRPr sz="1275" b="0">
                <a:solidFill>
                  <a:srgbClr val="000000"/>
                </a:solidFill>
                <a:latin typeface="Calibri"/>
                <a:ea typeface="Calibri"/>
                <a:cs typeface="Calibri"/>
              </a:defRPr>
            </a:lvl3pPr>
            <a:lvl4pPr>
              <a:defRPr sz="1275" b="0">
                <a:solidFill>
                  <a:srgbClr val="000000"/>
                </a:solidFill>
                <a:latin typeface="Calibri"/>
                <a:ea typeface="Calibri"/>
                <a:cs typeface="Calibri"/>
              </a:defRPr>
            </a:lvl4pPr>
            <a:lvl5pPr>
              <a:defRPr sz="1275" b="0">
                <a:solidFill>
                  <a:srgbClr val="000000"/>
                </a:solidFill>
                <a:latin typeface="Calibri"/>
                <a:ea typeface="Calibri"/>
                <a:cs typeface="Calibri"/>
              </a:defRPr>
            </a:lvl5pPr>
            <a:lvl6pPr>
              <a:defRPr sz="1275" b="0">
                <a:solidFill>
                  <a:srgbClr val="000000"/>
                </a:solidFill>
                <a:latin typeface="Calibri"/>
                <a:ea typeface="Calibri"/>
                <a:cs typeface="Calibri"/>
              </a:defRPr>
            </a:lvl6pPr>
            <a:lvl7pPr>
              <a:defRPr sz="1275" b="0">
                <a:solidFill>
                  <a:srgbClr val="000000"/>
                </a:solidFill>
                <a:latin typeface="Calibri"/>
                <a:ea typeface="Calibri"/>
                <a:cs typeface="Calibri"/>
              </a:defRPr>
            </a:lvl7pPr>
            <a:lvl8pPr>
              <a:defRPr sz="1275" b="0">
                <a:solidFill>
                  <a:srgbClr val="000000"/>
                </a:solidFill>
                <a:latin typeface="Calibri"/>
                <a:ea typeface="Calibri"/>
                <a:cs typeface="Calibri"/>
              </a:defRPr>
            </a:lvl8pPr>
            <a:lvl9pPr>
              <a:defRPr sz="1275" b="0">
                <a:solidFill>
                  <a:srgbClr val="000000"/>
                </a:solidFill>
                <a:latin typeface="Calibri"/>
                <a:ea typeface="Calibri"/>
                <a:cs typeface="Calibri"/>
              </a:defRPr>
            </a:lvl9pPr>
          </a:lstStyle>
          <a:p>
            <a:pPr algn="ctr">
              <a:defRPr sz="1275" b="0">
                <a:solidFill>
                  <a:srgbClr val="000000"/>
                </a:solidFill>
                <a:latin typeface="Calibri"/>
                <a:ea typeface="Calibri"/>
                <a:cs typeface="Calibri"/>
              </a:defRPr>
            </a:pPr>
            <a:r>
              <a:rPr lang="en-US" sz="1275" b="0" dirty="0">
                <a:solidFill>
                  <a:srgbClr val="000000"/>
                </a:solidFill>
                <a:latin typeface="Calibri" panose="020F0502020204030204" pitchFamily="34" charset="0"/>
                <a:ea typeface="Calibri"/>
                <a:cs typeface="Calibri"/>
              </a:rPr>
              <a:t>Tilt</a:t>
            </a:r>
            <a:r>
              <a:rPr sz="1275" b="0" dirty="0">
                <a:solidFill>
                  <a:srgbClr val="000000"/>
                </a:solidFill>
                <a:latin typeface="Calibri" panose="020F0502020204030204" pitchFamily="34" charset="0"/>
                <a:ea typeface="Calibri"/>
                <a:cs typeface="Calibri"/>
              </a:rPr>
              <a:t> rotor</a:t>
            </a:r>
          </a:p>
        </p:txBody>
      </p:sp>
      <p:sp>
        <p:nvSpPr>
          <p:cNvPr id="234" name="Rectangle 233">
            <a:extLst>
              <a:ext uri="{FF2B5EF4-FFF2-40B4-BE49-F238E27FC236}">
                <a16:creationId xmlns:a16="http://schemas.microsoft.com/office/drawing/2014/main" id="{C086072C-251C-7A2F-F67B-6B9FE39FA12A}"/>
              </a:ext>
            </a:extLst>
          </p:cNvPr>
          <p:cNvSpPr>
            <a:spLocks noGrp="1"/>
          </p:cNvSpPr>
          <p:nvPr/>
        </p:nvSpPr>
        <p:spPr>
          <a:xfrm>
            <a:off x="6513549" y="5542025"/>
            <a:ext cx="1143000" cy="238125"/>
          </a:xfrm>
          <a:prstGeom prst="rect">
            <a:avLst/>
          </a:prstGeom>
          <a:noFill/>
          <a:ln w="0">
            <a:noFill/>
            <a:prstDash val="solid"/>
          </a:ln>
        </p:spPr>
        <p:txBody>
          <a:bodyPr lIns="0" tIns="0" rIns="0" bIns="0"/>
          <a:lstStyle>
            <a:defPPr>
              <a:defRPr sz="1275" b="0">
                <a:solidFill>
                  <a:srgbClr val="000000"/>
                </a:solidFill>
                <a:latin typeface="Calibri"/>
                <a:ea typeface="Calibri"/>
                <a:cs typeface="Calibri"/>
              </a:defRPr>
            </a:defPPr>
            <a:lvl1pPr>
              <a:defRPr sz="1275" b="0">
                <a:solidFill>
                  <a:srgbClr val="000000"/>
                </a:solidFill>
                <a:latin typeface="Calibri"/>
                <a:ea typeface="Calibri"/>
                <a:cs typeface="Calibri"/>
              </a:defRPr>
            </a:lvl1pPr>
            <a:lvl2pPr>
              <a:defRPr sz="1275" b="0">
                <a:solidFill>
                  <a:srgbClr val="000000"/>
                </a:solidFill>
                <a:latin typeface="Calibri"/>
                <a:ea typeface="Calibri"/>
                <a:cs typeface="Calibri"/>
              </a:defRPr>
            </a:lvl2pPr>
            <a:lvl3pPr>
              <a:defRPr sz="1275" b="0">
                <a:solidFill>
                  <a:srgbClr val="000000"/>
                </a:solidFill>
                <a:latin typeface="Calibri"/>
                <a:ea typeface="Calibri"/>
                <a:cs typeface="Calibri"/>
              </a:defRPr>
            </a:lvl3pPr>
            <a:lvl4pPr>
              <a:defRPr sz="1275" b="0">
                <a:solidFill>
                  <a:srgbClr val="000000"/>
                </a:solidFill>
                <a:latin typeface="Calibri"/>
                <a:ea typeface="Calibri"/>
                <a:cs typeface="Calibri"/>
              </a:defRPr>
            </a:lvl4pPr>
            <a:lvl5pPr>
              <a:defRPr sz="1275" b="0">
                <a:solidFill>
                  <a:srgbClr val="000000"/>
                </a:solidFill>
                <a:latin typeface="Calibri"/>
                <a:ea typeface="Calibri"/>
                <a:cs typeface="Calibri"/>
              </a:defRPr>
            </a:lvl5pPr>
            <a:lvl6pPr>
              <a:defRPr sz="1275" b="0">
                <a:solidFill>
                  <a:srgbClr val="000000"/>
                </a:solidFill>
                <a:latin typeface="Calibri"/>
                <a:ea typeface="Calibri"/>
                <a:cs typeface="Calibri"/>
              </a:defRPr>
            </a:lvl6pPr>
            <a:lvl7pPr>
              <a:defRPr sz="1275" b="0">
                <a:solidFill>
                  <a:srgbClr val="000000"/>
                </a:solidFill>
                <a:latin typeface="Calibri"/>
                <a:ea typeface="Calibri"/>
                <a:cs typeface="Calibri"/>
              </a:defRPr>
            </a:lvl7pPr>
            <a:lvl8pPr>
              <a:defRPr sz="1275" b="0">
                <a:solidFill>
                  <a:srgbClr val="000000"/>
                </a:solidFill>
                <a:latin typeface="Calibri"/>
                <a:ea typeface="Calibri"/>
                <a:cs typeface="Calibri"/>
              </a:defRPr>
            </a:lvl8pPr>
            <a:lvl9pPr>
              <a:defRPr sz="1275" b="0">
                <a:solidFill>
                  <a:srgbClr val="000000"/>
                </a:solidFill>
                <a:latin typeface="Calibri"/>
                <a:ea typeface="Calibri"/>
                <a:cs typeface="Calibri"/>
              </a:defRPr>
            </a:lvl9pPr>
          </a:lstStyle>
          <a:p>
            <a:pPr algn="ctr">
              <a:defRPr sz="1275" b="0">
                <a:solidFill>
                  <a:srgbClr val="000000"/>
                </a:solidFill>
                <a:latin typeface="Calibri"/>
                <a:ea typeface="Calibri"/>
                <a:cs typeface="Calibri"/>
              </a:defRPr>
            </a:pPr>
            <a:r>
              <a:rPr lang="en-US" sz="1275" b="0" dirty="0">
                <a:solidFill>
                  <a:srgbClr val="000000"/>
                </a:solidFill>
                <a:latin typeface="Calibri" panose="020F0502020204030204" pitchFamily="34" charset="0"/>
                <a:ea typeface="Calibri"/>
                <a:cs typeface="Calibri"/>
              </a:rPr>
              <a:t>Tilt</a:t>
            </a:r>
            <a:r>
              <a:rPr sz="1275" b="0" dirty="0">
                <a:solidFill>
                  <a:srgbClr val="000000"/>
                </a:solidFill>
                <a:latin typeface="Calibri" panose="020F0502020204030204" pitchFamily="34" charset="0"/>
                <a:ea typeface="Calibri"/>
                <a:cs typeface="Calibri"/>
              </a:rPr>
              <a:t> rotor</a:t>
            </a:r>
          </a:p>
        </p:txBody>
      </p:sp>
      <p:sp>
        <p:nvSpPr>
          <p:cNvPr id="235" name="Rectangle 234">
            <a:extLst>
              <a:ext uri="{FF2B5EF4-FFF2-40B4-BE49-F238E27FC236}">
                <a16:creationId xmlns:a16="http://schemas.microsoft.com/office/drawing/2014/main" id="{B720A08E-BB58-D1F0-0B50-4BBF93400107}"/>
              </a:ext>
            </a:extLst>
          </p:cNvPr>
          <p:cNvSpPr>
            <a:spLocks noGrp="1"/>
          </p:cNvSpPr>
          <p:nvPr/>
        </p:nvSpPr>
        <p:spPr>
          <a:xfrm>
            <a:off x="9039225" y="2315260"/>
            <a:ext cx="1828800" cy="333375"/>
          </a:xfrm>
          <a:prstGeom prst="rect">
            <a:avLst/>
          </a:prstGeom>
          <a:solidFill>
            <a:srgbClr val="FFFFFF"/>
          </a:solidFill>
          <a:ln w="15240">
            <a:solidFill>
              <a:srgbClr val="D97732"/>
            </a:solidFill>
            <a:prstDash val="solid"/>
          </a:ln>
        </p:spPr>
        <p:txBody>
          <a:bodyPr/>
          <a:lstStyle/>
          <a:p>
            <a:endParaRPr lang="en-US">
              <a:latin typeface="Calibri" panose="020F0502020204030204" pitchFamily="34" charset="0"/>
            </a:endParaRPr>
          </a:p>
        </p:txBody>
      </p:sp>
      <p:sp>
        <p:nvSpPr>
          <p:cNvPr id="236" name="Rectangle 235">
            <a:extLst>
              <a:ext uri="{FF2B5EF4-FFF2-40B4-BE49-F238E27FC236}">
                <a16:creationId xmlns:a16="http://schemas.microsoft.com/office/drawing/2014/main" id="{9C30AA34-0C3D-81F0-2059-198D8C70D084}"/>
              </a:ext>
            </a:extLst>
          </p:cNvPr>
          <p:cNvSpPr>
            <a:spLocks noGrp="1"/>
          </p:cNvSpPr>
          <p:nvPr/>
        </p:nvSpPr>
        <p:spPr>
          <a:xfrm>
            <a:off x="9210675" y="2391460"/>
            <a:ext cx="1485900" cy="247650"/>
          </a:xfrm>
          <a:prstGeom prst="rect">
            <a:avLst/>
          </a:prstGeom>
          <a:noFill/>
          <a:ln w="0">
            <a:noFill/>
            <a:prstDash val="solid"/>
          </a:ln>
        </p:spPr>
        <p:txBody>
          <a:bodyPr lIns="0" tIns="0" rIns="0" bIns="0"/>
          <a:lstStyle>
            <a:defPPr>
              <a:defRPr sz="1350" b="0">
                <a:solidFill>
                  <a:srgbClr val="D97732"/>
                </a:solidFill>
                <a:latin typeface="Calibri"/>
                <a:ea typeface="Calibri"/>
                <a:cs typeface="Calibri"/>
              </a:defRPr>
            </a:defPPr>
            <a:lvl1pPr>
              <a:defRPr sz="1350" b="0">
                <a:solidFill>
                  <a:srgbClr val="D97732"/>
                </a:solidFill>
                <a:latin typeface="Calibri"/>
                <a:ea typeface="Calibri"/>
                <a:cs typeface="Calibri"/>
              </a:defRPr>
            </a:lvl1pPr>
            <a:lvl2pPr>
              <a:defRPr sz="1350" b="0">
                <a:solidFill>
                  <a:srgbClr val="D97732"/>
                </a:solidFill>
                <a:latin typeface="Calibri"/>
                <a:ea typeface="Calibri"/>
                <a:cs typeface="Calibri"/>
              </a:defRPr>
            </a:lvl2pPr>
            <a:lvl3pPr>
              <a:defRPr sz="1350" b="0">
                <a:solidFill>
                  <a:srgbClr val="D97732"/>
                </a:solidFill>
                <a:latin typeface="Calibri"/>
                <a:ea typeface="Calibri"/>
                <a:cs typeface="Calibri"/>
              </a:defRPr>
            </a:lvl3pPr>
            <a:lvl4pPr>
              <a:defRPr sz="1350" b="0">
                <a:solidFill>
                  <a:srgbClr val="D97732"/>
                </a:solidFill>
                <a:latin typeface="Calibri"/>
                <a:ea typeface="Calibri"/>
                <a:cs typeface="Calibri"/>
              </a:defRPr>
            </a:lvl4pPr>
            <a:lvl5pPr>
              <a:defRPr sz="1350" b="0">
                <a:solidFill>
                  <a:srgbClr val="D97732"/>
                </a:solidFill>
                <a:latin typeface="Calibri"/>
                <a:ea typeface="Calibri"/>
                <a:cs typeface="Calibri"/>
              </a:defRPr>
            </a:lvl5pPr>
            <a:lvl6pPr>
              <a:defRPr sz="1350" b="0">
                <a:solidFill>
                  <a:srgbClr val="D97732"/>
                </a:solidFill>
                <a:latin typeface="Calibri"/>
                <a:ea typeface="Calibri"/>
                <a:cs typeface="Calibri"/>
              </a:defRPr>
            </a:lvl6pPr>
            <a:lvl7pPr>
              <a:defRPr sz="1350" b="0">
                <a:solidFill>
                  <a:srgbClr val="D97732"/>
                </a:solidFill>
                <a:latin typeface="Calibri"/>
                <a:ea typeface="Calibri"/>
                <a:cs typeface="Calibri"/>
              </a:defRPr>
            </a:lvl7pPr>
            <a:lvl8pPr>
              <a:defRPr sz="1350" b="0">
                <a:solidFill>
                  <a:srgbClr val="D97732"/>
                </a:solidFill>
                <a:latin typeface="Calibri"/>
                <a:ea typeface="Calibri"/>
                <a:cs typeface="Calibri"/>
              </a:defRPr>
            </a:lvl8pPr>
            <a:lvl9pPr>
              <a:defRPr sz="1350" b="0">
                <a:solidFill>
                  <a:srgbClr val="D97732"/>
                </a:solidFill>
                <a:latin typeface="Calibri"/>
                <a:ea typeface="Calibri"/>
                <a:cs typeface="Calibri"/>
              </a:defRPr>
            </a:lvl9pPr>
          </a:lstStyle>
          <a:p>
            <a:pPr algn="ctr">
              <a:defRPr sz="1350" b="0">
                <a:solidFill>
                  <a:srgbClr val="D97732"/>
                </a:solidFill>
                <a:latin typeface="Calibri"/>
                <a:ea typeface="Calibri"/>
                <a:cs typeface="Calibri"/>
              </a:defRPr>
            </a:pPr>
            <a:r>
              <a:rPr sz="1350" b="0">
                <a:solidFill>
                  <a:srgbClr val="D97732"/>
                </a:solidFill>
                <a:latin typeface="Calibri" panose="020F0502020204030204" pitchFamily="34" charset="0"/>
                <a:ea typeface="Calibri"/>
                <a:cs typeface="Calibri"/>
              </a:rPr>
              <a:t>Fuel</a:t>
            </a:r>
          </a:p>
        </p:txBody>
      </p:sp>
      <p:sp>
        <p:nvSpPr>
          <p:cNvPr id="237" name="Rectangle 236">
            <a:extLst>
              <a:ext uri="{FF2B5EF4-FFF2-40B4-BE49-F238E27FC236}">
                <a16:creationId xmlns:a16="http://schemas.microsoft.com/office/drawing/2014/main" id="{63190F56-D408-C076-EC9B-6577FD1FF2A5}"/>
              </a:ext>
            </a:extLst>
          </p:cNvPr>
          <p:cNvSpPr>
            <a:spLocks noGrp="1"/>
          </p:cNvSpPr>
          <p:nvPr/>
        </p:nvSpPr>
        <p:spPr>
          <a:xfrm>
            <a:off x="9039225" y="2773349"/>
            <a:ext cx="1828800" cy="381000"/>
          </a:xfrm>
          <a:prstGeom prst="rect">
            <a:avLst/>
          </a:prstGeom>
          <a:solidFill>
            <a:srgbClr val="FFFFFF"/>
          </a:solidFill>
          <a:ln w="15240">
            <a:solidFill>
              <a:srgbClr val="D97732"/>
            </a:solidFill>
            <a:prstDash val="solid"/>
          </a:ln>
        </p:spPr>
        <p:txBody>
          <a:bodyPr/>
          <a:lstStyle/>
          <a:p>
            <a:pPr algn="ctr"/>
            <a:endParaRPr lang="en-US">
              <a:latin typeface="Calibri" panose="020F0502020204030204" pitchFamily="34" charset="0"/>
            </a:endParaRPr>
          </a:p>
        </p:txBody>
      </p:sp>
      <p:sp>
        <p:nvSpPr>
          <p:cNvPr id="238" name="Rectangle 237">
            <a:extLst>
              <a:ext uri="{FF2B5EF4-FFF2-40B4-BE49-F238E27FC236}">
                <a16:creationId xmlns:a16="http://schemas.microsoft.com/office/drawing/2014/main" id="{E1EB7E19-0DB6-FBB2-56B1-665763B9CCB3}"/>
              </a:ext>
            </a:extLst>
          </p:cNvPr>
          <p:cNvSpPr>
            <a:spLocks noGrp="1"/>
          </p:cNvSpPr>
          <p:nvPr/>
        </p:nvSpPr>
        <p:spPr>
          <a:xfrm>
            <a:off x="8924925" y="2870813"/>
            <a:ext cx="2057400" cy="295275"/>
          </a:xfrm>
          <a:prstGeom prst="rect">
            <a:avLst/>
          </a:prstGeom>
          <a:noFill/>
          <a:ln w="0">
            <a:noFill/>
            <a:prstDash val="solid"/>
          </a:ln>
        </p:spPr>
        <p:txBody>
          <a:bodyPr lIns="0" tIns="0" rIns="0" bIns="0"/>
          <a:lstStyle>
            <a:defPPr>
              <a:defRPr sz="1350" b="0">
                <a:solidFill>
                  <a:srgbClr val="D97732"/>
                </a:solidFill>
                <a:latin typeface="Calibri"/>
                <a:ea typeface="Calibri"/>
                <a:cs typeface="Calibri"/>
              </a:defRPr>
            </a:defPPr>
            <a:lvl1pPr>
              <a:defRPr sz="1350" b="0">
                <a:solidFill>
                  <a:srgbClr val="D97732"/>
                </a:solidFill>
                <a:latin typeface="Calibri"/>
                <a:ea typeface="Calibri"/>
                <a:cs typeface="Calibri"/>
              </a:defRPr>
            </a:lvl1pPr>
            <a:lvl2pPr>
              <a:defRPr sz="1350" b="0">
                <a:solidFill>
                  <a:srgbClr val="D97732"/>
                </a:solidFill>
                <a:latin typeface="Calibri"/>
                <a:ea typeface="Calibri"/>
                <a:cs typeface="Calibri"/>
              </a:defRPr>
            </a:lvl2pPr>
            <a:lvl3pPr>
              <a:defRPr sz="1350" b="0">
                <a:solidFill>
                  <a:srgbClr val="D97732"/>
                </a:solidFill>
                <a:latin typeface="Calibri"/>
                <a:ea typeface="Calibri"/>
                <a:cs typeface="Calibri"/>
              </a:defRPr>
            </a:lvl3pPr>
            <a:lvl4pPr>
              <a:defRPr sz="1350" b="0">
                <a:solidFill>
                  <a:srgbClr val="D97732"/>
                </a:solidFill>
                <a:latin typeface="Calibri"/>
                <a:ea typeface="Calibri"/>
                <a:cs typeface="Calibri"/>
              </a:defRPr>
            </a:lvl4pPr>
            <a:lvl5pPr>
              <a:defRPr sz="1350" b="0">
                <a:solidFill>
                  <a:srgbClr val="D97732"/>
                </a:solidFill>
                <a:latin typeface="Calibri"/>
                <a:ea typeface="Calibri"/>
                <a:cs typeface="Calibri"/>
              </a:defRPr>
            </a:lvl5pPr>
            <a:lvl6pPr>
              <a:defRPr sz="1350" b="0">
                <a:solidFill>
                  <a:srgbClr val="D97732"/>
                </a:solidFill>
                <a:latin typeface="Calibri"/>
                <a:ea typeface="Calibri"/>
                <a:cs typeface="Calibri"/>
              </a:defRPr>
            </a:lvl6pPr>
            <a:lvl7pPr>
              <a:defRPr sz="1350" b="0">
                <a:solidFill>
                  <a:srgbClr val="D97732"/>
                </a:solidFill>
                <a:latin typeface="Calibri"/>
                <a:ea typeface="Calibri"/>
                <a:cs typeface="Calibri"/>
              </a:defRPr>
            </a:lvl7pPr>
            <a:lvl8pPr>
              <a:defRPr sz="1350" b="0">
                <a:solidFill>
                  <a:srgbClr val="D97732"/>
                </a:solidFill>
                <a:latin typeface="Calibri"/>
                <a:ea typeface="Calibri"/>
                <a:cs typeface="Calibri"/>
              </a:defRPr>
            </a:lvl8pPr>
            <a:lvl9pPr>
              <a:defRPr sz="1350" b="0">
                <a:solidFill>
                  <a:srgbClr val="D97732"/>
                </a:solidFill>
                <a:latin typeface="Calibri"/>
                <a:ea typeface="Calibri"/>
                <a:cs typeface="Calibri"/>
              </a:defRPr>
            </a:lvl9pPr>
          </a:lstStyle>
          <a:p>
            <a:pPr algn="ctr">
              <a:defRPr sz="1350" b="0">
                <a:solidFill>
                  <a:srgbClr val="D97732"/>
                </a:solidFill>
                <a:latin typeface="Calibri"/>
                <a:ea typeface="Calibri"/>
                <a:cs typeface="Calibri"/>
              </a:defRPr>
            </a:pPr>
            <a:r>
              <a:rPr sz="1350" b="0" dirty="0">
                <a:solidFill>
                  <a:srgbClr val="D97732"/>
                </a:solidFill>
                <a:latin typeface="Calibri" panose="020F0502020204030204" pitchFamily="34" charset="0"/>
                <a:ea typeface="Calibri"/>
                <a:cs typeface="Calibri"/>
              </a:rPr>
              <a:t>Turbine engine</a:t>
            </a:r>
          </a:p>
        </p:txBody>
      </p:sp>
      <p:sp>
        <p:nvSpPr>
          <p:cNvPr id="242" name="Rectangle 241">
            <a:extLst>
              <a:ext uri="{FF2B5EF4-FFF2-40B4-BE49-F238E27FC236}">
                <a16:creationId xmlns:a16="http://schemas.microsoft.com/office/drawing/2014/main" id="{84BB16FC-7C3B-E426-521C-82BE8C49164B}"/>
              </a:ext>
            </a:extLst>
          </p:cNvPr>
          <p:cNvSpPr>
            <a:spLocks noGrp="1"/>
          </p:cNvSpPr>
          <p:nvPr/>
        </p:nvSpPr>
        <p:spPr>
          <a:xfrm>
            <a:off x="9039225" y="3279060"/>
            <a:ext cx="1828800" cy="381000"/>
          </a:xfrm>
          <a:prstGeom prst="rect">
            <a:avLst/>
          </a:prstGeom>
          <a:solidFill>
            <a:srgbClr val="FFFFFF"/>
          </a:solidFill>
          <a:ln w="15240">
            <a:solidFill>
              <a:srgbClr val="1885C7"/>
            </a:solidFill>
            <a:prstDash val="solid"/>
          </a:ln>
        </p:spPr>
        <p:txBody>
          <a:bodyPr/>
          <a:lstStyle/>
          <a:p>
            <a:pPr algn="ctr"/>
            <a:endParaRPr lang="en-US">
              <a:latin typeface="Calibri" panose="020F0502020204030204" pitchFamily="34" charset="0"/>
            </a:endParaRPr>
          </a:p>
        </p:txBody>
      </p:sp>
      <p:sp>
        <p:nvSpPr>
          <p:cNvPr id="243" name="Rectangle 242">
            <a:extLst>
              <a:ext uri="{FF2B5EF4-FFF2-40B4-BE49-F238E27FC236}">
                <a16:creationId xmlns:a16="http://schemas.microsoft.com/office/drawing/2014/main" id="{C689D159-838D-09BB-0696-D5E4C55C0760}"/>
              </a:ext>
            </a:extLst>
          </p:cNvPr>
          <p:cNvSpPr>
            <a:spLocks noGrp="1"/>
          </p:cNvSpPr>
          <p:nvPr/>
        </p:nvSpPr>
        <p:spPr>
          <a:xfrm>
            <a:off x="8639175" y="3369436"/>
            <a:ext cx="2628900" cy="295275"/>
          </a:xfrm>
          <a:prstGeom prst="rect">
            <a:avLst/>
          </a:prstGeom>
          <a:noFill/>
          <a:ln w="0">
            <a:noFill/>
            <a:prstDash val="solid"/>
          </a:ln>
        </p:spPr>
        <p:txBody>
          <a:bodyPr lIns="0" tIns="0" rIns="0" bIns="0"/>
          <a:lstStyle>
            <a:defPPr>
              <a:defRPr sz="1350" b="0">
                <a:solidFill>
                  <a:srgbClr val="1885C7"/>
                </a:solidFill>
                <a:latin typeface="Calibri"/>
                <a:ea typeface="Calibri"/>
                <a:cs typeface="Calibri"/>
              </a:defRPr>
            </a:defPPr>
            <a:lvl1pPr>
              <a:defRPr sz="1350" b="0">
                <a:solidFill>
                  <a:srgbClr val="1885C7"/>
                </a:solidFill>
                <a:latin typeface="Calibri"/>
                <a:ea typeface="Calibri"/>
                <a:cs typeface="Calibri"/>
              </a:defRPr>
            </a:lvl1pPr>
            <a:lvl2pPr>
              <a:defRPr sz="1350" b="0">
                <a:solidFill>
                  <a:srgbClr val="1885C7"/>
                </a:solidFill>
                <a:latin typeface="Calibri"/>
                <a:ea typeface="Calibri"/>
                <a:cs typeface="Calibri"/>
              </a:defRPr>
            </a:lvl2pPr>
            <a:lvl3pPr>
              <a:defRPr sz="1350" b="0">
                <a:solidFill>
                  <a:srgbClr val="1885C7"/>
                </a:solidFill>
                <a:latin typeface="Calibri"/>
                <a:ea typeface="Calibri"/>
                <a:cs typeface="Calibri"/>
              </a:defRPr>
            </a:lvl3pPr>
            <a:lvl4pPr>
              <a:defRPr sz="1350" b="0">
                <a:solidFill>
                  <a:srgbClr val="1885C7"/>
                </a:solidFill>
                <a:latin typeface="Calibri"/>
                <a:ea typeface="Calibri"/>
                <a:cs typeface="Calibri"/>
              </a:defRPr>
            </a:lvl4pPr>
            <a:lvl5pPr>
              <a:defRPr sz="1350" b="0">
                <a:solidFill>
                  <a:srgbClr val="1885C7"/>
                </a:solidFill>
                <a:latin typeface="Calibri"/>
                <a:ea typeface="Calibri"/>
                <a:cs typeface="Calibri"/>
              </a:defRPr>
            </a:lvl5pPr>
            <a:lvl6pPr>
              <a:defRPr sz="1350" b="0">
                <a:solidFill>
                  <a:srgbClr val="1885C7"/>
                </a:solidFill>
                <a:latin typeface="Calibri"/>
                <a:ea typeface="Calibri"/>
                <a:cs typeface="Calibri"/>
              </a:defRPr>
            </a:lvl6pPr>
            <a:lvl7pPr>
              <a:defRPr sz="1350" b="0">
                <a:solidFill>
                  <a:srgbClr val="1885C7"/>
                </a:solidFill>
                <a:latin typeface="Calibri"/>
                <a:ea typeface="Calibri"/>
                <a:cs typeface="Calibri"/>
              </a:defRPr>
            </a:lvl7pPr>
            <a:lvl8pPr>
              <a:defRPr sz="1350" b="0">
                <a:solidFill>
                  <a:srgbClr val="1885C7"/>
                </a:solidFill>
                <a:latin typeface="Calibri"/>
                <a:ea typeface="Calibri"/>
                <a:cs typeface="Calibri"/>
              </a:defRPr>
            </a:lvl8pPr>
            <a:lvl9pPr>
              <a:defRPr sz="1350" b="0">
                <a:solidFill>
                  <a:srgbClr val="1885C7"/>
                </a:solidFill>
                <a:latin typeface="Calibri"/>
                <a:ea typeface="Calibri"/>
                <a:cs typeface="Calibri"/>
              </a:defRPr>
            </a:lvl9pPr>
          </a:lstStyle>
          <a:p>
            <a:pPr algn="ctr">
              <a:defRPr sz="1350" b="0">
                <a:solidFill>
                  <a:srgbClr val="1885C7"/>
                </a:solidFill>
                <a:latin typeface="Calibri"/>
                <a:ea typeface="Calibri"/>
                <a:cs typeface="Calibri"/>
              </a:defRPr>
            </a:pPr>
            <a:r>
              <a:rPr sz="1350" b="0" dirty="0">
                <a:solidFill>
                  <a:srgbClr val="1885C7"/>
                </a:solidFill>
                <a:latin typeface="Calibri" panose="020F0502020204030204" pitchFamily="34" charset="0"/>
                <a:ea typeface="Calibri"/>
                <a:cs typeface="Calibri"/>
              </a:rPr>
              <a:t>Generator + rectifier</a:t>
            </a:r>
          </a:p>
        </p:txBody>
      </p:sp>
      <p:sp>
        <p:nvSpPr>
          <p:cNvPr id="247" name="Rectangle 246">
            <a:extLst>
              <a:ext uri="{FF2B5EF4-FFF2-40B4-BE49-F238E27FC236}">
                <a16:creationId xmlns:a16="http://schemas.microsoft.com/office/drawing/2014/main" id="{8975125C-6DE1-B994-A555-137BF426ABB0}"/>
              </a:ext>
            </a:extLst>
          </p:cNvPr>
          <p:cNvSpPr>
            <a:spLocks noGrp="1"/>
          </p:cNvSpPr>
          <p:nvPr/>
        </p:nvSpPr>
        <p:spPr>
          <a:xfrm>
            <a:off x="9039225" y="3777683"/>
            <a:ext cx="1828800" cy="361950"/>
          </a:xfrm>
          <a:prstGeom prst="rect">
            <a:avLst/>
          </a:prstGeom>
          <a:solidFill>
            <a:srgbClr val="FFFFFF"/>
          </a:solidFill>
          <a:ln w="15240">
            <a:solidFill>
              <a:srgbClr val="1885C7"/>
            </a:solidFill>
            <a:prstDash val="solid"/>
          </a:ln>
        </p:spPr>
        <p:txBody>
          <a:bodyPr/>
          <a:lstStyle/>
          <a:p>
            <a:pPr algn="ctr"/>
            <a:endParaRPr lang="en-US">
              <a:latin typeface="Calibri" panose="020F0502020204030204" pitchFamily="34" charset="0"/>
            </a:endParaRPr>
          </a:p>
        </p:txBody>
      </p:sp>
      <p:sp>
        <p:nvSpPr>
          <p:cNvPr id="248" name="Rectangle 247">
            <a:extLst>
              <a:ext uri="{FF2B5EF4-FFF2-40B4-BE49-F238E27FC236}">
                <a16:creationId xmlns:a16="http://schemas.microsoft.com/office/drawing/2014/main" id="{5746ED0E-0DDF-6D44-9428-8DCC9D2FB337}"/>
              </a:ext>
            </a:extLst>
          </p:cNvPr>
          <p:cNvSpPr>
            <a:spLocks noGrp="1"/>
          </p:cNvSpPr>
          <p:nvPr/>
        </p:nvSpPr>
        <p:spPr>
          <a:xfrm>
            <a:off x="9210675" y="3853883"/>
            <a:ext cx="1485900" cy="276225"/>
          </a:xfrm>
          <a:prstGeom prst="rect">
            <a:avLst/>
          </a:prstGeom>
          <a:noFill/>
          <a:ln w="0">
            <a:noFill/>
            <a:prstDash val="solid"/>
          </a:ln>
        </p:spPr>
        <p:txBody>
          <a:bodyPr lIns="0" tIns="0" rIns="0" bIns="0"/>
          <a:lstStyle>
            <a:defPPr>
              <a:defRPr sz="1350" b="0">
                <a:solidFill>
                  <a:srgbClr val="1885C7"/>
                </a:solidFill>
                <a:latin typeface="Calibri"/>
                <a:ea typeface="Calibri"/>
                <a:cs typeface="Calibri"/>
              </a:defRPr>
            </a:defPPr>
            <a:lvl1pPr>
              <a:defRPr sz="1350" b="0">
                <a:solidFill>
                  <a:srgbClr val="1885C7"/>
                </a:solidFill>
                <a:latin typeface="Calibri"/>
                <a:ea typeface="Calibri"/>
                <a:cs typeface="Calibri"/>
              </a:defRPr>
            </a:lvl1pPr>
            <a:lvl2pPr>
              <a:defRPr sz="1350" b="0">
                <a:solidFill>
                  <a:srgbClr val="1885C7"/>
                </a:solidFill>
                <a:latin typeface="Calibri"/>
                <a:ea typeface="Calibri"/>
                <a:cs typeface="Calibri"/>
              </a:defRPr>
            </a:lvl2pPr>
            <a:lvl3pPr>
              <a:defRPr sz="1350" b="0">
                <a:solidFill>
                  <a:srgbClr val="1885C7"/>
                </a:solidFill>
                <a:latin typeface="Calibri"/>
                <a:ea typeface="Calibri"/>
                <a:cs typeface="Calibri"/>
              </a:defRPr>
            </a:lvl3pPr>
            <a:lvl4pPr>
              <a:defRPr sz="1350" b="0">
                <a:solidFill>
                  <a:srgbClr val="1885C7"/>
                </a:solidFill>
                <a:latin typeface="Calibri"/>
                <a:ea typeface="Calibri"/>
                <a:cs typeface="Calibri"/>
              </a:defRPr>
            </a:lvl4pPr>
            <a:lvl5pPr>
              <a:defRPr sz="1350" b="0">
                <a:solidFill>
                  <a:srgbClr val="1885C7"/>
                </a:solidFill>
                <a:latin typeface="Calibri"/>
                <a:ea typeface="Calibri"/>
                <a:cs typeface="Calibri"/>
              </a:defRPr>
            </a:lvl5pPr>
            <a:lvl6pPr>
              <a:defRPr sz="1350" b="0">
                <a:solidFill>
                  <a:srgbClr val="1885C7"/>
                </a:solidFill>
                <a:latin typeface="Calibri"/>
                <a:ea typeface="Calibri"/>
                <a:cs typeface="Calibri"/>
              </a:defRPr>
            </a:lvl6pPr>
            <a:lvl7pPr>
              <a:defRPr sz="1350" b="0">
                <a:solidFill>
                  <a:srgbClr val="1885C7"/>
                </a:solidFill>
                <a:latin typeface="Calibri"/>
                <a:ea typeface="Calibri"/>
                <a:cs typeface="Calibri"/>
              </a:defRPr>
            </a:lvl7pPr>
            <a:lvl8pPr>
              <a:defRPr sz="1350" b="0">
                <a:solidFill>
                  <a:srgbClr val="1885C7"/>
                </a:solidFill>
                <a:latin typeface="Calibri"/>
                <a:ea typeface="Calibri"/>
                <a:cs typeface="Calibri"/>
              </a:defRPr>
            </a:lvl8pPr>
            <a:lvl9pPr>
              <a:defRPr sz="1350" b="0">
                <a:solidFill>
                  <a:srgbClr val="1885C7"/>
                </a:solidFill>
                <a:latin typeface="Calibri"/>
                <a:ea typeface="Calibri"/>
                <a:cs typeface="Calibri"/>
              </a:defRPr>
            </a:lvl9pPr>
          </a:lstStyle>
          <a:p>
            <a:pPr algn="ctr">
              <a:defRPr sz="1350" b="0">
                <a:solidFill>
                  <a:srgbClr val="1885C7"/>
                </a:solidFill>
                <a:latin typeface="Calibri"/>
                <a:ea typeface="Calibri"/>
                <a:cs typeface="Calibri"/>
              </a:defRPr>
            </a:pPr>
            <a:r>
              <a:rPr sz="1350" b="0" dirty="0">
                <a:solidFill>
                  <a:srgbClr val="1885C7"/>
                </a:solidFill>
                <a:latin typeface="Calibri" panose="020F0502020204030204" pitchFamily="34" charset="0"/>
                <a:ea typeface="Calibri"/>
                <a:cs typeface="Calibri"/>
              </a:rPr>
              <a:t>DC </a:t>
            </a:r>
            <a:r>
              <a:rPr lang="en-US" sz="1350" b="0" dirty="0">
                <a:solidFill>
                  <a:srgbClr val="1885C7"/>
                </a:solidFill>
                <a:latin typeface="Calibri" panose="020F0502020204030204" pitchFamily="34" charset="0"/>
                <a:ea typeface="Calibri"/>
                <a:cs typeface="Calibri"/>
              </a:rPr>
              <a:t>b</a:t>
            </a:r>
            <a:r>
              <a:rPr sz="1350" b="0" dirty="0">
                <a:solidFill>
                  <a:srgbClr val="1885C7"/>
                </a:solidFill>
                <a:latin typeface="Calibri" panose="020F0502020204030204" pitchFamily="34" charset="0"/>
                <a:ea typeface="Calibri"/>
                <a:cs typeface="Calibri"/>
              </a:rPr>
              <a:t>us</a:t>
            </a:r>
          </a:p>
        </p:txBody>
      </p:sp>
      <p:sp>
        <p:nvSpPr>
          <p:cNvPr id="252" name="Freeform: Shape 251">
            <a:extLst>
              <a:ext uri="{FF2B5EF4-FFF2-40B4-BE49-F238E27FC236}">
                <a16:creationId xmlns:a16="http://schemas.microsoft.com/office/drawing/2014/main" id="{EA3F4BD0-D961-D700-B2A4-9D3F528B9B56}"/>
              </a:ext>
            </a:extLst>
          </p:cNvPr>
          <p:cNvSpPr>
            <a:spLocks noGrp="1"/>
          </p:cNvSpPr>
          <p:nvPr/>
        </p:nvSpPr>
        <p:spPr>
          <a:xfrm>
            <a:off x="9953625" y="4139633"/>
            <a:ext cx="9525" cy="95250"/>
          </a:xfrm>
          <a:custGeom>
            <a:avLst/>
            <a:gdLst/>
            <a:ahLst/>
            <a:cxnLst/>
            <a:rect l="0" t="0" r="0" b="0"/>
            <a:pathLst>
              <a:path w="9525" h="95250">
                <a:moveTo>
                  <a:pt x="0" y="0"/>
                </a:moveTo>
                <a:lnTo>
                  <a:pt x="0" y="95250"/>
                </a:lnTo>
              </a:path>
            </a:pathLst>
          </a:custGeom>
          <a:noFill/>
          <a:ln w="19050">
            <a:solidFill>
              <a:srgbClr val="1885C7"/>
            </a:solidFill>
            <a:prstDash val="solid"/>
          </a:ln>
        </p:spPr>
        <p:txBody>
          <a:bodyPr/>
          <a:lstStyle/>
          <a:p>
            <a:pPr algn="ctr"/>
            <a:endParaRPr lang="en-US">
              <a:latin typeface="Calibri" panose="020F0502020204030204" pitchFamily="34" charset="0"/>
            </a:endParaRPr>
          </a:p>
        </p:txBody>
      </p:sp>
      <p:sp>
        <p:nvSpPr>
          <p:cNvPr id="253" name="Freeform: Shape 252">
            <a:extLst>
              <a:ext uri="{FF2B5EF4-FFF2-40B4-BE49-F238E27FC236}">
                <a16:creationId xmlns:a16="http://schemas.microsoft.com/office/drawing/2014/main" id="{AD0C1425-78CE-AABF-6D84-87C619AE01A9}"/>
              </a:ext>
            </a:extLst>
          </p:cNvPr>
          <p:cNvSpPr>
            <a:spLocks noGrp="1"/>
          </p:cNvSpPr>
          <p:nvPr/>
        </p:nvSpPr>
        <p:spPr>
          <a:xfrm>
            <a:off x="8763000" y="4234883"/>
            <a:ext cx="2381250" cy="9525"/>
          </a:xfrm>
          <a:custGeom>
            <a:avLst/>
            <a:gdLst/>
            <a:ahLst/>
            <a:cxnLst/>
            <a:rect l="0" t="0" r="0" b="0"/>
            <a:pathLst>
              <a:path w="2381250" h="9525">
                <a:moveTo>
                  <a:pt x="0" y="0"/>
                </a:moveTo>
                <a:lnTo>
                  <a:pt x="2381250" y="0"/>
                </a:lnTo>
              </a:path>
            </a:pathLst>
          </a:custGeom>
          <a:noFill/>
          <a:ln w="19050">
            <a:solidFill>
              <a:srgbClr val="1885C7"/>
            </a:solidFill>
            <a:prstDash val="solid"/>
          </a:ln>
        </p:spPr>
        <p:txBody>
          <a:bodyPr/>
          <a:lstStyle/>
          <a:p>
            <a:pPr algn="ctr"/>
            <a:endParaRPr lang="en-US">
              <a:latin typeface="Calibri" panose="020F0502020204030204" pitchFamily="34" charset="0"/>
            </a:endParaRPr>
          </a:p>
        </p:txBody>
      </p:sp>
      <p:sp>
        <p:nvSpPr>
          <p:cNvPr id="254" name="Freeform: Shape 253">
            <a:extLst>
              <a:ext uri="{FF2B5EF4-FFF2-40B4-BE49-F238E27FC236}">
                <a16:creationId xmlns:a16="http://schemas.microsoft.com/office/drawing/2014/main" id="{04C65DBB-CDE4-32CE-ED81-BCB96A4EEBEC}"/>
              </a:ext>
            </a:extLst>
          </p:cNvPr>
          <p:cNvSpPr>
            <a:spLocks noGrp="1"/>
          </p:cNvSpPr>
          <p:nvPr/>
        </p:nvSpPr>
        <p:spPr>
          <a:xfrm>
            <a:off x="8763000" y="4234883"/>
            <a:ext cx="9525" cy="152400"/>
          </a:xfrm>
          <a:custGeom>
            <a:avLst/>
            <a:gdLst/>
            <a:ahLst/>
            <a:cxnLst/>
            <a:rect l="0" t="0" r="0" b="0"/>
            <a:pathLst>
              <a:path w="9525" h="152400">
                <a:moveTo>
                  <a:pt x="0" y="0"/>
                </a:moveTo>
                <a:lnTo>
                  <a:pt x="0" y="152400"/>
                </a:lnTo>
              </a:path>
            </a:pathLst>
          </a:custGeom>
          <a:noFill/>
          <a:ln w="23813">
            <a:solidFill>
              <a:srgbClr val="1885C7"/>
            </a:solidFill>
            <a:prstDash val="solid"/>
          </a:ln>
        </p:spPr>
        <p:txBody>
          <a:bodyPr/>
          <a:lstStyle/>
          <a:p>
            <a:pPr algn="ctr"/>
            <a:endParaRPr lang="en-US">
              <a:latin typeface="Calibri" panose="020F0502020204030204" pitchFamily="34" charset="0"/>
            </a:endParaRPr>
          </a:p>
        </p:txBody>
      </p:sp>
      <p:sp>
        <p:nvSpPr>
          <p:cNvPr id="255" name="Freeform: Shape 254">
            <a:extLst>
              <a:ext uri="{FF2B5EF4-FFF2-40B4-BE49-F238E27FC236}">
                <a16:creationId xmlns:a16="http://schemas.microsoft.com/office/drawing/2014/main" id="{D0B8F5D9-DCC5-CE78-97EB-475632A2857C}"/>
              </a:ext>
            </a:extLst>
          </p:cNvPr>
          <p:cNvSpPr>
            <a:spLocks noGrp="1"/>
          </p:cNvSpPr>
          <p:nvPr/>
        </p:nvSpPr>
        <p:spPr>
          <a:xfrm>
            <a:off x="8724900" y="4320608"/>
            <a:ext cx="38100" cy="66675"/>
          </a:xfrm>
          <a:custGeom>
            <a:avLst/>
            <a:gdLst/>
            <a:ahLst/>
            <a:cxnLst/>
            <a:rect l="0" t="0" r="0" b="0"/>
            <a:pathLst>
              <a:path w="38100" h="66675">
                <a:moveTo>
                  <a:pt x="0" y="0"/>
                </a:moveTo>
                <a:lnTo>
                  <a:pt x="38100" y="66675"/>
                </a:lnTo>
              </a:path>
            </a:pathLst>
          </a:custGeom>
          <a:noFill/>
          <a:ln w="19050">
            <a:solidFill>
              <a:srgbClr val="1885C7"/>
            </a:solidFill>
            <a:prstDash val="solid"/>
          </a:ln>
        </p:spPr>
        <p:txBody>
          <a:bodyPr/>
          <a:lstStyle/>
          <a:p>
            <a:pPr algn="ctr"/>
            <a:endParaRPr lang="en-US">
              <a:latin typeface="Calibri" panose="020F0502020204030204" pitchFamily="34" charset="0"/>
            </a:endParaRPr>
          </a:p>
        </p:txBody>
      </p:sp>
      <p:sp>
        <p:nvSpPr>
          <p:cNvPr id="256" name="Freeform: Shape 255">
            <a:extLst>
              <a:ext uri="{FF2B5EF4-FFF2-40B4-BE49-F238E27FC236}">
                <a16:creationId xmlns:a16="http://schemas.microsoft.com/office/drawing/2014/main" id="{E12BC8ED-69E3-63E1-C033-9F5632555E65}"/>
              </a:ext>
            </a:extLst>
          </p:cNvPr>
          <p:cNvSpPr>
            <a:spLocks noGrp="1"/>
          </p:cNvSpPr>
          <p:nvPr/>
        </p:nvSpPr>
        <p:spPr>
          <a:xfrm>
            <a:off x="8763000" y="4320608"/>
            <a:ext cx="38100" cy="66675"/>
          </a:xfrm>
          <a:custGeom>
            <a:avLst/>
            <a:gdLst/>
            <a:ahLst/>
            <a:cxnLst/>
            <a:rect l="0" t="0" r="0" b="0"/>
            <a:pathLst>
              <a:path w="38100" h="66675">
                <a:moveTo>
                  <a:pt x="38100" y="0"/>
                </a:moveTo>
                <a:lnTo>
                  <a:pt x="0" y="66675"/>
                </a:lnTo>
              </a:path>
            </a:pathLst>
          </a:custGeom>
          <a:noFill/>
          <a:ln w="19050">
            <a:solidFill>
              <a:srgbClr val="1885C7"/>
            </a:solidFill>
            <a:prstDash val="solid"/>
          </a:ln>
        </p:spPr>
        <p:txBody>
          <a:bodyPr/>
          <a:lstStyle/>
          <a:p>
            <a:pPr algn="ctr"/>
            <a:endParaRPr lang="en-US">
              <a:latin typeface="Calibri" panose="020F0502020204030204" pitchFamily="34" charset="0"/>
            </a:endParaRPr>
          </a:p>
        </p:txBody>
      </p:sp>
      <p:sp>
        <p:nvSpPr>
          <p:cNvPr id="257" name="Rectangle 256">
            <a:extLst>
              <a:ext uri="{FF2B5EF4-FFF2-40B4-BE49-F238E27FC236}">
                <a16:creationId xmlns:a16="http://schemas.microsoft.com/office/drawing/2014/main" id="{F5914772-7F1A-0ECD-9FC0-BCBB7E5CA5ED}"/>
              </a:ext>
            </a:extLst>
          </p:cNvPr>
          <p:cNvSpPr>
            <a:spLocks noGrp="1"/>
          </p:cNvSpPr>
          <p:nvPr/>
        </p:nvSpPr>
        <p:spPr>
          <a:xfrm>
            <a:off x="8191500" y="4387283"/>
            <a:ext cx="1143000" cy="333375"/>
          </a:xfrm>
          <a:prstGeom prst="rect">
            <a:avLst/>
          </a:prstGeom>
          <a:solidFill>
            <a:srgbClr val="FFFFFF"/>
          </a:solidFill>
          <a:ln w="15240">
            <a:solidFill>
              <a:srgbClr val="1885C7"/>
            </a:solidFill>
            <a:prstDash val="solid"/>
          </a:ln>
        </p:spPr>
        <p:txBody>
          <a:bodyPr/>
          <a:lstStyle/>
          <a:p>
            <a:pPr algn="ctr"/>
            <a:endParaRPr lang="en-US">
              <a:latin typeface="Calibri" panose="020F0502020204030204" pitchFamily="34" charset="0"/>
            </a:endParaRPr>
          </a:p>
        </p:txBody>
      </p:sp>
      <p:sp>
        <p:nvSpPr>
          <p:cNvPr id="258" name="Rectangle 257">
            <a:extLst>
              <a:ext uri="{FF2B5EF4-FFF2-40B4-BE49-F238E27FC236}">
                <a16:creationId xmlns:a16="http://schemas.microsoft.com/office/drawing/2014/main" id="{7B2E91F9-DA93-32C8-0422-706F6CAEF697}"/>
              </a:ext>
            </a:extLst>
          </p:cNvPr>
          <p:cNvSpPr>
            <a:spLocks noGrp="1"/>
          </p:cNvSpPr>
          <p:nvPr/>
        </p:nvSpPr>
        <p:spPr>
          <a:xfrm>
            <a:off x="8258175" y="4463483"/>
            <a:ext cx="1009650" cy="247650"/>
          </a:xfrm>
          <a:prstGeom prst="rect">
            <a:avLst/>
          </a:prstGeom>
          <a:noFill/>
          <a:ln w="0">
            <a:noFill/>
            <a:prstDash val="solid"/>
          </a:ln>
        </p:spPr>
        <p:txBody>
          <a:bodyPr lIns="0" tIns="0" rIns="0" bIns="0"/>
          <a:lstStyle>
            <a:defPPr>
              <a:defRPr sz="1350" b="0">
                <a:solidFill>
                  <a:srgbClr val="1885C7"/>
                </a:solidFill>
                <a:latin typeface="Calibri"/>
                <a:ea typeface="Calibri"/>
                <a:cs typeface="Calibri"/>
              </a:defRPr>
            </a:defPPr>
            <a:lvl1pPr>
              <a:defRPr sz="1350" b="0">
                <a:solidFill>
                  <a:srgbClr val="1885C7"/>
                </a:solidFill>
                <a:latin typeface="Calibri"/>
                <a:ea typeface="Calibri"/>
                <a:cs typeface="Calibri"/>
              </a:defRPr>
            </a:lvl1pPr>
            <a:lvl2pPr>
              <a:defRPr sz="1350" b="0">
                <a:solidFill>
                  <a:srgbClr val="1885C7"/>
                </a:solidFill>
                <a:latin typeface="Calibri"/>
                <a:ea typeface="Calibri"/>
                <a:cs typeface="Calibri"/>
              </a:defRPr>
            </a:lvl2pPr>
            <a:lvl3pPr>
              <a:defRPr sz="1350" b="0">
                <a:solidFill>
                  <a:srgbClr val="1885C7"/>
                </a:solidFill>
                <a:latin typeface="Calibri"/>
                <a:ea typeface="Calibri"/>
                <a:cs typeface="Calibri"/>
              </a:defRPr>
            </a:lvl3pPr>
            <a:lvl4pPr>
              <a:defRPr sz="1350" b="0">
                <a:solidFill>
                  <a:srgbClr val="1885C7"/>
                </a:solidFill>
                <a:latin typeface="Calibri"/>
                <a:ea typeface="Calibri"/>
                <a:cs typeface="Calibri"/>
              </a:defRPr>
            </a:lvl4pPr>
            <a:lvl5pPr>
              <a:defRPr sz="1350" b="0">
                <a:solidFill>
                  <a:srgbClr val="1885C7"/>
                </a:solidFill>
                <a:latin typeface="Calibri"/>
                <a:ea typeface="Calibri"/>
                <a:cs typeface="Calibri"/>
              </a:defRPr>
            </a:lvl5pPr>
            <a:lvl6pPr>
              <a:defRPr sz="1350" b="0">
                <a:solidFill>
                  <a:srgbClr val="1885C7"/>
                </a:solidFill>
                <a:latin typeface="Calibri"/>
                <a:ea typeface="Calibri"/>
                <a:cs typeface="Calibri"/>
              </a:defRPr>
            </a:lvl6pPr>
            <a:lvl7pPr>
              <a:defRPr sz="1350" b="0">
                <a:solidFill>
                  <a:srgbClr val="1885C7"/>
                </a:solidFill>
                <a:latin typeface="Calibri"/>
                <a:ea typeface="Calibri"/>
                <a:cs typeface="Calibri"/>
              </a:defRPr>
            </a:lvl7pPr>
            <a:lvl8pPr>
              <a:defRPr sz="1350" b="0">
                <a:solidFill>
                  <a:srgbClr val="1885C7"/>
                </a:solidFill>
                <a:latin typeface="Calibri"/>
                <a:ea typeface="Calibri"/>
                <a:cs typeface="Calibri"/>
              </a:defRPr>
            </a:lvl8pPr>
            <a:lvl9pPr>
              <a:defRPr sz="1350" b="0">
                <a:solidFill>
                  <a:srgbClr val="1885C7"/>
                </a:solidFill>
                <a:latin typeface="Calibri"/>
                <a:ea typeface="Calibri"/>
                <a:cs typeface="Calibri"/>
              </a:defRPr>
            </a:lvl9pPr>
          </a:lstStyle>
          <a:p>
            <a:pPr algn="ctr">
              <a:defRPr sz="1350" b="0">
                <a:solidFill>
                  <a:srgbClr val="1885C7"/>
                </a:solidFill>
                <a:latin typeface="Calibri"/>
                <a:ea typeface="Calibri"/>
                <a:cs typeface="Calibri"/>
              </a:defRPr>
            </a:pPr>
            <a:r>
              <a:rPr sz="1350" b="0">
                <a:solidFill>
                  <a:srgbClr val="1885C7"/>
                </a:solidFill>
                <a:latin typeface="Calibri" panose="020F0502020204030204" pitchFamily="34" charset="0"/>
                <a:ea typeface="Calibri"/>
                <a:cs typeface="Calibri"/>
              </a:rPr>
              <a:t>Inverter</a:t>
            </a:r>
          </a:p>
        </p:txBody>
      </p:sp>
      <p:sp>
        <p:nvSpPr>
          <p:cNvPr id="259" name="Rectangle 258">
            <a:extLst>
              <a:ext uri="{FF2B5EF4-FFF2-40B4-BE49-F238E27FC236}">
                <a16:creationId xmlns:a16="http://schemas.microsoft.com/office/drawing/2014/main" id="{C90A769A-FB8A-03B0-118A-0B3243BEFDE7}"/>
              </a:ext>
            </a:extLst>
          </p:cNvPr>
          <p:cNvSpPr>
            <a:spLocks noGrp="1"/>
          </p:cNvSpPr>
          <p:nvPr/>
        </p:nvSpPr>
        <p:spPr>
          <a:xfrm>
            <a:off x="8191500" y="4835627"/>
            <a:ext cx="1143000" cy="333375"/>
          </a:xfrm>
          <a:prstGeom prst="rect">
            <a:avLst/>
          </a:prstGeom>
          <a:solidFill>
            <a:srgbClr val="FFFFFF"/>
          </a:solidFill>
          <a:ln w="15240">
            <a:solidFill>
              <a:srgbClr val="1885C7"/>
            </a:solidFill>
            <a:prstDash val="solid"/>
          </a:ln>
        </p:spPr>
        <p:txBody>
          <a:bodyPr/>
          <a:lstStyle/>
          <a:p>
            <a:pPr algn="ctr"/>
            <a:endParaRPr lang="en-US">
              <a:latin typeface="Calibri" panose="020F0502020204030204" pitchFamily="34" charset="0"/>
            </a:endParaRPr>
          </a:p>
        </p:txBody>
      </p:sp>
      <p:sp>
        <p:nvSpPr>
          <p:cNvPr id="260" name="Rectangle 259">
            <a:extLst>
              <a:ext uri="{FF2B5EF4-FFF2-40B4-BE49-F238E27FC236}">
                <a16:creationId xmlns:a16="http://schemas.microsoft.com/office/drawing/2014/main" id="{44127766-B30C-30D5-DAF1-0F91D5ED631C}"/>
              </a:ext>
            </a:extLst>
          </p:cNvPr>
          <p:cNvSpPr>
            <a:spLocks noGrp="1"/>
          </p:cNvSpPr>
          <p:nvPr/>
        </p:nvSpPr>
        <p:spPr>
          <a:xfrm>
            <a:off x="8258175" y="4911827"/>
            <a:ext cx="1009650" cy="247650"/>
          </a:xfrm>
          <a:prstGeom prst="rect">
            <a:avLst/>
          </a:prstGeom>
          <a:noFill/>
          <a:ln w="0">
            <a:noFill/>
            <a:prstDash val="solid"/>
          </a:ln>
        </p:spPr>
        <p:txBody>
          <a:bodyPr lIns="0" tIns="0" rIns="0" bIns="0"/>
          <a:lstStyle>
            <a:defPPr>
              <a:defRPr sz="1350" b="0">
                <a:solidFill>
                  <a:srgbClr val="1885C7"/>
                </a:solidFill>
                <a:latin typeface="Calibri"/>
                <a:ea typeface="Calibri"/>
                <a:cs typeface="Calibri"/>
              </a:defRPr>
            </a:defPPr>
            <a:lvl1pPr>
              <a:defRPr sz="1350" b="0">
                <a:solidFill>
                  <a:srgbClr val="1885C7"/>
                </a:solidFill>
                <a:latin typeface="Calibri"/>
                <a:ea typeface="Calibri"/>
                <a:cs typeface="Calibri"/>
              </a:defRPr>
            </a:lvl1pPr>
            <a:lvl2pPr>
              <a:defRPr sz="1350" b="0">
                <a:solidFill>
                  <a:srgbClr val="1885C7"/>
                </a:solidFill>
                <a:latin typeface="Calibri"/>
                <a:ea typeface="Calibri"/>
                <a:cs typeface="Calibri"/>
              </a:defRPr>
            </a:lvl2pPr>
            <a:lvl3pPr>
              <a:defRPr sz="1350" b="0">
                <a:solidFill>
                  <a:srgbClr val="1885C7"/>
                </a:solidFill>
                <a:latin typeface="Calibri"/>
                <a:ea typeface="Calibri"/>
                <a:cs typeface="Calibri"/>
              </a:defRPr>
            </a:lvl3pPr>
            <a:lvl4pPr>
              <a:defRPr sz="1350" b="0">
                <a:solidFill>
                  <a:srgbClr val="1885C7"/>
                </a:solidFill>
                <a:latin typeface="Calibri"/>
                <a:ea typeface="Calibri"/>
                <a:cs typeface="Calibri"/>
              </a:defRPr>
            </a:lvl4pPr>
            <a:lvl5pPr>
              <a:defRPr sz="1350" b="0">
                <a:solidFill>
                  <a:srgbClr val="1885C7"/>
                </a:solidFill>
                <a:latin typeface="Calibri"/>
                <a:ea typeface="Calibri"/>
                <a:cs typeface="Calibri"/>
              </a:defRPr>
            </a:lvl5pPr>
            <a:lvl6pPr>
              <a:defRPr sz="1350" b="0">
                <a:solidFill>
                  <a:srgbClr val="1885C7"/>
                </a:solidFill>
                <a:latin typeface="Calibri"/>
                <a:ea typeface="Calibri"/>
                <a:cs typeface="Calibri"/>
              </a:defRPr>
            </a:lvl6pPr>
            <a:lvl7pPr>
              <a:defRPr sz="1350" b="0">
                <a:solidFill>
                  <a:srgbClr val="1885C7"/>
                </a:solidFill>
                <a:latin typeface="Calibri"/>
                <a:ea typeface="Calibri"/>
                <a:cs typeface="Calibri"/>
              </a:defRPr>
            </a:lvl7pPr>
            <a:lvl8pPr>
              <a:defRPr sz="1350" b="0">
                <a:solidFill>
                  <a:srgbClr val="1885C7"/>
                </a:solidFill>
                <a:latin typeface="Calibri"/>
                <a:ea typeface="Calibri"/>
                <a:cs typeface="Calibri"/>
              </a:defRPr>
            </a:lvl8pPr>
            <a:lvl9pPr>
              <a:defRPr sz="1350" b="0">
                <a:solidFill>
                  <a:srgbClr val="1885C7"/>
                </a:solidFill>
                <a:latin typeface="Calibri"/>
                <a:ea typeface="Calibri"/>
                <a:cs typeface="Calibri"/>
              </a:defRPr>
            </a:lvl9pPr>
          </a:lstStyle>
          <a:p>
            <a:pPr algn="ctr">
              <a:defRPr sz="1350" b="0">
                <a:solidFill>
                  <a:srgbClr val="1885C7"/>
                </a:solidFill>
                <a:latin typeface="Calibri"/>
                <a:ea typeface="Calibri"/>
                <a:cs typeface="Calibri"/>
              </a:defRPr>
            </a:pPr>
            <a:r>
              <a:rPr sz="1350" b="0">
                <a:solidFill>
                  <a:srgbClr val="1885C7"/>
                </a:solidFill>
                <a:latin typeface="Calibri" panose="020F0502020204030204" pitchFamily="34" charset="0"/>
                <a:ea typeface="Calibri"/>
                <a:cs typeface="Calibri"/>
              </a:rPr>
              <a:t>Motor</a:t>
            </a:r>
          </a:p>
        </p:txBody>
      </p:sp>
      <p:sp>
        <p:nvSpPr>
          <p:cNvPr id="264" name="Freeform: Shape 263">
            <a:extLst>
              <a:ext uri="{FF2B5EF4-FFF2-40B4-BE49-F238E27FC236}">
                <a16:creationId xmlns:a16="http://schemas.microsoft.com/office/drawing/2014/main" id="{A66DB761-7CDD-033B-9ADF-FEF7DE49F3C5}"/>
              </a:ext>
            </a:extLst>
          </p:cNvPr>
          <p:cNvSpPr>
            <a:spLocks noGrp="1"/>
          </p:cNvSpPr>
          <p:nvPr/>
        </p:nvSpPr>
        <p:spPr>
          <a:xfrm>
            <a:off x="8763000" y="5169002"/>
            <a:ext cx="9525" cy="190500"/>
          </a:xfrm>
          <a:custGeom>
            <a:avLst/>
            <a:gdLst/>
            <a:ahLst/>
            <a:cxnLst/>
            <a:rect l="0" t="0" r="0" b="0"/>
            <a:pathLst>
              <a:path w="9525" h="190500">
                <a:moveTo>
                  <a:pt x="0" y="0"/>
                </a:moveTo>
                <a:lnTo>
                  <a:pt x="0" y="190500"/>
                </a:lnTo>
              </a:path>
            </a:pathLst>
          </a:custGeom>
          <a:noFill/>
          <a:ln w="23813">
            <a:solidFill>
              <a:srgbClr val="000000"/>
            </a:solidFill>
            <a:prstDash val="solid"/>
          </a:ln>
        </p:spPr>
        <p:txBody>
          <a:bodyPr/>
          <a:lstStyle/>
          <a:p>
            <a:pPr algn="ctr"/>
            <a:endParaRPr lang="en-US">
              <a:latin typeface="Calibri" panose="020F0502020204030204" pitchFamily="34" charset="0"/>
            </a:endParaRPr>
          </a:p>
        </p:txBody>
      </p:sp>
      <p:sp>
        <p:nvSpPr>
          <p:cNvPr id="265" name="Freeform: Shape 264">
            <a:extLst>
              <a:ext uri="{FF2B5EF4-FFF2-40B4-BE49-F238E27FC236}">
                <a16:creationId xmlns:a16="http://schemas.microsoft.com/office/drawing/2014/main" id="{D75C8C4C-384F-24D0-264F-D6103A0D737B}"/>
              </a:ext>
            </a:extLst>
          </p:cNvPr>
          <p:cNvSpPr>
            <a:spLocks noGrp="1"/>
          </p:cNvSpPr>
          <p:nvPr/>
        </p:nvSpPr>
        <p:spPr>
          <a:xfrm>
            <a:off x="8724900" y="5292827"/>
            <a:ext cx="38100" cy="66675"/>
          </a:xfrm>
          <a:custGeom>
            <a:avLst/>
            <a:gdLst/>
            <a:ahLst/>
            <a:cxnLst/>
            <a:rect l="0" t="0" r="0" b="0"/>
            <a:pathLst>
              <a:path w="38100" h="66675">
                <a:moveTo>
                  <a:pt x="0" y="0"/>
                </a:moveTo>
                <a:lnTo>
                  <a:pt x="38100" y="66675"/>
                </a:lnTo>
              </a:path>
            </a:pathLst>
          </a:custGeom>
          <a:noFill/>
          <a:ln w="19050">
            <a:solidFill>
              <a:srgbClr val="000000"/>
            </a:solidFill>
            <a:prstDash val="solid"/>
          </a:ln>
        </p:spPr>
        <p:txBody>
          <a:bodyPr/>
          <a:lstStyle/>
          <a:p>
            <a:pPr algn="ctr"/>
            <a:endParaRPr lang="en-US">
              <a:latin typeface="Calibri" panose="020F0502020204030204" pitchFamily="34" charset="0"/>
            </a:endParaRPr>
          </a:p>
        </p:txBody>
      </p:sp>
      <p:sp>
        <p:nvSpPr>
          <p:cNvPr id="266" name="Freeform: Shape 265">
            <a:extLst>
              <a:ext uri="{FF2B5EF4-FFF2-40B4-BE49-F238E27FC236}">
                <a16:creationId xmlns:a16="http://schemas.microsoft.com/office/drawing/2014/main" id="{881F9300-56C7-56BD-92EE-74A2B815E5E5}"/>
              </a:ext>
            </a:extLst>
          </p:cNvPr>
          <p:cNvSpPr>
            <a:spLocks noGrp="1"/>
          </p:cNvSpPr>
          <p:nvPr/>
        </p:nvSpPr>
        <p:spPr>
          <a:xfrm>
            <a:off x="8763000" y="5292827"/>
            <a:ext cx="38100" cy="66675"/>
          </a:xfrm>
          <a:custGeom>
            <a:avLst/>
            <a:gdLst/>
            <a:ahLst/>
            <a:cxnLst/>
            <a:rect l="0" t="0" r="0" b="0"/>
            <a:pathLst>
              <a:path w="38100" h="66675">
                <a:moveTo>
                  <a:pt x="38100" y="0"/>
                </a:moveTo>
                <a:lnTo>
                  <a:pt x="0" y="66675"/>
                </a:lnTo>
              </a:path>
            </a:pathLst>
          </a:custGeom>
          <a:noFill/>
          <a:ln w="19050">
            <a:solidFill>
              <a:srgbClr val="000000"/>
            </a:solidFill>
            <a:prstDash val="solid"/>
          </a:ln>
        </p:spPr>
        <p:txBody>
          <a:bodyPr/>
          <a:lstStyle/>
          <a:p>
            <a:pPr algn="ctr"/>
            <a:endParaRPr lang="en-US">
              <a:latin typeface="Calibri" panose="020F0502020204030204" pitchFamily="34" charset="0"/>
            </a:endParaRPr>
          </a:p>
        </p:txBody>
      </p:sp>
      <p:sp>
        <p:nvSpPr>
          <p:cNvPr id="267" name="Oval 266">
            <a:extLst>
              <a:ext uri="{FF2B5EF4-FFF2-40B4-BE49-F238E27FC236}">
                <a16:creationId xmlns:a16="http://schemas.microsoft.com/office/drawing/2014/main" id="{737A75A8-8B79-F612-3E5F-A8E8A766BFF0}"/>
              </a:ext>
            </a:extLst>
          </p:cNvPr>
          <p:cNvSpPr>
            <a:spLocks noGrp="1"/>
          </p:cNvSpPr>
          <p:nvPr/>
        </p:nvSpPr>
        <p:spPr>
          <a:xfrm>
            <a:off x="8534400" y="5397602"/>
            <a:ext cx="457200" cy="457200"/>
          </a:xfrm>
          <a:prstGeom prst="ellipse">
            <a:avLst/>
          </a:prstGeom>
          <a:solidFill>
            <a:srgbClr val="FFFFFF"/>
          </a:solidFill>
          <a:ln w="14288">
            <a:solidFill>
              <a:srgbClr val="000000"/>
            </a:solidFill>
            <a:prstDash val="solid"/>
          </a:ln>
        </p:spPr>
        <p:txBody>
          <a:bodyPr/>
          <a:lstStyle/>
          <a:p>
            <a:endParaRPr lang="en-US">
              <a:latin typeface="Calibri" panose="020F0502020204030204" pitchFamily="34" charset="0"/>
            </a:endParaRPr>
          </a:p>
        </p:txBody>
      </p:sp>
      <p:sp>
        <p:nvSpPr>
          <p:cNvPr id="268" name="Freeform: Shape 267">
            <a:extLst>
              <a:ext uri="{FF2B5EF4-FFF2-40B4-BE49-F238E27FC236}">
                <a16:creationId xmlns:a16="http://schemas.microsoft.com/office/drawing/2014/main" id="{4BA0B6E2-C973-6216-D435-911655BEBCF5}"/>
              </a:ext>
            </a:extLst>
          </p:cNvPr>
          <p:cNvSpPr>
            <a:spLocks noGrp="1"/>
          </p:cNvSpPr>
          <p:nvPr/>
        </p:nvSpPr>
        <p:spPr>
          <a:xfrm>
            <a:off x="8763000" y="5452975"/>
            <a:ext cx="100013" cy="173227"/>
          </a:xfrm>
          <a:custGeom>
            <a:avLst/>
            <a:gdLst/>
            <a:ahLst/>
            <a:cxnLst/>
            <a:rect l="0" t="0" r="0" b="0"/>
            <a:pathLst>
              <a:path w="100013" h="173227">
                <a:moveTo>
                  <a:pt x="0" y="173227"/>
                </a:moveTo>
                <a:lnTo>
                  <a:pt x="100013" y="0"/>
                </a:lnTo>
              </a:path>
            </a:pathLst>
          </a:custGeom>
          <a:noFill/>
          <a:ln w="57150">
            <a:solidFill>
              <a:srgbClr val="000000"/>
            </a:solidFill>
            <a:prstDash val="solid"/>
          </a:ln>
        </p:spPr>
        <p:txBody>
          <a:bodyPr/>
          <a:lstStyle/>
          <a:p>
            <a:endParaRPr lang="en-US">
              <a:latin typeface="Calibri" panose="020F0502020204030204" pitchFamily="34" charset="0"/>
            </a:endParaRPr>
          </a:p>
        </p:txBody>
      </p:sp>
      <p:sp>
        <p:nvSpPr>
          <p:cNvPr id="269" name="Freeform: Shape 268">
            <a:extLst>
              <a:ext uri="{FF2B5EF4-FFF2-40B4-BE49-F238E27FC236}">
                <a16:creationId xmlns:a16="http://schemas.microsoft.com/office/drawing/2014/main" id="{8B497FCF-A8B6-A4BD-089B-D4A0D4A34E9D}"/>
              </a:ext>
            </a:extLst>
          </p:cNvPr>
          <p:cNvSpPr>
            <a:spLocks noGrp="1"/>
          </p:cNvSpPr>
          <p:nvPr/>
        </p:nvSpPr>
        <p:spPr>
          <a:xfrm>
            <a:off x="8763000" y="5626202"/>
            <a:ext cx="100013" cy="173227"/>
          </a:xfrm>
          <a:custGeom>
            <a:avLst/>
            <a:gdLst/>
            <a:ahLst/>
            <a:cxnLst/>
            <a:rect l="0" t="0" r="0" b="0"/>
            <a:pathLst>
              <a:path w="100013" h="173227">
                <a:moveTo>
                  <a:pt x="0" y="0"/>
                </a:moveTo>
                <a:lnTo>
                  <a:pt x="100013" y="173227"/>
                </a:lnTo>
              </a:path>
            </a:pathLst>
          </a:custGeom>
          <a:noFill/>
          <a:ln w="57150">
            <a:solidFill>
              <a:srgbClr val="000000"/>
            </a:solidFill>
            <a:prstDash val="solid"/>
          </a:ln>
        </p:spPr>
        <p:txBody>
          <a:bodyPr/>
          <a:lstStyle/>
          <a:p>
            <a:endParaRPr lang="en-US">
              <a:latin typeface="Calibri" panose="020F0502020204030204" pitchFamily="34" charset="0"/>
            </a:endParaRPr>
          </a:p>
        </p:txBody>
      </p:sp>
      <p:sp>
        <p:nvSpPr>
          <p:cNvPr id="270" name="Freeform: Shape 269">
            <a:extLst>
              <a:ext uri="{FF2B5EF4-FFF2-40B4-BE49-F238E27FC236}">
                <a16:creationId xmlns:a16="http://schemas.microsoft.com/office/drawing/2014/main" id="{AAB415FC-6846-FBF5-139D-B8B5C2AD422B}"/>
              </a:ext>
            </a:extLst>
          </p:cNvPr>
          <p:cNvSpPr>
            <a:spLocks noGrp="1"/>
          </p:cNvSpPr>
          <p:nvPr/>
        </p:nvSpPr>
        <p:spPr>
          <a:xfrm>
            <a:off x="8562975" y="5626202"/>
            <a:ext cx="200025" cy="9525"/>
          </a:xfrm>
          <a:custGeom>
            <a:avLst/>
            <a:gdLst/>
            <a:ahLst/>
            <a:cxnLst/>
            <a:rect l="0" t="0" r="0" b="0"/>
            <a:pathLst>
              <a:path w="200025" h="9525">
                <a:moveTo>
                  <a:pt x="200025" y="0"/>
                </a:moveTo>
                <a:lnTo>
                  <a:pt x="0" y="0"/>
                </a:lnTo>
              </a:path>
            </a:pathLst>
          </a:custGeom>
          <a:noFill/>
          <a:ln w="57150">
            <a:solidFill>
              <a:srgbClr val="000000"/>
            </a:solidFill>
            <a:prstDash val="solid"/>
          </a:ln>
        </p:spPr>
        <p:txBody>
          <a:bodyPr/>
          <a:lstStyle/>
          <a:p>
            <a:endParaRPr lang="en-US">
              <a:latin typeface="Calibri" panose="020F0502020204030204" pitchFamily="34" charset="0"/>
            </a:endParaRPr>
          </a:p>
        </p:txBody>
      </p:sp>
      <p:sp>
        <p:nvSpPr>
          <p:cNvPr id="271" name="Oval 270">
            <a:extLst>
              <a:ext uri="{FF2B5EF4-FFF2-40B4-BE49-F238E27FC236}">
                <a16:creationId xmlns:a16="http://schemas.microsoft.com/office/drawing/2014/main" id="{95607B47-1AE2-BC6E-28F1-ADF1189299FE}"/>
              </a:ext>
            </a:extLst>
          </p:cNvPr>
          <p:cNvSpPr>
            <a:spLocks noGrp="1"/>
          </p:cNvSpPr>
          <p:nvPr/>
        </p:nvSpPr>
        <p:spPr>
          <a:xfrm>
            <a:off x="8734425" y="5597627"/>
            <a:ext cx="57150" cy="57150"/>
          </a:xfrm>
          <a:prstGeom prst="ellipse">
            <a:avLst/>
          </a:prstGeom>
          <a:solidFill>
            <a:srgbClr val="FFFFFF"/>
          </a:solidFill>
          <a:ln w="9525">
            <a:solidFill>
              <a:srgbClr val="000000"/>
            </a:solidFill>
            <a:prstDash val="solid"/>
          </a:ln>
        </p:spPr>
        <p:txBody>
          <a:bodyPr/>
          <a:lstStyle/>
          <a:p>
            <a:endParaRPr lang="en-US">
              <a:latin typeface="Calibri" panose="020F0502020204030204" pitchFamily="34" charset="0"/>
            </a:endParaRPr>
          </a:p>
        </p:txBody>
      </p:sp>
      <p:sp>
        <p:nvSpPr>
          <p:cNvPr id="272" name="Freeform: Shape 271">
            <a:extLst>
              <a:ext uri="{FF2B5EF4-FFF2-40B4-BE49-F238E27FC236}">
                <a16:creationId xmlns:a16="http://schemas.microsoft.com/office/drawing/2014/main" id="{3D9CEE62-232D-BD19-6206-7136A48D4AE8}"/>
              </a:ext>
            </a:extLst>
          </p:cNvPr>
          <p:cNvSpPr>
            <a:spLocks noGrp="1"/>
          </p:cNvSpPr>
          <p:nvPr/>
        </p:nvSpPr>
        <p:spPr>
          <a:xfrm>
            <a:off x="11144250" y="4234883"/>
            <a:ext cx="9525" cy="152400"/>
          </a:xfrm>
          <a:custGeom>
            <a:avLst/>
            <a:gdLst/>
            <a:ahLst/>
            <a:cxnLst/>
            <a:rect l="0" t="0" r="0" b="0"/>
            <a:pathLst>
              <a:path w="9525" h="152400">
                <a:moveTo>
                  <a:pt x="0" y="0"/>
                </a:moveTo>
                <a:lnTo>
                  <a:pt x="0" y="152400"/>
                </a:lnTo>
              </a:path>
            </a:pathLst>
          </a:custGeom>
          <a:noFill/>
          <a:ln w="23813">
            <a:solidFill>
              <a:srgbClr val="1885C7"/>
            </a:solidFill>
            <a:prstDash val="solid"/>
          </a:ln>
        </p:spPr>
        <p:txBody>
          <a:bodyPr/>
          <a:lstStyle/>
          <a:p>
            <a:pPr algn="ctr"/>
            <a:endParaRPr lang="en-US">
              <a:latin typeface="Calibri" panose="020F0502020204030204" pitchFamily="34" charset="0"/>
            </a:endParaRPr>
          </a:p>
        </p:txBody>
      </p:sp>
      <p:sp>
        <p:nvSpPr>
          <p:cNvPr id="273" name="Freeform: Shape 272">
            <a:extLst>
              <a:ext uri="{FF2B5EF4-FFF2-40B4-BE49-F238E27FC236}">
                <a16:creationId xmlns:a16="http://schemas.microsoft.com/office/drawing/2014/main" id="{FFACB76D-D174-C2D3-DBBF-5BEEBEA9C10A}"/>
              </a:ext>
            </a:extLst>
          </p:cNvPr>
          <p:cNvSpPr>
            <a:spLocks noGrp="1"/>
          </p:cNvSpPr>
          <p:nvPr/>
        </p:nvSpPr>
        <p:spPr>
          <a:xfrm>
            <a:off x="11106150" y="4320608"/>
            <a:ext cx="38100" cy="66675"/>
          </a:xfrm>
          <a:custGeom>
            <a:avLst/>
            <a:gdLst/>
            <a:ahLst/>
            <a:cxnLst/>
            <a:rect l="0" t="0" r="0" b="0"/>
            <a:pathLst>
              <a:path w="38100" h="66675">
                <a:moveTo>
                  <a:pt x="0" y="0"/>
                </a:moveTo>
                <a:lnTo>
                  <a:pt x="38100" y="66675"/>
                </a:lnTo>
              </a:path>
            </a:pathLst>
          </a:custGeom>
          <a:noFill/>
          <a:ln w="19050">
            <a:solidFill>
              <a:srgbClr val="1885C7"/>
            </a:solidFill>
            <a:prstDash val="solid"/>
          </a:ln>
        </p:spPr>
        <p:txBody>
          <a:bodyPr/>
          <a:lstStyle/>
          <a:p>
            <a:pPr algn="ctr"/>
            <a:endParaRPr lang="en-US">
              <a:latin typeface="Calibri" panose="020F0502020204030204" pitchFamily="34" charset="0"/>
            </a:endParaRPr>
          </a:p>
        </p:txBody>
      </p:sp>
      <p:sp>
        <p:nvSpPr>
          <p:cNvPr id="274" name="Freeform: Shape 273">
            <a:extLst>
              <a:ext uri="{FF2B5EF4-FFF2-40B4-BE49-F238E27FC236}">
                <a16:creationId xmlns:a16="http://schemas.microsoft.com/office/drawing/2014/main" id="{3829B59C-7405-96AB-CBF9-3754D775E61A}"/>
              </a:ext>
            </a:extLst>
          </p:cNvPr>
          <p:cNvSpPr>
            <a:spLocks noGrp="1"/>
          </p:cNvSpPr>
          <p:nvPr/>
        </p:nvSpPr>
        <p:spPr>
          <a:xfrm>
            <a:off x="11144250" y="4320608"/>
            <a:ext cx="38100" cy="66675"/>
          </a:xfrm>
          <a:custGeom>
            <a:avLst/>
            <a:gdLst/>
            <a:ahLst/>
            <a:cxnLst/>
            <a:rect l="0" t="0" r="0" b="0"/>
            <a:pathLst>
              <a:path w="38100" h="66675">
                <a:moveTo>
                  <a:pt x="38100" y="0"/>
                </a:moveTo>
                <a:lnTo>
                  <a:pt x="0" y="66675"/>
                </a:lnTo>
              </a:path>
            </a:pathLst>
          </a:custGeom>
          <a:noFill/>
          <a:ln w="19050">
            <a:solidFill>
              <a:srgbClr val="1885C7"/>
            </a:solidFill>
            <a:prstDash val="solid"/>
          </a:ln>
        </p:spPr>
        <p:txBody>
          <a:bodyPr/>
          <a:lstStyle/>
          <a:p>
            <a:pPr algn="ctr"/>
            <a:endParaRPr lang="en-US">
              <a:latin typeface="Calibri" panose="020F0502020204030204" pitchFamily="34" charset="0"/>
            </a:endParaRPr>
          </a:p>
        </p:txBody>
      </p:sp>
      <p:sp>
        <p:nvSpPr>
          <p:cNvPr id="275" name="Rectangle 274">
            <a:extLst>
              <a:ext uri="{FF2B5EF4-FFF2-40B4-BE49-F238E27FC236}">
                <a16:creationId xmlns:a16="http://schemas.microsoft.com/office/drawing/2014/main" id="{7D3794C8-AA52-ED3F-E4DB-3C4E1FCE955E}"/>
              </a:ext>
            </a:extLst>
          </p:cNvPr>
          <p:cNvSpPr>
            <a:spLocks noGrp="1"/>
          </p:cNvSpPr>
          <p:nvPr/>
        </p:nvSpPr>
        <p:spPr>
          <a:xfrm>
            <a:off x="10572750" y="4387283"/>
            <a:ext cx="1143000" cy="333375"/>
          </a:xfrm>
          <a:prstGeom prst="rect">
            <a:avLst/>
          </a:prstGeom>
          <a:solidFill>
            <a:srgbClr val="FFFFFF"/>
          </a:solidFill>
          <a:ln w="15240">
            <a:solidFill>
              <a:srgbClr val="1885C7"/>
            </a:solidFill>
            <a:prstDash val="solid"/>
          </a:ln>
        </p:spPr>
        <p:txBody>
          <a:bodyPr/>
          <a:lstStyle/>
          <a:p>
            <a:pPr algn="ctr"/>
            <a:endParaRPr lang="en-US">
              <a:latin typeface="Calibri" panose="020F0502020204030204" pitchFamily="34" charset="0"/>
            </a:endParaRPr>
          </a:p>
        </p:txBody>
      </p:sp>
      <p:sp>
        <p:nvSpPr>
          <p:cNvPr id="276" name="Rectangle 275">
            <a:extLst>
              <a:ext uri="{FF2B5EF4-FFF2-40B4-BE49-F238E27FC236}">
                <a16:creationId xmlns:a16="http://schemas.microsoft.com/office/drawing/2014/main" id="{EABF7AF7-5F03-FF43-C51C-DA530CAB8B43}"/>
              </a:ext>
            </a:extLst>
          </p:cNvPr>
          <p:cNvSpPr>
            <a:spLocks noGrp="1"/>
          </p:cNvSpPr>
          <p:nvPr/>
        </p:nvSpPr>
        <p:spPr>
          <a:xfrm>
            <a:off x="10639425" y="4463483"/>
            <a:ext cx="1009650" cy="247650"/>
          </a:xfrm>
          <a:prstGeom prst="rect">
            <a:avLst/>
          </a:prstGeom>
          <a:noFill/>
          <a:ln w="0">
            <a:noFill/>
            <a:prstDash val="solid"/>
          </a:ln>
        </p:spPr>
        <p:txBody>
          <a:bodyPr lIns="0" tIns="0" rIns="0" bIns="0"/>
          <a:lstStyle>
            <a:defPPr>
              <a:defRPr sz="1350" b="0">
                <a:solidFill>
                  <a:srgbClr val="1885C7"/>
                </a:solidFill>
                <a:latin typeface="Calibri"/>
                <a:ea typeface="Calibri"/>
                <a:cs typeface="Calibri"/>
              </a:defRPr>
            </a:defPPr>
            <a:lvl1pPr>
              <a:defRPr sz="1350" b="0">
                <a:solidFill>
                  <a:srgbClr val="1885C7"/>
                </a:solidFill>
                <a:latin typeface="Calibri"/>
                <a:ea typeface="Calibri"/>
                <a:cs typeface="Calibri"/>
              </a:defRPr>
            </a:lvl1pPr>
            <a:lvl2pPr>
              <a:defRPr sz="1350" b="0">
                <a:solidFill>
                  <a:srgbClr val="1885C7"/>
                </a:solidFill>
                <a:latin typeface="Calibri"/>
                <a:ea typeface="Calibri"/>
                <a:cs typeface="Calibri"/>
              </a:defRPr>
            </a:lvl2pPr>
            <a:lvl3pPr>
              <a:defRPr sz="1350" b="0">
                <a:solidFill>
                  <a:srgbClr val="1885C7"/>
                </a:solidFill>
                <a:latin typeface="Calibri"/>
                <a:ea typeface="Calibri"/>
                <a:cs typeface="Calibri"/>
              </a:defRPr>
            </a:lvl3pPr>
            <a:lvl4pPr>
              <a:defRPr sz="1350" b="0">
                <a:solidFill>
                  <a:srgbClr val="1885C7"/>
                </a:solidFill>
                <a:latin typeface="Calibri"/>
                <a:ea typeface="Calibri"/>
                <a:cs typeface="Calibri"/>
              </a:defRPr>
            </a:lvl4pPr>
            <a:lvl5pPr>
              <a:defRPr sz="1350" b="0">
                <a:solidFill>
                  <a:srgbClr val="1885C7"/>
                </a:solidFill>
                <a:latin typeface="Calibri"/>
                <a:ea typeface="Calibri"/>
                <a:cs typeface="Calibri"/>
              </a:defRPr>
            </a:lvl5pPr>
            <a:lvl6pPr>
              <a:defRPr sz="1350" b="0">
                <a:solidFill>
                  <a:srgbClr val="1885C7"/>
                </a:solidFill>
                <a:latin typeface="Calibri"/>
                <a:ea typeface="Calibri"/>
                <a:cs typeface="Calibri"/>
              </a:defRPr>
            </a:lvl6pPr>
            <a:lvl7pPr>
              <a:defRPr sz="1350" b="0">
                <a:solidFill>
                  <a:srgbClr val="1885C7"/>
                </a:solidFill>
                <a:latin typeface="Calibri"/>
                <a:ea typeface="Calibri"/>
                <a:cs typeface="Calibri"/>
              </a:defRPr>
            </a:lvl7pPr>
            <a:lvl8pPr>
              <a:defRPr sz="1350" b="0">
                <a:solidFill>
                  <a:srgbClr val="1885C7"/>
                </a:solidFill>
                <a:latin typeface="Calibri"/>
                <a:ea typeface="Calibri"/>
                <a:cs typeface="Calibri"/>
              </a:defRPr>
            </a:lvl8pPr>
            <a:lvl9pPr>
              <a:defRPr sz="1350" b="0">
                <a:solidFill>
                  <a:srgbClr val="1885C7"/>
                </a:solidFill>
                <a:latin typeface="Calibri"/>
                <a:ea typeface="Calibri"/>
                <a:cs typeface="Calibri"/>
              </a:defRPr>
            </a:lvl9pPr>
          </a:lstStyle>
          <a:p>
            <a:pPr algn="ctr">
              <a:defRPr sz="1350" b="0">
                <a:solidFill>
                  <a:srgbClr val="1885C7"/>
                </a:solidFill>
                <a:latin typeface="Calibri"/>
                <a:ea typeface="Calibri"/>
                <a:cs typeface="Calibri"/>
              </a:defRPr>
            </a:pPr>
            <a:r>
              <a:rPr sz="1350" b="0">
                <a:solidFill>
                  <a:srgbClr val="1885C7"/>
                </a:solidFill>
                <a:latin typeface="Calibri" panose="020F0502020204030204" pitchFamily="34" charset="0"/>
                <a:ea typeface="Calibri"/>
                <a:cs typeface="Calibri"/>
              </a:rPr>
              <a:t>Inverter</a:t>
            </a:r>
          </a:p>
        </p:txBody>
      </p:sp>
      <p:sp>
        <p:nvSpPr>
          <p:cNvPr id="277" name="Rectangle 276">
            <a:extLst>
              <a:ext uri="{FF2B5EF4-FFF2-40B4-BE49-F238E27FC236}">
                <a16:creationId xmlns:a16="http://schemas.microsoft.com/office/drawing/2014/main" id="{8129A85A-14FA-583A-A886-B450B396855C}"/>
              </a:ext>
            </a:extLst>
          </p:cNvPr>
          <p:cNvSpPr>
            <a:spLocks noGrp="1"/>
          </p:cNvSpPr>
          <p:nvPr/>
        </p:nvSpPr>
        <p:spPr>
          <a:xfrm>
            <a:off x="10572750" y="4835627"/>
            <a:ext cx="1143000" cy="333375"/>
          </a:xfrm>
          <a:prstGeom prst="rect">
            <a:avLst/>
          </a:prstGeom>
          <a:solidFill>
            <a:srgbClr val="FFFFFF"/>
          </a:solidFill>
          <a:ln w="15240">
            <a:solidFill>
              <a:srgbClr val="1885C7"/>
            </a:solidFill>
            <a:prstDash val="solid"/>
          </a:ln>
        </p:spPr>
        <p:txBody>
          <a:bodyPr/>
          <a:lstStyle/>
          <a:p>
            <a:pPr algn="ctr"/>
            <a:endParaRPr lang="en-US">
              <a:latin typeface="Calibri" panose="020F0502020204030204" pitchFamily="34" charset="0"/>
            </a:endParaRPr>
          </a:p>
        </p:txBody>
      </p:sp>
      <p:sp>
        <p:nvSpPr>
          <p:cNvPr id="278" name="Rectangle 277">
            <a:extLst>
              <a:ext uri="{FF2B5EF4-FFF2-40B4-BE49-F238E27FC236}">
                <a16:creationId xmlns:a16="http://schemas.microsoft.com/office/drawing/2014/main" id="{B4E12966-5B43-B3CC-2977-E373ECE60B1C}"/>
              </a:ext>
            </a:extLst>
          </p:cNvPr>
          <p:cNvSpPr>
            <a:spLocks noGrp="1"/>
          </p:cNvSpPr>
          <p:nvPr/>
        </p:nvSpPr>
        <p:spPr>
          <a:xfrm>
            <a:off x="10639425" y="4911827"/>
            <a:ext cx="1009650" cy="247650"/>
          </a:xfrm>
          <a:prstGeom prst="rect">
            <a:avLst/>
          </a:prstGeom>
          <a:noFill/>
          <a:ln w="0">
            <a:noFill/>
            <a:prstDash val="solid"/>
          </a:ln>
        </p:spPr>
        <p:txBody>
          <a:bodyPr lIns="0" tIns="0" rIns="0" bIns="0"/>
          <a:lstStyle>
            <a:defPPr>
              <a:defRPr sz="1350" b="0">
                <a:solidFill>
                  <a:srgbClr val="1885C7"/>
                </a:solidFill>
                <a:latin typeface="Calibri"/>
                <a:ea typeface="Calibri"/>
                <a:cs typeface="Calibri"/>
              </a:defRPr>
            </a:defPPr>
            <a:lvl1pPr>
              <a:defRPr sz="1350" b="0">
                <a:solidFill>
                  <a:srgbClr val="1885C7"/>
                </a:solidFill>
                <a:latin typeface="Calibri"/>
                <a:ea typeface="Calibri"/>
                <a:cs typeface="Calibri"/>
              </a:defRPr>
            </a:lvl1pPr>
            <a:lvl2pPr>
              <a:defRPr sz="1350" b="0">
                <a:solidFill>
                  <a:srgbClr val="1885C7"/>
                </a:solidFill>
                <a:latin typeface="Calibri"/>
                <a:ea typeface="Calibri"/>
                <a:cs typeface="Calibri"/>
              </a:defRPr>
            </a:lvl2pPr>
            <a:lvl3pPr>
              <a:defRPr sz="1350" b="0">
                <a:solidFill>
                  <a:srgbClr val="1885C7"/>
                </a:solidFill>
                <a:latin typeface="Calibri"/>
                <a:ea typeface="Calibri"/>
                <a:cs typeface="Calibri"/>
              </a:defRPr>
            </a:lvl3pPr>
            <a:lvl4pPr>
              <a:defRPr sz="1350" b="0">
                <a:solidFill>
                  <a:srgbClr val="1885C7"/>
                </a:solidFill>
                <a:latin typeface="Calibri"/>
                <a:ea typeface="Calibri"/>
                <a:cs typeface="Calibri"/>
              </a:defRPr>
            </a:lvl4pPr>
            <a:lvl5pPr>
              <a:defRPr sz="1350" b="0">
                <a:solidFill>
                  <a:srgbClr val="1885C7"/>
                </a:solidFill>
                <a:latin typeface="Calibri"/>
                <a:ea typeface="Calibri"/>
                <a:cs typeface="Calibri"/>
              </a:defRPr>
            </a:lvl5pPr>
            <a:lvl6pPr>
              <a:defRPr sz="1350" b="0">
                <a:solidFill>
                  <a:srgbClr val="1885C7"/>
                </a:solidFill>
                <a:latin typeface="Calibri"/>
                <a:ea typeface="Calibri"/>
                <a:cs typeface="Calibri"/>
              </a:defRPr>
            </a:lvl6pPr>
            <a:lvl7pPr>
              <a:defRPr sz="1350" b="0">
                <a:solidFill>
                  <a:srgbClr val="1885C7"/>
                </a:solidFill>
                <a:latin typeface="Calibri"/>
                <a:ea typeface="Calibri"/>
                <a:cs typeface="Calibri"/>
              </a:defRPr>
            </a:lvl7pPr>
            <a:lvl8pPr>
              <a:defRPr sz="1350" b="0">
                <a:solidFill>
                  <a:srgbClr val="1885C7"/>
                </a:solidFill>
                <a:latin typeface="Calibri"/>
                <a:ea typeface="Calibri"/>
                <a:cs typeface="Calibri"/>
              </a:defRPr>
            </a:lvl8pPr>
            <a:lvl9pPr>
              <a:defRPr sz="1350" b="0">
                <a:solidFill>
                  <a:srgbClr val="1885C7"/>
                </a:solidFill>
                <a:latin typeface="Calibri"/>
                <a:ea typeface="Calibri"/>
                <a:cs typeface="Calibri"/>
              </a:defRPr>
            </a:lvl9pPr>
          </a:lstStyle>
          <a:p>
            <a:pPr algn="ctr">
              <a:defRPr sz="1350" b="0">
                <a:solidFill>
                  <a:srgbClr val="1885C7"/>
                </a:solidFill>
                <a:latin typeface="Calibri"/>
                <a:ea typeface="Calibri"/>
                <a:cs typeface="Calibri"/>
              </a:defRPr>
            </a:pPr>
            <a:r>
              <a:rPr sz="1350" b="0">
                <a:solidFill>
                  <a:srgbClr val="1885C7"/>
                </a:solidFill>
                <a:latin typeface="Calibri" panose="020F0502020204030204" pitchFamily="34" charset="0"/>
                <a:ea typeface="Calibri"/>
                <a:cs typeface="Calibri"/>
              </a:rPr>
              <a:t>Motor</a:t>
            </a:r>
          </a:p>
        </p:txBody>
      </p:sp>
      <p:sp>
        <p:nvSpPr>
          <p:cNvPr id="282" name="Freeform: Shape 281">
            <a:extLst>
              <a:ext uri="{FF2B5EF4-FFF2-40B4-BE49-F238E27FC236}">
                <a16:creationId xmlns:a16="http://schemas.microsoft.com/office/drawing/2014/main" id="{023F2236-F907-9A8C-62E8-01CE19E854A5}"/>
              </a:ext>
            </a:extLst>
          </p:cNvPr>
          <p:cNvSpPr>
            <a:spLocks noGrp="1"/>
          </p:cNvSpPr>
          <p:nvPr/>
        </p:nvSpPr>
        <p:spPr>
          <a:xfrm>
            <a:off x="11144250" y="5169002"/>
            <a:ext cx="9525" cy="190500"/>
          </a:xfrm>
          <a:custGeom>
            <a:avLst/>
            <a:gdLst/>
            <a:ahLst/>
            <a:cxnLst/>
            <a:rect l="0" t="0" r="0" b="0"/>
            <a:pathLst>
              <a:path w="9525" h="190500">
                <a:moveTo>
                  <a:pt x="0" y="0"/>
                </a:moveTo>
                <a:lnTo>
                  <a:pt x="0" y="190500"/>
                </a:lnTo>
              </a:path>
            </a:pathLst>
          </a:custGeom>
          <a:noFill/>
          <a:ln w="23813">
            <a:solidFill>
              <a:srgbClr val="000000"/>
            </a:solidFill>
            <a:prstDash val="solid"/>
          </a:ln>
        </p:spPr>
        <p:txBody>
          <a:bodyPr/>
          <a:lstStyle/>
          <a:p>
            <a:pPr algn="ctr"/>
            <a:endParaRPr lang="en-US">
              <a:latin typeface="Calibri" panose="020F0502020204030204" pitchFamily="34" charset="0"/>
            </a:endParaRPr>
          </a:p>
        </p:txBody>
      </p:sp>
      <p:sp>
        <p:nvSpPr>
          <p:cNvPr id="283" name="Freeform: Shape 282">
            <a:extLst>
              <a:ext uri="{FF2B5EF4-FFF2-40B4-BE49-F238E27FC236}">
                <a16:creationId xmlns:a16="http://schemas.microsoft.com/office/drawing/2014/main" id="{DC591E6A-49C0-61CD-8F41-A0AE6EE6EF12}"/>
              </a:ext>
            </a:extLst>
          </p:cNvPr>
          <p:cNvSpPr>
            <a:spLocks noGrp="1"/>
          </p:cNvSpPr>
          <p:nvPr/>
        </p:nvSpPr>
        <p:spPr>
          <a:xfrm>
            <a:off x="11106150" y="5292827"/>
            <a:ext cx="38100" cy="66675"/>
          </a:xfrm>
          <a:custGeom>
            <a:avLst/>
            <a:gdLst/>
            <a:ahLst/>
            <a:cxnLst/>
            <a:rect l="0" t="0" r="0" b="0"/>
            <a:pathLst>
              <a:path w="38100" h="66675">
                <a:moveTo>
                  <a:pt x="0" y="0"/>
                </a:moveTo>
                <a:lnTo>
                  <a:pt x="38100" y="66675"/>
                </a:lnTo>
              </a:path>
            </a:pathLst>
          </a:custGeom>
          <a:noFill/>
          <a:ln w="19050">
            <a:solidFill>
              <a:srgbClr val="000000"/>
            </a:solidFill>
            <a:prstDash val="solid"/>
          </a:ln>
        </p:spPr>
        <p:txBody>
          <a:bodyPr/>
          <a:lstStyle/>
          <a:p>
            <a:pPr algn="ctr"/>
            <a:endParaRPr lang="en-US">
              <a:latin typeface="Calibri" panose="020F0502020204030204" pitchFamily="34" charset="0"/>
            </a:endParaRPr>
          </a:p>
        </p:txBody>
      </p:sp>
      <p:sp>
        <p:nvSpPr>
          <p:cNvPr id="284" name="Freeform: Shape 283">
            <a:extLst>
              <a:ext uri="{FF2B5EF4-FFF2-40B4-BE49-F238E27FC236}">
                <a16:creationId xmlns:a16="http://schemas.microsoft.com/office/drawing/2014/main" id="{B17DB904-9BCD-5CE5-307A-1D0BBF508DB4}"/>
              </a:ext>
            </a:extLst>
          </p:cNvPr>
          <p:cNvSpPr>
            <a:spLocks noGrp="1"/>
          </p:cNvSpPr>
          <p:nvPr/>
        </p:nvSpPr>
        <p:spPr>
          <a:xfrm>
            <a:off x="11144250" y="5292827"/>
            <a:ext cx="38100" cy="66675"/>
          </a:xfrm>
          <a:custGeom>
            <a:avLst/>
            <a:gdLst/>
            <a:ahLst/>
            <a:cxnLst/>
            <a:rect l="0" t="0" r="0" b="0"/>
            <a:pathLst>
              <a:path w="38100" h="66675">
                <a:moveTo>
                  <a:pt x="38100" y="0"/>
                </a:moveTo>
                <a:lnTo>
                  <a:pt x="0" y="66675"/>
                </a:lnTo>
              </a:path>
            </a:pathLst>
          </a:custGeom>
          <a:noFill/>
          <a:ln w="19050">
            <a:solidFill>
              <a:srgbClr val="000000"/>
            </a:solidFill>
            <a:prstDash val="solid"/>
          </a:ln>
        </p:spPr>
        <p:txBody>
          <a:bodyPr/>
          <a:lstStyle/>
          <a:p>
            <a:pPr algn="ctr"/>
            <a:endParaRPr lang="en-US">
              <a:latin typeface="Calibri" panose="020F0502020204030204" pitchFamily="34" charset="0"/>
            </a:endParaRPr>
          </a:p>
        </p:txBody>
      </p:sp>
      <p:sp>
        <p:nvSpPr>
          <p:cNvPr id="285" name="Oval 284">
            <a:extLst>
              <a:ext uri="{FF2B5EF4-FFF2-40B4-BE49-F238E27FC236}">
                <a16:creationId xmlns:a16="http://schemas.microsoft.com/office/drawing/2014/main" id="{6B2A4B3D-B1AC-AE2D-5EC6-1DBE0551D724}"/>
              </a:ext>
            </a:extLst>
          </p:cNvPr>
          <p:cNvSpPr>
            <a:spLocks noGrp="1"/>
          </p:cNvSpPr>
          <p:nvPr/>
        </p:nvSpPr>
        <p:spPr>
          <a:xfrm>
            <a:off x="10915650" y="5397602"/>
            <a:ext cx="457200" cy="457200"/>
          </a:xfrm>
          <a:prstGeom prst="ellipse">
            <a:avLst/>
          </a:prstGeom>
          <a:solidFill>
            <a:srgbClr val="FFFFFF"/>
          </a:solidFill>
          <a:ln w="14288">
            <a:solidFill>
              <a:srgbClr val="000000"/>
            </a:solidFill>
            <a:prstDash val="solid"/>
          </a:ln>
        </p:spPr>
        <p:txBody>
          <a:bodyPr/>
          <a:lstStyle/>
          <a:p>
            <a:endParaRPr lang="en-US">
              <a:latin typeface="Calibri" panose="020F0502020204030204" pitchFamily="34" charset="0"/>
            </a:endParaRPr>
          </a:p>
        </p:txBody>
      </p:sp>
      <p:sp>
        <p:nvSpPr>
          <p:cNvPr id="286" name="Freeform: Shape 285">
            <a:extLst>
              <a:ext uri="{FF2B5EF4-FFF2-40B4-BE49-F238E27FC236}">
                <a16:creationId xmlns:a16="http://schemas.microsoft.com/office/drawing/2014/main" id="{936C3471-6B85-860D-B396-DC18AA107B1C}"/>
              </a:ext>
            </a:extLst>
          </p:cNvPr>
          <p:cNvSpPr>
            <a:spLocks noGrp="1"/>
          </p:cNvSpPr>
          <p:nvPr/>
        </p:nvSpPr>
        <p:spPr>
          <a:xfrm>
            <a:off x="11144250" y="5452975"/>
            <a:ext cx="100013" cy="173227"/>
          </a:xfrm>
          <a:custGeom>
            <a:avLst/>
            <a:gdLst/>
            <a:ahLst/>
            <a:cxnLst/>
            <a:rect l="0" t="0" r="0" b="0"/>
            <a:pathLst>
              <a:path w="100013" h="173227">
                <a:moveTo>
                  <a:pt x="0" y="173227"/>
                </a:moveTo>
                <a:lnTo>
                  <a:pt x="100013" y="0"/>
                </a:lnTo>
              </a:path>
            </a:pathLst>
          </a:custGeom>
          <a:noFill/>
          <a:ln w="57150">
            <a:solidFill>
              <a:srgbClr val="000000"/>
            </a:solidFill>
            <a:prstDash val="solid"/>
          </a:ln>
        </p:spPr>
        <p:txBody>
          <a:bodyPr/>
          <a:lstStyle/>
          <a:p>
            <a:endParaRPr lang="en-US">
              <a:latin typeface="Calibri" panose="020F0502020204030204" pitchFamily="34" charset="0"/>
            </a:endParaRPr>
          </a:p>
        </p:txBody>
      </p:sp>
      <p:sp>
        <p:nvSpPr>
          <p:cNvPr id="287" name="Freeform: Shape 286">
            <a:extLst>
              <a:ext uri="{FF2B5EF4-FFF2-40B4-BE49-F238E27FC236}">
                <a16:creationId xmlns:a16="http://schemas.microsoft.com/office/drawing/2014/main" id="{BCA72853-19B5-A91D-B6CE-B9C65919982E}"/>
              </a:ext>
            </a:extLst>
          </p:cNvPr>
          <p:cNvSpPr>
            <a:spLocks noGrp="1"/>
          </p:cNvSpPr>
          <p:nvPr/>
        </p:nvSpPr>
        <p:spPr>
          <a:xfrm>
            <a:off x="11144250" y="5626202"/>
            <a:ext cx="100013" cy="173227"/>
          </a:xfrm>
          <a:custGeom>
            <a:avLst/>
            <a:gdLst/>
            <a:ahLst/>
            <a:cxnLst/>
            <a:rect l="0" t="0" r="0" b="0"/>
            <a:pathLst>
              <a:path w="100013" h="173227">
                <a:moveTo>
                  <a:pt x="0" y="0"/>
                </a:moveTo>
                <a:lnTo>
                  <a:pt x="100013" y="173227"/>
                </a:lnTo>
              </a:path>
            </a:pathLst>
          </a:custGeom>
          <a:noFill/>
          <a:ln w="57150">
            <a:solidFill>
              <a:srgbClr val="000000"/>
            </a:solidFill>
            <a:prstDash val="solid"/>
          </a:ln>
        </p:spPr>
        <p:txBody>
          <a:bodyPr/>
          <a:lstStyle/>
          <a:p>
            <a:endParaRPr lang="en-US">
              <a:latin typeface="Calibri" panose="020F0502020204030204" pitchFamily="34" charset="0"/>
            </a:endParaRPr>
          </a:p>
        </p:txBody>
      </p:sp>
      <p:sp>
        <p:nvSpPr>
          <p:cNvPr id="288" name="Freeform: Shape 287">
            <a:extLst>
              <a:ext uri="{FF2B5EF4-FFF2-40B4-BE49-F238E27FC236}">
                <a16:creationId xmlns:a16="http://schemas.microsoft.com/office/drawing/2014/main" id="{9DABC45F-A912-C4E5-30F1-F478CFB64576}"/>
              </a:ext>
            </a:extLst>
          </p:cNvPr>
          <p:cNvSpPr>
            <a:spLocks noGrp="1"/>
          </p:cNvSpPr>
          <p:nvPr/>
        </p:nvSpPr>
        <p:spPr>
          <a:xfrm>
            <a:off x="10944225" y="5626202"/>
            <a:ext cx="200025" cy="9525"/>
          </a:xfrm>
          <a:custGeom>
            <a:avLst/>
            <a:gdLst/>
            <a:ahLst/>
            <a:cxnLst/>
            <a:rect l="0" t="0" r="0" b="0"/>
            <a:pathLst>
              <a:path w="200025" h="9525">
                <a:moveTo>
                  <a:pt x="200025" y="0"/>
                </a:moveTo>
                <a:lnTo>
                  <a:pt x="0" y="0"/>
                </a:lnTo>
              </a:path>
            </a:pathLst>
          </a:custGeom>
          <a:noFill/>
          <a:ln w="57150">
            <a:solidFill>
              <a:srgbClr val="000000"/>
            </a:solidFill>
            <a:prstDash val="solid"/>
          </a:ln>
        </p:spPr>
        <p:txBody>
          <a:bodyPr/>
          <a:lstStyle/>
          <a:p>
            <a:endParaRPr lang="en-US">
              <a:latin typeface="Calibri" panose="020F0502020204030204" pitchFamily="34" charset="0"/>
            </a:endParaRPr>
          </a:p>
        </p:txBody>
      </p:sp>
      <p:sp>
        <p:nvSpPr>
          <p:cNvPr id="289" name="Oval 288">
            <a:extLst>
              <a:ext uri="{FF2B5EF4-FFF2-40B4-BE49-F238E27FC236}">
                <a16:creationId xmlns:a16="http://schemas.microsoft.com/office/drawing/2014/main" id="{63EF815D-DD3F-B93D-20B4-33389238B54B}"/>
              </a:ext>
            </a:extLst>
          </p:cNvPr>
          <p:cNvSpPr>
            <a:spLocks noGrp="1"/>
          </p:cNvSpPr>
          <p:nvPr/>
        </p:nvSpPr>
        <p:spPr>
          <a:xfrm>
            <a:off x="11115675" y="5597627"/>
            <a:ext cx="57150" cy="57150"/>
          </a:xfrm>
          <a:prstGeom prst="ellipse">
            <a:avLst/>
          </a:prstGeom>
          <a:solidFill>
            <a:srgbClr val="FFFFFF"/>
          </a:solidFill>
          <a:ln w="9525">
            <a:solidFill>
              <a:srgbClr val="000000"/>
            </a:solidFill>
            <a:prstDash val="solid"/>
          </a:ln>
        </p:spPr>
        <p:txBody>
          <a:bodyPr/>
          <a:lstStyle/>
          <a:p>
            <a:endParaRPr lang="en-US">
              <a:latin typeface="Calibri" panose="020F0502020204030204" pitchFamily="34" charset="0"/>
            </a:endParaRPr>
          </a:p>
        </p:txBody>
      </p:sp>
      <p:sp>
        <p:nvSpPr>
          <p:cNvPr id="290" name="Rectangle 289">
            <a:extLst>
              <a:ext uri="{FF2B5EF4-FFF2-40B4-BE49-F238E27FC236}">
                <a16:creationId xmlns:a16="http://schemas.microsoft.com/office/drawing/2014/main" id="{01673C8A-4921-0044-71C8-D58E0B5D282C}"/>
              </a:ext>
            </a:extLst>
          </p:cNvPr>
          <p:cNvSpPr>
            <a:spLocks noGrp="1"/>
          </p:cNvSpPr>
          <p:nvPr/>
        </p:nvSpPr>
        <p:spPr>
          <a:xfrm>
            <a:off x="476250" y="5989700"/>
            <a:ext cx="11239500" cy="323850"/>
          </a:xfrm>
          <a:prstGeom prst="rect">
            <a:avLst/>
          </a:prstGeom>
          <a:noFill/>
          <a:ln w="0">
            <a:noFill/>
            <a:prstDash val="solid"/>
          </a:ln>
        </p:spPr>
        <p:txBody>
          <a:bodyPr lIns="0" tIns="0" rIns="0" bIns="0"/>
          <a:lstStyle>
            <a:defPPr>
              <a:defRPr sz="1200" b="0">
                <a:solidFill>
                  <a:srgbClr val="444444"/>
                </a:solidFill>
                <a:latin typeface="Calibri"/>
                <a:ea typeface="Calibri"/>
                <a:cs typeface="Calibri"/>
              </a:defRPr>
            </a:defPPr>
            <a:lvl1pPr>
              <a:defRPr sz="1200" b="0">
                <a:solidFill>
                  <a:srgbClr val="444444"/>
                </a:solidFill>
                <a:latin typeface="Calibri"/>
                <a:ea typeface="Calibri"/>
                <a:cs typeface="Calibri"/>
              </a:defRPr>
            </a:lvl1pPr>
            <a:lvl2pPr>
              <a:defRPr sz="1200" b="0">
                <a:solidFill>
                  <a:srgbClr val="444444"/>
                </a:solidFill>
                <a:latin typeface="Calibri"/>
                <a:ea typeface="Calibri"/>
                <a:cs typeface="Calibri"/>
              </a:defRPr>
            </a:lvl2pPr>
            <a:lvl3pPr>
              <a:defRPr sz="1200" b="0">
                <a:solidFill>
                  <a:srgbClr val="444444"/>
                </a:solidFill>
                <a:latin typeface="Calibri"/>
                <a:ea typeface="Calibri"/>
                <a:cs typeface="Calibri"/>
              </a:defRPr>
            </a:lvl3pPr>
            <a:lvl4pPr>
              <a:defRPr sz="1200" b="0">
                <a:solidFill>
                  <a:srgbClr val="444444"/>
                </a:solidFill>
                <a:latin typeface="Calibri"/>
                <a:ea typeface="Calibri"/>
                <a:cs typeface="Calibri"/>
              </a:defRPr>
            </a:lvl4pPr>
            <a:lvl5pPr>
              <a:defRPr sz="1200" b="0">
                <a:solidFill>
                  <a:srgbClr val="444444"/>
                </a:solidFill>
                <a:latin typeface="Calibri"/>
                <a:ea typeface="Calibri"/>
                <a:cs typeface="Calibri"/>
              </a:defRPr>
            </a:lvl5pPr>
            <a:lvl6pPr>
              <a:defRPr sz="1200" b="0">
                <a:solidFill>
                  <a:srgbClr val="444444"/>
                </a:solidFill>
                <a:latin typeface="Calibri"/>
                <a:ea typeface="Calibri"/>
                <a:cs typeface="Calibri"/>
              </a:defRPr>
            </a:lvl6pPr>
            <a:lvl7pPr>
              <a:defRPr sz="1200" b="0">
                <a:solidFill>
                  <a:srgbClr val="444444"/>
                </a:solidFill>
                <a:latin typeface="Calibri"/>
                <a:ea typeface="Calibri"/>
                <a:cs typeface="Calibri"/>
              </a:defRPr>
            </a:lvl7pPr>
            <a:lvl8pPr>
              <a:defRPr sz="1200" b="0">
                <a:solidFill>
                  <a:srgbClr val="444444"/>
                </a:solidFill>
                <a:latin typeface="Calibri"/>
                <a:ea typeface="Calibri"/>
                <a:cs typeface="Calibri"/>
              </a:defRPr>
            </a:lvl8pPr>
            <a:lvl9pPr>
              <a:defRPr sz="1200" b="0">
                <a:solidFill>
                  <a:srgbClr val="444444"/>
                </a:solidFill>
                <a:latin typeface="Calibri"/>
                <a:ea typeface="Calibri"/>
                <a:cs typeface="Calibri"/>
              </a:defRPr>
            </a:lvl9pPr>
          </a:lstStyle>
          <a:p>
            <a:pPr>
              <a:defRPr sz="1200" b="0">
                <a:solidFill>
                  <a:srgbClr val="444444"/>
                </a:solidFill>
                <a:latin typeface="Calibri"/>
                <a:ea typeface="Calibri"/>
                <a:cs typeface="Calibri"/>
              </a:defRPr>
            </a:pPr>
            <a:endParaRPr>
              <a:latin typeface="Calibri" panose="020F0502020204030204" pitchFamily="34" charset="0"/>
            </a:endParaRPr>
          </a:p>
        </p:txBody>
      </p:sp>
      <p:sp>
        <p:nvSpPr>
          <p:cNvPr id="13" name="Rectangle 12">
            <a:extLst>
              <a:ext uri="{FF2B5EF4-FFF2-40B4-BE49-F238E27FC236}">
                <a16:creationId xmlns:a16="http://schemas.microsoft.com/office/drawing/2014/main" id="{E40CD1AE-EF4A-324D-D134-E7999A6111B6}"/>
              </a:ext>
            </a:extLst>
          </p:cNvPr>
          <p:cNvSpPr>
            <a:spLocks noGrp="1"/>
          </p:cNvSpPr>
          <p:nvPr/>
        </p:nvSpPr>
        <p:spPr>
          <a:xfrm>
            <a:off x="8209449" y="5963565"/>
            <a:ext cx="1143000" cy="238125"/>
          </a:xfrm>
          <a:prstGeom prst="rect">
            <a:avLst/>
          </a:prstGeom>
          <a:noFill/>
          <a:ln w="0">
            <a:noFill/>
            <a:prstDash val="solid"/>
          </a:ln>
        </p:spPr>
        <p:txBody>
          <a:bodyPr lIns="0" tIns="0" rIns="0" bIns="0"/>
          <a:lstStyle>
            <a:defPPr>
              <a:defRPr sz="1275" b="0">
                <a:solidFill>
                  <a:srgbClr val="000000"/>
                </a:solidFill>
                <a:latin typeface="Calibri"/>
                <a:ea typeface="Calibri"/>
                <a:cs typeface="Calibri"/>
              </a:defRPr>
            </a:defPPr>
            <a:lvl1pPr>
              <a:defRPr sz="1275" b="0">
                <a:solidFill>
                  <a:srgbClr val="000000"/>
                </a:solidFill>
                <a:latin typeface="Calibri"/>
                <a:ea typeface="Calibri"/>
                <a:cs typeface="Calibri"/>
              </a:defRPr>
            </a:lvl1pPr>
            <a:lvl2pPr>
              <a:defRPr sz="1275" b="0">
                <a:solidFill>
                  <a:srgbClr val="000000"/>
                </a:solidFill>
                <a:latin typeface="Calibri"/>
                <a:ea typeface="Calibri"/>
                <a:cs typeface="Calibri"/>
              </a:defRPr>
            </a:lvl2pPr>
            <a:lvl3pPr>
              <a:defRPr sz="1275" b="0">
                <a:solidFill>
                  <a:srgbClr val="000000"/>
                </a:solidFill>
                <a:latin typeface="Calibri"/>
                <a:ea typeface="Calibri"/>
                <a:cs typeface="Calibri"/>
              </a:defRPr>
            </a:lvl3pPr>
            <a:lvl4pPr>
              <a:defRPr sz="1275" b="0">
                <a:solidFill>
                  <a:srgbClr val="000000"/>
                </a:solidFill>
                <a:latin typeface="Calibri"/>
                <a:ea typeface="Calibri"/>
                <a:cs typeface="Calibri"/>
              </a:defRPr>
            </a:lvl4pPr>
            <a:lvl5pPr>
              <a:defRPr sz="1275" b="0">
                <a:solidFill>
                  <a:srgbClr val="000000"/>
                </a:solidFill>
                <a:latin typeface="Calibri"/>
                <a:ea typeface="Calibri"/>
                <a:cs typeface="Calibri"/>
              </a:defRPr>
            </a:lvl5pPr>
            <a:lvl6pPr>
              <a:defRPr sz="1275" b="0">
                <a:solidFill>
                  <a:srgbClr val="000000"/>
                </a:solidFill>
                <a:latin typeface="Calibri"/>
                <a:ea typeface="Calibri"/>
                <a:cs typeface="Calibri"/>
              </a:defRPr>
            </a:lvl6pPr>
            <a:lvl7pPr>
              <a:defRPr sz="1275" b="0">
                <a:solidFill>
                  <a:srgbClr val="000000"/>
                </a:solidFill>
                <a:latin typeface="Calibri"/>
                <a:ea typeface="Calibri"/>
                <a:cs typeface="Calibri"/>
              </a:defRPr>
            </a:lvl7pPr>
            <a:lvl8pPr>
              <a:defRPr sz="1275" b="0">
                <a:solidFill>
                  <a:srgbClr val="000000"/>
                </a:solidFill>
                <a:latin typeface="Calibri"/>
                <a:ea typeface="Calibri"/>
                <a:cs typeface="Calibri"/>
              </a:defRPr>
            </a:lvl8pPr>
            <a:lvl9pPr>
              <a:defRPr sz="1275" b="0">
                <a:solidFill>
                  <a:srgbClr val="000000"/>
                </a:solidFill>
                <a:latin typeface="Calibri"/>
                <a:ea typeface="Calibri"/>
                <a:cs typeface="Calibri"/>
              </a:defRPr>
            </a:lvl9pPr>
          </a:lstStyle>
          <a:p>
            <a:pPr algn="ctr">
              <a:defRPr sz="1275" b="0">
                <a:solidFill>
                  <a:srgbClr val="000000"/>
                </a:solidFill>
                <a:latin typeface="Calibri"/>
                <a:ea typeface="Calibri"/>
                <a:cs typeface="Calibri"/>
              </a:defRPr>
            </a:pPr>
            <a:r>
              <a:rPr lang="en-US" sz="1275" b="0" dirty="0">
                <a:solidFill>
                  <a:srgbClr val="000000"/>
                </a:solidFill>
                <a:latin typeface="Calibri" panose="020F0502020204030204" pitchFamily="34" charset="0"/>
                <a:ea typeface="Calibri"/>
                <a:cs typeface="Calibri"/>
              </a:rPr>
              <a:t>Tilt</a:t>
            </a:r>
            <a:r>
              <a:rPr sz="1275" b="0" dirty="0">
                <a:solidFill>
                  <a:srgbClr val="000000"/>
                </a:solidFill>
                <a:latin typeface="Calibri" panose="020F0502020204030204" pitchFamily="34" charset="0"/>
                <a:ea typeface="Calibri"/>
                <a:cs typeface="Calibri"/>
              </a:rPr>
              <a:t> rotor</a:t>
            </a:r>
          </a:p>
        </p:txBody>
      </p:sp>
      <p:sp>
        <p:nvSpPr>
          <p:cNvPr id="16" name="Rectangle 15">
            <a:extLst>
              <a:ext uri="{FF2B5EF4-FFF2-40B4-BE49-F238E27FC236}">
                <a16:creationId xmlns:a16="http://schemas.microsoft.com/office/drawing/2014/main" id="{5DB2C16D-95AF-9984-4E3E-CE62690A5A15}"/>
              </a:ext>
            </a:extLst>
          </p:cNvPr>
          <p:cNvSpPr>
            <a:spLocks noGrp="1"/>
          </p:cNvSpPr>
          <p:nvPr/>
        </p:nvSpPr>
        <p:spPr>
          <a:xfrm>
            <a:off x="10585818" y="5963565"/>
            <a:ext cx="1143000" cy="238125"/>
          </a:xfrm>
          <a:prstGeom prst="rect">
            <a:avLst/>
          </a:prstGeom>
          <a:noFill/>
          <a:ln w="0">
            <a:noFill/>
            <a:prstDash val="solid"/>
          </a:ln>
        </p:spPr>
        <p:txBody>
          <a:bodyPr lIns="0" tIns="0" rIns="0" bIns="0"/>
          <a:lstStyle>
            <a:defPPr>
              <a:defRPr sz="1275" b="0">
                <a:solidFill>
                  <a:srgbClr val="000000"/>
                </a:solidFill>
                <a:latin typeface="Calibri"/>
                <a:ea typeface="Calibri"/>
                <a:cs typeface="Calibri"/>
              </a:defRPr>
            </a:defPPr>
            <a:lvl1pPr>
              <a:defRPr sz="1275" b="0">
                <a:solidFill>
                  <a:srgbClr val="000000"/>
                </a:solidFill>
                <a:latin typeface="Calibri"/>
                <a:ea typeface="Calibri"/>
                <a:cs typeface="Calibri"/>
              </a:defRPr>
            </a:lvl1pPr>
            <a:lvl2pPr>
              <a:defRPr sz="1275" b="0">
                <a:solidFill>
                  <a:srgbClr val="000000"/>
                </a:solidFill>
                <a:latin typeface="Calibri"/>
                <a:ea typeface="Calibri"/>
                <a:cs typeface="Calibri"/>
              </a:defRPr>
            </a:lvl2pPr>
            <a:lvl3pPr>
              <a:defRPr sz="1275" b="0">
                <a:solidFill>
                  <a:srgbClr val="000000"/>
                </a:solidFill>
                <a:latin typeface="Calibri"/>
                <a:ea typeface="Calibri"/>
                <a:cs typeface="Calibri"/>
              </a:defRPr>
            </a:lvl3pPr>
            <a:lvl4pPr>
              <a:defRPr sz="1275" b="0">
                <a:solidFill>
                  <a:srgbClr val="000000"/>
                </a:solidFill>
                <a:latin typeface="Calibri"/>
                <a:ea typeface="Calibri"/>
                <a:cs typeface="Calibri"/>
              </a:defRPr>
            </a:lvl4pPr>
            <a:lvl5pPr>
              <a:defRPr sz="1275" b="0">
                <a:solidFill>
                  <a:srgbClr val="000000"/>
                </a:solidFill>
                <a:latin typeface="Calibri"/>
                <a:ea typeface="Calibri"/>
                <a:cs typeface="Calibri"/>
              </a:defRPr>
            </a:lvl5pPr>
            <a:lvl6pPr>
              <a:defRPr sz="1275" b="0">
                <a:solidFill>
                  <a:srgbClr val="000000"/>
                </a:solidFill>
                <a:latin typeface="Calibri"/>
                <a:ea typeface="Calibri"/>
                <a:cs typeface="Calibri"/>
              </a:defRPr>
            </a:lvl6pPr>
            <a:lvl7pPr>
              <a:defRPr sz="1275" b="0">
                <a:solidFill>
                  <a:srgbClr val="000000"/>
                </a:solidFill>
                <a:latin typeface="Calibri"/>
                <a:ea typeface="Calibri"/>
                <a:cs typeface="Calibri"/>
              </a:defRPr>
            </a:lvl7pPr>
            <a:lvl8pPr>
              <a:defRPr sz="1275" b="0">
                <a:solidFill>
                  <a:srgbClr val="000000"/>
                </a:solidFill>
                <a:latin typeface="Calibri"/>
                <a:ea typeface="Calibri"/>
                <a:cs typeface="Calibri"/>
              </a:defRPr>
            </a:lvl8pPr>
            <a:lvl9pPr>
              <a:defRPr sz="1275" b="0">
                <a:solidFill>
                  <a:srgbClr val="000000"/>
                </a:solidFill>
                <a:latin typeface="Calibri"/>
                <a:ea typeface="Calibri"/>
                <a:cs typeface="Calibri"/>
              </a:defRPr>
            </a:lvl9pPr>
          </a:lstStyle>
          <a:p>
            <a:pPr algn="ctr">
              <a:defRPr sz="1275" b="0">
                <a:solidFill>
                  <a:srgbClr val="000000"/>
                </a:solidFill>
                <a:latin typeface="Calibri"/>
                <a:ea typeface="Calibri"/>
                <a:cs typeface="Calibri"/>
              </a:defRPr>
            </a:pPr>
            <a:r>
              <a:rPr lang="en-US" sz="1275" b="0" dirty="0">
                <a:solidFill>
                  <a:srgbClr val="000000"/>
                </a:solidFill>
                <a:latin typeface="Calibri" panose="020F0502020204030204" pitchFamily="34" charset="0"/>
                <a:ea typeface="Calibri"/>
                <a:cs typeface="Calibri"/>
              </a:rPr>
              <a:t>Tilt</a:t>
            </a:r>
            <a:r>
              <a:rPr sz="1275" b="0" dirty="0">
                <a:solidFill>
                  <a:srgbClr val="000000"/>
                </a:solidFill>
                <a:latin typeface="Calibri" panose="020F0502020204030204" pitchFamily="34" charset="0"/>
                <a:ea typeface="Calibri"/>
                <a:cs typeface="Calibri"/>
              </a:rPr>
              <a:t> rotor</a:t>
            </a:r>
          </a:p>
        </p:txBody>
      </p:sp>
      <p:cxnSp>
        <p:nvCxnSpPr>
          <p:cNvPr id="18" name="Straight Arrow Connector 17">
            <a:extLst>
              <a:ext uri="{FF2B5EF4-FFF2-40B4-BE49-F238E27FC236}">
                <a16:creationId xmlns:a16="http://schemas.microsoft.com/office/drawing/2014/main" id="{DEB87ABB-0B33-B201-37BE-209D23EF2E6D}"/>
              </a:ext>
            </a:extLst>
          </p:cNvPr>
          <p:cNvCxnSpPr>
            <a:cxnSpLocks/>
          </p:cNvCxnSpPr>
          <p:nvPr/>
        </p:nvCxnSpPr>
        <p:spPr>
          <a:xfrm>
            <a:off x="9951741" y="2639110"/>
            <a:ext cx="0" cy="134239"/>
          </a:xfrm>
          <a:prstGeom prst="straightConnector1">
            <a:avLst/>
          </a:prstGeom>
          <a:ln>
            <a:solidFill>
              <a:srgbClr val="D97732"/>
            </a:solidFill>
            <a:tailEnd type="triangle"/>
          </a:ln>
        </p:spPr>
        <p:style>
          <a:lnRef idx="2">
            <a:schemeClr val="accent2"/>
          </a:lnRef>
          <a:fillRef idx="0">
            <a:schemeClr val="accent2"/>
          </a:fillRef>
          <a:effectRef idx="1">
            <a:schemeClr val="accent2"/>
          </a:effectRef>
          <a:fontRef idx="minor">
            <a:schemeClr val="tx1"/>
          </a:fontRef>
        </p:style>
      </p:cxnSp>
      <p:cxnSp>
        <p:nvCxnSpPr>
          <p:cNvPr id="20" name="Straight Arrow Connector 19">
            <a:extLst>
              <a:ext uri="{FF2B5EF4-FFF2-40B4-BE49-F238E27FC236}">
                <a16:creationId xmlns:a16="http://schemas.microsoft.com/office/drawing/2014/main" id="{C38E4158-D72C-900B-9CA9-1B0A38392285}"/>
              </a:ext>
            </a:extLst>
          </p:cNvPr>
          <p:cNvCxnSpPr>
            <a:cxnSpLocks/>
          </p:cNvCxnSpPr>
          <p:nvPr/>
        </p:nvCxnSpPr>
        <p:spPr>
          <a:xfrm>
            <a:off x="9952518" y="3154349"/>
            <a:ext cx="0" cy="1247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BDFB9D9F-EEA6-B1BB-736A-0188F068E2B3}"/>
              </a:ext>
            </a:extLst>
          </p:cNvPr>
          <p:cNvCxnSpPr>
            <a:cxnSpLocks/>
          </p:cNvCxnSpPr>
          <p:nvPr/>
        </p:nvCxnSpPr>
        <p:spPr>
          <a:xfrm>
            <a:off x="9945209" y="3660060"/>
            <a:ext cx="0" cy="117623"/>
          </a:xfrm>
          <a:prstGeom prst="straightConnector1">
            <a:avLst/>
          </a:prstGeom>
          <a:ln>
            <a:solidFill>
              <a:srgbClr val="1885C7"/>
            </a:solidFill>
            <a:tailEnd type="triangle"/>
          </a:ln>
        </p:spPr>
        <p:style>
          <a:lnRef idx="2">
            <a:schemeClr val="accent2"/>
          </a:lnRef>
          <a:fillRef idx="0">
            <a:schemeClr val="accent2"/>
          </a:fillRef>
          <a:effectRef idx="1">
            <a:schemeClr val="accent2"/>
          </a:effectRef>
          <a:fontRef idx="minor">
            <a:schemeClr val="tx1"/>
          </a:fontRef>
        </p:style>
      </p:cxnSp>
      <p:cxnSp>
        <p:nvCxnSpPr>
          <p:cNvPr id="28" name="Straight Arrow Connector 27">
            <a:extLst>
              <a:ext uri="{FF2B5EF4-FFF2-40B4-BE49-F238E27FC236}">
                <a16:creationId xmlns:a16="http://schemas.microsoft.com/office/drawing/2014/main" id="{991CD323-E0F6-C29E-4B7A-AA5AD45065BA}"/>
              </a:ext>
            </a:extLst>
          </p:cNvPr>
          <p:cNvCxnSpPr>
            <a:cxnSpLocks/>
            <a:endCxn id="259" idx="0"/>
          </p:cNvCxnSpPr>
          <p:nvPr/>
        </p:nvCxnSpPr>
        <p:spPr>
          <a:xfrm>
            <a:off x="8763000" y="4734834"/>
            <a:ext cx="0" cy="100793"/>
          </a:xfrm>
          <a:prstGeom prst="straightConnector1">
            <a:avLst/>
          </a:prstGeom>
          <a:ln>
            <a:solidFill>
              <a:srgbClr val="1885C7"/>
            </a:solidFill>
            <a:tailEnd type="triangle"/>
          </a:ln>
        </p:spPr>
        <p:style>
          <a:lnRef idx="2">
            <a:schemeClr val="accent2"/>
          </a:lnRef>
          <a:fillRef idx="0">
            <a:schemeClr val="accent2"/>
          </a:fillRef>
          <a:effectRef idx="1">
            <a:schemeClr val="accent2"/>
          </a:effectRef>
          <a:fontRef idx="minor">
            <a:schemeClr val="tx1"/>
          </a:fontRef>
        </p:style>
      </p:cxnSp>
      <p:cxnSp>
        <p:nvCxnSpPr>
          <p:cNvPr id="35" name="Straight Arrow Connector 34">
            <a:extLst>
              <a:ext uri="{FF2B5EF4-FFF2-40B4-BE49-F238E27FC236}">
                <a16:creationId xmlns:a16="http://schemas.microsoft.com/office/drawing/2014/main" id="{757215DB-25C0-FAE5-82EA-4DC4BE914D42}"/>
              </a:ext>
            </a:extLst>
          </p:cNvPr>
          <p:cNvCxnSpPr>
            <a:cxnSpLocks/>
            <a:endCxn id="277" idx="0"/>
          </p:cNvCxnSpPr>
          <p:nvPr/>
        </p:nvCxnSpPr>
        <p:spPr>
          <a:xfrm>
            <a:off x="11144250" y="4725309"/>
            <a:ext cx="0" cy="110318"/>
          </a:xfrm>
          <a:prstGeom prst="straightConnector1">
            <a:avLst/>
          </a:prstGeom>
          <a:ln>
            <a:solidFill>
              <a:srgbClr val="1885C7"/>
            </a:solidFill>
            <a:tailEnd type="triangle"/>
          </a:ln>
        </p:spPr>
        <p:style>
          <a:lnRef idx="2">
            <a:schemeClr val="accent2"/>
          </a:lnRef>
          <a:fillRef idx="0">
            <a:schemeClr val="accent2"/>
          </a:fillRef>
          <a:effectRef idx="1">
            <a:schemeClr val="accent2"/>
          </a:effectRef>
          <a:fontRef idx="minor">
            <a:schemeClr val="tx1"/>
          </a:fontRef>
        </p:style>
      </p:cxnSp>
      <p:sp>
        <p:nvSpPr>
          <p:cNvPr id="3" name="TextBox 2">
            <a:extLst>
              <a:ext uri="{FF2B5EF4-FFF2-40B4-BE49-F238E27FC236}">
                <a16:creationId xmlns:a16="http://schemas.microsoft.com/office/drawing/2014/main" id="{790A1508-3FFF-C319-E9FD-1C46CF1034D9}"/>
              </a:ext>
            </a:extLst>
          </p:cNvPr>
          <p:cNvSpPr txBox="1"/>
          <p:nvPr/>
        </p:nvSpPr>
        <p:spPr>
          <a:xfrm>
            <a:off x="11671300" y="6527800"/>
            <a:ext cx="355600" cy="153888"/>
          </a:xfrm>
          <a:prstGeom prst="rect">
            <a:avLst/>
          </a:prstGeom>
          <a:noFill/>
        </p:spPr>
        <p:txBody>
          <a:bodyPr vert="horz" lIns="0" tIns="0" rIns="0" bIns="0" rtlCol="0">
            <a:spAutoFit/>
          </a:bodyPr>
          <a:lstStyle/>
          <a:p>
            <a:r>
              <a:rPr lang="en-US" sz="1000">
                <a:solidFill>
                  <a:srgbClr val="000000"/>
                </a:solidFill>
                <a:latin typeface="Calibri" panose="020F0502020204030204" pitchFamily="34" charset="0"/>
              </a:rPr>
              <a:t>3</a:t>
            </a:r>
          </a:p>
        </p:txBody>
      </p:sp>
    </p:spTree>
    <p:extLst>
      <p:ext uri="{BB962C8B-B14F-4D97-AF65-F5344CB8AC3E}">
        <p14:creationId xmlns:p14="http://schemas.microsoft.com/office/powerpoint/2010/main" val="11631400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E70E449-6C91-E0B0-552A-F57A2DFE9886}"/>
              </a:ext>
            </a:extLst>
          </p:cNvPr>
          <p:cNvSpPr>
            <a:spLocks noGrp="1"/>
          </p:cNvSpPr>
          <p:nvPr/>
        </p:nvSpPr>
        <p:spPr>
          <a:xfrm>
            <a:off x="838200" y="361950"/>
            <a:ext cx="10896600" cy="495300"/>
          </a:xfrm>
          <a:prstGeom prst="rect">
            <a:avLst/>
          </a:prstGeom>
          <a:noFill/>
          <a:ln w="0">
            <a:noFill/>
            <a:prstDash val="solid"/>
          </a:ln>
        </p:spPr>
        <p:txBody>
          <a:bodyPr lIns="0" tIns="0" rIns="0" bIns="0"/>
          <a:lstStyle>
            <a:defPPr>
              <a:defRPr sz="2400" b="1">
                <a:solidFill>
                  <a:srgbClr val="000000"/>
                </a:solidFill>
                <a:latin typeface="Calibri"/>
                <a:ea typeface="Calibri"/>
                <a:cs typeface="Calibri"/>
              </a:defRPr>
            </a:defPPr>
            <a:lvl1pPr>
              <a:defRPr sz="2400" b="1">
                <a:solidFill>
                  <a:srgbClr val="000000"/>
                </a:solidFill>
                <a:latin typeface="Calibri"/>
                <a:ea typeface="Calibri"/>
                <a:cs typeface="Calibri"/>
              </a:defRPr>
            </a:lvl1pPr>
            <a:lvl2pPr>
              <a:defRPr sz="2400" b="1">
                <a:solidFill>
                  <a:srgbClr val="000000"/>
                </a:solidFill>
                <a:latin typeface="Calibri"/>
                <a:ea typeface="Calibri"/>
                <a:cs typeface="Calibri"/>
              </a:defRPr>
            </a:lvl2pPr>
            <a:lvl3pPr>
              <a:defRPr sz="2400" b="1">
                <a:solidFill>
                  <a:srgbClr val="000000"/>
                </a:solidFill>
                <a:latin typeface="Calibri"/>
                <a:ea typeface="Calibri"/>
                <a:cs typeface="Calibri"/>
              </a:defRPr>
            </a:lvl3pPr>
            <a:lvl4pPr>
              <a:defRPr sz="2400" b="1">
                <a:solidFill>
                  <a:srgbClr val="000000"/>
                </a:solidFill>
                <a:latin typeface="Calibri"/>
                <a:ea typeface="Calibri"/>
                <a:cs typeface="Calibri"/>
              </a:defRPr>
            </a:lvl4pPr>
            <a:lvl5pPr>
              <a:defRPr sz="2400" b="1">
                <a:solidFill>
                  <a:srgbClr val="000000"/>
                </a:solidFill>
                <a:latin typeface="Calibri"/>
                <a:ea typeface="Calibri"/>
                <a:cs typeface="Calibri"/>
              </a:defRPr>
            </a:lvl5pPr>
            <a:lvl6pPr>
              <a:defRPr sz="2400" b="1">
                <a:solidFill>
                  <a:srgbClr val="000000"/>
                </a:solidFill>
                <a:latin typeface="Calibri"/>
                <a:ea typeface="Calibri"/>
                <a:cs typeface="Calibri"/>
              </a:defRPr>
            </a:lvl6pPr>
            <a:lvl7pPr>
              <a:defRPr sz="2400" b="1">
                <a:solidFill>
                  <a:srgbClr val="000000"/>
                </a:solidFill>
                <a:latin typeface="Calibri"/>
                <a:ea typeface="Calibri"/>
                <a:cs typeface="Calibri"/>
              </a:defRPr>
            </a:lvl7pPr>
            <a:lvl8pPr>
              <a:defRPr sz="2400" b="1">
                <a:solidFill>
                  <a:srgbClr val="000000"/>
                </a:solidFill>
                <a:latin typeface="Calibri"/>
                <a:ea typeface="Calibri"/>
                <a:cs typeface="Calibri"/>
              </a:defRPr>
            </a:lvl8pPr>
            <a:lvl9pPr>
              <a:defRPr sz="2400" b="1">
                <a:solidFill>
                  <a:srgbClr val="000000"/>
                </a:solidFill>
                <a:latin typeface="Calibri"/>
                <a:ea typeface="Calibri"/>
                <a:cs typeface="Calibri"/>
              </a:defRPr>
            </a:lvl9pPr>
          </a:lstStyle>
          <a:p>
            <a:pPr>
              <a:defRPr sz="2400" b="1">
                <a:solidFill>
                  <a:srgbClr val="000000"/>
                </a:solidFill>
                <a:latin typeface="Calibri"/>
                <a:ea typeface="Calibri"/>
                <a:cs typeface="Calibri"/>
              </a:defRPr>
            </a:pPr>
            <a:r>
              <a:rPr lang="en-US" sz="2400" b="1" dirty="0">
                <a:solidFill>
                  <a:srgbClr val="000000"/>
                </a:solidFill>
                <a:latin typeface="Calibri" panose="020F0502020204030204" pitchFamily="34" charset="0"/>
                <a:ea typeface="Calibri"/>
                <a:cs typeface="Calibri"/>
              </a:rPr>
              <a:t>Initial Sizing Approach and Assumptions</a:t>
            </a:r>
            <a:endParaRPr sz="2400" b="1" dirty="0">
              <a:solidFill>
                <a:srgbClr val="000000"/>
              </a:solidFill>
              <a:latin typeface="Calibri" panose="020F0502020204030204" pitchFamily="34" charset="0"/>
              <a:ea typeface="Calibri"/>
              <a:cs typeface="Calibri"/>
            </a:endParaRPr>
          </a:p>
        </p:txBody>
      </p:sp>
      <p:pic>
        <p:nvPicPr>
          <p:cNvPr id="10" name="Picture 9">
            <a:extLst>
              <a:ext uri="{FF2B5EF4-FFF2-40B4-BE49-F238E27FC236}">
                <a16:creationId xmlns:a16="http://schemas.microsoft.com/office/drawing/2014/main" id="{8FE1848B-48C0-B12F-6396-BE1B79E560A3}"/>
              </a:ext>
            </a:extLst>
          </p:cNvPr>
          <p:cNvPicPr>
            <a:picLocks noChangeAspect="1"/>
          </p:cNvPicPr>
          <p:nvPr/>
        </p:nvPicPr>
        <p:blipFill>
          <a:blip r:embed="rId3">
            <a:extLst>
              <a:ext uri="{28A0092B-C50C-407E-A947-70E740481C1C}">
                <a14:useLocalDpi xmlns:a14="http://schemas.microsoft.com/office/drawing/2010/main" val="0"/>
              </a:ext>
            </a:extLst>
          </a:blip>
          <a:srcRect l="6531" t="14815" r="20849" b="31852"/>
          <a:stretch>
            <a:fillRect/>
          </a:stretch>
        </p:blipFill>
        <p:spPr>
          <a:xfrm>
            <a:off x="-470002" y="288926"/>
            <a:ext cx="5241073" cy="3657600"/>
          </a:xfrm>
          <a:prstGeom prst="rect">
            <a:avLst/>
          </a:prstGeom>
        </p:spPr>
      </p:pic>
      <p:grpSp>
        <p:nvGrpSpPr>
          <p:cNvPr id="13" name="Group 12">
            <a:extLst>
              <a:ext uri="{FF2B5EF4-FFF2-40B4-BE49-F238E27FC236}">
                <a16:creationId xmlns:a16="http://schemas.microsoft.com/office/drawing/2014/main" id="{7AD1BE36-62A7-8E75-586D-934F4F7BDDDE}"/>
              </a:ext>
            </a:extLst>
          </p:cNvPr>
          <p:cNvGrpSpPr/>
          <p:nvPr/>
        </p:nvGrpSpPr>
        <p:grpSpPr>
          <a:xfrm>
            <a:off x="4944749" y="1826685"/>
            <a:ext cx="5909310" cy="4775200"/>
            <a:chOff x="465882" y="1631951"/>
            <a:chExt cx="5909310" cy="4775200"/>
          </a:xfrm>
        </p:grpSpPr>
        <p:pic>
          <p:nvPicPr>
            <p:cNvPr id="12" name="Picture 11">
              <a:extLst>
                <a:ext uri="{FF2B5EF4-FFF2-40B4-BE49-F238E27FC236}">
                  <a16:creationId xmlns:a16="http://schemas.microsoft.com/office/drawing/2014/main" id="{C862E255-5E0D-0BD4-5CAA-A88B4EED69E6}"/>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20000" contrast="-40000"/>
                      </a14:imgEffect>
                    </a14:imgLayer>
                  </a14:imgProps>
                </a:ext>
                <a:ext uri="{28A0092B-C50C-407E-A947-70E740481C1C}">
                  <a14:useLocalDpi xmlns:a14="http://schemas.microsoft.com/office/drawing/2010/main" val="0"/>
                </a:ext>
              </a:extLst>
            </a:blip>
            <a:srcRect l="28619" t="8174" r="20701" b="15403"/>
            <a:stretch>
              <a:fillRect/>
            </a:stretch>
          </p:blipFill>
          <p:spPr>
            <a:xfrm rot="5400000">
              <a:off x="1358565" y="1225761"/>
              <a:ext cx="4123944" cy="5909310"/>
            </a:xfrm>
            <a:prstGeom prst="rect">
              <a:avLst/>
            </a:prstGeom>
          </p:spPr>
        </p:pic>
        <p:pic>
          <p:nvPicPr>
            <p:cNvPr id="7" name="Picture 6">
              <a:extLst>
                <a:ext uri="{FF2B5EF4-FFF2-40B4-BE49-F238E27FC236}">
                  <a16:creationId xmlns:a16="http://schemas.microsoft.com/office/drawing/2014/main" id="{01841AE7-FCE3-4997-58AD-C18894ECEE08}"/>
                </a:ext>
              </a:extLst>
            </p:cNvPr>
            <p:cNvPicPr>
              <a:picLocks noChangeAspect="1"/>
            </p:cNvPicPr>
            <p:nvPr/>
          </p:nvPicPr>
          <p:blipFill>
            <a:blip r:embed="rId6">
              <a:extLst>
                <a:ext uri="{BEBA8EAE-BF5A-486C-A8C5-ECC9F3942E4B}">
                  <a14:imgProps xmlns:a14="http://schemas.microsoft.com/office/drawing/2010/main">
                    <a14:imgLayer r:embed="rId7">
                      <a14:imgEffect>
                        <a14:colorTemperature colorTemp="4700"/>
                      </a14:imgEffect>
                    </a14:imgLayer>
                  </a14:imgProps>
                </a:ext>
                <a:ext uri="{28A0092B-C50C-407E-A947-70E740481C1C}">
                  <a14:useLocalDpi xmlns:a14="http://schemas.microsoft.com/office/drawing/2010/main" val="0"/>
                </a:ext>
              </a:extLst>
            </a:blip>
            <a:srcRect l="27397" t="7182" r="7543" b="10409"/>
            <a:stretch>
              <a:fillRect/>
            </a:stretch>
          </p:blipFill>
          <p:spPr>
            <a:xfrm rot="5400000">
              <a:off x="1003909" y="1145722"/>
              <a:ext cx="4775200" cy="5747657"/>
            </a:xfrm>
            <a:prstGeom prst="rect">
              <a:avLst/>
            </a:prstGeom>
          </p:spPr>
        </p:pic>
      </p:grpSp>
      <p:pic>
        <p:nvPicPr>
          <p:cNvPr id="15" name="Picture 14">
            <a:extLst>
              <a:ext uri="{FF2B5EF4-FFF2-40B4-BE49-F238E27FC236}">
                <a16:creationId xmlns:a16="http://schemas.microsoft.com/office/drawing/2014/main" id="{31132BF2-6AC7-B891-C727-DB6BCB4FF63F}"/>
              </a:ext>
            </a:extLst>
          </p:cNvPr>
          <p:cNvPicPr>
            <a:picLocks noChangeAspect="1"/>
          </p:cNvPicPr>
          <p:nvPr/>
        </p:nvPicPr>
        <p:blipFill>
          <a:blip r:embed="rId8">
            <a:extLst>
              <a:ext uri="{28A0092B-C50C-407E-A947-70E740481C1C}">
                <a14:useLocalDpi xmlns:a14="http://schemas.microsoft.com/office/drawing/2010/main" val="0"/>
              </a:ext>
            </a:extLst>
          </a:blip>
          <a:srcRect l="1666" t="5920" r="47640" b="30473"/>
          <a:stretch>
            <a:fillRect/>
          </a:stretch>
        </p:blipFill>
        <p:spPr>
          <a:xfrm>
            <a:off x="-591882" y="3039533"/>
            <a:ext cx="6180667" cy="4275667"/>
          </a:xfrm>
          <a:prstGeom prst="rect">
            <a:avLst/>
          </a:prstGeom>
        </p:spPr>
      </p:pic>
    </p:spTree>
    <p:extLst>
      <p:ext uri="{BB962C8B-B14F-4D97-AF65-F5344CB8AC3E}">
        <p14:creationId xmlns:p14="http://schemas.microsoft.com/office/powerpoint/2010/main" val="20195796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842E361-F128-544C-657B-3225E345810D}"/>
              </a:ext>
            </a:extLst>
          </p:cNvPr>
          <p:cNvSpPr>
            <a:spLocks noGrp="1"/>
          </p:cNvSpPr>
          <p:nvPr/>
        </p:nvSpPr>
        <p:spPr>
          <a:xfrm>
            <a:off x="838200" y="361950"/>
            <a:ext cx="10896600" cy="495300"/>
          </a:xfrm>
          <a:prstGeom prst="rect">
            <a:avLst/>
          </a:prstGeom>
          <a:noFill/>
          <a:ln w="0">
            <a:noFill/>
            <a:prstDash val="solid"/>
          </a:ln>
        </p:spPr>
        <p:txBody>
          <a:bodyPr lIns="0" tIns="0" rIns="0" bIns="0"/>
          <a:lstStyle>
            <a:defPPr>
              <a:defRPr sz="2400" b="1">
                <a:solidFill>
                  <a:srgbClr val="000000"/>
                </a:solidFill>
                <a:latin typeface="Calibri"/>
                <a:ea typeface="Calibri"/>
                <a:cs typeface="Calibri"/>
              </a:defRPr>
            </a:defPPr>
            <a:lvl1pPr>
              <a:defRPr sz="2400" b="1">
                <a:solidFill>
                  <a:srgbClr val="000000"/>
                </a:solidFill>
                <a:latin typeface="Calibri"/>
                <a:ea typeface="Calibri"/>
                <a:cs typeface="Calibri"/>
              </a:defRPr>
            </a:lvl1pPr>
            <a:lvl2pPr>
              <a:defRPr sz="2400" b="1">
                <a:solidFill>
                  <a:srgbClr val="000000"/>
                </a:solidFill>
                <a:latin typeface="Calibri"/>
                <a:ea typeface="Calibri"/>
                <a:cs typeface="Calibri"/>
              </a:defRPr>
            </a:lvl2pPr>
            <a:lvl3pPr>
              <a:defRPr sz="2400" b="1">
                <a:solidFill>
                  <a:srgbClr val="000000"/>
                </a:solidFill>
                <a:latin typeface="Calibri"/>
                <a:ea typeface="Calibri"/>
                <a:cs typeface="Calibri"/>
              </a:defRPr>
            </a:lvl3pPr>
            <a:lvl4pPr>
              <a:defRPr sz="2400" b="1">
                <a:solidFill>
                  <a:srgbClr val="000000"/>
                </a:solidFill>
                <a:latin typeface="Calibri"/>
                <a:ea typeface="Calibri"/>
                <a:cs typeface="Calibri"/>
              </a:defRPr>
            </a:lvl4pPr>
            <a:lvl5pPr>
              <a:defRPr sz="2400" b="1">
                <a:solidFill>
                  <a:srgbClr val="000000"/>
                </a:solidFill>
                <a:latin typeface="Calibri"/>
                <a:ea typeface="Calibri"/>
                <a:cs typeface="Calibri"/>
              </a:defRPr>
            </a:lvl5pPr>
            <a:lvl6pPr>
              <a:defRPr sz="2400" b="1">
                <a:solidFill>
                  <a:srgbClr val="000000"/>
                </a:solidFill>
                <a:latin typeface="Calibri"/>
                <a:ea typeface="Calibri"/>
                <a:cs typeface="Calibri"/>
              </a:defRPr>
            </a:lvl6pPr>
            <a:lvl7pPr>
              <a:defRPr sz="2400" b="1">
                <a:solidFill>
                  <a:srgbClr val="000000"/>
                </a:solidFill>
                <a:latin typeface="Calibri"/>
                <a:ea typeface="Calibri"/>
                <a:cs typeface="Calibri"/>
              </a:defRPr>
            </a:lvl7pPr>
            <a:lvl8pPr>
              <a:defRPr sz="2400" b="1">
                <a:solidFill>
                  <a:srgbClr val="000000"/>
                </a:solidFill>
                <a:latin typeface="Calibri"/>
                <a:ea typeface="Calibri"/>
                <a:cs typeface="Calibri"/>
              </a:defRPr>
            </a:lvl8pPr>
            <a:lvl9pPr>
              <a:defRPr sz="2400" b="1">
                <a:solidFill>
                  <a:srgbClr val="000000"/>
                </a:solidFill>
                <a:latin typeface="Calibri"/>
                <a:ea typeface="Calibri"/>
                <a:cs typeface="Calibri"/>
              </a:defRPr>
            </a:lvl9pPr>
          </a:lstStyle>
          <a:p>
            <a:pPr>
              <a:defRPr sz="2400" b="1">
                <a:solidFill>
                  <a:srgbClr val="000000"/>
                </a:solidFill>
                <a:latin typeface="Calibri"/>
                <a:ea typeface="Calibri"/>
                <a:cs typeface="Calibri"/>
              </a:defRPr>
            </a:pPr>
            <a:r>
              <a:rPr sz="2400" b="1">
                <a:solidFill>
                  <a:srgbClr val="000000"/>
                </a:solidFill>
                <a:latin typeface="Calibri" panose="020F0502020204030204" pitchFamily="34" charset="0"/>
                <a:ea typeface="Calibri"/>
                <a:cs typeface="Calibri"/>
              </a:rPr>
              <a:t>Sizing Results</a:t>
            </a:r>
          </a:p>
        </p:txBody>
      </p:sp>
      <p:sp>
        <p:nvSpPr>
          <p:cNvPr id="4" name="Rectangle 3">
            <a:extLst>
              <a:ext uri="{FF2B5EF4-FFF2-40B4-BE49-F238E27FC236}">
                <a16:creationId xmlns:a16="http://schemas.microsoft.com/office/drawing/2014/main" id="{8D13F41C-01FD-BC7C-4499-5095F005C6D0}"/>
              </a:ext>
            </a:extLst>
          </p:cNvPr>
          <p:cNvSpPr>
            <a:spLocks noGrp="1"/>
          </p:cNvSpPr>
          <p:nvPr/>
        </p:nvSpPr>
        <p:spPr>
          <a:xfrm>
            <a:off x="11382375" y="6524625"/>
            <a:ext cx="333375" cy="219075"/>
          </a:xfrm>
          <a:prstGeom prst="rect">
            <a:avLst/>
          </a:prstGeom>
          <a:noFill/>
          <a:ln w="0">
            <a:noFill/>
            <a:prstDash val="solid"/>
          </a:ln>
        </p:spPr>
        <p:txBody>
          <a:bodyPr lIns="0" tIns="0" rIns="0" bIns="0"/>
          <a:lstStyle>
            <a:defPPr>
              <a:defRPr sz="1125" b="0">
                <a:solidFill>
                  <a:srgbClr val="444444"/>
                </a:solidFill>
                <a:latin typeface="Calibri"/>
                <a:ea typeface="Calibri"/>
                <a:cs typeface="Calibri"/>
              </a:defRPr>
            </a:defPPr>
            <a:lvl1pPr>
              <a:defRPr sz="1125" b="0">
                <a:solidFill>
                  <a:srgbClr val="444444"/>
                </a:solidFill>
                <a:latin typeface="Calibri"/>
                <a:ea typeface="Calibri"/>
                <a:cs typeface="Calibri"/>
              </a:defRPr>
            </a:lvl1pPr>
            <a:lvl2pPr>
              <a:defRPr sz="1125" b="0">
                <a:solidFill>
                  <a:srgbClr val="444444"/>
                </a:solidFill>
                <a:latin typeface="Calibri"/>
                <a:ea typeface="Calibri"/>
                <a:cs typeface="Calibri"/>
              </a:defRPr>
            </a:lvl2pPr>
            <a:lvl3pPr>
              <a:defRPr sz="1125" b="0">
                <a:solidFill>
                  <a:srgbClr val="444444"/>
                </a:solidFill>
                <a:latin typeface="Calibri"/>
                <a:ea typeface="Calibri"/>
                <a:cs typeface="Calibri"/>
              </a:defRPr>
            </a:lvl3pPr>
            <a:lvl4pPr>
              <a:defRPr sz="1125" b="0">
                <a:solidFill>
                  <a:srgbClr val="444444"/>
                </a:solidFill>
                <a:latin typeface="Calibri"/>
                <a:ea typeface="Calibri"/>
                <a:cs typeface="Calibri"/>
              </a:defRPr>
            </a:lvl4pPr>
            <a:lvl5pPr>
              <a:defRPr sz="1125" b="0">
                <a:solidFill>
                  <a:srgbClr val="444444"/>
                </a:solidFill>
                <a:latin typeface="Calibri"/>
                <a:ea typeface="Calibri"/>
                <a:cs typeface="Calibri"/>
              </a:defRPr>
            </a:lvl5pPr>
            <a:lvl6pPr>
              <a:defRPr sz="1125" b="0">
                <a:solidFill>
                  <a:srgbClr val="444444"/>
                </a:solidFill>
                <a:latin typeface="Calibri"/>
                <a:ea typeface="Calibri"/>
                <a:cs typeface="Calibri"/>
              </a:defRPr>
            </a:lvl6pPr>
            <a:lvl7pPr>
              <a:defRPr sz="1125" b="0">
                <a:solidFill>
                  <a:srgbClr val="444444"/>
                </a:solidFill>
                <a:latin typeface="Calibri"/>
                <a:ea typeface="Calibri"/>
                <a:cs typeface="Calibri"/>
              </a:defRPr>
            </a:lvl7pPr>
            <a:lvl8pPr>
              <a:defRPr sz="1125" b="0">
                <a:solidFill>
                  <a:srgbClr val="444444"/>
                </a:solidFill>
                <a:latin typeface="Calibri"/>
                <a:ea typeface="Calibri"/>
                <a:cs typeface="Calibri"/>
              </a:defRPr>
            </a:lvl8pPr>
            <a:lvl9pPr>
              <a:defRPr sz="1125" b="0">
                <a:solidFill>
                  <a:srgbClr val="444444"/>
                </a:solidFill>
                <a:latin typeface="Calibri"/>
                <a:ea typeface="Calibri"/>
                <a:cs typeface="Calibri"/>
              </a:defRPr>
            </a:lvl9pPr>
          </a:lstStyle>
          <a:p>
            <a:pPr>
              <a:defRPr sz="1125" b="0">
                <a:solidFill>
                  <a:srgbClr val="444444"/>
                </a:solidFill>
                <a:latin typeface="Calibri"/>
                <a:ea typeface="Calibri"/>
                <a:cs typeface="Calibri"/>
              </a:defRPr>
            </a:pPr>
            <a:endParaRPr sz="1125" b="0">
              <a:solidFill>
                <a:srgbClr val="444444"/>
              </a:solidFill>
              <a:latin typeface="Calibri" panose="020F0502020204030204" pitchFamily="34" charset="0"/>
              <a:ea typeface="Calibri"/>
              <a:cs typeface="Calibri"/>
            </a:endParaRPr>
          </a:p>
        </p:txBody>
      </p:sp>
      <p:graphicFrame>
        <p:nvGraphicFramePr>
          <p:cNvPr id="5" name="Table 4">
            <a:extLst>
              <a:ext uri="{FF2B5EF4-FFF2-40B4-BE49-F238E27FC236}">
                <a16:creationId xmlns:a16="http://schemas.microsoft.com/office/drawing/2014/main" id="{C98A76F3-D505-4813-A722-28BFC3800A9F}"/>
              </a:ext>
            </a:extLst>
          </p:cNvPr>
          <p:cNvGraphicFramePr/>
          <p:nvPr>
            <p:extLst>
              <p:ext uri="{D42A27DB-BD31-4B8C-83A1-F6EECF244321}">
                <p14:modId xmlns:p14="http://schemas.microsoft.com/office/powerpoint/2010/main" val="435357626"/>
              </p:ext>
            </p:extLst>
          </p:nvPr>
        </p:nvGraphicFramePr>
        <p:xfrm>
          <a:off x="476250" y="1440104"/>
          <a:ext cx="11239499" cy="3167066"/>
        </p:xfrm>
        <a:graphic>
          <a:graphicData uri="http://schemas.openxmlformats.org/drawingml/2006/table">
            <a:tbl>
              <a:tblPr/>
              <a:tblGrid>
                <a:gridCol w="2408464">
                  <a:extLst>
                    <a:ext uri="{9D8B030D-6E8A-4147-A177-3AD203B41FA5}">
                      <a16:colId xmlns:a16="http://schemas.microsoft.com/office/drawing/2014/main" val="20000"/>
                    </a:ext>
                  </a:extLst>
                </a:gridCol>
                <a:gridCol w="1766207">
                  <a:extLst>
                    <a:ext uri="{9D8B030D-6E8A-4147-A177-3AD203B41FA5}">
                      <a16:colId xmlns:a16="http://schemas.microsoft.com/office/drawing/2014/main" val="717342376"/>
                    </a:ext>
                  </a:extLst>
                </a:gridCol>
                <a:gridCol w="1766207">
                  <a:extLst>
                    <a:ext uri="{9D8B030D-6E8A-4147-A177-3AD203B41FA5}">
                      <a16:colId xmlns:a16="http://schemas.microsoft.com/office/drawing/2014/main" val="20001"/>
                    </a:ext>
                  </a:extLst>
                </a:gridCol>
                <a:gridCol w="1766207">
                  <a:extLst>
                    <a:ext uri="{9D8B030D-6E8A-4147-A177-3AD203B41FA5}">
                      <a16:colId xmlns:a16="http://schemas.microsoft.com/office/drawing/2014/main" val="20002"/>
                    </a:ext>
                  </a:extLst>
                </a:gridCol>
                <a:gridCol w="1766207">
                  <a:extLst>
                    <a:ext uri="{9D8B030D-6E8A-4147-A177-3AD203B41FA5}">
                      <a16:colId xmlns:a16="http://schemas.microsoft.com/office/drawing/2014/main" val="20003"/>
                    </a:ext>
                  </a:extLst>
                </a:gridCol>
                <a:gridCol w="1766207">
                  <a:extLst>
                    <a:ext uri="{9D8B030D-6E8A-4147-A177-3AD203B41FA5}">
                      <a16:colId xmlns:a16="http://schemas.microsoft.com/office/drawing/2014/main" val="20004"/>
                    </a:ext>
                  </a:extLst>
                </a:gridCol>
              </a:tblGrid>
              <a:tr h="452438">
                <a:tc>
                  <a:txBody>
                    <a:bodyPr/>
                    <a:lstStyle/>
                    <a:p>
                      <a:pPr algn="ctr"/>
                      <a:r>
                        <a:rPr lang="en-US" sz="1500" b="1">
                          <a:solidFill>
                            <a:srgbClr val="000000"/>
                          </a:solidFill>
                          <a:latin typeface="Calibri" panose="020F0502020204030204" pitchFamily="34" charset="0"/>
                          <a:ea typeface="Calibri"/>
                          <a:cs typeface="Calibri"/>
                        </a:rPr>
                        <a:t>Result</a:t>
                      </a:r>
                      <a:endParaRPr sz="1500" b="1" dirty="0">
                        <a:solidFill>
                          <a:srgbClr val="000000"/>
                        </a:solidFill>
                        <a:latin typeface="Calibri" panose="020F0502020204030204" pitchFamily="34" charset="0"/>
                        <a:ea typeface="Calibri"/>
                        <a:cs typeface="Calibri"/>
                      </a:endParaRPr>
                    </a:p>
                  </a:txBody>
                  <a:tcPr anchor="ctr">
                    <a:lnL w="9525">
                      <a:solidFill>
                        <a:srgbClr val="BBBBBB"/>
                      </a:solidFill>
                    </a:lnL>
                    <a:lnR w="9525">
                      <a:solidFill>
                        <a:srgbClr val="BBBBBB"/>
                      </a:solidFill>
                    </a:lnR>
                    <a:lnT w="9525">
                      <a:solidFill>
                        <a:srgbClr val="BBBBBB"/>
                      </a:solidFill>
                    </a:lnT>
                    <a:lnB w="9525">
                      <a:solidFill>
                        <a:srgbClr val="BBBBBB"/>
                      </a:solidFill>
                    </a:lnB>
                    <a:solidFill>
                      <a:srgbClr val="D9D9D9"/>
                    </a:solidFill>
                  </a:tcPr>
                </a:tc>
                <a:tc>
                  <a:txBody>
                    <a:bodyPr/>
                    <a:lstStyle/>
                    <a:p>
                      <a:pPr algn="ctr"/>
                      <a:r>
                        <a:rPr lang="en-US" sz="1500" b="1">
                          <a:solidFill>
                            <a:srgbClr val="000000"/>
                          </a:solidFill>
                          <a:latin typeface="Calibri" panose="020F0502020204030204" pitchFamily="34" charset="0"/>
                          <a:ea typeface="Calibri"/>
                          <a:cs typeface="Calibri"/>
                        </a:rPr>
                        <a:t>Baseline</a:t>
                      </a:r>
                      <a:endParaRPr sz="1500" b="1" dirty="0">
                        <a:solidFill>
                          <a:srgbClr val="000000"/>
                        </a:solidFill>
                        <a:latin typeface="Calibri" panose="020F0502020204030204" pitchFamily="34" charset="0"/>
                        <a:ea typeface="Calibri"/>
                        <a:cs typeface="Calibri"/>
                      </a:endParaRPr>
                    </a:p>
                  </a:txBody>
                  <a:tcPr anchor="ctr">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a:solidFill>
                        <a:srgbClr val="BBBBBB"/>
                      </a:solidFill>
                    </a:lnT>
                    <a:lnB w="9525" cap="flat" cmpd="sng" algn="ctr">
                      <a:solidFill>
                        <a:srgbClr val="BBBBBB"/>
                      </a:solidFill>
                      <a:prstDash val="solid"/>
                      <a:round/>
                      <a:headEnd type="none" w="med" len="med"/>
                      <a:tailEnd type="none" w="med" len="med"/>
                    </a:lnB>
                    <a:solidFill>
                      <a:srgbClr val="D9D9D9"/>
                    </a:solidFill>
                  </a:tcPr>
                </a:tc>
                <a:tc>
                  <a:txBody>
                    <a:bodyPr/>
                    <a:lstStyle/>
                    <a:p>
                      <a:pPr algn="ctr"/>
                      <a:r>
                        <a:rPr lang="en-US" sz="1500" b="1">
                          <a:solidFill>
                            <a:srgbClr val="000000"/>
                          </a:solidFill>
                          <a:latin typeface="Calibri" panose="020F0502020204030204" pitchFamily="34" charset="0"/>
                          <a:ea typeface="Calibri"/>
                          <a:cs typeface="Calibri"/>
                        </a:rPr>
                        <a:t>L+C retrofit</a:t>
                      </a:r>
                      <a:endParaRPr sz="1500" b="1" dirty="0">
                        <a:solidFill>
                          <a:srgbClr val="000000"/>
                        </a:solidFill>
                        <a:latin typeface="Calibri" panose="020F0502020204030204" pitchFamily="34" charset="0"/>
                        <a:ea typeface="Calibri"/>
                        <a:cs typeface="Calibri"/>
                      </a:endParaRPr>
                    </a:p>
                  </a:txBody>
                  <a:tcPr anchor="ctr">
                    <a:lnL w="9525" cap="flat" cmpd="sng" algn="ctr">
                      <a:solidFill>
                        <a:srgbClr val="BBBBBB"/>
                      </a:solidFill>
                      <a:prstDash val="solid"/>
                      <a:round/>
                      <a:headEnd type="none" w="med" len="med"/>
                      <a:tailEnd type="none" w="med" len="med"/>
                    </a:lnL>
                    <a:lnR w="9525">
                      <a:solidFill>
                        <a:srgbClr val="BBBBBB"/>
                      </a:solidFill>
                    </a:lnR>
                    <a:lnT w="9525">
                      <a:solidFill>
                        <a:srgbClr val="BBBBBB"/>
                      </a:solidFill>
                    </a:lnT>
                    <a:lnB w="9525">
                      <a:solidFill>
                        <a:srgbClr val="BBBBBB"/>
                      </a:solidFill>
                    </a:lnB>
                    <a:solidFill>
                      <a:srgbClr val="D9D9D9"/>
                    </a:solidFill>
                  </a:tcPr>
                </a:tc>
                <a:tc>
                  <a:txBody>
                    <a:bodyPr/>
                    <a:lstStyle/>
                    <a:p>
                      <a:pPr algn="ctr"/>
                      <a:r>
                        <a:rPr lang="en-US" sz="1500" b="1">
                          <a:solidFill>
                            <a:srgbClr val="000000"/>
                          </a:solidFill>
                          <a:latin typeface="Calibri" panose="020F0502020204030204" pitchFamily="34" charset="0"/>
                          <a:ea typeface="Calibri"/>
                          <a:cs typeface="Calibri"/>
                        </a:rPr>
                        <a:t>L+C clean sheet</a:t>
                      </a:r>
                      <a:endParaRPr sz="1500" b="1" dirty="0">
                        <a:solidFill>
                          <a:srgbClr val="000000"/>
                        </a:solidFill>
                        <a:latin typeface="Calibri" panose="020F0502020204030204" pitchFamily="34" charset="0"/>
                        <a:ea typeface="Calibri"/>
                        <a:cs typeface="Calibri"/>
                      </a:endParaRPr>
                    </a:p>
                  </a:txBody>
                  <a:tcPr anchor="ctr">
                    <a:lnL w="9525" cap="flat" cmpd="sng" algn="ctr">
                      <a:solidFill>
                        <a:srgbClr val="BBBBBB"/>
                      </a:solidFill>
                      <a:prstDash val="solid"/>
                      <a:round/>
                      <a:headEnd type="none" w="med" len="med"/>
                      <a:tailEnd type="none" w="med" len="med"/>
                    </a:lnL>
                    <a:lnR w="9525">
                      <a:solidFill>
                        <a:srgbClr val="BBBBBB"/>
                      </a:solidFill>
                    </a:lnR>
                    <a:lnT w="9525">
                      <a:solidFill>
                        <a:srgbClr val="BBBBBB"/>
                      </a:solidFill>
                    </a:lnT>
                    <a:lnB w="9525">
                      <a:solidFill>
                        <a:srgbClr val="BBBBBB"/>
                      </a:solidFill>
                    </a:lnB>
                    <a:solidFill>
                      <a:srgbClr val="D9D9D9"/>
                    </a:solidFill>
                  </a:tcPr>
                </a:tc>
                <a:tc>
                  <a:txBody>
                    <a:bodyPr/>
                    <a:lstStyle/>
                    <a:p>
                      <a:pPr algn="ctr"/>
                      <a:r>
                        <a:rPr lang="en-US" sz="1500" b="1" dirty="0">
                          <a:solidFill>
                            <a:srgbClr val="000000"/>
                          </a:solidFill>
                          <a:latin typeface="Calibri" panose="020F0502020204030204" pitchFamily="34" charset="0"/>
                          <a:ea typeface="Calibri"/>
                          <a:cs typeface="Calibri"/>
                        </a:rPr>
                        <a:t>TR Piston</a:t>
                      </a:r>
                      <a:endParaRPr sz="1500" b="1" dirty="0">
                        <a:solidFill>
                          <a:srgbClr val="000000"/>
                        </a:solidFill>
                        <a:latin typeface="Calibri" panose="020F0502020204030204" pitchFamily="34" charset="0"/>
                        <a:ea typeface="Calibri"/>
                        <a:cs typeface="Calibri"/>
                      </a:endParaRPr>
                    </a:p>
                  </a:txBody>
                  <a:tcPr anchor="ctr">
                    <a:lnL w="9525" cap="flat" cmpd="sng" algn="ctr">
                      <a:solidFill>
                        <a:srgbClr val="BBBBBB"/>
                      </a:solidFill>
                      <a:prstDash val="solid"/>
                      <a:round/>
                      <a:headEnd type="none" w="med" len="med"/>
                      <a:tailEnd type="none" w="med" len="med"/>
                    </a:lnL>
                    <a:lnR w="9525">
                      <a:solidFill>
                        <a:srgbClr val="BBBBBB"/>
                      </a:solidFill>
                    </a:lnR>
                    <a:lnT w="9525">
                      <a:solidFill>
                        <a:srgbClr val="BBBBBB"/>
                      </a:solidFill>
                    </a:lnT>
                    <a:lnB w="9525">
                      <a:solidFill>
                        <a:srgbClr val="BBBBBB"/>
                      </a:solidFill>
                    </a:lnB>
                    <a:solidFill>
                      <a:srgbClr val="D9D9D9"/>
                    </a:solidFill>
                  </a:tcPr>
                </a:tc>
                <a:tc>
                  <a:txBody>
                    <a:bodyPr/>
                    <a:lstStyle/>
                    <a:p>
                      <a:pPr algn="ctr"/>
                      <a:r>
                        <a:rPr lang="en-US" sz="1500" b="1" dirty="0">
                          <a:solidFill>
                            <a:srgbClr val="000000"/>
                          </a:solidFill>
                          <a:latin typeface="Calibri" panose="020F0502020204030204" pitchFamily="34" charset="0"/>
                          <a:ea typeface="Calibri"/>
                          <a:cs typeface="Calibri"/>
                        </a:rPr>
                        <a:t>TR Turbo-electric</a:t>
                      </a:r>
                      <a:endParaRPr sz="1500" b="1" dirty="0">
                        <a:solidFill>
                          <a:srgbClr val="000000"/>
                        </a:solidFill>
                        <a:latin typeface="Calibri" panose="020F0502020204030204" pitchFamily="34" charset="0"/>
                        <a:ea typeface="Calibri"/>
                        <a:cs typeface="Calibri"/>
                      </a:endParaRPr>
                    </a:p>
                  </a:txBody>
                  <a:tcPr anchor="ctr">
                    <a:lnL w="9525" cap="flat" cmpd="sng" algn="ctr">
                      <a:solidFill>
                        <a:srgbClr val="BBBBBB"/>
                      </a:solidFill>
                      <a:prstDash val="solid"/>
                      <a:round/>
                      <a:headEnd type="none" w="med" len="med"/>
                      <a:tailEnd type="none" w="med" len="med"/>
                    </a:lnL>
                    <a:lnR w="9525">
                      <a:solidFill>
                        <a:srgbClr val="BBBBBB"/>
                      </a:solidFill>
                    </a:lnR>
                    <a:lnT w="9525">
                      <a:solidFill>
                        <a:srgbClr val="BBBBBB"/>
                      </a:solidFill>
                    </a:lnT>
                    <a:lnB w="9525">
                      <a:solidFill>
                        <a:srgbClr val="BBBBBB"/>
                      </a:solidFill>
                    </a:lnB>
                    <a:solidFill>
                      <a:srgbClr val="D9D9D9"/>
                    </a:solidFill>
                  </a:tcPr>
                </a:tc>
                <a:extLst>
                  <a:ext uri="{0D108BD9-81ED-4DB2-BD59-A6C34878D82A}">
                    <a16:rowId xmlns:a16="http://schemas.microsoft.com/office/drawing/2014/main" val="10000"/>
                  </a:ext>
                </a:extLst>
              </a:tr>
              <a:tr h="452438">
                <a:tc>
                  <a:txBody>
                    <a:bodyPr/>
                    <a:lstStyle/>
                    <a:p>
                      <a:pPr algn="ctr"/>
                      <a:r>
                        <a:rPr lang="en-US" sz="1500" b="1">
                          <a:solidFill>
                            <a:srgbClr val="000000"/>
                          </a:solidFill>
                          <a:latin typeface="Calibri" panose="020F0502020204030204" pitchFamily="34" charset="0"/>
                          <a:ea typeface="Calibri"/>
                          <a:cs typeface="Calibri"/>
                        </a:rPr>
                        <a:t>Gross mass, kg</a:t>
                      </a:r>
                      <a:endParaRPr sz="1500" b="1" dirty="0">
                        <a:solidFill>
                          <a:srgbClr val="000000"/>
                        </a:solidFill>
                        <a:latin typeface="Calibri" panose="020F0502020204030204" pitchFamily="34" charset="0"/>
                        <a:ea typeface="Calibri"/>
                        <a:cs typeface="Calibri"/>
                      </a:endParaRPr>
                    </a:p>
                  </a:txBody>
                  <a:tcPr anchor="ct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pPr algn="ctr"/>
                      <a:r>
                        <a:rPr lang="en-US" sz="1500" b="1">
                          <a:solidFill>
                            <a:srgbClr val="000000"/>
                          </a:solidFill>
                          <a:latin typeface="Calibri" panose="020F0502020204030204" pitchFamily="34" charset="0"/>
                          <a:ea typeface="Calibri"/>
                          <a:cs typeface="Calibri"/>
                        </a:rPr>
                        <a:t>340</a:t>
                      </a:r>
                      <a:endParaRPr sz="1500" b="1" dirty="0">
                        <a:solidFill>
                          <a:srgbClr val="000000"/>
                        </a:solidFill>
                        <a:latin typeface="Calibri" panose="020F0502020204030204" pitchFamily="34" charset="0"/>
                        <a:ea typeface="Calibri"/>
                        <a:cs typeface="Calibri"/>
                      </a:endParaRPr>
                    </a:p>
                  </a:txBody>
                  <a:tcPr anchor="ctr">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3F3F3"/>
                    </a:solidFill>
                  </a:tcPr>
                </a:tc>
                <a:tc>
                  <a:txBody>
                    <a:bodyPr/>
                    <a:lstStyle/>
                    <a:p>
                      <a:pPr algn="ctr"/>
                      <a:r>
                        <a:rPr lang="en-US" sz="1500" b="1">
                          <a:solidFill>
                            <a:srgbClr val="000000"/>
                          </a:solidFill>
                          <a:latin typeface="Calibri" panose="020F0502020204030204" pitchFamily="34" charset="0"/>
                          <a:ea typeface="Calibri"/>
                          <a:cs typeface="Calibri"/>
                        </a:rPr>
                        <a:t>397</a:t>
                      </a:r>
                      <a:endParaRPr sz="1500" b="1" dirty="0">
                        <a:solidFill>
                          <a:srgbClr val="000000"/>
                        </a:solidFill>
                        <a:latin typeface="Calibri" panose="020F0502020204030204" pitchFamily="34" charset="0"/>
                        <a:ea typeface="Calibri"/>
                        <a:cs typeface="Calibri"/>
                      </a:endParaRPr>
                    </a:p>
                  </a:txBody>
                  <a:tcPr anchor="ct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pPr algn="ctr"/>
                      <a:r>
                        <a:rPr lang="en-US" sz="1500" b="1">
                          <a:solidFill>
                            <a:srgbClr val="000000"/>
                          </a:solidFill>
                          <a:latin typeface="Calibri" panose="020F0502020204030204" pitchFamily="34" charset="0"/>
                          <a:ea typeface="Calibri"/>
                          <a:cs typeface="Calibri"/>
                        </a:rPr>
                        <a:t>382</a:t>
                      </a:r>
                      <a:endParaRPr sz="1500" b="1" dirty="0">
                        <a:solidFill>
                          <a:srgbClr val="000000"/>
                        </a:solidFill>
                        <a:latin typeface="Calibri" panose="020F0502020204030204" pitchFamily="34" charset="0"/>
                        <a:ea typeface="Calibri"/>
                        <a:cs typeface="Calibri"/>
                      </a:endParaRPr>
                    </a:p>
                  </a:txBody>
                  <a:tcPr anchor="ct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pPr algn="ctr"/>
                      <a:r>
                        <a:rPr lang="en-US" sz="1500" b="1">
                          <a:solidFill>
                            <a:srgbClr val="000000"/>
                          </a:solidFill>
                          <a:latin typeface="Calibri" panose="020F0502020204030204" pitchFamily="34" charset="0"/>
                          <a:ea typeface="Calibri"/>
                          <a:cs typeface="Calibri"/>
                        </a:rPr>
                        <a:t>296</a:t>
                      </a:r>
                      <a:endParaRPr sz="1500" b="1" dirty="0">
                        <a:solidFill>
                          <a:srgbClr val="000000"/>
                        </a:solidFill>
                        <a:latin typeface="Calibri" panose="020F0502020204030204" pitchFamily="34" charset="0"/>
                        <a:ea typeface="Calibri"/>
                        <a:cs typeface="Calibri"/>
                      </a:endParaRPr>
                    </a:p>
                  </a:txBody>
                  <a:tcPr anchor="ct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pPr algn="ctr"/>
                      <a:r>
                        <a:rPr lang="en-US" sz="1500" b="1">
                          <a:solidFill>
                            <a:srgbClr val="000000"/>
                          </a:solidFill>
                          <a:latin typeface="Calibri" panose="020F0502020204030204" pitchFamily="34" charset="0"/>
                          <a:ea typeface="Calibri"/>
                          <a:cs typeface="Calibri"/>
                        </a:rPr>
                        <a:t>321</a:t>
                      </a:r>
                      <a:endParaRPr sz="1500" b="1" dirty="0">
                        <a:solidFill>
                          <a:srgbClr val="000000"/>
                        </a:solidFill>
                        <a:latin typeface="Calibri" panose="020F0502020204030204" pitchFamily="34" charset="0"/>
                        <a:ea typeface="Calibri"/>
                        <a:cs typeface="Calibri"/>
                      </a:endParaRPr>
                    </a:p>
                  </a:txBody>
                  <a:tcPr anchor="ct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extLst>
                  <a:ext uri="{0D108BD9-81ED-4DB2-BD59-A6C34878D82A}">
                    <a16:rowId xmlns:a16="http://schemas.microsoft.com/office/drawing/2014/main" val="10001"/>
                  </a:ext>
                </a:extLst>
              </a:tr>
              <a:tr h="452438">
                <a:tc>
                  <a:txBody>
                    <a:bodyPr/>
                    <a:lstStyle/>
                    <a:p>
                      <a:pPr algn="ctr"/>
                      <a:r>
                        <a:rPr lang="en-US" sz="1500" b="0">
                          <a:solidFill>
                            <a:srgbClr val="000000"/>
                          </a:solidFill>
                          <a:latin typeface="Calibri" panose="020F0502020204030204" pitchFamily="34" charset="0"/>
                          <a:ea typeface="Calibri"/>
                          <a:cs typeface="Calibri"/>
                        </a:rPr>
                        <a:t>Initial mission fuel, kg</a:t>
                      </a:r>
                      <a:endParaRPr sz="1500" b="0" dirty="0">
                        <a:solidFill>
                          <a:srgbClr val="000000"/>
                        </a:solidFill>
                        <a:latin typeface="Calibri" panose="020F0502020204030204" pitchFamily="34" charset="0"/>
                        <a:ea typeface="Calibri"/>
                        <a:cs typeface="Calibri"/>
                      </a:endParaRPr>
                    </a:p>
                  </a:txBody>
                  <a:tcPr anchor="ctr">
                    <a:lnL w="9525">
                      <a:solidFill>
                        <a:srgbClr val="BBBBBB"/>
                      </a:solidFill>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pPr algn="ctr"/>
                      <a:r>
                        <a:rPr lang="en-US" sz="1500" b="0">
                          <a:solidFill>
                            <a:srgbClr val="000000"/>
                          </a:solidFill>
                          <a:latin typeface="Calibri" panose="020F0502020204030204" pitchFamily="34" charset="0"/>
                          <a:ea typeface="Calibri"/>
                          <a:cs typeface="Calibri"/>
                        </a:rPr>
                        <a:t>35 at takeoff¹</a:t>
                      </a:r>
                      <a:endParaRPr sz="1500" b="0" dirty="0">
                        <a:solidFill>
                          <a:srgbClr val="000000"/>
                        </a:solidFill>
                        <a:latin typeface="Calibri" panose="020F0502020204030204" pitchFamily="34" charset="0"/>
                        <a:ea typeface="Calibri"/>
                        <a:cs typeface="Calibri"/>
                      </a:endParaRPr>
                    </a:p>
                  </a:txBody>
                  <a:tcPr anchor="ctr">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solidFill>
                  </a:tcPr>
                </a:tc>
                <a:tc>
                  <a:txBody>
                    <a:bodyPr/>
                    <a:lstStyle/>
                    <a:p>
                      <a:pPr algn="ctr"/>
                      <a:r>
                        <a:rPr lang="en-US" sz="1500" b="0">
                          <a:solidFill>
                            <a:srgbClr val="000000"/>
                          </a:solidFill>
                          <a:latin typeface="Calibri" panose="020F0502020204030204" pitchFamily="34" charset="0"/>
                          <a:ea typeface="Calibri"/>
                          <a:cs typeface="Calibri"/>
                        </a:rPr>
                        <a:t>31.4</a:t>
                      </a:r>
                      <a:endParaRPr sz="1500" b="0" dirty="0">
                        <a:solidFill>
                          <a:srgbClr val="000000"/>
                        </a:solidFill>
                        <a:latin typeface="Calibri" panose="020F0502020204030204" pitchFamily="34" charset="0"/>
                        <a:ea typeface="Calibri"/>
                        <a:cs typeface="Calibri"/>
                      </a:endParaRPr>
                    </a:p>
                  </a:txBody>
                  <a:tcPr anchor="ctr">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pPr algn="ctr"/>
                      <a:r>
                        <a:rPr lang="en-US" sz="1500" b="0">
                          <a:solidFill>
                            <a:srgbClr val="000000"/>
                          </a:solidFill>
                          <a:latin typeface="Calibri" panose="020F0502020204030204" pitchFamily="34" charset="0"/>
                          <a:ea typeface="Calibri"/>
                          <a:cs typeface="Calibri"/>
                        </a:rPr>
                        <a:t>33.1</a:t>
                      </a:r>
                      <a:endParaRPr sz="1500" b="0" dirty="0">
                        <a:solidFill>
                          <a:srgbClr val="000000"/>
                        </a:solidFill>
                        <a:latin typeface="Calibri" panose="020F0502020204030204" pitchFamily="34" charset="0"/>
                        <a:ea typeface="Calibri"/>
                        <a:cs typeface="Calibri"/>
                      </a:endParaRPr>
                    </a:p>
                  </a:txBody>
                  <a:tcPr anchor="ctr">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pPr algn="ctr"/>
                      <a:r>
                        <a:rPr lang="en-US" sz="1500" b="0">
                          <a:solidFill>
                            <a:srgbClr val="000000"/>
                          </a:solidFill>
                          <a:latin typeface="Calibri" panose="020F0502020204030204" pitchFamily="34" charset="0"/>
                          <a:ea typeface="Calibri"/>
                          <a:cs typeface="Calibri"/>
                        </a:rPr>
                        <a:t>38.8</a:t>
                      </a:r>
                      <a:endParaRPr sz="1500" b="0" dirty="0">
                        <a:solidFill>
                          <a:srgbClr val="000000"/>
                        </a:solidFill>
                        <a:latin typeface="Calibri" panose="020F0502020204030204" pitchFamily="34" charset="0"/>
                        <a:ea typeface="Calibri"/>
                        <a:cs typeface="Calibri"/>
                      </a:endParaRPr>
                    </a:p>
                  </a:txBody>
                  <a:tcPr anchor="ctr">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pPr algn="ctr"/>
                      <a:r>
                        <a:rPr lang="en-US" sz="1500" b="0">
                          <a:solidFill>
                            <a:srgbClr val="000000"/>
                          </a:solidFill>
                          <a:latin typeface="Calibri" panose="020F0502020204030204" pitchFamily="34" charset="0"/>
                          <a:ea typeface="Calibri"/>
                          <a:cs typeface="Calibri"/>
                        </a:rPr>
                        <a:t>44.7</a:t>
                      </a:r>
                      <a:endParaRPr sz="1500" b="0" dirty="0">
                        <a:solidFill>
                          <a:srgbClr val="000000"/>
                        </a:solidFill>
                        <a:latin typeface="Calibri" panose="020F0502020204030204" pitchFamily="34" charset="0"/>
                        <a:ea typeface="Calibri"/>
                        <a:cs typeface="Calibri"/>
                      </a:endParaRPr>
                    </a:p>
                  </a:txBody>
                  <a:tcPr anchor="ct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extLst>
                  <a:ext uri="{0D108BD9-81ED-4DB2-BD59-A6C34878D82A}">
                    <a16:rowId xmlns:a16="http://schemas.microsoft.com/office/drawing/2014/main" val="10002"/>
                  </a:ext>
                </a:extLst>
              </a:tr>
              <a:tr h="452438">
                <a:tc>
                  <a:txBody>
                    <a:bodyPr/>
                    <a:lstStyle/>
                    <a:p>
                      <a:pPr algn="ctr"/>
                      <a:r>
                        <a:rPr lang="en-US" sz="1500" b="0">
                          <a:solidFill>
                            <a:srgbClr val="000000"/>
                          </a:solidFill>
                          <a:latin typeface="Calibri" panose="020F0502020204030204" pitchFamily="34" charset="0"/>
                          <a:ea typeface="Calibri"/>
                          <a:cs typeface="Calibri"/>
                        </a:rPr>
                        <a:t>Main lift battery, kWh / kg</a:t>
                      </a:r>
                      <a:endParaRPr sz="1500" b="0">
                        <a:solidFill>
                          <a:srgbClr val="000000"/>
                        </a:solidFill>
                        <a:latin typeface="Calibri" panose="020F0502020204030204" pitchFamily="34" charset="0"/>
                        <a:ea typeface="Calibri"/>
                        <a:cs typeface="Calibri"/>
                      </a:endParaRPr>
                    </a:p>
                  </a:txBody>
                  <a:tcPr anchor="ct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pPr algn="ctr"/>
                      <a:r>
                        <a:rPr lang="en-US" sz="1500" b="0">
                          <a:solidFill>
                            <a:srgbClr val="000000"/>
                          </a:solidFill>
                          <a:latin typeface="Calibri" panose="020F0502020204030204" pitchFamily="34" charset="0"/>
                          <a:ea typeface="Calibri"/>
                          <a:cs typeface="Calibri"/>
                        </a:rPr>
                        <a:t>Unconfirmed split</a:t>
                      </a:r>
                      <a:endParaRPr sz="1500" b="0" dirty="0">
                        <a:solidFill>
                          <a:srgbClr val="000000"/>
                        </a:solidFill>
                        <a:latin typeface="Calibri" panose="020F0502020204030204" pitchFamily="34" charset="0"/>
                        <a:ea typeface="Calibri"/>
                        <a:cs typeface="Calibri"/>
                      </a:endParaRPr>
                    </a:p>
                  </a:txBody>
                  <a:tcPr anchor="ctr">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3F3F3"/>
                    </a:solidFill>
                  </a:tcPr>
                </a:tc>
                <a:tc>
                  <a:txBody>
                    <a:bodyPr/>
                    <a:lstStyle/>
                    <a:p>
                      <a:pPr algn="ctr"/>
                      <a:r>
                        <a:rPr lang="en-US" sz="1500" b="0">
                          <a:solidFill>
                            <a:srgbClr val="000000"/>
                          </a:solidFill>
                          <a:latin typeface="Calibri" panose="020F0502020204030204" pitchFamily="34" charset="0"/>
                          <a:ea typeface="Calibri"/>
                          <a:cs typeface="Calibri"/>
                        </a:rPr>
                        <a:t>13.41 / 73.7</a:t>
                      </a:r>
                      <a:endParaRPr sz="1500" b="0" dirty="0">
                        <a:solidFill>
                          <a:srgbClr val="000000"/>
                        </a:solidFill>
                        <a:latin typeface="Calibri" panose="020F0502020204030204" pitchFamily="34" charset="0"/>
                        <a:ea typeface="Calibri"/>
                        <a:cs typeface="Calibri"/>
                      </a:endParaRPr>
                    </a:p>
                  </a:txBody>
                  <a:tcPr anchor="ct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pPr algn="ctr"/>
                      <a:r>
                        <a:rPr lang="en-US" sz="1500" b="0">
                          <a:solidFill>
                            <a:srgbClr val="000000"/>
                          </a:solidFill>
                          <a:latin typeface="Calibri" panose="020F0502020204030204" pitchFamily="34" charset="0"/>
                          <a:ea typeface="Calibri"/>
                          <a:cs typeface="Calibri"/>
                        </a:rPr>
                        <a:t>9.22 / 50.7</a:t>
                      </a:r>
                      <a:endParaRPr sz="1500" b="0" dirty="0">
                        <a:solidFill>
                          <a:srgbClr val="000000"/>
                        </a:solidFill>
                        <a:latin typeface="Calibri" panose="020F0502020204030204" pitchFamily="34" charset="0"/>
                        <a:ea typeface="Calibri"/>
                        <a:cs typeface="Calibri"/>
                      </a:endParaRPr>
                    </a:p>
                  </a:txBody>
                  <a:tcPr anchor="ct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pPr algn="ctr"/>
                      <a:r>
                        <a:rPr lang="en-US" sz="1500" b="0">
                          <a:solidFill>
                            <a:srgbClr val="000000"/>
                          </a:solidFill>
                          <a:latin typeface="Calibri" panose="020F0502020204030204" pitchFamily="34" charset="0"/>
                          <a:ea typeface="Calibri"/>
                          <a:cs typeface="Calibri"/>
                        </a:rPr>
                        <a:t>None</a:t>
                      </a:r>
                      <a:endParaRPr sz="1500" b="0">
                        <a:solidFill>
                          <a:srgbClr val="000000"/>
                        </a:solidFill>
                        <a:latin typeface="Calibri" panose="020F0502020204030204" pitchFamily="34" charset="0"/>
                        <a:ea typeface="Calibri"/>
                        <a:cs typeface="Calibri"/>
                      </a:endParaRPr>
                    </a:p>
                  </a:txBody>
                  <a:tcPr anchor="ct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pPr algn="ctr"/>
                      <a:r>
                        <a:rPr lang="en-US" sz="1500" b="0">
                          <a:solidFill>
                            <a:srgbClr val="000000"/>
                          </a:solidFill>
                          <a:latin typeface="Calibri" panose="020F0502020204030204" pitchFamily="34" charset="0"/>
                          <a:ea typeface="Calibri"/>
                          <a:cs typeface="Calibri"/>
                        </a:rPr>
                        <a:t>None</a:t>
                      </a:r>
                      <a:endParaRPr sz="1500" b="0">
                        <a:solidFill>
                          <a:srgbClr val="000000"/>
                        </a:solidFill>
                        <a:latin typeface="Calibri" panose="020F0502020204030204" pitchFamily="34" charset="0"/>
                        <a:ea typeface="Calibri"/>
                        <a:cs typeface="Calibri"/>
                      </a:endParaRPr>
                    </a:p>
                  </a:txBody>
                  <a:tcPr anchor="ct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extLst>
                  <a:ext uri="{0D108BD9-81ED-4DB2-BD59-A6C34878D82A}">
                    <a16:rowId xmlns:a16="http://schemas.microsoft.com/office/drawing/2014/main" val="10003"/>
                  </a:ext>
                </a:extLst>
              </a:tr>
              <a:tr h="452438">
                <a:tc>
                  <a:txBody>
                    <a:bodyPr/>
                    <a:lstStyle/>
                    <a:p>
                      <a:pPr algn="ctr"/>
                      <a:r>
                        <a:rPr lang="en-US" sz="1500" b="0">
                          <a:solidFill>
                            <a:srgbClr val="000000"/>
                          </a:solidFill>
                          <a:latin typeface="Calibri" panose="020F0502020204030204" pitchFamily="34" charset="0"/>
                          <a:ea typeface="Calibri"/>
                          <a:cs typeface="Calibri"/>
                        </a:rPr>
                        <a:t>Wing span, m</a:t>
                      </a:r>
                      <a:endParaRPr sz="1500" b="0" dirty="0">
                        <a:solidFill>
                          <a:srgbClr val="000000"/>
                        </a:solidFill>
                        <a:latin typeface="Calibri" panose="020F0502020204030204" pitchFamily="34" charset="0"/>
                        <a:ea typeface="Calibri"/>
                        <a:cs typeface="Calibri"/>
                      </a:endParaRPr>
                    </a:p>
                  </a:txBody>
                  <a:tcPr anchor="ct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pPr algn="ctr"/>
                      <a:r>
                        <a:rPr lang="en-US" sz="1500" b="0">
                          <a:solidFill>
                            <a:srgbClr val="000000"/>
                          </a:solidFill>
                          <a:latin typeface="Calibri" panose="020F0502020204030204" pitchFamily="34" charset="0"/>
                          <a:ea typeface="Calibri"/>
                          <a:cs typeface="Calibri"/>
                        </a:rPr>
                        <a:t>7.00</a:t>
                      </a:r>
                      <a:endParaRPr sz="1500" b="0" dirty="0">
                        <a:solidFill>
                          <a:srgbClr val="000000"/>
                        </a:solidFill>
                        <a:latin typeface="Calibri" panose="020F0502020204030204" pitchFamily="34" charset="0"/>
                        <a:ea typeface="Calibri"/>
                        <a:cs typeface="Calibri"/>
                      </a:endParaRPr>
                    </a:p>
                  </a:txBody>
                  <a:tcPr anchor="ctr">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solidFill>
                  </a:tcPr>
                </a:tc>
                <a:tc>
                  <a:txBody>
                    <a:bodyPr/>
                    <a:lstStyle/>
                    <a:p>
                      <a:pPr algn="ctr"/>
                      <a:r>
                        <a:rPr lang="en-US" sz="1500" b="0">
                          <a:solidFill>
                            <a:srgbClr val="000000"/>
                          </a:solidFill>
                          <a:latin typeface="Calibri" panose="020F0502020204030204" pitchFamily="34" charset="0"/>
                          <a:ea typeface="Calibri"/>
                          <a:cs typeface="Calibri"/>
                        </a:rPr>
                        <a:t>7.00 fixed</a:t>
                      </a:r>
                      <a:endParaRPr sz="1500" b="0" dirty="0">
                        <a:solidFill>
                          <a:srgbClr val="000000"/>
                        </a:solidFill>
                        <a:latin typeface="Calibri" panose="020F0502020204030204" pitchFamily="34" charset="0"/>
                        <a:ea typeface="Calibri"/>
                        <a:cs typeface="Calibri"/>
                      </a:endParaRPr>
                    </a:p>
                  </a:txBody>
                  <a:tcPr anchor="ct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pPr algn="ctr"/>
                      <a:r>
                        <a:rPr lang="en-US" sz="1500" b="0">
                          <a:solidFill>
                            <a:srgbClr val="000000"/>
                          </a:solidFill>
                          <a:latin typeface="Calibri" panose="020F0502020204030204" pitchFamily="34" charset="0"/>
                          <a:ea typeface="Calibri"/>
                          <a:cs typeface="Calibri"/>
                        </a:rPr>
                        <a:t>7.00</a:t>
                      </a:r>
                      <a:endParaRPr sz="1500" b="0" dirty="0">
                        <a:solidFill>
                          <a:srgbClr val="000000"/>
                        </a:solidFill>
                        <a:latin typeface="Calibri" panose="020F0502020204030204" pitchFamily="34" charset="0"/>
                        <a:ea typeface="Calibri"/>
                        <a:cs typeface="Calibri"/>
                      </a:endParaRPr>
                    </a:p>
                  </a:txBody>
                  <a:tcPr anchor="ct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pPr algn="ctr"/>
                      <a:r>
                        <a:rPr lang="en-US" sz="1500" b="0">
                          <a:solidFill>
                            <a:srgbClr val="000000"/>
                          </a:solidFill>
                          <a:latin typeface="Calibri" panose="020F0502020204030204" pitchFamily="34" charset="0"/>
                          <a:ea typeface="Calibri"/>
                          <a:cs typeface="Calibri"/>
                        </a:rPr>
                        <a:t>4.80</a:t>
                      </a:r>
                      <a:endParaRPr sz="1500" b="0" dirty="0">
                        <a:solidFill>
                          <a:srgbClr val="000000"/>
                        </a:solidFill>
                        <a:latin typeface="Calibri" panose="020F0502020204030204" pitchFamily="34" charset="0"/>
                        <a:ea typeface="Calibri"/>
                        <a:cs typeface="Calibri"/>
                      </a:endParaRPr>
                    </a:p>
                  </a:txBody>
                  <a:tcPr anchor="ct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pPr algn="ctr"/>
                      <a:r>
                        <a:rPr lang="en-US" sz="1500" b="0">
                          <a:solidFill>
                            <a:srgbClr val="000000"/>
                          </a:solidFill>
                          <a:latin typeface="Calibri" panose="020F0502020204030204" pitchFamily="34" charset="0"/>
                          <a:ea typeface="Calibri"/>
                          <a:cs typeface="Calibri"/>
                        </a:rPr>
                        <a:t>5.14</a:t>
                      </a:r>
                      <a:endParaRPr sz="1500" b="0">
                        <a:solidFill>
                          <a:srgbClr val="000000"/>
                        </a:solidFill>
                        <a:latin typeface="Calibri" panose="020F0502020204030204" pitchFamily="34" charset="0"/>
                        <a:ea typeface="Calibri"/>
                        <a:cs typeface="Calibri"/>
                      </a:endParaRPr>
                    </a:p>
                  </a:txBody>
                  <a:tcPr anchor="ct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extLst>
                  <a:ext uri="{0D108BD9-81ED-4DB2-BD59-A6C34878D82A}">
                    <a16:rowId xmlns:a16="http://schemas.microsoft.com/office/drawing/2014/main" val="10004"/>
                  </a:ext>
                </a:extLst>
              </a:tr>
              <a:tr h="452438">
                <a:tc>
                  <a:txBody>
                    <a:bodyPr/>
                    <a:lstStyle/>
                    <a:p>
                      <a:pPr algn="ctr"/>
                      <a:r>
                        <a:rPr lang="en-US" sz="1500" b="0">
                          <a:solidFill>
                            <a:srgbClr val="000000"/>
                          </a:solidFill>
                          <a:latin typeface="Calibri" panose="020F0502020204030204" pitchFamily="34" charset="0"/>
                          <a:ea typeface="Calibri"/>
                          <a:cs typeface="Calibri"/>
                        </a:rPr>
                        <a:t>Rotor diameter, m</a:t>
                      </a:r>
                      <a:endParaRPr sz="1500" b="0" dirty="0">
                        <a:solidFill>
                          <a:srgbClr val="000000"/>
                        </a:solidFill>
                        <a:latin typeface="Calibri" panose="020F0502020204030204" pitchFamily="34" charset="0"/>
                        <a:ea typeface="Calibri"/>
                        <a:cs typeface="Calibri"/>
                      </a:endParaRPr>
                    </a:p>
                  </a:txBody>
                  <a:tcPr anchor="ct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pPr algn="ctr"/>
                      <a:r>
                        <a:rPr lang="en-US" sz="1500" b="0">
                          <a:solidFill>
                            <a:srgbClr val="000000"/>
                          </a:solidFill>
                          <a:latin typeface="Calibri" panose="020F0502020204030204" pitchFamily="34" charset="0"/>
                          <a:ea typeface="Calibri"/>
                          <a:cs typeface="Calibri"/>
                        </a:rPr>
                        <a:t>1.50</a:t>
                      </a:r>
                      <a:endParaRPr sz="1500" b="0" dirty="0">
                        <a:solidFill>
                          <a:srgbClr val="000000"/>
                        </a:solidFill>
                        <a:latin typeface="Calibri" panose="020F0502020204030204" pitchFamily="34" charset="0"/>
                        <a:ea typeface="Calibri"/>
                        <a:cs typeface="Calibri"/>
                      </a:endParaRPr>
                    </a:p>
                  </a:txBody>
                  <a:tcPr anchor="ctr">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3F3F3"/>
                    </a:solidFill>
                  </a:tcPr>
                </a:tc>
                <a:tc>
                  <a:txBody>
                    <a:bodyPr/>
                    <a:lstStyle/>
                    <a:p>
                      <a:pPr algn="ctr"/>
                      <a:r>
                        <a:rPr lang="en-US" sz="1500" b="0">
                          <a:solidFill>
                            <a:srgbClr val="000000"/>
                          </a:solidFill>
                          <a:latin typeface="Calibri" panose="020F0502020204030204" pitchFamily="34" charset="0"/>
                          <a:ea typeface="Calibri"/>
                          <a:cs typeface="Calibri"/>
                        </a:rPr>
                        <a:t>1.50 fixed</a:t>
                      </a:r>
                      <a:endParaRPr sz="1500" b="0" dirty="0">
                        <a:solidFill>
                          <a:srgbClr val="000000"/>
                        </a:solidFill>
                        <a:latin typeface="Calibri" panose="020F0502020204030204" pitchFamily="34" charset="0"/>
                        <a:ea typeface="Calibri"/>
                        <a:cs typeface="Calibri"/>
                      </a:endParaRPr>
                    </a:p>
                  </a:txBody>
                  <a:tcPr anchor="ct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pPr algn="ctr"/>
                      <a:r>
                        <a:rPr lang="en-US" sz="1500" b="0">
                          <a:solidFill>
                            <a:srgbClr val="000000"/>
                          </a:solidFill>
                          <a:latin typeface="Calibri" panose="020F0502020204030204" pitchFamily="34" charset="0"/>
                          <a:ea typeface="Calibri"/>
                          <a:cs typeface="Calibri"/>
                        </a:rPr>
                        <a:t>2.16</a:t>
                      </a:r>
                      <a:endParaRPr sz="1500" b="0" dirty="0">
                        <a:solidFill>
                          <a:srgbClr val="000000"/>
                        </a:solidFill>
                        <a:latin typeface="Calibri" panose="020F0502020204030204" pitchFamily="34" charset="0"/>
                        <a:ea typeface="Calibri"/>
                        <a:cs typeface="Calibri"/>
                      </a:endParaRPr>
                    </a:p>
                  </a:txBody>
                  <a:tcPr anchor="ct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pPr algn="ctr"/>
                      <a:r>
                        <a:rPr lang="en-US" sz="1500" b="0">
                          <a:solidFill>
                            <a:srgbClr val="000000"/>
                          </a:solidFill>
                          <a:latin typeface="Calibri" panose="020F0502020204030204" pitchFamily="34" charset="0"/>
                          <a:ea typeface="Calibri"/>
                          <a:cs typeface="Calibri"/>
                        </a:rPr>
                        <a:t>3.07</a:t>
                      </a:r>
                      <a:endParaRPr sz="1500" b="0" dirty="0">
                        <a:solidFill>
                          <a:srgbClr val="000000"/>
                        </a:solidFill>
                        <a:latin typeface="Calibri" panose="020F0502020204030204" pitchFamily="34" charset="0"/>
                        <a:ea typeface="Calibri"/>
                        <a:cs typeface="Calibri"/>
                      </a:endParaRPr>
                    </a:p>
                  </a:txBody>
                  <a:tcPr anchor="ct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pPr algn="ctr"/>
                      <a:r>
                        <a:rPr lang="en-US" sz="1500" b="0">
                          <a:solidFill>
                            <a:srgbClr val="000000"/>
                          </a:solidFill>
                          <a:latin typeface="Calibri" panose="020F0502020204030204" pitchFamily="34" charset="0"/>
                          <a:ea typeface="Calibri"/>
                          <a:cs typeface="Calibri"/>
                        </a:rPr>
                        <a:t>2.61</a:t>
                      </a:r>
                      <a:endParaRPr sz="1500" b="0" dirty="0">
                        <a:solidFill>
                          <a:srgbClr val="000000"/>
                        </a:solidFill>
                        <a:latin typeface="Calibri" panose="020F0502020204030204" pitchFamily="34" charset="0"/>
                        <a:ea typeface="Calibri"/>
                        <a:cs typeface="Calibri"/>
                      </a:endParaRPr>
                    </a:p>
                  </a:txBody>
                  <a:tcPr anchor="ct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extLst>
                  <a:ext uri="{0D108BD9-81ED-4DB2-BD59-A6C34878D82A}">
                    <a16:rowId xmlns:a16="http://schemas.microsoft.com/office/drawing/2014/main" val="10005"/>
                  </a:ext>
                </a:extLst>
              </a:tr>
              <a:tr h="452438">
                <a:tc>
                  <a:txBody>
                    <a:bodyPr/>
                    <a:lstStyle/>
                    <a:p>
                      <a:pPr algn="ctr"/>
                      <a:r>
                        <a:rPr lang="en-US" sz="1500" b="0">
                          <a:solidFill>
                            <a:srgbClr val="000000"/>
                          </a:solidFill>
                          <a:latin typeface="Calibri" panose="020F0502020204030204" pitchFamily="34" charset="0"/>
                          <a:ea typeface="Calibri"/>
                          <a:cs typeface="Calibri"/>
                        </a:rPr>
                        <a:t>Engine / shaft limit, kW</a:t>
                      </a:r>
                      <a:endParaRPr sz="1500" b="0">
                        <a:solidFill>
                          <a:srgbClr val="000000"/>
                        </a:solidFill>
                        <a:latin typeface="Calibri" panose="020F0502020204030204" pitchFamily="34" charset="0"/>
                        <a:ea typeface="Calibri"/>
                        <a:cs typeface="Calibri"/>
                      </a:endParaRPr>
                    </a:p>
                  </a:txBody>
                  <a:tcPr anchor="ct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pPr algn="ctr"/>
                      <a:r>
                        <a:rPr lang="en-US" sz="1500" b="0">
                          <a:solidFill>
                            <a:srgbClr val="000000"/>
                          </a:solidFill>
                          <a:latin typeface="Calibri" panose="020F0502020204030204" pitchFamily="34" charset="0"/>
                          <a:ea typeface="Calibri"/>
                          <a:cs typeface="Calibri"/>
                        </a:rPr>
                        <a:t>Reference pending</a:t>
                      </a:r>
                      <a:endParaRPr sz="1500" b="0" dirty="0">
                        <a:solidFill>
                          <a:srgbClr val="000000"/>
                        </a:solidFill>
                        <a:latin typeface="Calibri" panose="020F0502020204030204" pitchFamily="34" charset="0"/>
                        <a:ea typeface="Calibri"/>
                        <a:cs typeface="Calibri"/>
                      </a:endParaRPr>
                    </a:p>
                  </a:txBody>
                  <a:tcPr anchor="ctr">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solidFill>
                  </a:tcPr>
                </a:tc>
                <a:tc>
                  <a:txBody>
                    <a:bodyPr/>
                    <a:lstStyle/>
                    <a:p>
                      <a:pPr algn="ctr"/>
                      <a:r>
                        <a:rPr lang="en-US" sz="1500" b="0">
                          <a:solidFill>
                            <a:srgbClr val="000000"/>
                          </a:solidFill>
                          <a:latin typeface="Calibri" panose="020F0502020204030204" pitchFamily="34" charset="0"/>
                          <a:ea typeface="Calibri"/>
                          <a:cs typeface="Calibri"/>
                        </a:rPr>
                        <a:t>52.2 MCP / 34 cap</a:t>
                      </a:r>
                      <a:endParaRPr sz="1500" b="0">
                        <a:solidFill>
                          <a:srgbClr val="000000"/>
                        </a:solidFill>
                        <a:latin typeface="Calibri" panose="020F0502020204030204" pitchFamily="34" charset="0"/>
                        <a:ea typeface="Calibri"/>
                        <a:cs typeface="Calibri"/>
                      </a:endParaRPr>
                    </a:p>
                  </a:txBody>
                  <a:tcPr anchor="ct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pPr algn="ctr"/>
                      <a:r>
                        <a:rPr lang="en-US" sz="1500" b="0">
                          <a:solidFill>
                            <a:srgbClr val="000000"/>
                          </a:solidFill>
                          <a:latin typeface="Calibri" panose="020F0502020204030204" pitchFamily="34" charset="0"/>
                          <a:ea typeface="Calibri"/>
                          <a:cs typeface="Calibri"/>
                        </a:rPr>
                        <a:t>52.2 MCP / 34 cap</a:t>
                      </a:r>
                      <a:endParaRPr sz="1500" b="0">
                        <a:solidFill>
                          <a:srgbClr val="000000"/>
                        </a:solidFill>
                        <a:latin typeface="Calibri" panose="020F0502020204030204" pitchFamily="34" charset="0"/>
                        <a:ea typeface="Calibri"/>
                        <a:cs typeface="Calibri"/>
                      </a:endParaRPr>
                    </a:p>
                  </a:txBody>
                  <a:tcPr anchor="ct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pPr algn="ctr"/>
                      <a:r>
                        <a:rPr lang="en-US" sz="1500" b="0">
                          <a:solidFill>
                            <a:srgbClr val="000000"/>
                          </a:solidFill>
                          <a:latin typeface="Calibri" panose="020F0502020204030204" pitchFamily="34" charset="0"/>
                          <a:ea typeface="Calibri"/>
                          <a:cs typeface="Calibri"/>
                        </a:rPr>
                        <a:t>51.7 nominal</a:t>
                      </a:r>
                      <a:endParaRPr sz="1500" b="0" dirty="0">
                        <a:solidFill>
                          <a:srgbClr val="000000"/>
                        </a:solidFill>
                        <a:latin typeface="Calibri" panose="020F0502020204030204" pitchFamily="34" charset="0"/>
                        <a:ea typeface="Calibri"/>
                        <a:cs typeface="Calibri"/>
                      </a:endParaRPr>
                    </a:p>
                  </a:txBody>
                  <a:tcPr anchor="ct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pPr algn="ctr"/>
                      <a:r>
                        <a:rPr lang="en-US" sz="1500" b="0" dirty="0">
                          <a:solidFill>
                            <a:srgbClr val="000000"/>
                          </a:solidFill>
                          <a:latin typeface="Calibri" panose="020F0502020204030204" pitchFamily="34" charset="0"/>
                          <a:ea typeface="Calibri"/>
                          <a:cs typeface="Calibri"/>
                        </a:rPr>
                        <a:t>75.0 nominal</a:t>
                      </a:r>
                      <a:endParaRPr sz="1500" b="0" dirty="0">
                        <a:solidFill>
                          <a:srgbClr val="000000"/>
                        </a:solidFill>
                        <a:latin typeface="Calibri" panose="020F0502020204030204" pitchFamily="34" charset="0"/>
                        <a:ea typeface="Calibri"/>
                        <a:cs typeface="Calibri"/>
                      </a:endParaRPr>
                    </a:p>
                  </a:txBody>
                  <a:tcPr anchor="ct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extLst>
                  <a:ext uri="{0D108BD9-81ED-4DB2-BD59-A6C34878D82A}">
                    <a16:rowId xmlns:a16="http://schemas.microsoft.com/office/drawing/2014/main" val="10006"/>
                  </a:ext>
                </a:extLst>
              </a:tr>
            </a:tbl>
          </a:graphicData>
        </a:graphic>
      </p:graphicFrame>
      <p:sp>
        <p:nvSpPr>
          <p:cNvPr id="7" name="Rectangle 6">
            <a:extLst>
              <a:ext uri="{FF2B5EF4-FFF2-40B4-BE49-F238E27FC236}">
                <a16:creationId xmlns:a16="http://schemas.microsoft.com/office/drawing/2014/main" id="{F4B352BF-C9BE-7B80-AA29-B4786D458477}"/>
              </a:ext>
            </a:extLst>
          </p:cNvPr>
          <p:cNvSpPr>
            <a:spLocks noGrp="1"/>
          </p:cNvSpPr>
          <p:nvPr/>
        </p:nvSpPr>
        <p:spPr>
          <a:xfrm>
            <a:off x="476250" y="5953125"/>
            <a:ext cx="11239500" cy="323850"/>
          </a:xfrm>
          <a:prstGeom prst="rect">
            <a:avLst/>
          </a:prstGeom>
          <a:noFill/>
          <a:ln w="0">
            <a:noFill/>
            <a:prstDash val="solid"/>
          </a:ln>
        </p:spPr>
        <p:txBody>
          <a:bodyPr lIns="0" tIns="0" rIns="0" bIns="0"/>
          <a:lstStyle>
            <a:defPPr>
              <a:defRPr sz="1200" b="0">
                <a:solidFill>
                  <a:srgbClr val="444444"/>
                </a:solidFill>
                <a:latin typeface="Calibri"/>
                <a:ea typeface="Calibri"/>
                <a:cs typeface="Calibri"/>
              </a:defRPr>
            </a:defPPr>
            <a:lvl1pPr>
              <a:defRPr sz="1200" b="0">
                <a:solidFill>
                  <a:srgbClr val="444444"/>
                </a:solidFill>
                <a:latin typeface="Calibri"/>
                <a:ea typeface="Calibri"/>
                <a:cs typeface="Calibri"/>
              </a:defRPr>
            </a:lvl1pPr>
            <a:lvl2pPr>
              <a:defRPr sz="1200" b="0">
                <a:solidFill>
                  <a:srgbClr val="444444"/>
                </a:solidFill>
                <a:latin typeface="Calibri"/>
                <a:ea typeface="Calibri"/>
                <a:cs typeface="Calibri"/>
              </a:defRPr>
            </a:lvl2pPr>
            <a:lvl3pPr>
              <a:defRPr sz="1200" b="0">
                <a:solidFill>
                  <a:srgbClr val="444444"/>
                </a:solidFill>
                <a:latin typeface="Calibri"/>
                <a:ea typeface="Calibri"/>
                <a:cs typeface="Calibri"/>
              </a:defRPr>
            </a:lvl3pPr>
            <a:lvl4pPr>
              <a:defRPr sz="1200" b="0">
                <a:solidFill>
                  <a:srgbClr val="444444"/>
                </a:solidFill>
                <a:latin typeface="Calibri"/>
                <a:ea typeface="Calibri"/>
                <a:cs typeface="Calibri"/>
              </a:defRPr>
            </a:lvl4pPr>
            <a:lvl5pPr>
              <a:defRPr sz="1200" b="0">
                <a:solidFill>
                  <a:srgbClr val="444444"/>
                </a:solidFill>
                <a:latin typeface="Calibri"/>
                <a:ea typeface="Calibri"/>
                <a:cs typeface="Calibri"/>
              </a:defRPr>
            </a:lvl5pPr>
            <a:lvl6pPr>
              <a:defRPr sz="1200" b="0">
                <a:solidFill>
                  <a:srgbClr val="444444"/>
                </a:solidFill>
                <a:latin typeface="Calibri"/>
                <a:ea typeface="Calibri"/>
                <a:cs typeface="Calibri"/>
              </a:defRPr>
            </a:lvl6pPr>
            <a:lvl7pPr>
              <a:defRPr sz="1200" b="0">
                <a:solidFill>
                  <a:srgbClr val="444444"/>
                </a:solidFill>
                <a:latin typeface="Calibri"/>
                <a:ea typeface="Calibri"/>
                <a:cs typeface="Calibri"/>
              </a:defRPr>
            </a:lvl7pPr>
            <a:lvl8pPr>
              <a:defRPr sz="1200" b="0">
                <a:solidFill>
                  <a:srgbClr val="444444"/>
                </a:solidFill>
                <a:latin typeface="Calibri"/>
                <a:ea typeface="Calibri"/>
                <a:cs typeface="Calibri"/>
              </a:defRPr>
            </a:lvl8pPr>
            <a:lvl9pPr>
              <a:defRPr sz="1200" b="0">
                <a:solidFill>
                  <a:srgbClr val="444444"/>
                </a:solidFill>
                <a:latin typeface="Calibri"/>
                <a:ea typeface="Calibri"/>
                <a:cs typeface="Calibri"/>
              </a:defRPr>
            </a:lvl9pPr>
          </a:lstStyle>
          <a:p>
            <a:pPr>
              <a:defRPr sz="1200" b="0">
                <a:solidFill>
                  <a:srgbClr val="444444"/>
                </a:solidFill>
                <a:latin typeface="Calibri"/>
                <a:ea typeface="Calibri"/>
                <a:cs typeface="Calibri"/>
              </a:defRPr>
            </a:pPr>
            <a:endParaRPr>
              <a:latin typeface="Calibri" panose="020F0502020204030204" pitchFamily="34" charset="0"/>
            </a:endParaRPr>
          </a:p>
        </p:txBody>
      </p:sp>
      <p:sp>
        <p:nvSpPr>
          <p:cNvPr id="3" name="TextBox 2">
            <a:extLst>
              <a:ext uri="{FF2B5EF4-FFF2-40B4-BE49-F238E27FC236}">
                <a16:creationId xmlns:a16="http://schemas.microsoft.com/office/drawing/2014/main" id="{3CFE2C0B-F794-5E07-4935-62EC6646C7F5}"/>
              </a:ext>
            </a:extLst>
          </p:cNvPr>
          <p:cNvSpPr txBox="1"/>
          <p:nvPr/>
        </p:nvSpPr>
        <p:spPr>
          <a:xfrm>
            <a:off x="476250" y="6400800"/>
            <a:ext cx="11074400" cy="323165"/>
          </a:xfrm>
          <a:prstGeom prst="rect">
            <a:avLst/>
          </a:prstGeom>
          <a:noFill/>
        </p:spPr>
        <p:txBody>
          <a:bodyPr vert="horz" lIns="0" tIns="0" rIns="0" bIns="0" rtlCol="0">
            <a:spAutoFit/>
          </a:bodyPr>
          <a:lstStyle/>
          <a:p>
            <a:r>
              <a:rPr lang="en-US" sz="1050">
                <a:solidFill>
                  <a:srgbClr val="000000"/>
                </a:solidFill>
                <a:latin typeface="Calibri" panose="020F0502020204030204" pitchFamily="34" charset="0"/>
              </a:rPr>
              <a:t>[S7] Logged corrected sizing, 28 Oct 2026. Rounded gross masses retain the user table format.
¹ [U1] Baseline: 37 kg usable ground fuel − 2 kg ground burn = 35 kg takeoff fuel; baseline component ledger still differs by 6.58 kg.</a:t>
            </a:r>
          </a:p>
        </p:txBody>
      </p:sp>
      <p:sp>
        <p:nvSpPr>
          <p:cNvPr id="6" name="TextBox 5">
            <a:extLst>
              <a:ext uri="{FF2B5EF4-FFF2-40B4-BE49-F238E27FC236}">
                <a16:creationId xmlns:a16="http://schemas.microsoft.com/office/drawing/2014/main" id="{FFCA3263-3F30-84CC-8D93-0558CD1F3B4D}"/>
              </a:ext>
            </a:extLst>
          </p:cNvPr>
          <p:cNvSpPr txBox="1"/>
          <p:nvPr/>
        </p:nvSpPr>
        <p:spPr>
          <a:xfrm>
            <a:off x="11671300" y="6527800"/>
            <a:ext cx="355600" cy="153888"/>
          </a:xfrm>
          <a:prstGeom prst="rect">
            <a:avLst/>
          </a:prstGeom>
          <a:noFill/>
        </p:spPr>
        <p:txBody>
          <a:bodyPr vert="horz" lIns="0" tIns="0" rIns="0" bIns="0" rtlCol="0">
            <a:spAutoFit/>
          </a:bodyPr>
          <a:lstStyle/>
          <a:p>
            <a:r>
              <a:rPr lang="en-US" sz="1000">
                <a:solidFill>
                  <a:srgbClr val="000000"/>
                </a:solidFill>
                <a:latin typeface="Calibri" panose="020F0502020204030204" pitchFamily="34" charset="0"/>
              </a:rPr>
              <a:t>5</a:t>
            </a:r>
          </a:p>
        </p:txBody>
      </p:sp>
    </p:spTree>
    <p:extLst>
      <p:ext uri="{BB962C8B-B14F-4D97-AF65-F5344CB8AC3E}">
        <p14:creationId xmlns:p14="http://schemas.microsoft.com/office/powerpoint/2010/main" val="1648080340"/>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3" name="Rectangle 102">
            <a:extLst>
              <a:ext uri="{FF2B5EF4-FFF2-40B4-BE49-F238E27FC236}">
                <a16:creationId xmlns:a16="http://schemas.microsoft.com/office/drawing/2014/main" id="{9D770B08-343D-6974-D682-1A87656DC5D1}"/>
              </a:ext>
            </a:extLst>
          </p:cNvPr>
          <p:cNvSpPr>
            <a:spLocks noGrp="1"/>
          </p:cNvSpPr>
          <p:nvPr/>
        </p:nvSpPr>
        <p:spPr>
          <a:xfrm>
            <a:off x="838200" y="361950"/>
            <a:ext cx="10896600" cy="495300"/>
          </a:xfrm>
          <a:prstGeom prst="rect">
            <a:avLst/>
          </a:prstGeom>
          <a:noFill/>
          <a:ln w="0">
            <a:noFill/>
            <a:prstDash val="solid"/>
          </a:ln>
        </p:spPr>
        <p:txBody>
          <a:bodyPr lIns="0" tIns="0" rIns="0" bIns="0"/>
          <a:lstStyle>
            <a:defPPr>
              <a:defRPr sz="2400" b="1">
                <a:solidFill>
                  <a:srgbClr val="000000"/>
                </a:solidFill>
                <a:latin typeface="Calibri"/>
                <a:ea typeface="Calibri"/>
                <a:cs typeface="Calibri"/>
              </a:defRPr>
            </a:defPPr>
            <a:lvl1pPr>
              <a:defRPr sz="2400" b="1">
                <a:solidFill>
                  <a:srgbClr val="000000"/>
                </a:solidFill>
                <a:latin typeface="Calibri"/>
                <a:ea typeface="Calibri"/>
                <a:cs typeface="Calibri"/>
              </a:defRPr>
            </a:lvl1pPr>
            <a:lvl2pPr>
              <a:defRPr sz="2400" b="1">
                <a:solidFill>
                  <a:srgbClr val="000000"/>
                </a:solidFill>
                <a:latin typeface="Calibri"/>
                <a:ea typeface="Calibri"/>
                <a:cs typeface="Calibri"/>
              </a:defRPr>
            </a:lvl2pPr>
            <a:lvl3pPr>
              <a:defRPr sz="2400" b="1">
                <a:solidFill>
                  <a:srgbClr val="000000"/>
                </a:solidFill>
                <a:latin typeface="Calibri"/>
                <a:ea typeface="Calibri"/>
                <a:cs typeface="Calibri"/>
              </a:defRPr>
            </a:lvl3pPr>
            <a:lvl4pPr>
              <a:defRPr sz="2400" b="1">
                <a:solidFill>
                  <a:srgbClr val="000000"/>
                </a:solidFill>
                <a:latin typeface="Calibri"/>
                <a:ea typeface="Calibri"/>
                <a:cs typeface="Calibri"/>
              </a:defRPr>
            </a:lvl4pPr>
            <a:lvl5pPr>
              <a:defRPr sz="2400" b="1">
                <a:solidFill>
                  <a:srgbClr val="000000"/>
                </a:solidFill>
                <a:latin typeface="Calibri"/>
                <a:ea typeface="Calibri"/>
                <a:cs typeface="Calibri"/>
              </a:defRPr>
            </a:lvl5pPr>
            <a:lvl6pPr>
              <a:defRPr sz="2400" b="1">
                <a:solidFill>
                  <a:srgbClr val="000000"/>
                </a:solidFill>
                <a:latin typeface="Calibri"/>
                <a:ea typeface="Calibri"/>
                <a:cs typeface="Calibri"/>
              </a:defRPr>
            </a:lvl6pPr>
            <a:lvl7pPr>
              <a:defRPr sz="2400" b="1">
                <a:solidFill>
                  <a:srgbClr val="000000"/>
                </a:solidFill>
                <a:latin typeface="Calibri"/>
                <a:ea typeface="Calibri"/>
                <a:cs typeface="Calibri"/>
              </a:defRPr>
            </a:lvl7pPr>
            <a:lvl8pPr>
              <a:defRPr sz="2400" b="1">
                <a:solidFill>
                  <a:srgbClr val="000000"/>
                </a:solidFill>
                <a:latin typeface="Calibri"/>
                <a:ea typeface="Calibri"/>
                <a:cs typeface="Calibri"/>
              </a:defRPr>
            </a:lvl8pPr>
            <a:lvl9pPr>
              <a:defRPr sz="2400" b="1">
                <a:solidFill>
                  <a:srgbClr val="000000"/>
                </a:solidFill>
                <a:latin typeface="Calibri"/>
                <a:ea typeface="Calibri"/>
                <a:cs typeface="Calibri"/>
              </a:defRPr>
            </a:lvl9pPr>
          </a:lstStyle>
          <a:p>
            <a:pPr>
              <a:defRPr sz="2400" b="1">
                <a:solidFill>
                  <a:srgbClr val="000000"/>
                </a:solidFill>
                <a:latin typeface="Calibri"/>
                <a:ea typeface="Calibri"/>
                <a:cs typeface="Calibri"/>
              </a:defRPr>
            </a:pPr>
            <a:r>
              <a:rPr sz="2400" b="1">
                <a:solidFill>
                  <a:srgbClr val="000000"/>
                </a:solidFill>
                <a:latin typeface="Calibri"/>
                <a:ea typeface="Calibri"/>
                <a:cs typeface="Calibri"/>
              </a:rPr>
              <a:t>Sizing Results: Weight Contributions</a:t>
            </a:r>
          </a:p>
        </p:txBody>
      </p:sp>
      <p:sp>
        <p:nvSpPr>
          <p:cNvPr id="104" name="Rectangle 103">
            <a:extLst>
              <a:ext uri="{FF2B5EF4-FFF2-40B4-BE49-F238E27FC236}">
                <a16:creationId xmlns:a16="http://schemas.microsoft.com/office/drawing/2014/main" id="{4C7F1044-425E-886E-19C1-54CE5E95296F}"/>
              </a:ext>
            </a:extLst>
          </p:cNvPr>
          <p:cNvSpPr>
            <a:spLocks noGrp="1"/>
          </p:cNvSpPr>
          <p:nvPr/>
        </p:nvSpPr>
        <p:spPr>
          <a:xfrm>
            <a:off x="476250" y="895350"/>
            <a:ext cx="11239500" cy="523875"/>
          </a:xfrm>
          <a:prstGeom prst="rect">
            <a:avLst/>
          </a:prstGeom>
          <a:noFill/>
          <a:ln w="0">
            <a:noFill/>
            <a:prstDash val="solid"/>
          </a:ln>
        </p:spPr>
        <p:txBody>
          <a:bodyPr lIns="0" tIns="0" rIns="0" bIns="0"/>
          <a:lstStyle>
            <a:defPPr>
              <a:defRPr sz="1575" b="0">
                <a:solidFill>
                  <a:srgbClr val="444444"/>
                </a:solidFill>
                <a:latin typeface="Calibri"/>
                <a:ea typeface="Calibri"/>
                <a:cs typeface="Calibri"/>
              </a:defRPr>
            </a:defPPr>
            <a:lvl1pPr>
              <a:defRPr sz="1575" b="0">
                <a:solidFill>
                  <a:srgbClr val="444444"/>
                </a:solidFill>
                <a:latin typeface="Calibri"/>
                <a:ea typeface="Calibri"/>
                <a:cs typeface="Calibri"/>
              </a:defRPr>
            </a:lvl1pPr>
            <a:lvl2pPr>
              <a:defRPr sz="1575" b="0">
                <a:solidFill>
                  <a:srgbClr val="444444"/>
                </a:solidFill>
                <a:latin typeface="Calibri"/>
                <a:ea typeface="Calibri"/>
                <a:cs typeface="Calibri"/>
              </a:defRPr>
            </a:lvl2pPr>
            <a:lvl3pPr>
              <a:defRPr sz="1575" b="0">
                <a:solidFill>
                  <a:srgbClr val="444444"/>
                </a:solidFill>
                <a:latin typeface="Calibri"/>
                <a:ea typeface="Calibri"/>
                <a:cs typeface="Calibri"/>
              </a:defRPr>
            </a:lvl3pPr>
            <a:lvl4pPr>
              <a:defRPr sz="1575" b="0">
                <a:solidFill>
                  <a:srgbClr val="444444"/>
                </a:solidFill>
                <a:latin typeface="Calibri"/>
                <a:ea typeface="Calibri"/>
                <a:cs typeface="Calibri"/>
              </a:defRPr>
            </a:lvl4pPr>
            <a:lvl5pPr>
              <a:defRPr sz="1575" b="0">
                <a:solidFill>
                  <a:srgbClr val="444444"/>
                </a:solidFill>
                <a:latin typeface="Calibri"/>
                <a:ea typeface="Calibri"/>
                <a:cs typeface="Calibri"/>
              </a:defRPr>
            </a:lvl5pPr>
            <a:lvl6pPr>
              <a:defRPr sz="1575" b="0">
                <a:solidFill>
                  <a:srgbClr val="444444"/>
                </a:solidFill>
                <a:latin typeface="Calibri"/>
                <a:ea typeface="Calibri"/>
                <a:cs typeface="Calibri"/>
              </a:defRPr>
            </a:lvl6pPr>
            <a:lvl7pPr>
              <a:defRPr sz="1575" b="0">
                <a:solidFill>
                  <a:srgbClr val="444444"/>
                </a:solidFill>
                <a:latin typeface="Calibri"/>
                <a:ea typeface="Calibri"/>
                <a:cs typeface="Calibri"/>
              </a:defRPr>
            </a:lvl7pPr>
            <a:lvl8pPr>
              <a:defRPr sz="1575" b="0">
                <a:solidFill>
                  <a:srgbClr val="444444"/>
                </a:solidFill>
                <a:latin typeface="Calibri"/>
                <a:ea typeface="Calibri"/>
                <a:cs typeface="Calibri"/>
              </a:defRPr>
            </a:lvl8pPr>
            <a:lvl9pPr>
              <a:defRPr sz="1575" b="0">
                <a:solidFill>
                  <a:srgbClr val="444444"/>
                </a:solidFill>
                <a:latin typeface="Calibri"/>
                <a:ea typeface="Calibri"/>
                <a:cs typeface="Calibri"/>
              </a:defRPr>
            </a:lvl9pPr>
          </a:lstStyle>
          <a:p>
            <a:pPr>
              <a:defRPr sz="1575" b="0">
                <a:solidFill>
                  <a:srgbClr val="444444"/>
                </a:solidFill>
                <a:latin typeface="Calibri"/>
                <a:ea typeface="Calibri"/>
                <a:cs typeface="Calibri"/>
              </a:defRPr>
            </a:pPr>
            <a:r>
              <a:rPr sz="1575" b="0">
                <a:solidFill>
                  <a:srgbClr val="444444"/>
                </a:solidFill>
                <a:latin typeface="Calibri"/>
                <a:ea typeface="Calibri"/>
                <a:cs typeface="Calibri"/>
              </a:rPr>
              <a:t>Baseline uses the stated 340 kg takeoff reference. Its component ledger leaves 6.58 kg unallocated.</a:t>
            </a:r>
          </a:p>
        </p:txBody>
      </p:sp>
      <p:sp>
        <p:nvSpPr>
          <p:cNvPr id="105" name="Rectangle 104">
            <a:extLst>
              <a:ext uri="{FF2B5EF4-FFF2-40B4-BE49-F238E27FC236}">
                <a16:creationId xmlns:a16="http://schemas.microsoft.com/office/drawing/2014/main" id="{041B757C-8655-07A8-2B78-C05E362C5972}"/>
              </a:ext>
            </a:extLst>
          </p:cNvPr>
          <p:cNvSpPr>
            <a:spLocks noGrp="1"/>
          </p:cNvSpPr>
          <p:nvPr/>
        </p:nvSpPr>
        <p:spPr>
          <a:xfrm>
            <a:off x="11382375" y="6524625"/>
            <a:ext cx="333375" cy="219075"/>
          </a:xfrm>
          <a:prstGeom prst="rect">
            <a:avLst/>
          </a:prstGeom>
          <a:noFill/>
          <a:ln w="0">
            <a:noFill/>
            <a:prstDash val="solid"/>
          </a:ln>
        </p:spPr>
        <p:txBody>
          <a:bodyPr lIns="0" tIns="0" rIns="0" bIns="0"/>
          <a:lstStyle>
            <a:defPPr>
              <a:defRPr sz="1125" b="0">
                <a:solidFill>
                  <a:srgbClr val="444444"/>
                </a:solidFill>
                <a:latin typeface="Calibri"/>
                <a:ea typeface="Calibri"/>
                <a:cs typeface="Calibri"/>
              </a:defRPr>
            </a:defPPr>
            <a:lvl1pPr>
              <a:defRPr sz="1125" b="0">
                <a:solidFill>
                  <a:srgbClr val="444444"/>
                </a:solidFill>
                <a:latin typeface="Calibri"/>
                <a:ea typeface="Calibri"/>
                <a:cs typeface="Calibri"/>
              </a:defRPr>
            </a:lvl1pPr>
            <a:lvl2pPr>
              <a:defRPr sz="1125" b="0">
                <a:solidFill>
                  <a:srgbClr val="444444"/>
                </a:solidFill>
                <a:latin typeface="Calibri"/>
                <a:ea typeface="Calibri"/>
                <a:cs typeface="Calibri"/>
              </a:defRPr>
            </a:lvl2pPr>
            <a:lvl3pPr>
              <a:defRPr sz="1125" b="0">
                <a:solidFill>
                  <a:srgbClr val="444444"/>
                </a:solidFill>
                <a:latin typeface="Calibri"/>
                <a:ea typeface="Calibri"/>
                <a:cs typeface="Calibri"/>
              </a:defRPr>
            </a:lvl3pPr>
            <a:lvl4pPr>
              <a:defRPr sz="1125" b="0">
                <a:solidFill>
                  <a:srgbClr val="444444"/>
                </a:solidFill>
                <a:latin typeface="Calibri"/>
                <a:ea typeface="Calibri"/>
                <a:cs typeface="Calibri"/>
              </a:defRPr>
            </a:lvl4pPr>
            <a:lvl5pPr>
              <a:defRPr sz="1125" b="0">
                <a:solidFill>
                  <a:srgbClr val="444444"/>
                </a:solidFill>
                <a:latin typeface="Calibri"/>
                <a:ea typeface="Calibri"/>
                <a:cs typeface="Calibri"/>
              </a:defRPr>
            </a:lvl5pPr>
            <a:lvl6pPr>
              <a:defRPr sz="1125" b="0">
                <a:solidFill>
                  <a:srgbClr val="444444"/>
                </a:solidFill>
                <a:latin typeface="Calibri"/>
                <a:ea typeface="Calibri"/>
                <a:cs typeface="Calibri"/>
              </a:defRPr>
            </a:lvl6pPr>
            <a:lvl7pPr>
              <a:defRPr sz="1125" b="0">
                <a:solidFill>
                  <a:srgbClr val="444444"/>
                </a:solidFill>
                <a:latin typeface="Calibri"/>
                <a:ea typeface="Calibri"/>
                <a:cs typeface="Calibri"/>
              </a:defRPr>
            </a:lvl7pPr>
            <a:lvl8pPr>
              <a:defRPr sz="1125" b="0">
                <a:solidFill>
                  <a:srgbClr val="444444"/>
                </a:solidFill>
                <a:latin typeface="Calibri"/>
                <a:ea typeface="Calibri"/>
                <a:cs typeface="Calibri"/>
              </a:defRPr>
            </a:lvl8pPr>
            <a:lvl9pPr>
              <a:defRPr sz="1125" b="0">
                <a:solidFill>
                  <a:srgbClr val="444444"/>
                </a:solidFill>
                <a:latin typeface="Calibri"/>
                <a:ea typeface="Calibri"/>
                <a:cs typeface="Calibri"/>
              </a:defRPr>
            </a:lvl9pPr>
          </a:lstStyle>
          <a:p>
            <a:pPr>
              <a:defRPr sz="1125" b="0">
                <a:solidFill>
                  <a:srgbClr val="444444"/>
                </a:solidFill>
                <a:latin typeface="Calibri"/>
                <a:ea typeface="Calibri"/>
                <a:cs typeface="Calibri"/>
              </a:defRPr>
            </a:pPr>
            <a:endParaRPr sz="1125" b="0">
              <a:solidFill>
                <a:srgbClr val="444444"/>
              </a:solidFill>
              <a:latin typeface="Calibri"/>
              <a:ea typeface="Calibri"/>
              <a:cs typeface="Calibri"/>
            </a:endParaRPr>
          </a:p>
        </p:txBody>
      </p:sp>
      <p:sp>
        <p:nvSpPr>
          <p:cNvPr id="106" name="Rectangle 105">
            <a:extLst>
              <a:ext uri="{FF2B5EF4-FFF2-40B4-BE49-F238E27FC236}">
                <a16:creationId xmlns:a16="http://schemas.microsoft.com/office/drawing/2014/main" id="{9169FC1E-07ED-B508-2687-5ABC9AEF5E04}"/>
              </a:ext>
            </a:extLst>
          </p:cNvPr>
          <p:cNvSpPr>
            <a:spLocks noGrp="1"/>
          </p:cNvSpPr>
          <p:nvPr/>
        </p:nvSpPr>
        <p:spPr>
          <a:xfrm>
            <a:off x="428625" y="1619250"/>
            <a:ext cx="2857500" cy="285750"/>
          </a:xfrm>
          <a:prstGeom prst="rect">
            <a:avLst/>
          </a:prstGeom>
          <a:noFill/>
          <a:ln w="0">
            <a:noFill/>
            <a:prstDash val="solid"/>
          </a:ln>
        </p:spPr>
        <p:txBody>
          <a:bodyPr lIns="0" tIns="0" rIns="0" bIns="0"/>
          <a:lstStyle>
            <a:defPPr>
              <a:defRPr sz="1575" b="1">
                <a:solidFill>
                  <a:srgbClr val="000000"/>
                </a:solidFill>
                <a:latin typeface="Calibri"/>
                <a:ea typeface="Calibri"/>
                <a:cs typeface="Calibri"/>
              </a:defRPr>
            </a:defPPr>
            <a:lvl1pPr>
              <a:defRPr sz="1575" b="1">
                <a:solidFill>
                  <a:srgbClr val="000000"/>
                </a:solidFill>
                <a:latin typeface="Calibri"/>
                <a:ea typeface="Calibri"/>
                <a:cs typeface="Calibri"/>
              </a:defRPr>
            </a:lvl1pPr>
            <a:lvl2pPr>
              <a:defRPr sz="1575" b="1">
                <a:solidFill>
                  <a:srgbClr val="000000"/>
                </a:solidFill>
                <a:latin typeface="Calibri"/>
                <a:ea typeface="Calibri"/>
                <a:cs typeface="Calibri"/>
              </a:defRPr>
            </a:lvl2pPr>
            <a:lvl3pPr>
              <a:defRPr sz="1575" b="1">
                <a:solidFill>
                  <a:srgbClr val="000000"/>
                </a:solidFill>
                <a:latin typeface="Calibri"/>
                <a:ea typeface="Calibri"/>
                <a:cs typeface="Calibri"/>
              </a:defRPr>
            </a:lvl3pPr>
            <a:lvl4pPr>
              <a:defRPr sz="1575" b="1">
                <a:solidFill>
                  <a:srgbClr val="000000"/>
                </a:solidFill>
                <a:latin typeface="Calibri"/>
                <a:ea typeface="Calibri"/>
                <a:cs typeface="Calibri"/>
              </a:defRPr>
            </a:lvl4pPr>
            <a:lvl5pPr>
              <a:defRPr sz="1575" b="1">
                <a:solidFill>
                  <a:srgbClr val="000000"/>
                </a:solidFill>
                <a:latin typeface="Calibri"/>
                <a:ea typeface="Calibri"/>
                <a:cs typeface="Calibri"/>
              </a:defRPr>
            </a:lvl5pPr>
            <a:lvl6pPr>
              <a:defRPr sz="1575" b="1">
                <a:solidFill>
                  <a:srgbClr val="000000"/>
                </a:solidFill>
                <a:latin typeface="Calibri"/>
                <a:ea typeface="Calibri"/>
                <a:cs typeface="Calibri"/>
              </a:defRPr>
            </a:lvl6pPr>
            <a:lvl7pPr>
              <a:defRPr sz="1575" b="1">
                <a:solidFill>
                  <a:srgbClr val="000000"/>
                </a:solidFill>
                <a:latin typeface="Calibri"/>
                <a:ea typeface="Calibri"/>
                <a:cs typeface="Calibri"/>
              </a:defRPr>
            </a:lvl7pPr>
            <a:lvl8pPr>
              <a:defRPr sz="1575" b="1">
                <a:solidFill>
                  <a:srgbClr val="000000"/>
                </a:solidFill>
                <a:latin typeface="Calibri"/>
                <a:ea typeface="Calibri"/>
                <a:cs typeface="Calibri"/>
              </a:defRPr>
            </a:lvl8pPr>
            <a:lvl9pPr>
              <a:defRPr sz="1575" b="1">
                <a:solidFill>
                  <a:srgbClr val="000000"/>
                </a:solidFill>
                <a:latin typeface="Calibri"/>
                <a:ea typeface="Calibri"/>
                <a:cs typeface="Calibri"/>
              </a:defRPr>
            </a:lvl9pPr>
          </a:lstStyle>
          <a:p>
            <a:pPr>
              <a:defRPr sz="1575" b="1">
                <a:solidFill>
                  <a:srgbClr val="000000"/>
                </a:solidFill>
                <a:latin typeface="Calibri"/>
                <a:ea typeface="Calibri"/>
                <a:cs typeface="Calibri"/>
              </a:defRPr>
            </a:pPr>
            <a:r>
              <a:rPr sz="1575" b="1">
                <a:solidFill>
                  <a:srgbClr val="000000"/>
                </a:solidFill>
                <a:latin typeface="Calibri"/>
                <a:ea typeface="Calibri"/>
                <a:cs typeface="Calibri"/>
              </a:rPr>
              <a:t>Baseline: 340.0 kg</a:t>
            </a:r>
          </a:p>
        </p:txBody>
      </p:sp>
      <p:graphicFrame>
        <p:nvGraphicFramePr>
          <p:cNvPr id="107" name="Chart">
            <a:extLst>
              <a:ext uri="{FF2B5EF4-FFF2-40B4-BE49-F238E27FC236}">
                <a16:creationId xmlns:a16="http://schemas.microsoft.com/office/drawing/2014/main" id="{291435F4-8956-7C0B-2A62-AE0A984321D4}"/>
              </a:ext>
            </a:extLst>
          </p:cNvPr>
          <p:cNvGraphicFramePr/>
          <p:nvPr/>
        </p:nvGraphicFramePr>
        <p:xfrm>
          <a:off x="428625" y="1981200"/>
          <a:ext cx="1666875" cy="1666875"/>
        </p:xfrm>
        <a:graphic>
          <a:graphicData uri="http://schemas.openxmlformats.org/drawingml/2006/chart">
            <c:chart xmlns:c="http://schemas.openxmlformats.org/drawingml/2006/chart" xmlns:r="http://schemas.openxmlformats.org/officeDocument/2006/relationships" r:id="rId4"/>
          </a:graphicData>
        </a:graphic>
      </p:graphicFrame>
      <p:sp>
        <p:nvSpPr>
          <p:cNvPr id="108" name="Rectangle 107">
            <a:extLst>
              <a:ext uri="{FF2B5EF4-FFF2-40B4-BE49-F238E27FC236}">
                <a16:creationId xmlns:a16="http://schemas.microsoft.com/office/drawing/2014/main" id="{BD3DFE33-D07E-7092-A028-1358B28C1EBB}"/>
              </a:ext>
            </a:extLst>
          </p:cNvPr>
          <p:cNvSpPr>
            <a:spLocks noGrp="1"/>
          </p:cNvSpPr>
          <p:nvPr/>
        </p:nvSpPr>
        <p:spPr>
          <a:xfrm>
            <a:off x="428625" y="3714750"/>
            <a:ext cx="142875" cy="171450"/>
          </a:xfrm>
          <a:prstGeom prst="rect">
            <a:avLst/>
          </a:prstGeom>
          <a:noFill/>
          <a:ln w="0">
            <a:noFill/>
            <a:prstDash val="solid"/>
          </a:ln>
        </p:spPr>
        <p:txBody>
          <a:bodyPr lIns="0" tIns="0" rIns="0" bIns="0"/>
          <a:lstStyle>
            <a:defPPr>
              <a:defRPr sz="900" b="0">
                <a:solidFill>
                  <a:srgbClr val="315773"/>
                </a:solidFill>
                <a:latin typeface="Calibri"/>
                <a:ea typeface="Calibri"/>
                <a:cs typeface="Calibri"/>
              </a:defRPr>
            </a:defPPr>
            <a:lvl1pPr>
              <a:defRPr sz="900" b="0">
                <a:solidFill>
                  <a:srgbClr val="315773"/>
                </a:solidFill>
                <a:latin typeface="Calibri"/>
                <a:ea typeface="Calibri"/>
                <a:cs typeface="Calibri"/>
              </a:defRPr>
            </a:lvl1pPr>
            <a:lvl2pPr>
              <a:defRPr sz="900" b="0">
                <a:solidFill>
                  <a:srgbClr val="315773"/>
                </a:solidFill>
                <a:latin typeface="Calibri"/>
                <a:ea typeface="Calibri"/>
                <a:cs typeface="Calibri"/>
              </a:defRPr>
            </a:lvl2pPr>
            <a:lvl3pPr>
              <a:defRPr sz="900" b="0">
                <a:solidFill>
                  <a:srgbClr val="315773"/>
                </a:solidFill>
                <a:latin typeface="Calibri"/>
                <a:ea typeface="Calibri"/>
                <a:cs typeface="Calibri"/>
              </a:defRPr>
            </a:lvl3pPr>
            <a:lvl4pPr>
              <a:defRPr sz="900" b="0">
                <a:solidFill>
                  <a:srgbClr val="315773"/>
                </a:solidFill>
                <a:latin typeface="Calibri"/>
                <a:ea typeface="Calibri"/>
                <a:cs typeface="Calibri"/>
              </a:defRPr>
            </a:lvl4pPr>
            <a:lvl5pPr>
              <a:defRPr sz="900" b="0">
                <a:solidFill>
                  <a:srgbClr val="315773"/>
                </a:solidFill>
                <a:latin typeface="Calibri"/>
                <a:ea typeface="Calibri"/>
                <a:cs typeface="Calibri"/>
              </a:defRPr>
            </a:lvl5pPr>
            <a:lvl6pPr>
              <a:defRPr sz="900" b="0">
                <a:solidFill>
                  <a:srgbClr val="315773"/>
                </a:solidFill>
                <a:latin typeface="Calibri"/>
                <a:ea typeface="Calibri"/>
                <a:cs typeface="Calibri"/>
              </a:defRPr>
            </a:lvl6pPr>
            <a:lvl7pPr>
              <a:defRPr sz="900" b="0">
                <a:solidFill>
                  <a:srgbClr val="315773"/>
                </a:solidFill>
                <a:latin typeface="Calibri"/>
                <a:ea typeface="Calibri"/>
                <a:cs typeface="Calibri"/>
              </a:defRPr>
            </a:lvl7pPr>
            <a:lvl8pPr>
              <a:defRPr sz="900" b="0">
                <a:solidFill>
                  <a:srgbClr val="315773"/>
                </a:solidFill>
                <a:latin typeface="Calibri"/>
                <a:ea typeface="Calibri"/>
                <a:cs typeface="Calibri"/>
              </a:defRPr>
            </a:lvl8pPr>
            <a:lvl9pPr>
              <a:defRPr sz="900" b="0">
                <a:solidFill>
                  <a:srgbClr val="315773"/>
                </a:solidFill>
                <a:latin typeface="Calibri"/>
                <a:ea typeface="Calibri"/>
                <a:cs typeface="Calibri"/>
              </a:defRPr>
            </a:lvl9pPr>
          </a:lstStyle>
          <a:p>
            <a:pPr>
              <a:defRPr sz="900" b="0">
                <a:solidFill>
                  <a:srgbClr val="315773"/>
                </a:solidFill>
                <a:latin typeface="Calibri"/>
                <a:ea typeface="Calibri"/>
                <a:cs typeface="Calibri"/>
              </a:defRPr>
            </a:pPr>
            <a:r>
              <a:rPr sz="900" b="0">
                <a:solidFill>
                  <a:srgbClr val="315773"/>
                </a:solidFill>
                <a:latin typeface="Calibri"/>
                <a:ea typeface="Calibri"/>
                <a:cs typeface="Calibri"/>
              </a:rPr>
              <a:t>■</a:t>
            </a:r>
          </a:p>
        </p:txBody>
      </p:sp>
      <p:sp>
        <p:nvSpPr>
          <p:cNvPr id="109" name="Rectangle 108">
            <a:extLst>
              <a:ext uri="{FF2B5EF4-FFF2-40B4-BE49-F238E27FC236}">
                <a16:creationId xmlns:a16="http://schemas.microsoft.com/office/drawing/2014/main" id="{96E9469D-5885-68B6-64DA-6E9DCF678F94}"/>
              </a:ext>
            </a:extLst>
          </p:cNvPr>
          <p:cNvSpPr>
            <a:spLocks noGrp="1"/>
          </p:cNvSpPr>
          <p:nvPr/>
        </p:nvSpPr>
        <p:spPr>
          <a:xfrm>
            <a:off x="581025" y="3714750"/>
            <a:ext cx="2857500" cy="200025"/>
          </a:xfrm>
          <a:prstGeom prst="rect">
            <a:avLst/>
          </a:prstGeom>
          <a:noFill/>
          <a:ln w="0">
            <a:noFill/>
            <a:prstDash val="solid"/>
          </a:ln>
        </p:spPr>
        <p:txBody>
          <a:bodyPr lIns="0" tIns="0" rIns="0" bIns="0"/>
          <a:lstStyle>
            <a:defPPr>
              <a:defRPr sz="975" b="0">
                <a:solidFill>
                  <a:srgbClr val="000000"/>
                </a:solidFill>
                <a:latin typeface="Calibri"/>
                <a:ea typeface="Calibri"/>
                <a:cs typeface="Calibri"/>
              </a:defRPr>
            </a:defPPr>
            <a:lvl1pPr>
              <a:defRPr sz="975" b="0">
                <a:solidFill>
                  <a:srgbClr val="000000"/>
                </a:solidFill>
                <a:latin typeface="Calibri"/>
                <a:ea typeface="Calibri"/>
                <a:cs typeface="Calibri"/>
              </a:defRPr>
            </a:lvl1pPr>
            <a:lvl2pPr>
              <a:defRPr sz="975" b="0">
                <a:solidFill>
                  <a:srgbClr val="000000"/>
                </a:solidFill>
                <a:latin typeface="Calibri"/>
                <a:ea typeface="Calibri"/>
                <a:cs typeface="Calibri"/>
              </a:defRPr>
            </a:lvl2pPr>
            <a:lvl3pPr>
              <a:defRPr sz="975" b="0">
                <a:solidFill>
                  <a:srgbClr val="000000"/>
                </a:solidFill>
                <a:latin typeface="Calibri"/>
                <a:ea typeface="Calibri"/>
                <a:cs typeface="Calibri"/>
              </a:defRPr>
            </a:lvl3pPr>
            <a:lvl4pPr>
              <a:defRPr sz="975" b="0">
                <a:solidFill>
                  <a:srgbClr val="000000"/>
                </a:solidFill>
                <a:latin typeface="Calibri"/>
                <a:ea typeface="Calibri"/>
                <a:cs typeface="Calibri"/>
              </a:defRPr>
            </a:lvl4pPr>
            <a:lvl5pPr>
              <a:defRPr sz="975" b="0">
                <a:solidFill>
                  <a:srgbClr val="000000"/>
                </a:solidFill>
                <a:latin typeface="Calibri"/>
                <a:ea typeface="Calibri"/>
                <a:cs typeface="Calibri"/>
              </a:defRPr>
            </a:lvl5pPr>
            <a:lvl6pPr>
              <a:defRPr sz="975" b="0">
                <a:solidFill>
                  <a:srgbClr val="000000"/>
                </a:solidFill>
                <a:latin typeface="Calibri"/>
                <a:ea typeface="Calibri"/>
                <a:cs typeface="Calibri"/>
              </a:defRPr>
            </a:lvl6pPr>
            <a:lvl7pPr>
              <a:defRPr sz="975" b="0">
                <a:solidFill>
                  <a:srgbClr val="000000"/>
                </a:solidFill>
                <a:latin typeface="Calibri"/>
                <a:ea typeface="Calibri"/>
                <a:cs typeface="Calibri"/>
              </a:defRPr>
            </a:lvl7pPr>
            <a:lvl8pPr>
              <a:defRPr sz="975" b="0">
                <a:solidFill>
                  <a:srgbClr val="000000"/>
                </a:solidFill>
                <a:latin typeface="Calibri"/>
                <a:ea typeface="Calibri"/>
                <a:cs typeface="Calibri"/>
              </a:defRPr>
            </a:lvl8pPr>
            <a:lvl9pPr>
              <a:defRPr sz="975" b="0">
                <a:solidFill>
                  <a:srgbClr val="000000"/>
                </a:solidFill>
                <a:latin typeface="Calibri"/>
                <a:ea typeface="Calibri"/>
                <a:cs typeface="Calibri"/>
              </a:defRPr>
            </a:lvl9pPr>
          </a:lstStyle>
          <a:p>
            <a:pPr>
              <a:defRPr sz="975" b="0">
                <a:solidFill>
                  <a:srgbClr val="000000"/>
                </a:solidFill>
                <a:latin typeface="Calibri"/>
                <a:ea typeface="Calibri"/>
                <a:cs typeface="Calibri"/>
              </a:defRPr>
            </a:pPr>
            <a:r>
              <a:rPr sz="975" b="0">
                <a:solidFill>
                  <a:srgbClr val="000000"/>
                </a:solidFill>
                <a:latin typeface="Calibri"/>
                <a:ea typeface="Calibri"/>
                <a:cs typeface="Calibri"/>
              </a:rPr>
              <a:t>Airframe structure: 69.2 kg (20%)</a:t>
            </a:r>
          </a:p>
        </p:txBody>
      </p:sp>
      <p:sp>
        <p:nvSpPr>
          <p:cNvPr id="110" name="Rectangle 109">
            <a:extLst>
              <a:ext uri="{FF2B5EF4-FFF2-40B4-BE49-F238E27FC236}">
                <a16:creationId xmlns:a16="http://schemas.microsoft.com/office/drawing/2014/main" id="{B6BE1F9D-C08A-089A-AF7B-7E83EE6B4C74}"/>
              </a:ext>
            </a:extLst>
          </p:cNvPr>
          <p:cNvSpPr>
            <a:spLocks noGrp="1"/>
          </p:cNvSpPr>
          <p:nvPr/>
        </p:nvSpPr>
        <p:spPr>
          <a:xfrm>
            <a:off x="428625" y="3886200"/>
            <a:ext cx="142875" cy="171450"/>
          </a:xfrm>
          <a:prstGeom prst="rect">
            <a:avLst/>
          </a:prstGeom>
          <a:noFill/>
          <a:ln w="0">
            <a:noFill/>
            <a:prstDash val="solid"/>
          </a:ln>
        </p:spPr>
        <p:txBody>
          <a:bodyPr lIns="0" tIns="0" rIns="0" bIns="0"/>
          <a:lstStyle>
            <a:defPPr>
              <a:defRPr sz="900" b="0">
                <a:solidFill>
                  <a:srgbClr val="8062A5"/>
                </a:solidFill>
                <a:latin typeface="Calibri"/>
                <a:ea typeface="Calibri"/>
                <a:cs typeface="Calibri"/>
              </a:defRPr>
            </a:defPPr>
            <a:lvl1pPr>
              <a:defRPr sz="900" b="0">
                <a:solidFill>
                  <a:srgbClr val="8062A5"/>
                </a:solidFill>
                <a:latin typeface="Calibri"/>
                <a:ea typeface="Calibri"/>
                <a:cs typeface="Calibri"/>
              </a:defRPr>
            </a:lvl1pPr>
            <a:lvl2pPr>
              <a:defRPr sz="900" b="0">
                <a:solidFill>
                  <a:srgbClr val="8062A5"/>
                </a:solidFill>
                <a:latin typeface="Calibri"/>
                <a:ea typeface="Calibri"/>
                <a:cs typeface="Calibri"/>
              </a:defRPr>
            </a:lvl2pPr>
            <a:lvl3pPr>
              <a:defRPr sz="900" b="0">
                <a:solidFill>
                  <a:srgbClr val="8062A5"/>
                </a:solidFill>
                <a:latin typeface="Calibri"/>
                <a:ea typeface="Calibri"/>
                <a:cs typeface="Calibri"/>
              </a:defRPr>
            </a:lvl3pPr>
            <a:lvl4pPr>
              <a:defRPr sz="900" b="0">
                <a:solidFill>
                  <a:srgbClr val="8062A5"/>
                </a:solidFill>
                <a:latin typeface="Calibri"/>
                <a:ea typeface="Calibri"/>
                <a:cs typeface="Calibri"/>
              </a:defRPr>
            </a:lvl4pPr>
            <a:lvl5pPr>
              <a:defRPr sz="900" b="0">
                <a:solidFill>
                  <a:srgbClr val="8062A5"/>
                </a:solidFill>
                <a:latin typeface="Calibri"/>
                <a:ea typeface="Calibri"/>
                <a:cs typeface="Calibri"/>
              </a:defRPr>
            </a:lvl5pPr>
            <a:lvl6pPr>
              <a:defRPr sz="900" b="0">
                <a:solidFill>
                  <a:srgbClr val="8062A5"/>
                </a:solidFill>
                <a:latin typeface="Calibri"/>
                <a:ea typeface="Calibri"/>
                <a:cs typeface="Calibri"/>
              </a:defRPr>
            </a:lvl6pPr>
            <a:lvl7pPr>
              <a:defRPr sz="900" b="0">
                <a:solidFill>
                  <a:srgbClr val="8062A5"/>
                </a:solidFill>
                <a:latin typeface="Calibri"/>
                <a:ea typeface="Calibri"/>
                <a:cs typeface="Calibri"/>
              </a:defRPr>
            </a:lvl7pPr>
            <a:lvl8pPr>
              <a:defRPr sz="900" b="0">
                <a:solidFill>
                  <a:srgbClr val="8062A5"/>
                </a:solidFill>
                <a:latin typeface="Calibri"/>
                <a:ea typeface="Calibri"/>
                <a:cs typeface="Calibri"/>
              </a:defRPr>
            </a:lvl8pPr>
            <a:lvl9pPr>
              <a:defRPr sz="900" b="0">
                <a:solidFill>
                  <a:srgbClr val="8062A5"/>
                </a:solidFill>
                <a:latin typeface="Calibri"/>
                <a:ea typeface="Calibri"/>
                <a:cs typeface="Calibri"/>
              </a:defRPr>
            </a:lvl9pPr>
          </a:lstStyle>
          <a:p>
            <a:pPr>
              <a:defRPr sz="900" b="0">
                <a:solidFill>
                  <a:srgbClr val="8062A5"/>
                </a:solidFill>
                <a:latin typeface="Calibri"/>
                <a:ea typeface="Calibri"/>
                <a:cs typeface="Calibri"/>
              </a:defRPr>
            </a:pPr>
            <a:r>
              <a:rPr sz="900" b="0">
                <a:solidFill>
                  <a:srgbClr val="8062A5"/>
                </a:solidFill>
                <a:latin typeface="Calibri"/>
                <a:ea typeface="Calibri"/>
                <a:cs typeface="Calibri"/>
              </a:rPr>
              <a:t>■</a:t>
            </a:r>
          </a:p>
        </p:txBody>
      </p:sp>
      <p:sp>
        <p:nvSpPr>
          <p:cNvPr id="111" name="Rectangle 110">
            <a:extLst>
              <a:ext uri="{FF2B5EF4-FFF2-40B4-BE49-F238E27FC236}">
                <a16:creationId xmlns:a16="http://schemas.microsoft.com/office/drawing/2014/main" id="{DD5DEFC7-0691-9D4E-8D86-51090CDBA8D6}"/>
              </a:ext>
            </a:extLst>
          </p:cNvPr>
          <p:cNvSpPr>
            <a:spLocks noGrp="1"/>
          </p:cNvSpPr>
          <p:nvPr/>
        </p:nvSpPr>
        <p:spPr>
          <a:xfrm>
            <a:off x="581025" y="3886200"/>
            <a:ext cx="2857500" cy="200025"/>
          </a:xfrm>
          <a:prstGeom prst="rect">
            <a:avLst/>
          </a:prstGeom>
          <a:noFill/>
          <a:ln w="0">
            <a:noFill/>
            <a:prstDash val="solid"/>
          </a:ln>
        </p:spPr>
        <p:txBody>
          <a:bodyPr lIns="0" tIns="0" rIns="0" bIns="0"/>
          <a:lstStyle>
            <a:defPPr>
              <a:defRPr sz="975" b="0">
                <a:solidFill>
                  <a:srgbClr val="000000"/>
                </a:solidFill>
                <a:latin typeface="Calibri"/>
                <a:ea typeface="Calibri"/>
                <a:cs typeface="Calibri"/>
              </a:defRPr>
            </a:defPPr>
            <a:lvl1pPr>
              <a:defRPr sz="975" b="0">
                <a:solidFill>
                  <a:srgbClr val="000000"/>
                </a:solidFill>
                <a:latin typeface="Calibri"/>
                <a:ea typeface="Calibri"/>
                <a:cs typeface="Calibri"/>
              </a:defRPr>
            </a:lvl1pPr>
            <a:lvl2pPr>
              <a:defRPr sz="975" b="0">
                <a:solidFill>
                  <a:srgbClr val="000000"/>
                </a:solidFill>
                <a:latin typeface="Calibri"/>
                <a:ea typeface="Calibri"/>
                <a:cs typeface="Calibri"/>
              </a:defRPr>
            </a:lvl2pPr>
            <a:lvl3pPr>
              <a:defRPr sz="975" b="0">
                <a:solidFill>
                  <a:srgbClr val="000000"/>
                </a:solidFill>
                <a:latin typeface="Calibri"/>
                <a:ea typeface="Calibri"/>
                <a:cs typeface="Calibri"/>
              </a:defRPr>
            </a:lvl3pPr>
            <a:lvl4pPr>
              <a:defRPr sz="975" b="0">
                <a:solidFill>
                  <a:srgbClr val="000000"/>
                </a:solidFill>
                <a:latin typeface="Calibri"/>
                <a:ea typeface="Calibri"/>
                <a:cs typeface="Calibri"/>
              </a:defRPr>
            </a:lvl4pPr>
            <a:lvl5pPr>
              <a:defRPr sz="975" b="0">
                <a:solidFill>
                  <a:srgbClr val="000000"/>
                </a:solidFill>
                <a:latin typeface="Calibri"/>
                <a:ea typeface="Calibri"/>
                <a:cs typeface="Calibri"/>
              </a:defRPr>
            </a:lvl5pPr>
            <a:lvl6pPr>
              <a:defRPr sz="975" b="0">
                <a:solidFill>
                  <a:srgbClr val="000000"/>
                </a:solidFill>
                <a:latin typeface="Calibri"/>
                <a:ea typeface="Calibri"/>
                <a:cs typeface="Calibri"/>
              </a:defRPr>
            </a:lvl6pPr>
            <a:lvl7pPr>
              <a:defRPr sz="975" b="0">
                <a:solidFill>
                  <a:srgbClr val="000000"/>
                </a:solidFill>
                <a:latin typeface="Calibri"/>
                <a:ea typeface="Calibri"/>
                <a:cs typeface="Calibri"/>
              </a:defRPr>
            </a:lvl7pPr>
            <a:lvl8pPr>
              <a:defRPr sz="975" b="0">
                <a:solidFill>
                  <a:srgbClr val="000000"/>
                </a:solidFill>
                <a:latin typeface="Calibri"/>
                <a:ea typeface="Calibri"/>
                <a:cs typeface="Calibri"/>
              </a:defRPr>
            </a:lvl8pPr>
            <a:lvl9pPr>
              <a:defRPr sz="975" b="0">
                <a:solidFill>
                  <a:srgbClr val="000000"/>
                </a:solidFill>
                <a:latin typeface="Calibri"/>
                <a:ea typeface="Calibri"/>
                <a:cs typeface="Calibri"/>
              </a:defRPr>
            </a:lvl9pPr>
          </a:lstStyle>
          <a:p>
            <a:pPr>
              <a:defRPr sz="975" b="0">
                <a:solidFill>
                  <a:srgbClr val="000000"/>
                </a:solidFill>
                <a:latin typeface="Calibri"/>
                <a:ea typeface="Calibri"/>
                <a:cs typeface="Calibri"/>
              </a:defRPr>
            </a:pPr>
            <a:r>
              <a:rPr sz="975" b="0">
                <a:solidFill>
                  <a:srgbClr val="000000"/>
                </a:solidFill>
                <a:latin typeface="Calibri"/>
                <a:ea typeface="Calibri"/>
                <a:cs typeface="Calibri"/>
              </a:rPr>
              <a:t>Landing gear: 11.5 kg (3%)</a:t>
            </a:r>
          </a:p>
        </p:txBody>
      </p:sp>
      <p:sp>
        <p:nvSpPr>
          <p:cNvPr id="112" name="Rectangle 111">
            <a:extLst>
              <a:ext uri="{FF2B5EF4-FFF2-40B4-BE49-F238E27FC236}">
                <a16:creationId xmlns:a16="http://schemas.microsoft.com/office/drawing/2014/main" id="{03C80647-B544-A4CB-397D-EA8232AAE4E7}"/>
              </a:ext>
            </a:extLst>
          </p:cNvPr>
          <p:cNvSpPr>
            <a:spLocks noGrp="1"/>
          </p:cNvSpPr>
          <p:nvPr/>
        </p:nvSpPr>
        <p:spPr>
          <a:xfrm>
            <a:off x="428625" y="4057650"/>
            <a:ext cx="142875" cy="171450"/>
          </a:xfrm>
          <a:prstGeom prst="rect">
            <a:avLst/>
          </a:prstGeom>
          <a:noFill/>
          <a:ln w="0">
            <a:noFill/>
            <a:prstDash val="solid"/>
          </a:ln>
        </p:spPr>
        <p:txBody>
          <a:bodyPr lIns="0" tIns="0" rIns="0" bIns="0"/>
          <a:lstStyle>
            <a:defPPr>
              <a:defRPr sz="900" b="0">
                <a:solidFill>
                  <a:srgbClr val="168F86"/>
                </a:solidFill>
                <a:latin typeface="Calibri"/>
                <a:ea typeface="Calibri"/>
                <a:cs typeface="Calibri"/>
              </a:defRPr>
            </a:defPPr>
            <a:lvl1pPr>
              <a:defRPr sz="900" b="0">
                <a:solidFill>
                  <a:srgbClr val="168F86"/>
                </a:solidFill>
                <a:latin typeface="Calibri"/>
                <a:ea typeface="Calibri"/>
                <a:cs typeface="Calibri"/>
              </a:defRPr>
            </a:lvl1pPr>
            <a:lvl2pPr>
              <a:defRPr sz="900" b="0">
                <a:solidFill>
                  <a:srgbClr val="168F86"/>
                </a:solidFill>
                <a:latin typeface="Calibri"/>
                <a:ea typeface="Calibri"/>
                <a:cs typeface="Calibri"/>
              </a:defRPr>
            </a:lvl2pPr>
            <a:lvl3pPr>
              <a:defRPr sz="900" b="0">
                <a:solidFill>
                  <a:srgbClr val="168F86"/>
                </a:solidFill>
                <a:latin typeface="Calibri"/>
                <a:ea typeface="Calibri"/>
                <a:cs typeface="Calibri"/>
              </a:defRPr>
            </a:lvl3pPr>
            <a:lvl4pPr>
              <a:defRPr sz="900" b="0">
                <a:solidFill>
                  <a:srgbClr val="168F86"/>
                </a:solidFill>
                <a:latin typeface="Calibri"/>
                <a:ea typeface="Calibri"/>
                <a:cs typeface="Calibri"/>
              </a:defRPr>
            </a:lvl4pPr>
            <a:lvl5pPr>
              <a:defRPr sz="900" b="0">
                <a:solidFill>
                  <a:srgbClr val="168F86"/>
                </a:solidFill>
                <a:latin typeface="Calibri"/>
                <a:ea typeface="Calibri"/>
                <a:cs typeface="Calibri"/>
              </a:defRPr>
            </a:lvl5pPr>
            <a:lvl6pPr>
              <a:defRPr sz="900" b="0">
                <a:solidFill>
                  <a:srgbClr val="168F86"/>
                </a:solidFill>
                <a:latin typeface="Calibri"/>
                <a:ea typeface="Calibri"/>
                <a:cs typeface="Calibri"/>
              </a:defRPr>
            </a:lvl6pPr>
            <a:lvl7pPr>
              <a:defRPr sz="900" b="0">
                <a:solidFill>
                  <a:srgbClr val="168F86"/>
                </a:solidFill>
                <a:latin typeface="Calibri"/>
                <a:ea typeface="Calibri"/>
                <a:cs typeface="Calibri"/>
              </a:defRPr>
            </a:lvl7pPr>
            <a:lvl8pPr>
              <a:defRPr sz="900" b="0">
                <a:solidFill>
                  <a:srgbClr val="168F86"/>
                </a:solidFill>
                <a:latin typeface="Calibri"/>
                <a:ea typeface="Calibri"/>
                <a:cs typeface="Calibri"/>
              </a:defRPr>
            </a:lvl8pPr>
            <a:lvl9pPr>
              <a:defRPr sz="900" b="0">
                <a:solidFill>
                  <a:srgbClr val="168F86"/>
                </a:solidFill>
                <a:latin typeface="Calibri"/>
                <a:ea typeface="Calibri"/>
                <a:cs typeface="Calibri"/>
              </a:defRPr>
            </a:lvl9pPr>
          </a:lstStyle>
          <a:p>
            <a:pPr>
              <a:defRPr sz="900" b="0">
                <a:solidFill>
                  <a:srgbClr val="168F86"/>
                </a:solidFill>
                <a:latin typeface="Calibri"/>
                <a:ea typeface="Calibri"/>
                <a:cs typeface="Calibri"/>
              </a:defRPr>
            </a:pPr>
            <a:r>
              <a:rPr sz="900" b="0">
                <a:solidFill>
                  <a:srgbClr val="168F86"/>
                </a:solidFill>
                <a:latin typeface="Calibri"/>
                <a:ea typeface="Calibri"/>
                <a:cs typeface="Calibri"/>
              </a:rPr>
              <a:t>■</a:t>
            </a:r>
          </a:p>
        </p:txBody>
      </p:sp>
      <p:sp>
        <p:nvSpPr>
          <p:cNvPr id="113" name="Rectangle 112">
            <a:extLst>
              <a:ext uri="{FF2B5EF4-FFF2-40B4-BE49-F238E27FC236}">
                <a16:creationId xmlns:a16="http://schemas.microsoft.com/office/drawing/2014/main" id="{633E6E02-B9AD-C788-3708-9C7E71D02F6F}"/>
              </a:ext>
            </a:extLst>
          </p:cNvPr>
          <p:cNvSpPr>
            <a:spLocks noGrp="1"/>
          </p:cNvSpPr>
          <p:nvPr/>
        </p:nvSpPr>
        <p:spPr>
          <a:xfrm>
            <a:off x="581025" y="4057650"/>
            <a:ext cx="2857500" cy="200025"/>
          </a:xfrm>
          <a:prstGeom prst="rect">
            <a:avLst/>
          </a:prstGeom>
          <a:noFill/>
          <a:ln w="0">
            <a:noFill/>
            <a:prstDash val="solid"/>
          </a:ln>
        </p:spPr>
        <p:txBody>
          <a:bodyPr lIns="0" tIns="0" rIns="0" bIns="0"/>
          <a:lstStyle>
            <a:defPPr>
              <a:defRPr sz="975" b="0">
                <a:solidFill>
                  <a:srgbClr val="000000"/>
                </a:solidFill>
                <a:latin typeface="Calibri"/>
                <a:ea typeface="Calibri"/>
                <a:cs typeface="Calibri"/>
              </a:defRPr>
            </a:defPPr>
            <a:lvl1pPr>
              <a:defRPr sz="975" b="0">
                <a:solidFill>
                  <a:srgbClr val="000000"/>
                </a:solidFill>
                <a:latin typeface="Calibri"/>
                <a:ea typeface="Calibri"/>
                <a:cs typeface="Calibri"/>
              </a:defRPr>
            </a:lvl1pPr>
            <a:lvl2pPr>
              <a:defRPr sz="975" b="0">
                <a:solidFill>
                  <a:srgbClr val="000000"/>
                </a:solidFill>
                <a:latin typeface="Calibri"/>
                <a:ea typeface="Calibri"/>
                <a:cs typeface="Calibri"/>
              </a:defRPr>
            </a:lvl2pPr>
            <a:lvl3pPr>
              <a:defRPr sz="975" b="0">
                <a:solidFill>
                  <a:srgbClr val="000000"/>
                </a:solidFill>
                <a:latin typeface="Calibri"/>
                <a:ea typeface="Calibri"/>
                <a:cs typeface="Calibri"/>
              </a:defRPr>
            </a:lvl3pPr>
            <a:lvl4pPr>
              <a:defRPr sz="975" b="0">
                <a:solidFill>
                  <a:srgbClr val="000000"/>
                </a:solidFill>
                <a:latin typeface="Calibri"/>
                <a:ea typeface="Calibri"/>
                <a:cs typeface="Calibri"/>
              </a:defRPr>
            </a:lvl4pPr>
            <a:lvl5pPr>
              <a:defRPr sz="975" b="0">
                <a:solidFill>
                  <a:srgbClr val="000000"/>
                </a:solidFill>
                <a:latin typeface="Calibri"/>
                <a:ea typeface="Calibri"/>
                <a:cs typeface="Calibri"/>
              </a:defRPr>
            </a:lvl5pPr>
            <a:lvl6pPr>
              <a:defRPr sz="975" b="0">
                <a:solidFill>
                  <a:srgbClr val="000000"/>
                </a:solidFill>
                <a:latin typeface="Calibri"/>
                <a:ea typeface="Calibri"/>
                <a:cs typeface="Calibri"/>
              </a:defRPr>
            </a:lvl6pPr>
            <a:lvl7pPr>
              <a:defRPr sz="975" b="0">
                <a:solidFill>
                  <a:srgbClr val="000000"/>
                </a:solidFill>
                <a:latin typeface="Calibri"/>
                <a:ea typeface="Calibri"/>
                <a:cs typeface="Calibri"/>
              </a:defRPr>
            </a:lvl7pPr>
            <a:lvl8pPr>
              <a:defRPr sz="975" b="0">
                <a:solidFill>
                  <a:srgbClr val="000000"/>
                </a:solidFill>
                <a:latin typeface="Calibri"/>
                <a:ea typeface="Calibri"/>
                <a:cs typeface="Calibri"/>
              </a:defRPr>
            </a:lvl8pPr>
            <a:lvl9pPr>
              <a:defRPr sz="975" b="0">
                <a:solidFill>
                  <a:srgbClr val="000000"/>
                </a:solidFill>
                <a:latin typeface="Calibri"/>
                <a:ea typeface="Calibri"/>
                <a:cs typeface="Calibri"/>
              </a:defRPr>
            </a:lvl9pPr>
          </a:lstStyle>
          <a:p>
            <a:pPr>
              <a:defRPr sz="975" b="0">
                <a:solidFill>
                  <a:srgbClr val="000000"/>
                </a:solidFill>
                <a:latin typeface="Calibri"/>
                <a:ea typeface="Calibri"/>
                <a:cs typeface="Calibri"/>
              </a:defRPr>
            </a:pPr>
            <a:r>
              <a:rPr sz="975" b="0">
                <a:solidFill>
                  <a:srgbClr val="000000"/>
                </a:solidFill>
                <a:latin typeface="Calibri"/>
                <a:ea typeface="Calibri"/>
                <a:cs typeface="Calibri"/>
              </a:rPr>
              <a:t>Vertical propulsion: 70.0 kg (21%)</a:t>
            </a:r>
          </a:p>
        </p:txBody>
      </p:sp>
      <p:sp>
        <p:nvSpPr>
          <p:cNvPr id="114" name="Rectangle 113">
            <a:extLst>
              <a:ext uri="{FF2B5EF4-FFF2-40B4-BE49-F238E27FC236}">
                <a16:creationId xmlns:a16="http://schemas.microsoft.com/office/drawing/2014/main" id="{87A64F19-AD7B-9C08-5B88-D7C4AC4A526E}"/>
              </a:ext>
            </a:extLst>
          </p:cNvPr>
          <p:cNvSpPr>
            <a:spLocks noGrp="1"/>
          </p:cNvSpPr>
          <p:nvPr/>
        </p:nvSpPr>
        <p:spPr>
          <a:xfrm>
            <a:off x="428625" y="4229100"/>
            <a:ext cx="142875" cy="171450"/>
          </a:xfrm>
          <a:prstGeom prst="rect">
            <a:avLst/>
          </a:prstGeom>
          <a:noFill/>
          <a:ln w="0">
            <a:noFill/>
            <a:prstDash val="solid"/>
          </a:ln>
        </p:spPr>
        <p:txBody>
          <a:bodyPr lIns="0" tIns="0" rIns="0" bIns="0"/>
          <a:lstStyle>
            <a:defPPr>
              <a:defRPr sz="900" b="0">
                <a:solidFill>
                  <a:srgbClr val="D57530"/>
                </a:solidFill>
                <a:latin typeface="Calibri"/>
                <a:ea typeface="Calibri"/>
                <a:cs typeface="Calibri"/>
              </a:defRPr>
            </a:defPPr>
            <a:lvl1pPr>
              <a:defRPr sz="900" b="0">
                <a:solidFill>
                  <a:srgbClr val="D57530"/>
                </a:solidFill>
                <a:latin typeface="Calibri"/>
                <a:ea typeface="Calibri"/>
                <a:cs typeface="Calibri"/>
              </a:defRPr>
            </a:lvl1pPr>
            <a:lvl2pPr>
              <a:defRPr sz="900" b="0">
                <a:solidFill>
                  <a:srgbClr val="D57530"/>
                </a:solidFill>
                <a:latin typeface="Calibri"/>
                <a:ea typeface="Calibri"/>
                <a:cs typeface="Calibri"/>
              </a:defRPr>
            </a:lvl2pPr>
            <a:lvl3pPr>
              <a:defRPr sz="900" b="0">
                <a:solidFill>
                  <a:srgbClr val="D57530"/>
                </a:solidFill>
                <a:latin typeface="Calibri"/>
                <a:ea typeface="Calibri"/>
                <a:cs typeface="Calibri"/>
              </a:defRPr>
            </a:lvl3pPr>
            <a:lvl4pPr>
              <a:defRPr sz="900" b="0">
                <a:solidFill>
                  <a:srgbClr val="D57530"/>
                </a:solidFill>
                <a:latin typeface="Calibri"/>
                <a:ea typeface="Calibri"/>
                <a:cs typeface="Calibri"/>
              </a:defRPr>
            </a:lvl4pPr>
            <a:lvl5pPr>
              <a:defRPr sz="900" b="0">
                <a:solidFill>
                  <a:srgbClr val="D57530"/>
                </a:solidFill>
                <a:latin typeface="Calibri"/>
                <a:ea typeface="Calibri"/>
                <a:cs typeface="Calibri"/>
              </a:defRPr>
            </a:lvl5pPr>
            <a:lvl6pPr>
              <a:defRPr sz="900" b="0">
                <a:solidFill>
                  <a:srgbClr val="D57530"/>
                </a:solidFill>
                <a:latin typeface="Calibri"/>
                <a:ea typeface="Calibri"/>
                <a:cs typeface="Calibri"/>
              </a:defRPr>
            </a:lvl6pPr>
            <a:lvl7pPr>
              <a:defRPr sz="900" b="0">
                <a:solidFill>
                  <a:srgbClr val="D57530"/>
                </a:solidFill>
                <a:latin typeface="Calibri"/>
                <a:ea typeface="Calibri"/>
                <a:cs typeface="Calibri"/>
              </a:defRPr>
            </a:lvl7pPr>
            <a:lvl8pPr>
              <a:defRPr sz="900" b="0">
                <a:solidFill>
                  <a:srgbClr val="D57530"/>
                </a:solidFill>
                <a:latin typeface="Calibri"/>
                <a:ea typeface="Calibri"/>
                <a:cs typeface="Calibri"/>
              </a:defRPr>
            </a:lvl8pPr>
            <a:lvl9pPr>
              <a:defRPr sz="900" b="0">
                <a:solidFill>
                  <a:srgbClr val="D57530"/>
                </a:solidFill>
                <a:latin typeface="Calibri"/>
                <a:ea typeface="Calibri"/>
                <a:cs typeface="Calibri"/>
              </a:defRPr>
            </a:lvl9pPr>
          </a:lstStyle>
          <a:p>
            <a:pPr>
              <a:defRPr sz="900" b="0">
                <a:solidFill>
                  <a:srgbClr val="D57530"/>
                </a:solidFill>
                <a:latin typeface="Calibri"/>
                <a:ea typeface="Calibri"/>
                <a:cs typeface="Calibri"/>
              </a:defRPr>
            </a:pPr>
            <a:r>
              <a:rPr sz="900" b="0">
                <a:solidFill>
                  <a:srgbClr val="D57530"/>
                </a:solidFill>
                <a:latin typeface="Calibri"/>
                <a:ea typeface="Calibri"/>
                <a:cs typeface="Calibri"/>
              </a:rPr>
              <a:t>■</a:t>
            </a:r>
          </a:p>
        </p:txBody>
      </p:sp>
      <p:sp>
        <p:nvSpPr>
          <p:cNvPr id="115" name="Rectangle 114">
            <a:extLst>
              <a:ext uri="{FF2B5EF4-FFF2-40B4-BE49-F238E27FC236}">
                <a16:creationId xmlns:a16="http://schemas.microsoft.com/office/drawing/2014/main" id="{FF817276-C06F-6AB4-74E0-A51D5F9AC8EB}"/>
              </a:ext>
            </a:extLst>
          </p:cNvPr>
          <p:cNvSpPr>
            <a:spLocks noGrp="1"/>
          </p:cNvSpPr>
          <p:nvPr/>
        </p:nvSpPr>
        <p:spPr>
          <a:xfrm>
            <a:off x="581025" y="4229100"/>
            <a:ext cx="2857500" cy="200025"/>
          </a:xfrm>
          <a:prstGeom prst="rect">
            <a:avLst/>
          </a:prstGeom>
          <a:noFill/>
          <a:ln w="0">
            <a:noFill/>
            <a:prstDash val="solid"/>
          </a:ln>
        </p:spPr>
        <p:txBody>
          <a:bodyPr lIns="0" tIns="0" rIns="0" bIns="0"/>
          <a:lstStyle>
            <a:defPPr>
              <a:defRPr sz="975" b="0">
                <a:solidFill>
                  <a:srgbClr val="000000"/>
                </a:solidFill>
                <a:latin typeface="Calibri"/>
                <a:ea typeface="Calibri"/>
                <a:cs typeface="Calibri"/>
              </a:defRPr>
            </a:defPPr>
            <a:lvl1pPr>
              <a:defRPr sz="975" b="0">
                <a:solidFill>
                  <a:srgbClr val="000000"/>
                </a:solidFill>
                <a:latin typeface="Calibri"/>
                <a:ea typeface="Calibri"/>
                <a:cs typeface="Calibri"/>
              </a:defRPr>
            </a:lvl1pPr>
            <a:lvl2pPr>
              <a:defRPr sz="975" b="0">
                <a:solidFill>
                  <a:srgbClr val="000000"/>
                </a:solidFill>
                <a:latin typeface="Calibri"/>
                <a:ea typeface="Calibri"/>
                <a:cs typeface="Calibri"/>
              </a:defRPr>
            </a:lvl2pPr>
            <a:lvl3pPr>
              <a:defRPr sz="975" b="0">
                <a:solidFill>
                  <a:srgbClr val="000000"/>
                </a:solidFill>
                <a:latin typeface="Calibri"/>
                <a:ea typeface="Calibri"/>
                <a:cs typeface="Calibri"/>
              </a:defRPr>
            </a:lvl3pPr>
            <a:lvl4pPr>
              <a:defRPr sz="975" b="0">
                <a:solidFill>
                  <a:srgbClr val="000000"/>
                </a:solidFill>
                <a:latin typeface="Calibri"/>
                <a:ea typeface="Calibri"/>
                <a:cs typeface="Calibri"/>
              </a:defRPr>
            </a:lvl4pPr>
            <a:lvl5pPr>
              <a:defRPr sz="975" b="0">
                <a:solidFill>
                  <a:srgbClr val="000000"/>
                </a:solidFill>
                <a:latin typeface="Calibri"/>
                <a:ea typeface="Calibri"/>
                <a:cs typeface="Calibri"/>
              </a:defRPr>
            </a:lvl5pPr>
            <a:lvl6pPr>
              <a:defRPr sz="975" b="0">
                <a:solidFill>
                  <a:srgbClr val="000000"/>
                </a:solidFill>
                <a:latin typeface="Calibri"/>
                <a:ea typeface="Calibri"/>
                <a:cs typeface="Calibri"/>
              </a:defRPr>
            </a:lvl6pPr>
            <a:lvl7pPr>
              <a:defRPr sz="975" b="0">
                <a:solidFill>
                  <a:srgbClr val="000000"/>
                </a:solidFill>
                <a:latin typeface="Calibri"/>
                <a:ea typeface="Calibri"/>
                <a:cs typeface="Calibri"/>
              </a:defRPr>
            </a:lvl7pPr>
            <a:lvl8pPr>
              <a:defRPr sz="975" b="0">
                <a:solidFill>
                  <a:srgbClr val="000000"/>
                </a:solidFill>
                <a:latin typeface="Calibri"/>
                <a:ea typeface="Calibri"/>
                <a:cs typeface="Calibri"/>
              </a:defRPr>
            </a:lvl8pPr>
            <a:lvl9pPr>
              <a:defRPr sz="975" b="0">
                <a:solidFill>
                  <a:srgbClr val="000000"/>
                </a:solidFill>
                <a:latin typeface="Calibri"/>
                <a:ea typeface="Calibri"/>
                <a:cs typeface="Calibri"/>
              </a:defRPr>
            </a:lvl9pPr>
          </a:lstStyle>
          <a:p>
            <a:pPr>
              <a:defRPr sz="975" b="0">
                <a:solidFill>
                  <a:srgbClr val="000000"/>
                </a:solidFill>
                <a:latin typeface="Calibri"/>
                <a:ea typeface="Calibri"/>
                <a:cs typeface="Calibri"/>
              </a:defRPr>
            </a:pPr>
            <a:r>
              <a:rPr sz="975" b="0">
                <a:solidFill>
                  <a:srgbClr val="000000"/>
                </a:solidFill>
                <a:latin typeface="Calibri"/>
                <a:ea typeface="Calibri"/>
                <a:cs typeface="Calibri"/>
              </a:rPr>
              <a:t>Horizontal propulsion: 43.5 kg (13%)</a:t>
            </a:r>
          </a:p>
        </p:txBody>
      </p:sp>
      <p:sp>
        <p:nvSpPr>
          <p:cNvPr id="116" name="Rectangle 115">
            <a:extLst>
              <a:ext uri="{FF2B5EF4-FFF2-40B4-BE49-F238E27FC236}">
                <a16:creationId xmlns:a16="http://schemas.microsoft.com/office/drawing/2014/main" id="{5D942157-0BF0-FBE6-F6DD-3B0E70004D37}"/>
              </a:ext>
            </a:extLst>
          </p:cNvPr>
          <p:cNvSpPr>
            <a:spLocks noGrp="1"/>
          </p:cNvSpPr>
          <p:nvPr/>
        </p:nvSpPr>
        <p:spPr>
          <a:xfrm>
            <a:off x="428625" y="4400550"/>
            <a:ext cx="142875" cy="171450"/>
          </a:xfrm>
          <a:prstGeom prst="rect">
            <a:avLst/>
          </a:prstGeom>
          <a:noFill/>
          <a:ln w="0">
            <a:noFill/>
            <a:prstDash val="solid"/>
          </a:ln>
        </p:spPr>
        <p:txBody>
          <a:bodyPr lIns="0" tIns="0" rIns="0" bIns="0"/>
          <a:lstStyle>
            <a:defPPr>
              <a:defRPr sz="900" b="0">
                <a:solidFill>
                  <a:srgbClr val="8A9A42"/>
                </a:solidFill>
                <a:latin typeface="Calibri"/>
                <a:ea typeface="Calibri"/>
                <a:cs typeface="Calibri"/>
              </a:defRPr>
            </a:defPPr>
            <a:lvl1pPr>
              <a:defRPr sz="900" b="0">
                <a:solidFill>
                  <a:srgbClr val="8A9A42"/>
                </a:solidFill>
                <a:latin typeface="Calibri"/>
                <a:ea typeface="Calibri"/>
                <a:cs typeface="Calibri"/>
              </a:defRPr>
            </a:lvl1pPr>
            <a:lvl2pPr>
              <a:defRPr sz="900" b="0">
                <a:solidFill>
                  <a:srgbClr val="8A9A42"/>
                </a:solidFill>
                <a:latin typeface="Calibri"/>
                <a:ea typeface="Calibri"/>
                <a:cs typeface="Calibri"/>
              </a:defRPr>
            </a:lvl2pPr>
            <a:lvl3pPr>
              <a:defRPr sz="900" b="0">
                <a:solidFill>
                  <a:srgbClr val="8A9A42"/>
                </a:solidFill>
                <a:latin typeface="Calibri"/>
                <a:ea typeface="Calibri"/>
                <a:cs typeface="Calibri"/>
              </a:defRPr>
            </a:lvl3pPr>
            <a:lvl4pPr>
              <a:defRPr sz="900" b="0">
                <a:solidFill>
                  <a:srgbClr val="8A9A42"/>
                </a:solidFill>
                <a:latin typeface="Calibri"/>
                <a:ea typeface="Calibri"/>
                <a:cs typeface="Calibri"/>
              </a:defRPr>
            </a:lvl4pPr>
            <a:lvl5pPr>
              <a:defRPr sz="900" b="0">
                <a:solidFill>
                  <a:srgbClr val="8A9A42"/>
                </a:solidFill>
                <a:latin typeface="Calibri"/>
                <a:ea typeface="Calibri"/>
                <a:cs typeface="Calibri"/>
              </a:defRPr>
            </a:lvl5pPr>
            <a:lvl6pPr>
              <a:defRPr sz="900" b="0">
                <a:solidFill>
                  <a:srgbClr val="8A9A42"/>
                </a:solidFill>
                <a:latin typeface="Calibri"/>
                <a:ea typeface="Calibri"/>
                <a:cs typeface="Calibri"/>
              </a:defRPr>
            </a:lvl6pPr>
            <a:lvl7pPr>
              <a:defRPr sz="900" b="0">
                <a:solidFill>
                  <a:srgbClr val="8A9A42"/>
                </a:solidFill>
                <a:latin typeface="Calibri"/>
                <a:ea typeface="Calibri"/>
                <a:cs typeface="Calibri"/>
              </a:defRPr>
            </a:lvl7pPr>
            <a:lvl8pPr>
              <a:defRPr sz="900" b="0">
                <a:solidFill>
                  <a:srgbClr val="8A9A42"/>
                </a:solidFill>
                <a:latin typeface="Calibri"/>
                <a:ea typeface="Calibri"/>
                <a:cs typeface="Calibri"/>
              </a:defRPr>
            </a:lvl8pPr>
            <a:lvl9pPr>
              <a:defRPr sz="900" b="0">
                <a:solidFill>
                  <a:srgbClr val="8A9A42"/>
                </a:solidFill>
                <a:latin typeface="Calibri"/>
                <a:ea typeface="Calibri"/>
                <a:cs typeface="Calibri"/>
              </a:defRPr>
            </a:lvl9pPr>
          </a:lstStyle>
          <a:p>
            <a:pPr>
              <a:defRPr sz="900" b="0">
                <a:solidFill>
                  <a:srgbClr val="8A9A42"/>
                </a:solidFill>
                <a:latin typeface="Calibri"/>
                <a:ea typeface="Calibri"/>
                <a:cs typeface="Calibri"/>
              </a:defRPr>
            </a:pPr>
            <a:r>
              <a:rPr sz="900" b="0">
                <a:solidFill>
                  <a:srgbClr val="8A9A42"/>
                </a:solidFill>
                <a:latin typeface="Calibri"/>
                <a:ea typeface="Calibri"/>
                <a:cs typeface="Calibri"/>
              </a:rPr>
              <a:t>■</a:t>
            </a:r>
          </a:p>
        </p:txBody>
      </p:sp>
      <p:sp>
        <p:nvSpPr>
          <p:cNvPr id="117" name="Rectangle 116">
            <a:extLst>
              <a:ext uri="{FF2B5EF4-FFF2-40B4-BE49-F238E27FC236}">
                <a16:creationId xmlns:a16="http://schemas.microsoft.com/office/drawing/2014/main" id="{4B71BF7F-3B40-EADA-2CD0-88816ABED79F}"/>
              </a:ext>
            </a:extLst>
          </p:cNvPr>
          <p:cNvSpPr>
            <a:spLocks noGrp="1"/>
          </p:cNvSpPr>
          <p:nvPr/>
        </p:nvSpPr>
        <p:spPr>
          <a:xfrm>
            <a:off x="581025" y="4400550"/>
            <a:ext cx="2857500" cy="200025"/>
          </a:xfrm>
          <a:prstGeom prst="rect">
            <a:avLst/>
          </a:prstGeom>
          <a:noFill/>
          <a:ln w="0">
            <a:noFill/>
            <a:prstDash val="solid"/>
          </a:ln>
        </p:spPr>
        <p:txBody>
          <a:bodyPr lIns="0" tIns="0" rIns="0" bIns="0"/>
          <a:lstStyle>
            <a:defPPr>
              <a:defRPr sz="975" b="0">
                <a:solidFill>
                  <a:srgbClr val="000000"/>
                </a:solidFill>
                <a:latin typeface="Calibri"/>
                <a:ea typeface="Calibri"/>
                <a:cs typeface="Calibri"/>
              </a:defRPr>
            </a:defPPr>
            <a:lvl1pPr>
              <a:defRPr sz="975" b="0">
                <a:solidFill>
                  <a:srgbClr val="000000"/>
                </a:solidFill>
                <a:latin typeface="Calibri"/>
                <a:ea typeface="Calibri"/>
                <a:cs typeface="Calibri"/>
              </a:defRPr>
            </a:lvl1pPr>
            <a:lvl2pPr>
              <a:defRPr sz="975" b="0">
                <a:solidFill>
                  <a:srgbClr val="000000"/>
                </a:solidFill>
                <a:latin typeface="Calibri"/>
                <a:ea typeface="Calibri"/>
                <a:cs typeface="Calibri"/>
              </a:defRPr>
            </a:lvl2pPr>
            <a:lvl3pPr>
              <a:defRPr sz="975" b="0">
                <a:solidFill>
                  <a:srgbClr val="000000"/>
                </a:solidFill>
                <a:latin typeface="Calibri"/>
                <a:ea typeface="Calibri"/>
                <a:cs typeface="Calibri"/>
              </a:defRPr>
            </a:lvl3pPr>
            <a:lvl4pPr>
              <a:defRPr sz="975" b="0">
                <a:solidFill>
                  <a:srgbClr val="000000"/>
                </a:solidFill>
                <a:latin typeface="Calibri"/>
                <a:ea typeface="Calibri"/>
                <a:cs typeface="Calibri"/>
              </a:defRPr>
            </a:lvl4pPr>
            <a:lvl5pPr>
              <a:defRPr sz="975" b="0">
                <a:solidFill>
                  <a:srgbClr val="000000"/>
                </a:solidFill>
                <a:latin typeface="Calibri"/>
                <a:ea typeface="Calibri"/>
                <a:cs typeface="Calibri"/>
              </a:defRPr>
            </a:lvl5pPr>
            <a:lvl6pPr>
              <a:defRPr sz="975" b="0">
                <a:solidFill>
                  <a:srgbClr val="000000"/>
                </a:solidFill>
                <a:latin typeface="Calibri"/>
                <a:ea typeface="Calibri"/>
                <a:cs typeface="Calibri"/>
              </a:defRPr>
            </a:lvl6pPr>
            <a:lvl7pPr>
              <a:defRPr sz="975" b="0">
                <a:solidFill>
                  <a:srgbClr val="000000"/>
                </a:solidFill>
                <a:latin typeface="Calibri"/>
                <a:ea typeface="Calibri"/>
                <a:cs typeface="Calibri"/>
              </a:defRPr>
            </a:lvl7pPr>
            <a:lvl8pPr>
              <a:defRPr sz="975" b="0">
                <a:solidFill>
                  <a:srgbClr val="000000"/>
                </a:solidFill>
                <a:latin typeface="Calibri"/>
                <a:ea typeface="Calibri"/>
                <a:cs typeface="Calibri"/>
              </a:defRPr>
            </a:lvl8pPr>
            <a:lvl9pPr>
              <a:defRPr sz="975" b="0">
                <a:solidFill>
                  <a:srgbClr val="000000"/>
                </a:solidFill>
                <a:latin typeface="Calibri"/>
                <a:ea typeface="Calibri"/>
                <a:cs typeface="Calibri"/>
              </a:defRPr>
            </a:lvl9pPr>
          </a:lstStyle>
          <a:p>
            <a:pPr>
              <a:defRPr sz="975" b="0">
                <a:solidFill>
                  <a:srgbClr val="000000"/>
                </a:solidFill>
                <a:latin typeface="Calibri"/>
                <a:ea typeface="Calibri"/>
                <a:cs typeface="Calibri"/>
              </a:defRPr>
            </a:pPr>
            <a:r>
              <a:rPr sz="975" b="0">
                <a:solidFill>
                  <a:srgbClr val="000000"/>
                </a:solidFill>
                <a:latin typeface="Calibri"/>
                <a:ea typeface="Calibri"/>
                <a:cs typeface="Calibri"/>
              </a:rPr>
              <a:t>Fuel-system hardware: 5.3 kg (2%)</a:t>
            </a:r>
          </a:p>
        </p:txBody>
      </p:sp>
      <p:sp>
        <p:nvSpPr>
          <p:cNvPr id="118" name="Rectangle 117">
            <a:extLst>
              <a:ext uri="{FF2B5EF4-FFF2-40B4-BE49-F238E27FC236}">
                <a16:creationId xmlns:a16="http://schemas.microsoft.com/office/drawing/2014/main" id="{42018B60-0C34-E675-705F-7A91F154BA3A}"/>
              </a:ext>
            </a:extLst>
          </p:cNvPr>
          <p:cNvSpPr>
            <a:spLocks noGrp="1"/>
          </p:cNvSpPr>
          <p:nvPr/>
        </p:nvSpPr>
        <p:spPr>
          <a:xfrm>
            <a:off x="428625" y="4572000"/>
            <a:ext cx="142875" cy="171450"/>
          </a:xfrm>
          <a:prstGeom prst="rect">
            <a:avLst/>
          </a:prstGeom>
          <a:noFill/>
          <a:ln w="0">
            <a:noFill/>
            <a:prstDash val="solid"/>
          </a:ln>
        </p:spPr>
        <p:txBody>
          <a:bodyPr lIns="0" tIns="0" rIns="0" bIns="0"/>
          <a:lstStyle>
            <a:defPPr>
              <a:defRPr sz="900" b="0">
                <a:solidFill>
                  <a:srgbClr val="D2AB39"/>
                </a:solidFill>
                <a:latin typeface="Calibri"/>
                <a:ea typeface="Calibri"/>
                <a:cs typeface="Calibri"/>
              </a:defRPr>
            </a:defPPr>
            <a:lvl1pPr>
              <a:defRPr sz="900" b="0">
                <a:solidFill>
                  <a:srgbClr val="D2AB39"/>
                </a:solidFill>
                <a:latin typeface="Calibri"/>
                <a:ea typeface="Calibri"/>
                <a:cs typeface="Calibri"/>
              </a:defRPr>
            </a:lvl1pPr>
            <a:lvl2pPr>
              <a:defRPr sz="900" b="0">
                <a:solidFill>
                  <a:srgbClr val="D2AB39"/>
                </a:solidFill>
                <a:latin typeface="Calibri"/>
                <a:ea typeface="Calibri"/>
                <a:cs typeface="Calibri"/>
              </a:defRPr>
            </a:lvl2pPr>
            <a:lvl3pPr>
              <a:defRPr sz="900" b="0">
                <a:solidFill>
                  <a:srgbClr val="D2AB39"/>
                </a:solidFill>
                <a:latin typeface="Calibri"/>
                <a:ea typeface="Calibri"/>
                <a:cs typeface="Calibri"/>
              </a:defRPr>
            </a:lvl3pPr>
            <a:lvl4pPr>
              <a:defRPr sz="900" b="0">
                <a:solidFill>
                  <a:srgbClr val="D2AB39"/>
                </a:solidFill>
                <a:latin typeface="Calibri"/>
                <a:ea typeface="Calibri"/>
                <a:cs typeface="Calibri"/>
              </a:defRPr>
            </a:lvl4pPr>
            <a:lvl5pPr>
              <a:defRPr sz="900" b="0">
                <a:solidFill>
                  <a:srgbClr val="D2AB39"/>
                </a:solidFill>
                <a:latin typeface="Calibri"/>
                <a:ea typeface="Calibri"/>
                <a:cs typeface="Calibri"/>
              </a:defRPr>
            </a:lvl5pPr>
            <a:lvl6pPr>
              <a:defRPr sz="900" b="0">
                <a:solidFill>
                  <a:srgbClr val="D2AB39"/>
                </a:solidFill>
                <a:latin typeface="Calibri"/>
                <a:ea typeface="Calibri"/>
                <a:cs typeface="Calibri"/>
              </a:defRPr>
            </a:lvl6pPr>
            <a:lvl7pPr>
              <a:defRPr sz="900" b="0">
                <a:solidFill>
                  <a:srgbClr val="D2AB39"/>
                </a:solidFill>
                <a:latin typeface="Calibri"/>
                <a:ea typeface="Calibri"/>
                <a:cs typeface="Calibri"/>
              </a:defRPr>
            </a:lvl7pPr>
            <a:lvl8pPr>
              <a:defRPr sz="900" b="0">
                <a:solidFill>
                  <a:srgbClr val="D2AB39"/>
                </a:solidFill>
                <a:latin typeface="Calibri"/>
                <a:ea typeface="Calibri"/>
                <a:cs typeface="Calibri"/>
              </a:defRPr>
            </a:lvl8pPr>
            <a:lvl9pPr>
              <a:defRPr sz="900" b="0">
                <a:solidFill>
                  <a:srgbClr val="D2AB39"/>
                </a:solidFill>
                <a:latin typeface="Calibri"/>
                <a:ea typeface="Calibri"/>
                <a:cs typeface="Calibri"/>
              </a:defRPr>
            </a:lvl9pPr>
          </a:lstStyle>
          <a:p>
            <a:pPr>
              <a:defRPr sz="900" b="0">
                <a:solidFill>
                  <a:srgbClr val="D2AB39"/>
                </a:solidFill>
                <a:latin typeface="Calibri"/>
                <a:ea typeface="Calibri"/>
                <a:cs typeface="Calibri"/>
              </a:defRPr>
            </a:pPr>
            <a:r>
              <a:rPr sz="900" b="0">
                <a:solidFill>
                  <a:srgbClr val="D2AB39"/>
                </a:solidFill>
                <a:latin typeface="Calibri"/>
                <a:ea typeface="Calibri"/>
                <a:cs typeface="Calibri"/>
              </a:rPr>
              <a:t>■</a:t>
            </a:r>
          </a:p>
        </p:txBody>
      </p:sp>
      <p:sp>
        <p:nvSpPr>
          <p:cNvPr id="119" name="Rectangle 118">
            <a:extLst>
              <a:ext uri="{FF2B5EF4-FFF2-40B4-BE49-F238E27FC236}">
                <a16:creationId xmlns:a16="http://schemas.microsoft.com/office/drawing/2014/main" id="{8C30FBB4-C5E3-1B76-C8EA-2779E9F51E50}"/>
              </a:ext>
            </a:extLst>
          </p:cNvPr>
          <p:cNvSpPr>
            <a:spLocks noGrp="1"/>
          </p:cNvSpPr>
          <p:nvPr/>
        </p:nvSpPr>
        <p:spPr>
          <a:xfrm>
            <a:off x="581025" y="4572000"/>
            <a:ext cx="2857500" cy="200025"/>
          </a:xfrm>
          <a:prstGeom prst="rect">
            <a:avLst/>
          </a:prstGeom>
          <a:noFill/>
          <a:ln w="0">
            <a:noFill/>
            <a:prstDash val="solid"/>
          </a:ln>
        </p:spPr>
        <p:txBody>
          <a:bodyPr lIns="0" tIns="0" rIns="0" bIns="0"/>
          <a:lstStyle>
            <a:defPPr>
              <a:defRPr sz="975" b="0">
                <a:solidFill>
                  <a:srgbClr val="000000"/>
                </a:solidFill>
                <a:latin typeface="Calibri"/>
                <a:ea typeface="Calibri"/>
                <a:cs typeface="Calibri"/>
              </a:defRPr>
            </a:defPPr>
            <a:lvl1pPr>
              <a:defRPr sz="975" b="0">
                <a:solidFill>
                  <a:srgbClr val="000000"/>
                </a:solidFill>
                <a:latin typeface="Calibri"/>
                <a:ea typeface="Calibri"/>
                <a:cs typeface="Calibri"/>
              </a:defRPr>
            </a:lvl1pPr>
            <a:lvl2pPr>
              <a:defRPr sz="975" b="0">
                <a:solidFill>
                  <a:srgbClr val="000000"/>
                </a:solidFill>
                <a:latin typeface="Calibri"/>
                <a:ea typeface="Calibri"/>
                <a:cs typeface="Calibri"/>
              </a:defRPr>
            </a:lvl2pPr>
            <a:lvl3pPr>
              <a:defRPr sz="975" b="0">
                <a:solidFill>
                  <a:srgbClr val="000000"/>
                </a:solidFill>
                <a:latin typeface="Calibri"/>
                <a:ea typeface="Calibri"/>
                <a:cs typeface="Calibri"/>
              </a:defRPr>
            </a:lvl3pPr>
            <a:lvl4pPr>
              <a:defRPr sz="975" b="0">
                <a:solidFill>
                  <a:srgbClr val="000000"/>
                </a:solidFill>
                <a:latin typeface="Calibri"/>
                <a:ea typeface="Calibri"/>
                <a:cs typeface="Calibri"/>
              </a:defRPr>
            </a:lvl4pPr>
            <a:lvl5pPr>
              <a:defRPr sz="975" b="0">
                <a:solidFill>
                  <a:srgbClr val="000000"/>
                </a:solidFill>
                <a:latin typeface="Calibri"/>
                <a:ea typeface="Calibri"/>
                <a:cs typeface="Calibri"/>
              </a:defRPr>
            </a:lvl5pPr>
            <a:lvl6pPr>
              <a:defRPr sz="975" b="0">
                <a:solidFill>
                  <a:srgbClr val="000000"/>
                </a:solidFill>
                <a:latin typeface="Calibri"/>
                <a:ea typeface="Calibri"/>
                <a:cs typeface="Calibri"/>
              </a:defRPr>
            </a:lvl6pPr>
            <a:lvl7pPr>
              <a:defRPr sz="975" b="0">
                <a:solidFill>
                  <a:srgbClr val="000000"/>
                </a:solidFill>
                <a:latin typeface="Calibri"/>
                <a:ea typeface="Calibri"/>
                <a:cs typeface="Calibri"/>
              </a:defRPr>
            </a:lvl7pPr>
            <a:lvl8pPr>
              <a:defRPr sz="975" b="0">
                <a:solidFill>
                  <a:srgbClr val="000000"/>
                </a:solidFill>
                <a:latin typeface="Calibri"/>
                <a:ea typeface="Calibri"/>
                <a:cs typeface="Calibri"/>
              </a:defRPr>
            </a:lvl8pPr>
            <a:lvl9pPr>
              <a:defRPr sz="975" b="0">
                <a:solidFill>
                  <a:srgbClr val="000000"/>
                </a:solidFill>
                <a:latin typeface="Calibri"/>
                <a:ea typeface="Calibri"/>
                <a:cs typeface="Calibri"/>
              </a:defRPr>
            </a:lvl9pPr>
          </a:lstStyle>
          <a:p>
            <a:pPr>
              <a:defRPr sz="975" b="0">
                <a:solidFill>
                  <a:srgbClr val="000000"/>
                </a:solidFill>
                <a:latin typeface="Calibri"/>
                <a:ea typeface="Calibri"/>
                <a:cs typeface="Calibri"/>
              </a:defRPr>
            </a:pPr>
            <a:r>
              <a:rPr sz="975" b="0">
                <a:solidFill>
                  <a:srgbClr val="000000"/>
                </a:solidFill>
                <a:latin typeface="Calibri"/>
                <a:ea typeface="Calibri"/>
                <a:cs typeface="Calibri"/>
              </a:rPr>
              <a:t>Payload: 30.0 kg (9%)</a:t>
            </a:r>
          </a:p>
        </p:txBody>
      </p:sp>
      <p:sp>
        <p:nvSpPr>
          <p:cNvPr id="120" name="Rectangle 119">
            <a:extLst>
              <a:ext uri="{FF2B5EF4-FFF2-40B4-BE49-F238E27FC236}">
                <a16:creationId xmlns:a16="http://schemas.microsoft.com/office/drawing/2014/main" id="{EA4401E1-350C-9A8E-4AA8-59F57DDFC7E3}"/>
              </a:ext>
            </a:extLst>
          </p:cNvPr>
          <p:cNvSpPr>
            <a:spLocks noGrp="1"/>
          </p:cNvSpPr>
          <p:nvPr/>
        </p:nvSpPr>
        <p:spPr>
          <a:xfrm>
            <a:off x="428625" y="4743450"/>
            <a:ext cx="142875" cy="171450"/>
          </a:xfrm>
          <a:prstGeom prst="rect">
            <a:avLst/>
          </a:prstGeom>
          <a:noFill/>
          <a:ln w="0">
            <a:noFill/>
            <a:prstDash val="solid"/>
          </a:ln>
        </p:spPr>
        <p:txBody>
          <a:bodyPr lIns="0" tIns="0" rIns="0" bIns="0"/>
          <a:lstStyle>
            <a:defPPr>
              <a:defRPr sz="900" b="0">
                <a:solidFill>
                  <a:srgbClr val="518BB7"/>
                </a:solidFill>
                <a:latin typeface="Calibri"/>
                <a:ea typeface="Calibri"/>
                <a:cs typeface="Calibri"/>
              </a:defRPr>
            </a:defPPr>
            <a:lvl1pPr>
              <a:defRPr sz="900" b="0">
                <a:solidFill>
                  <a:srgbClr val="518BB7"/>
                </a:solidFill>
                <a:latin typeface="Calibri"/>
                <a:ea typeface="Calibri"/>
                <a:cs typeface="Calibri"/>
              </a:defRPr>
            </a:lvl1pPr>
            <a:lvl2pPr>
              <a:defRPr sz="900" b="0">
                <a:solidFill>
                  <a:srgbClr val="518BB7"/>
                </a:solidFill>
                <a:latin typeface="Calibri"/>
                <a:ea typeface="Calibri"/>
                <a:cs typeface="Calibri"/>
              </a:defRPr>
            </a:lvl2pPr>
            <a:lvl3pPr>
              <a:defRPr sz="900" b="0">
                <a:solidFill>
                  <a:srgbClr val="518BB7"/>
                </a:solidFill>
                <a:latin typeface="Calibri"/>
                <a:ea typeface="Calibri"/>
                <a:cs typeface="Calibri"/>
              </a:defRPr>
            </a:lvl3pPr>
            <a:lvl4pPr>
              <a:defRPr sz="900" b="0">
                <a:solidFill>
                  <a:srgbClr val="518BB7"/>
                </a:solidFill>
                <a:latin typeface="Calibri"/>
                <a:ea typeface="Calibri"/>
                <a:cs typeface="Calibri"/>
              </a:defRPr>
            </a:lvl4pPr>
            <a:lvl5pPr>
              <a:defRPr sz="900" b="0">
                <a:solidFill>
                  <a:srgbClr val="518BB7"/>
                </a:solidFill>
                <a:latin typeface="Calibri"/>
                <a:ea typeface="Calibri"/>
                <a:cs typeface="Calibri"/>
              </a:defRPr>
            </a:lvl5pPr>
            <a:lvl6pPr>
              <a:defRPr sz="900" b="0">
                <a:solidFill>
                  <a:srgbClr val="518BB7"/>
                </a:solidFill>
                <a:latin typeface="Calibri"/>
                <a:ea typeface="Calibri"/>
                <a:cs typeface="Calibri"/>
              </a:defRPr>
            </a:lvl6pPr>
            <a:lvl7pPr>
              <a:defRPr sz="900" b="0">
                <a:solidFill>
                  <a:srgbClr val="518BB7"/>
                </a:solidFill>
                <a:latin typeface="Calibri"/>
                <a:ea typeface="Calibri"/>
                <a:cs typeface="Calibri"/>
              </a:defRPr>
            </a:lvl7pPr>
            <a:lvl8pPr>
              <a:defRPr sz="900" b="0">
                <a:solidFill>
                  <a:srgbClr val="518BB7"/>
                </a:solidFill>
                <a:latin typeface="Calibri"/>
                <a:ea typeface="Calibri"/>
                <a:cs typeface="Calibri"/>
              </a:defRPr>
            </a:lvl8pPr>
            <a:lvl9pPr>
              <a:defRPr sz="900" b="0">
                <a:solidFill>
                  <a:srgbClr val="518BB7"/>
                </a:solidFill>
                <a:latin typeface="Calibri"/>
                <a:ea typeface="Calibri"/>
                <a:cs typeface="Calibri"/>
              </a:defRPr>
            </a:lvl9pPr>
          </a:lstStyle>
          <a:p>
            <a:pPr>
              <a:defRPr sz="900" b="0">
                <a:solidFill>
                  <a:srgbClr val="518BB7"/>
                </a:solidFill>
                <a:latin typeface="Calibri"/>
                <a:ea typeface="Calibri"/>
                <a:cs typeface="Calibri"/>
              </a:defRPr>
            </a:pPr>
            <a:r>
              <a:rPr sz="900" b="0">
                <a:solidFill>
                  <a:srgbClr val="518BB7"/>
                </a:solidFill>
                <a:latin typeface="Calibri"/>
                <a:ea typeface="Calibri"/>
                <a:cs typeface="Calibri"/>
              </a:rPr>
              <a:t>■</a:t>
            </a:r>
          </a:p>
        </p:txBody>
      </p:sp>
      <p:sp>
        <p:nvSpPr>
          <p:cNvPr id="121" name="Rectangle 120">
            <a:extLst>
              <a:ext uri="{FF2B5EF4-FFF2-40B4-BE49-F238E27FC236}">
                <a16:creationId xmlns:a16="http://schemas.microsoft.com/office/drawing/2014/main" id="{124687F6-BB2C-1003-5A73-044D0A39FE56}"/>
              </a:ext>
            </a:extLst>
          </p:cNvPr>
          <p:cNvSpPr>
            <a:spLocks noGrp="1"/>
          </p:cNvSpPr>
          <p:nvPr/>
        </p:nvSpPr>
        <p:spPr>
          <a:xfrm>
            <a:off x="581025" y="4743450"/>
            <a:ext cx="2857500" cy="200025"/>
          </a:xfrm>
          <a:prstGeom prst="rect">
            <a:avLst/>
          </a:prstGeom>
          <a:noFill/>
          <a:ln w="0">
            <a:noFill/>
            <a:prstDash val="solid"/>
          </a:ln>
        </p:spPr>
        <p:txBody>
          <a:bodyPr lIns="0" tIns="0" rIns="0" bIns="0"/>
          <a:lstStyle>
            <a:defPPr>
              <a:defRPr sz="975" b="0">
                <a:solidFill>
                  <a:srgbClr val="000000"/>
                </a:solidFill>
                <a:latin typeface="Calibri"/>
                <a:ea typeface="Calibri"/>
                <a:cs typeface="Calibri"/>
              </a:defRPr>
            </a:defPPr>
            <a:lvl1pPr>
              <a:defRPr sz="975" b="0">
                <a:solidFill>
                  <a:srgbClr val="000000"/>
                </a:solidFill>
                <a:latin typeface="Calibri"/>
                <a:ea typeface="Calibri"/>
                <a:cs typeface="Calibri"/>
              </a:defRPr>
            </a:lvl1pPr>
            <a:lvl2pPr>
              <a:defRPr sz="975" b="0">
                <a:solidFill>
                  <a:srgbClr val="000000"/>
                </a:solidFill>
                <a:latin typeface="Calibri"/>
                <a:ea typeface="Calibri"/>
                <a:cs typeface="Calibri"/>
              </a:defRPr>
            </a:lvl2pPr>
            <a:lvl3pPr>
              <a:defRPr sz="975" b="0">
                <a:solidFill>
                  <a:srgbClr val="000000"/>
                </a:solidFill>
                <a:latin typeface="Calibri"/>
                <a:ea typeface="Calibri"/>
                <a:cs typeface="Calibri"/>
              </a:defRPr>
            </a:lvl3pPr>
            <a:lvl4pPr>
              <a:defRPr sz="975" b="0">
                <a:solidFill>
                  <a:srgbClr val="000000"/>
                </a:solidFill>
                <a:latin typeface="Calibri"/>
                <a:ea typeface="Calibri"/>
                <a:cs typeface="Calibri"/>
              </a:defRPr>
            </a:lvl4pPr>
            <a:lvl5pPr>
              <a:defRPr sz="975" b="0">
                <a:solidFill>
                  <a:srgbClr val="000000"/>
                </a:solidFill>
                <a:latin typeface="Calibri"/>
                <a:ea typeface="Calibri"/>
                <a:cs typeface="Calibri"/>
              </a:defRPr>
            </a:lvl5pPr>
            <a:lvl6pPr>
              <a:defRPr sz="975" b="0">
                <a:solidFill>
                  <a:srgbClr val="000000"/>
                </a:solidFill>
                <a:latin typeface="Calibri"/>
                <a:ea typeface="Calibri"/>
                <a:cs typeface="Calibri"/>
              </a:defRPr>
            </a:lvl6pPr>
            <a:lvl7pPr>
              <a:defRPr sz="975" b="0">
                <a:solidFill>
                  <a:srgbClr val="000000"/>
                </a:solidFill>
                <a:latin typeface="Calibri"/>
                <a:ea typeface="Calibri"/>
                <a:cs typeface="Calibri"/>
              </a:defRPr>
            </a:lvl7pPr>
            <a:lvl8pPr>
              <a:defRPr sz="975" b="0">
                <a:solidFill>
                  <a:srgbClr val="000000"/>
                </a:solidFill>
                <a:latin typeface="Calibri"/>
                <a:ea typeface="Calibri"/>
                <a:cs typeface="Calibri"/>
              </a:defRPr>
            </a:lvl8pPr>
            <a:lvl9pPr>
              <a:defRPr sz="975" b="0">
                <a:solidFill>
                  <a:srgbClr val="000000"/>
                </a:solidFill>
                <a:latin typeface="Calibri"/>
                <a:ea typeface="Calibri"/>
                <a:cs typeface="Calibri"/>
              </a:defRPr>
            </a:lvl9pPr>
          </a:lstStyle>
          <a:p>
            <a:pPr>
              <a:defRPr sz="975" b="0">
                <a:solidFill>
                  <a:srgbClr val="000000"/>
                </a:solidFill>
                <a:latin typeface="Calibri"/>
                <a:ea typeface="Calibri"/>
                <a:cs typeface="Calibri"/>
              </a:defRPr>
            </a:pPr>
            <a:r>
              <a:rPr sz="975" b="0">
                <a:solidFill>
                  <a:srgbClr val="000000"/>
                </a:solidFill>
                <a:latin typeface="Calibri"/>
                <a:ea typeface="Calibri"/>
                <a:cs typeface="Calibri"/>
              </a:rPr>
              <a:t>Fuel: 35.0 kg (10%)</a:t>
            </a:r>
          </a:p>
        </p:txBody>
      </p:sp>
      <p:sp>
        <p:nvSpPr>
          <p:cNvPr id="122" name="Rectangle 121">
            <a:extLst>
              <a:ext uri="{FF2B5EF4-FFF2-40B4-BE49-F238E27FC236}">
                <a16:creationId xmlns:a16="http://schemas.microsoft.com/office/drawing/2014/main" id="{C1137C71-A26E-836D-CAFF-E77E61D5300B}"/>
              </a:ext>
            </a:extLst>
          </p:cNvPr>
          <p:cNvSpPr>
            <a:spLocks noGrp="1"/>
          </p:cNvSpPr>
          <p:nvPr/>
        </p:nvSpPr>
        <p:spPr>
          <a:xfrm>
            <a:off x="428625" y="4914900"/>
            <a:ext cx="142875" cy="171450"/>
          </a:xfrm>
          <a:prstGeom prst="rect">
            <a:avLst/>
          </a:prstGeom>
          <a:noFill/>
          <a:ln w="0">
            <a:noFill/>
            <a:prstDash val="solid"/>
          </a:ln>
        </p:spPr>
        <p:txBody>
          <a:bodyPr lIns="0" tIns="0" rIns="0" bIns="0"/>
          <a:lstStyle>
            <a:defPPr>
              <a:defRPr sz="900" b="0">
                <a:solidFill>
                  <a:srgbClr val="B2BAC1"/>
                </a:solidFill>
                <a:latin typeface="Calibri"/>
                <a:ea typeface="Calibri"/>
                <a:cs typeface="Calibri"/>
              </a:defRPr>
            </a:defPPr>
            <a:lvl1pPr>
              <a:defRPr sz="900" b="0">
                <a:solidFill>
                  <a:srgbClr val="B2BAC1"/>
                </a:solidFill>
                <a:latin typeface="Calibri"/>
                <a:ea typeface="Calibri"/>
                <a:cs typeface="Calibri"/>
              </a:defRPr>
            </a:lvl1pPr>
            <a:lvl2pPr>
              <a:defRPr sz="900" b="0">
                <a:solidFill>
                  <a:srgbClr val="B2BAC1"/>
                </a:solidFill>
                <a:latin typeface="Calibri"/>
                <a:ea typeface="Calibri"/>
                <a:cs typeface="Calibri"/>
              </a:defRPr>
            </a:lvl2pPr>
            <a:lvl3pPr>
              <a:defRPr sz="900" b="0">
                <a:solidFill>
                  <a:srgbClr val="B2BAC1"/>
                </a:solidFill>
                <a:latin typeface="Calibri"/>
                <a:ea typeface="Calibri"/>
                <a:cs typeface="Calibri"/>
              </a:defRPr>
            </a:lvl3pPr>
            <a:lvl4pPr>
              <a:defRPr sz="900" b="0">
                <a:solidFill>
                  <a:srgbClr val="B2BAC1"/>
                </a:solidFill>
                <a:latin typeface="Calibri"/>
                <a:ea typeface="Calibri"/>
                <a:cs typeface="Calibri"/>
              </a:defRPr>
            </a:lvl4pPr>
            <a:lvl5pPr>
              <a:defRPr sz="900" b="0">
                <a:solidFill>
                  <a:srgbClr val="B2BAC1"/>
                </a:solidFill>
                <a:latin typeface="Calibri"/>
                <a:ea typeface="Calibri"/>
                <a:cs typeface="Calibri"/>
              </a:defRPr>
            </a:lvl5pPr>
            <a:lvl6pPr>
              <a:defRPr sz="900" b="0">
                <a:solidFill>
                  <a:srgbClr val="B2BAC1"/>
                </a:solidFill>
                <a:latin typeface="Calibri"/>
                <a:ea typeface="Calibri"/>
                <a:cs typeface="Calibri"/>
              </a:defRPr>
            </a:lvl6pPr>
            <a:lvl7pPr>
              <a:defRPr sz="900" b="0">
                <a:solidFill>
                  <a:srgbClr val="B2BAC1"/>
                </a:solidFill>
                <a:latin typeface="Calibri"/>
                <a:ea typeface="Calibri"/>
                <a:cs typeface="Calibri"/>
              </a:defRPr>
            </a:lvl7pPr>
            <a:lvl8pPr>
              <a:defRPr sz="900" b="0">
                <a:solidFill>
                  <a:srgbClr val="B2BAC1"/>
                </a:solidFill>
                <a:latin typeface="Calibri"/>
                <a:ea typeface="Calibri"/>
                <a:cs typeface="Calibri"/>
              </a:defRPr>
            </a:lvl8pPr>
            <a:lvl9pPr>
              <a:defRPr sz="900" b="0">
                <a:solidFill>
                  <a:srgbClr val="B2BAC1"/>
                </a:solidFill>
                <a:latin typeface="Calibri"/>
                <a:ea typeface="Calibri"/>
                <a:cs typeface="Calibri"/>
              </a:defRPr>
            </a:lvl9pPr>
          </a:lstStyle>
          <a:p>
            <a:pPr>
              <a:defRPr sz="900" b="0">
                <a:solidFill>
                  <a:srgbClr val="B2BAC1"/>
                </a:solidFill>
                <a:latin typeface="Calibri"/>
                <a:ea typeface="Calibri"/>
                <a:cs typeface="Calibri"/>
              </a:defRPr>
            </a:pPr>
            <a:r>
              <a:rPr sz="900" b="0">
                <a:solidFill>
                  <a:srgbClr val="B2BAC1"/>
                </a:solidFill>
                <a:latin typeface="Calibri"/>
                <a:ea typeface="Calibri"/>
                <a:cs typeface="Calibri"/>
              </a:rPr>
              <a:t>■</a:t>
            </a:r>
          </a:p>
        </p:txBody>
      </p:sp>
      <p:sp>
        <p:nvSpPr>
          <p:cNvPr id="123" name="Rectangle 122">
            <a:extLst>
              <a:ext uri="{FF2B5EF4-FFF2-40B4-BE49-F238E27FC236}">
                <a16:creationId xmlns:a16="http://schemas.microsoft.com/office/drawing/2014/main" id="{6BC9716D-5539-63C9-AE04-F2ECC0D784A0}"/>
              </a:ext>
            </a:extLst>
          </p:cNvPr>
          <p:cNvSpPr>
            <a:spLocks noGrp="1"/>
          </p:cNvSpPr>
          <p:nvPr/>
        </p:nvSpPr>
        <p:spPr>
          <a:xfrm>
            <a:off x="581025" y="4914900"/>
            <a:ext cx="2857500" cy="200025"/>
          </a:xfrm>
          <a:prstGeom prst="rect">
            <a:avLst/>
          </a:prstGeom>
          <a:noFill/>
          <a:ln w="0">
            <a:noFill/>
            <a:prstDash val="solid"/>
          </a:ln>
        </p:spPr>
        <p:txBody>
          <a:bodyPr lIns="0" tIns="0" rIns="0" bIns="0"/>
          <a:lstStyle>
            <a:defPPr>
              <a:defRPr sz="975" b="0">
                <a:solidFill>
                  <a:srgbClr val="000000"/>
                </a:solidFill>
                <a:latin typeface="Calibri"/>
                <a:ea typeface="Calibri"/>
                <a:cs typeface="Calibri"/>
              </a:defRPr>
            </a:defPPr>
            <a:lvl1pPr>
              <a:defRPr sz="975" b="0">
                <a:solidFill>
                  <a:srgbClr val="000000"/>
                </a:solidFill>
                <a:latin typeface="Calibri"/>
                <a:ea typeface="Calibri"/>
                <a:cs typeface="Calibri"/>
              </a:defRPr>
            </a:lvl1pPr>
            <a:lvl2pPr>
              <a:defRPr sz="975" b="0">
                <a:solidFill>
                  <a:srgbClr val="000000"/>
                </a:solidFill>
                <a:latin typeface="Calibri"/>
                <a:ea typeface="Calibri"/>
                <a:cs typeface="Calibri"/>
              </a:defRPr>
            </a:lvl2pPr>
            <a:lvl3pPr>
              <a:defRPr sz="975" b="0">
                <a:solidFill>
                  <a:srgbClr val="000000"/>
                </a:solidFill>
                <a:latin typeface="Calibri"/>
                <a:ea typeface="Calibri"/>
                <a:cs typeface="Calibri"/>
              </a:defRPr>
            </a:lvl3pPr>
            <a:lvl4pPr>
              <a:defRPr sz="975" b="0">
                <a:solidFill>
                  <a:srgbClr val="000000"/>
                </a:solidFill>
                <a:latin typeface="Calibri"/>
                <a:ea typeface="Calibri"/>
                <a:cs typeface="Calibri"/>
              </a:defRPr>
            </a:lvl4pPr>
            <a:lvl5pPr>
              <a:defRPr sz="975" b="0">
                <a:solidFill>
                  <a:srgbClr val="000000"/>
                </a:solidFill>
                <a:latin typeface="Calibri"/>
                <a:ea typeface="Calibri"/>
                <a:cs typeface="Calibri"/>
              </a:defRPr>
            </a:lvl5pPr>
            <a:lvl6pPr>
              <a:defRPr sz="975" b="0">
                <a:solidFill>
                  <a:srgbClr val="000000"/>
                </a:solidFill>
                <a:latin typeface="Calibri"/>
                <a:ea typeface="Calibri"/>
                <a:cs typeface="Calibri"/>
              </a:defRPr>
            </a:lvl6pPr>
            <a:lvl7pPr>
              <a:defRPr sz="975" b="0">
                <a:solidFill>
                  <a:srgbClr val="000000"/>
                </a:solidFill>
                <a:latin typeface="Calibri"/>
                <a:ea typeface="Calibri"/>
                <a:cs typeface="Calibri"/>
              </a:defRPr>
            </a:lvl7pPr>
            <a:lvl8pPr>
              <a:defRPr sz="975" b="0">
                <a:solidFill>
                  <a:srgbClr val="000000"/>
                </a:solidFill>
                <a:latin typeface="Calibri"/>
                <a:ea typeface="Calibri"/>
                <a:cs typeface="Calibri"/>
              </a:defRPr>
            </a:lvl8pPr>
            <a:lvl9pPr>
              <a:defRPr sz="975" b="0">
                <a:solidFill>
                  <a:srgbClr val="000000"/>
                </a:solidFill>
                <a:latin typeface="Calibri"/>
                <a:ea typeface="Calibri"/>
                <a:cs typeface="Calibri"/>
              </a:defRPr>
            </a:lvl9pPr>
          </a:lstStyle>
          <a:p>
            <a:pPr>
              <a:defRPr sz="975" b="0">
                <a:solidFill>
                  <a:srgbClr val="000000"/>
                </a:solidFill>
                <a:latin typeface="Calibri"/>
                <a:ea typeface="Calibri"/>
                <a:cs typeface="Calibri"/>
              </a:defRPr>
            </a:pPr>
            <a:r>
              <a:rPr sz="975" b="0">
                <a:solidFill>
                  <a:srgbClr val="000000"/>
                </a:solidFill>
                <a:latin typeface="Calibri"/>
                <a:ea typeface="Calibri"/>
                <a:cs typeface="Calibri"/>
              </a:rPr>
              <a:t>Others: 68.9 kg (20%)</a:t>
            </a:r>
          </a:p>
        </p:txBody>
      </p:sp>
      <p:sp>
        <p:nvSpPr>
          <p:cNvPr id="124" name="Rectangle 123">
            <a:extLst>
              <a:ext uri="{FF2B5EF4-FFF2-40B4-BE49-F238E27FC236}">
                <a16:creationId xmlns:a16="http://schemas.microsoft.com/office/drawing/2014/main" id="{B0297D89-1FEC-F7A7-F9BB-DA97D822FF1D}"/>
              </a:ext>
            </a:extLst>
          </p:cNvPr>
          <p:cNvSpPr>
            <a:spLocks noGrp="1"/>
          </p:cNvSpPr>
          <p:nvPr/>
        </p:nvSpPr>
        <p:spPr>
          <a:xfrm>
            <a:off x="428625" y="5086350"/>
            <a:ext cx="142875" cy="171450"/>
          </a:xfrm>
          <a:prstGeom prst="rect">
            <a:avLst/>
          </a:prstGeom>
          <a:noFill/>
          <a:ln w="0">
            <a:noFill/>
            <a:prstDash val="solid"/>
          </a:ln>
        </p:spPr>
        <p:txBody>
          <a:bodyPr lIns="0" tIns="0" rIns="0" bIns="0"/>
          <a:lstStyle>
            <a:defPPr>
              <a:defRPr sz="900" b="0">
                <a:solidFill>
                  <a:srgbClr val="665A50"/>
                </a:solidFill>
                <a:latin typeface="Calibri"/>
                <a:ea typeface="Calibri"/>
                <a:cs typeface="Calibri"/>
              </a:defRPr>
            </a:defPPr>
            <a:lvl1pPr>
              <a:defRPr sz="900" b="0">
                <a:solidFill>
                  <a:srgbClr val="665A50"/>
                </a:solidFill>
                <a:latin typeface="Calibri"/>
                <a:ea typeface="Calibri"/>
                <a:cs typeface="Calibri"/>
              </a:defRPr>
            </a:lvl1pPr>
            <a:lvl2pPr>
              <a:defRPr sz="900" b="0">
                <a:solidFill>
                  <a:srgbClr val="665A50"/>
                </a:solidFill>
                <a:latin typeface="Calibri"/>
                <a:ea typeface="Calibri"/>
                <a:cs typeface="Calibri"/>
              </a:defRPr>
            </a:lvl2pPr>
            <a:lvl3pPr>
              <a:defRPr sz="900" b="0">
                <a:solidFill>
                  <a:srgbClr val="665A50"/>
                </a:solidFill>
                <a:latin typeface="Calibri"/>
                <a:ea typeface="Calibri"/>
                <a:cs typeface="Calibri"/>
              </a:defRPr>
            </a:lvl3pPr>
            <a:lvl4pPr>
              <a:defRPr sz="900" b="0">
                <a:solidFill>
                  <a:srgbClr val="665A50"/>
                </a:solidFill>
                <a:latin typeface="Calibri"/>
                <a:ea typeface="Calibri"/>
                <a:cs typeface="Calibri"/>
              </a:defRPr>
            </a:lvl4pPr>
            <a:lvl5pPr>
              <a:defRPr sz="900" b="0">
                <a:solidFill>
                  <a:srgbClr val="665A50"/>
                </a:solidFill>
                <a:latin typeface="Calibri"/>
                <a:ea typeface="Calibri"/>
                <a:cs typeface="Calibri"/>
              </a:defRPr>
            </a:lvl5pPr>
            <a:lvl6pPr>
              <a:defRPr sz="900" b="0">
                <a:solidFill>
                  <a:srgbClr val="665A50"/>
                </a:solidFill>
                <a:latin typeface="Calibri"/>
                <a:ea typeface="Calibri"/>
                <a:cs typeface="Calibri"/>
              </a:defRPr>
            </a:lvl6pPr>
            <a:lvl7pPr>
              <a:defRPr sz="900" b="0">
                <a:solidFill>
                  <a:srgbClr val="665A50"/>
                </a:solidFill>
                <a:latin typeface="Calibri"/>
                <a:ea typeface="Calibri"/>
                <a:cs typeface="Calibri"/>
              </a:defRPr>
            </a:lvl7pPr>
            <a:lvl8pPr>
              <a:defRPr sz="900" b="0">
                <a:solidFill>
                  <a:srgbClr val="665A50"/>
                </a:solidFill>
                <a:latin typeface="Calibri"/>
                <a:ea typeface="Calibri"/>
                <a:cs typeface="Calibri"/>
              </a:defRPr>
            </a:lvl8pPr>
            <a:lvl9pPr>
              <a:defRPr sz="900" b="0">
                <a:solidFill>
                  <a:srgbClr val="665A50"/>
                </a:solidFill>
                <a:latin typeface="Calibri"/>
                <a:ea typeface="Calibri"/>
                <a:cs typeface="Calibri"/>
              </a:defRPr>
            </a:lvl9pPr>
          </a:lstStyle>
          <a:p>
            <a:pPr>
              <a:defRPr sz="900" b="0">
                <a:solidFill>
                  <a:srgbClr val="665A50"/>
                </a:solidFill>
                <a:latin typeface="Calibri"/>
                <a:ea typeface="Calibri"/>
                <a:cs typeface="Calibri"/>
              </a:defRPr>
            </a:pPr>
            <a:r>
              <a:rPr sz="900" b="0">
                <a:solidFill>
                  <a:srgbClr val="665A50"/>
                </a:solidFill>
                <a:latin typeface="Calibri"/>
                <a:ea typeface="Calibri"/>
                <a:cs typeface="Calibri"/>
              </a:rPr>
              <a:t>■</a:t>
            </a:r>
          </a:p>
        </p:txBody>
      </p:sp>
      <p:sp>
        <p:nvSpPr>
          <p:cNvPr id="125" name="Rectangle 124">
            <a:extLst>
              <a:ext uri="{FF2B5EF4-FFF2-40B4-BE49-F238E27FC236}">
                <a16:creationId xmlns:a16="http://schemas.microsoft.com/office/drawing/2014/main" id="{4807346A-ACBE-F481-BB51-57A41058F69D}"/>
              </a:ext>
            </a:extLst>
          </p:cNvPr>
          <p:cNvSpPr>
            <a:spLocks noGrp="1"/>
          </p:cNvSpPr>
          <p:nvPr/>
        </p:nvSpPr>
        <p:spPr>
          <a:xfrm>
            <a:off x="581025" y="5086350"/>
            <a:ext cx="2857500" cy="200025"/>
          </a:xfrm>
          <a:prstGeom prst="rect">
            <a:avLst/>
          </a:prstGeom>
          <a:noFill/>
          <a:ln w="0">
            <a:noFill/>
            <a:prstDash val="solid"/>
          </a:ln>
        </p:spPr>
        <p:txBody>
          <a:bodyPr lIns="0" tIns="0" rIns="0" bIns="0"/>
          <a:lstStyle>
            <a:defPPr>
              <a:defRPr sz="975" b="0">
                <a:solidFill>
                  <a:srgbClr val="000000"/>
                </a:solidFill>
                <a:latin typeface="Calibri"/>
                <a:ea typeface="Calibri"/>
                <a:cs typeface="Calibri"/>
              </a:defRPr>
            </a:defPPr>
            <a:lvl1pPr>
              <a:defRPr sz="975" b="0">
                <a:solidFill>
                  <a:srgbClr val="000000"/>
                </a:solidFill>
                <a:latin typeface="Calibri"/>
                <a:ea typeface="Calibri"/>
                <a:cs typeface="Calibri"/>
              </a:defRPr>
            </a:lvl1pPr>
            <a:lvl2pPr>
              <a:defRPr sz="975" b="0">
                <a:solidFill>
                  <a:srgbClr val="000000"/>
                </a:solidFill>
                <a:latin typeface="Calibri"/>
                <a:ea typeface="Calibri"/>
                <a:cs typeface="Calibri"/>
              </a:defRPr>
            </a:lvl2pPr>
            <a:lvl3pPr>
              <a:defRPr sz="975" b="0">
                <a:solidFill>
                  <a:srgbClr val="000000"/>
                </a:solidFill>
                <a:latin typeface="Calibri"/>
                <a:ea typeface="Calibri"/>
                <a:cs typeface="Calibri"/>
              </a:defRPr>
            </a:lvl3pPr>
            <a:lvl4pPr>
              <a:defRPr sz="975" b="0">
                <a:solidFill>
                  <a:srgbClr val="000000"/>
                </a:solidFill>
                <a:latin typeface="Calibri"/>
                <a:ea typeface="Calibri"/>
                <a:cs typeface="Calibri"/>
              </a:defRPr>
            </a:lvl4pPr>
            <a:lvl5pPr>
              <a:defRPr sz="975" b="0">
                <a:solidFill>
                  <a:srgbClr val="000000"/>
                </a:solidFill>
                <a:latin typeface="Calibri"/>
                <a:ea typeface="Calibri"/>
                <a:cs typeface="Calibri"/>
              </a:defRPr>
            </a:lvl5pPr>
            <a:lvl6pPr>
              <a:defRPr sz="975" b="0">
                <a:solidFill>
                  <a:srgbClr val="000000"/>
                </a:solidFill>
                <a:latin typeface="Calibri"/>
                <a:ea typeface="Calibri"/>
                <a:cs typeface="Calibri"/>
              </a:defRPr>
            </a:lvl6pPr>
            <a:lvl7pPr>
              <a:defRPr sz="975" b="0">
                <a:solidFill>
                  <a:srgbClr val="000000"/>
                </a:solidFill>
                <a:latin typeface="Calibri"/>
                <a:ea typeface="Calibri"/>
                <a:cs typeface="Calibri"/>
              </a:defRPr>
            </a:lvl7pPr>
            <a:lvl8pPr>
              <a:defRPr sz="975" b="0">
                <a:solidFill>
                  <a:srgbClr val="000000"/>
                </a:solidFill>
                <a:latin typeface="Calibri"/>
                <a:ea typeface="Calibri"/>
                <a:cs typeface="Calibri"/>
              </a:defRPr>
            </a:lvl8pPr>
            <a:lvl9pPr>
              <a:defRPr sz="975" b="0">
                <a:solidFill>
                  <a:srgbClr val="000000"/>
                </a:solidFill>
                <a:latin typeface="Calibri"/>
                <a:ea typeface="Calibri"/>
                <a:cs typeface="Calibri"/>
              </a:defRPr>
            </a:lvl9pPr>
          </a:lstStyle>
          <a:p>
            <a:pPr>
              <a:defRPr sz="975" b="0">
                <a:solidFill>
                  <a:srgbClr val="000000"/>
                </a:solidFill>
                <a:latin typeface="Calibri"/>
                <a:ea typeface="Calibri"/>
                <a:cs typeface="Calibri"/>
              </a:defRPr>
            </a:pPr>
            <a:r>
              <a:rPr sz="975" b="0">
                <a:solidFill>
                  <a:srgbClr val="000000"/>
                </a:solidFill>
                <a:latin typeface="Calibri"/>
                <a:ea typeface="Calibri"/>
                <a:cs typeface="Calibri"/>
              </a:rPr>
              <a:t>Unallocated: 6.6 kg (2%)</a:t>
            </a:r>
          </a:p>
        </p:txBody>
      </p:sp>
      <p:sp>
        <p:nvSpPr>
          <p:cNvPr id="126" name="Rectangle 125">
            <a:extLst>
              <a:ext uri="{FF2B5EF4-FFF2-40B4-BE49-F238E27FC236}">
                <a16:creationId xmlns:a16="http://schemas.microsoft.com/office/drawing/2014/main" id="{2C62B175-53EF-B740-4A9A-E24717BC13FF}"/>
              </a:ext>
            </a:extLst>
          </p:cNvPr>
          <p:cNvSpPr>
            <a:spLocks noGrp="1"/>
          </p:cNvSpPr>
          <p:nvPr/>
        </p:nvSpPr>
        <p:spPr>
          <a:xfrm>
            <a:off x="3429000" y="1619250"/>
            <a:ext cx="4000500" cy="285750"/>
          </a:xfrm>
          <a:prstGeom prst="rect">
            <a:avLst/>
          </a:prstGeom>
          <a:noFill/>
          <a:ln w="0">
            <a:noFill/>
            <a:prstDash val="solid"/>
          </a:ln>
        </p:spPr>
        <p:txBody>
          <a:bodyPr lIns="0" tIns="0" rIns="0" bIns="0"/>
          <a:lstStyle>
            <a:defPPr>
              <a:defRPr sz="1575" b="1">
                <a:solidFill>
                  <a:srgbClr val="000000"/>
                </a:solidFill>
                <a:latin typeface="Calibri"/>
                <a:ea typeface="Calibri"/>
                <a:cs typeface="Calibri"/>
              </a:defRPr>
            </a:defPPr>
            <a:lvl1pPr>
              <a:defRPr sz="1575" b="1">
                <a:solidFill>
                  <a:srgbClr val="000000"/>
                </a:solidFill>
                <a:latin typeface="Calibri"/>
                <a:ea typeface="Calibri"/>
                <a:cs typeface="Calibri"/>
              </a:defRPr>
            </a:lvl1pPr>
            <a:lvl2pPr>
              <a:defRPr sz="1575" b="1">
                <a:solidFill>
                  <a:srgbClr val="000000"/>
                </a:solidFill>
                <a:latin typeface="Calibri"/>
                <a:ea typeface="Calibri"/>
                <a:cs typeface="Calibri"/>
              </a:defRPr>
            </a:lvl2pPr>
            <a:lvl3pPr>
              <a:defRPr sz="1575" b="1">
                <a:solidFill>
                  <a:srgbClr val="000000"/>
                </a:solidFill>
                <a:latin typeface="Calibri"/>
                <a:ea typeface="Calibri"/>
                <a:cs typeface="Calibri"/>
              </a:defRPr>
            </a:lvl3pPr>
            <a:lvl4pPr>
              <a:defRPr sz="1575" b="1">
                <a:solidFill>
                  <a:srgbClr val="000000"/>
                </a:solidFill>
                <a:latin typeface="Calibri"/>
                <a:ea typeface="Calibri"/>
                <a:cs typeface="Calibri"/>
              </a:defRPr>
            </a:lvl4pPr>
            <a:lvl5pPr>
              <a:defRPr sz="1575" b="1">
                <a:solidFill>
                  <a:srgbClr val="000000"/>
                </a:solidFill>
                <a:latin typeface="Calibri"/>
                <a:ea typeface="Calibri"/>
                <a:cs typeface="Calibri"/>
              </a:defRPr>
            </a:lvl5pPr>
            <a:lvl6pPr>
              <a:defRPr sz="1575" b="1">
                <a:solidFill>
                  <a:srgbClr val="000000"/>
                </a:solidFill>
                <a:latin typeface="Calibri"/>
                <a:ea typeface="Calibri"/>
                <a:cs typeface="Calibri"/>
              </a:defRPr>
            </a:lvl6pPr>
            <a:lvl7pPr>
              <a:defRPr sz="1575" b="1">
                <a:solidFill>
                  <a:srgbClr val="000000"/>
                </a:solidFill>
                <a:latin typeface="Calibri"/>
                <a:ea typeface="Calibri"/>
                <a:cs typeface="Calibri"/>
              </a:defRPr>
            </a:lvl7pPr>
            <a:lvl8pPr>
              <a:defRPr sz="1575" b="1">
                <a:solidFill>
                  <a:srgbClr val="000000"/>
                </a:solidFill>
                <a:latin typeface="Calibri"/>
                <a:ea typeface="Calibri"/>
                <a:cs typeface="Calibri"/>
              </a:defRPr>
            </a:lvl8pPr>
            <a:lvl9pPr>
              <a:defRPr sz="1575" b="1">
                <a:solidFill>
                  <a:srgbClr val="000000"/>
                </a:solidFill>
                <a:latin typeface="Calibri"/>
                <a:ea typeface="Calibri"/>
                <a:cs typeface="Calibri"/>
              </a:defRPr>
            </a:lvl9pPr>
          </a:lstStyle>
          <a:p>
            <a:pPr>
              <a:defRPr sz="1575" b="1">
                <a:solidFill>
                  <a:srgbClr val="000000"/>
                </a:solidFill>
                <a:latin typeface="Calibri"/>
                <a:ea typeface="Calibri"/>
                <a:cs typeface="Calibri"/>
              </a:defRPr>
            </a:pPr>
            <a:r>
              <a:rPr sz="1575" b="1">
                <a:solidFill>
                  <a:srgbClr val="000000"/>
                </a:solidFill>
                <a:latin typeface="Calibri"/>
                <a:ea typeface="Calibri"/>
                <a:cs typeface="Calibri"/>
              </a:rPr>
              <a:t>L+C retrofit: 397.2 kg</a:t>
            </a:r>
          </a:p>
        </p:txBody>
      </p:sp>
      <p:graphicFrame>
        <p:nvGraphicFramePr>
          <p:cNvPr id="127" name="Chart">
            <a:extLst>
              <a:ext uri="{FF2B5EF4-FFF2-40B4-BE49-F238E27FC236}">
                <a16:creationId xmlns:a16="http://schemas.microsoft.com/office/drawing/2014/main" id="{14711853-A988-19C6-43B4-78F0B465E011}"/>
              </a:ext>
            </a:extLst>
          </p:cNvPr>
          <p:cNvGraphicFramePr/>
          <p:nvPr/>
        </p:nvGraphicFramePr>
        <p:xfrm>
          <a:off x="3429000" y="1981200"/>
          <a:ext cx="1000125" cy="1000125"/>
        </p:xfrm>
        <a:graphic>
          <a:graphicData uri="http://schemas.openxmlformats.org/drawingml/2006/chart">
            <c:chart xmlns:c="http://schemas.openxmlformats.org/drawingml/2006/chart" xmlns:r="http://schemas.openxmlformats.org/officeDocument/2006/relationships" r:id="rId5"/>
          </a:graphicData>
        </a:graphic>
      </p:graphicFrame>
      <p:sp>
        <p:nvSpPr>
          <p:cNvPr id="192" name="Rectangle 191">
            <a:extLst>
              <a:ext uri="{FF2B5EF4-FFF2-40B4-BE49-F238E27FC236}">
                <a16:creationId xmlns:a16="http://schemas.microsoft.com/office/drawing/2014/main" id="{D0184C39-4D7B-FC73-811A-53600031216F}"/>
              </a:ext>
            </a:extLst>
          </p:cNvPr>
          <p:cNvSpPr>
            <a:spLocks noGrp="1"/>
          </p:cNvSpPr>
          <p:nvPr/>
        </p:nvSpPr>
        <p:spPr>
          <a:xfrm>
            <a:off x="4476750" y="1943100"/>
            <a:ext cx="142875" cy="171450"/>
          </a:xfrm>
          <a:prstGeom prst="rect">
            <a:avLst/>
          </a:prstGeom>
          <a:noFill/>
          <a:ln w="0">
            <a:noFill/>
            <a:prstDash val="solid"/>
          </a:ln>
        </p:spPr>
        <p:txBody>
          <a:bodyPr lIns="0" tIns="0" rIns="0" bIns="0"/>
          <a:lstStyle>
            <a:defPPr>
              <a:defRPr sz="900" b="0">
                <a:solidFill>
                  <a:srgbClr val="315773"/>
                </a:solidFill>
                <a:latin typeface="Calibri"/>
                <a:ea typeface="Calibri"/>
                <a:cs typeface="Calibri"/>
              </a:defRPr>
            </a:defPPr>
            <a:lvl1pPr>
              <a:defRPr sz="900" b="0">
                <a:solidFill>
                  <a:srgbClr val="315773"/>
                </a:solidFill>
                <a:latin typeface="Calibri"/>
                <a:ea typeface="Calibri"/>
                <a:cs typeface="Calibri"/>
              </a:defRPr>
            </a:lvl1pPr>
            <a:lvl2pPr>
              <a:defRPr sz="900" b="0">
                <a:solidFill>
                  <a:srgbClr val="315773"/>
                </a:solidFill>
                <a:latin typeface="Calibri"/>
                <a:ea typeface="Calibri"/>
                <a:cs typeface="Calibri"/>
              </a:defRPr>
            </a:lvl2pPr>
            <a:lvl3pPr>
              <a:defRPr sz="900" b="0">
                <a:solidFill>
                  <a:srgbClr val="315773"/>
                </a:solidFill>
                <a:latin typeface="Calibri"/>
                <a:ea typeface="Calibri"/>
                <a:cs typeface="Calibri"/>
              </a:defRPr>
            </a:lvl3pPr>
            <a:lvl4pPr>
              <a:defRPr sz="900" b="0">
                <a:solidFill>
                  <a:srgbClr val="315773"/>
                </a:solidFill>
                <a:latin typeface="Calibri"/>
                <a:ea typeface="Calibri"/>
                <a:cs typeface="Calibri"/>
              </a:defRPr>
            </a:lvl4pPr>
            <a:lvl5pPr>
              <a:defRPr sz="900" b="0">
                <a:solidFill>
                  <a:srgbClr val="315773"/>
                </a:solidFill>
                <a:latin typeface="Calibri"/>
                <a:ea typeface="Calibri"/>
                <a:cs typeface="Calibri"/>
              </a:defRPr>
            </a:lvl5pPr>
            <a:lvl6pPr>
              <a:defRPr sz="900" b="0">
                <a:solidFill>
                  <a:srgbClr val="315773"/>
                </a:solidFill>
                <a:latin typeface="Calibri"/>
                <a:ea typeface="Calibri"/>
                <a:cs typeface="Calibri"/>
              </a:defRPr>
            </a:lvl6pPr>
            <a:lvl7pPr>
              <a:defRPr sz="900" b="0">
                <a:solidFill>
                  <a:srgbClr val="315773"/>
                </a:solidFill>
                <a:latin typeface="Calibri"/>
                <a:ea typeface="Calibri"/>
                <a:cs typeface="Calibri"/>
              </a:defRPr>
            </a:lvl7pPr>
            <a:lvl8pPr>
              <a:defRPr sz="900" b="0">
                <a:solidFill>
                  <a:srgbClr val="315773"/>
                </a:solidFill>
                <a:latin typeface="Calibri"/>
                <a:ea typeface="Calibri"/>
                <a:cs typeface="Calibri"/>
              </a:defRPr>
            </a:lvl8pPr>
            <a:lvl9pPr>
              <a:defRPr sz="900" b="0">
                <a:solidFill>
                  <a:srgbClr val="315773"/>
                </a:solidFill>
                <a:latin typeface="Calibri"/>
                <a:ea typeface="Calibri"/>
                <a:cs typeface="Calibri"/>
              </a:defRPr>
            </a:lvl9pPr>
          </a:lstStyle>
          <a:p>
            <a:pPr>
              <a:defRPr sz="900" b="0">
                <a:solidFill>
                  <a:srgbClr val="315773"/>
                </a:solidFill>
                <a:latin typeface="Calibri"/>
                <a:ea typeface="Calibri"/>
                <a:cs typeface="Calibri"/>
              </a:defRPr>
            </a:pPr>
            <a:r>
              <a:rPr sz="900" b="0">
                <a:solidFill>
                  <a:srgbClr val="315773"/>
                </a:solidFill>
                <a:latin typeface="Calibri"/>
                <a:ea typeface="Calibri"/>
                <a:cs typeface="Calibri"/>
              </a:rPr>
              <a:t>■</a:t>
            </a:r>
          </a:p>
        </p:txBody>
      </p:sp>
      <p:sp>
        <p:nvSpPr>
          <p:cNvPr id="193" name="Rectangle 192">
            <a:extLst>
              <a:ext uri="{FF2B5EF4-FFF2-40B4-BE49-F238E27FC236}">
                <a16:creationId xmlns:a16="http://schemas.microsoft.com/office/drawing/2014/main" id="{65BCB11D-74AC-7406-B9B6-71BD9ABBD602}"/>
              </a:ext>
            </a:extLst>
          </p:cNvPr>
          <p:cNvSpPr>
            <a:spLocks noGrp="1"/>
          </p:cNvSpPr>
          <p:nvPr/>
        </p:nvSpPr>
        <p:spPr>
          <a:xfrm>
            <a:off x="4629150" y="1943100"/>
            <a:ext cx="2905125" cy="200025"/>
          </a:xfrm>
          <a:prstGeom prst="rect">
            <a:avLst/>
          </a:prstGeom>
          <a:noFill/>
          <a:ln w="0">
            <a:noFill/>
            <a:prstDash val="solid"/>
          </a:ln>
        </p:spPr>
        <p:txBody>
          <a:bodyPr lIns="0" tIns="0" rIns="0" bIns="0"/>
          <a:lstStyle>
            <a:defPPr>
              <a:defRPr sz="975" b="0">
                <a:solidFill>
                  <a:srgbClr val="000000"/>
                </a:solidFill>
                <a:latin typeface="Calibri"/>
                <a:ea typeface="Calibri"/>
                <a:cs typeface="Calibri"/>
              </a:defRPr>
            </a:defPPr>
            <a:lvl1pPr>
              <a:defRPr sz="975" b="0">
                <a:solidFill>
                  <a:srgbClr val="000000"/>
                </a:solidFill>
                <a:latin typeface="Calibri"/>
                <a:ea typeface="Calibri"/>
                <a:cs typeface="Calibri"/>
              </a:defRPr>
            </a:lvl1pPr>
            <a:lvl2pPr>
              <a:defRPr sz="975" b="0">
                <a:solidFill>
                  <a:srgbClr val="000000"/>
                </a:solidFill>
                <a:latin typeface="Calibri"/>
                <a:ea typeface="Calibri"/>
                <a:cs typeface="Calibri"/>
              </a:defRPr>
            </a:lvl2pPr>
            <a:lvl3pPr>
              <a:defRPr sz="975" b="0">
                <a:solidFill>
                  <a:srgbClr val="000000"/>
                </a:solidFill>
                <a:latin typeface="Calibri"/>
                <a:ea typeface="Calibri"/>
                <a:cs typeface="Calibri"/>
              </a:defRPr>
            </a:lvl3pPr>
            <a:lvl4pPr>
              <a:defRPr sz="975" b="0">
                <a:solidFill>
                  <a:srgbClr val="000000"/>
                </a:solidFill>
                <a:latin typeface="Calibri"/>
                <a:ea typeface="Calibri"/>
                <a:cs typeface="Calibri"/>
              </a:defRPr>
            </a:lvl4pPr>
            <a:lvl5pPr>
              <a:defRPr sz="975" b="0">
                <a:solidFill>
                  <a:srgbClr val="000000"/>
                </a:solidFill>
                <a:latin typeface="Calibri"/>
                <a:ea typeface="Calibri"/>
                <a:cs typeface="Calibri"/>
              </a:defRPr>
            </a:lvl5pPr>
            <a:lvl6pPr>
              <a:defRPr sz="975" b="0">
                <a:solidFill>
                  <a:srgbClr val="000000"/>
                </a:solidFill>
                <a:latin typeface="Calibri"/>
                <a:ea typeface="Calibri"/>
                <a:cs typeface="Calibri"/>
              </a:defRPr>
            </a:lvl6pPr>
            <a:lvl7pPr>
              <a:defRPr sz="975" b="0">
                <a:solidFill>
                  <a:srgbClr val="000000"/>
                </a:solidFill>
                <a:latin typeface="Calibri"/>
                <a:ea typeface="Calibri"/>
                <a:cs typeface="Calibri"/>
              </a:defRPr>
            </a:lvl7pPr>
            <a:lvl8pPr>
              <a:defRPr sz="975" b="0">
                <a:solidFill>
                  <a:srgbClr val="000000"/>
                </a:solidFill>
                <a:latin typeface="Calibri"/>
                <a:ea typeface="Calibri"/>
                <a:cs typeface="Calibri"/>
              </a:defRPr>
            </a:lvl8pPr>
            <a:lvl9pPr>
              <a:defRPr sz="975" b="0">
                <a:solidFill>
                  <a:srgbClr val="000000"/>
                </a:solidFill>
                <a:latin typeface="Calibri"/>
                <a:ea typeface="Calibri"/>
                <a:cs typeface="Calibri"/>
              </a:defRPr>
            </a:lvl9pPr>
          </a:lstStyle>
          <a:p>
            <a:pPr>
              <a:defRPr sz="975" b="0">
                <a:solidFill>
                  <a:srgbClr val="000000"/>
                </a:solidFill>
                <a:latin typeface="Calibri"/>
                <a:ea typeface="Calibri"/>
                <a:cs typeface="Calibri"/>
              </a:defRPr>
            </a:pPr>
            <a:r>
              <a:rPr sz="975" b="0">
                <a:solidFill>
                  <a:srgbClr val="000000"/>
                </a:solidFill>
                <a:latin typeface="Calibri"/>
                <a:ea typeface="Calibri"/>
                <a:cs typeface="Calibri"/>
              </a:rPr>
              <a:t>Airframe structure: 96.9 kg (24%)</a:t>
            </a:r>
          </a:p>
        </p:txBody>
      </p:sp>
      <p:sp>
        <p:nvSpPr>
          <p:cNvPr id="194" name="Rectangle 193">
            <a:extLst>
              <a:ext uri="{FF2B5EF4-FFF2-40B4-BE49-F238E27FC236}">
                <a16:creationId xmlns:a16="http://schemas.microsoft.com/office/drawing/2014/main" id="{04381890-2644-D4A4-2B33-6FD011F9D1A8}"/>
              </a:ext>
            </a:extLst>
          </p:cNvPr>
          <p:cNvSpPr>
            <a:spLocks noGrp="1"/>
          </p:cNvSpPr>
          <p:nvPr/>
        </p:nvSpPr>
        <p:spPr>
          <a:xfrm>
            <a:off x="4476750" y="2114550"/>
            <a:ext cx="142875" cy="171450"/>
          </a:xfrm>
          <a:prstGeom prst="rect">
            <a:avLst/>
          </a:prstGeom>
          <a:noFill/>
          <a:ln w="0">
            <a:noFill/>
            <a:prstDash val="solid"/>
          </a:ln>
        </p:spPr>
        <p:txBody>
          <a:bodyPr lIns="0" tIns="0" rIns="0" bIns="0"/>
          <a:lstStyle>
            <a:defPPr>
              <a:defRPr sz="900" b="0">
                <a:solidFill>
                  <a:srgbClr val="8062A5"/>
                </a:solidFill>
                <a:latin typeface="Calibri"/>
                <a:ea typeface="Calibri"/>
                <a:cs typeface="Calibri"/>
              </a:defRPr>
            </a:defPPr>
            <a:lvl1pPr>
              <a:defRPr sz="900" b="0">
                <a:solidFill>
                  <a:srgbClr val="8062A5"/>
                </a:solidFill>
                <a:latin typeface="Calibri"/>
                <a:ea typeface="Calibri"/>
                <a:cs typeface="Calibri"/>
              </a:defRPr>
            </a:lvl1pPr>
            <a:lvl2pPr>
              <a:defRPr sz="900" b="0">
                <a:solidFill>
                  <a:srgbClr val="8062A5"/>
                </a:solidFill>
                <a:latin typeface="Calibri"/>
                <a:ea typeface="Calibri"/>
                <a:cs typeface="Calibri"/>
              </a:defRPr>
            </a:lvl2pPr>
            <a:lvl3pPr>
              <a:defRPr sz="900" b="0">
                <a:solidFill>
                  <a:srgbClr val="8062A5"/>
                </a:solidFill>
                <a:latin typeface="Calibri"/>
                <a:ea typeface="Calibri"/>
                <a:cs typeface="Calibri"/>
              </a:defRPr>
            </a:lvl3pPr>
            <a:lvl4pPr>
              <a:defRPr sz="900" b="0">
                <a:solidFill>
                  <a:srgbClr val="8062A5"/>
                </a:solidFill>
                <a:latin typeface="Calibri"/>
                <a:ea typeface="Calibri"/>
                <a:cs typeface="Calibri"/>
              </a:defRPr>
            </a:lvl4pPr>
            <a:lvl5pPr>
              <a:defRPr sz="900" b="0">
                <a:solidFill>
                  <a:srgbClr val="8062A5"/>
                </a:solidFill>
                <a:latin typeface="Calibri"/>
                <a:ea typeface="Calibri"/>
                <a:cs typeface="Calibri"/>
              </a:defRPr>
            </a:lvl5pPr>
            <a:lvl6pPr>
              <a:defRPr sz="900" b="0">
                <a:solidFill>
                  <a:srgbClr val="8062A5"/>
                </a:solidFill>
                <a:latin typeface="Calibri"/>
                <a:ea typeface="Calibri"/>
                <a:cs typeface="Calibri"/>
              </a:defRPr>
            </a:lvl6pPr>
            <a:lvl7pPr>
              <a:defRPr sz="900" b="0">
                <a:solidFill>
                  <a:srgbClr val="8062A5"/>
                </a:solidFill>
                <a:latin typeface="Calibri"/>
                <a:ea typeface="Calibri"/>
                <a:cs typeface="Calibri"/>
              </a:defRPr>
            </a:lvl7pPr>
            <a:lvl8pPr>
              <a:defRPr sz="900" b="0">
                <a:solidFill>
                  <a:srgbClr val="8062A5"/>
                </a:solidFill>
                <a:latin typeface="Calibri"/>
                <a:ea typeface="Calibri"/>
                <a:cs typeface="Calibri"/>
              </a:defRPr>
            </a:lvl8pPr>
            <a:lvl9pPr>
              <a:defRPr sz="900" b="0">
                <a:solidFill>
                  <a:srgbClr val="8062A5"/>
                </a:solidFill>
                <a:latin typeface="Calibri"/>
                <a:ea typeface="Calibri"/>
                <a:cs typeface="Calibri"/>
              </a:defRPr>
            </a:lvl9pPr>
          </a:lstStyle>
          <a:p>
            <a:pPr>
              <a:defRPr sz="900" b="0">
                <a:solidFill>
                  <a:srgbClr val="8062A5"/>
                </a:solidFill>
                <a:latin typeface="Calibri"/>
                <a:ea typeface="Calibri"/>
                <a:cs typeface="Calibri"/>
              </a:defRPr>
            </a:pPr>
            <a:r>
              <a:rPr sz="900" b="0">
                <a:solidFill>
                  <a:srgbClr val="8062A5"/>
                </a:solidFill>
                <a:latin typeface="Calibri"/>
                <a:ea typeface="Calibri"/>
                <a:cs typeface="Calibri"/>
              </a:rPr>
              <a:t>■</a:t>
            </a:r>
          </a:p>
        </p:txBody>
      </p:sp>
      <p:sp>
        <p:nvSpPr>
          <p:cNvPr id="195" name="Rectangle 194">
            <a:extLst>
              <a:ext uri="{FF2B5EF4-FFF2-40B4-BE49-F238E27FC236}">
                <a16:creationId xmlns:a16="http://schemas.microsoft.com/office/drawing/2014/main" id="{FDF0C517-A086-19B0-436B-837A01B305F2}"/>
              </a:ext>
            </a:extLst>
          </p:cNvPr>
          <p:cNvSpPr>
            <a:spLocks noGrp="1"/>
          </p:cNvSpPr>
          <p:nvPr/>
        </p:nvSpPr>
        <p:spPr>
          <a:xfrm>
            <a:off x="4629150" y="2114550"/>
            <a:ext cx="2905125" cy="200025"/>
          </a:xfrm>
          <a:prstGeom prst="rect">
            <a:avLst/>
          </a:prstGeom>
          <a:noFill/>
          <a:ln w="0">
            <a:noFill/>
            <a:prstDash val="solid"/>
          </a:ln>
        </p:spPr>
        <p:txBody>
          <a:bodyPr lIns="0" tIns="0" rIns="0" bIns="0"/>
          <a:lstStyle>
            <a:defPPr>
              <a:defRPr sz="975" b="0">
                <a:solidFill>
                  <a:srgbClr val="000000"/>
                </a:solidFill>
                <a:latin typeface="Calibri"/>
                <a:ea typeface="Calibri"/>
                <a:cs typeface="Calibri"/>
              </a:defRPr>
            </a:defPPr>
            <a:lvl1pPr>
              <a:defRPr sz="975" b="0">
                <a:solidFill>
                  <a:srgbClr val="000000"/>
                </a:solidFill>
                <a:latin typeface="Calibri"/>
                <a:ea typeface="Calibri"/>
                <a:cs typeface="Calibri"/>
              </a:defRPr>
            </a:lvl1pPr>
            <a:lvl2pPr>
              <a:defRPr sz="975" b="0">
                <a:solidFill>
                  <a:srgbClr val="000000"/>
                </a:solidFill>
                <a:latin typeface="Calibri"/>
                <a:ea typeface="Calibri"/>
                <a:cs typeface="Calibri"/>
              </a:defRPr>
            </a:lvl2pPr>
            <a:lvl3pPr>
              <a:defRPr sz="975" b="0">
                <a:solidFill>
                  <a:srgbClr val="000000"/>
                </a:solidFill>
                <a:latin typeface="Calibri"/>
                <a:ea typeface="Calibri"/>
                <a:cs typeface="Calibri"/>
              </a:defRPr>
            </a:lvl3pPr>
            <a:lvl4pPr>
              <a:defRPr sz="975" b="0">
                <a:solidFill>
                  <a:srgbClr val="000000"/>
                </a:solidFill>
                <a:latin typeface="Calibri"/>
                <a:ea typeface="Calibri"/>
                <a:cs typeface="Calibri"/>
              </a:defRPr>
            </a:lvl4pPr>
            <a:lvl5pPr>
              <a:defRPr sz="975" b="0">
                <a:solidFill>
                  <a:srgbClr val="000000"/>
                </a:solidFill>
                <a:latin typeface="Calibri"/>
                <a:ea typeface="Calibri"/>
                <a:cs typeface="Calibri"/>
              </a:defRPr>
            </a:lvl5pPr>
            <a:lvl6pPr>
              <a:defRPr sz="975" b="0">
                <a:solidFill>
                  <a:srgbClr val="000000"/>
                </a:solidFill>
                <a:latin typeface="Calibri"/>
                <a:ea typeface="Calibri"/>
                <a:cs typeface="Calibri"/>
              </a:defRPr>
            </a:lvl6pPr>
            <a:lvl7pPr>
              <a:defRPr sz="975" b="0">
                <a:solidFill>
                  <a:srgbClr val="000000"/>
                </a:solidFill>
                <a:latin typeface="Calibri"/>
                <a:ea typeface="Calibri"/>
                <a:cs typeface="Calibri"/>
              </a:defRPr>
            </a:lvl7pPr>
            <a:lvl8pPr>
              <a:defRPr sz="975" b="0">
                <a:solidFill>
                  <a:srgbClr val="000000"/>
                </a:solidFill>
                <a:latin typeface="Calibri"/>
                <a:ea typeface="Calibri"/>
                <a:cs typeface="Calibri"/>
              </a:defRPr>
            </a:lvl8pPr>
            <a:lvl9pPr>
              <a:defRPr sz="975" b="0">
                <a:solidFill>
                  <a:srgbClr val="000000"/>
                </a:solidFill>
                <a:latin typeface="Calibri"/>
                <a:ea typeface="Calibri"/>
                <a:cs typeface="Calibri"/>
              </a:defRPr>
            </a:lvl9pPr>
          </a:lstStyle>
          <a:p>
            <a:pPr>
              <a:defRPr sz="975" b="0">
                <a:solidFill>
                  <a:srgbClr val="000000"/>
                </a:solidFill>
                <a:latin typeface="Calibri"/>
                <a:ea typeface="Calibri"/>
                <a:cs typeface="Calibri"/>
              </a:defRPr>
            </a:pPr>
            <a:r>
              <a:rPr sz="975" b="0">
                <a:solidFill>
                  <a:srgbClr val="000000"/>
                </a:solidFill>
                <a:latin typeface="Calibri"/>
                <a:ea typeface="Calibri"/>
                <a:cs typeface="Calibri"/>
              </a:rPr>
              <a:t>Landing gear: 9.9 kg (3%)</a:t>
            </a:r>
          </a:p>
        </p:txBody>
      </p:sp>
      <p:sp>
        <p:nvSpPr>
          <p:cNvPr id="196" name="Rectangle 195">
            <a:extLst>
              <a:ext uri="{FF2B5EF4-FFF2-40B4-BE49-F238E27FC236}">
                <a16:creationId xmlns:a16="http://schemas.microsoft.com/office/drawing/2014/main" id="{58BD8788-3BBF-7B2F-C9E1-BB876BAE8164}"/>
              </a:ext>
            </a:extLst>
          </p:cNvPr>
          <p:cNvSpPr>
            <a:spLocks noGrp="1"/>
          </p:cNvSpPr>
          <p:nvPr/>
        </p:nvSpPr>
        <p:spPr>
          <a:xfrm>
            <a:off x="4476750" y="2286000"/>
            <a:ext cx="142875" cy="171450"/>
          </a:xfrm>
          <a:prstGeom prst="rect">
            <a:avLst/>
          </a:prstGeom>
          <a:noFill/>
          <a:ln w="0">
            <a:noFill/>
            <a:prstDash val="solid"/>
          </a:ln>
        </p:spPr>
        <p:txBody>
          <a:bodyPr lIns="0" tIns="0" rIns="0" bIns="0"/>
          <a:lstStyle>
            <a:defPPr>
              <a:defRPr sz="900" b="0">
                <a:solidFill>
                  <a:srgbClr val="168F86"/>
                </a:solidFill>
                <a:latin typeface="Calibri"/>
                <a:ea typeface="Calibri"/>
                <a:cs typeface="Calibri"/>
              </a:defRPr>
            </a:defPPr>
            <a:lvl1pPr>
              <a:defRPr sz="900" b="0">
                <a:solidFill>
                  <a:srgbClr val="168F86"/>
                </a:solidFill>
                <a:latin typeface="Calibri"/>
                <a:ea typeface="Calibri"/>
                <a:cs typeface="Calibri"/>
              </a:defRPr>
            </a:lvl1pPr>
            <a:lvl2pPr>
              <a:defRPr sz="900" b="0">
                <a:solidFill>
                  <a:srgbClr val="168F86"/>
                </a:solidFill>
                <a:latin typeface="Calibri"/>
                <a:ea typeface="Calibri"/>
                <a:cs typeface="Calibri"/>
              </a:defRPr>
            </a:lvl2pPr>
            <a:lvl3pPr>
              <a:defRPr sz="900" b="0">
                <a:solidFill>
                  <a:srgbClr val="168F86"/>
                </a:solidFill>
                <a:latin typeface="Calibri"/>
                <a:ea typeface="Calibri"/>
                <a:cs typeface="Calibri"/>
              </a:defRPr>
            </a:lvl3pPr>
            <a:lvl4pPr>
              <a:defRPr sz="900" b="0">
                <a:solidFill>
                  <a:srgbClr val="168F86"/>
                </a:solidFill>
                <a:latin typeface="Calibri"/>
                <a:ea typeface="Calibri"/>
                <a:cs typeface="Calibri"/>
              </a:defRPr>
            </a:lvl4pPr>
            <a:lvl5pPr>
              <a:defRPr sz="900" b="0">
                <a:solidFill>
                  <a:srgbClr val="168F86"/>
                </a:solidFill>
                <a:latin typeface="Calibri"/>
                <a:ea typeface="Calibri"/>
                <a:cs typeface="Calibri"/>
              </a:defRPr>
            </a:lvl5pPr>
            <a:lvl6pPr>
              <a:defRPr sz="900" b="0">
                <a:solidFill>
                  <a:srgbClr val="168F86"/>
                </a:solidFill>
                <a:latin typeface="Calibri"/>
                <a:ea typeface="Calibri"/>
                <a:cs typeface="Calibri"/>
              </a:defRPr>
            </a:lvl6pPr>
            <a:lvl7pPr>
              <a:defRPr sz="900" b="0">
                <a:solidFill>
                  <a:srgbClr val="168F86"/>
                </a:solidFill>
                <a:latin typeface="Calibri"/>
                <a:ea typeface="Calibri"/>
                <a:cs typeface="Calibri"/>
              </a:defRPr>
            </a:lvl7pPr>
            <a:lvl8pPr>
              <a:defRPr sz="900" b="0">
                <a:solidFill>
                  <a:srgbClr val="168F86"/>
                </a:solidFill>
                <a:latin typeface="Calibri"/>
                <a:ea typeface="Calibri"/>
                <a:cs typeface="Calibri"/>
              </a:defRPr>
            </a:lvl8pPr>
            <a:lvl9pPr>
              <a:defRPr sz="900" b="0">
                <a:solidFill>
                  <a:srgbClr val="168F86"/>
                </a:solidFill>
                <a:latin typeface="Calibri"/>
                <a:ea typeface="Calibri"/>
                <a:cs typeface="Calibri"/>
              </a:defRPr>
            </a:lvl9pPr>
          </a:lstStyle>
          <a:p>
            <a:pPr>
              <a:defRPr sz="900" b="0">
                <a:solidFill>
                  <a:srgbClr val="168F86"/>
                </a:solidFill>
                <a:latin typeface="Calibri"/>
                <a:ea typeface="Calibri"/>
                <a:cs typeface="Calibri"/>
              </a:defRPr>
            </a:pPr>
            <a:r>
              <a:rPr sz="900" b="0">
                <a:solidFill>
                  <a:srgbClr val="168F86"/>
                </a:solidFill>
                <a:latin typeface="Calibri"/>
                <a:ea typeface="Calibri"/>
                <a:cs typeface="Calibri"/>
              </a:rPr>
              <a:t>■</a:t>
            </a:r>
          </a:p>
        </p:txBody>
      </p:sp>
      <p:sp>
        <p:nvSpPr>
          <p:cNvPr id="197" name="Rectangle 196">
            <a:extLst>
              <a:ext uri="{FF2B5EF4-FFF2-40B4-BE49-F238E27FC236}">
                <a16:creationId xmlns:a16="http://schemas.microsoft.com/office/drawing/2014/main" id="{DFCEB4F9-8BB9-8BA0-C4A6-6E88C5ECDB00}"/>
              </a:ext>
            </a:extLst>
          </p:cNvPr>
          <p:cNvSpPr>
            <a:spLocks noGrp="1"/>
          </p:cNvSpPr>
          <p:nvPr/>
        </p:nvSpPr>
        <p:spPr>
          <a:xfrm>
            <a:off x="4629150" y="2286000"/>
            <a:ext cx="2905125" cy="200025"/>
          </a:xfrm>
          <a:prstGeom prst="rect">
            <a:avLst/>
          </a:prstGeom>
          <a:noFill/>
          <a:ln w="0">
            <a:noFill/>
            <a:prstDash val="solid"/>
          </a:ln>
        </p:spPr>
        <p:txBody>
          <a:bodyPr lIns="0" tIns="0" rIns="0" bIns="0"/>
          <a:lstStyle>
            <a:defPPr>
              <a:defRPr sz="975" b="0">
                <a:solidFill>
                  <a:srgbClr val="000000"/>
                </a:solidFill>
                <a:latin typeface="Calibri"/>
                <a:ea typeface="Calibri"/>
                <a:cs typeface="Calibri"/>
              </a:defRPr>
            </a:defPPr>
            <a:lvl1pPr>
              <a:defRPr sz="975" b="0">
                <a:solidFill>
                  <a:srgbClr val="000000"/>
                </a:solidFill>
                <a:latin typeface="Calibri"/>
                <a:ea typeface="Calibri"/>
                <a:cs typeface="Calibri"/>
              </a:defRPr>
            </a:lvl1pPr>
            <a:lvl2pPr>
              <a:defRPr sz="975" b="0">
                <a:solidFill>
                  <a:srgbClr val="000000"/>
                </a:solidFill>
                <a:latin typeface="Calibri"/>
                <a:ea typeface="Calibri"/>
                <a:cs typeface="Calibri"/>
              </a:defRPr>
            </a:lvl2pPr>
            <a:lvl3pPr>
              <a:defRPr sz="975" b="0">
                <a:solidFill>
                  <a:srgbClr val="000000"/>
                </a:solidFill>
                <a:latin typeface="Calibri"/>
                <a:ea typeface="Calibri"/>
                <a:cs typeface="Calibri"/>
              </a:defRPr>
            </a:lvl3pPr>
            <a:lvl4pPr>
              <a:defRPr sz="975" b="0">
                <a:solidFill>
                  <a:srgbClr val="000000"/>
                </a:solidFill>
                <a:latin typeface="Calibri"/>
                <a:ea typeface="Calibri"/>
                <a:cs typeface="Calibri"/>
              </a:defRPr>
            </a:lvl4pPr>
            <a:lvl5pPr>
              <a:defRPr sz="975" b="0">
                <a:solidFill>
                  <a:srgbClr val="000000"/>
                </a:solidFill>
                <a:latin typeface="Calibri"/>
                <a:ea typeface="Calibri"/>
                <a:cs typeface="Calibri"/>
              </a:defRPr>
            </a:lvl5pPr>
            <a:lvl6pPr>
              <a:defRPr sz="975" b="0">
                <a:solidFill>
                  <a:srgbClr val="000000"/>
                </a:solidFill>
                <a:latin typeface="Calibri"/>
                <a:ea typeface="Calibri"/>
                <a:cs typeface="Calibri"/>
              </a:defRPr>
            </a:lvl6pPr>
            <a:lvl7pPr>
              <a:defRPr sz="975" b="0">
                <a:solidFill>
                  <a:srgbClr val="000000"/>
                </a:solidFill>
                <a:latin typeface="Calibri"/>
                <a:ea typeface="Calibri"/>
                <a:cs typeface="Calibri"/>
              </a:defRPr>
            </a:lvl7pPr>
            <a:lvl8pPr>
              <a:defRPr sz="975" b="0">
                <a:solidFill>
                  <a:srgbClr val="000000"/>
                </a:solidFill>
                <a:latin typeface="Calibri"/>
                <a:ea typeface="Calibri"/>
                <a:cs typeface="Calibri"/>
              </a:defRPr>
            </a:lvl8pPr>
            <a:lvl9pPr>
              <a:defRPr sz="975" b="0">
                <a:solidFill>
                  <a:srgbClr val="000000"/>
                </a:solidFill>
                <a:latin typeface="Calibri"/>
                <a:ea typeface="Calibri"/>
                <a:cs typeface="Calibri"/>
              </a:defRPr>
            </a:lvl9pPr>
          </a:lstStyle>
          <a:p>
            <a:pPr>
              <a:defRPr sz="975" b="0">
                <a:solidFill>
                  <a:srgbClr val="000000"/>
                </a:solidFill>
                <a:latin typeface="Calibri"/>
                <a:ea typeface="Calibri"/>
                <a:cs typeface="Calibri"/>
              </a:defRPr>
            </a:pPr>
            <a:r>
              <a:rPr sz="975" b="0">
                <a:solidFill>
                  <a:srgbClr val="000000"/>
                </a:solidFill>
                <a:latin typeface="Calibri"/>
                <a:ea typeface="Calibri"/>
                <a:cs typeface="Calibri"/>
              </a:rPr>
              <a:t>Vertical propulsion: 121.3 kg (31%)</a:t>
            </a:r>
          </a:p>
        </p:txBody>
      </p:sp>
      <p:sp>
        <p:nvSpPr>
          <p:cNvPr id="198" name="Rectangle 197">
            <a:extLst>
              <a:ext uri="{FF2B5EF4-FFF2-40B4-BE49-F238E27FC236}">
                <a16:creationId xmlns:a16="http://schemas.microsoft.com/office/drawing/2014/main" id="{1E8E144B-D932-7C1B-9BD4-98A849EE709A}"/>
              </a:ext>
            </a:extLst>
          </p:cNvPr>
          <p:cNvSpPr>
            <a:spLocks noGrp="1"/>
          </p:cNvSpPr>
          <p:nvPr/>
        </p:nvSpPr>
        <p:spPr>
          <a:xfrm>
            <a:off x="4629150" y="2457450"/>
            <a:ext cx="2905125" cy="180975"/>
          </a:xfrm>
          <a:prstGeom prst="rect">
            <a:avLst/>
          </a:prstGeom>
          <a:noFill/>
          <a:ln w="0">
            <a:noFill/>
            <a:prstDash val="solid"/>
          </a:ln>
        </p:spPr>
        <p:txBody>
          <a:bodyPr lIns="0" tIns="0" rIns="0" bIns="0"/>
          <a:lstStyle>
            <a:defPPr>
              <a:defRPr sz="825" b="0">
                <a:solidFill>
                  <a:srgbClr val="444444"/>
                </a:solidFill>
                <a:latin typeface="Calibri"/>
                <a:ea typeface="Calibri"/>
                <a:cs typeface="Calibri"/>
              </a:defRPr>
            </a:defPPr>
            <a:lvl1pPr>
              <a:defRPr sz="825" b="0">
                <a:solidFill>
                  <a:srgbClr val="444444"/>
                </a:solidFill>
                <a:latin typeface="Calibri"/>
                <a:ea typeface="Calibri"/>
                <a:cs typeface="Calibri"/>
              </a:defRPr>
            </a:lvl1pPr>
            <a:lvl2pPr>
              <a:defRPr sz="825" b="0">
                <a:solidFill>
                  <a:srgbClr val="444444"/>
                </a:solidFill>
                <a:latin typeface="Calibri"/>
                <a:ea typeface="Calibri"/>
                <a:cs typeface="Calibri"/>
              </a:defRPr>
            </a:lvl2pPr>
            <a:lvl3pPr>
              <a:defRPr sz="825" b="0">
                <a:solidFill>
                  <a:srgbClr val="444444"/>
                </a:solidFill>
                <a:latin typeface="Calibri"/>
                <a:ea typeface="Calibri"/>
                <a:cs typeface="Calibri"/>
              </a:defRPr>
            </a:lvl3pPr>
            <a:lvl4pPr>
              <a:defRPr sz="825" b="0">
                <a:solidFill>
                  <a:srgbClr val="444444"/>
                </a:solidFill>
                <a:latin typeface="Calibri"/>
                <a:ea typeface="Calibri"/>
                <a:cs typeface="Calibri"/>
              </a:defRPr>
            </a:lvl4pPr>
            <a:lvl5pPr>
              <a:defRPr sz="825" b="0">
                <a:solidFill>
                  <a:srgbClr val="444444"/>
                </a:solidFill>
                <a:latin typeface="Calibri"/>
                <a:ea typeface="Calibri"/>
                <a:cs typeface="Calibri"/>
              </a:defRPr>
            </a:lvl5pPr>
            <a:lvl6pPr>
              <a:defRPr sz="825" b="0">
                <a:solidFill>
                  <a:srgbClr val="444444"/>
                </a:solidFill>
                <a:latin typeface="Calibri"/>
                <a:ea typeface="Calibri"/>
                <a:cs typeface="Calibri"/>
              </a:defRPr>
            </a:lvl6pPr>
            <a:lvl7pPr>
              <a:defRPr sz="825" b="0">
                <a:solidFill>
                  <a:srgbClr val="444444"/>
                </a:solidFill>
                <a:latin typeface="Calibri"/>
                <a:ea typeface="Calibri"/>
                <a:cs typeface="Calibri"/>
              </a:defRPr>
            </a:lvl7pPr>
            <a:lvl8pPr>
              <a:defRPr sz="825" b="0">
                <a:solidFill>
                  <a:srgbClr val="444444"/>
                </a:solidFill>
                <a:latin typeface="Calibri"/>
                <a:ea typeface="Calibri"/>
                <a:cs typeface="Calibri"/>
              </a:defRPr>
            </a:lvl8pPr>
            <a:lvl9pPr>
              <a:defRPr sz="825" b="0">
                <a:solidFill>
                  <a:srgbClr val="444444"/>
                </a:solidFill>
                <a:latin typeface="Calibri"/>
                <a:ea typeface="Calibri"/>
                <a:cs typeface="Calibri"/>
              </a:defRPr>
            </a:lvl9pPr>
          </a:lstStyle>
          <a:p>
            <a:pPr>
              <a:defRPr sz="825" b="0">
                <a:solidFill>
                  <a:srgbClr val="444444"/>
                </a:solidFill>
                <a:latin typeface="Calibri"/>
                <a:ea typeface="Calibri"/>
                <a:cs typeface="Calibri"/>
              </a:defRPr>
            </a:pPr>
            <a:r>
              <a:rPr sz="825" b="0">
                <a:solidFill>
                  <a:srgbClr val="444444"/>
                </a:solidFill>
                <a:latin typeface="Calibri"/>
                <a:ea typeface="Calibri"/>
                <a:cs typeface="Calibri"/>
              </a:rPr>
              <a:t>Battery 73.7, motors 32.6, inverters 6.0 kg</a:t>
            </a:r>
          </a:p>
        </p:txBody>
      </p:sp>
      <p:sp>
        <p:nvSpPr>
          <p:cNvPr id="199" name="Rectangle 198">
            <a:extLst>
              <a:ext uri="{FF2B5EF4-FFF2-40B4-BE49-F238E27FC236}">
                <a16:creationId xmlns:a16="http://schemas.microsoft.com/office/drawing/2014/main" id="{0A4A25F6-FB76-DE74-18D6-DDA2FD477607}"/>
              </a:ext>
            </a:extLst>
          </p:cNvPr>
          <p:cNvSpPr>
            <a:spLocks noGrp="1"/>
          </p:cNvSpPr>
          <p:nvPr/>
        </p:nvSpPr>
        <p:spPr>
          <a:xfrm>
            <a:off x="4629150" y="2600325"/>
            <a:ext cx="2905125" cy="180975"/>
          </a:xfrm>
          <a:prstGeom prst="rect">
            <a:avLst/>
          </a:prstGeom>
          <a:noFill/>
          <a:ln w="0">
            <a:noFill/>
            <a:prstDash val="solid"/>
          </a:ln>
        </p:spPr>
        <p:txBody>
          <a:bodyPr lIns="0" tIns="0" rIns="0" bIns="0"/>
          <a:lstStyle>
            <a:defPPr>
              <a:defRPr sz="825" b="0">
                <a:solidFill>
                  <a:srgbClr val="444444"/>
                </a:solidFill>
                <a:latin typeface="Calibri"/>
                <a:ea typeface="Calibri"/>
                <a:cs typeface="Calibri"/>
              </a:defRPr>
            </a:defPPr>
            <a:lvl1pPr>
              <a:defRPr sz="825" b="0">
                <a:solidFill>
                  <a:srgbClr val="444444"/>
                </a:solidFill>
                <a:latin typeface="Calibri"/>
                <a:ea typeface="Calibri"/>
                <a:cs typeface="Calibri"/>
              </a:defRPr>
            </a:lvl1pPr>
            <a:lvl2pPr>
              <a:defRPr sz="825" b="0">
                <a:solidFill>
                  <a:srgbClr val="444444"/>
                </a:solidFill>
                <a:latin typeface="Calibri"/>
                <a:ea typeface="Calibri"/>
                <a:cs typeface="Calibri"/>
              </a:defRPr>
            </a:lvl2pPr>
            <a:lvl3pPr>
              <a:defRPr sz="825" b="0">
                <a:solidFill>
                  <a:srgbClr val="444444"/>
                </a:solidFill>
                <a:latin typeface="Calibri"/>
                <a:ea typeface="Calibri"/>
                <a:cs typeface="Calibri"/>
              </a:defRPr>
            </a:lvl3pPr>
            <a:lvl4pPr>
              <a:defRPr sz="825" b="0">
                <a:solidFill>
                  <a:srgbClr val="444444"/>
                </a:solidFill>
                <a:latin typeface="Calibri"/>
                <a:ea typeface="Calibri"/>
                <a:cs typeface="Calibri"/>
              </a:defRPr>
            </a:lvl4pPr>
            <a:lvl5pPr>
              <a:defRPr sz="825" b="0">
                <a:solidFill>
                  <a:srgbClr val="444444"/>
                </a:solidFill>
                <a:latin typeface="Calibri"/>
                <a:ea typeface="Calibri"/>
                <a:cs typeface="Calibri"/>
              </a:defRPr>
            </a:lvl5pPr>
            <a:lvl6pPr>
              <a:defRPr sz="825" b="0">
                <a:solidFill>
                  <a:srgbClr val="444444"/>
                </a:solidFill>
                <a:latin typeface="Calibri"/>
                <a:ea typeface="Calibri"/>
                <a:cs typeface="Calibri"/>
              </a:defRPr>
            </a:lvl6pPr>
            <a:lvl7pPr>
              <a:defRPr sz="825" b="0">
                <a:solidFill>
                  <a:srgbClr val="444444"/>
                </a:solidFill>
                <a:latin typeface="Calibri"/>
                <a:ea typeface="Calibri"/>
                <a:cs typeface="Calibri"/>
              </a:defRPr>
            </a:lvl7pPr>
            <a:lvl8pPr>
              <a:defRPr sz="825" b="0">
                <a:solidFill>
                  <a:srgbClr val="444444"/>
                </a:solidFill>
                <a:latin typeface="Calibri"/>
                <a:ea typeface="Calibri"/>
                <a:cs typeface="Calibri"/>
              </a:defRPr>
            </a:lvl8pPr>
            <a:lvl9pPr>
              <a:defRPr sz="825" b="0">
                <a:solidFill>
                  <a:srgbClr val="444444"/>
                </a:solidFill>
                <a:latin typeface="Calibri"/>
                <a:ea typeface="Calibri"/>
                <a:cs typeface="Calibri"/>
              </a:defRPr>
            </a:lvl9pPr>
          </a:lstStyle>
          <a:p>
            <a:pPr>
              <a:defRPr sz="825" b="0">
                <a:solidFill>
                  <a:srgbClr val="444444"/>
                </a:solidFill>
                <a:latin typeface="Calibri"/>
                <a:ea typeface="Calibri"/>
                <a:cs typeface="Calibri"/>
              </a:defRPr>
            </a:pPr>
            <a:r>
              <a:rPr sz="825" b="0">
                <a:solidFill>
                  <a:srgbClr val="444444"/>
                </a:solidFill>
                <a:latin typeface="Calibri"/>
                <a:ea typeface="Calibri"/>
                <a:cs typeface="Calibri"/>
              </a:rPr>
              <a:t>Lift prop assembly 8.9 kg</a:t>
            </a:r>
          </a:p>
        </p:txBody>
      </p:sp>
      <p:sp>
        <p:nvSpPr>
          <p:cNvPr id="200" name="Rectangle 199">
            <a:extLst>
              <a:ext uri="{FF2B5EF4-FFF2-40B4-BE49-F238E27FC236}">
                <a16:creationId xmlns:a16="http://schemas.microsoft.com/office/drawing/2014/main" id="{338590FD-04BD-25B8-12CB-2ADF72A4DF3A}"/>
              </a:ext>
            </a:extLst>
          </p:cNvPr>
          <p:cNvSpPr>
            <a:spLocks noGrp="1"/>
          </p:cNvSpPr>
          <p:nvPr/>
        </p:nvSpPr>
        <p:spPr>
          <a:xfrm>
            <a:off x="4476750" y="2743200"/>
            <a:ext cx="142875" cy="171450"/>
          </a:xfrm>
          <a:prstGeom prst="rect">
            <a:avLst/>
          </a:prstGeom>
          <a:noFill/>
          <a:ln w="0">
            <a:noFill/>
            <a:prstDash val="solid"/>
          </a:ln>
        </p:spPr>
        <p:txBody>
          <a:bodyPr lIns="0" tIns="0" rIns="0" bIns="0"/>
          <a:lstStyle>
            <a:defPPr>
              <a:defRPr sz="900" b="0">
                <a:solidFill>
                  <a:srgbClr val="D57530"/>
                </a:solidFill>
                <a:latin typeface="Calibri"/>
                <a:ea typeface="Calibri"/>
                <a:cs typeface="Calibri"/>
              </a:defRPr>
            </a:defPPr>
            <a:lvl1pPr>
              <a:defRPr sz="900" b="0">
                <a:solidFill>
                  <a:srgbClr val="D57530"/>
                </a:solidFill>
                <a:latin typeface="Calibri"/>
                <a:ea typeface="Calibri"/>
                <a:cs typeface="Calibri"/>
              </a:defRPr>
            </a:lvl1pPr>
            <a:lvl2pPr>
              <a:defRPr sz="900" b="0">
                <a:solidFill>
                  <a:srgbClr val="D57530"/>
                </a:solidFill>
                <a:latin typeface="Calibri"/>
                <a:ea typeface="Calibri"/>
                <a:cs typeface="Calibri"/>
              </a:defRPr>
            </a:lvl2pPr>
            <a:lvl3pPr>
              <a:defRPr sz="900" b="0">
                <a:solidFill>
                  <a:srgbClr val="D57530"/>
                </a:solidFill>
                <a:latin typeface="Calibri"/>
                <a:ea typeface="Calibri"/>
                <a:cs typeface="Calibri"/>
              </a:defRPr>
            </a:lvl3pPr>
            <a:lvl4pPr>
              <a:defRPr sz="900" b="0">
                <a:solidFill>
                  <a:srgbClr val="D57530"/>
                </a:solidFill>
                <a:latin typeface="Calibri"/>
                <a:ea typeface="Calibri"/>
                <a:cs typeface="Calibri"/>
              </a:defRPr>
            </a:lvl4pPr>
            <a:lvl5pPr>
              <a:defRPr sz="900" b="0">
                <a:solidFill>
                  <a:srgbClr val="D57530"/>
                </a:solidFill>
                <a:latin typeface="Calibri"/>
                <a:ea typeface="Calibri"/>
                <a:cs typeface="Calibri"/>
              </a:defRPr>
            </a:lvl5pPr>
            <a:lvl6pPr>
              <a:defRPr sz="900" b="0">
                <a:solidFill>
                  <a:srgbClr val="D57530"/>
                </a:solidFill>
                <a:latin typeface="Calibri"/>
                <a:ea typeface="Calibri"/>
                <a:cs typeface="Calibri"/>
              </a:defRPr>
            </a:lvl6pPr>
            <a:lvl7pPr>
              <a:defRPr sz="900" b="0">
                <a:solidFill>
                  <a:srgbClr val="D57530"/>
                </a:solidFill>
                <a:latin typeface="Calibri"/>
                <a:ea typeface="Calibri"/>
                <a:cs typeface="Calibri"/>
              </a:defRPr>
            </a:lvl7pPr>
            <a:lvl8pPr>
              <a:defRPr sz="900" b="0">
                <a:solidFill>
                  <a:srgbClr val="D57530"/>
                </a:solidFill>
                <a:latin typeface="Calibri"/>
                <a:ea typeface="Calibri"/>
                <a:cs typeface="Calibri"/>
              </a:defRPr>
            </a:lvl8pPr>
            <a:lvl9pPr>
              <a:defRPr sz="900" b="0">
                <a:solidFill>
                  <a:srgbClr val="D57530"/>
                </a:solidFill>
                <a:latin typeface="Calibri"/>
                <a:ea typeface="Calibri"/>
                <a:cs typeface="Calibri"/>
              </a:defRPr>
            </a:lvl9pPr>
          </a:lstStyle>
          <a:p>
            <a:pPr>
              <a:defRPr sz="900" b="0">
                <a:solidFill>
                  <a:srgbClr val="D57530"/>
                </a:solidFill>
                <a:latin typeface="Calibri"/>
                <a:ea typeface="Calibri"/>
                <a:cs typeface="Calibri"/>
              </a:defRPr>
            </a:pPr>
            <a:r>
              <a:rPr sz="900" b="0">
                <a:solidFill>
                  <a:srgbClr val="D57530"/>
                </a:solidFill>
                <a:latin typeface="Calibri"/>
                <a:ea typeface="Calibri"/>
                <a:cs typeface="Calibri"/>
              </a:rPr>
              <a:t>■</a:t>
            </a:r>
          </a:p>
        </p:txBody>
      </p:sp>
      <p:sp>
        <p:nvSpPr>
          <p:cNvPr id="201" name="Rectangle 200">
            <a:extLst>
              <a:ext uri="{FF2B5EF4-FFF2-40B4-BE49-F238E27FC236}">
                <a16:creationId xmlns:a16="http://schemas.microsoft.com/office/drawing/2014/main" id="{05B810D5-280B-BC8D-A139-17257E0D53F1}"/>
              </a:ext>
            </a:extLst>
          </p:cNvPr>
          <p:cNvSpPr>
            <a:spLocks noGrp="1"/>
          </p:cNvSpPr>
          <p:nvPr/>
        </p:nvSpPr>
        <p:spPr>
          <a:xfrm>
            <a:off x="4629150" y="2743200"/>
            <a:ext cx="2905125" cy="200025"/>
          </a:xfrm>
          <a:prstGeom prst="rect">
            <a:avLst/>
          </a:prstGeom>
          <a:noFill/>
          <a:ln w="0">
            <a:noFill/>
            <a:prstDash val="solid"/>
          </a:ln>
        </p:spPr>
        <p:txBody>
          <a:bodyPr lIns="0" tIns="0" rIns="0" bIns="0"/>
          <a:lstStyle>
            <a:defPPr>
              <a:defRPr sz="975" b="0">
                <a:solidFill>
                  <a:srgbClr val="000000"/>
                </a:solidFill>
                <a:latin typeface="Calibri"/>
                <a:ea typeface="Calibri"/>
                <a:cs typeface="Calibri"/>
              </a:defRPr>
            </a:defPPr>
            <a:lvl1pPr>
              <a:defRPr sz="975" b="0">
                <a:solidFill>
                  <a:srgbClr val="000000"/>
                </a:solidFill>
                <a:latin typeface="Calibri"/>
                <a:ea typeface="Calibri"/>
                <a:cs typeface="Calibri"/>
              </a:defRPr>
            </a:lvl1pPr>
            <a:lvl2pPr>
              <a:defRPr sz="975" b="0">
                <a:solidFill>
                  <a:srgbClr val="000000"/>
                </a:solidFill>
                <a:latin typeface="Calibri"/>
                <a:ea typeface="Calibri"/>
                <a:cs typeface="Calibri"/>
              </a:defRPr>
            </a:lvl2pPr>
            <a:lvl3pPr>
              <a:defRPr sz="975" b="0">
                <a:solidFill>
                  <a:srgbClr val="000000"/>
                </a:solidFill>
                <a:latin typeface="Calibri"/>
                <a:ea typeface="Calibri"/>
                <a:cs typeface="Calibri"/>
              </a:defRPr>
            </a:lvl3pPr>
            <a:lvl4pPr>
              <a:defRPr sz="975" b="0">
                <a:solidFill>
                  <a:srgbClr val="000000"/>
                </a:solidFill>
                <a:latin typeface="Calibri"/>
                <a:ea typeface="Calibri"/>
                <a:cs typeface="Calibri"/>
              </a:defRPr>
            </a:lvl4pPr>
            <a:lvl5pPr>
              <a:defRPr sz="975" b="0">
                <a:solidFill>
                  <a:srgbClr val="000000"/>
                </a:solidFill>
                <a:latin typeface="Calibri"/>
                <a:ea typeface="Calibri"/>
                <a:cs typeface="Calibri"/>
              </a:defRPr>
            </a:lvl5pPr>
            <a:lvl6pPr>
              <a:defRPr sz="975" b="0">
                <a:solidFill>
                  <a:srgbClr val="000000"/>
                </a:solidFill>
                <a:latin typeface="Calibri"/>
                <a:ea typeface="Calibri"/>
                <a:cs typeface="Calibri"/>
              </a:defRPr>
            </a:lvl6pPr>
            <a:lvl7pPr>
              <a:defRPr sz="975" b="0">
                <a:solidFill>
                  <a:srgbClr val="000000"/>
                </a:solidFill>
                <a:latin typeface="Calibri"/>
                <a:ea typeface="Calibri"/>
                <a:cs typeface="Calibri"/>
              </a:defRPr>
            </a:lvl7pPr>
            <a:lvl8pPr>
              <a:defRPr sz="975" b="0">
                <a:solidFill>
                  <a:srgbClr val="000000"/>
                </a:solidFill>
                <a:latin typeface="Calibri"/>
                <a:ea typeface="Calibri"/>
                <a:cs typeface="Calibri"/>
              </a:defRPr>
            </a:lvl8pPr>
            <a:lvl9pPr>
              <a:defRPr sz="975" b="0">
                <a:solidFill>
                  <a:srgbClr val="000000"/>
                </a:solidFill>
                <a:latin typeface="Calibri"/>
                <a:ea typeface="Calibri"/>
                <a:cs typeface="Calibri"/>
              </a:defRPr>
            </a:lvl9pPr>
          </a:lstStyle>
          <a:p>
            <a:pPr>
              <a:defRPr sz="975" b="0">
                <a:solidFill>
                  <a:srgbClr val="000000"/>
                </a:solidFill>
                <a:latin typeface="Calibri"/>
                <a:ea typeface="Calibri"/>
                <a:cs typeface="Calibri"/>
              </a:defRPr>
            </a:pPr>
            <a:r>
              <a:rPr sz="975" b="0">
                <a:solidFill>
                  <a:srgbClr val="000000"/>
                </a:solidFill>
                <a:latin typeface="Calibri"/>
                <a:ea typeface="Calibri"/>
                <a:cs typeface="Calibri"/>
              </a:rPr>
              <a:t>Horizontal propulsion: 52.1 kg (13%)</a:t>
            </a:r>
          </a:p>
        </p:txBody>
      </p:sp>
      <p:sp>
        <p:nvSpPr>
          <p:cNvPr id="202" name="Rectangle 201">
            <a:extLst>
              <a:ext uri="{FF2B5EF4-FFF2-40B4-BE49-F238E27FC236}">
                <a16:creationId xmlns:a16="http://schemas.microsoft.com/office/drawing/2014/main" id="{1A2B217A-571C-D016-CA49-978848F5D8C2}"/>
              </a:ext>
            </a:extLst>
          </p:cNvPr>
          <p:cNvSpPr>
            <a:spLocks noGrp="1"/>
          </p:cNvSpPr>
          <p:nvPr/>
        </p:nvSpPr>
        <p:spPr>
          <a:xfrm>
            <a:off x="4629150" y="2914650"/>
            <a:ext cx="2905125" cy="180975"/>
          </a:xfrm>
          <a:prstGeom prst="rect">
            <a:avLst/>
          </a:prstGeom>
          <a:noFill/>
          <a:ln w="0">
            <a:noFill/>
            <a:prstDash val="solid"/>
          </a:ln>
        </p:spPr>
        <p:txBody>
          <a:bodyPr lIns="0" tIns="0" rIns="0" bIns="0"/>
          <a:lstStyle>
            <a:defPPr>
              <a:defRPr sz="825" b="0">
                <a:solidFill>
                  <a:srgbClr val="444444"/>
                </a:solidFill>
                <a:latin typeface="Calibri"/>
                <a:ea typeface="Calibri"/>
                <a:cs typeface="Calibri"/>
              </a:defRPr>
            </a:defPPr>
            <a:lvl1pPr>
              <a:defRPr sz="825" b="0">
                <a:solidFill>
                  <a:srgbClr val="444444"/>
                </a:solidFill>
                <a:latin typeface="Calibri"/>
                <a:ea typeface="Calibri"/>
                <a:cs typeface="Calibri"/>
              </a:defRPr>
            </a:lvl1pPr>
            <a:lvl2pPr>
              <a:defRPr sz="825" b="0">
                <a:solidFill>
                  <a:srgbClr val="444444"/>
                </a:solidFill>
                <a:latin typeface="Calibri"/>
                <a:ea typeface="Calibri"/>
                <a:cs typeface="Calibri"/>
              </a:defRPr>
            </a:lvl2pPr>
            <a:lvl3pPr>
              <a:defRPr sz="825" b="0">
                <a:solidFill>
                  <a:srgbClr val="444444"/>
                </a:solidFill>
                <a:latin typeface="Calibri"/>
                <a:ea typeface="Calibri"/>
                <a:cs typeface="Calibri"/>
              </a:defRPr>
            </a:lvl3pPr>
            <a:lvl4pPr>
              <a:defRPr sz="825" b="0">
                <a:solidFill>
                  <a:srgbClr val="444444"/>
                </a:solidFill>
                <a:latin typeface="Calibri"/>
                <a:ea typeface="Calibri"/>
                <a:cs typeface="Calibri"/>
              </a:defRPr>
            </a:lvl4pPr>
            <a:lvl5pPr>
              <a:defRPr sz="825" b="0">
                <a:solidFill>
                  <a:srgbClr val="444444"/>
                </a:solidFill>
                <a:latin typeface="Calibri"/>
                <a:ea typeface="Calibri"/>
                <a:cs typeface="Calibri"/>
              </a:defRPr>
            </a:lvl5pPr>
            <a:lvl6pPr>
              <a:defRPr sz="825" b="0">
                <a:solidFill>
                  <a:srgbClr val="444444"/>
                </a:solidFill>
                <a:latin typeface="Calibri"/>
                <a:ea typeface="Calibri"/>
                <a:cs typeface="Calibri"/>
              </a:defRPr>
            </a:lvl6pPr>
            <a:lvl7pPr>
              <a:defRPr sz="825" b="0">
                <a:solidFill>
                  <a:srgbClr val="444444"/>
                </a:solidFill>
                <a:latin typeface="Calibri"/>
                <a:ea typeface="Calibri"/>
                <a:cs typeface="Calibri"/>
              </a:defRPr>
            </a:lvl7pPr>
            <a:lvl8pPr>
              <a:defRPr sz="825" b="0">
                <a:solidFill>
                  <a:srgbClr val="444444"/>
                </a:solidFill>
                <a:latin typeface="Calibri"/>
                <a:ea typeface="Calibri"/>
                <a:cs typeface="Calibri"/>
              </a:defRPr>
            </a:lvl8pPr>
            <a:lvl9pPr>
              <a:defRPr sz="825" b="0">
                <a:solidFill>
                  <a:srgbClr val="444444"/>
                </a:solidFill>
                <a:latin typeface="Calibri"/>
                <a:ea typeface="Calibri"/>
                <a:cs typeface="Calibri"/>
              </a:defRPr>
            </a:lvl9pPr>
          </a:lstStyle>
          <a:p>
            <a:pPr>
              <a:defRPr sz="825" b="0">
                <a:solidFill>
                  <a:srgbClr val="444444"/>
                </a:solidFill>
                <a:latin typeface="Calibri"/>
                <a:ea typeface="Calibri"/>
                <a:cs typeface="Calibri"/>
              </a:defRPr>
            </a:pPr>
            <a:r>
              <a:rPr sz="825" b="0">
                <a:solidFill>
                  <a:srgbClr val="444444"/>
                </a:solidFill>
                <a:latin typeface="Calibri"/>
                <a:ea typeface="Calibri"/>
                <a:cs typeface="Calibri"/>
              </a:rPr>
              <a:t>Engine 41.0, prop 7.7, drive 3.4 kg</a:t>
            </a:r>
          </a:p>
        </p:txBody>
      </p:sp>
      <p:sp>
        <p:nvSpPr>
          <p:cNvPr id="203" name="Rectangle 202">
            <a:extLst>
              <a:ext uri="{FF2B5EF4-FFF2-40B4-BE49-F238E27FC236}">
                <a16:creationId xmlns:a16="http://schemas.microsoft.com/office/drawing/2014/main" id="{1784A3C5-6868-3CFD-D8C9-7902843CCAC1}"/>
              </a:ext>
            </a:extLst>
          </p:cNvPr>
          <p:cNvSpPr>
            <a:spLocks noGrp="1"/>
          </p:cNvSpPr>
          <p:nvPr/>
        </p:nvSpPr>
        <p:spPr>
          <a:xfrm>
            <a:off x="4476750" y="3057525"/>
            <a:ext cx="142875" cy="171450"/>
          </a:xfrm>
          <a:prstGeom prst="rect">
            <a:avLst/>
          </a:prstGeom>
          <a:noFill/>
          <a:ln w="0">
            <a:noFill/>
            <a:prstDash val="solid"/>
          </a:ln>
        </p:spPr>
        <p:txBody>
          <a:bodyPr lIns="0" tIns="0" rIns="0" bIns="0"/>
          <a:lstStyle>
            <a:defPPr>
              <a:defRPr sz="900" b="0">
                <a:solidFill>
                  <a:srgbClr val="8A9A42"/>
                </a:solidFill>
                <a:latin typeface="Calibri"/>
                <a:ea typeface="Calibri"/>
                <a:cs typeface="Calibri"/>
              </a:defRPr>
            </a:defPPr>
            <a:lvl1pPr>
              <a:defRPr sz="900" b="0">
                <a:solidFill>
                  <a:srgbClr val="8A9A42"/>
                </a:solidFill>
                <a:latin typeface="Calibri"/>
                <a:ea typeface="Calibri"/>
                <a:cs typeface="Calibri"/>
              </a:defRPr>
            </a:lvl1pPr>
            <a:lvl2pPr>
              <a:defRPr sz="900" b="0">
                <a:solidFill>
                  <a:srgbClr val="8A9A42"/>
                </a:solidFill>
                <a:latin typeface="Calibri"/>
                <a:ea typeface="Calibri"/>
                <a:cs typeface="Calibri"/>
              </a:defRPr>
            </a:lvl2pPr>
            <a:lvl3pPr>
              <a:defRPr sz="900" b="0">
                <a:solidFill>
                  <a:srgbClr val="8A9A42"/>
                </a:solidFill>
                <a:latin typeface="Calibri"/>
                <a:ea typeface="Calibri"/>
                <a:cs typeface="Calibri"/>
              </a:defRPr>
            </a:lvl3pPr>
            <a:lvl4pPr>
              <a:defRPr sz="900" b="0">
                <a:solidFill>
                  <a:srgbClr val="8A9A42"/>
                </a:solidFill>
                <a:latin typeface="Calibri"/>
                <a:ea typeface="Calibri"/>
                <a:cs typeface="Calibri"/>
              </a:defRPr>
            </a:lvl4pPr>
            <a:lvl5pPr>
              <a:defRPr sz="900" b="0">
                <a:solidFill>
                  <a:srgbClr val="8A9A42"/>
                </a:solidFill>
                <a:latin typeface="Calibri"/>
                <a:ea typeface="Calibri"/>
                <a:cs typeface="Calibri"/>
              </a:defRPr>
            </a:lvl5pPr>
            <a:lvl6pPr>
              <a:defRPr sz="900" b="0">
                <a:solidFill>
                  <a:srgbClr val="8A9A42"/>
                </a:solidFill>
                <a:latin typeface="Calibri"/>
                <a:ea typeface="Calibri"/>
                <a:cs typeface="Calibri"/>
              </a:defRPr>
            </a:lvl6pPr>
            <a:lvl7pPr>
              <a:defRPr sz="900" b="0">
                <a:solidFill>
                  <a:srgbClr val="8A9A42"/>
                </a:solidFill>
                <a:latin typeface="Calibri"/>
                <a:ea typeface="Calibri"/>
                <a:cs typeface="Calibri"/>
              </a:defRPr>
            </a:lvl7pPr>
            <a:lvl8pPr>
              <a:defRPr sz="900" b="0">
                <a:solidFill>
                  <a:srgbClr val="8A9A42"/>
                </a:solidFill>
                <a:latin typeface="Calibri"/>
                <a:ea typeface="Calibri"/>
                <a:cs typeface="Calibri"/>
              </a:defRPr>
            </a:lvl8pPr>
            <a:lvl9pPr>
              <a:defRPr sz="900" b="0">
                <a:solidFill>
                  <a:srgbClr val="8A9A42"/>
                </a:solidFill>
                <a:latin typeface="Calibri"/>
                <a:ea typeface="Calibri"/>
                <a:cs typeface="Calibri"/>
              </a:defRPr>
            </a:lvl9pPr>
          </a:lstStyle>
          <a:p>
            <a:pPr>
              <a:defRPr sz="900" b="0">
                <a:solidFill>
                  <a:srgbClr val="8A9A42"/>
                </a:solidFill>
                <a:latin typeface="Calibri"/>
                <a:ea typeface="Calibri"/>
                <a:cs typeface="Calibri"/>
              </a:defRPr>
            </a:pPr>
            <a:r>
              <a:rPr sz="900" b="0">
                <a:solidFill>
                  <a:srgbClr val="8A9A42"/>
                </a:solidFill>
                <a:latin typeface="Calibri"/>
                <a:ea typeface="Calibri"/>
                <a:cs typeface="Calibri"/>
              </a:rPr>
              <a:t>■</a:t>
            </a:r>
          </a:p>
        </p:txBody>
      </p:sp>
      <p:sp>
        <p:nvSpPr>
          <p:cNvPr id="204" name="Rectangle 203">
            <a:extLst>
              <a:ext uri="{FF2B5EF4-FFF2-40B4-BE49-F238E27FC236}">
                <a16:creationId xmlns:a16="http://schemas.microsoft.com/office/drawing/2014/main" id="{86D85802-20E9-2F3F-8C68-B4C52AD28D86}"/>
              </a:ext>
            </a:extLst>
          </p:cNvPr>
          <p:cNvSpPr>
            <a:spLocks noGrp="1"/>
          </p:cNvSpPr>
          <p:nvPr/>
        </p:nvSpPr>
        <p:spPr>
          <a:xfrm>
            <a:off x="4629150" y="3057525"/>
            <a:ext cx="2905125" cy="200025"/>
          </a:xfrm>
          <a:prstGeom prst="rect">
            <a:avLst/>
          </a:prstGeom>
          <a:noFill/>
          <a:ln w="0">
            <a:noFill/>
            <a:prstDash val="solid"/>
          </a:ln>
        </p:spPr>
        <p:txBody>
          <a:bodyPr lIns="0" tIns="0" rIns="0" bIns="0"/>
          <a:lstStyle>
            <a:defPPr>
              <a:defRPr sz="975" b="0">
                <a:solidFill>
                  <a:srgbClr val="000000"/>
                </a:solidFill>
                <a:latin typeface="Calibri"/>
                <a:ea typeface="Calibri"/>
                <a:cs typeface="Calibri"/>
              </a:defRPr>
            </a:defPPr>
            <a:lvl1pPr>
              <a:defRPr sz="975" b="0">
                <a:solidFill>
                  <a:srgbClr val="000000"/>
                </a:solidFill>
                <a:latin typeface="Calibri"/>
                <a:ea typeface="Calibri"/>
                <a:cs typeface="Calibri"/>
              </a:defRPr>
            </a:lvl1pPr>
            <a:lvl2pPr>
              <a:defRPr sz="975" b="0">
                <a:solidFill>
                  <a:srgbClr val="000000"/>
                </a:solidFill>
                <a:latin typeface="Calibri"/>
                <a:ea typeface="Calibri"/>
                <a:cs typeface="Calibri"/>
              </a:defRPr>
            </a:lvl2pPr>
            <a:lvl3pPr>
              <a:defRPr sz="975" b="0">
                <a:solidFill>
                  <a:srgbClr val="000000"/>
                </a:solidFill>
                <a:latin typeface="Calibri"/>
                <a:ea typeface="Calibri"/>
                <a:cs typeface="Calibri"/>
              </a:defRPr>
            </a:lvl3pPr>
            <a:lvl4pPr>
              <a:defRPr sz="975" b="0">
                <a:solidFill>
                  <a:srgbClr val="000000"/>
                </a:solidFill>
                <a:latin typeface="Calibri"/>
                <a:ea typeface="Calibri"/>
                <a:cs typeface="Calibri"/>
              </a:defRPr>
            </a:lvl4pPr>
            <a:lvl5pPr>
              <a:defRPr sz="975" b="0">
                <a:solidFill>
                  <a:srgbClr val="000000"/>
                </a:solidFill>
                <a:latin typeface="Calibri"/>
                <a:ea typeface="Calibri"/>
                <a:cs typeface="Calibri"/>
              </a:defRPr>
            </a:lvl5pPr>
            <a:lvl6pPr>
              <a:defRPr sz="975" b="0">
                <a:solidFill>
                  <a:srgbClr val="000000"/>
                </a:solidFill>
                <a:latin typeface="Calibri"/>
                <a:ea typeface="Calibri"/>
                <a:cs typeface="Calibri"/>
              </a:defRPr>
            </a:lvl6pPr>
            <a:lvl7pPr>
              <a:defRPr sz="975" b="0">
                <a:solidFill>
                  <a:srgbClr val="000000"/>
                </a:solidFill>
                <a:latin typeface="Calibri"/>
                <a:ea typeface="Calibri"/>
                <a:cs typeface="Calibri"/>
              </a:defRPr>
            </a:lvl7pPr>
            <a:lvl8pPr>
              <a:defRPr sz="975" b="0">
                <a:solidFill>
                  <a:srgbClr val="000000"/>
                </a:solidFill>
                <a:latin typeface="Calibri"/>
                <a:ea typeface="Calibri"/>
                <a:cs typeface="Calibri"/>
              </a:defRPr>
            </a:lvl8pPr>
            <a:lvl9pPr>
              <a:defRPr sz="975" b="0">
                <a:solidFill>
                  <a:srgbClr val="000000"/>
                </a:solidFill>
                <a:latin typeface="Calibri"/>
                <a:ea typeface="Calibri"/>
                <a:cs typeface="Calibri"/>
              </a:defRPr>
            </a:lvl9pPr>
          </a:lstStyle>
          <a:p>
            <a:pPr>
              <a:defRPr sz="975" b="0">
                <a:solidFill>
                  <a:srgbClr val="000000"/>
                </a:solidFill>
                <a:latin typeface="Calibri"/>
                <a:ea typeface="Calibri"/>
                <a:cs typeface="Calibri"/>
              </a:defRPr>
            </a:pPr>
            <a:r>
              <a:rPr sz="975" b="0">
                <a:solidFill>
                  <a:srgbClr val="000000"/>
                </a:solidFill>
                <a:latin typeface="Calibri"/>
                <a:ea typeface="Calibri"/>
                <a:cs typeface="Calibri"/>
              </a:rPr>
              <a:t>Fuel-system hardware: 4.7 kg (1%)</a:t>
            </a:r>
          </a:p>
        </p:txBody>
      </p:sp>
      <p:sp>
        <p:nvSpPr>
          <p:cNvPr id="206" name="Rectangle 205">
            <a:extLst>
              <a:ext uri="{FF2B5EF4-FFF2-40B4-BE49-F238E27FC236}">
                <a16:creationId xmlns:a16="http://schemas.microsoft.com/office/drawing/2014/main" id="{58A9DC17-DC75-9341-16AC-C9DDE8397917}"/>
              </a:ext>
            </a:extLst>
          </p:cNvPr>
          <p:cNvSpPr>
            <a:spLocks noGrp="1"/>
          </p:cNvSpPr>
          <p:nvPr/>
        </p:nvSpPr>
        <p:spPr>
          <a:xfrm>
            <a:off x="4476750" y="3228975"/>
            <a:ext cx="142875" cy="171450"/>
          </a:xfrm>
          <a:prstGeom prst="rect">
            <a:avLst/>
          </a:prstGeom>
          <a:noFill/>
          <a:ln w="0">
            <a:noFill/>
            <a:prstDash val="solid"/>
          </a:ln>
        </p:spPr>
        <p:txBody>
          <a:bodyPr lIns="0" tIns="0" rIns="0" bIns="0"/>
          <a:lstStyle>
            <a:defPPr>
              <a:defRPr sz="900" b="0">
                <a:solidFill>
                  <a:srgbClr val="D2AB39"/>
                </a:solidFill>
                <a:latin typeface="Calibri"/>
                <a:ea typeface="Calibri"/>
                <a:cs typeface="Calibri"/>
              </a:defRPr>
            </a:defPPr>
            <a:lvl1pPr>
              <a:defRPr sz="900" b="0">
                <a:solidFill>
                  <a:srgbClr val="D2AB39"/>
                </a:solidFill>
                <a:latin typeface="Calibri"/>
                <a:ea typeface="Calibri"/>
                <a:cs typeface="Calibri"/>
              </a:defRPr>
            </a:lvl1pPr>
            <a:lvl2pPr>
              <a:defRPr sz="900" b="0">
                <a:solidFill>
                  <a:srgbClr val="D2AB39"/>
                </a:solidFill>
                <a:latin typeface="Calibri"/>
                <a:ea typeface="Calibri"/>
                <a:cs typeface="Calibri"/>
              </a:defRPr>
            </a:lvl2pPr>
            <a:lvl3pPr>
              <a:defRPr sz="900" b="0">
                <a:solidFill>
                  <a:srgbClr val="D2AB39"/>
                </a:solidFill>
                <a:latin typeface="Calibri"/>
                <a:ea typeface="Calibri"/>
                <a:cs typeface="Calibri"/>
              </a:defRPr>
            </a:lvl3pPr>
            <a:lvl4pPr>
              <a:defRPr sz="900" b="0">
                <a:solidFill>
                  <a:srgbClr val="D2AB39"/>
                </a:solidFill>
                <a:latin typeface="Calibri"/>
                <a:ea typeface="Calibri"/>
                <a:cs typeface="Calibri"/>
              </a:defRPr>
            </a:lvl4pPr>
            <a:lvl5pPr>
              <a:defRPr sz="900" b="0">
                <a:solidFill>
                  <a:srgbClr val="D2AB39"/>
                </a:solidFill>
                <a:latin typeface="Calibri"/>
                <a:ea typeface="Calibri"/>
                <a:cs typeface="Calibri"/>
              </a:defRPr>
            </a:lvl5pPr>
            <a:lvl6pPr>
              <a:defRPr sz="900" b="0">
                <a:solidFill>
                  <a:srgbClr val="D2AB39"/>
                </a:solidFill>
                <a:latin typeface="Calibri"/>
                <a:ea typeface="Calibri"/>
                <a:cs typeface="Calibri"/>
              </a:defRPr>
            </a:lvl6pPr>
            <a:lvl7pPr>
              <a:defRPr sz="900" b="0">
                <a:solidFill>
                  <a:srgbClr val="D2AB39"/>
                </a:solidFill>
                <a:latin typeface="Calibri"/>
                <a:ea typeface="Calibri"/>
                <a:cs typeface="Calibri"/>
              </a:defRPr>
            </a:lvl7pPr>
            <a:lvl8pPr>
              <a:defRPr sz="900" b="0">
                <a:solidFill>
                  <a:srgbClr val="D2AB39"/>
                </a:solidFill>
                <a:latin typeface="Calibri"/>
                <a:ea typeface="Calibri"/>
                <a:cs typeface="Calibri"/>
              </a:defRPr>
            </a:lvl8pPr>
            <a:lvl9pPr>
              <a:defRPr sz="900" b="0">
                <a:solidFill>
                  <a:srgbClr val="D2AB39"/>
                </a:solidFill>
                <a:latin typeface="Calibri"/>
                <a:ea typeface="Calibri"/>
                <a:cs typeface="Calibri"/>
              </a:defRPr>
            </a:lvl9pPr>
          </a:lstStyle>
          <a:p>
            <a:pPr>
              <a:defRPr sz="900" b="0">
                <a:solidFill>
                  <a:srgbClr val="D2AB39"/>
                </a:solidFill>
                <a:latin typeface="Calibri"/>
                <a:ea typeface="Calibri"/>
                <a:cs typeface="Calibri"/>
              </a:defRPr>
            </a:pPr>
            <a:r>
              <a:rPr sz="900" b="0">
                <a:solidFill>
                  <a:srgbClr val="D2AB39"/>
                </a:solidFill>
                <a:latin typeface="Calibri"/>
                <a:ea typeface="Calibri"/>
                <a:cs typeface="Calibri"/>
              </a:rPr>
              <a:t>■</a:t>
            </a:r>
          </a:p>
        </p:txBody>
      </p:sp>
      <p:sp>
        <p:nvSpPr>
          <p:cNvPr id="207" name="Rectangle 206">
            <a:extLst>
              <a:ext uri="{FF2B5EF4-FFF2-40B4-BE49-F238E27FC236}">
                <a16:creationId xmlns:a16="http://schemas.microsoft.com/office/drawing/2014/main" id="{2C42AF45-7EE0-82F1-138F-4CD8A29E0A91}"/>
              </a:ext>
            </a:extLst>
          </p:cNvPr>
          <p:cNvSpPr>
            <a:spLocks noGrp="1"/>
          </p:cNvSpPr>
          <p:nvPr/>
        </p:nvSpPr>
        <p:spPr>
          <a:xfrm>
            <a:off x="4629150" y="3228975"/>
            <a:ext cx="2905125" cy="200025"/>
          </a:xfrm>
          <a:prstGeom prst="rect">
            <a:avLst/>
          </a:prstGeom>
          <a:noFill/>
          <a:ln w="0">
            <a:noFill/>
            <a:prstDash val="solid"/>
          </a:ln>
        </p:spPr>
        <p:txBody>
          <a:bodyPr lIns="0" tIns="0" rIns="0" bIns="0"/>
          <a:lstStyle>
            <a:defPPr>
              <a:defRPr sz="975" b="0">
                <a:solidFill>
                  <a:srgbClr val="000000"/>
                </a:solidFill>
                <a:latin typeface="Calibri"/>
                <a:ea typeface="Calibri"/>
                <a:cs typeface="Calibri"/>
              </a:defRPr>
            </a:defPPr>
            <a:lvl1pPr>
              <a:defRPr sz="975" b="0">
                <a:solidFill>
                  <a:srgbClr val="000000"/>
                </a:solidFill>
                <a:latin typeface="Calibri"/>
                <a:ea typeface="Calibri"/>
                <a:cs typeface="Calibri"/>
              </a:defRPr>
            </a:lvl1pPr>
            <a:lvl2pPr>
              <a:defRPr sz="975" b="0">
                <a:solidFill>
                  <a:srgbClr val="000000"/>
                </a:solidFill>
                <a:latin typeface="Calibri"/>
                <a:ea typeface="Calibri"/>
                <a:cs typeface="Calibri"/>
              </a:defRPr>
            </a:lvl2pPr>
            <a:lvl3pPr>
              <a:defRPr sz="975" b="0">
                <a:solidFill>
                  <a:srgbClr val="000000"/>
                </a:solidFill>
                <a:latin typeface="Calibri"/>
                <a:ea typeface="Calibri"/>
                <a:cs typeface="Calibri"/>
              </a:defRPr>
            </a:lvl3pPr>
            <a:lvl4pPr>
              <a:defRPr sz="975" b="0">
                <a:solidFill>
                  <a:srgbClr val="000000"/>
                </a:solidFill>
                <a:latin typeface="Calibri"/>
                <a:ea typeface="Calibri"/>
                <a:cs typeface="Calibri"/>
              </a:defRPr>
            </a:lvl4pPr>
            <a:lvl5pPr>
              <a:defRPr sz="975" b="0">
                <a:solidFill>
                  <a:srgbClr val="000000"/>
                </a:solidFill>
                <a:latin typeface="Calibri"/>
                <a:ea typeface="Calibri"/>
                <a:cs typeface="Calibri"/>
              </a:defRPr>
            </a:lvl5pPr>
            <a:lvl6pPr>
              <a:defRPr sz="975" b="0">
                <a:solidFill>
                  <a:srgbClr val="000000"/>
                </a:solidFill>
                <a:latin typeface="Calibri"/>
                <a:ea typeface="Calibri"/>
                <a:cs typeface="Calibri"/>
              </a:defRPr>
            </a:lvl6pPr>
            <a:lvl7pPr>
              <a:defRPr sz="975" b="0">
                <a:solidFill>
                  <a:srgbClr val="000000"/>
                </a:solidFill>
                <a:latin typeface="Calibri"/>
                <a:ea typeface="Calibri"/>
                <a:cs typeface="Calibri"/>
              </a:defRPr>
            </a:lvl7pPr>
            <a:lvl8pPr>
              <a:defRPr sz="975" b="0">
                <a:solidFill>
                  <a:srgbClr val="000000"/>
                </a:solidFill>
                <a:latin typeface="Calibri"/>
                <a:ea typeface="Calibri"/>
                <a:cs typeface="Calibri"/>
              </a:defRPr>
            </a:lvl8pPr>
            <a:lvl9pPr>
              <a:defRPr sz="975" b="0">
                <a:solidFill>
                  <a:srgbClr val="000000"/>
                </a:solidFill>
                <a:latin typeface="Calibri"/>
                <a:ea typeface="Calibri"/>
                <a:cs typeface="Calibri"/>
              </a:defRPr>
            </a:lvl9pPr>
          </a:lstStyle>
          <a:p>
            <a:pPr>
              <a:defRPr sz="975" b="0">
                <a:solidFill>
                  <a:srgbClr val="000000"/>
                </a:solidFill>
                <a:latin typeface="Calibri"/>
                <a:ea typeface="Calibri"/>
                <a:cs typeface="Calibri"/>
              </a:defRPr>
            </a:pPr>
            <a:r>
              <a:rPr sz="975" b="0">
                <a:solidFill>
                  <a:srgbClr val="000000"/>
                </a:solidFill>
                <a:latin typeface="Calibri"/>
                <a:ea typeface="Calibri"/>
                <a:cs typeface="Calibri"/>
              </a:rPr>
              <a:t>Payload: 30.0 kg (8%)</a:t>
            </a:r>
          </a:p>
        </p:txBody>
      </p:sp>
      <p:sp>
        <p:nvSpPr>
          <p:cNvPr id="208" name="Rectangle 207">
            <a:extLst>
              <a:ext uri="{FF2B5EF4-FFF2-40B4-BE49-F238E27FC236}">
                <a16:creationId xmlns:a16="http://schemas.microsoft.com/office/drawing/2014/main" id="{0A661A63-B0FB-9512-5DA2-965AC7C9D3F6}"/>
              </a:ext>
            </a:extLst>
          </p:cNvPr>
          <p:cNvSpPr>
            <a:spLocks noGrp="1"/>
          </p:cNvSpPr>
          <p:nvPr/>
        </p:nvSpPr>
        <p:spPr>
          <a:xfrm>
            <a:off x="4476750" y="3400425"/>
            <a:ext cx="142875" cy="171450"/>
          </a:xfrm>
          <a:prstGeom prst="rect">
            <a:avLst/>
          </a:prstGeom>
          <a:noFill/>
          <a:ln w="0">
            <a:noFill/>
            <a:prstDash val="solid"/>
          </a:ln>
        </p:spPr>
        <p:txBody>
          <a:bodyPr lIns="0" tIns="0" rIns="0" bIns="0"/>
          <a:lstStyle>
            <a:defPPr>
              <a:defRPr sz="900" b="0">
                <a:solidFill>
                  <a:srgbClr val="518BB7"/>
                </a:solidFill>
                <a:latin typeface="Calibri"/>
                <a:ea typeface="Calibri"/>
                <a:cs typeface="Calibri"/>
              </a:defRPr>
            </a:defPPr>
            <a:lvl1pPr>
              <a:defRPr sz="900" b="0">
                <a:solidFill>
                  <a:srgbClr val="518BB7"/>
                </a:solidFill>
                <a:latin typeface="Calibri"/>
                <a:ea typeface="Calibri"/>
                <a:cs typeface="Calibri"/>
              </a:defRPr>
            </a:lvl1pPr>
            <a:lvl2pPr>
              <a:defRPr sz="900" b="0">
                <a:solidFill>
                  <a:srgbClr val="518BB7"/>
                </a:solidFill>
                <a:latin typeface="Calibri"/>
                <a:ea typeface="Calibri"/>
                <a:cs typeface="Calibri"/>
              </a:defRPr>
            </a:lvl2pPr>
            <a:lvl3pPr>
              <a:defRPr sz="900" b="0">
                <a:solidFill>
                  <a:srgbClr val="518BB7"/>
                </a:solidFill>
                <a:latin typeface="Calibri"/>
                <a:ea typeface="Calibri"/>
                <a:cs typeface="Calibri"/>
              </a:defRPr>
            </a:lvl3pPr>
            <a:lvl4pPr>
              <a:defRPr sz="900" b="0">
                <a:solidFill>
                  <a:srgbClr val="518BB7"/>
                </a:solidFill>
                <a:latin typeface="Calibri"/>
                <a:ea typeface="Calibri"/>
                <a:cs typeface="Calibri"/>
              </a:defRPr>
            </a:lvl4pPr>
            <a:lvl5pPr>
              <a:defRPr sz="900" b="0">
                <a:solidFill>
                  <a:srgbClr val="518BB7"/>
                </a:solidFill>
                <a:latin typeface="Calibri"/>
                <a:ea typeface="Calibri"/>
                <a:cs typeface="Calibri"/>
              </a:defRPr>
            </a:lvl5pPr>
            <a:lvl6pPr>
              <a:defRPr sz="900" b="0">
                <a:solidFill>
                  <a:srgbClr val="518BB7"/>
                </a:solidFill>
                <a:latin typeface="Calibri"/>
                <a:ea typeface="Calibri"/>
                <a:cs typeface="Calibri"/>
              </a:defRPr>
            </a:lvl6pPr>
            <a:lvl7pPr>
              <a:defRPr sz="900" b="0">
                <a:solidFill>
                  <a:srgbClr val="518BB7"/>
                </a:solidFill>
                <a:latin typeface="Calibri"/>
                <a:ea typeface="Calibri"/>
                <a:cs typeface="Calibri"/>
              </a:defRPr>
            </a:lvl7pPr>
            <a:lvl8pPr>
              <a:defRPr sz="900" b="0">
                <a:solidFill>
                  <a:srgbClr val="518BB7"/>
                </a:solidFill>
                <a:latin typeface="Calibri"/>
                <a:ea typeface="Calibri"/>
                <a:cs typeface="Calibri"/>
              </a:defRPr>
            </a:lvl8pPr>
            <a:lvl9pPr>
              <a:defRPr sz="900" b="0">
                <a:solidFill>
                  <a:srgbClr val="518BB7"/>
                </a:solidFill>
                <a:latin typeface="Calibri"/>
                <a:ea typeface="Calibri"/>
                <a:cs typeface="Calibri"/>
              </a:defRPr>
            </a:lvl9pPr>
          </a:lstStyle>
          <a:p>
            <a:pPr>
              <a:defRPr sz="900" b="0">
                <a:solidFill>
                  <a:srgbClr val="518BB7"/>
                </a:solidFill>
                <a:latin typeface="Calibri"/>
                <a:ea typeface="Calibri"/>
                <a:cs typeface="Calibri"/>
              </a:defRPr>
            </a:pPr>
            <a:r>
              <a:rPr sz="900" b="0">
                <a:solidFill>
                  <a:srgbClr val="518BB7"/>
                </a:solidFill>
                <a:latin typeface="Calibri"/>
                <a:ea typeface="Calibri"/>
                <a:cs typeface="Calibri"/>
              </a:rPr>
              <a:t>■</a:t>
            </a:r>
          </a:p>
        </p:txBody>
      </p:sp>
      <p:sp>
        <p:nvSpPr>
          <p:cNvPr id="209" name="Rectangle 208">
            <a:extLst>
              <a:ext uri="{FF2B5EF4-FFF2-40B4-BE49-F238E27FC236}">
                <a16:creationId xmlns:a16="http://schemas.microsoft.com/office/drawing/2014/main" id="{2E0F6636-E79F-2924-69C2-EA82EA5CB686}"/>
              </a:ext>
            </a:extLst>
          </p:cNvPr>
          <p:cNvSpPr>
            <a:spLocks noGrp="1"/>
          </p:cNvSpPr>
          <p:nvPr/>
        </p:nvSpPr>
        <p:spPr>
          <a:xfrm>
            <a:off x="4629150" y="3400425"/>
            <a:ext cx="2905125" cy="200025"/>
          </a:xfrm>
          <a:prstGeom prst="rect">
            <a:avLst/>
          </a:prstGeom>
          <a:noFill/>
          <a:ln w="0">
            <a:noFill/>
            <a:prstDash val="solid"/>
          </a:ln>
        </p:spPr>
        <p:txBody>
          <a:bodyPr lIns="0" tIns="0" rIns="0" bIns="0"/>
          <a:lstStyle>
            <a:defPPr>
              <a:defRPr sz="975" b="0">
                <a:solidFill>
                  <a:srgbClr val="000000"/>
                </a:solidFill>
                <a:latin typeface="Calibri"/>
                <a:ea typeface="Calibri"/>
                <a:cs typeface="Calibri"/>
              </a:defRPr>
            </a:defPPr>
            <a:lvl1pPr>
              <a:defRPr sz="975" b="0">
                <a:solidFill>
                  <a:srgbClr val="000000"/>
                </a:solidFill>
                <a:latin typeface="Calibri"/>
                <a:ea typeface="Calibri"/>
                <a:cs typeface="Calibri"/>
              </a:defRPr>
            </a:lvl1pPr>
            <a:lvl2pPr>
              <a:defRPr sz="975" b="0">
                <a:solidFill>
                  <a:srgbClr val="000000"/>
                </a:solidFill>
                <a:latin typeface="Calibri"/>
                <a:ea typeface="Calibri"/>
                <a:cs typeface="Calibri"/>
              </a:defRPr>
            </a:lvl2pPr>
            <a:lvl3pPr>
              <a:defRPr sz="975" b="0">
                <a:solidFill>
                  <a:srgbClr val="000000"/>
                </a:solidFill>
                <a:latin typeface="Calibri"/>
                <a:ea typeface="Calibri"/>
                <a:cs typeface="Calibri"/>
              </a:defRPr>
            </a:lvl3pPr>
            <a:lvl4pPr>
              <a:defRPr sz="975" b="0">
                <a:solidFill>
                  <a:srgbClr val="000000"/>
                </a:solidFill>
                <a:latin typeface="Calibri"/>
                <a:ea typeface="Calibri"/>
                <a:cs typeface="Calibri"/>
              </a:defRPr>
            </a:lvl4pPr>
            <a:lvl5pPr>
              <a:defRPr sz="975" b="0">
                <a:solidFill>
                  <a:srgbClr val="000000"/>
                </a:solidFill>
                <a:latin typeface="Calibri"/>
                <a:ea typeface="Calibri"/>
                <a:cs typeface="Calibri"/>
              </a:defRPr>
            </a:lvl5pPr>
            <a:lvl6pPr>
              <a:defRPr sz="975" b="0">
                <a:solidFill>
                  <a:srgbClr val="000000"/>
                </a:solidFill>
                <a:latin typeface="Calibri"/>
                <a:ea typeface="Calibri"/>
                <a:cs typeface="Calibri"/>
              </a:defRPr>
            </a:lvl6pPr>
            <a:lvl7pPr>
              <a:defRPr sz="975" b="0">
                <a:solidFill>
                  <a:srgbClr val="000000"/>
                </a:solidFill>
                <a:latin typeface="Calibri"/>
                <a:ea typeface="Calibri"/>
                <a:cs typeface="Calibri"/>
              </a:defRPr>
            </a:lvl7pPr>
            <a:lvl8pPr>
              <a:defRPr sz="975" b="0">
                <a:solidFill>
                  <a:srgbClr val="000000"/>
                </a:solidFill>
                <a:latin typeface="Calibri"/>
                <a:ea typeface="Calibri"/>
                <a:cs typeface="Calibri"/>
              </a:defRPr>
            </a:lvl8pPr>
            <a:lvl9pPr>
              <a:defRPr sz="975" b="0">
                <a:solidFill>
                  <a:srgbClr val="000000"/>
                </a:solidFill>
                <a:latin typeface="Calibri"/>
                <a:ea typeface="Calibri"/>
                <a:cs typeface="Calibri"/>
              </a:defRPr>
            </a:lvl9pPr>
          </a:lstStyle>
          <a:p>
            <a:pPr>
              <a:defRPr sz="975" b="0">
                <a:solidFill>
                  <a:srgbClr val="000000"/>
                </a:solidFill>
                <a:latin typeface="Calibri"/>
                <a:ea typeface="Calibri"/>
                <a:cs typeface="Calibri"/>
              </a:defRPr>
            </a:pPr>
            <a:r>
              <a:rPr sz="975" b="0">
                <a:solidFill>
                  <a:srgbClr val="000000"/>
                </a:solidFill>
                <a:latin typeface="Calibri"/>
                <a:ea typeface="Calibri"/>
                <a:cs typeface="Calibri"/>
              </a:rPr>
              <a:t>Fuel: 31.4 kg (8%)</a:t>
            </a:r>
          </a:p>
        </p:txBody>
      </p:sp>
      <p:sp>
        <p:nvSpPr>
          <p:cNvPr id="210" name="Rectangle 209">
            <a:extLst>
              <a:ext uri="{FF2B5EF4-FFF2-40B4-BE49-F238E27FC236}">
                <a16:creationId xmlns:a16="http://schemas.microsoft.com/office/drawing/2014/main" id="{37866F7E-861F-F993-9198-2BB7B92E003C}"/>
              </a:ext>
            </a:extLst>
          </p:cNvPr>
          <p:cNvSpPr>
            <a:spLocks noGrp="1"/>
          </p:cNvSpPr>
          <p:nvPr/>
        </p:nvSpPr>
        <p:spPr>
          <a:xfrm>
            <a:off x="4476750" y="3571875"/>
            <a:ext cx="142875" cy="171450"/>
          </a:xfrm>
          <a:prstGeom prst="rect">
            <a:avLst/>
          </a:prstGeom>
          <a:noFill/>
          <a:ln w="0">
            <a:noFill/>
            <a:prstDash val="solid"/>
          </a:ln>
        </p:spPr>
        <p:txBody>
          <a:bodyPr lIns="0" tIns="0" rIns="0" bIns="0"/>
          <a:lstStyle>
            <a:defPPr>
              <a:defRPr sz="900" b="0">
                <a:solidFill>
                  <a:srgbClr val="B2BAC1"/>
                </a:solidFill>
                <a:latin typeface="Calibri"/>
                <a:ea typeface="Calibri"/>
                <a:cs typeface="Calibri"/>
              </a:defRPr>
            </a:defPPr>
            <a:lvl1pPr>
              <a:defRPr sz="900" b="0">
                <a:solidFill>
                  <a:srgbClr val="B2BAC1"/>
                </a:solidFill>
                <a:latin typeface="Calibri"/>
                <a:ea typeface="Calibri"/>
                <a:cs typeface="Calibri"/>
              </a:defRPr>
            </a:lvl1pPr>
            <a:lvl2pPr>
              <a:defRPr sz="900" b="0">
                <a:solidFill>
                  <a:srgbClr val="B2BAC1"/>
                </a:solidFill>
                <a:latin typeface="Calibri"/>
                <a:ea typeface="Calibri"/>
                <a:cs typeface="Calibri"/>
              </a:defRPr>
            </a:lvl2pPr>
            <a:lvl3pPr>
              <a:defRPr sz="900" b="0">
                <a:solidFill>
                  <a:srgbClr val="B2BAC1"/>
                </a:solidFill>
                <a:latin typeface="Calibri"/>
                <a:ea typeface="Calibri"/>
                <a:cs typeface="Calibri"/>
              </a:defRPr>
            </a:lvl3pPr>
            <a:lvl4pPr>
              <a:defRPr sz="900" b="0">
                <a:solidFill>
                  <a:srgbClr val="B2BAC1"/>
                </a:solidFill>
                <a:latin typeface="Calibri"/>
                <a:ea typeface="Calibri"/>
                <a:cs typeface="Calibri"/>
              </a:defRPr>
            </a:lvl4pPr>
            <a:lvl5pPr>
              <a:defRPr sz="900" b="0">
                <a:solidFill>
                  <a:srgbClr val="B2BAC1"/>
                </a:solidFill>
                <a:latin typeface="Calibri"/>
                <a:ea typeface="Calibri"/>
                <a:cs typeface="Calibri"/>
              </a:defRPr>
            </a:lvl5pPr>
            <a:lvl6pPr>
              <a:defRPr sz="900" b="0">
                <a:solidFill>
                  <a:srgbClr val="B2BAC1"/>
                </a:solidFill>
                <a:latin typeface="Calibri"/>
                <a:ea typeface="Calibri"/>
                <a:cs typeface="Calibri"/>
              </a:defRPr>
            </a:lvl6pPr>
            <a:lvl7pPr>
              <a:defRPr sz="900" b="0">
                <a:solidFill>
                  <a:srgbClr val="B2BAC1"/>
                </a:solidFill>
                <a:latin typeface="Calibri"/>
                <a:ea typeface="Calibri"/>
                <a:cs typeface="Calibri"/>
              </a:defRPr>
            </a:lvl7pPr>
            <a:lvl8pPr>
              <a:defRPr sz="900" b="0">
                <a:solidFill>
                  <a:srgbClr val="B2BAC1"/>
                </a:solidFill>
                <a:latin typeface="Calibri"/>
                <a:ea typeface="Calibri"/>
                <a:cs typeface="Calibri"/>
              </a:defRPr>
            </a:lvl8pPr>
            <a:lvl9pPr>
              <a:defRPr sz="900" b="0">
                <a:solidFill>
                  <a:srgbClr val="B2BAC1"/>
                </a:solidFill>
                <a:latin typeface="Calibri"/>
                <a:ea typeface="Calibri"/>
                <a:cs typeface="Calibri"/>
              </a:defRPr>
            </a:lvl9pPr>
          </a:lstStyle>
          <a:p>
            <a:pPr>
              <a:defRPr sz="900" b="0">
                <a:solidFill>
                  <a:srgbClr val="B2BAC1"/>
                </a:solidFill>
                <a:latin typeface="Calibri"/>
                <a:ea typeface="Calibri"/>
                <a:cs typeface="Calibri"/>
              </a:defRPr>
            </a:pPr>
            <a:r>
              <a:rPr sz="900" b="0">
                <a:solidFill>
                  <a:srgbClr val="B2BAC1"/>
                </a:solidFill>
                <a:latin typeface="Calibri"/>
                <a:ea typeface="Calibri"/>
                <a:cs typeface="Calibri"/>
              </a:rPr>
              <a:t>■</a:t>
            </a:r>
          </a:p>
        </p:txBody>
      </p:sp>
      <p:sp>
        <p:nvSpPr>
          <p:cNvPr id="211" name="Rectangle 210">
            <a:extLst>
              <a:ext uri="{FF2B5EF4-FFF2-40B4-BE49-F238E27FC236}">
                <a16:creationId xmlns:a16="http://schemas.microsoft.com/office/drawing/2014/main" id="{486F4771-097D-D875-7248-EF8A0543EA6D}"/>
              </a:ext>
            </a:extLst>
          </p:cNvPr>
          <p:cNvSpPr>
            <a:spLocks noGrp="1"/>
          </p:cNvSpPr>
          <p:nvPr/>
        </p:nvSpPr>
        <p:spPr>
          <a:xfrm>
            <a:off x="4629150" y="3571875"/>
            <a:ext cx="2905125" cy="200025"/>
          </a:xfrm>
          <a:prstGeom prst="rect">
            <a:avLst/>
          </a:prstGeom>
          <a:noFill/>
          <a:ln w="0">
            <a:noFill/>
            <a:prstDash val="solid"/>
          </a:ln>
        </p:spPr>
        <p:txBody>
          <a:bodyPr lIns="0" tIns="0" rIns="0" bIns="0"/>
          <a:lstStyle>
            <a:defPPr>
              <a:defRPr sz="975" b="0">
                <a:solidFill>
                  <a:srgbClr val="000000"/>
                </a:solidFill>
                <a:latin typeface="Calibri"/>
                <a:ea typeface="Calibri"/>
                <a:cs typeface="Calibri"/>
              </a:defRPr>
            </a:defPPr>
            <a:lvl1pPr>
              <a:defRPr sz="975" b="0">
                <a:solidFill>
                  <a:srgbClr val="000000"/>
                </a:solidFill>
                <a:latin typeface="Calibri"/>
                <a:ea typeface="Calibri"/>
                <a:cs typeface="Calibri"/>
              </a:defRPr>
            </a:lvl1pPr>
            <a:lvl2pPr>
              <a:defRPr sz="975" b="0">
                <a:solidFill>
                  <a:srgbClr val="000000"/>
                </a:solidFill>
                <a:latin typeface="Calibri"/>
                <a:ea typeface="Calibri"/>
                <a:cs typeface="Calibri"/>
              </a:defRPr>
            </a:lvl2pPr>
            <a:lvl3pPr>
              <a:defRPr sz="975" b="0">
                <a:solidFill>
                  <a:srgbClr val="000000"/>
                </a:solidFill>
                <a:latin typeface="Calibri"/>
                <a:ea typeface="Calibri"/>
                <a:cs typeface="Calibri"/>
              </a:defRPr>
            </a:lvl3pPr>
            <a:lvl4pPr>
              <a:defRPr sz="975" b="0">
                <a:solidFill>
                  <a:srgbClr val="000000"/>
                </a:solidFill>
                <a:latin typeface="Calibri"/>
                <a:ea typeface="Calibri"/>
                <a:cs typeface="Calibri"/>
              </a:defRPr>
            </a:lvl4pPr>
            <a:lvl5pPr>
              <a:defRPr sz="975" b="0">
                <a:solidFill>
                  <a:srgbClr val="000000"/>
                </a:solidFill>
                <a:latin typeface="Calibri"/>
                <a:ea typeface="Calibri"/>
                <a:cs typeface="Calibri"/>
              </a:defRPr>
            </a:lvl5pPr>
            <a:lvl6pPr>
              <a:defRPr sz="975" b="0">
                <a:solidFill>
                  <a:srgbClr val="000000"/>
                </a:solidFill>
                <a:latin typeface="Calibri"/>
                <a:ea typeface="Calibri"/>
                <a:cs typeface="Calibri"/>
              </a:defRPr>
            </a:lvl6pPr>
            <a:lvl7pPr>
              <a:defRPr sz="975" b="0">
                <a:solidFill>
                  <a:srgbClr val="000000"/>
                </a:solidFill>
                <a:latin typeface="Calibri"/>
                <a:ea typeface="Calibri"/>
                <a:cs typeface="Calibri"/>
              </a:defRPr>
            </a:lvl7pPr>
            <a:lvl8pPr>
              <a:defRPr sz="975" b="0">
                <a:solidFill>
                  <a:srgbClr val="000000"/>
                </a:solidFill>
                <a:latin typeface="Calibri"/>
                <a:ea typeface="Calibri"/>
                <a:cs typeface="Calibri"/>
              </a:defRPr>
            </a:lvl8pPr>
            <a:lvl9pPr>
              <a:defRPr sz="975" b="0">
                <a:solidFill>
                  <a:srgbClr val="000000"/>
                </a:solidFill>
                <a:latin typeface="Calibri"/>
                <a:ea typeface="Calibri"/>
                <a:cs typeface="Calibri"/>
              </a:defRPr>
            </a:lvl9pPr>
          </a:lstStyle>
          <a:p>
            <a:pPr>
              <a:defRPr sz="975" b="0">
                <a:solidFill>
                  <a:srgbClr val="000000"/>
                </a:solidFill>
                <a:latin typeface="Calibri"/>
                <a:ea typeface="Calibri"/>
                <a:cs typeface="Calibri"/>
              </a:defRPr>
            </a:pPr>
            <a:r>
              <a:rPr sz="975" b="0">
                <a:solidFill>
                  <a:srgbClr val="000000"/>
                </a:solidFill>
                <a:latin typeface="Calibri"/>
                <a:ea typeface="Calibri"/>
                <a:cs typeface="Calibri"/>
              </a:rPr>
              <a:t>Others: 50.9 kg (13%)</a:t>
            </a:r>
          </a:p>
        </p:txBody>
      </p:sp>
      <p:sp>
        <p:nvSpPr>
          <p:cNvPr id="212" name="Rectangle 211">
            <a:extLst>
              <a:ext uri="{FF2B5EF4-FFF2-40B4-BE49-F238E27FC236}">
                <a16:creationId xmlns:a16="http://schemas.microsoft.com/office/drawing/2014/main" id="{DCA3A337-8B1C-9975-CD3F-7645F5977DDB}"/>
              </a:ext>
            </a:extLst>
          </p:cNvPr>
          <p:cNvSpPr>
            <a:spLocks noGrp="1"/>
          </p:cNvSpPr>
          <p:nvPr/>
        </p:nvSpPr>
        <p:spPr>
          <a:xfrm>
            <a:off x="7667625" y="1619250"/>
            <a:ext cx="4000500" cy="285750"/>
          </a:xfrm>
          <a:prstGeom prst="rect">
            <a:avLst/>
          </a:prstGeom>
          <a:noFill/>
          <a:ln w="0">
            <a:noFill/>
            <a:prstDash val="solid"/>
          </a:ln>
        </p:spPr>
        <p:txBody>
          <a:bodyPr lIns="0" tIns="0" rIns="0" bIns="0"/>
          <a:lstStyle>
            <a:defPPr>
              <a:defRPr sz="1575" b="1">
                <a:solidFill>
                  <a:srgbClr val="000000"/>
                </a:solidFill>
                <a:latin typeface="Calibri"/>
                <a:ea typeface="Calibri"/>
                <a:cs typeface="Calibri"/>
              </a:defRPr>
            </a:defPPr>
            <a:lvl1pPr>
              <a:defRPr sz="1575" b="1">
                <a:solidFill>
                  <a:srgbClr val="000000"/>
                </a:solidFill>
                <a:latin typeface="Calibri"/>
                <a:ea typeface="Calibri"/>
                <a:cs typeface="Calibri"/>
              </a:defRPr>
            </a:lvl1pPr>
            <a:lvl2pPr>
              <a:defRPr sz="1575" b="1">
                <a:solidFill>
                  <a:srgbClr val="000000"/>
                </a:solidFill>
                <a:latin typeface="Calibri"/>
                <a:ea typeface="Calibri"/>
                <a:cs typeface="Calibri"/>
              </a:defRPr>
            </a:lvl2pPr>
            <a:lvl3pPr>
              <a:defRPr sz="1575" b="1">
                <a:solidFill>
                  <a:srgbClr val="000000"/>
                </a:solidFill>
                <a:latin typeface="Calibri"/>
                <a:ea typeface="Calibri"/>
                <a:cs typeface="Calibri"/>
              </a:defRPr>
            </a:lvl3pPr>
            <a:lvl4pPr>
              <a:defRPr sz="1575" b="1">
                <a:solidFill>
                  <a:srgbClr val="000000"/>
                </a:solidFill>
                <a:latin typeface="Calibri"/>
                <a:ea typeface="Calibri"/>
                <a:cs typeface="Calibri"/>
              </a:defRPr>
            </a:lvl4pPr>
            <a:lvl5pPr>
              <a:defRPr sz="1575" b="1">
                <a:solidFill>
                  <a:srgbClr val="000000"/>
                </a:solidFill>
                <a:latin typeface="Calibri"/>
                <a:ea typeface="Calibri"/>
                <a:cs typeface="Calibri"/>
              </a:defRPr>
            </a:lvl5pPr>
            <a:lvl6pPr>
              <a:defRPr sz="1575" b="1">
                <a:solidFill>
                  <a:srgbClr val="000000"/>
                </a:solidFill>
                <a:latin typeface="Calibri"/>
                <a:ea typeface="Calibri"/>
                <a:cs typeface="Calibri"/>
              </a:defRPr>
            </a:lvl6pPr>
            <a:lvl7pPr>
              <a:defRPr sz="1575" b="1">
                <a:solidFill>
                  <a:srgbClr val="000000"/>
                </a:solidFill>
                <a:latin typeface="Calibri"/>
                <a:ea typeface="Calibri"/>
                <a:cs typeface="Calibri"/>
              </a:defRPr>
            </a:lvl7pPr>
            <a:lvl8pPr>
              <a:defRPr sz="1575" b="1">
                <a:solidFill>
                  <a:srgbClr val="000000"/>
                </a:solidFill>
                <a:latin typeface="Calibri"/>
                <a:ea typeface="Calibri"/>
                <a:cs typeface="Calibri"/>
              </a:defRPr>
            </a:lvl8pPr>
            <a:lvl9pPr>
              <a:defRPr sz="1575" b="1">
                <a:solidFill>
                  <a:srgbClr val="000000"/>
                </a:solidFill>
                <a:latin typeface="Calibri"/>
                <a:ea typeface="Calibri"/>
                <a:cs typeface="Calibri"/>
              </a:defRPr>
            </a:lvl9pPr>
          </a:lstStyle>
          <a:p>
            <a:pPr>
              <a:defRPr sz="1575" b="1">
                <a:solidFill>
                  <a:srgbClr val="000000"/>
                </a:solidFill>
                <a:latin typeface="Calibri"/>
                <a:ea typeface="Calibri"/>
                <a:cs typeface="Calibri"/>
              </a:defRPr>
            </a:pPr>
            <a:r>
              <a:rPr lang="en-US" sz="1575" b="1" dirty="0">
                <a:solidFill>
                  <a:srgbClr val="000000"/>
                </a:solidFill>
                <a:latin typeface="Calibri"/>
                <a:ea typeface="Calibri"/>
                <a:cs typeface="Calibri"/>
              </a:rPr>
              <a:t>TR Piston</a:t>
            </a:r>
            <a:r>
              <a:rPr sz="1575" b="1" dirty="0">
                <a:solidFill>
                  <a:srgbClr val="000000"/>
                </a:solidFill>
                <a:latin typeface="Calibri"/>
                <a:ea typeface="Calibri"/>
                <a:cs typeface="Calibri"/>
              </a:rPr>
              <a:t>: 296.2 kg</a:t>
            </a:r>
          </a:p>
        </p:txBody>
      </p:sp>
      <p:graphicFrame>
        <p:nvGraphicFramePr>
          <p:cNvPr id="213" name="Chart">
            <a:extLst>
              <a:ext uri="{FF2B5EF4-FFF2-40B4-BE49-F238E27FC236}">
                <a16:creationId xmlns:a16="http://schemas.microsoft.com/office/drawing/2014/main" id="{D5B80773-8A43-5E58-D724-D2AD1D28444C}"/>
              </a:ext>
            </a:extLst>
          </p:cNvPr>
          <p:cNvGraphicFramePr/>
          <p:nvPr/>
        </p:nvGraphicFramePr>
        <p:xfrm>
          <a:off x="7667625" y="1981200"/>
          <a:ext cx="1000125" cy="1000125"/>
        </p:xfrm>
        <a:graphic>
          <a:graphicData uri="http://schemas.openxmlformats.org/drawingml/2006/chart">
            <c:chart xmlns:c="http://schemas.openxmlformats.org/drawingml/2006/chart" xmlns:r="http://schemas.openxmlformats.org/officeDocument/2006/relationships" r:id="rId6"/>
          </a:graphicData>
        </a:graphic>
      </p:graphicFrame>
      <p:sp>
        <p:nvSpPr>
          <p:cNvPr id="214" name="Rectangle 213">
            <a:extLst>
              <a:ext uri="{FF2B5EF4-FFF2-40B4-BE49-F238E27FC236}">
                <a16:creationId xmlns:a16="http://schemas.microsoft.com/office/drawing/2014/main" id="{16F278ED-327F-04E7-1D82-5A5FC74CF81A}"/>
              </a:ext>
            </a:extLst>
          </p:cNvPr>
          <p:cNvSpPr>
            <a:spLocks noGrp="1"/>
          </p:cNvSpPr>
          <p:nvPr/>
        </p:nvSpPr>
        <p:spPr>
          <a:xfrm>
            <a:off x="8715375" y="1943100"/>
            <a:ext cx="142875" cy="171450"/>
          </a:xfrm>
          <a:prstGeom prst="rect">
            <a:avLst/>
          </a:prstGeom>
          <a:noFill/>
          <a:ln w="0">
            <a:noFill/>
            <a:prstDash val="solid"/>
          </a:ln>
        </p:spPr>
        <p:txBody>
          <a:bodyPr lIns="0" tIns="0" rIns="0" bIns="0"/>
          <a:lstStyle>
            <a:defPPr>
              <a:defRPr sz="900" b="0">
                <a:solidFill>
                  <a:srgbClr val="315773"/>
                </a:solidFill>
                <a:latin typeface="Calibri"/>
                <a:ea typeface="Calibri"/>
                <a:cs typeface="Calibri"/>
              </a:defRPr>
            </a:defPPr>
            <a:lvl1pPr>
              <a:defRPr sz="900" b="0">
                <a:solidFill>
                  <a:srgbClr val="315773"/>
                </a:solidFill>
                <a:latin typeface="Calibri"/>
                <a:ea typeface="Calibri"/>
                <a:cs typeface="Calibri"/>
              </a:defRPr>
            </a:lvl1pPr>
            <a:lvl2pPr>
              <a:defRPr sz="900" b="0">
                <a:solidFill>
                  <a:srgbClr val="315773"/>
                </a:solidFill>
                <a:latin typeface="Calibri"/>
                <a:ea typeface="Calibri"/>
                <a:cs typeface="Calibri"/>
              </a:defRPr>
            </a:lvl2pPr>
            <a:lvl3pPr>
              <a:defRPr sz="900" b="0">
                <a:solidFill>
                  <a:srgbClr val="315773"/>
                </a:solidFill>
                <a:latin typeface="Calibri"/>
                <a:ea typeface="Calibri"/>
                <a:cs typeface="Calibri"/>
              </a:defRPr>
            </a:lvl3pPr>
            <a:lvl4pPr>
              <a:defRPr sz="900" b="0">
                <a:solidFill>
                  <a:srgbClr val="315773"/>
                </a:solidFill>
                <a:latin typeface="Calibri"/>
                <a:ea typeface="Calibri"/>
                <a:cs typeface="Calibri"/>
              </a:defRPr>
            </a:lvl4pPr>
            <a:lvl5pPr>
              <a:defRPr sz="900" b="0">
                <a:solidFill>
                  <a:srgbClr val="315773"/>
                </a:solidFill>
                <a:latin typeface="Calibri"/>
                <a:ea typeface="Calibri"/>
                <a:cs typeface="Calibri"/>
              </a:defRPr>
            </a:lvl5pPr>
            <a:lvl6pPr>
              <a:defRPr sz="900" b="0">
                <a:solidFill>
                  <a:srgbClr val="315773"/>
                </a:solidFill>
                <a:latin typeface="Calibri"/>
                <a:ea typeface="Calibri"/>
                <a:cs typeface="Calibri"/>
              </a:defRPr>
            </a:lvl6pPr>
            <a:lvl7pPr>
              <a:defRPr sz="900" b="0">
                <a:solidFill>
                  <a:srgbClr val="315773"/>
                </a:solidFill>
                <a:latin typeface="Calibri"/>
                <a:ea typeface="Calibri"/>
                <a:cs typeface="Calibri"/>
              </a:defRPr>
            </a:lvl7pPr>
            <a:lvl8pPr>
              <a:defRPr sz="900" b="0">
                <a:solidFill>
                  <a:srgbClr val="315773"/>
                </a:solidFill>
                <a:latin typeface="Calibri"/>
                <a:ea typeface="Calibri"/>
                <a:cs typeface="Calibri"/>
              </a:defRPr>
            </a:lvl8pPr>
            <a:lvl9pPr>
              <a:defRPr sz="900" b="0">
                <a:solidFill>
                  <a:srgbClr val="315773"/>
                </a:solidFill>
                <a:latin typeface="Calibri"/>
                <a:ea typeface="Calibri"/>
                <a:cs typeface="Calibri"/>
              </a:defRPr>
            </a:lvl9pPr>
          </a:lstStyle>
          <a:p>
            <a:pPr>
              <a:defRPr sz="900" b="0">
                <a:solidFill>
                  <a:srgbClr val="315773"/>
                </a:solidFill>
                <a:latin typeface="Calibri"/>
                <a:ea typeface="Calibri"/>
                <a:cs typeface="Calibri"/>
              </a:defRPr>
            </a:pPr>
            <a:r>
              <a:rPr sz="900" b="0">
                <a:solidFill>
                  <a:srgbClr val="315773"/>
                </a:solidFill>
                <a:latin typeface="Calibri"/>
                <a:ea typeface="Calibri"/>
                <a:cs typeface="Calibri"/>
              </a:rPr>
              <a:t>■</a:t>
            </a:r>
          </a:p>
        </p:txBody>
      </p:sp>
      <p:sp>
        <p:nvSpPr>
          <p:cNvPr id="215" name="Rectangle 214">
            <a:extLst>
              <a:ext uri="{FF2B5EF4-FFF2-40B4-BE49-F238E27FC236}">
                <a16:creationId xmlns:a16="http://schemas.microsoft.com/office/drawing/2014/main" id="{4803BD35-DB3C-49FA-E524-B20FE5CDA137}"/>
              </a:ext>
            </a:extLst>
          </p:cNvPr>
          <p:cNvSpPr>
            <a:spLocks noGrp="1"/>
          </p:cNvSpPr>
          <p:nvPr/>
        </p:nvSpPr>
        <p:spPr>
          <a:xfrm>
            <a:off x="8867775" y="1943100"/>
            <a:ext cx="2905125" cy="200025"/>
          </a:xfrm>
          <a:prstGeom prst="rect">
            <a:avLst/>
          </a:prstGeom>
          <a:noFill/>
          <a:ln w="0">
            <a:noFill/>
            <a:prstDash val="solid"/>
          </a:ln>
        </p:spPr>
        <p:txBody>
          <a:bodyPr lIns="0" tIns="0" rIns="0" bIns="0"/>
          <a:lstStyle>
            <a:defPPr>
              <a:defRPr sz="975" b="0">
                <a:solidFill>
                  <a:srgbClr val="000000"/>
                </a:solidFill>
                <a:latin typeface="Calibri"/>
                <a:ea typeface="Calibri"/>
                <a:cs typeface="Calibri"/>
              </a:defRPr>
            </a:defPPr>
            <a:lvl1pPr>
              <a:defRPr sz="975" b="0">
                <a:solidFill>
                  <a:srgbClr val="000000"/>
                </a:solidFill>
                <a:latin typeface="Calibri"/>
                <a:ea typeface="Calibri"/>
                <a:cs typeface="Calibri"/>
              </a:defRPr>
            </a:lvl1pPr>
            <a:lvl2pPr>
              <a:defRPr sz="975" b="0">
                <a:solidFill>
                  <a:srgbClr val="000000"/>
                </a:solidFill>
                <a:latin typeface="Calibri"/>
                <a:ea typeface="Calibri"/>
                <a:cs typeface="Calibri"/>
              </a:defRPr>
            </a:lvl2pPr>
            <a:lvl3pPr>
              <a:defRPr sz="975" b="0">
                <a:solidFill>
                  <a:srgbClr val="000000"/>
                </a:solidFill>
                <a:latin typeface="Calibri"/>
                <a:ea typeface="Calibri"/>
                <a:cs typeface="Calibri"/>
              </a:defRPr>
            </a:lvl3pPr>
            <a:lvl4pPr>
              <a:defRPr sz="975" b="0">
                <a:solidFill>
                  <a:srgbClr val="000000"/>
                </a:solidFill>
                <a:latin typeface="Calibri"/>
                <a:ea typeface="Calibri"/>
                <a:cs typeface="Calibri"/>
              </a:defRPr>
            </a:lvl4pPr>
            <a:lvl5pPr>
              <a:defRPr sz="975" b="0">
                <a:solidFill>
                  <a:srgbClr val="000000"/>
                </a:solidFill>
                <a:latin typeface="Calibri"/>
                <a:ea typeface="Calibri"/>
                <a:cs typeface="Calibri"/>
              </a:defRPr>
            </a:lvl5pPr>
            <a:lvl6pPr>
              <a:defRPr sz="975" b="0">
                <a:solidFill>
                  <a:srgbClr val="000000"/>
                </a:solidFill>
                <a:latin typeface="Calibri"/>
                <a:ea typeface="Calibri"/>
                <a:cs typeface="Calibri"/>
              </a:defRPr>
            </a:lvl6pPr>
            <a:lvl7pPr>
              <a:defRPr sz="975" b="0">
                <a:solidFill>
                  <a:srgbClr val="000000"/>
                </a:solidFill>
                <a:latin typeface="Calibri"/>
                <a:ea typeface="Calibri"/>
                <a:cs typeface="Calibri"/>
              </a:defRPr>
            </a:lvl7pPr>
            <a:lvl8pPr>
              <a:defRPr sz="975" b="0">
                <a:solidFill>
                  <a:srgbClr val="000000"/>
                </a:solidFill>
                <a:latin typeface="Calibri"/>
                <a:ea typeface="Calibri"/>
                <a:cs typeface="Calibri"/>
              </a:defRPr>
            </a:lvl8pPr>
            <a:lvl9pPr>
              <a:defRPr sz="975" b="0">
                <a:solidFill>
                  <a:srgbClr val="000000"/>
                </a:solidFill>
                <a:latin typeface="Calibri"/>
                <a:ea typeface="Calibri"/>
                <a:cs typeface="Calibri"/>
              </a:defRPr>
            </a:lvl9pPr>
          </a:lstStyle>
          <a:p>
            <a:pPr>
              <a:defRPr sz="975" b="0">
                <a:solidFill>
                  <a:srgbClr val="000000"/>
                </a:solidFill>
                <a:latin typeface="Calibri"/>
                <a:ea typeface="Calibri"/>
                <a:cs typeface="Calibri"/>
              </a:defRPr>
            </a:pPr>
            <a:r>
              <a:rPr sz="975" b="0">
                <a:solidFill>
                  <a:srgbClr val="000000"/>
                </a:solidFill>
                <a:latin typeface="Calibri"/>
                <a:ea typeface="Calibri"/>
                <a:cs typeface="Calibri"/>
              </a:rPr>
              <a:t>Airframe structure: 85.7 kg (29%)</a:t>
            </a:r>
          </a:p>
        </p:txBody>
      </p:sp>
      <p:sp>
        <p:nvSpPr>
          <p:cNvPr id="216" name="Rectangle 215">
            <a:extLst>
              <a:ext uri="{FF2B5EF4-FFF2-40B4-BE49-F238E27FC236}">
                <a16:creationId xmlns:a16="http://schemas.microsoft.com/office/drawing/2014/main" id="{83470A81-B7C0-F35A-E16B-2FB6D161BB41}"/>
              </a:ext>
            </a:extLst>
          </p:cNvPr>
          <p:cNvSpPr>
            <a:spLocks noGrp="1"/>
          </p:cNvSpPr>
          <p:nvPr/>
        </p:nvSpPr>
        <p:spPr>
          <a:xfrm>
            <a:off x="8715375" y="2114550"/>
            <a:ext cx="142875" cy="171450"/>
          </a:xfrm>
          <a:prstGeom prst="rect">
            <a:avLst/>
          </a:prstGeom>
          <a:noFill/>
          <a:ln w="0">
            <a:noFill/>
            <a:prstDash val="solid"/>
          </a:ln>
        </p:spPr>
        <p:txBody>
          <a:bodyPr lIns="0" tIns="0" rIns="0" bIns="0"/>
          <a:lstStyle>
            <a:defPPr>
              <a:defRPr sz="900" b="0">
                <a:solidFill>
                  <a:srgbClr val="8062A5"/>
                </a:solidFill>
                <a:latin typeface="Calibri"/>
                <a:ea typeface="Calibri"/>
                <a:cs typeface="Calibri"/>
              </a:defRPr>
            </a:defPPr>
            <a:lvl1pPr>
              <a:defRPr sz="900" b="0">
                <a:solidFill>
                  <a:srgbClr val="8062A5"/>
                </a:solidFill>
                <a:latin typeface="Calibri"/>
                <a:ea typeface="Calibri"/>
                <a:cs typeface="Calibri"/>
              </a:defRPr>
            </a:lvl1pPr>
            <a:lvl2pPr>
              <a:defRPr sz="900" b="0">
                <a:solidFill>
                  <a:srgbClr val="8062A5"/>
                </a:solidFill>
                <a:latin typeface="Calibri"/>
                <a:ea typeface="Calibri"/>
                <a:cs typeface="Calibri"/>
              </a:defRPr>
            </a:lvl2pPr>
            <a:lvl3pPr>
              <a:defRPr sz="900" b="0">
                <a:solidFill>
                  <a:srgbClr val="8062A5"/>
                </a:solidFill>
                <a:latin typeface="Calibri"/>
                <a:ea typeface="Calibri"/>
                <a:cs typeface="Calibri"/>
              </a:defRPr>
            </a:lvl3pPr>
            <a:lvl4pPr>
              <a:defRPr sz="900" b="0">
                <a:solidFill>
                  <a:srgbClr val="8062A5"/>
                </a:solidFill>
                <a:latin typeface="Calibri"/>
                <a:ea typeface="Calibri"/>
                <a:cs typeface="Calibri"/>
              </a:defRPr>
            </a:lvl4pPr>
            <a:lvl5pPr>
              <a:defRPr sz="900" b="0">
                <a:solidFill>
                  <a:srgbClr val="8062A5"/>
                </a:solidFill>
                <a:latin typeface="Calibri"/>
                <a:ea typeface="Calibri"/>
                <a:cs typeface="Calibri"/>
              </a:defRPr>
            </a:lvl5pPr>
            <a:lvl6pPr>
              <a:defRPr sz="900" b="0">
                <a:solidFill>
                  <a:srgbClr val="8062A5"/>
                </a:solidFill>
                <a:latin typeface="Calibri"/>
                <a:ea typeface="Calibri"/>
                <a:cs typeface="Calibri"/>
              </a:defRPr>
            </a:lvl6pPr>
            <a:lvl7pPr>
              <a:defRPr sz="900" b="0">
                <a:solidFill>
                  <a:srgbClr val="8062A5"/>
                </a:solidFill>
                <a:latin typeface="Calibri"/>
                <a:ea typeface="Calibri"/>
                <a:cs typeface="Calibri"/>
              </a:defRPr>
            </a:lvl7pPr>
            <a:lvl8pPr>
              <a:defRPr sz="900" b="0">
                <a:solidFill>
                  <a:srgbClr val="8062A5"/>
                </a:solidFill>
                <a:latin typeface="Calibri"/>
                <a:ea typeface="Calibri"/>
                <a:cs typeface="Calibri"/>
              </a:defRPr>
            </a:lvl8pPr>
            <a:lvl9pPr>
              <a:defRPr sz="900" b="0">
                <a:solidFill>
                  <a:srgbClr val="8062A5"/>
                </a:solidFill>
                <a:latin typeface="Calibri"/>
                <a:ea typeface="Calibri"/>
                <a:cs typeface="Calibri"/>
              </a:defRPr>
            </a:lvl9pPr>
          </a:lstStyle>
          <a:p>
            <a:pPr>
              <a:defRPr sz="900" b="0">
                <a:solidFill>
                  <a:srgbClr val="8062A5"/>
                </a:solidFill>
                <a:latin typeface="Calibri"/>
                <a:ea typeface="Calibri"/>
                <a:cs typeface="Calibri"/>
              </a:defRPr>
            </a:pPr>
            <a:r>
              <a:rPr sz="900" b="0">
                <a:solidFill>
                  <a:srgbClr val="8062A5"/>
                </a:solidFill>
                <a:latin typeface="Calibri"/>
                <a:ea typeface="Calibri"/>
                <a:cs typeface="Calibri"/>
              </a:rPr>
              <a:t>■</a:t>
            </a:r>
          </a:p>
        </p:txBody>
      </p:sp>
      <p:sp>
        <p:nvSpPr>
          <p:cNvPr id="217" name="Rectangle 216">
            <a:extLst>
              <a:ext uri="{FF2B5EF4-FFF2-40B4-BE49-F238E27FC236}">
                <a16:creationId xmlns:a16="http://schemas.microsoft.com/office/drawing/2014/main" id="{CA05A6A9-6528-97F4-9417-C7B9C1A46D92}"/>
              </a:ext>
            </a:extLst>
          </p:cNvPr>
          <p:cNvSpPr>
            <a:spLocks noGrp="1"/>
          </p:cNvSpPr>
          <p:nvPr/>
        </p:nvSpPr>
        <p:spPr>
          <a:xfrm>
            <a:off x="8867775" y="2114550"/>
            <a:ext cx="2905125" cy="200025"/>
          </a:xfrm>
          <a:prstGeom prst="rect">
            <a:avLst/>
          </a:prstGeom>
          <a:noFill/>
          <a:ln w="0">
            <a:noFill/>
            <a:prstDash val="solid"/>
          </a:ln>
        </p:spPr>
        <p:txBody>
          <a:bodyPr lIns="0" tIns="0" rIns="0" bIns="0"/>
          <a:lstStyle>
            <a:defPPr>
              <a:defRPr sz="975" b="0">
                <a:solidFill>
                  <a:srgbClr val="000000"/>
                </a:solidFill>
                <a:latin typeface="Calibri"/>
                <a:ea typeface="Calibri"/>
                <a:cs typeface="Calibri"/>
              </a:defRPr>
            </a:defPPr>
            <a:lvl1pPr>
              <a:defRPr sz="975" b="0">
                <a:solidFill>
                  <a:srgbClr val="000000"/>
                </a:solidFill>
                <a:latin typeface="Calibri"/>
                <a:ea typeface="Calibri"/>
                <a:cs typeface="Calibri"/>
              </a:defRPr>
            </a:lvl1pPr>
            <a:lvl2pPr>
              <a:defRPr sz="975" b="0">
                <a:solidFill>
                  <a:srgbClr val="000000"/>
                </a:solidFill>
                <a:latin typeface="Calibri"/>
                <a:ea typeface="Calibri"/>
                <a:cs typeface="Calibri"/>
              </a:defRPr>
            </a:lvl2pPr>
            <a:lvl3pPr>
              <a:defRPr sz="975" b="0">
                <a:solidFill>
                  <a:srgbClr val="000000"/>
                </a:solidFill>
                <a:latin typeface="Calibri"/>
                <a:ea typeface="Calibri"/>
                <a:cs typeface="Calibri"/>
              </a:defRPr>
            </a:lvl3pPr>
            <a:lvl4pPr>
              <a:defRPr sz="975" b="0">
                <a:solidFill>
                  <a:srgbClr val="000000"/>
                </a:solidFill>
                <a:latin typeface="Calibri"/>
                <a:ea typeface="Calibri"/>
                <a:cs typeface="Calibri"/>
              </a:defRPr>
            </a:lvl4pPr>
            <a:lvl5pPr>
              <a:defRPr sz="975" b="0">
                <a:solidFill>
                  <a:srgbClr val="000000"/>
                </a:solidFill>
                <a:latin typeface="Calibri"/>
                <a:ea typeface="Calibri"/>
                <a:cs typeface="Calibri"/>
              </a:defRPr>
            </a:lvl5pPr>
            <a:lvl6pPr>
              <a:defRPr sz="975" b="0">
                <a:solidFill>
                  <a:srgbClr val="000000"/>
                </a:solidFill>
                <a:latin typeface="Calibri"/>
                <a:ea typeface="Calibri"/>
                <a:cs typeface="Calibri"/>
              </a:defRPr>
            </a:lvl6pPr>
            <a:lvl7pPr>
              <a:defRPr sz="975" b="0">
                <a:solidFill>
                  <a:srgbClr val="000000"/>
                </a:solidFill>
                <a:latin typeface="Calibri"/>
                <a:ea typeface="Calibri"/>
                <a:cs typeface="Calibri"/>
              </a:defRPr>
            </a:lvl7pPr>
            <a:lvl8pPr>
              <a:defRPr sz="975" b="0">
                <a:solidFill>
                  <a:srgbClr val="000000"/>
                </a:solidFill>
                <a:latin typeface="Calibri"/>
                <a:ea typeface="Calibri"/>
                <a:cs typeface="Calibri"/>
              </a:defRPr>
            </a:lvl8pPr>
            <a:lvl9pPr>
              <a:defRPr sz="975" b="0">
                <a:solidFill>
                  <a:srgbClr val="000000"/>
                </a:solidFill>
                <a:latin typeface="Calibri"/>
                <a:ea typeface="Calibri"/>
                <a:cs typeface="Calibri"/>
              </a:defRPr>
            </a:lvl9pPr>
          </a:lstStyle>
          <a:p>
            <a:pPr>
              <a:defRPr sz="975" b="0">
                <a:solidFill>
                  <a:srgbClr val="000000"/>
                </a:solidFill>
                <a:latin typeface="Calibri"/>
                <a:ea typeface="Calibri"/>
                <a:cs typeface="Calibri"/>
              </a:defRPr>
            </a:pPr>
            <a:r>
              <a:rPr sz="975" b="0">
                <a:solidFill>
                  <a:srgbClr val="000000"/>
                </a:solidFill>
                <a:latin typeface="Calibri"/>
                <a:ea typeface="Calibri"/>
                <a:cs typeface="Calibri"/>
              </a:rPr>
              <a:t>Landing gear: 7.4 kg (3%)</a:t>
            </a:r>
          </a:p>
        </p:txBody>
      </p:sp>
      <p:sp>
        <p:nvSpPr>
          <p:cNvPr id="218" name="Rectangle 217">
            <a:extLst>
              <a:ext uri="{FF2B5EF4-FFF2-40B4-BE49-F238E27FC236}">
                <a16:creationId xmlns:a16="http://schemas.microsoft.com/office/drawing/2014/main" id="{782BA0B6-2EFB-AC3F-56F6-693EA7177520}"/>
              </a:ext>
            </a:extLst>
          </p:cNvPr>
          <p:cNvSpPr>
            <a:spLocks noGrp="1"/>
          </p:cNvSpPr>
          <p:nvPr/>
        </p:nvSpPr>
        <p:spPr>
          <a:xfrm>
            <a:off x="8715375" y="2286000"/>
            <a:ext cx="142875" cy="171450"/>
          </a:xfrm>
          <a:prstGeom prst="rect">
            <a:avLst/>
          </a:prstGeom>
          <a:noFill/>
          <a:ln w="0">
            <a:noFill/>
            <a:prstDash val="solid"/>
          </a:ln>
        </p:spPr>
        <p:txBody>
          <a:bodyPr lIns="0" tIns="0" rIns="0" bIns="0"/>
          <a:lstStyle>
            <a:defPPr>
              <a:defRPr sz="900" b="0">
                <a:solidFill>
                  <a:srgbClr val="B15E8C"/>
                </a:solidFill>
                <a:latin typeface="Calibri"/>
                <a:ea typeface="Calibri"/>
                <a:cs typeface="Calibri"/>
              </a:defRPr>
            </a:defPPr>
            <a:lvl1pPr>
              <a:defRPr sz="900" b="0">
                <a:solidFill>
                  <a:srgbClr val="B15E8C"/>
                </a:solidFill>
                <a:latin typeface="Calibri"/>
                <a:ea typeface="Calibri"/>
                <a:cs typeface="Calibri"/>
              </a:defRPr>
            </a:lvl1pPr>
            <a:lvl2pPr>
              <a:defRPr sz="900" b="0">
                <a:solidFill>
                  <a:srgbClr val="B15E8C"/>
                </a:solidFill>
                <a:latin typeface="Calibri"/>
                <a:ea typeface="Calibri"/>
                <a:cs typeface="Calibri"/>
              </a:defRPr>
            </a:lvl2pPr>
            <a:lvl3pPr>
              <a:defRPr sz="900" b="0">
                <a:solidFill>
                  <a:srgbClr val="B15E8C"/>
                </a:solidFill>
                <a:latin typeface="Calibri"/>
                <a:ea typeface="Calibri"/>
                <a:cs typeface="Calibri"/>
              </a:defRPr>
            </a:lvl3pPr>
            <a:lvl4pPr>
              <a:defRPr sz="900" b="0">
                <a:solidFill>
                  <a:srgbClr val="B15E8C"/>
                </a:solidFill>
                <a:latin typeface="Calibri"/>
                <a:ea typeface="Calibri"/>
                <a:cs typeface="Calibri"/>
              </a:defRPr>
            </a:lvl4pPr>
            <a:lvl5pPr>
              <a:defRPr sz="900" b="0">
                <a:solidFill>
                  <a:srgbClr val="B15E8C"/>
                </a:solidFill>
                <a:latin typeface="Calibri"/>
                <a:ea typeface="Calibri"/>
                <a:cs typeface="Calibri"/>
              </a:defRPr>
            </a:lvl5pPr>
            <a:lvl6pPr>
              <a:defRPr sz="900" b="0">
                <a:solidFill>
                  <a:srgbClr val="B15E8C"/>
                </a:solidFill>
                <a:latin typeface="Calibri"/>
                <a:ea typeface="Calibri"/>
                <a:cs typeface="Calibri"/>
              </a:defRPr>
            </a:lvl6pPr>
            <a:lvl7pPr>
              <a:defRPr sz="900" b="0">
                <a:solidFill>
                  <a:srgbClr val="B15E8C"/>
                </a:solidFill>
                <a:latin typeface="Calibri"/>
                <a:ea typeface="Calibri"/>
                <a:cs typeface="Calibri"/>
              </a:defRPr>
            </a:lvl7pPr>
            <a:lvl8pPr>
              <a:defRPr sz="900" b="0">
                <a:solidFill>
                  <a:srgbClr val="B15E8C"/>
                </a:solidFill>
                <a:latin typeface="Calibri"/>
                <a:ea typeface="Calibri"/>
                <a:cs typeface="Calibri"/>
              </a:defRPr>
            </a:lvl8pPr>
            <a:lvl9pPr>
              <a:defRPr sz="900" b="0">
                <a:solidFill>
                  <a:srgbClr val="B15E8C"/>
                </a:solidFill>
                <a:latin typeface="Calibri"/>
                <a:ea typeface="Calibri"/>
                <a:cs typeface="Calibri"/>
              </a:defRPr>
            </a:lvl9pPr>
          </a:lstStyle>
          <a:p>
            <a:pPr>
              <a:defRPr sz="900" b="0">
                <a:solidFill>
                  <a:srgbClr val="B15E8C"/>
                </a:solidFill>
                <a:latin typeface="Calibri"/>
                <a:ea typeface="Calibri"/>
                <a:cs typeface="Calibri"/>
              </a:defRPr>
            </a:pPr>
            <a:r>
              <a:rPr sz="900" b="0">
                <a:solidFill>
                  <a:srgbClr val="B15E8C"/>
                </a:solidFill>
                <a:latin typeface="Calibri"/>
                <a:ea typeface="Calibri"/>
                <a:cs typeface="Calibri"/>
              </a:rPr>
              <a:t>■</a:t>
            </a:r>
          </a:p>
        </p:txBody>
      </p:sp>
      <p:sp>
        <p:nvSpPr>
          <p:cNvPr id="219" name="Rectangle 218">
            <a:extLst>
              <a:ext uri="{FF2B5EF4-FFF2-40B4-BE49-F238E27FC236}">
                <a16:creationId xmlns:a16="http://schemas.microsoft.com/office/drawing/2014/main" id="{0A3B3ED5-706F-CA58-9A11-868E5949C360}"/>
              </a:ext>
            </a:extLst>
          </p:cNvPr>
          <p:cNvSpPr>
            <a:spLocks noGrp="1"/>
          </p:cNvSpPr>
          <p:nvPr/>
        </p:nvSpPr>
        <p:spPr>
          <a:xfrm>
            <a:off x="8867775" y="2286000"/>
            <a:ext cx="2905125" cy="200025"/>
          </a:xfrm>
          <a:prstGeom prst="rect">
            <a:avLst/>
          </a:prstGeom>
          <a:noFill/>
          <a:ln w="0">
            <a:noFill/>
            <a:prstDash val="solid"/>
          </a:ln>
        </p:spPr>
        <p:txBody>
          <a:bodyPr lIns="0" tIns="0" rIns="0" bIns="0"/>
          <a:lstStyle>
            <a:defPPr>
              <a:defRPr sz="975" b="0">
                <a:solidFill>
                  <a:srgbClr val="000000"/>
                </a:solidFill>
                <a:latin typeface="Calibri"/>
                <a:ea typeface="Calibri"/>
                <a:cs typeface="Calibri"/>
              </a:defRPr>
            </a:defPPr>
            <a:lvl1pPr>
              <a:defRPr sz="975" b="0">
                <a:solidFill>
                  <a:srgbClr val="000000"/>
                </a:solidFill>
                <a:latin typeface="Calibri"/>
                <a:ea typeface="Calibri"/>
                <a:cs typeface="Calibri"/>
              </a:defRPr>
            </a:lvl1pPr>
            <a:lvl2pPr>
              <a:defRPr sz="975" b="0">
                <a:solidFill>
                  <a:srgbClr val="000000"/>
                </a:solidFill>
                <a:latin typeface="Calibri"/>
                <a:ea typeface="Calibri"/>
                <a:cs typeface="Calibri"/>
              </a:defRPr>
            </a:lvl2pPr>
            <a:lvl3pPr>
              <a:defRPr sz="975" b="0">
                <a:solidFill>
                  <a:srgbClr val="000000"/>
                </a:solidFill>
                <a:latin typeface="Calibri"/>
                <a:ea typeface="Calibri"/>
                <a:cs typeface="Calibri"/>
              </a:defRPr>
            </a:lvl3pPr>
            <a:lvl4pPr>
              <a:defRPr sz="975" b="0">
                <a:solidFill>
                  <a:srgbClr val="000000"/>
                </a:solidFill>
                <a:latin typeface="Calibri"/>
                <a:ea typeface="Calibri"/>
                <a:cs typeface="Calibri"/>
              </a:defRPr>
            </a:lvl4pPr>
            <a:lvl5pPr>
              <a:defRPr sz="975" b="0">
                <a:solidFill>
                  <a:srgbClr val="000000"/>
                </a:solidFill>
                <a:latin typeface="Calibri"/>
                <a:ea typeface="Calibri"/>
                <a:cs typeface="Calibri"/>
              </a:defRPr>
            </a:lvl5pPr>
            <a:lvl6pPr>
              <a:defRPr sz="975" b="0">
                <a:solidFill>
                  <a:srgbClr val="000000"/>
                </a:solidFill>
                <a:latin typeface="Calibri"/>
                <a:ea typeface="Calibri"/>
                <a:cs typeface="Calibri"/>
              </a:defRPr>
            </a:lvl6pPr>
            <a:lvl7pPr>
              <a:defRPr sz="975" b="0">
                <a:solidFill>
                  <a:srgbClr val="000000"/>
                </a:solidFill>
                <a:latin typeface="Calibri"/>
                <a:ea typeface="Calibri"/>
                <a:cs typeface="Calibri"/>
              </a:defRPr>
            </a:lvl7pPr>
            <a:lvl8pPr>
              <a:defRPr sz="975" b="0">
                <a:solidFill>
                  <a:srgbClr val="000000"/>
                </a:solidFill>
                <a:latin typeface="Calibri"/>
                <a:ea typeface="Calibri"/>
                <a:cs typeface="Calibri"/>
              </a:defRPr>
            </a:lvl8pPr>
            <a:lvl9pPr>
              <a:defRPr sz="975" b="0">
                <a:solidFill>
                  <a:srgbClr val="000000"/>
                </a:solidFill>
                <a:latin typeface="Calibri"/>
                <a:ea typeface="Calibri"/>
                <a:cs typeface="Calibri"/>
              </a:defRPr>
            </a:lvl9pPr>
          </a:lstStyle>
          <a:p>
            <a:pPr>
              <a:defRPr sz="975" b="0">
                <a:solidFill>
                  <a:srgbClr val="000000"/>
                </a:solidFill>
                <a:latin typeface="Calibri"/>
                <a:ea typeface="Calibri"/>
                <a:cs typeface="Calibri"/>
              </a:defRPr>
            </a:pPr>
            <a:r>
              <a:rPr sz="975" b="0">
                <a:solidFill>
                  <a:srgbClr val="000000"/>
                </a:solidFill>
                <a:latin typeface="Calibri"/>
                <a:ea typeface="Calibri"/>
                <a:cs typeface="Calibri"/>
              </a:rPr>
              <a:t>Shared propulsion: 83.1 kg (28%)</a:t>
            </a:r>
          </a:p>
        </p:txBody>
      </p:sp>
      <p:sp>
        <p:nvSpPr>
          <p:cNvPr id="220" name="Rectangle 219">
            <a:extLst>
              <a:ext uri="{FF2B5EF4-FFF2-40B4-BE49-F238E27FC236}">
                <a16:creationId xmlns:a16="http://schemas.microsoft.com/office/drawing/2014/main" id="{B1BEBF0E-D365-4884-BF32-A7D692670F61}"/>
              </a:ext>
            </a:extLst>
          </p:cNvPr>
          <p:cNvSpPr>
            <a:spLocks noGrp="1"/>
          </p:cNvSpPr>
          <p:nvPr/>
        </p:nvSpPr>
        <p:spPr>
          <a:xfrm>
            <a:off x="8867775" y="2457450"/>
            <a:ext cx="2905125" cy="180975"/>
          </a:xfrm>
          <a:prstGeom prst="rect">
            <a:avLst/>
          </a:prstGeom>
          <a:noFill/>
          <a:ln w="0">
            <a:noFill/>
            <a:prstDash val="solid"/>
          </a:ln>
        </p:spPr>
        <p:txBody>
          <a:bodyPr lIns="0" tIns="0" rIns="0" bIns="0"/>
          <a:lstStyle>
            <a:defPPr>
              <a:defRPr sz="825" b="0">
                <a:solidFill>
                  <a:srgbClr val="444444"/>
                </a:solidFill>
                <a:latin typeface="Calibri"/>
                <a:ea typeface="Calibri"/>
                <a:cs typeface="Calibri"/>
              </a:defRPr>
            </a:defPPr>
            <a:lvl1pPr>
              <a:defRPr sz="825" b="0">
                <a:solidFill>
                  <a:srgbClr val="444444"/>
                </a:solidFill>
                <a:latin typeface="Calibri"/>
                <a:ea typeface="Calibri"/>
                <a:cs typeface="Calibri"/>
              </a:defRPr>
            </a:lvl1pPr>
            <a:lvl2pPr>
              <a:defRPr sz="825" b="0">
                <a:solidFill>
                  <a:srgbClr val="444444"/>
                </a:solidFill>
                <a:latin typeface="Calibri"/>
                <a:ea typeface="Calibri"/>
                <a:cs typeface="Calibri"/>
              </a:defRPr>
            </a:lvl2pPr>
            <a:lvl3pPr>
              <a:defRPr sz="825" b="0">
                <a:solidFill>
                  <a:srgbClr val="444444"/>
                </a:solidFill>
                <a:latin typeface="Calibri"/>
                <a:ea typeface="Calibri"/>
                <a:cs typeface="Calibri"/>
              </a:defRPr>
            </a:lvl3pPr>
            <a:lvl4pPr>
              <a:defRPr sz="825" b="0">
                <a:solidFill>
                  <a:srgbClr val="444444"/>
                </a:solidFill>
                <a:latin typeface="Calibri"/>
                <a:ea typeface="Calibri"/>
                <a:cs typeface="Calibri"/>
              </a:defRPr>
            </a:lvl4pPr>
            <a:lvl5pPr>
              <a:defRPr sz="825" b="0">
                <a:solidFill>
                  <a:srgbClr val="444444"/>
                </a:solidFill>
                <a:latin typeface="Calibri"/>
                <a:ea typeface="Calibri"/>
                <a:cs typeface="Calibri"/>
              </a:defRPr>
            </a:lvl5pPr>
            <a:lvl6pPr>
              <a:defRPr sz="825" b="0">
                <a:solidFill>
                  <a:srgbClr val="444444"/>
                </a:solidFill>
                <a:latin typeface="Calibri"/>
                <a:ea typeface="Calibri"/>
                <a:cs typeface="Calibri"/>
              </a:defRPr>
            </a:lvl6pPr>
            <a:lvl7pPr>
              <a:defRPr sz="825" b="0">
                <a:solidFill>
                  <a:srgbClr val="444444"/>
                </a:solidFill>
                <a:latin typeface="Calibri"/>
                <a:ea typeface="Calibri"/>
                <a:cs typeface="Calibri"/>
              </a:defRPr>
            </a:lvl7pPr>
            <a:lvl8pPr>
              <a:defRPr sz="825" b="0">
                <a:solidFill>
                  <a:srgbClr val="444444"/>
                </a:solidFill>
                <a:latin typeface="Calibri"/>
                <a:ea typeface="Calibri"/>
                <a:cs typeface="Calibri"/>
              </a:defRPr>
            </a:lvl8pPr>
            <a:lvl9pPr>
              <a:defRPr sz="825" b="0">
                <a:solidFill>
                  <a:srgbClr val="444444"/>
                </a:solidFill>
                <a:latin typeface="Calibri"/>
                <a:ea typeface="Calibri"/>
                <a:cs typeface="Calibri"/>
              </a:defRPr>
            </a:lvl9pPr>
          </a:lstStyle>
          <a:p>
            <a:pPr>
              <a:defRPr sz="825" b="0">
                <a:solidFill>
                  <a:srgbClr val="444444"/>
                </a:solidFill>
                <a:latin typeface="Calibri"/>
                <a:ea typeface="Calibri"/>
                <a:cs typeface="Calibri"/>
              </a:defRPr>
            </a:pPr>
            <a:r>
              <a:rPr sz="825" b="0">
                <a:solidFill>
                  <a:srgbClr val="444444"/>
                </a:solidFill>
                <a:latin typeface="Calibri"/>
                <a:ea typeface="Calibri"/>
                <a:cs typeface="Calibri"/>
              </a:rPr>
              <a:t>Engine 46.0, props 19.5 kg</a:t>
            </a:r>
          </a:p>
        </p:txBody>
      </p:sp>
      <p:sp>
        <p:nvSpPr>
          <p:cNvPr id="221" name="Rectangle 220">
            <a:extLst>
              <a:ext uri="{FF2B5EF4-FFF2-40B4-BE49-F238E27FC236}">
                <a16:creationId xmlns:a16="http://schemas.microsoft.com/office/drawing/2014/main" id="{04A12B32-332E-BFF4-6263-8085AABA066E}"/>
              </a:ext>
            </a:extLst>
          </p:cNvPr>
          <p:cNvSpPr>
            <a:spLocks noGrp="1"/>
          </p:cNvSpPr>
          <p:nvPr/>
        </p:nvSpPr>
        <p:spPr>
          <a:xfrm>
            <a:off x="8867775" y="2600325"/>
            <a:ext cx="2905125" cy="180975"/>
          </a:xfrm>
          <a:prstGeom prst="rect">
            <a:avLst/>
          </a:prstGeom>
          <a:noFill/>
          <a:ln w="0">
            <a:noFill/>
            <a:prstDash val="solid"/>
          </a:ln>
        </p:spPr>
        <p:txBody>
          <a:bodyPr lIns="0" tIns="0" rIns="0" bIns="0"/>
          <a:lstStyle>
            <a:defPPr>
              <a:defRPr sz="825" b="0">
                <a:solidFill>
                  <a:srgbClr val="444444"/>
                </a:solidFill>
                <a:latin typeface="Calibri"/>
                <a:ea typeface="Calibri"/>
                <a:cs typeface="Calibri"/>
              </a:defRPr>
            </a:defPPr>
            <a:lvl1pPr>
              <a:defRPr sz="825" b="0">
                <a:solidFill>
                  <a:srgbClr val="444444"/>
                </a:solidFill>
                <a:latin typeface="Calibri"/>
                <a:ea typeface="Calibri"/>
                <a:cs typeface="Calibri"/>
              </a:defRPr>
            </a:lvl1pPr>
            <a:lvl2pPr>
              <a:defRPr sz="825" b="0">
                <a:solidFill>
                  <a:srgbClr val="444444"/>
                </a:solidFill>
                <a:latin typeface="Calibri"/>
                <a:ea typeface="Calibri"/>
                <a:cs typeface="Calibri"/>
              </a:defRPr>
            </a:lvl2pPr>
            <a:lvl3pPr>
              <a:defRPr sz="825" b="0">
                <a:solidFill>
                  <a:srgbClr val="444444"/>
                </a:solidFill>
                <a:latin typeface="Calibri"/>
                <a:ea typeface="Calibri"/>
                <a:cs typeface="Calibri"/>
              </a:defRPr>
            </a:lvl3pPr>
            <a:lvl4pPr>
              <a:defRPr sz="825" b="0">
                <a:solidFill>
                  <a:srgbClr val="444444"/>
                </a:solidFill>
                <a:latin typeface="Calibri"/>
                <a:ea typeface="Calibri"/>
                <a:cs typeface="Calibri"/>
              </a:defRPr>
            </a:lvl4pPr>
            <a:lvl5pPr>
              <a:defRPr sz="825" b="0">
                <a:solidFill>
                  <a:srgbClr val="444444"/>
                </a:solidFill>
                <a:latin typeface="Calibri"/>
                <a:ea typeface="Calibri"/>
                <a:cs typeface="Calibri"/>
              </a:defRPr>
            </a:lvl5pPr>
            <a:lvl6pPr>
              <a:defRPr sz="825" b="0">
                <a:solidFill>
                  <a:srgbClr val="444444"/>
                </a:solidFill>
                <a:latin typeface="Calibri"/>
                <a:ea typeface="Calibri"/>
                <a:cs typeface="Calibri"/>
              </a:defRPr>
            </a:lvl6pPr>
            <a:lvl7pPr>
              <a:defRPr sz="825" b="0">
                <a:solidFill>
                  <a:srgbClr val="444444"/>
                </a:solidFill>
                <a:latin typeface="Calibri"/>
                <a:ea typeface="Calibri"/>
                <a:cs typeface="Calibri"/>
              </a:defRPr>
            </a:lvl7pPr>
            <a:lvl8pPr>
              <a:defRPr sz="825" b="0">
                <a:solidFill>
                  <a:srgbClr val="444444"/>
                </a:solidFill>
                <a:latin typeface="Calibri"/>
                <a:ea typeface="Calibri"/>
                <a:cs typeface="Calibri"/>
              </a:defRPr>
            </a:lvl8pPr>
            <a:lvl9pPr>
              <a:defRPr sz="825" b="0">
                <a:solidFill>
                  <a:srgbClr val="444444"/>
                </a:solidFill>
                <a:latin typeface="Calibri"/>
                <a:ea typeface="Calibri"/>
                <a:cs typeface="Calibri"/>
              </a:defRPr>
            </a:lvl9pPr>
          </a:lstStyle>
          <a:p>
            <a:pPr>
              <a:defRPr sz="825" b="0">
                <a:solidFill>
                  <a:srgbClr val="444444"/>
                </a:solidFill>
                <a:latin typeface="Calibri"/>
                <a:ea typeface="Calibri"/>
                <a:cs typeface="Calibri"/>
              </a:defRPr>
            </a:pPr>
            <a:r>
              <a:rPr sz="825" b="0">
                <a:solidFill>
                  <a:srgbClr val="444444"/>
                </a:solidFill>
                <a:latin typeface="Calibri"/>
                <a:ea typeface="Calibri"/>
                <a:cs typeface="Calibri"/>
              </a:rPr>
              <a:t>Mechanical drive 17.6 kg</a:t>
            </a:r>
          </a:p>
        </p:txBody>
      </p:sp>
      <p:sp>
        <p:nvSpPr>
          <p:cNvPr id="222" name="Rectangle 221">
            <a:extLst>
              <a:ext uri="{FF2B5EF4-FFF2-40B4-BE49-F238E27FC236}">
                <a16:creationId xmlns:a16="http://schemas.microsoft.com/office/drawing/2014/main" id="{F2D07815-2834-6249-72A0-B390E2199653}"/>
              </a:ext>
            </a:extLst>
          </p:cNvPr>
          <p:cNvSpPr>
            <a:spLocks noGrp="1"/>
          </p:cNvSpPr>
          <p:nvPr/>
        </p:nvSpPr>
        <p:spPr>
          <a:xfrm>
            <a:off x="8715375" y="2743200"/>
            <a:ext cx="142875" cy="171450"/>
          </a:xfrm>
          <a:prstGeom prst="rect">
            <a:avLst/>
          </a:prstGeom>
          <a:noFill/>
          <a:ln w="0">
            <a:noFill/>
            <a:prstDash val="solid"/>
          </a:ln>
        </p:spPr>
        <p:txBody>
          <a:bodyPr lIns="0" tIns="0" rIns="0" bIns="0"/>
          <a:lstStyle>
            <a:defPPr>
              <a:defRPr sz="900" b="0">
                <a:solidFill>
                  <a:srgbClr val="8A9A42"/>
                </a:solidFill>
                <a:latin typeface="Calibri"/>
                <a:ea typeface="Calibri"/>
                <a:cs typeface="Calibri"/>
              </a:defRPr>
            </a:defPPr>
            <a:lvl1pPr>
              <a:defRPr sz="900" b="0">
                <a:solidFill>
                  <a:srgbClr val="8A9A42"/>
                </a:solidFill>
                <a:latin typeface="Calibri"/>
                <a:ea typeface="Calibri"/>
                <a:cs typeface="Calibri"/>
              </a:defRPr>
            </a:lvl1pPr>
            <a:lvl2pPr>
              <a:defRPr sz="900" b="0">
                <a:solidFill>
                  <a:srgbClr val="8A9A42"/>
                </a:solidFill>
                <a:latin typeface="Calibri"/>
                <a:ea typeface="Calibri"/>
                <a:cs typeface="Calibri"/>
              </a:defRPr>
            </a:lvl2pPr>
            <a:lvl3pPr>
              <a:defRPr sz="900" b="0">
                <a:solidFill>
                  <a:srgbClr val="8A9A42"/>
                </a:solidFill>
                <a:latin typeface="Calibri"/>
                <a:ea typeface="Calibri"/>
                <a:cs typeface="Calibri"/>
              </a:defRPr>
            </a:lvl3pPr>
            <a:lvl4pPr>
              <a:defRPr sz="900" b="0">
                <a:solidFill>
                  <a:srgbClr val="8A9A42"/>
                </a:solidFill>
                <a:latin typeface="Calibri"/>
                <a:ea typeface="Calibri"/>
                <a:cs typeface="Calibri"/>
              </a:defRPr>
            </a:lvl4pPr>
            <a:lvl5pPr>
              <a:defRPr sz="900" b="0">
                <a:solidFill>
                  <a:srgbClr val="8A9A42"/>
                </a:solidFill>
                <a:latin typeface="Calibri"/>
                <a:ea typeface="Calibri"/>
                <a:cs typeface="Calibri"/>
              </a:defRPr>
            </a:lvl5pPr>
            <a:lvl6pPr>
              <a:defRPr sz="900" b="0">
                <a:solidFill>
                  <a:srgbClr val="8A9A42"/>
                </a:solidFill>
                <a:latin typeface="Calibri"/>
                <a:ea typeface="Calibri"/>
                <a:cs typeface="Calibri"/>
              </a:defRPr>
            </a:lvl6pPr>
            <a:lvl7pPr>
              <a:defRPr sz="900" b="0">
                <a:solidFill>
                  <a:srgbClr val="8A9A42"/>
                </a:solidFill>
                <a:latin typeface="Calibri"/>
                <a:ea typeface="Calibri"/>
                <a:cs typeface="Calibri"/>
              </a:defRPr>
            </a:lvl7pPr>
            <a:lvl8pPr>
              <a:defRPr sz="900" b="0">
                <a:solidFill>
                  <a:srgbClr val="8A9A42"/>
                </a:solidFill>
                <a:latin typeface="Calibri"/>
                <a:ea typeface="Calibri"/>
                <a:cs typeface="Calibri"/>
              </a:defRPr>
            </a:lvl8pPr>
            <a:lvl9pPr>
              <a:defRPr sz="900" b="0">
                <a:solidFill>
                  <a:srgbClr val="8A9A42"/>
                </a:solidFill>
                <a:latin typeface="Calibri"/>
                <a:ea typeface="Calibri"/>
                <a:cs typeface="Calibri"/>
              </a:defRPr>
            </a:lvl9pPr>
          </a:lstStyle>
          <a:p>
            <a:pPr>
              <a:defRPr sz="900" b="0">
                <a:solidFill>
                  <a:srgbClr val="8A9A42"/>
                </a:solidFill>
                <a:latin typeface="Calibri"/>
                <a:ea typeface="Calibri"/>
                <a:cs typeface="Calibri"/>
              </a:defRPr>
            </a:pPr>
            <a:r>
              <a:rPr sz="900" b="0">
                <a:solidFill>
                  <a:srgbClr val="8A9A42"/>
                </a:solidFill>
                <a:latin typeface="Calibri"/>
                <a:ea typeface="Calibri"/>
                <a:cs typeface="Calibri"/>
              </a:rPr>
              <a:t>■</a:t>
            </a:r>
          </a:p>
        </p:txBody>
      </p:sp>
      <p:sp>
        <p:nvSpPr>
          <p:cNvPr id="223" name="Rectangle 222">
            <a:extLst>
              <a:ext uri="{FF2B5EF4-FFF2-40B4-BE49-F238E27FC236}">
                <a16:creationId xmlns:a16="http://schemas.microsoft.com/office/drawing/2014/main" id="{C6BAF99B-60E2-28DC-DCE4-A8D60A98C6E5}"/>
              </a:ext>
            </a:extLst>
          </p:cNvPr>
          <p:cNvSpPr>
            <a:spLocks noGrp="1"/>
          </p:cNvSpPr>
          <p:nvPr/>
        </p:nvSpPr>
        <p:spPr>
          <a:xfrm>
            <a:off x="8867775" y="2743200"/>
            <a:ext cx="2905125" cy="200025"/>
          </a:xfrm>
          <a:prstGeom prst="rect">
            <a:avLst/>
          </a:prstGeom>
          <a:noFill/>
          <a:ln w="0">
            <a:noFill/>
            <a:prstDash val="solid"/>
          </a:ln>
        </p:spPr>
        <p:txBody>
          <a:bodyPr lIns="0" tIns="0" rIns="0" bIns="0"/>
          <a:lstStyle>
            <a:defPPr>
              <a:defRPr sz="975" b="0">
                <a:solidFill>
                  <a:srgbClr val="000000"/>
                </a:solidFill>
                <a:latin typeface="Calibri"/>
                <a:ea typeface="Calibri"/>
                <a:cs typeface="Calibri"/>
              </a:defRPr>
            </a:defPPr>
            <a:lvl1pPr>
              <a:defRPr sz="975" b="0">
                <a:solidFill>
                  <a:srgbClr val="000000"/>
                </a:solidFill>
                <a:latin typeface="Calibri"/>
                <a:ea typeface="Calibri"/>
                <a:cs typeface="Calibri"/>
              </a:defRPr>
            </a:lvl1pPr>
            <a:lvl2pPr>
              <a:defRPr sz="975" b="0">
                <a:solidFill>
                  <a:srgbClr val="000000"/>
                </a:solidFill>
                <a:latin typeface="Calibri"/>
                <a:ea typeface="Calibri"/>
                <a:cs typeface="Calibri"/>
              </a:defRPr>
            </a:lvl2pPr>
            <a:lvl3pPr>
              <a:defRPr sz="975" b="0">
                <a:solidFill>
                  <a:srgbClr val="000000"/>
                </a:solidFill>
                <a:latin typeface="Calibri"/>
                <a:ea typeface="Calibri"/>
                <a:cs typeface="Calibri"/>
              </a:defRPr>
            </a:lvl3pPr>
            <a:lvl4pPr>
              <a:defRPr sz="975" b="0">
                <a:solidFill>
                  <a:srgbClr val="000000"/>
                </a:solidFill>
                <a:latin typeface="Calibri"/>
                <a:ea typeface="Calibri"/>
                <a:cs typeface="Calibri"/>
              </a:defRPr>
            </a:lvl4pPr>
            <a:lvl5pPr>
              <a:defRPr sz="975" b="0">
                <a:solidFill>
                  <a:srgbClr val="000000"/>
                </a:solidFill>
                <a:latin typeface="Calibri"/>
                <a:ea typeface="Calibri"/>
                <a:cs typeface="Calibri"/>
              </a:defRPr>
            </a:lvl5pPr>
            <a:lvl6pPr>
              <a:defRPr sz="975" b="0">
                <a:solidFill>
                  <a:srgbClr val="000000"/>
                </a:solidFill>
                <a:latin typeface="Calibri"/>
                <a:ea typeface="Calibri"/>
                <a:cs typeface="Calibri"/>
              </a:defRPr>
            </a:lvl6pPr>
            <a:lvl7pPr>
              <a:defRPr sz="975" b="0">
                <a:solidFill>
                  <a:srgbClr val="000000"/>
                </a:solidFill>
                <a:latin typeface="Calibri"/>
                <a:ea typeface="Calibri"/>
                <a:cs typeface="Calibri"/>
              </a:defRPr>
            </a:lvl7pPr>
            <a:lvl8pPr>
              <a:defRPr sz="975" b="0">
                <a:solidFill>
                  <a:srgbClr val="000000"/>
                </a:solidFill>
                <a:latin typeface="Calibri"/>
                <a:ea typeface="Calibri"/>
                <a:cs typeface="Calibri"/>
              </a:defRPr>
            </a:lvl8pPr>
            <a:lvl9pPr>
              <a:defRPr sz="975" b="0">
                <a:solidFill>
                  <a:srgbClr val="000000"/>
                </a:solidFill>
                <a:latin typeface="Calibri"/>
                <a:ea typeface="Calibri"/>
                <a:cs typeface="Calibri"/>
              </a:defRPr>
            </a:lvl9pPr>
          </a:lstStyle>
          <a:p>
            <a:pPr>
              <a:defRPr sz="975" b="0">
                <a:solidFill>
                  <a:srgbClr val="000000"/>
                </a:solidFill>
                <a:latin typeface="Calibri"/>
                <a:ea typeface="Calibri"/>
                <a:cs typeface="Calibri"/>
              </a:defRPr>
            </a:pPr>
            <a:r>
              <a:rPr sz="975" b="0">
                <a:solidFill>
                  <a:srgbClr val="000000"/>
                </a:solidFill>
                <a:latin typeface="Calibri"/>
                <a:ea typeface="Calibri"/>
                <a:cs typeface="Calibri"/>
              </a:rPr>
              <a:t>Fuel-system hardware: 5.8 kg (2%)</a:t>
            </a:r>
          </a:p>
        </p:txBody>
      </p:sp>
      <p:sp>
        <p:nvSpPr>
          <p:cNvPr id="224" name="Rectangle 223">
            <a:extLst>
              <a:ext uri="{FF2B5EF4-FFF2-40B4-BE49-F238E27FC236}">
                <a16:creationId xmlns:a16="http://schemas.microsoft.com/office/drawing/2014/main" id="{B928D692-1909-A3CB-AA82-05DF0556EFDA}"/>
              </a:ext>
            </a:extLst>
          </p:cNvPr>
          <p:cNvSpPr>
            <a:spLocks noGrp="1"/>
          </p:cNvSpPr>
          <p:nvPr/>
        </p:nvSpPr>
        <p:spPr>
          <a:xfrm>
            <a:off x="8715375" y="2914650"/>
            <a:ext cx="142875" cy="171450"/>
          </a:xfrm>
          <a:prstGeom prst="rect">
            <a:avLst/>
          </a:prstGeom>
          <a:noFill/>
          <a:ln w="0">
            <a:noFill/>
            <a:prstDash val="solid"/>
          </a:ln>
        </p:spPr>
        <p:txBody>
          <a:bodyPr lIns="0" tIns="0" rIns="0" bIns="0"/>
          <a:lstStyle>
            <a:defPPr>
              <a:defRPr sz="900" b="0">
                <a:solidFill>
                  <a:srgbClr val="D2AB39"/>
                </a:solidFill>
                <a:latin typeface="Calibri"/>
                <a:ea typeface="Calibri"/>
                <a:cs typeface="Calibri"/>
              </a:defRPr>
            </a:defPPr>
            <a:lvl1pPr>
              <a:defRPr sz="900" b="0">
                <a:solidFill>
                  <a:srgbClr val="D2AB39"/>
                </a:solidFill>
                <a:latin typeface="Calibri"/>
                <a:ea typeface="Calibri"/>
                <a:cs typeface="Calibri"/>
              </a:defRPr>
            </a:lvl1pPr>
            <a:lvl2pPr>
              <a:defRPr sz="900" b="0">
                <a:solidFill>
                  <a:srgbClr val="D2AB39"/>
                </a:solidFill>
                <a:latin typeface="Calibri"/>
                <a:ea typeface="Calibri"/>
                <a:cs typeface="Calibri"/>
              </a:defRPr>
            </a:lvl2pPr>
            <a:lvl3pPr>
              <a:defRPr sz="900" b="0">
                <a:solidFill>
                  <a:srgbClr val="D2AB39"/>
                </a:solidFill>
                <a:latin typeface="Calibri"/>
                <a:ea typeface="Calibri"/>
                <a:cs typeface="Calibri"/>
              </a:defRPr>
            </a:lvl3pPr>
            <a:lvl4pPr>
              <a:defRPr sz="900" b="0">
                <a:solidFill>
                  <a:srgbClr val="D2AB39"/>
                </a:solidFill>
                <a:latin typeface="Calibri"/>
                <a:ea typeface="Calibri"/>
                <a:cs typeface="Calibri"/>
              </a:defRPr>
            </a:lvl4pPr>
            <a:lvl5pPr>
              <a:defRPr sz="900" b="0">
                <a:solidFill>
                  <a:srgbClr val="D2AB39"/>
                </a:solidFill>
                <a:latin typeface="Calibri"/>
                <a:ea typeface="Calibri"/>
                <a:cs typeface="Calibri"/>
              </a:defRPr>
            </a:lvl5pPr>
            <a:lvl6pPr>
              <a:defRPr sz="900" b="0">
                <a:solidFill>
                  <a:srgbClr val="D2AB39"/>
                </a:solidFill>
                <a:latin typeface="Calibri"/>
                <a:ea typeface="Calibri"/>
                <a:cs typeface="Calibri"/>
              </a:defRPr>
            </a:lvl6pPr>
            <a:lvl7pPr>
              <a:defRPr sz="900" b="0">
                <a:solidFill>
                  <a:srgbClr val="D2AB39"/>
                </a:solidFill>
                <a:latin typeface="Calibri"/>
                <a:ea typeface="Calibri"/>
                <a:cs typeface="Calibri"/>
              </a:defRPr>
            </a:lvl7pPr>
            <a:lvl8pPr>
              <a:defRPr sz="900" b="0">
                <a:solidFill>
                  <a:srgbClr val="D2AB39"/>
                </a:solidFill>
                <a:latin typeface="Calibri"/>
                <a:ea typeface="Calibri"/>
                <a:cs typeface="Calibri"/>
              </a:defRPr>
            </a:lvl8pPr>
            <a:lvl9pPr>
              <a:defRPr sz="900" b="0">
                <a:solidFill>
                  <a:srgbClr val="D2AB39"/>
                </a:solidFill>
                <a:latin typeface="Calibri"/>
                <a:ea typeface="Calibri"/>
                <a:cs typeface="Calibri"/>
              </a:defRPr>
            </a:lvl9pPr>
          </a:lstStyle>
          <a:p>
            <a:pPr>
              <a:defRPr sz="900" b="0">
                <a:solidFill>
                  <a:srgbClr val="D2AB39"/>
                </a:solidFill>
                <a:latin typeface="Calibri"/>
                <a:ea typeface="Calibri"/>
                <a:cs typeface="Calibri"/>
              </a:defRPr>
            </a:pPr>
            <a:r>
              <a:rPr sz="900" b="0">
                <a:solidFill>
                  <a:srgbClr val="D2AB39"/>
                </a:solidFill>
                <a:latin typeface="Calibri"/>
                <a:ea typeface="Calibri"/>
                <a:cs typeface="Calibri"/>
              </a:rPr>
              <a:t>■</a:t>
            </a:r>
          </a:p>
        </p:txBody>
      </p:sp>
      <p:sp>
        <p:nvSpPr>
          <p:cNvPr id="225" name="Rectangle 224">
            <a:extLst>
              <a:ext uri="{FF2B5EF4-FFF2-40B4-BE49-F238E27FC236}">
                <a16:creationId xmlns:a16="http://schemas.microsoft.com/office/drawing/2014/main" id="{12DBF9D5-4744-7E3D-9FEA-481BA47AB233}"/>
              </a:ext>
            </a:extLst>
          </p:cNvPr>
          <p:cNvSpPr>
            <a:spLocks noGrp="1"/>
          </p:cNvSpPr>
          <p:nvPr/>
        </p:nvSpPr>
        <p:spPr>
          <a:xfrm>
            <a:off x="8867775" y="2914650"/>
            <a:ext cx="2905125" cy="200025"/>
          </a:xfrm>
          <a:prstGeom prst="rect">
            <a:avLst/>
          </a:prstGeom>
          <a:noFill/>
          <a:ln w="0">
            <a:noFill/>
            <a:prstDash val="solid"/>
          </a:ln>
        </p:spPr>
        <p:txBody>
          <a:bodyPr lIns="0" tIns="0" rIns="0" bIns="0"/>
          <a:lstStyle>
            <a:defPPr>
              <a:defRPr sz="975" b="0">
                <a:solidFill>
                  <a:srgbClr val="000000"/>
                </a:solidFill>
                <a:latin typeface="Calibri"/>
                <a:ea typeface="Calibri"/>
                <a:cs typeface="Calibri"/>
              </a:defRPr>
            </a:defPPr>
            <a:lvl1pPr>
              <a:defRPr sz="975" b="0">
                <a:solidFill>
                  <a:srgbClr val="000000"/>
                </a:solidFill>
                <a:latin typeface="Calibri"/>
                <a:ea typeface="Calibri"/>
                <a:cs typeface="Calibri"/>
              </a:defRPr>
            </a:lvl1pPr>
            <a:lvl2pPr>
              <a:defRPr sz="975" b="0">
                <a:solidFill>
                  <a:srgbClr val="000000"/>
                </a:solidFill>
                <a:latin typeface="Calibri"/>
                <a:ea typeface="Calibri"/>
                <a:cs typeface="Calibri"/>
              </a:defRPr>
            </a:lvl2pPr>
            <a:lvl3pPr>
              <a:defRPr sz="975" b="0">
                <a:solidFill>
                  <a:srgbClr val="000000"/>
                </a:solidFill>
                <a:latin typeface="Calibri"/>
                <a:ea typeface="Calibri"/>
                <a:cs typeface="Calibri"/>
              </a:defRPr>
            </a:lvl3pPr>
            <a:lvl4pPr>
              <a:defRPr sz="975" b="0">
                <a:solidFill>
                  <a:srgbClr val="000000"/>
                </a:solidFill>
                <a:latin typeface="Calibri"/>
                <a:ea typeface="Calibri"/>
                <a:cs typeface="Calibri"/>
              </a:defRPr>
            </a:lvl4pPr>
            <a:lvl5pPr>
              <a:defRPr sz="975" b="0">
                <a:solidFill>
                  <a:srgbClr val="000000"/>
                </a:solidFill>
                <a:latin typeface="Calibri"/>
                <a:ea typeface="Calibri"/>
                <a:cs typeface="Calibri"/>
              </a:defRPr>
            </a:lvl5pPr>
            <a:lvl6pPr>
              <a:defRPr sz="975" b="0">
                <a:solidFill>
                  <a:srgbClr val="000000"/>
                </a:solidFill>
                <a:latin typeface="Calibri"/>
                <a:ea typeface="Calibri"/>
                <a:cs typeface="Calibri"/>
              </a:defRPr>
            </a:lvl6pPr>
            <a:lvl7pPr>
              <a:defRPr sz="975" b="0">
                <a:solidFill>
                  <a:srgbClr val="000000"/>
                </a:solidFill>
                <a:latin typeface="Calibri"/>
                <a:ea typeface="Calibri"/>
                <a:cs typeface="Calibri"/>
              </a:defRPr>
            </a:lvl7pPr>
            <a:lvl8pPr>
              <a:defRPr sz="975" b="0">
                <a:solidFill>
                  <a:srgbClr val="000000"/>
                </a:solidFill>
                <a:latin typeface="Calibri"/>
                <a:ea typeface="Calibri"/>
                <a:cs typeface="Calibri"/>
              </a:defRPr>
            </a:lvl8pPr>
            <a:lvl9pPr>
              <a:defRPr sz="975" b="0">
                <a:solidFill>
                  <a:srgbClr val="000000"/>
                </a:solidFill>
                <a:latin typeface="Calibri"/>
                <a:ea typeface="Calibri"/>
                <a:cs typeface="Calibri"/>
              </a:defRPr>
            </a:lvl9pPr>
          </a:lstStyle>
          <a:p>
            <a:pPr>
              <a:defRPr sz="975" b="0">
                <a:solidFill>
                  <a:srgbClr val="000000"/>
                </a:solidFill>
                <a:latin typeface="Calibri"/>
                <a:ea typeface="Calibri"/>
                <a:cs typeface="Calibri"/>
              </a:defRPr>
            </a:pPr>
            <a:r>
              <a:rPr sz="975" b="0">
                <a:solidFill>
                  <a:srgbClr val="000000"/>
                </a:solidFill>
                <a:latin typeface="Calibri"/>
                <a:ea typeface="Calibri"/>
                <a:cs typeface="Calibri"/>
              </a:rPr>
              <a:t>Payload: 30.0 kg (10%)</a:t>
            </a:r>
          </a:p>
        </p:txBody>
      </p:sp>
      <p:sp>
        <p:nvSpPr>
          <p:cNvPr id="226" name="Rectangle 225">
            <a:extLst>
              <a:ext uri="{FF2B5EF4-FFF2-40B4-BE49-F238E27FC236}">
                <a16:creationId xmlns:a16="http://schemas.microsoft.com/office/drawing/2014/main" id="{21C0EF70-B7AD-5EA7-7286-D9744B182F2F}"/>
              </a:ext>
            </a:extLst>
          </p:cNvPr>
          <p:cNvSpPr>
            <a:spLocks noGrp="1"/>
          </p:cNvSpPr>
          <p:nvPr/>
        </p:nvSpPr>
        <p:spPr>
          <a:xfrm>
            <a:off x="8715375" y="3086100"/>
            <a:ext cx="142875" cy="171450"/>
          </a:xfrm>
          <a:prstGeom prst="rect">
            <a:avLst/>
          </a:prstGeom>
          <a:noFill/>
          <a:ln w="0">
            <a:noFill/>
            <a:prstDash val="solid"/>
          </a:ln>
        </p:spPr>
        <p:txBody>
          <a:bodyPr lIns="0" tIns="0" rIns="0" bIns="0"/>
          <a:lstStyle>
            <a:defPPr>
              <a:defRPr sz="900" b="0">
                <a:solidFill>
                  <a:srgbClr val="518BB7"/>
                </a:solidFill>
                <a:latin typeface="Calibri"/>
                <a:ea typeface="Calibri"/>
                <a:cs typeface="Calibri"/>
              </a:defRPr>
            </a:defPPr>
            <a:lvl1pPr>
              <a:defRPr sz="900" b="0">
                <a:solidFill>
                  <a:srgbClr val="518BB7"/>
                </a:solidFill>
                <a:latin typeface="Calibri"/>
                <a:ea typeface="Calibri"/>
                <a:cs typeface="Calibri"/>
              </a:defRPr>
            </a:lvl1pPr>
            <a:lvl2pPr>
              <a:defRPr sz="900" b="0">
                <a:solidFill>
                  <a:srgbClr val="518BB7"/>
                </a:solidFill>
                <a:latin typeface="Calibri"/>
                <a:ea typeface="Calibri"/>
                <a:cs typeface="Calibri"/>
              </a:defRPr>
            </a:lvl2pPr>
            <a:lvl3pPr>
              <a:defRPr sz="900" b="0">
                <a:solidFill>
                  <a:srgbClr val="518BB7"/>
                </a:solidFill>
                <a:latin typeface="Calibri"/>
                <a:ea typeface="Calibri"/>
                <a:cs typeface="Calibri"/>
              </a:defRPr>
            </a:lvl3pPr>
            <a:lvl4pPr>
              <a:defRPr sz="900" b="0">
                <a:solidFill>
                  <a:srgbClr val="518BB7"/>
                </a:solidFill>
                <a:latin typeface="Calibri"/>
                <a:ea typeface="Calibri"/>
                <a:cs typeface="Calibri"/>
              </a:defRPr>
            </a:lvl4pPr>
            <a:lvl5pPr>
              <a:defRPr sz="900" b="0">
                <a:solidFill>
                  <a:srgbClr val="518BB7"/>
                </a:solidFill>
                <a:latin typeface="Calibri"/>
                <a:ea typeface="Calibri"/>
                <a:cs typeface="Calibri"/>
              </a:defRPr>
            </a:lvl5pPr>
            <a:lvl6pPr>
              <a:defRPr sz="900" b="0">
                <a:solidFill>
                  <a:srgbClr val="518BB7"/>
                </a:solidFill>
                <a:latin typeface="Calibri"/>
                <a:ea typeface="Calibri"/>
                <a:cs typeface="Calibri"/>
              </a:defRPr>
            </a:lvl6pPr>
            <a:lvl7pPr>
              <a:defRPr sz="900" b="0">
                <a:solidFill>
                  <a:srgbClr val="518BB7"/>
                </a:solidFill>
                <a:latin typeface="Calibri"/>
                <a:ea typeface="Calibri"/>
                <a:cs typeface="Calibri"/>
              </a:defRPr>
            </a:lvl7pPr>
            <a:lvl8pPr>
              <a:defRPr sz="900" b="0">
                <a:solidFill>
                  <a:srgbClr val="518BB7"/>
                </a:solidFill>
                <a:latin typeface="Calibri"/>
                <a:ea typeface="Calibri"/>
                <a:cs typeface="Calibri"/>
              </a:defRPr>
            </a:lvl8pPr>
            <a:lvl9pPr>
              <a:defRPr sz="900" b="0">
                <a:solidFill>
                  <a:srgbClr val="518BB7"/>
                </a:solidFill>
                <a:latin typeface="Calibri"/>
                <a:ea typeface="Calibri"/>
                <a:cs typeface="Calibri"/>
              </a:defRPr>
            </a:lvl9pPr>
          </a:lstStyle>
          <a:p>
            <a:pPr>
              <a:defRPr sz="900" b="0">
                <a:solidFill>
                  <a:srgbClr val="518BB7"/>
                </a:solidFill>
                <a:latin typeface="Calibri"/>
                <a:ea typeface="Calibri"/>
                <a:cs typeface="Calibri"/>
              </a:defRPr>
            </a:pPr>
            <a:r>
              <a:rPr sz="900" b="0">
                <a:solidFill>
                  <a:srgbClr val="518BB7"/>
                </a:solidFill>
                <a:latin typeface="Calibri"/>
                <a:ea typeface="Calibri"/>
                <a:cs typeface="Calibri"/>
              </a:rPr>
              <a:t>■</a:t>
            </a:r>
          </a:p>
        </p:txBody>
      </p:sp>
      <p:sp>
        <p:nvSpPr>
          <p:cNvPr id="227" name="Rectangle 226">
            <a:extLst>
              <a:ext uri="{FF2B5EF4-FFF2-40B4-BE49-F238E27FC236}">
                <a16:creationId xmlns:a16="http://schemas.microsoft.com/office/drawing/2014/main" id="{9BD2EA65-F6EE-B27F-C867-2275E6AC67FD}"/>
              </a:ext>
            </a:extLst>
          </p:cNvPr>
          <p:cNvSpPr>
            <a:spLocks noGrp="1"/>
          </p:cNvSpPr>
          <p:nvPr/>
        </p:nvSpPr>
        <p:spPr>
          <a:xfrm>
            <a:off x="8867775" y="3086100"/>
            <a:ext cx="2905125" cy="200025"/>
          </a:xfrm>
          <a:prstGeom prst="rect">
            <a:avLst/>
          </a:prstGeom>
          <a:noFill/>
          <a:ln w="0">
            <a:noFill/>
            <a:prstDash val="solid"/>
          </a:ln>
        </p:spPr>
        <p:txBody>
          <a:bodyPr lIns="0" tIns="0" rIns="0" bIns="0"/>
          <a:lstStyle>
            <a:defPPr>
              <a:defRPr sz="975" b="0">
                <a:solidFill>
                  <a:srgbClr val="000000"/>
                </a:solidFill>
                <a:latin typeface="Calibri"/>
                <a:ea typeface="Calibri"/>
                <a:cs typeface="Calibri"/>
              </a:defRPr>
            </a:defPPr>
            <a:lvl1pPr>
              <a:defRPr sz="975" b="0">
                <a:solidFill>
                  <a:srgbClr val="000000"/>
                </a:solidFill>
                <a:latin typeface="Calibri"/>
                <a:ea typeface="Calibri"/>
                <a:cs typeface="Calibri"/>
              </a:defRPr>
            </a:lvl1pPr>
            <a:lvl2pPr>
              <a:defRPr sz="975" b="0">
                <a:solidFill>
                  <a:srgbClr val="000000"/>
                </a:solidFill>
                <a:latin typeface="Calibri"/>
                <a:ea typeface="Calibri"/>
                <a:cs typeface="Calibri"/>
              </a:defRPr>
            </a:lvl2pPr>
            <a:lvl3pPr>
              <a:defRPr sz="975" b="0">
                <a:solidFill>
                  <a:srgbClr val="000000"/>
                </a:solidFill>
                <a:latin typeface="Calibri"/>
                <a:ea typeface="Calibri"/>
                <a:cs typeface="Calibri"/>
              </a:defRPr>
            </a:lvl3pPr>
            <a:lvl4pPr>
              <a:defRPr sz="975" b="0">
                <a:solidFill>
                  <a:srgbClr val="000000"/>
                </a:solidFill>
                <a:latin typeface="Calibri"/>
                <a:ea typeface="Calibri"/>
                <a:cs typeface="Calibri"/>
              </a:defRPr>
            </a:lvl4pPr>
            <a:lvl5pPr>
              <a:defRPr sz="975" b="0">
                <a:solidFill>
                  <a:srgbClr val="000000"/>
                </a:solidFill>
                <a:latin typeface="Calibri"/>
                <a:ea typeface="Calibri"/>
                <a:cs typeface="Calibri"/>
              </a:defRPr>
            </a:lvl5pPr>
            <a:lvl6pPr>
              <a:defRPr sz="975" b="0">
                <a:solidFill>
                  <a:srgbClr val="000000"/>
                </a:solidFill>
                <a:latin typeface="Calibri"/>
                <a:ea typeface="Calibri"/>
                <a:cs typeface="Calibri"/>
              </a:defRPr>
            </a:lvl6pPr>
            <a:lvl7pPr>
              <a:defRPr sz="975" b="0">
                <a:solidFill>
                  <a:srgbClr val="000000"/>
                </a:solidFill>
                <a:latin typeface="Calibri"/>
                <a:ea typeface="Calibri"/>
                <a:cs typeface="Calibri"/>
              </a:defRPr>
            </a:lvl7pPr>
            <a:lvl8pPr>
              <a:defRPr sz="975" b="0">
                <a:solidFill>
                  <a:srgbClr val="000000"/>
                </a:solidFill>
                <a:latin typeface="Calibri"/>
                <a:ea typeface="Calibri"/>
                <a:cs typeface="Calibri"/>
              </a:defRPr>
            </a:lvl8pPr>
            <a:lvl9pPr>
              <a:defRPr sz="975" b="0">
                <a:solidFill>
                  <a:srgbClr val="000000"/>
                </a:solidFill>
                <a:latin typeface="Calibri"/>
                <a:ea typeface="Calibri"/>
                <a:cs typeface="Calibri"/>
              </a:defRPr>
            </a:lvl9pPr>
          </a:lstStyle>
          <a:p>
            <a:pPr>
              <a:defRPr sz="975" b="0">
                <a:solidFill>
                  <a:srgbClr val="000000"/>
                </a:solidFill>
                <a:latin typeface="Calibri"/>
                <a:ea typeface="Calibri"/>
                <a:cs typeface="Calibri"/>
              </a:defRPr>
            </a:pPr>
            <a:r>
              <a:rPr sz="975" b="0">
                <a:solidFill>
                  <a:srgbClr val="000000"/>
                </a:solidFill>
                <a:latin typeface="Calibri"/>
                <a:ea typeface="Calibri"/>
                <a:cs typeface="Calibri"/>
              </a:rPr>
              <a:t>Fuel: 38.8 kg (13%)</a:t>
            </a:r>
          </a:p>
        </p:txBody>
      </p:sp>
      <p:sp>
        <p:nvSpPr>
          <p:cNvPr id="228" name="Rectangle 227">
            <a:extLst>
              <a:ext uri="{FF2B5EF4-FFF2-40B4-BE49-F238E27FC236}">
                <a16:creationId xmlns:a16="http://schemas.microsoft.com/office/drawing/2014/main" id="{3C38A097-9F0E-E00C-8B3E-B4FE49A2DBF7}"/>
              </a:ext>
            </a:extLst>
          </p:cNvPr>
          <p:cNvSpPr>
            <a:spLocks noGrp="1"/>
          </p:cNvSpPr>
          <p:nvPr/>
        </p:nvSpPr>
        <p:spPr>
          <a:xfrm>
            <a:off x="8715375" y="3257550"/>
            <a:ext cx="142875" cy="171450"/>
          </a:xfrm>
          <a:prstGeom prst="rect">
            <a:avLst/>
          </a:prstGeom>
          <a:noFill/>
          <a:ln w="0">
            <a:noFill/>
            <a:prstDash val="solid"/>
          </a:ln>
        </p:spPr>
        <p:txBody>
          <a:bodyPr lIns="0" tIns="0" rIns="0" bIns="0"/>
          <a:lstStyle>
            <a:defPPr>
              <a:defRPr sz="900" b="0">
                <a:solidFill>
                  <a:srgbClr val="B2BAC1"/>
                </a:solidFill>
                <a:latin typeface="Calibri"/>
                <a:ea typeface="Calibri"/>
                <a:cs typeface="Calibri"/>
              </a:defRPr>
            </a:defPPr>
            <a:lvl1pPr>
              <a:defRPr sz="900" b="0">
                <a:solidFill>
                  <a:srgbClr val="B2BAC1"/>
                </a:solidFill>
                <a:latin typeface="Calibri"/>
                <a:ea typeface="Calibri"/>
                <a:cs typeface="Calibri"/>
              </a:defRPr>
            </a:lvl1pPr>
            <a:lvl2pPr>
              <a:defRPr sz="900" b="0">
                <a:solidFill>
                  <a:srgbClr val="B2BAC1"/>
                </a:solidFill>
                <a:latin typeface="Calibri"/>
                <a:ea typeface="Calibri"/>
                <a:cs typeface="Calibri"/>
              </a:defRPr>
            </a:lvl2pPr>
            <a:lvl3pPr>
              <a:defRPr sz="900" b="0">
                <a:solidFill>
                  <a:srgbClr val="B2BAC1"/>
                </a:solidFill>
                <a:latin typeface="Calibri"/>
                <a:ea typeface="Calibri"/>
                <a:cs typeface="Calibri"/>
              </a:defRPr>
            </a:lvl3pPr>
            <a:lvl4pPr>
              <a:defRPr sz="900" b="0">
                <a:solidFill>
                  <a:srgbClr val="B2BAC1"/>
                </a:solidFill>
                <a:latin typeface="Calibri"/>
                <a:ea typeface="Calibri"/>
                <a:cs typeface="Calibri"/>
              </a:defRPr>
            </a:lvl4pPr>
            <a:lvl5pPr>
              <a:defRPr sz="900" b="0">
                <a:solidFill>
                  <a:srgbClr val="B2BAC1"/>
                </a:solidFill>
                <a:latin typeface="Calibri"/>
                <a:ea typeface="Calibri"/>
                <a:cs typeface="Calibri"/>
              </a:defRPr>
            </a:lvl5pPr>
            <a:lvl6pPr>
              <a:defRPr sz="900" b="0">
                <a:solidFill>
                  <a:srgbClr val="B2BAC1"/>
                </a:solidFill>
                <a:latin typeface="Calibri"/>
                <a:ea typeface="Calibri"/>
                <a:cs typeface="Calibri"/>
              </a:defRPr>
            </a:lvl6pPr>
            <a:lvl7pPr>
              <a:defRPr sz="900" b="0">
                <a:solidFill>
                  <a:srgbClr val="B2BAC1"/>
                </a:solidFill>
                <a:latin typeface="Calibri"/>
                <a:ea typeface="Calibri"/>
                <a:cs typeface="Calibri"/>
              </a:defRPr>
            </a:lvl7pPr>
            <a:lvl8pPr>
              <a:defRPr sz="900" b="0">
                <a:solidFill>
                  <a:srgbClr val="B2BAC1"/>
                </a:solidFill>
                <a:latin typeface="Calibri"/>
                <a:ea typeface="Calibri"/>
                <a:cs typeface="Calibri"/>
              </a:defRPr>
            </a:lvl8pPr>
            <a:lvl9pPr>
              <a:defRPr sz="900" b="0">
                <a:solidFill>
                  <a:srgbClr val="B2BAC1"/>
                </a:solidFill>
                <a:latin typeface="Calibri"/>
                <a:ea typeface="Calibri"/>
                <a:cs typeface="Calibri"/>
              </a:defRPr>
            </a:lvl9pPr>
          </a:lstStyle>
          <a:p>
            <a:pPr>
              <a:defRPr sz="900" b="0">
                <a:solidFill>
                  <a:srgbClr val="B2BAC1"/>
                </a:solidFill>
                <a:latin typeface="Calibri"/>
                <a:ea typeface="Calibri"/>
                <a:cs typeface="Calibri"/>
              </a:defRPr>
            </a:pPr>
            <a:r>
              <a:rPr sz="900" b="0">
                <a:solidFill>
                  <a:srgbClr val="B2BAC1"/>
                </a:solidFill>
                <a:latin typeface="Calibri"/>
                <a:ea typeface="Calibri"/>
                <a:cs typeface="Calibri"/>
              </a:rPr>
              <a:t>■</a:t>
            </a:r>
          </a:p>
        </p:txBody>
      </p:sp>
      <p:sp>
        <p:nvSpPr>
          <p:cNvPr id="229" name="Rectangle 228">
            <a:extLst>
              <a:ext uri="{FF2B5EF4-FFF2-40B4-BE49-F238E27FC236}">
                <a16:creationId xmlns:a16="http://schemas.microsoft.com/office/drawing/2014/main" id="{5EB6AF71-CCB6-BAC7-9774-60192A87B49F}"/>
              </a:ext>
            </a:extLst>
          </p:cNvPr>
          <p:cNvSpPr>
            <a:spLocks noGrp="1"/>
          </p:cNvSpPr>
          <p:nvPr/>
        </p:nvSpPr>
        <p:spPr>
          <a:xfrm>
            <a:off x="8867775" y="3257550"/>
            <a:ext cx="2905125" cy="200025"/>
          </a:xfrm>
          <a:prstGeom prst="rect">
            <a:avLst/>
          </a:prstGeom>
          <a:noFill/>
          <a:ln w="0">
            <a:noFill/>
            <a:prstDash val="solid"/>
          </a:ln>
        </p:spPr>
        <p:txBody>
          <a:bodyPr lIns="0" tIns="0" rIns="0" bIns="0"/>
          <a:lstStyle>
            <a:defPPr>
              <a:defRPr sz="975" b="0">
                <a:solidFill>
                  <a:srgbClr val="000000"/>
                </a:solidFill>
                <a:latin typeface="Calibri"/>
                <a:ea typeface="Calibri"/>
                <a:cs typeface="Calibri"/>
              </a:defRPr>
            </a:defPPr>
            <a:lvl1pPr>
              <a:defRPr sz="975" b="0">
                <a:solidFill>
                  <a:srgbClr val="000000"/>
                </a:solidFill>
                <a:latin typeface="Calibri"/>
                <a:ea typeface="Calibri"/>
                <a:cs typeface="Calibri"/>
              </a:defRPr>
            </a:lvl1pPr>
            <a:lvl2pPr>
              <a:defRPr sz="975" b="0">
                <a:solidFill>
                  <a:srgbClr val="000000"/>
                </a:solidFill>
                <a:latin typeface="Calibri"/>
                <a:ea typeface="Calibri"/>
                <a:cs typeface="Calibri"/>
              </a:defRPr>
            </a:lvl2pPr>
            <a:lvl3pPr>
              <a:defRPr sz="975" b="0">
                <a:solidFill>
                  <a:srgbClr val="000000"/>
                </a:solidFill>
                <a:latin typeface="Calibri"/>
                <a:ea typeface="Calibri"/>
                <a:cs typeface="Calibri"/>
              </a:defRPr>
            </a:lvl3pPr>
            <a:lvl4pPr>
              <a:defRPr sz="975" b="0">
                <a:solidFill>
                  <a:srgbClr val="000000"/>
                </a:solidFill>
                <a:latin typeface="Calibri"/>
                <a:ea typeface="Calibri"/>
                <a:cs typeface="Calibri"/>
              </a:defRPr>
            </a:lvl4pPr>
            <a:lvl5pPr>
              <a:defRPr sz="975" b="0">
                <a:solidFill>
                  <a:srgbClr val="000000"/>
                </a:solidFill>
                <a:latin typeface="Calibri"/>
                <a:ea typeface="Calibri"/>
                <a:cs typeface="Calibri"/>
              </a:defRPr>
            </a:lvl5pPr>
            <a:lvl6pPr>
              <a:defRPr sz="975" b="0">
                <a:solidFill>
                  <a:srgbClr val="000000"/>
                </a:solidFill>
                <a:latin typeface="Calibri"/>
                <a:ea typeface="Calibri"/>
                <a:cs typeface="Calibri"/>
              </a:defRPr>
            </a:lvl6pPr>
            <a:lvl7pPr>
              <a:defRPr sz="975" b="0">
                <a:solidFill>
                  <a:srgbClr val="000000"/>
                </a:solidFill>
                <a:latin typeface="Calibri"/>
                <a:ea typeface="Calibri"/>
                <a:cs typeface="Calibri"/>
              </a:defRPr>
            </a:lvl7pPr>
            <a:lvl8pPr>
              <a:defRPr sz="975" b="0">
                <a:solidFill>
                  <a:srgbClr val="000000"/>
                </a:solidFill>
                <a:latin typeface="Calibri"/>
                <a:ea typeface="Calibri"/>
                <a:cs typeface="Calibri"/>
              </a:defRPr>
            </a:lvl8pPr>
            <a:lvl9pPr>
              <a:defRPr sz="975" b="0">
                <a:solidFill>
                  <a:srgbClr val="000000"/>
                </a:solidFill>
                <a:latin typeface="Calibri"/>
                <a:ea typeface="Calibri"/>
                <a:cs typeface="Calibri"/>
              </a:defRPr>
            </a:lvl9pPr>
          </a:lstStyle>
          <a:p>
            <a:pPr>
              <a:defRPr sz="975" b="0">
                <a:solidFill>
                  <a:srgbClr val="000000"/>
                </a:solidFill>
                <a:latin typeface="Calibri"/>
                <a:ea typeface="Calibri"/>
                <a:cs typeface="Calibri"/>
              </a:defRPr>
            </a:pPr>
            <a:r>
              <a:rPr sz="975" b="0">
                <a:solidFill>
                  <a:srgbClr val="000000"/>
                </a:solidFill>
                <a:latin typeface="Calibri"/>
                <a:ea typeface="Calibri"/>
                <a:cs typeface="Calibri"/>
              </a:rPr>
              <a:t>Others: 45.3 kg (15%)</a:t>
            </a:r>
          </a:p>
        </p:txBody>
      </p:sp>
      <p:sp>
        <p:nvSpPr>
          <p:cNvPr id="230" name="Rectangle 229">
            <a:extLst>
              <a:ext uri="{FF2B5EF4-FFF2-40B4-BE49-F238E27FC236}">
                <a16:creationId xmlns:a16="http://schemas.microsoft.com/office/drawing/2014/main" id="{67C2E124-BFFD-2CE2-58AC-F26C6F009201}"/>
              </a:ext>
            </a:extLst>
          </p:cNvPr>
          <p:cNvSpPr>
            <a:spLocks noGrp="1"/>
          </p:cNvSpPr>
          <p:nvPr/>
        </p:nvSpPr>
        <p:spPr>
          <a:xfrm>
            <a:off x="3429000" y="3762375"/>
            <a:ext cx="4000500" cy="285750"/>
          </a:xfrm>
          <a:prstGeom prst="rect">
            <a:avLst/>
          </a:prstGeom>
          <a:noFill/>
          <a:ln w="0">
            <a:noFill/>
            <a:prstDash val="solid"/>
          </a:ln>
        </p:spPr>
        <p:txBody>
          <a:bodyPr lIns="0" tIns="0" rIns="0" bIns="0"/>
          <a:lstStyle>
            <a:defPPr>
              <a:defRPr sz="1575" b="1">
                <a:solidFill>
                  <a:srgbClr val="000000"/>
                </a:solidFill>
                <a:latin typeface="Calibri"/>
                <a:ea typeface="Calibri"/>
                <a:cs typeface="Calibri"/>
              </a:defRPr>
            </a:defPPr>
            <a:lvl1pPr>
              <a:defRPr sz="1575" b="1">
                <a:solidFill>
                  <a:srgbClr val="000000"/>
                </a:solidFill>
                <a:latin typeface="Calibri"/>
                <a:ea typeface="Calibri"/>
                <a:cs typeface="Calibri"/>
              </a:defRPr>
            </a:lvl1pPr>
            <a:lvl2pPr>
              <a:defRPr sz="1575" b="1">
                <a:solidFill>
                  <a:srgbClr val="000000"/>
                </a:solidFill>
                <a:latin typeface="Calibri"/>
                <a:ea typeface="Calibri"/>
                <a:cs typeface="Calibri"/>
              </a:defRPr>
            </a:lvl2pPr>
            <a:lvl3pPr>
              <a:defRPr sz="1575" b="1">
                <a:solidFill>
                  <a:srgbClr val="000000"/>
                </a:solidFill>
                <a:latin typeface="Calibri"/>
                <a:ea typeface="Calibri"/>
                <a:cs typeface="Calibri"/>
              </a:defRPr>
            </a:lvl3pPr>
            <a:lvl4pPr>
              <a:defRPr sz="1575" b="1">
                <a:solidFill>
                  <a:srgbClr val="000000"/>
                </a:solidFill>
                <a:latin typeface="Calibri"/>
                <a:ea typeface="Calibri"/>
                <a:cs typeface="Calibri"/>
              </a:defRPr>
            </a:lvl4pPr>
            <a:lvl5pPr>
              <a:defRPr sz="1575" b="1">
                <a:solidFill>
                  <a:srgbClr val="000000"/>
                </a:solidFill>
                <a:latin typeface="Calibri"/>
                <a:ea typeface="Calibri"/>
                <a:cs typeface="Calibri"/>
              </a:defRPr>
            </a:lvl5pPr>
            <a:lvl6pPr>
              <a:defRPr sz="1575" b="1">
                <a:solidFill>
                  <a:srgbClr val="000000"/>
                </a:solidFill>
                <a:latin typeface="Calibri"/>
                <a:ea typeface="Calibri"/>
                <a:cs typeface="Calibri"/>
              </a:defRPr>
            </a:lvl6pPr>
            <a:lvl7pPr>
              <a:defRPr sz="1575" b="1">
                <a:solidFill>
                  <a:srgbClr val="000000"/>
                </a:solidFill>
                <a:latin typeface="Calibri"/>
                <a:ea typeface="Calibri"/>
                <a:cs typeface="Calibri"/>
              </a:defRPr>
            </a:lvl7pPr>
            <a:lvl8pPr>
              <a:defRPr sz="1575" b="1">
                <a:solidFill>
                  <a:srgbClr val="000000"/>
                </a:solidFill>
                <a:latin typeface="Calibri"/>
                <a:ea typeface="Calibri"/>
                <a:cs typeface="Calibri"/>
              </a:defRPr>
            </a:lvl8pPr>
            <a:lvl9pPr>
              <a:defRPr sz="1575" b="1">
                <a:solidFill>
                  <a:srgbClr val="000000"/>
                </a:solidFill>
                <a:latin typeface="Calibri"/>
                <a:ea typeface="Calibri"/>
                <a:cs typeface="Calibri"/>
              </a:defRPr>
            </a:lvl9pPr>
          </a:lstStyle>
          <a:p>
            <a:pPr>
              <a:defRPr sz="1575" b="1">
                <a:solidFill>
                  <a:srgbClr val="000000"/>
                </a:solidFill>
                <a:latin typeface="Calibri"/>
                <a:ea typeface="Calibri"/>
                <a:cs typeface="Calibri"/>
              </a:defRPr>
            </a:pPr>
            <a:r>
              <a:rPr sz="1575" b="1">
                <a:solidFill>
                  <a:srgbClr val="000000"/>
                </a:solidFill>
                <a:latin typeface="Calibri"/>
                <a:ea typeface="Calibri"/>
                <a:cs typeface="Calibri"/>
              </a:rPr>
              <a:t>L+C clean sheet: 381.7 kg</a:t>
            </a:r>
          </a:p>
        </p:txBody>
      </p:sp>
      <p:graphicFrame>
        <p:nvGraphicFramePr>
          <p:cNvPr id="231" name="Chart">
            <a:extLst>
              <a:ext uri="{FF2B5EF4-FFF2-40B4-BE49-F238E27FC236}">
                <a16:creationId xmlns:a16="http://schemas.microsoft.com/office/drawing/2014/main" id="{BD522C0F-0F35-24AD-E3ED-F9101408B65A}"/>
              </a:ext>
            </a:extLst>
          </p:cNvPr>
          <p:cNvGraphicFramePr/>
          <p:nvPr/>
        </p:nvGraphicFramePr>
        <p:xfrm>
          <a:off x="3429000" y="4124325"/>
          <a:ext cx="1000125" cy="1000125"/>
        </p:xfrm>
        <a:graphic>
          <a:graphicData uri="http://schemas.openxmlformats.org/drawingml/2006/chart">
            <c:chart xmlns:c="http://schemas.openxmlformats.org/drawingml/2006/chart" xmlns:r="http://schemas.openxmlformats.org/officeDocument/2006/relationships" r:id="rId7"/>
          </a:graphicData>
        </a:graphic>
      </p:graphicFrame>
      <p:sp>
        <p:nvSpPr>
          <p:cNvPr id="232" name="Rectangle 231">
            <a:extLst>
              <a:ext uri="{FF2B5EF4-FFF2-40B4-BE49-F238E27FC236}">
                <a16:creationId xmlns:a16="http://schemas.microsoft.com/office/drawing/2014/main" id="{671EE610-9B41-6319-3A28-339B00921307}"/>
              </a:ext>
            </a:extLst>
          </p:cNvPr>
          <p:cNvSpPr>
            <a:spLocks noGrp="1"/>
          </p:cNvSpPr>
          <p:nvPr/>
        </p:nvSpPr>
        <p:spPr>
          <a:xfrm>
            <a:off x="4476750" y="4086225"/>
            <a:ext cx="142875" cy="171450"/>
          </a:xfrm>
          <a:prstGeom prst="rect">
            <a:avLst/>
          </a:prstGeom>
          <a:noFill/>
          <a:ln w="0">
            <a:noFill/>
            <a:prstDash val="solid"/>
          </a:ln>
        </p:spPr>
        <p:txBody>
          <a:bodyPr lIns="0" tIns="0" rIns="0" bIns="0"/>
          <a:lstStyle>
            <a:defPPr>
              <a:defRPr sz="900" b="0">
                <a:solidFill>
                  <a:srgbClr val="315773"/>
                </a:solidFill>
                <a:latin typeface="Calibri"/>
                <a:ea typeface="Calibri"/>
                <a:cs typeface="Calibri"/>
              </a:defRPr>
            </a:defPPr>
            <a:lvl1pPr>
              <a:defRPr sz="900" b="0">
                <a:solidFill>
                  <a:srgbClr val="315773"/>
                </a:solidFill>
                <a:latin typeface="Calibri"/>
                <a:ea typeface="Calibri"/>
                <a:cs typeface="Calibri"/>
              </a:defRPr>
            </a:lvl1pPr>
            <a:lvl2pPr>
              <a:defRPr sz="900" b="0">
                <a:solidFill>
                  <a:srgbClr val="315773"/>
                </a:solidFill>
                <a:latin typeface="Calibri"/>
                <a:ea typeface="Calibri"/>
                <a:cs typeface="Calibri"/>
              </a:defRPr>
            </a:lvl2pPr>
            <a:lvl3pPr>
              <a:defRPr sz="900" b="0">
                <a:solidFill>
                  <a:srgbClr val="315773"/>
                </a:solidFill>
                <a:latin typeface="Calibri"/>
                <a:ea typeface="Calibri"/>
                <a:cs typeface="Calibri"/>
              </a:defRPr>
            </a:lvl3pPr>
            <a:lvl4pPr>
              <a:defRPr sz="900" b="0">
                <a:solidFill>
                  <a:srgbClr val="315773"/>
                </a:solidFill>
                <a:latin typeface="Calibri"/>
                <a:ea typeface="Calibri"/>
                <a:cs typeface="Calibri"/>
              </a:defRPr>
            </a:lvl4pPr>
            <a:lvl5pPr>
              <a:defRPr sz="900" b="0">
                <a:solidFill>
                  <a:srgbClr val="315773"/>
                </a:solidFill>
                <a:latin typeface="Calibri"/>
                <a:ea typeface="Calibri"/>
                <a:cs typeface="Calibri"/>
              </a:defRPr>
            </a:lvl5pPr>
            <a:lvl6pPr>
              <a:defRPr sz="900" b="0">
                <a:solidFill>
                  <a:srgbClr val="315773"/>
                </a:solidFill>
                <a:latin typeface="Calibri"/>
                <a:ea typeface="Calibri"/>
                <a:cs typeface="Calibri"/>
              </a:defRPr>
            </a:lvl6pPr>
            <a:lvl7pPr>
              <a:defRPr sz="900" b="0">
                <a:solidFill>
                  <a:srgbClr val="315773"/>
                </a:solidFill>
                <a:latin typeface="Calibri"/>
                <a:ea typeface="Calibri"/>
                <a:cs typeface="Calibri"/>
              </a:defRPr>
            </a:lvl7pPr>
            <a:lvl8pPr>
              <a:defRPr sz="900" b="0">
                <a:solidFill>
                  <a:srgbClr val="315773"/>
                </a:solidFill>
                <a:latin typeface="Calibri"/>
                <a:ea typeface="Calibri"/>
                <a:cs typeface="Calibri"/>
              </a:defRPr>
            </a:lvl8pPr>
            <a:lvl9pPr>
              <a:defRPr sz="900" b="0">
                <a:solidFill>
                  <a:srgbClr val="315773"/>
                </a:solidFill>
                <a:latin typeface="Calibri"/>
                <a:ea typeface="Calibri"/>
                <a:cs typeface="Calibri"/>
              </a:defRPr>
            </a:lvl9pPr>
          </a:lstStyle>
          <a:p>
            <a:pPr>
              <a:defRPr sz="900" b="0">
                <a:solidFill>
                  <a:srgbClr val="315773"/>
                </a:solidFill>
                <a:latin typeface="Calibri"/>
                <a:ea typeface="Calibri"/>
                <a:cs typeface="Calibri"/>
              </a:defRPr>
            </a:pPr>
            <a:r>
              <a:rPr sz="900" b="0">
                <a:solidFill>
                  <a:srgbClr val="315773"/>
                </a:solidFill>
                <a:latin typeface="Calibri"/>
                <a:ea typeface="Calibri"/>
                <a:cs typeface="Calibri"/>
              </a:rPr>
              <a:t>■</a:t>
            </a:r>
          </a:p>
        </p:txBody>
      </p:sp>
      <p:sp>
        <p:nvSpPr>
          <p:cNvPr id="233" name="Rectangle 232">
            <a:extLst>
              <a:ext uri="{FF2B5EF4-FFF2-40B4-BE49-F238E27FC236}">
                <a16:creationId xmlns:a16="http://schemas.microsoft.com/office/drawing/2014/main" id="{E2CAB7B3-5724-C7D1-0CF2-9944C6A197B8}"/>
              </a:ext>
            </a:extLst>
          </p:cNvPr>
          <p:cNvSpPr>
            <a:spLocks noGrp="1"/>
          </p:cNvSpPr>
          <p:nvPr/>
        </p:nvSpPr>
        <p:spPr>
          <a:xfrm>
            <a:off x="4629150" y="4086225"/>
            <a:ext cx="2905125" cy="200025"/>
          </a:xfrm>
          <a:prstGeom prst="rect">
            <a:avLst/>
          </a:prstGeom>
          <a:noFill/>
          <a:ln w="0">
            <a:noFill/>
            <a:prstDash val="solid"/>
          </a:ln>
        </p:spPr>
        <p:txBody>
          <a:bodyPr lIns="0" tIns="0" rIns="0" bIns="0"/>
          <a:lstStyle>
            <a:defPPr>
              <a:defRPr sz="975" b="0">
                <a:solidFill>
                  <a:srgbClr val="000000"/>
                </a:solidFill>
                <a:latin typeface="Calibri"/>
                <a:ea typeface="Calibri"/>
                <a:cs typeface="Calibri"/>
              </a:defRPr>
            </a:defPPr>
            <a:lvl1pPr>
              <a:defRPr sz="975" b="0">
                <a:solidFill>
                  <a:srgbClr val="000000"/>
                </a:solidFill>
                <a:latin typeface="Calibri"/>
                <a:ea typeface="Calibri"/>
                <a:cs typeface="Calibri"/>
              </a:defRPr>
            </a:lvl1pPr>
            <a:lvl2pPr>
              <a:defRPr sz="975" b="0">
                <a:solidFill>
                  <a:srgbClr val="000000"/>
                </a:solidFill>
                <a:latin typeface="Calibri"/>
                <a:ea typeface="Calibri"/>
                <a:cs typeface="Calibri"/>
              </a:defRPr>
            </a:lvl2pPr>
            <a:lvl3pPr>
              <a:defRPr sz="975" b="0">
                <a:solidFill>
                  <a:srgbClr val="000000"/>
                </a:solidFill>
                <a:latin typeface="Calibri"/>
                <a:ea typeface="Calibri"/>
                <a:cs typeface="Calibri"/>
              </a:defRPr>
            </a:lvl3pPr>
            <a:lvl4pPr>
              <a:defRPr sz="975" b="0">
                <a:solidFill>
                  <a:srgbClr val="000000"/>
                </a:solidFill>
                <a:latin typeface="Calibri"/>
                <a:ea typeface="Calibri"/>
                <a:cs typeface="Calibri"/>
              </a:defRPr>
            </a:lvl4pPr>
            <a:lvl5pPr>
              <a:defRPr sz="975" b="0">
                <a:solidFill>
                  <a:srgbClr val="000000"/>
                </a:solidFill>
                <a:latin typeface="Calibri"/>
                <a:ea typeface="Calibri"/>
                <a:cs typeface="Calibri"/>
              </a:defRPr>
            </a:lvl5pPr>
            <a:lvl6pPr>
              <a:defRPr sz="975" b="0">
                <a:solidFill>
                  <a:srgbClr val="000000"/>
                </a:solidFill>
                <a:latin typeface="Calibri"/>
                <a:ea typeface="Calibri"/>
                <a:cs typeface="Calibri"/>
              </a:defRPr>
            </a:lvl6pPr>
            <a:lvl7pPr>
              <a:defRPr sz="975" b="0">
                <a:solidFill>
                  <a:srgbClr val="000000"/>
                </a:solidFill>
                <a:latin typeface="Calibri"/>
                <a:ea typeface="Calibri"/>
                <a:cs typeface="Calibri"/>
              </a:defRPr>
            </a:lvl7pPr>
            <a:lvl8pPr>
              <a:defRPr sz="975" b="0">
                <a:solidFill>
                  <a:srgbClr val="000000"/>
                </a:solidFill>
                <a:latin typeface="Calibri"/>
                <a:ea typeface="Calibri"/>
                <a:cs typeface="Calibri"/>
              </a:defRPr>
            </a:lvl8pPr>
            <a:lvl9pPr>
              <a:defRPr sz="975" b="0">
                <a:solidFill>
                  <a:srgbClr val="000000"/>
                </a:solidFill>
                <a:latin typeface="Calibri"/>
                <a:ea typeface="Calibri"/>
                <a:cs typeface="Calibri"/>
              </a:defRPr>
            </a:lvl9pPr>
          </a:lstStyle>
          <a:p>
            <a:pPr>
              <a:defRPr sz="975" b="0">
                <a:solidFill>
                  <a:srgbClr val="000000"/>
                </a:solidFill>
                <a:latin typeface="Calibri"/>
                <a:ea typeface="Calibri"/>
                <a:cs typeface="Calibri"/>
              </a:defRPr>
            </a:pPr>
            <a:r>
              <a:rPr sz="975" b="0">
                <a:solidFill>
                  <a:srgbClr val="000000"/>
                </a:solidFill>
                <a:latin typeface="Calibri"/>
                <a:ea typeface="Calibri"/>
                <a:cs typeface="Calibri"/>
              </a:rPr>
              <a:t>Airframe structure: 93.7 kg (25%)</a:t>
            </a:r>
          </a:p>
        </p:txBody>
      </p:sp>
      <p:sp>
        <p:nvSpPr>
          <p:cNvPr id="234" name="Rectangle 233">
            <a:extLst>
              <a:ext uri="{FF2B5EF4-FFF2-40B4-BE49-F238E27FC236}">
                <a16:creationId xmlns:a16="http://schemas.microsoft.com/office/drawing/2014/main" id="{8B62931D-F69D-05E0-30FA-A7DB8C3478D4}"/>
              </a:ext>
            </a:extLst>
          </p:cNvPr>
          <p:cNvSpPr>
            <a:spLocks noGrp="1"/>
          </p:cNvSpPr>
          <p:nvPr/>
        </p:nvSpPr>
        <p:spPr>
          <a:xfrm>
            <a:off x="4476750" y="4257675"/>
            <a:ext cx="142875" cy="171450"/>
          </a:xfrm>
          <a:prstGeom prst="rect">
            <a:avLst/>
          </a:prstGeom>
          <a:noFill/>
          <a:ln w="0">
            <a:noFill/>
            <a:prstDash val="solid"/>
          </a:ln>
        </p:spPr>
        <p:txBody>
          <a:bodyPr lIns="0" tIns="0" rIns="0" bIns="0"/>
          <a:lstStyle>
            <a:defPPr>
              <a:defRPr sz="900" b="0">
                <a:solidFill>
                  <a:srgbClr val="8062A5"/>
                </a:solidFill>
                <a:latin typeface="Calibri"/>
                <a:ea typeface="Calibri"/>
                <a:cs typeface="Calibri"/>
              </a:defRPr>
            </a:defPPr>
            <a:lvl1pPr>
              <a:defRPr sz="900" b="0">
                <a:solidFill>
                  <a:srgbClr val="8062A5"/>
                </a:solidFill>
                <a:latin typeface="Calibri"/>
                <a:ea typeface="Calibri"/>
                <a:cs typeface="Calibri"/>
              </a:defRPr>
            </a:lvl1pPr>
            <a:lvl2pPr>
              <a:defRPr sz="900" b="0">
                <a:solidFill>
                  <a:srgbClr val="8062A5"/>
                </a:solidFill>
                <a:latin typeface="Calibri"/>
                <a:ea typeface="Calibri"/>
                <a:cs typeface="Calibri"/>
              </a:defRPr>
            </a:lvl2pPr>
            <a:lvl3pPr>
              <a:defRPr sz="900" b="0">
                <a:solidFill>
                  <a:srgbClr val="8062A5"/>
                </a:solidFill>
                <a:latin typeface="Calibri"/>
                <a:ea typeface="Calibri"/>
                <a:cs typeface="Calibri"/>
              </a:defRPr>
            </a:lvl3pPr>
            <a:lvl4pPr>
              <a:defRPr sz="900" b="0">
                <a:solidFill>
                  <a:srgbClr val="8062A5"/>
                </a:solidFill>
                <a:latin typeface="Calibri"/>
                <a:ea typeface="Calibri"/>
                <a:cs typeface="Calibri"/>
              </a:defRPr>
            </a:lvl4pPr>
            <a:lvl5pPr>
              <a:defRPr sz="900" b="0">
                <a:solidFill>
                  <a:srgbClr val="8062A5"/>
                </a:solidFill>
                <a:latin typeface="Calibri"/>
                <a:ea typeface="Calibri"/>
                <a:cs typeface="Calibri"/>
              </a:defRPr>
            </a:lvl5pPr>
            <a:lvl6pPr>
              <a:defRPr sz="900" b="0">
                <a:solidFill>
                  <a:srgbClr val="8062A5"/>
                </a:solidFill>
                <a:latin typeface="Calibri"/>
                <a:ea typeface="Calibri"/>
                <a:cs typeface="Calibri"/>
              </a:defRPr>
            </a:lvl6pPr>
            <a:lvl7pPr>
              <a:defRPr sz="900" b="0">
                <a:solidFill>
                  <a:srgbClr val="8062A5"/>
                </a:solidFill>
                <a:latin typeface="Calibri"/>
                <a:ea typeface="Calibri"/>
                <a:cs typeface="Calibri"/>
              </a:defRPr>
            </a:lvl7pPr>
            <a:lvl8pPr>
              <a:defRPr sz="900" b="0">
                <a:solidFill>
                  <a:srgbClr val="8062A5"/>
                </a:solidFill>
                <a:latin typeface="Calibri"/>
                <a:ea typeface="Calibri"/>
                <a:cs typeface="Calibri"/>
              </a:defRPr>
            </a:lvl8pPr>
            <a:lvl9pPr>
              <a:defRPr sz="900" b="0">
                <a:solidFill>
                  <a:srgbClr val="8062A5"/>
                </a:solidFill>
                <a:latin typeface="Calibri"/>
                <a:ea typeface="Calibri"/>
                <a:cs typeface="Calibri"/>
              </a:defRPr>
            </a:lvl9pPr>
          </a:lstStyle>
          <a:p>
            <a:pPr>
              <a:defRPr sz="900" b="0">
                <a:solidFill>
                  <a:srgbClr val="8062A5"/>
                </a:solidFill>
                <a:latin typeface="Calibri"/>
                <a:ea typeface="Calibri"/>
                <a:cs typeface="Calibri"/>
              </a:defRPr>
            </a:pPr>
            <a:r>
              <a:rPr sz="900" b="0">
                <a:solidFill>
                  <a:srgbClr val="8062A5"/>
                </a:solidFill>
                <a:latin typeface="Calibri"/>
                <a:ea typeface="Calibri"/>
                <a:cs typeface="Calibri"/>
              </a:rPr>
              <a:t>■</a:t>
            </a:r>
          </a:p>
        </p:txBody>
      </p:sp>
      <p:sp>
        <p:nvSpPr>
          <p:cNvPr id="235" name="Rectangle 234">
            <a:extLst>
              <a:ext uri="{FF2B5EF4-FFF2-40B4-BE49-F238E27FC236}">
                <a16:creationId xmlns:a16="http://schemas.microsoft.com/office/drawing/2014/main" id="{0D9AD077-1861-ACE4-F92F-2CE51F103152}"/>
              </a:ext>
            </a:extLst>
          </p:cNvPr>
          <p:cNvSpPr>
            <a:spLocks noGrp="1"/>
          </p:cNvSpPr>
          <p:nvPr/>
        </p:nvSpPr>
        <p:spPr>
          <a:xfrm>
            <a:off x="4629150" y="4257675"/>
            <a:ext cx="2905125" cy="200025"/>
          </a:xfrm>
          <a:prstGeom prst="rect">
            <a:avLst/>
          </a:prstGeom>
          <a:noFill/>
          <a:ln w="0">
            <a:noFill/>
            <a:prstDash val="solid"/>
          </a:ln>
        </p:spPr>
        <p:txBody>
          <a:bodyPr lIns="0" tIns="0" rIns="0" bIns="0"/>
          <a:lstStyle>
            <a:defPPr>
              <a:defRPr sz="975" b="0">
                <a:solidFill>
                  <a:srgbClr val="000000"/>
                </a:solidFill>
                <a:latin typeface="Calibri"/>
                <a:ea typeface="Calibri"/>
                <a:cs typeface="Calibri"/>
              </a:defRPr>
            </a:defPPr>
            <a:lvl1pPr>
              <a:defRPr sz="975" b="0">
                <a:solidFill>
                  <a:srgbClr val="000000"/>
                </a:solidFill>
                <a:latin typeface="Calibri"/>
                <a:ea typeface="Calibri"/>
                <a:cs typeface="Calibri"/>
              </a:defRPr>
            </a:lvl1pPr>
            <a:lvl2pPr>
              <a:defRPr sz="975" b="0">
                <a:solidFill>
                  <a:srgbClr val="000000"/>
                </a:solidFill>
                <a:latin typeface="Calibri"/>
                <a:ea typeface="Calibri"/>
                <a:cs typeface="Calibri"/>
              </a:defRPr>
            </a:lvl2pPr>
            <a:lvl3pPr>
              <a:defRPr sz="975" b="0">
                <a:solidFill>
                  <a:srgbClr val="000000"/>
                </a:solidFill>
                <a:latin typeface="Calibri"/>
                <a:ea typeface="Calibri"/>
                <a:cs typeface="Calibri"/>
              </a:defRPr>
            </a:lvl3pPr>
            <a:lvl4pPr>
              <a:defRPr sz="975" b="0">
                <a:solidFill>
                  <a:srgbClr val="000000"/>
                </a:solidFill>
                <a:latin typeface="Calibri"/>
                <a:ea typeface="Calibri"/>
                <a:cs typeface="Calibri"/>
              </a:defRPr>
            </a:lvl4pPr>
            <a:lvl5pPr>
              <a:defRPr sz="975" b="0">
                <a:solidFill>
                  <a:srgbClr val="000000"/>
                </a:solidFill>
                <a:latin typeface="Calibri"/>
                <a:ea typeface="Calibri"/>
                <a:cs typeface="Calibri"/>
              </a:defRPr>
            </a:lvl5pPr>
            <a:lvl6pPr>
              <a:defRPr sz="975" b="0">
                <a:solidFill>
                  <a:srgbClr val="000000"/>
                </a:solidFill>
                <a:latin typeface="Calibri"/>
                <a:ea typeface="Calibri"/>
                <a:cs typeface="Calibri"/>
              </a:defRPr>
            </a:lvl6pPr>
            <a:lvl7pPr>
              <a:defRPr sz="975" b="0">
                <a:solidFill>
                  <a:srgbClr val="000000"/>
                </a:solidFill>
                <a:latin typeface="Calibri"/>
                <a:ea typeface="Calibri"/>
                <a:cs typeface="Calibri"/>
              </a:defRPr>
            </a:lvl7pPr>
            <a:lvl8pPr>
              <a:defRPr sz="975" b="0">
                <a:solidFill>
                  <a:srgbClr val="000000"/>
                </a:solidFill>
                <a:latin typeface="Calibri"/>
                <a:ea typeface="Calibri"/>
                <a:cs typeface="Calibri"/>
              </a:defRPr>
            </a:lvl8pPr>
            <a:lvl9pPr>
              <a:defRPr sz="975" b="0">
                <a:solidFill>
                  <a:srgbClr val="000000"/>
                </a:solidFill>
                <a:latin typeface="Calibri"/>
                <a:ea typeface="Calibri"/>
                <a:cs typeface="Calibri"/>
              </a:defRPr>
            </a:lvl9pPr>
          </a:lstStyle>
          <a:p>
            <a:pPr>
              <a:defRPr sz="975" b="0">
                <a:solidFill>
                  <a:srgbClr val="000000"/>
                </a:solidFill>
                <a:latin typeface="Calibri"/>
                <a:ea typeface="Calibri"/>
                <a:cs typeface="Calibri"/>
              </a:defRPr>
            </a:pPr>
            <a:r>
              <a:rPr sz="975" b="0">
                <a:solidFill>
                  <a:srgbClr val="000000"/>
                </a:solidFill>
                <a:latin typeface="Calibri"/>
                <a:ea typeface="Calibri"/>
                <a:cs typeface="Calibri"/>
              </a:rPr>
              <a:t>Landing gear: 9.5 kg (3%)</a:t>
            </a:r>
          </a:p>
        </p:txBody>
      </p:sp>
      <p:sp>
        <p:nvSpPr>
          <p:cNvPr id="236" name="Rectangle 235">
            <a:extLst>
              <a:ext uri="{FF2B5EF4-FFF2-40B4-BE49-F238E27FC236}">
                <a16:creationId xmlns:a16="http://schemas.microsoft.com/office/drawing/2014/main" id="{50CAE31C-EEC0-017F-CB86-E2EF71580E0F}"/>
              </a:ext>
            </a:extLst>
          </p:cNvPr>
          <p:cNvSpPr>
            <a:spLocks noGrp="1"/>
          </p:cNvSpPr>
          <p:nvPr/>
        </p:nvSpPr>
        <p:spPr>
          <a:xfrm>
            <a:off x="4476750" y="4429125"/>
            <a:ext cx="142875" cy="171450"/>
          </a:xfrm>
          <a:prstGeom prst="rect">
            <a:avLst/>
          </a:prstGeom>
          <a:noFill/>
          <a:ln w="0">
            <a:noFill/>
            <a:prstDash val="solid"/>
          </a:ln>
        </p:spPr>
        <p:txBody>
          <a:bodyPr lIns="0" tIns="0" rIns="0" bIns="0"/>
          <a:lstStyle>
            <a:defPPr>
              <a:defRPr sz="900" b="0">
                <a:solidFill>
                  <a:srgbClr val="168F86"/>
                </a:solidFill>
                <a:latin typeface="Calibri"/>
                <a:ea typeface="Calibri"/>
                <a:cs typeface="Calibri"/>
              </a:defRPr>
            </a:defPPr>
            <a:lvl1pPr>
              <a:defRPr sz="900" b="0">
                <a:solidFill>
                  <a:srgbClr val="168F86"/>
                </a:solidFill>
                <a:latin typeface="Calibri"/>
                <a:ea typeface="Calibri"/>
                <a:cs typeface="Calibri"/>
              </a:defRPr>
            </a:lvl1pPr>
            <a:lvl2pPr>
              <a:defRPr sz="900" b="0">
                <a:solidFill>
                  <a:srgbClr val="168F86"/>
                </a:solidFill>
                <a:latin typeface="Calibri"/>
                <a:ea typeface="Calibri"/>
                <a:cs typeface="Calibri"/>
              </a:defRPr>
            </a:lvl2pPr>
            <a:lvl3pPr>
              <a:defRPr sz="900" b="0">
                <a:solidFill>
                  <a:srgbClr val="168F86"/>
                </a:solidFill>
                <a:latin typeface="Calibri"/>
                <a:ea typeface="Calibri"/>
                <a:cs typeface="Calibri"/>
              </a:defRPr>
            </a:lvl3pPr>
            <a:lvl4pPr>
              <a:defRPr sz="900" b="0">
                <a:solidFill>
                  <a:srgbClr val="168F86"/>
                </a:solidFill>
                <a:latin typeface="Calibri"/>
                <a:ea typeface="Calibri"/>
                <a:cs typeface="Calibri"/>
              </a:defRPr>
            </a:lvl4pPr>
            <a:lvl5pPr>
              <a:defRPr sz="900" b="0">
                <a:solidFill>
                  <a:srgbClr val="168F86"/>
                </a:solidFill>
                <a:latin typeface="Calibri"/>
                <a:ea typeface="Calibri"/>
                <a:cs typeface="Calibri"/>
              </a:defRPr>
            </a:lvl5pPr>
            <a:lvl6pPr>
              <a:defRPr sz="900" b="0">
                <a:solidFill>
                  <a:srgbClr val="168F86"/>
                </a:solidFill>
                <a:latin typeface="Calibri"/>
                <a:ea typeface="Calibri"/>
                <a:cs typeface="Calibri"/>
              </a:defRPr>
            </a:lvl6pPr>
            <a:lvl7pPr>
              <a:defRPr sz="900" b="0">
                <a:solidFill>
                  <a:srgbClr val="168F86"/>
                </a:solidFill>
                <a:latin typeface="Calibri"/>
                <a:ea typeface="Calibri"/>
                <a:cs typeface="Calibri"/>
              </a:defRPr>
            </a:lvl7pPr>
            <a:lvl8pPr>
              <a:defRPr sz="900" b="0">
                <a:solidFill>
                  <a:srgbClr val="168F86"/>
                </a:solidFill>
                <a:latin typeface="Calibri"/>
                <a:ea typeface="Calibri"/>
                <a:cs typeface="Calibri"/>
              </a:defRPr>
            </a:lvl8pPr>
            <a:lvl9pPr>
              <a:defRPr sz="900" b="0">
                <a:solidFill>
                  <a:srgbClr val="168F86"/>
                </a:solidFill>
                <a:latin typeface="Calibri"/>
                <a:ea typeface="Calibri"/>
                <a:cs typeface="Calibri"/>
              </a:defRPr>
            </a:lvl9pPr>
          </a:lstStyle>
          <a:p>
            <a:pPr>
              <a:defRPr sz="900" b="0">
                <a:solidFill>
                  <a:srgbClr val="168F86"/>
                </a:solidFill>
                <a:latin typeface="Calibri"/>
                <a:ea typeface="Calibri"/>
                <a:cs typeface="Calibri"/>
              </a:defRPr>
            </a:pPr>
            <a:r>
              <a:rPr sz="900" b="0">
                <a:solidFill>
                  <a:srgbClr val="168F86"/>
                </a:solidFill>
                <a:latin typeface="Calibri"/>
                <a:ea typeface="Calibri"/>
                <a:cs typeface="Calibri"/>
              </a:rPr>
              <a:t>■</a:t>
            </a:r>
          </a:p>
        </p:txBody>
      </p:sp>
      <p:sp>
        <p:nvSpPr>
          <p:cNvPr id="237" name="Rectangle 236">
            <a:extLst>
              <a:ext uri="{FF2B5EF4-FFF2-40B4-BE49-F238E27FC236}">
                <a16:creationId xmlns:a16="http://schemas.microsoft.com/office/drawing/2014/main" id="{5E9900AD-9790-1AEA-B301-6DE12140F0DD}"/>
              </a:ext>
            </a:extLst>
          </p:cNvPr>
          <p:cNvSpPr>
            <a:spLocks noGrp="1"/>
          </p:cNvSpPr>
          <p:nvPr/>
        </p:nvSpPr>
        <p:spPr>
          <a:xfrm>
            <a:off x="4629150" y="4429125"/>
            <a:ext cx="2905125" cy="200025"/>
          </a:xfrm>
          <a:prstGeom prst="rect">
            <a:avLst/>
          </a:prstGeom>
          <a:noFill/>
          <a:ln w="0">
            <a:noFill/>
            <a:prstDash val="solid"/>
          </a:ln>
        </p:spPr>
        <p:txBody>
          <a:bodyPr lIns="0" tIns="0" rIns="0" bIns="0"/>
          <a:lstStyle>
            <a:defPPr>
              <a:defRPr sz="975" b="0">
                <a:solidFill>
                  <a:srgbClr val="000000"/>
                </a:solidFill>
                <a:latin typeface="Calibri"/>
                <a:ea typeface="Calibri"/>
                <a:cs typeface="Calibri"/>
              </a:defRPr>
            </a:defPPr>
            <a:lvl1pPr>
              <a:defRPr sz="975" b="0">
                <a:solidFill>
                  <a:srgbClr val="000000"/>
                </a:solidFill>
                <a:latin typeface="Calibri"/>
                <a:ea typeface="Calibri"/>
                <a:cs typeface="Calibri"/>
              </a:defRPr>
            </a:lvl1pPr>
            <a:lvl2pPr>
              <a:defRPr sz="975" b="0">
                <a:solidFill>
                  <a:srgbClr val="000000"/>
                </a:solidFill>
                <a:latin typeface="Calibri"/>
                <a:ea typeface="Calibri"/>
                <a:cs typeface="Calibri"/>
              </a:defRPr>
            </a:lvl2pPr>
            <a:lvl3pPr>
              <a:defRPr sz="975" b="0">
                <a:solidFill>
                  <a:srgbClr val="000000"/>
                </a:solidFill>
                <a:latin typeface="Calibri"/>
                <a:ea typeface="Calibri"/>
                <a:cs typeface="Calibri"/>
              </a:defRPr>
            </a:lvl3pPr>
            <a:lvl4pPr>
              <a:defRPr sz="975" b="0">
                <a:solidFill>
                  <a:srgbClr val="000000"/>
                </a:solidFill>
                <a:latin typeface="Calibri"/>
                <a:ea typeface="Calibri"/>
                <a:cs typeface="Calibri"/>
              </a:defRPr>
            </a:lvl4pPr>
            <a:lvl5pPr>
              <a:defRPr sz="975" b="0">
                <a:solidFill>
                  <a:srgbClr val="000000"/>
                </a:solidFill>
                <a:latin typeface="Calibri"/>
                <a:ea typeface="Calibri"/>
                <a:cs typeface="Calibri"/>
              </a:defRPr>
            </a:lvl5pPr>
            <a:lvl6pPr>
              <a:defRPr sz="975" b="0">
                <a:solidFill>
                  <a:srgbClr val="000000"/>
                </a:solidFill>
                <a:latin typeface="Calibri"/>
                <a:ea typeface="Calibri"/>
                <a:cs typeface="Calibri"/>
              </a:defRPr>
            </a:lvl6pPr>
            <a:lvl7pPr>
              <a:defRPr sz="975" b="0">
                <a:solidFill>
                  <a:srgbClr val="000000"/>
                </a:solidFill>
                <a:latin typeface="Calibri"/>
                <a:ea typeface="Calibri"/>
                <a:cs typeface="Calibri"/>
              </a:defRPr>
            </a:lvl7pPr>
            <a:lvl8pPr>
              <a:defRPr sz="975" b="0">
                <a:solidFill>
                  <a:srgbClr val="000000"/>
                </a:solidFill>
                <a:latin typeface="Calibri"/>
                <a:ea typeface="Calibri"/>
                <a:cs typeface="Calibri"/>
              </a:defRPr>
            </a:lvl8pPr>
            <a:lvl9pPr>
              <a:defRPr sz="975" b="0">
                <a:solidFill>
                  <a:srgbClr val="000000"/>
                </a:solidFill>
                <a:latin typeface="Calibri"/>
                <a:ea typeface="Calibri"/>
                <a:cs typeface="Calibri"/>
              </a:defRPr>
            </a:lvl9pPr>
          </a:lstStyle>
          <a:p>
            <a:pPr>
              <a:defRPr sz="975" b="0">
                <a:solidFill>
                  <a:srgbClr val="000000"/>
                </a:solidFill>
                <a:latin typeface="Calibri"/>
                <a:ea typeface="Calibri"/>
                <a:cs typeface="Calibri"/>
              </a:defRPr>
            </a:pPr>
            <a:r>
              <a:rPr sz="975" b="0">
                <a:solidFill>
                  <a:srgbClr val="000000"/>
                </a:solidFill>
                <a:latin typeface="Calibri"/>
                <a:ea typeface="Calibri"/>
                <a:cs typeface="Calibri"/>
              </a:rPr>
              <a:t>Vertical propulsion: 108.6 kg (28%)</a:t>
            </a:r>
          </a:p>
        </p:txBody>
      </p:sp>
      <p:sp>
        <p:nvSpPr>
          <p:cNvPr id="238" name="Rectangle 237">
            <a:extLst>
              <a:ext uri="{FF2B5EF4-FFF2-40B4-BE49-F238E27FC236}">
                <a16:creationId xmlns:a16="http://schemas.microsoft.com/office/drawing/2014/main" id="{37CD0F1B-A786-C164-1977-747BEB78EE51}"/>
              </a:ext>
            </a:extLst>
          </p:cNvPr>
          <p:cNvSpPr>
            <a:spLocks noGrp="1"/>
          </p:cNvSpPr>
          <p:nvPr/>
        </p:nvSpPr>
        <p:spPr>
          <a:xfrm>
            <a:off x="4629150" y="4600575"/>
            <a:ext cx="2905125" cy="180975"/>
          </a:xfrm>
          <a:prstGeom prst="rect">
            <a:avLst/>
          </a:prstGeom>
          <a:noFill/>
          <a:ln w="0">
            <a:noFill/>
            <a:prstDash val="solid"/>
          </a:ln>
        </p:spPr>
        <p:txBody>
          <a:bodyPr lIns="0" tIns="0" rIns="0" bIns="0"/>
          <a:lstStyle>
            <a:defPPr>
              <a:defRPr sz="825" b="0">
                <a:solidFill>
                  <a:srgbClr val="444444"/>
                </a:solidFill>
                <a:latin typeface="Calibri"/>
                <a:ea typeface="Calibri"/>
                <a:cs typeface="Calibri"/>
              </a:defRPr>
            </a:defPPr>
            <a:lvl1pPr>
              <a:defRPr sz="825" b="0">
                <a:solidFill>
                  <a:srgbClr val="444444"/>
                </a:solidFill>
                <a:latin typeface="Calibri"/>
                <a:ea typeface="Calibri"/>
                <a:cs typeface="Calibri"/>
              </a:defRPr>
            </a:lvl1pPr>
            <a:lvl2pPr>
              <a:defRPr sz="825" b="0">
                <a:solidFill>
                  <a:srgbClr val="444444"/>
                </a:solidFill>
                <a:latin typeface="Calibri"/>
                <a:ea typeface="Calibri"/>
                <a:cs typeface="Calibri"/>
              </a:defRPr>
            </a:lvl2pPr>
            <a:lvl3pPr>
              <a:defRPr sz="825" b="0">
                <a:solidFill>
                  <a:srgbClr val="444444"/>
                </a:solidFill>
                <a:latin typeface="Calibri"/>
                <a:ea typeface="Calibri"/>
                <a:cs typeface="Calibri"/>
              </a:defRPr>
            </a:lvl3pPr>
            <a:lvl4pPr>
              <a:defRPr sz="825" b="0">
                <a:solidFill>
                  <a:srgbClr val="444444"/>
                </a:solidFill>
                <a:latin typeface="Calibri"/>
                <a:ea typeface="Calibri"/>
                <a:cs typeface="Calibri"/>
              </a:defRPr>
            </a:lvl4pPr>
            <a:lvl5pPr>
              <a:defRPr sz="825" b="0">
                <a:solidFill>
                  <a:srgbClr val="444444"/>
                </a:solidFill>
                <a:latin typeface="Calibri"/>
                <a:ea typeface="Calibri"/>
                <a:cs typeface="Calibri"/>
              </a:defRPr>
            </a:lvl5pPr>
            <a:lvl6pPr>
              <a:defRPr sz="825" b="0">
                <a:solidFill>
                  <a:srgbClr val="444444"/>
                </a:solidFill>
                <a:latin typeface="Calibri"/>
                <a:ea typeface="Calibri"/>
                <a:cs typeface="Calibri"/>
              </a:defRPr>
            </a:lvl6pPr>
            <a:lvl7pPr>
              <a:defRPr sz="825" b="0">
                <a:solidFill>
                  <a:srgbClr val="444444"/>
                </a:solidFill>
                <a:latin typeface="Calibri"/>
                <a:ea typeface="Calibri"/>
                <a:cs typeface="Calibri"/>
              </a:defRPr>
            </a:lvl7pPr>
            <a:lvl8pPr>
              <a:defRPr sz="825" b="0">
                <a:solidFill>
                  <a:srgbClr val="444444"/>
                </a:solidFill>
                <a:latin typeface="Calibri"/>
                <a:ea typeface="Calibri"/>
                <a:cs typeface="Calibri"/>
              </a:defRPr>
            </a:lvl8pPr>
            <a:lvl9pPr>
              <a:defRPr sz="825" b="0">
                <a:solidFill>
                  <a:srgbClr val="444444"/>
                </a:solidFill>
                <a:latin typeface="Calibri"/>
                <a:ea typeface="Calibri"/>
                <a:cs typeface="Calibri"/>
              </a:defRPr>
            </a:lvl9pPr>
          </a:lstStyle>
          <a:p>
            <a:pPr>
              <a:defRPr sz="825" b="0">
                <a:solidFill>
                  <a:srgbClr val="444444"/>
                </a:solidFill>
                <a:latin typeface="Calibri"/>
                <a:ea typeface="Calibri"/>
                <a:cs typeface="Calibri"/>
              </a:defRPr>
            </a:pPr>
            <a:r>
              <a:rPr sz="825" b="0">
                <a:solidFill>
                  <a:srgbClr val="444444"/>
                </a:solidFill>
                <a:latin typeface="Calibri"/>
                <a:ea typeface="Calibri"/>
                <a:cs typeface="Calibri"/>
              </a:rPr>
              <a:t>Battery 50.7, motors 32.6, inverters 6.0 kg</a:t>
            </a:r>
          </a:p>
        </p:txBody>
      </p:sp>
      <p:sp>
        <p:nvSpPr>
          <p:cNvPr id="239" name="Rectangle 238">
            <a:extLst>
              <a:ext uri="{FF2B5EF4-FFF2-40B4-BE49-F238E27FC236}">
                <a16:creationId xmlns:a16="http://schemas.microsoft.com/office/drawing/2014/main" id="{D491D5F5-6E00-0CD3-C399-5A7CCC79A67C}"/>
              </a:ext>
            </a:extLst>
          </p:cNvPr>
          <p:cNvSpPr>
            <a:spLocks noGrp="1"/>
          </p:cNvSpPr>
          <p:nvPr/>
        </p:nvSpPr>
        <p:spPr>
          <a:xfrm>
            <a:off x="4629150" y="4743450"/>
            <a:ext cx="2905125" cy="180975"/>
          </a:xfrm>
          <a:prstGeom prst="rect">
            <a:avLst/>
          </a:prstGeom>
          <a:noFill/>
          <a:ln w="0">
            <a:noFill/>
            <a:prstDash val="solid"/>
          </a:ln>
        </p:spPr>
        <p:txBody>
          <a:bodyPr lIns="0" tIns="0" rIns="0" bIns="0"/>
          <a:lstStyle>
            <a:defPPr>
              <a:defRPr sz="825" b="0">
                <a:solidFill>
                  <a:srgbClr val="444444"/>
                </a:solidFill>
                <a:latin typeface="Calibri"/>
                <a:ea typeface="Calibri"/>
                <a:cs typeface="Calibri"/>
              </a:defRPr>
            </a:defPPr>
            <a:lvl1pPr>
              <a:defRPr sz="825" b="0">
                <a:solidFill>
                  <a:srgbClr val="444444"/>
                </a:solidFill>
                <a:latin typeface="Calibri"/>
                <a:ea typeface="Calibri"/>
                <a:cs typeface="Calibri"/>
              </a:defRPr>
            </a:lvl1pPr>
            <a:lvl2pPr>
              <a:defRPr sz="825" b="0">
                <a:solidFill>
                  <a:srgbClr val="444444"/>
                </a:solidFill>
                <a:latin typeface="Calibri"/>
                <a:ea typeface="Calibri"/>
                <a:cs typeface="Calibri"/>
              </a:defRPr>
            </a:lvl2pPr>
            <a:lvl3pPr>
              <a:defRPr sz="825" b="0">
                <a:solidFill>
                  <a:srgbClr val="444444"/>
                </a:solidFill>
                <a:latin typeface="Calibri"/>
                <a:ea typeface="Calibri"/>
                <a:cs typeface="Calibri"/>
              </a:defRPr>
            </a:lvl3pPr>
            <a:lvl4pPr>
              <a:defRPr sz="825" b="0">
                <a:solidFill>
                  <a:srgbClr val="444444"/>
                </a:solidFill>
                <a:latin typeface="Calibri"/>
                <a:ea typeface="Calibri"/>
                <a:cs typeface="Calibri"/>
              </a:defRPr>
            </a:lvl4pPr>
            <a:lvl5pPr>
              <a:defRPr sz="825" b="0">
                <a:solidFill>
                  <a:srgbClr val="444444"/>
                </a:solidFill>
                <a:latin typeface="Calibri"/>
                <a:ea typeface="Calibri"/>
                <a:cs typeface="Calibri"/>
              </a:defRPr>
            </a:lvl5pPr>
            <a:lvl6pPr>
              <a:defRPr sz="825" b="0">
                <a:solidFill>
                  <a:srgbClr val="444444"/>
                </a:solidFill>
                <a:latin typeface="Calibri"/>
                <a:ea typeface="Calibri"/>
                <a:cs typeface="Calibri"/>
              </a:defRPr>
            </a:lvl6pPr>
            <a:lvl7pPr>
              <a:defRPr sz="825" b="0">
                <a:solidFill>
                  <a:srgbClr val="444444"/>
                </a:solidFill>
                <a:latin typeface="Calibri"/>
                <a:ea typeface="Calibri"/>
                <a:cs typeface="Calibri"/>
              </a:defRPr>
            </a:lvl7pPr>
            <a:lvl8pPr>
              <a:defRPr sz="825" b="0">
                <a:solidFill>
                  <a:srgbClr val="444444"/>
                </a:solidFill>
                <a:latin typeface="Calibri"/>
                <a:ea typeface="Calibri"/>
                <a:cs typeface="Calibri"/>
              </a:defRPr>
            </a:lvl8pPr>
            <a:lvl9pPr>
              <a:defRPr sz="825" b="0">
                <a:solidFill>
                  <a:srgbClr val="444444"/>
                </a:solidFill>
                <a:latin typeface="Calibri"/>
                <a:ea typeface="Calibri"/>
                <a:cs typeface="Calibri"/>
              </a:defRPr>
            </a:lvl9pPr>
          </a:lstStyle>
          <a:p>
            <a:pPr>
              <a:defRPr sz="825" b="0">
                <a:solidFill>
                  <a:srgbClr val="444444"/>
                </a:solidFill>
                <a:latin typeface="Calibri"/>
                <a:ea typeface="Calibri"/>
                <a:cs typeface="Calibri"/>
              </a:defRPr>
            </a:pPr>
            <a:r>
              <a:rPr sz="825" b="0">
                <a:solidFill>
                  <a:srgbClr val="444444"/>
                </a:solidFill>
                <a:latin typeface="Calibri"/>
                <a:ea typeface="Calibri"/>
                <a:cs typeface="Calibri"/>
              </a:rPr>
              <a:t>Lift prop assembly 19.3 kg</a:t>
            </a:r>
          </a:p>
        </p:txBody>
      </p:sp>
      <p:sp>
        <p:nvSpPr>
          <p:cNvPr id="240" name="Rectangle 239">
            <a:extLst>
              <a:ext uri="{FF2B5EF4-FFF2-40B4-BE49-F238E27FC236}">
                <a16:creationId xmlns:a16="http://schemas.microsoft.com/office/drawing/2014/main" id="{9457B8B4-D4A5-009D-2963-B600CAE729C7}"/>
              </a:ext>
            </a:extLst>
          </p:cNvPr>
          <p:cNvSpPr>
            <a:spLocks noGrp="1"/>
          </p:cNvSpPr>
          <p:nvPr/>
        </p:nvSpPr>
        <p:spPr>
          <a:xfrm>
            <a:off x="4476750" y="4886325"/>
            <a:ext cx="142875" cy="171450"/>
          </a:xfrm>
          <a:prstGeom prst="rect">
            <a:avLst/>
          </a:prstGeom>
          <a:noFill/>
          <a:ln w="0">
            <a:noFill/>
            <a:prstDash val="solid"/>
          </a:ln>
        </p:spPr>
        <p:txBody>
          <a:bodyPr lIns="0" tIns="0" rIns="0" bIns="0"/>
          <a:lstStyle>
            <a:defPPr>
              <a:defRPr sz="900" b="0">
                <a:solidFill>
                  <a:srgbClr val="D57530"/>
                </a:solidFill>
                <a:latin typeface="Calibri"/>
                <a:ea typeface="Calibri"/>
                <a:cs typeface="Calibri"/>
              </a:defRPr>
            </a:defPPr>
            <a:lvl1pPr>
              <a:defRPr sz="900" b="0">
                <a:solidFill>
                  <a:srgbClr val="D57530"/>
                </a:solidFill>
                <a:latin typeface="Calibri"/>
                <a:ea typeface="Calibri"/>
                <a:cs typeface="Calibri"/>
              </a:defRPr>
            </a:lvl1pPr>
            <a:lvl2pPr>
              <a:defRPr sz="900" b="0">
                <a:solidFill>
                  <a:srgbClr val="D57530"/>
                </a:solidFill>
                <a:latin typeface="Calibri"/>
                <a:ea typeface="Calibri"/>
                <a:cs typeface="Calibri"/>
              </a:defRPr>
            </a:lvl2pPr>
            <a:lvl3pPr>
              <a:defRPr sz="900" b="0">
                <a:solidFill>
                  <a:srgbClr val="D57530"/>
                </a:solidFill>
                <a:latin typeface="Calibri"/>
                <a:ea typeface="Calibri"/>
                <a:cs typeface="Calibri"/>
              </a:defRPr>
            </a:lvl3pPr>
            <a:lvl4pPr>
              <a:defRPr sz="900" b="0">
                <a:solidFill>
                  <a:srgbClr val="D57530"/>
                </a:solidFill>
                <a:latin typeface="Calibri"/>
                <a:ea typeface="Calibri"/>
                <a:cs typeface="Calibri"/>
              </a:defRPr>
            </a:lvl4pPr>
            <a:lvl5pPr>
              <a:defRPr sz="900" b="0">
                <a:solidFill>
                  <a:srgbClr val="D57530"/>
                </a:solidFill>
                <a:latin typeface="Calibri"/>
                <a:ea typeface="Calibri"/>
                <a:cs typeface="Calibri"/>
              </a:defRPr>
            </a:lvl5pPr>
            <a:lvl6pPr>
              <a:defRPr sz="900" b="0">
                <a:solidFill>
                  <a:srgbClr val="D57530"/>
                </a:solidFill>
                <a:latin typeface="Calibri"/>
                <a:ea typeface="Calibri"/>
                <a:cs typeface="Calibri"/>
              </a:defRPr>
            </a:lvl6pPr>
            <a:lvl7pPr>
              <a:defRPr sz="900" b="0">
                <a:solidFill>
                  <a:srgbClr val="D57530"/>
                </a:solidFill>
                <a:latin typeface="Calibri"/>
                <a:ea typeface="Calibri"/>
                <a:cs typeface="Calibri"/>
              </a:defRPr>
            </a:lvl7pPr>
            <a:lvl8pPr>
              <a:defRPr sz="900" b="0">
                <a:solidFill>
                  <a:srgbClr val="D57530"/>
                </a:solidFill>
                <a:latin typeface="Calibri"/>
                <a:ea typeface="Calibri"/>
                <a:cs typeface="Calibri"/>
              </a:defRPr>
            </a:lvl8pPr>
            <a:lvl9pPr>
              <a:defRPr sz="900" b="0">
                <a:solidFill>
                  <a:srgbClr val="D57530"/>
                </a:solidFill>
                <a:latin typeface="Calibri"/>
                <a:ea typeface="Calibri"/>
                <a:cs typeface="Calibri"/>
              </a:defRPr>
            </a:lvl9pPr>
          </a:lstStyle>
          <a:p>
            <a:pPr>
              <a:defRPr sz="900" b="0">
                <a:solidFill>
                  <a:srgbClr val="D57530"/>
                </a:solidFill>
                <a:latin typeface="Calibri"/>
                <a:ea typeface="Calibri"/>
                <a:cs typeface="Calibri"/>
              </a:defRPr>
            </a:pPr>
            <a:r>
              <a:rPr sz="900" b="0">
                <a:solidFill>
                  <a:srgbClr val="D57530"/>
                </a:solidFill>
                <a:latin typeface="Calibri"/>
                <a:ea typeface="Calibri"/>
                <a:cs typeface="Calibri"/>
              </a:rPr>
              <a:t>■</a:t>
            </a:r>
          </a:p>
        </p:txBody>
      </p:sp>
      <p:sp>
        <p:nvSpPr>
          <p:cNvPr id="241" name="Rectangle 240">
            <a:extLst>
              <a:ext uri="{FF2B5EF4-FFF2-40B4-BE49-F238E27FC236}">
                <a16:creationId xmlns:a16="http://schemas.microsoft.com/office/drawing/2014/main" id="{76C8C4F9-ABBA-4CEB-BB39-2E97F8799D41}"/>
              </a:ext>
            </a:extLst>
          </p:cNvPr>
          <p:cNvSpPr>
            <a:spLocks noGrp="1"/>
          </p:cNvSpPr>
          <p:nvPr/>
        </p:nvSpPr>
        <p:spPr>
          <a:xfrm>
            <a:off x="4629150" y="4886325"/>
            <a:ext cx="2905125" cy="200025"/>
          </a:xfrm>
          <a:prstGeom prst="rect">
            <a:avLst/>
          </a:prstGeom>
          <a:noFill/>
          <a:ln w="0">
            <a:noFill/>
            <a:prstDash val="solid"/>
          </a:ln>
        </p:spPr>
        <p:txBody>
          <a:bodyPr lIns="0" tIns="0" rIns="0" bIns="0"/>
          <a:lstStyle>
            <a:defPPr>
              <a:defRPr sz="975" b="0">
                <a:solidFill>
                  <a:srgbClr val="000000"/>
                </a:solidFill>
                <a:latin typeface="Calibri"/>
                <a:ea typeface="Calibri"/>
                <a:cs typeface="Calibri"/>
              </a:defRPr>
            </a:defPPr>
            <a:lvl1pPr>
              <a:defRPr sz="975" b="0">
                <a:solidFill>
                  <a:srgbClr val="000000"/>
                </a:solidFill>
                <a:latin typeface="Calibri"/>
                <a:ea typeface="Calibri"/>
                <a:cs typeface="Calibri"/>
              </a:defRPr>
            </a:lvl1pPr>
            <a:lvl2pPr>
              <a:defRPr sz="975" b="0">
                <a:solidFill>
                  <a:srgbClr val="000000"/>
                </a:solidFill>
                <a:latin typeface="Calibri"/>
                <a:ea typeface="Calibri"/>
                <a:cs typeface="Calibri"/>
              </a:defRPr>
            </a:lvl2pPr>
            <a:lvl3pPr>
              <a:defRPr sz="975" b="0">
                <a:solidFill>
                  <a:srgbClr val="000000"/>
                </a:solidFill>
                <a:latin typeface="Calibri"/>
                <a:ea typeface="Calibri"/>
                <a:cs typeface="Calibri"/>
              </a:defRPr>
            </a:lvl3pPr>
            <a:lvl4pPr>
              <a:defRPr sz="975" b="0">
                <a:solidFill>
                  <a:srgbClr val="000000"/>
                </a:solidFill>
                <a:latin typeface="Calibri"/>
                <a:ea typeface="Calibri"/>
                <a:cs typeface="Calibri"/>
              </a:defRPr>
            </a:lvl4pPr>
            <a:lvl5pPr>
              <a:defRPr sz="975" b="0">
                <a:solidFill>
                  <a:srgbClr val="000000"/>
                </a:solidFill>
                <a:latin typeface="Calibri"/>
                <a:ea typeface="Calibri"/>
                <a:cs typeface="Calibri"/>
              </a:defRPr>
            </a:lvl5pPr>
            <a:lvl6pPr>
              <a:defRPr sz="975" b="0">
                <a:solidFill>
                  <a:srgbClr val="000000"/>
                </a:solidFill>
                <a:latin typeface="Calibri"/>
                <a:ea typeface="Calibri"/>
                <a:cs typeface="Calibri"/>
              </a:defRPr>
            </a:lvl6pPr>
            <a:lvl7pPr>
              <a:defRPr sz="975" b="0">
                <a:solidFill>
                  <a:srgbClr val="000000"/>
                </a:solidFill>
                <a:latin typeface="Calibri"/>
                <a:ea typeface="Calibri"/>
                <a:cs typeface="Calibri"/>
              </a:defRPr>
            </a:lvl7pPr>
            <a:lvl8pPr>
              <a:defRPr sz="975" b="0">
                <a:solidFill>
                  <a:srgbClr val="000000"/>
                </a:solidFill>
                <a:latin typeface="Calibri"/>
                <a:ea typeface="Calibri"/>
                <a:cs typeface="Calibri"/>
              </a:defRPr>
            </a:lvl8pPr>
            <a:lvl9pPr>
              <a:defRPr sz="975" b="0">
                <a:solidFill>
                  <a:srgbClr val="000000"/>
                </a:solidFill>
                <a:latin typeface="Calibri"/>
                <a:ea typeface="Calibri"/>
                <a:cs typeface="Calibri"/>
              </a:defRPr>
            </a:lvl9pPr>
          </a:lstStyle>
          <a:p>
            <a:pPr>
              <a:defRPr sz="975" b="0">
                <a:solidFill>
                  <a:srgbClr val="000000"/>
                </a:solidFill>
                <a:latin typeface="Calibri"/>
                <a:ea typeface="Calibri"/>
                <a:cs typeface="Calibri"/>
              </a:defRPr>
            </a:pPr>
            <a:r>
              <a:rPr sz="975" b="0">
                <a:solidFill>
                  <a:srgbClr val="000000"/>
                </a:solidFill>
                <a:latin typeface="Calibri"/>
                <a:ea typeface="Calibri"/>
                <a:cs typeface="Calibri"/>
              </a:rPr>
              <a:t>Horizontal propulsion: 52.1 kg (14%)</a:t>
            </a:r>
          </a:p>
        </p:txBody>
      </p:sp>
      <p:sp>
        <p:nvSpPr>
          <p:cNvPr id="242" name="Rectangle 241">
            <a:extLst>
              <a:ext uri="{FF2B5EF4-FFF2-40B4-BE49-F238E27FC236}">
                <a16:creationId xmlns:a16="http://schemas.microsoft.com/office/drawing/2014/main" id="{411F49F1-9D07-BA8D-CE89-5FDBF1E0C8B6}"/>
              </a:ext>
            </a:extLst>
          </p:cNvPr>
          <p:cNvSpPr>
            <a:spLocks noGrp="1"/>
          </p:cNvSpPr>
          <p:nvPr/>
        </p:nvSpPr>
        <p:spPr>
          <a:xfrm>
            <a:off x="4629150" y="5057775"/>
            <a:ext cx="2905125" cy="180975"/>
          </a:xfrm>
          <a:prstGeom prst="rect">
            <a:avLst/>
          </a:prstGeom>
          <a:noFill/>
          <a:ln w="0">
            <a:noFill/>
            <a:prstDash val="solid"/>
          </a:ln>
        </p:spPr>
        <p:txBody>
          <a:bodyPr lIns="0" tIns="0" rIns="0" bIns="0"/>
          <a:lstStyle>
            <a:defPPr>
              <a:defRPr sz="825" b="0">
                <a:solidFill>
                  <a:srgbClr val="444444"/>
                </a:solidFill>
                <a:latin typeface="Calibri"/>
                <a:ea typeface="Calibri"/>
                <a:cs typeface="Calibri"/>
              </a:defRPr>
            </a:defPPr>
            <a:lvl1pPr>
              <a:defRPr sz="825" b="0">
                <a:solidFill>
                  <a:srgbClr val="444444"/>
                </a:solidFill>
                <a:latin typeface="Calibri"/>
                <a:ea typeface="Calibri"/>
                <a:cs typeface="Calibri"/>
              </a:defRPr>
            </a:lvl1pPr>
            <a:lvl2pPr>
              <a:defRPr sz="825" b="0">
                <a:solidFill>
                  <a:srgbClr val="444444"/>
                </a:solidFill>
                <a:latin typeface="Calibri"/>
                <a:ea typeface="Calibri"/>
                <a:cs typeface="Calibri"/>
              </a:defRPr>
            </a:lvl2pPr>
            <a:lvl3pPr>
              <a:defRPr sz="825" b="0">
                <a:solidFill>
                  <a:srgbClr val="444444"/>
                </a:solidFill>
                <a:latin typeface="Calibri"/>
                <a:ea typeface="Calibri"/>
                <a:cs typeface="Calibri"/>
              </a:defRPr>
            </a:lvl3pPr>
            <a:lvl4pPr>
              <a:defRPr sz="825" b="0">
                <a:solidFill>
                  <a:srgbClr val="444444"/>
                </a:solidFill>
                <a:latin typeface="Calibri"/>
                <a:ea typeface="Calibri"/>
                <a:cs typeface="Calibri"/>
              </a:defRPr>
            </a:lvl4pPr>
            <a:lvl5pPr>
              <a:defRPr sz="825" b="0">
                <a:solidFill>
                  <a:srgbClr val="444444"/>
                </a:solidFill>
                <a:latin typeface="Calibri"/>
                <a:ea typeface="Calibri"/>
                <a:cs typeface="Calibri"/>
              </a:defRPr>
            </a:lvl5pPr>
            <a:lvl6pPr>
              <a:defRPr sz="825" b="0">
                <a:solidFill>
                  <a:srgbClr val="444444"/>
                </a:solidFill>
                <a:latin typeface="Calibri"/>
                <a:ea typeface="Calibri"/>
                <a:cs typeface="Calibri"/>
              </a:defRPr>
            </a:lvl6pPr>
            <a:lvl7pPr>
              <a:defRPr sz="825" b="0">
                <a:solidFill>
                  <a:srgbClr val="444444"/>
                </a:solidFill>
                <a:latin typeface="Calibri"/>
                <a:ea typeface="Calibri"/>
                <a:cs typeface="Calibri"/>
              </a:defRPr>
            </a:lvl7pPr>
            <a:lvl8pPr>
              <a:defRPr sz="825" b="0">
                <a:solidFill>
                  <a:srgbClr val="444444"/>
                </a:solidFill>
                <a:latin typeface="Calibri"/>
                <a:ea typeface="Calibri"/>
                <a:cs typeface="Calibri"/>
              </a:defRPr>
            </a:lvl8pPr>
            <a:lvl9pPr>
              <a:defRPr sz="825" b="0">
                <a:solidFill>
                  <a:srgbClr val="444444"/>
                </a:solidFill>
                <a:latin typeface="Calibri"/>
                <a:ea typeface="Calibri"/>
                <a:cs typeface="Calibri"/>
              </a:defRPr>
            </a:lvl9pPr>
          </a:lstStyle>
          <a:p>
            <a:pPr>
              <a:defRPr sz="825" b="0">
                <a:solidFill>
                  <a:srgbClr val="444444"/>
                </a:solidFill>
                <a:latin typeface="Calibri"/>
                <a:ea typeface="Calibri"/>
                <a:cs typeface="Calibri"/>
              </a:defRPr>
            </a:pPr>
            <a:r>
              <a:rPr sz="825" b="0">
                <a:solidFill>
                  <a:srgbClr val="444444"/>
                </a:solidFill>
                <a:latin typeface="Calibri"/>
                <a:ea typeface="Calibri"/>
                <a:cs typeface="Calibri"/>
              </a:rPr>
              <a:t>Engine 41.0, prop 7.7, drive 3.4 kg</a:t>
            </a:r>
          </a:p>
        </p:txBody>
      </p:sp>
      <p:sp>
        <p:nvSpPr>
          <p:cNvPr id="243" name="Rectangle 242">
            <a:extLst>
              <a:ext uri="{FF2B5EF4-FFF2-40B4-BE49-F238E27FC236}">
                <a16:creationId xmlns:a16="http://schemas.microsoft.com/office/drawing/2014/main" id="{1C5D2262-2D31-86D5-0295-D186D76155E9}"/>
              </a:ext>
            </a:extLst>
          </p:cNvPr>
          <p:cNvSpPr>
            <a:spLocks noGrp="1"/>
          </p:cNvSpPr>
          <p:nvPr/>
        </p:nvSpPr>
        <p:spPr>
          <a:xfrm>
            <a:off x="4476750" y="5200650"/>
            <a:ext cx="142875" cy="171450"/>
          </a:xfrm>
          <a:prstGeom prst="rect">
            <a:avLst/>
          </a:prstGeom>
          <a:noFill/>
          <a:ln w="0">
            <a:noFill/>
            <a:prstDash val="solid"/>
          </a:ln>
        </p:spPr>
        <p:txBody>
          <a:bodyPr lIns="0" tIns="0" rIns="0" bIns="0"/>
          <a:lstStyle>
            <a:defPPr>
              <a:defRPr sz="900" b="0">
                <a:solidFill>
                  <a:srgbClr val="8A9A42"/>
                </a:solidFill>
                <a:latin typeface="Calibri"/>
                <a:ea typeface="Calibri"/>
                <a:cs typeface="Calibri"/>
              </a:defRPr>
            </a:defPPr>
            <a:lvl1pPr>
              <a:defRPr sz="900" b="0">
                <a:solidFill>
                  <a:srgbClr val="8A9A42"/>
                </a:solidFill>
                <a:latin typeface="Calibri"/>
                <a:ea typeface="Calibri"/>
                <a:cs typeface="Calibri"/>
              </a:defRPr>
            </a:lvl1pPr>
            <a:lvl2pPr>
              <a:defRPr sz="900" b="0">
                <a:solidFill>
                  <a:srgbClr val="8A9A42"/>
                </a:solidFill>
                <a:latin typeface="Calibri"/>
                <a:ea typeface="Calibri"/>
                <a:cs typeface="Calibri"/>
              </a:defRPr>
            </a:lvl2pPr>
            <a:lvl3pPr>
              <a:defRPr sz="900" b="0">
                <a:solidFill>
                  <a:srgbClr val="8A9A42"/>
                </a:solidFill>
                <a:latin typeface="Calibri"/>
                <a:ea typeface="Calibri"/>
                <a:cs typeface="Calibri"/>
              </a:defRPr>
            </a:lvl3pPr>
            <a:lvl4pPr>
              <a:defRPr sz="900" b="0">
                <a:solidFill>
                  <a:srgbClr val="8A9A42"/>
                </a:solidFill>
                <a:latin typeface="Calibri"/>
                <a:ea typeface="Calibri"/>
                <a:cs typeface="Calibri"/>
              </a:defRPr>
            </a:lvl4pPr>
            <a:lvl5pPr>
              <a:defRPr sz="900" b="0">
                <a:solidFill>
                  <a:srgbClr val="8A9A42"/>
                </a:solidFill>
                <a:latin typeface="Calibri"/>
                <a:ea typeface="Calibri"/>
                <a:cs typeface="Calibri"/>
              </a:defRPr>
            </a:lvl5pPr>
            <a:lvl6pPr>
              <a:defRPr sz="900" b="0">
                <a:solidFill>
                  <a:srgbClr val="8A9A42"/>
                </a:solidFill>
                <a:latin typeface="Calibri"/>
                <a:ea typeface="Calibri"/>
                <a:cs typeface="Calibri"/>
              </a:defRPr>
            </a:lvl6pPr>
            <a:lvl7pPr>
              <a:defRPr sz="900" b="0">
                <a:solidFill>
                  <a:srgbClr val="8A9A42"/>
                </a:solidFill>
                <a:latin typeface="Calibri"/>
                <a:ea typeface="Calibri"/>
                <a:cs typeface="Calibri"/>
              </a:defRPr>
            </a:lvl7pPr>
            <a:lvl8pPr>
              <a:defRPr sz="900" b="0">
                <a:solidFill>
                  <a:srgbClr val="8A9A42"/>
                </a:solidFill>
                <a:latin typeface="Calibri"/>
                <a:ea typeface="Calibri"/>
                <a:cs typeface="Calibri"/>
              </a:defRPr>
            </a:lvl8pPr>
            <a:lvl9pPr>
              <a:defRPr sz="900" b="0">
                <a:solidFill>
                  <a:srgbClr val="8A9A42"/>
                </a:solidFill>
                <a:latin typeface="Calibri"/>
                <a:ea typeface="Calibri"/>
                <a:cs typeface="Calibri"/>
              </a:defRPr>
            </a:lvl9pPr>
          </a:lstStyle>
          <a:p>
            <a:pPr>
              <a:defRPr sz="900" b="0">
                <a:solidFill>
                  <a:srgbClr val="8A9A42"/>
                </a:solidFill>
                <a:latin typeface="Calibri"/>
                <a:ea typeface="Calibri"/>
                <a:cs typeface="Calibri"/>
              </a:defRPr>
            </a:pPr>
            <a:r>
              <a:rPr sz="900" b="0">
                <a:solidFill>
                  <a:srgbClr val="8A9A42"/>
                </a:solidFill>
                <a:latin typeface="Calibri"/>
                <a:ea typeface="Calibri"/>
                <a:cs typeface="Calibri"/>
              </a:rPr>
              <a:t>■</a:t>
            </a:r>
          </a:p>
        </p:txBody>
      </p:sp>
      <p:sp>
        <p:nvSpPr>
          <p:cNvPr id="244" name="Rectangle 243">
            <a:extLst>
              <a:ext uri="{FF2B5EF4-FFF2-40B4-BE49-F238E27FC236}">
                <a16:creationId xmlns:a16="http://schemas.microsoft.com/office/drawing/2014/main" id="{9B5C8FE1-5080-7A9B-2094-B1B071ACA5C0}"/>
              </a:ext>
            </a:extLst>
          </p:cNvPr>
          <p:cNvSpPr>
            <a:spLocks noGrp="1"/>
          </p:cNvSpPr>
          <p:nvPr/>
        </p:nvSpPr>
        <p:spPr>
          <a:xfrm>
            <a:off x="4629150" y="5200650"/>
            <a:ext cx="2905125" cy="200025"/>
          </a:xfrm>
          <a:prstGeom prst="rect">
            <a:avLst/>
          </a:prstGeom>
          <a:noFill/>
          <a:ln w="0">
            <a:noFill/>
            <a:prstDash val="solid"/>
          </a:ln>
        </p:spPr>
        <p:txBody>
          <a:bodyPr lIns="0" tIns="0" rIns="0" bIns="0"/>
          <a:lstStyle>
            <a:defPPr>
              <a:defRPr sz="975" b="0">
                <a:solidFill>
                  <a:srgbClr val="000000"/>
                </a:solidFill>
                <a:latin typeface="Calibri"/>
                <a:ea typeface="Calibri"/>
                <a:cs typeface="Calibri"/>
              </a:defRPr>
            </a:defPPr>
            <a:lvl1pPr>
              <a:defRPr sz="975" b="0">
                <a:solidFill>
                  <a:srgbClr val="000000"/>
                </a:solidFill>
                <a:latin typeface="Calibri"/>
                <a:ea typeface="Calibri"/>
                <a:cs typeface="Calibri"/>
              </a:defRPr>
            </a:lvl1pPr>
            <a:lvl2pPr>
              <a:defRPr sz="975" b="0">
                <a:solidFill>
                  <a:srgbClr val="000000"/>
                </a:solidFill>
                <a:latin typeface="Calibri"/>
                <a:ea typeface="Calibri"/>
                <a:cs typeface="Calibri"/>
              </a:defRPr>
            </a:lvl2pPr>
            <a:lvl3pPr>
              <a:defRPr sz="975" b="0">
                <a:solidFill>
                  <a:srgbClr val="000000"/>
                </a:solidFill>
                <a:latin typeface="Calibri"/>
                <a:ea typeface="Calibri"/>
                <a:cs typeface="Calibri"/>
              </a:defRPr>
            </a:lvl3pPr>
            <a:lvl4pPr>
              <a:defRPr sz="975" b="0">
                <a:solidFill>
                  <a:srgbClr val="000000"/>
                </a:solidFill>
                <a:latin typeface="Calibri"/>
                <a:ea typeface="Calibri"/>
                <a:cs typeface="Calibri"/>
              </a:defRPr>
            </a:lvl4pPr>
            <a:lvl5pPr>
              <a:defRPr sz="975" b="0">
                <a:solidFill>
                  <a:srgbClr val="000000"/>
                </a:solidFill>
                <a:latin typeface="Calibri"/>
                <a:ea typeface="Calibri"/>
                <a:cs typeface="Calibri"/>
              </a:defRPr>
            </a:lvl5pPr>
            <a:lvl6pPr>
              <a:defRPr sz="975" b="0">
                <a:solidFill>
                  <a:srgbClr val="000000"/>
                </a:solidFill>
                <a:latin typeface="Calibri"/>
                <a:ea typeface="Calibri"/>
                <a:cs typeface="Calibri"/>
              </a:defRPr>
            </a:lvl6pPr>
            <a:lvl7pPr>
              <a:defRPr sz="975" b="0">
                <a:solidFill>
                  <a:srgbClr val="000000"/>
                </a:solidFill>
                <a:latin typeface="Calibri"/>
                <a:ea typeface="Calibri"/>
                <a:cs typeface="Calibri"/>
              </a:defRPr>
            </a:lvl7pPr>
            <a:lvl8pPr>
              <a:defRPr sz="975" b="0">
                <a:solidFill>
                  <a:srgbClr val="000000"/>
                </a:solidFill>
                <a:latin typeface="Calibri"/>
                <a:ea typeface="Calibri"/>
                <a:cs typeface="Calibri"/>
              </a:defRPr>
            </a:lvl8pPr>
            <a:lvl9pPr>
              <a:defRPr sz="975" b="0">
                <a:solidFill>
                  <a:srgbClr val="000000"/>
                </a:solidFill>
                <a:latin typeface="Calibri"/>
                <a:ea typeface="Calibri"/>
                <a:cs typeface="Calibri"/>
              </a:defRPr>
            </a:lvl9pPr>
          </a:lstStyle>
          <a:p>
            <a:pPr>
              <a:defRPr sz="975" b="0">
                <a:solidFill>
                  <a:srgbClr val="000000"/>
                </a:solidFill>
                <a:latin typeface="Calibri"/>
                <a:ea typeface="Calibri"/>
                <a:cs typeface="Calibri"/>
              </a:defRPr>
            </a:pPr>
            <a:r>
              <a:rPr sz="975" b="0">
                <a:solidFill>
                  <a:srgbClr val="000000"/>
                </a:solidFill>
                <a:latin typeface="Calibri"/>
                <a:ea typeface="Calibri"/>
                <a:cs typeface="Calibri"/>
              </a:rPr>
              <a:t>Fuel-system hardware: 5.0 kg (1%)</a:t>
            </a:r>
          </a:p>
        </p:txBody>
      </p:sp>
      <p:sp>
        <p:nvSpPr>
          <p:cNvPr id="245" name="Rectangle 244">
            <a:extLst>
              <a:ext uri="{FF2B5EF4-FFF2-40B4-BE49-F238E27FC236}">
                <a16:creationId xmlns:a16="http://schemas.microsoft.com/office/drawing/2014/main" id="{E0B1921F-B15C-B7E2-806E-5EB594AF8CAC}"/>
              </a:ext>
            </a:extLst>
          </p:cNvPr>
          <p:cNvSpPr>
            <a:spLocks noGrp="1"/>
          </p:cNvSpPr>
          <p:nvPr/>
        </p:nvSpPr>
        <p:spPr>
          <a:xfrm>
            <a:off x="4476750" y="5372100"/>
            <a:ext cx="142875" cy="171450"/>
          </a:xfrm>
          <a:prstGeom prst="rect">
            <a:avLst/>
          </a:prstGeom>
          <a:noFill/>
          <a:ln w="0">
            <a:noFill/>
            <a:prstDash val="solid"/>
          </a:ln>
        </p:spPr>
        <p:txBody>
          <a:bodyPr lIns="0" tIns="0" rIns="0" bIns="0"/>
          <a:lstStyle>
            <a:defPPr>
              <a:defRPr sz="900" b="0">
                <a:solidFill>
                  <a:srgbClr val="D2AB39"/>
                </a:solidFill>
                <a:latin typeface="Calibri"/>
                <a:ea typeface="Calibri"/>
                <a:cs typeface="Calibri"/>
              </a:defRPr>
            </a:defPPr>
            <a:lvl1pPr>
              <a:defRPr sz="900" b="0">
                <a:solidFill>
                  <a:srgbClr val="D2AB39"/>
                </a:solidFill>
                <a:latin typeface="Calibri"/>
                <a:ea typeface="Calibri"/>
                <a:cs typeface="Calibri"/>
              </a:defRPr>
            </a:lvl1pPr>
            <a:lvl2pPr>
              <a:defRPr sz="900" b="0">
                <a:solidFill>
                  <a:srgbClr val="D2AB39"/>
                </a:solidFill>
                <a:latin typeface="Calibri"/>
                <a:ea typeface="Calibri"/>
                <a:cs typeface="Calibri"/>
              </a:defRPr>
            </a:lvl2pPr>
            <a:lvl3pPr>
              <a:defRPr sz="900" b="0">
                <a:solidFill>
                  <a:srgbClr val="D2AB39"/>
                </a:solidFill>
                <a:latin typeface="Calibri"/>
                <a:ea typeface="Calibri"/>
                <a:cs typeface="Calibri"/>
              </a:defRPr>
            </a:lvl3pPr>
            <a:lvl4pPr>
              <a:defRPr sz="900" b="0">
                <a:solidFill>
                  <a:srgbClr val="D2AB39"/>
                </a:solidFill>
                <a:latin typeface="Calibri"/>
                <a:ea typeface="Calibri"/>
                <a:cs typeface="Calibri"/>
              </a:defRPr>
            </a:lvl4pPr>
            <a:lvl5pPr>
              <a:defRPr sz="900" b="0">
                <a:solidFill>
                  <a:srgbClr val="D2AB39"/>
                </a:solidFill>
                <a:latin typeface="Calibri"/>
                <a:ea typeface="Calibri"/>
                <a:cs typeface="Calibri"/>
              </a:defRPr>
            </a:lvl5pPr>
            <a:lvl6pPr>
              <a:defRPr sz="900" b="0">
                <a:solidFill>
                  <a:srgbClr val="D2AB39"/>
                </a:solidFill>
                <a:latin typeface="Calibri"/>
                <a:ea typeface="Calibri"/>
                <a:cs typeface="Calibri"/>
              </a:defRPr>
            </a:lvl6pPr>
            <a:lvl7pPr>
              <a:defRPr sz="900" b="0">
                <a:solidFill>
                  <a:srgbClr val="D2AB39"/>
                </a:solidFill>
                <a:latin typeface="Calibri"/>
                <a:ea typeface="Calibri"/>
                <a:cs typeface="Calibri"/>
              </a:defRPr>
            </a:lvl7pPr>
            <a:lvl8pPr>
              <a:defRPr sz="900" b="0">
                <a:solidFill>
                  <a:srgbClr val="D2AB39"/>
                </a:solidFill>
                <a:latin typeface="Calibri"/>
                <a:ea typeface="Calibri"/>
                <a:cs typeface="Calibri"/>
              </a:defRPr>
            </a:lvl8pPr>
            <a:lvl9pPr>
              <a:defRPr sz="900" b="0">
                <a:solidFill>
                  <a:srgbClr val="D2AB39"/>
                </a:solidFill>
                <a:latin typeface="Calibri"/>
                <a:ea typeface="Calibri"/>
                <a:cs typeface="Calibri"/>
              </a:defRPr>
            </a:lvl9pPr>
          </a:lstStyle>
          <a:p>
            <a:pPr>
              <a:defRPr sz="900" b="0">
                <a:solidFill>
                  <a:srgbClr val="D2AB39"/>
                </a:solidFill>
                <a:latin typeface="Calibri"/>
                <a:ea typeface="Calibri"/>
                <a:cs typeface="Calibri"/>
              </a:defRPr>
            </a:pPr>
            <a:r>
              <a:rPr sz="900" b="0">
                <a:solidFill>
                  <a:srgbClr val="D2AB39"/>
                </a:solidFill>
                <a:latin typeface="Calibri"/>
                <a:ea typeface="Calibri"/>
                <a:cs typeface="Calibri"/>
              </a:rPr>
              <a:t>■</a:t>
            </a:r>
          </a:p>
        </p:txBody>
      </p:sp>
      <p:sp>
        <p:nvSpPr>
          <p:cNvPr id="246" name="Rectangle 245">
            <a:extLst>
              <a:ext uri="{FF2B5EF4-FFF2-40B4-BE49-F238E27FC236}">
                <a16:creationId xmlns:a16="http://schemas.microsoft.com/office/drawing/2014/main" id="{847D1BF1-0F93-1907-62AE-9A5F50EC1315}"/>
              </a:ext>
            </a:extLst>
          </p:cNvPr>
          <p:cNvSpPr>
            <a:spLocks noGrp="1"/>
          </p:cNvSpPr>
          <p:nvPr/>
        </p:nvSpPr>
        <p:spPr>
          <a:xfrm>
            <a:off x="4629150" y="5372100"/>
            <a:ext cx="2905125" cy="200025"/>
          </a:xfrm>
          <a:prstGeom prst="rect">
            <a:avLst/>
          </a:prstGeom>
          <a:noFill/>
          <a:ln w="0">
            <a:noFill/>
            <a:prstDash val="solid"/>
          </a:ln>
        </p:spPr>
        <p:txBody>
          <a:bodyPr lIns="0" tIns="0" rIns="0" bIns="0"/>
          <a:lstStyle>
            <a:defPPr>
              <a:defRPr sz="975" b="0">
                <a:solidFill>
                  <a:srgbClr val="000000"/>
                </a:solidFill>
                <a:latin typeface="Calibri"/>
                <a:ea typeface="Calibri"/>
                <a:cs typeface="Calibri"/>
              </a:defRPr>
            </a:defPPr>
            <a:lvl1pPr>
              <a:defRPr sz="975" b="0">
                <a:solidFill>
                  <a:srgbClr val="000000"/>
                </a:solidFill>
                <a:latin typeface="Calibri"/>
                <a:ea typeface="Calibri"/>
                <a:cs typeface="Calibri"/>
              </a:defRPr>
            </a:lvl1pPr>
            <a:lvl2pPr>
              <a:defRPr sz="975" b="0">
                <a:solidFill>
                  <a:srgbClr val="000000"/>
                </a:solidFill>
                <a:latin typeface="Calibri"/>
                <a:ea typeface="Calibri"/>
                <a:cs typeface="Calibri"/>
              </a:defRPr>
            </a:lvl2pPr>
            <a:lvl3pPr>
              <a:defRPr sz="975" b="0">
                <a:solidFill>
                  <a:srgbClr val="000000"/>
                </a:solidFill>
                <a:latin typeface="Calibri"/>
                <a:ea typeface="Calibri"/>
                <a:cs typeface="Calibri"/>
              </a:defRPr>
            </a:lvl3pPr>
            <a:lvl4pPr>
              <a:defRPr sz="975" b="0">
                <a:solidFill>
                  <a:srgbClr val="000000"/>
                </a:solidFill>
                <a:latin typeface="Calibri"/>
                <a:ea typeface="Calibri"/>
                <a:cs typeface="Calibri"/>
              </a:defRPr>
            </a:lvl4pPr>
            <a:lvl5pPr>
              <a:defRPr sz="975" b="0">
                <a:solidFill>
                  <a:srgbClr val="000000"/>
                </a:solidFill>
                <a:latin typeface="Calibri"/>
                <a:ea typeface="Calibri"/>
                <a:cs typeface="Calibri"/>
              </a:defRPr>
            </a:lvl5pPr>
            <a:lvl6pPr>
              <a:defRPr sz="975" b="0">
                <a:solidFill>
                  <a:srgbClr val="000000"/>
                </a:solidFill>
                <a:latin typeface="Calibri"/>
                <a:ea typeface="Calibri"/>
                <a:cs typeface="Calibri"/>
              </a:defRPr>
            </a:lvl6pPr>
            <a:lvl7pPr>
              <a:defRPr sz="975" b="0">
                <a:solidFill>
                  <a:srgbClr val="000000"/>
                </a:solidFill>
                <a:latin typeface="Calibri"/>
                <a:ea typeface="Calibri"/>
                <a:cs typeface="Calibri"/>
              </a:defRPr>
            </a:lvl7pPr>
            <a:lvl8pPr>
              <a:defRPr sz="975" b="0">
                <a:solidFill>
                  <a:srgbClr val="000000"/>
                </a:solidFill>
                <a:latin typeface="Calibri"/>
                <a:ea typeface="Calibri"/>
                <a:cs typeface="Calibri"/>
              </a:defRPr>
            </a:lvl8pPr>
            <a:lvl9pPr>
              <a:defRPr sz="975" b="0">
                <a:solidFill>
                  <a:srgbClr val="000000"/>
                </a:solidFill>
                <a:latin typeface="Calibri"/>
                <a:ea typeface="Calibri"/>
                <a:cs typeface="Calibri"/>
              </a:defRPr>
            </a:lvl9pPr>
          </a:lstStyle>
          <a:p>
            <a:pPr>
              <a:defRPr sz="975" b="0">
                <a:solidFill>
                  <a:srgbClr val="000000"/>
                </a:solidFill>
                <a:latin typeface="Calibri"/>
                <a:ea typeface="Calibri"/>
                <a:cs typeface="Calibri"/>
              </a:defRPr>
            </a:pPr>
            <a:r>
              <a:rPr sz="975" b="0">
                <a:solidFill>
                  <a:srgbClr val="000000"/>
                </a:solidFill>
                <a:latin typeface="Calibri"/>
                <a:ea typeface="Calibri"/>
                <a:cs typeface="Calibri"/>
              </a:rPr>
              <a:t>Payload: 30.0 kg (8%)</a:t>
            </a:r>
          </a:p>
        </p:txBody>
      </p:sp>
      <p:sp>
        <p:nvSpPr>
          <p:cNvPr id="247" name="Rectangle 246">
            <a:extLst>
              <a:ext uri="{FF2B5EF4-FFF2-40B4-BE49-F238E27FC236}">
                <a16:creationId xmlns:a16="http://schemas.microsoft.com/office/drawing/2014/main" id="{EDB0D44D-B0F1-3E52-C475-320D1B74C722}"/>
              </a:ext>
            </a:extLst>
          </p:cNvPr>
          <p:cNvSpPr>
            <a:spLocks noGrp="1"/>
          </p:cNvSpPr>
          <p:nvPr/>
        </p:nvSpPr>
        <p:spPr>
          <a:xfrm>
            <a:off x="4476750" y="5543550"/>
            <a:ext cx="142875" cy="171450"/>
          </a:xfrm>
          <a:prstGeom prst="rect">
            <a:avLst/>
          </a:prstGeom>
          <a:noFill/>
          <a:ln w="0">
            <a:noFill/>
            <a:prstDash val="solid"/>
          </a:ln>
        </p:spPr>
        <p:txBody>
          <a:bodyPr lIns="0" tIns="0" rIns="0" bIns="0"/>
          <a:lstStyle>
            <a:defPPr>
              <a:defRPr sz="900" b="0">
                <a:solidFill>
                  <a:srgbClr val="518BB7"/>
                </a:solidFill>
                <a:latin typeface="Calibri"/>
                <a:ea typeface="Calibri"/>
                <a:cs typeface="Calibri"/>
              </a:defRPr>
            </a:defPPr>
            <a:lvl1pPr>
              <a:defRPr sz="900" b="0">
                <a:solidFill>
                  <a:srgbClr val="518BB7"/>
                </a:solidFill>
                <a:latin typeface="Calibri"/>
                <a:ea typeface="Calibri"/>
                <a:cs typeface="Calibri"/>
              </a:defRPr>
            </a:lvl1pPr>
            <a:lvl2pPr>
              <a:defRPr sz="900" b="0">
                <a:solidFill>
                  <a:srgbClr val="518BB7"/>
                </a:solidFill>
                <a:latin typeface="Calibri"/>
                <a:ea typeface="Calibri"/>
                <a:cs typeface="Calibri"/>
              </a:defRPr>
            </a:lvl2pPr>
            <a:lvl3pPr>
              <a:defRPr sz="900" b="0">
                <a:solidFill>
                  <a:srgbClr val="518BB7"/>
                </a:solidFill>
                <a:latin typeface="Calibri"/>
                <a:ea typeface="Calibri"/>
                <a:cs typeface="Calibri"/>
              </a:defRPr>
            </a:lvl3pPr>
            <a:lvl4pPr>
              <a:defRPr sz="900" b="0">
                <a:solidFill>
                  <a:srgbClr val="518BB7"/>
                </a:solidFill>
                <a:latin typeface="Calibri"/>
                <a:ea typeface="Calibri"/>
                <a:cs typeface="Calibri"/>
              </a:defRPr>
            </a:lvl4pPr>
            <a:lvl5pPr>
              <a:defRPr sz="900" b="0">
                <a:solidFill>
                  <a:srgbClr val="518BB7"/>
                </a:solidFill>
                <a:latin typeface="Calibri"/>
                <a:ea typeface="Calibri"/>
                <a:cs typeface="Calibri"/>
              </a:defRPr>
            </a:lvl5pPr>
            <a:lvl6pPr>
              <a:defRPr sz="900" b="0">
                <a:solidFill>
                  <a:srgbClr val="518BB7"/>
                </a:solidFill>
                <a:latin typeface="Calibri"/>
                <a:ea typeface="Calibri"/>
                <a:cs typeface="Calibri"/>
              </a:defRPr>
            </a:lvl6pPr>
            <a:lvl7pPr>
              <a:defRPr sz="900" b="0">
                <a:solidFill>
                  <a:srgbClr val="518BB7"/>
                </a:solidFill>
                <a:latin typeface="Calibri"/>
                <a:ea typeface="Calibri"/>
                <a:cs typeface="Calibri"/>
              </a:defRPr>
            </a:lvl7pPr>
            <a:lvl8pPr>
              <a:defRPr sz="900" b="0">
                <a:solidFill>
                  <a:srgbClr val="518BB7"/>
                </a:solidFill>
                <a:latin typeface="Calibri"/>
                <a:ea typeface="Calibri"/>
                <a:cs typeface="Calibri"/>
              </a:defRPr>
            </a:lvl8pPr>
            <a:lvl9pPr>
              <a:defRPr sz="900" b="0">
                <a:solidFill>
                  <a:srgbClr val="518BB7"/>
                </a:solidFill>
                <a:latin typeface="Calibri"/>
                <a:ea typeface="Calibri"/>
                <a:cs typeface="Calibri"/>
              </a:defRPr>
            </a:lvl9pPr>
          </a:lstStyle>
          <a:p>
            <a:pPr>
              <a:defRPr sz="900" b="0">
                <a:solidFill>
                  <a:srgbClr val="518BB7"/>
                </a:solidFill>
                <a:latin typeface="Calibri"/>
                <a:ea typeface="Calibri"/>
                <a:cs typeface="Calibri"/>
              </a:defRPr>
            </a:pPr>
            <a:r>
              <a:rPr sz="900" b="0">
                <a:solidFill>
                  <a:srgbClr val="518BB7"/>
                </a:solidFill>
                <a:latin typeface="Calibri"/>
                <a:ea typeface="Calibri"/>
                <a:cs typeface="Calibri"/>
              </a:rPr>
              <a:t>■</a:t>
            </a:r>
          </a:p>
        </p:txBody>
      </p:sp>
      <p:sp>
        <p:nvSpPr>
          <p:cNvPr id="248" name="Rectangle 247">
            <a:extLst>
              <a:ext uri="{FF2B5EF4-FFF2-40B4-BE49-F238E27FC236}">
                <a16:creationId xmlns:a16="http://schemas.microsoft.com/office/drawing/2014/main" id="{75C0048A-AC1C-2222-BA63-034DBA851E4F}"/>
              </a:ext>
            </a:extLst>
          </p:cNvPr>
          <p:cNvSpPr>
            <a:spLocks noGrp="1"/>
          </p:cNvSpPr>
          <p:nvPr/>
        </p:nvSpPr>
        <p:spPr>
          <a:xfrm>
            <a:off x="4629150" y="5543550"/>
            <a:ext cx="2905125" cy="200025"/>
          </a:xfrm>
          <a:prstGeom prst="rect">
            <a:avLst/>
          </a:prstGeom>
          <a:noFill/>
          <a:ln w="0">
            <a:noFill/>
            <a:prstDash val="solid"/>
          </a:ln>
        </p:spPr>
        <p:txBody>
          <a:bodyPr lIns="0" tIns="0" rIns="0" bIns="0"/>
          <a:lstStyle>
            <a:defPPr>
              <a:defRPr sz="975" b="0">
                <a:solidFill>
                  <a:srgbClr val="000000"/>
                </a:solidFill>
                <a:latin typeface="Calibri"/>
                <a:ea typeface="Calibri"/>
                <a:cs typeface="Calibri"/>
              </a:defRPr>
            </a:defPPr>
            <a:lvl1pPr>
              <a:defRPr sz="975" b="0">
                <a:solidFill>
                  <a:srgbClr val="000000"/>
                </a:solidFill>
                <a:latin typeface="Calibri"/>
                <a:ea typeface="Calibri"/>
                <a:cs typeface="Calibri"/>
              </a:defRPr>
            </a:lvl1pPr>
            <a:lvl2pPr>
              <a:defRPr sz="975" b="0">
                <a:solidFill>
                  <a:srgbClr val="000000"/>
                </a:solidFill>
                <a:latin typeface="Calibri"/>
                <a:ea typeface="Calibri"/>
                <a:cs typeface="Calibri"/>
              </a:defRPr>
            </a:lvl2pPr>
            <a:lvl3pPr>
              <a:defRPr sz="975" b="0">
                <a:solidFill>
                  <a:srgbClr val="000000"/>
                </a:solidFill>
                <a:latin typeface="Calibri"/>
                <a:ea typeface="Calibri"/>
                <a:cs typeface="Calibri"/>
              </a:defRPr>
            </a:lvl3pPr>
            <a:lvl4pPr>
              <a:defRPr sz="975" b="0">
                <a:solidFill>
                  <a:srgbClr val="000000"/>
                </a:solidFill>
                <a:latin typeface="Calibri"/>
                <a:ea typeface="Calibri"/>
                <a:cs typeface="Calibri"/>
              </a:defRPr>
            </a:lvl4pPr>
            <a:lvl5pPr>
              <a:defRPr sz="975" b="0">
                <a:solidFill>
                  <a:srgbClr val="000000"/>
                </a:solidFill>
                <a:latin typeface="Calibri"/>
                <a:ea typeface="Calibri"/>
                <a:cs typeface="Calibri"/>
              </a:defRPr>
            </a:lvl5pPr>
            <a:lvl6pPr>
              <a:defRPr sz="975" b="0">
                <a:solidFill>
                  <a:srgbClr val="000000"/>
                </a:solidFill>
                <a:latin typeface="Calibri"/>
                <a:ea typeface="Calibri"/>
                <a:cs typeface="Calibri"/>
              </a:defRPr>
            </a:lvl6pPr>
            <a:lvl7pPr>
              <a:defRPr sz="975" b="0">
                <a:solidFill>
                  <a:srgbClr val="000000"/>
                </a:solidFill>
                <a:latin typeface="Calibri"/>
                <a:ea typeface="Calibri"/>
                <a:cs typeface="Calibri"/>
              </a:defRPr>
            </a:lvl7pPr>
            <a:lvl8pPr>
              <a:defRPr sz="975" b="0">
                <a:solidFill>
                  <a:srgbClr val="000000"/>
                </a:solidFill>
                <a:latin typeface="Calibri"/>
                <a:ea typeface="Calibri"/>
                <a:cs typeface="Calibri"/>
              </a:defRPr>
            </a:lvl8pPr>
            <a:lvl9pPr>
              <a:defRPr sz="975" b="0">
                <a:solidFill>
                  <a:srgbClr val="000000"/>
                </a:solidFill>
                <a:latin typeface="Calibri"/>
                <a:ea typeface="Calibri"/>
                <a:cs typeface="Calibri"/>
              </a:defRPr>
            </a:lvl9pPr>
          </a:lstStyle>
          <a:p>
            <a:pPr>
              <a:defRPr sz="975" b="0">
                <a:solidFill>
                  <a:srgbClr val="000000"/>
                </a:solidFill>
                <a:latin typeface="Calibri"/>
                <a:ea typeface="Calibri"/>
                <a:cs typeface="Calibri"/>
              </a:defRPr>
            </a:pPr>
            <a:r>
              <a:rPr sz="975" b="0">
                <a:solidFill>
                  <a:srgbClr val="000000"/>
                </a:solidFill>
                <a:latin typeface="Calibri"/>
                <a:ea typeface="Calibri"/>
                <a:cs typeface="Calibri"/>
              </a:rPr>
              <a:t>Fuel: 33.1 kg (9%)</a:t>
            </a:r>
          </a:p>
        </p:txBody>
      </p:sp>
      <p:sp>
        <p:nvSpPr>
          <p:cNvPr id="249" name="Rectangle 248">
            <a:extLst>
              <a:ext uri="{FF2B5EF4-FFF2-40B4-BE49-F238E27FC236}">
                <a16:creationId xmlns:a16="http://schemas.microsoft.com/office/drawing/2014/main" id="{2D6391BB-B84B-A8DB-0BEC-7EC8425F71F9}"/>
              </a:ext>
            </a:extLst>
          </p:cNvPr>
          <p:cNvSpPr>
            <a:spLocks noGrp="1"/>
          </p:cNvSpPr>
          <p:nvPr/>
        </p:nvSpPr>
        <p:spPr>
          <a:xfrm>
            <a:off x="4476750" y="5715000"/>
            <a:ext cx="142875" cy="171450"/>
          </a:xfrm>
          <a:prstGeom prst="rect">
            <a:avLst/>
          </a:prstGeom>
          <a:noFill/>
          <a:ln w="0">
            <a:noFill/>
            <a:prstDash val="solid"/>
          </a:ln>
        </p:spPr>
        <p:txBody>
          <a:bodyPr lIns="0" tIns="0" rIns="0" bIns="0"/>
          <a:lstStyle>
            <a:defPPr>
              <a:defRPr sz="900" b="0">
                <a:solidFill>
                  <a:srgbClr val="B2BAC1"/>
                </a:solidFill>
                <a:latin typeface="Calibri"/>
                <a:ea typeface="Calibri"/>
                <a:cs typeface="Calibri"/>
              </a:defRPr>
            </a:defPPr>
            <a:lvl1pPr>
              <a:defRPr sz="900" b="0">
                <a:solidFill>
                  <a:srgbClr val="B2BAC1"/>
                </a:solidFill>
                <a:latin typeface="Calibri"/>
                <a:ea typeface="Calibri"/>
                <a:cs typeface="Calibri"/>
              </a:defRPr>
            </a:lvl1pPr>
            <a:lvl2pPr>
              <a:defRPr sz="900" b="0">
                <a:solidFill>
                  <a:srgbClr val="B2BAC1"/>
                </a:solidFill>
                <a:latin typeface="Calibri"/>
                <a:ea typeface="Calibri"/>
                <a:cs typeface="Calibri"/>
              </a:defRPr>
            </a:lvl2pPr>
            <a:lvl3pPr>
              <a:defRPr sz="900" b="0">
                <a:solidFill>
                  <a:srgbClr val="B2BAC1"/>
                </a:solidFill>
                <a:latin typeface="Calibri"/>
                <a:ea typeface="Calibri"/>
                <a:cs typeface="Calibri"/>
              </a:defRPr>
            </a:lvl3pPr>
            <a:lvl4pPr>
              <a:defRPr sz="900" b="0">
                <a:solidFill>
                  <a:srgbClr val="B2BAC1"/>
                </a:solidFill>
                <a:latin typeface="Calibri"/>
                <a:ea typeface="Calibri"/>
                <a:cs typeface="Calibri"/>
              </a:defRPr>
            </a:lvl4pPr>
            <a:lvl5pPr>
              <a:defRPr sz="900" b="0">
                <a:solidFill>
                  <a:srgbClr val="B2BAC1"/>
                </a:solidFill>
                <a:latin typeface="Calibri"/>
                <a:ea typeface="Calibri"/>
                <a:cs typeface="Calibri"/>
              </a:defRPr>
            </a:lvl5pPr>
            <a:lvl6pPr>
              <a:defRPr sz="900" b="0">
                <a:solidFill>
                  <a:srgbClr val="B2BAC1"/>
                </a:solidFill>
                <a:latin typeface="Calibri"/>
                <a:ea typeface="Calibri"/>
                <a:cs typeface="Calibri"/>
              </a:defRPr>
            </a:lvl6pPr>
            <a:lvl7pPr>
              <a:defRPr sz="900" b="0">
                <a:solidFill>
                  <a:srgbClr val="B2BAC1"/>
                </a:solidFill>
                <a:latin typeface="Calibri"/>
                <a:ea typeface="Calibri"/>
                <a:cs typeface="Calibri"/>
              </a:defRPr>
            </a:lvl7pPr>
            <a:lvl8pPr>
              <a:defRPr sz="900" b="0">
                <a:solidFill>
                  <a:srgbClr val="B2BAC1"/>
                </a:solidFill>
                <a:latin typeface="Calibri"/>
                <a:ea typeface="Calibri"/>
                <a:cs typeface="Calibri"/>
              </a:defRPr>
            </a:lvl8pPr>
            <a:lvl9pPr>
              <a:defRPr sz="900" b="0">
                <a:solidFill>
                  <a:srgbClr val="B2BAC1"/>
                </a:solidFill>
                <a:latin typeface="Calibri"/>
                <a:ea typeface="Calibri"/>
                <a:cs typeface="Calibri"/>
              </a:defRPr>
            </a:lvl9pPr>
          </a:lstStyle>
          <a:p>
            <a:pPr>
              <a:defRPr sz="900" b="0">
                <a:solidFill>
                  <a:srgbClr val="B2BAC1"/>
                </a:solidFill>
                <a:latin typeface="Calibri"/>
                <a:ea typeface="Calibri"/>
                <a:cs typeface="Calibri"/>
              </a:defRPr>
            </a:pPr>
            <a:r>
              <a:rPr sz="900" b="0">
                <a:solidFill>
                  <a:srgbClr val="B2BAC1"/>
                </a:solidFill>
                <a:latin typeface="Calibri"/>
                <a:ea typeface="Calibri"/>
                <a:cs typeface="Calibri"/>
              </a:rPr>
              <a:t>■</a:t>
            </a:r>
          </a:p>
        </p:txBody>
      </p:sp>
      <p:sp>
        <p:nvSpPr>
          <p:cNvPr id="250" name="Rectangle 249">
            <a:extLst>
              <a:ext uri="{FF2B5EF4-FFF2-40B4-BE49-F238E27FC236}">
                <a16:creationId xmlns:a16="http://schemas.microsoft.com/office/drawing/2014/main" id="{89D64DEC-A62D-9ECA-26DD-DF6D7A025792}"/>
              </a:ext>
            </a:extLst>
          </p:cNvPr>
          <p:cNvSpPr>
            <a:spLocks noGrp="1"/>
          </p:cNvSpPr>
          <p:nvPr/>
        </p:nvSpPr>
        <p:spPr>
          <a:xfrm>
            <a:off x="4629150" y="5715000"/>
            <a:ext cx="2905125" cy="200025"/>
          </a:xfrm>
          <a:prstGeom prst="rect">
            <a:avLst/>
          </a:prstGeom>
          <a:noFill/>
          <a:ln w="0">
            <a:noFill/>
            <a:prstDash val="solid"/>
          </a:ln>
        </p:spPr>
        <p:txBody>
          <a:bodyPr lIns="0" tIns="0" rIns="0" bIns="0"/>
          <a:lstStyle>
            <a:defPPr>
              <a:defRPr sz="975" b="0">
                <a:solidFill>
                  <a:srgbClr val="000000"/>
                </a:solidFill>
                <a:latin typeface="Calibri"/>
                <a:ea typeface="Calibri"/>
                <a:cs typeface="Calibri"/>
              </a:defRPr>
            </a:defPPr>
            <a:lvl1pPr>
              <a:defRPr sz="975" b="0">
                <a:solidFill>
                  <a:srgbClr val="000000"/>
                </a:solidFill>
                <a:latin typeface="Calibri"/>
                <a:ea typeface="Calibri"/>
                <a:cs typeface="Calibri"/>
              </a:defRPr>
            </a:lvl1pPr>
            <a:lvl2pPr>
              <a:defRPr sz="975" b="0">
                <a:solidFill>
                  <a:srgbClr val="000000"/>
                </a:solidFill>
                <a:latin typeface="Calibri"/>
                <a:ea typeface="Calibri"/>
                <a:cs typeface="Calibri"/>
              </a:defRPr>
            </a:lvl2pPr>
            <a:lvl3pPr>
              <a:defRPr sz="975" b="0">
                <a:solidFill>
                  <a:srgbClr val="000000"/>
                </a:solidFill>
                <a:latin typeface="Calibri"/>
                <a:ea typeface="Calibri"/>
                <a:cs typeface="Calibri"/>
              </a:defRPr>
            </a:lvl3pPr>
            <a:lvl4pPr>
              <a:defRPr sz="975" b="0">
                <a:solidFill>
                  <a:srgbClr val="000000"/>
                </a:solidFill>
                <a:latin typeface="Calibri"/>
                <a:ea typeface="Calibri"/>
                <a:cs typeface="Calibri"/>
              </a:defRPr>
            </a:lvl4pPr>
            <a:lvl5pPr>
              <a:defRPr sz="975" b="0">
                <a:solidFill>
                  <a:srgbClr val="000000"/>
                </a:solidFill>
                <a:latin typeface="Calibri"/>
                <a:ea typeface="Calibri"/>
                <a:cs typeface="Calibri"/>
              </a:defRPr>
            </a:lvl5pPr>
            <a:lvl6pPr>
              <a:defRPr sz="975" b="0">
                <a:solidFill>
                  <a:srgbClr val="000000"/>
                </a:solidFill>
                <a:latin typeface="Calibri"/>
                <a:ea typeface="Calibri"/>
                <a:cs typeface="Calibri"/>
              </a:defRPr>
            </a:lvl6pPr>
            <a:lvl7pPr>
              <a:defRPr sz="975" b="0">
                <a:solidFill>
                  <a:srgbClr val="000000"/>
                </a:solidFill>
                <a:latin typeface="Calibri"/>
                <a:ea typeface="Calibri"/>
                <a:cs typeface="Calibri"/>
              </a:defRPr>
            </a:lvl7pPr>
            <a:lvl8pPr>
              <a:defRPr sz="975" b="0">
                <a:solidFill>
                  <a:srgbClr val="000000"/>
                </a:solidFill>
                <a:latin typeface="Calibri"/>
                <a:ea typeface="Calibri"/>
                <a:cs typeface="Calibri"/>
              </a:defRPr>
            </a:lvl8pPr>
            <a:lvl9pPr>
              <a:defRPr sz="975" b="0">
                <a:solidFill>
                  <a:srgbClr val="000000"/>
                </a:solidFill>
                <a:latin typeface="Calibri"/>
                <a:ea typeface="Calibri"/>
                <a:cs typeface="Calibri"/>
              </a:defRPr>
            </a:lvl9pPr>
          </a:lstStyle>
          <a:p>
            <a:pPr>
              <a:defRPr sz="975" b="0">
                <a:solidFill>
                  <a:srgbClr val="000000"/>
                </a:solidFill>
                <a:latin typeface="Calibri"/>
                <a:ea typeface="Calibri"/>
                <a:cs typeface="Calibri"/>
              </a:defRPr>
            </a:pPr>
            <a:r>
              <a:rPr sz="975" b="0">
                <a:solidFill>
                  <a:srgbClr val="000000"/>
                </a:solidFill>
                <a:latin typeface="Calibri"/>
                <a:ea typeface="Calibri"/>
                <a:cs typeface="Calibri"/>
              </a:rPr>
              <a:t>Others: 49.7 kg (13%)</a:t>
            </a:r>
          </a:p>
        </p:txBody>
      </p:sp>
      <p:sp>
        <p:nvSpPr>
          <p:cNvPr id="251" name="Rectangle 250">
            <a:extLst>
              <a:ext uri="{FF2B5EF4-FFF2-40B4-BE49-F238E27FC236}">
                <a16:creationId xmlns:a16="http://schemas.microsoft.com/office/drawing/2014/main" id="{1C75E22D-B04B-4E4E-571D-7B4E8557C8C0}"/>
              </a:ext>
            </a:extLst>
          </p:cNvPr>
          <p:cNvSpPr>
            <a:spLocks noGrp="1"/>
          </p:cNvSpPr>
          <p:nvPr/>
        </p:nvSpPr>
        <p:spPr>
          <a:xfrm>
            <a:off x="7667625" y="3762375"/>
            <a:ext cx="4000500" cy="285750"/>
          </a:xfrm>
          <a:prstGeom prst="rect">
            <a:avLst/>
          </a:prstGeom>
          <a:noFill/>
          <a:ln w="0">
            <a:noFill/>
            <a:prstDash val="solid"/>
          </a:ln>
        </p:spPr>
        <p:txBody>
          <a:bodyPr lIns="0" tIns="0" rIns="0" bIns="0"/>
          <a:lstStyle>
            <a:defPPr>
              <a:defRPr sz="1575" b="1">
                <a:solidFill>
                  <a:srgbClr val="000000"/>
                </a:solidFill>
                <a:latin typeface="Calibri"/>
                <a:ea typeface="Calibri"/>
                <a:cs typeface="Calibri"/>
              </a:defRPr>
            </a:defPPr>
            <a:lvl1pPr>
              <a:defRPr sz="1575" b="1">
                <a:solidFill>
                  <a:srgbClr val="000000"/>
                </a:solidFill>
                <a:latin typeface="Calibri"/>
                <a:ea typeface="Calibri"/>
                <a:cs typeface="Calibri"/>
              </a:defRPr>
            </a:lvl1pPr>
            <a:lvl2pPr>
              <a:defRPr sz="1575" b="1">
                <a:solidFill>
                  <a:srgbClr val="000000"/>
                </a:solidFill>
                <a:latin typeface="Calibri"/>
                <a:ea typeface="Calibri"/>
                <a:cs typeface="Calibri"/>
              </a:defRPr>
            </a:lvl2pPr>
            <a:lvl3pPr>
              <a:defRPr sz="1575" b="1">
                <a:solidFill>
                  <a:srgbClr val="000000"/>
                </a:solidFill>
                <a:latin typeface="Calibri"/>
                <a:ea typeface="Calibri"/>
                <a:cs typeface="Calibri"/>
              </a:defRPr>
            </a:lvl3pPr>
            <a:lvl4pPr>
              <a:defRPr sz="1575" b="1">
                <a:solidFill>
                  <a:srgbClr val="000000"/>
                </a:solidFill>
                <a:latin typeface="Calibri"/>
                <a:ea typeface="Calibri"/>
                <a:cs typeface="Calibri"/>
              </a:defRPr>
            </a:lvl4pPr>
            <a:lvl5pPr>
              <a:defRPr sz="1575" b="1">
                <a:solidFill>
                  <a:srgbClr val="000000"/>
                </a:solidFill>
                <a:latin typeface="Calibri"/>
                <a:ea typeface="Calibri"/>
                <a:cs typeface="Calibri"/>
              </a:defRPr>
            </a:lvl5pPr>
            <a:lvl6pPr>
              <a:defRPr sz="1575" b="1">
                <a:solidFill>
                  <a:srgbClr val="000000"/>
                </a:solidFill>
                <a:latin typeface="Calibri"/>
                <a:ea typeface="Calibri"/>
                <a:cs typeface="Calibri"/>
              </a:defRPr>
            </a:lvl6pPr>
            <a:lvl7pPr>
              <a:defRPr sz="1575" b="1">
                <a:solidFill>
                  <a:srgbClr val="000000"/>
                </a:solidFill>
                <a:latin typeface="Calibri"/>
                <a:ea typeface="Calibri"/>
                <a:cs typeface="Calibri"/>
              </a:defRPr>
            </a:lvl7pPr>
            <a:lvl8pPr>
              <a:defRPr sz="1575" b="1">
                <a:solidFill>
                  <a:srgbClr val="000000"/>
                </a:solidFill>
                <a:latin typeface="Calibri"/>
                <a:ea typeface="Calibri"/>
                <a:cs typeface="Calibri"/>
              </a:defRPr>
            </a:lvl8pPr>
            <a:lvl9pPr>
              <a:defRPr sz="1575" b="1">
                <a:solidFill>
                  <a:srgbClr val="000000"/>
                </a:solidFill>
                <a:latin typeface="Calibri"/>
                <a:ea typeface="Calibri"/>
                <a:cs typeface="Calibri"/>
              </a:defRPr>
            </a:lvl9pPr>
          </a:lstStyle>
          <a:p>
            <a:pPr>
              <a:defRPr sz="1575" b="1">
                <a:solidFill>
                  <a:srgbClr val="000000"/>
                </a:solidFill>
                <a:latin typeface="Calibri"/>
                <a:ea typeface="Calibri"/>
                <a:cs typeface="Calibri"/>
              </a:defRPr>
            </a:pPr>
            <a:r>
              <a:rPr lang="en-US" sz="1575" b="1" dirty="0">
                <a:solidFill>
                  <a:srgbClr val="000000"/>
                </a:solidFill>
                <a:latin typeface="Calibri"/>
                <a:ea typeface="Calibri"/>
                <a:cs typeface="Calibri"/>
              </a:rPr>
              <a:t>TR </a:t>
            </a:r>
            <a:r>
              <a:rPr sz="1575" b="1" dirty="0">
                <a:solidFill>
                  <a:srgbClr val="000000"/>
                </a:solidFill>
                <a:latin typeface="Calibri"/>
                <a:ea typeface="Calibri"/>
                <a:cs typeface="Calibri"/>
              </a:rPr>
              <a:t>Turbo</a:t>
            </a:r>
            <a:r>
              <a:rPr lang="en-US" sz="1575" b="1" dirty="0">
                <a:solidFill>
                  <a:srgbClr val="000000"/>
                </a:solidFill>
                <a:latin typeface="Calibri"/>
                <a:ea typeface="Calibri"/>
                <a:cs typeface="Calibri"/>
              </a:rPr>
              <a:t>-</a:t>
            </a:r>
            <a:r>
              <a:rPr sz="1575" b="1" dirty="0">
                <a:solidFill>
                  <a:srgbClr val="000000"/>
                </a:solidFill>
                <a:latin typeface="Calibri"/>
                <a:ea typeface="Calibri"/>
                <a:cs typeface="Calibri"/>
              </a:rPr>
              <a:t>electric: 321.3 kg</a:t>
            </a:r>
          </a:p>
        </p:txBody>
      </p:sp>
      <p:graphicFrame>
        <p:nvGraphicFramePr>
          <p:cNvPr id="252" name="Chart">
            <a:extLst>
              <a:ext uri="{FF2B5EF4-FFF2-40B4-BE49-F238E27FC236}">
                <a16:creationId xmlns:a16="http://schemas.microsoft.com/office/drawing/2014/main" id="{E37C3E3E-331B-82B9-3BBB-5BDAA5A17C23}"/>
              </a:ext>
            </a:extLst>
          </p:cNvPr>
          <p:cNvGraphicFramePr/>
          <p:nvPr/>
        </p:nvGraphicFramePr>
        <p:xfrm>
          <a:off x="7667625" y="4124325"/>
          <a:ext cx="1000125" cy="1000125"/>
        </p:xfrm>
        <a:graphic>
          <a:graphicData uri="http://schemas.openxmlformats.org/drawingml/2006/chart">
            <c:chart xmlns:c="http://schemas.openxmlformats.org/drawingml/2006/chart" xmlns:r="http://schemas.openxmlformats.org/officeDocument/2006/relationships" r:id="rId8"/>
          </a:graphicData>
        </a:graphic>
      </p:graphicFrame>
      <p:sp>
        <p:nvSpPr>
          <p:cNvPr id="253" name="Rectangle 252">
            <a:extLst>
              <a:ext uri="{FF2B5EF4-FFF2-40B4-BE49-F238E27FC236}">
                <a16:creationId xmlns:a16="http://schemas.microsoft.com/office/drawing/2014/main" id="{3BD4A21B-E0A3-EC6D-9F39-63BF4AC3564E}"/>
              </a:ext>
            </a:extLst>
          </p:cNvPr>
          <p:cNvSpPr>
            <a:spLocks noGrp="1"/>
          </p:cNvSpPr>
          <p:nvPr/>
        </p:nvSpPr>
        <p:spPr>
          <a:xfrm>
            <a:off x="8715375" y="4086225"/>
            <a:ext cx="142875" cy="171450"/>
          </a:xfrm>
          <a:prstGeom prst="rect">
            <a:avLst/>
          </a:prstGeom>
          <a:noFill/>
          <a:ln w="0">
            <a:noFill/>
            <a:prstDash val="solid"/>
          </a:ln>
        </p:spPr>
        <p:txBody>
          <a:bodyPr lIns="0" tIns="0" rIns="0" bIns="0"/>
          <a:lstStyle>
            <a:defPPr>
              <a:defRPr sz="900" b="0">
                <a:solidFill>
                  <a:srgbClr val="315773"/>
                </a:solidFill>
                <a:latin typeface="Calibri"/>
                <a:ea typeface="Calibri"/>
                <a:cs typeface="Calibri"/>
              </a:defRPr>
            </a:defPPr>
            <a:lvl1pPr>
              <a:defRPr sz="900" b="0">
                <a:solidFill>
                  <a:srgbClr val="315773"/>
                </a:solidFill>
                <a:latin typeface="Calibri"/>
                <a:ea typeface="Calibri"/>
                <a:cs typeface="Calibri"/>
              </a:defRPr>
            </a:lvl1pPr>
            <a:lvl2pPr>
              <a:defRPr sz="900" b="0">
                <a:solidFill>
                  <a:srgbClr val="315773"/>
                </a:solidFill>
                <a:latin typeface="Calibri"/>
                <a:ea typeface="Calibri"/>
                <a:cs typeface="Calibri"/>
              </a:defRPr>
            </a:lvl2pPr>
            <a:lvl3pPr>
              <a:defRPr sz="900" b="0">
                <a:solidFill>
                  <a:srgbClr val="315773"/>
                </a:solidFill>
                <a:latin typeface="Calibri"/>
                <a:ea typeface="Calibri"/>
                <a:cs typeface="Calibri"/>
              </a:defRPr>
            </a:lvl3pPr>
            <a:lvl4pPr>
              <a:defRPr sz="900" b="0">
                <a:solidFill>
                  <a:srgbClr val="315773"/>
                </a:solidFill>
                <a:latin typeface="Calibri"/>
                <a:ea typeface="Calibri"/>
                <a:cs typeface="Calibri"/>
              </a:defRPr>
            </a:lvl4pPr>
            <a:lvl5pPr>
              <a:defRPr sz="900" b="0">
                <a:solidFill>
                  <a:srgbClr val="315773"/>
                </a:solidFill>
                <a:latin typeface="Calibri"/>
                <a:ea typeface="Calibri"/>
                <a:cs typeface="Calibri"/>
              </a:defRPr>
            </a:lvl5pPr>
            <a:lvl6pPr>
              <a:defRPr sz="900" b="0">
                <a:solidFill>
                  <a:srgbClr val="315773"/>
                </a:solidFill>
                <a:latin typeface="Calibri"/>
                <a:ea typeface="Calibri"/>
                <a:cs typeface="Calibri"/>
              </a:defRPr>
            </a:lvl6pPr>
            <a:lvl7pPr>
              <a:defRPr sz="900" b="0">
                <a:solidFill>
                  <a:srgbClr val="315773"/>
                </a:solidFill>
                <a:latin typeface="Calibri"/>
                <a:ea typeface="Calibri"/>
                <a:cs typeface="Calibri"/>
              </a:defRPr>
            </a:lvl7pPr>
            <a:lvl8pPr>
              <a:defRPr sz="900" b="0">
                <a:solidFill>
                  <a:srgbClr val="315773"/>
                </a:solidFill>
                <a:latin typeface="Calibri"/>
                <a:ea typeface="Calibri"/>
                <a:cs typeface="Calibri"/>
              </a:defRPr>
            </a:lvl8pPr>
            <a:lvl9pPr>
              <a:defRPr sz="900" b="0">
                <a:solidFill>
                  <a:srgbClr val="315773"/>
                </a:solidFill>
                <a:latin typeface="Calibri"/>
                <a:ea typeface="Calibri"/>
                <a:cs typeface="Calibri"/>
              </a:defRPr>
            </a:lvl9pPr>
          </a:lstStyle>
          <a:p>
            <a:pPr>
              <a:defRPr sz="900" b="0">
                <a:solidFill>
                  <a:srgbClr val="315773"/>
                </a:solidFill>
                <a:latin typeface="Calibri"/>
                <a:ea typeface="Calibri"/>
                <a:cs typeface="Calibri"/>
              </a:defRPr>
            </a:pPr>
            <a:r>
              <a:rPr sz="900" b="0">
                <a:solidFill>
                  <a:srgbClr val="315773"/>
                </a:solidFill>
                <a:latin typeface="Calibri"/>
                <a:ea typeface="Calibri"/>
                <a:cs typeface="Calibri"/>
              </a:rPr>
              <a:t>■</a:t>
            </a:r>
          </a:p>
        </p:txBody>
      </p:sp>
      <p:sp>
        <p:nvSpPr>
          <p:cNvPr id="254" name="Rectangle 253">
            <a:extLst>
              <a:ext uri="{FF2B5EF4-FFF2-40B4-BE49-F238E27FC236}">
                <a16:creationId xmlns:a16="http://schemas.microsoft.com/office/drawing/2014/main" id="{462E3FAC-766D-C283-A627-DF125F3E2A06}"/>
              </a:ext>
            </a:extLst>
          </p:cNvPr>
          <p:cNvSpPr>
            <a:spLocks noGrp="1"/>
          </p:cNvSpPr>
          <p:nvPr/>
        </p:nvSpPr>
        <p:spPr>
          <a:xfrm>
            <a:off x="8867775" y="4086225"/>
            <a:ext cx="2905125" cy="200025"/>
          </a:xfrm>
          <a:prstGeom prst="rect">
            <a:avLst/>
          </a:prstGeom>
          <a:noFill/>
          <a:ln w="0">
            <a:noFill/>
            <a:prstDash val="solid"/>
          </a:ln>
        </p:spPr>
        <p:txBody>
          <a:bodyPr lIns="0" tIns="0" rIns="0" bIns="0"/>
          <a:lstStyle>
            <a:defPPr>
              <a:defRPr sz="975" b="0">
                <a:solidFill>
                  <a:srgbClr val="000000"/>
                </a:solidFill>
                <a:latin typeface="Calibri"/>
                <a:ea typeface="Calibri"/>
                <a:cs typeface="Calibri"/>
              </a:defRPr>
            </a:defPPr>
            <a:lvl1pPr>
              <a:defRPr sz="975" b="0">
                <a:solidFill>
                  <a:srgbClr val="000000"/>
                </a:solidFill>
                <a:latin typeface="Calibri"/>
                <a:ea typeface="Calibri"/>
                <a:cs typeface="Calibri"/>
              </a:defRPr>
            </a:lvl1pPr>
            <a:lvl2pPr>
              <a:defRPr sz="975" b="0">
                <a:solidFill>
                  <a:srgbClr val="000000"/>
                </a:solidFill>
                <a:latin typeface="Calibri"/>
                <a:ea typeface="Calibri"/>
                <a:cs typeface="Calibri"/>
              </a:defRPr>
            </a:lvl2pPr>
            <a:lvl3pPr>
              <a:defRPr sz="975" b="0">
                <a:solidFill>
                  <a:srgbClr val="000000"/>
                </a:solidFill>
                <a:latin typeface="Calibri"/>
                <a:ea typeface="Calibri"/>
                <a:cs typeface="Calibri"/>
              </a:defRPr>
            </a:lvl3pPr>
            <a:lvl4pPr>
              <a:defRPr sz="975" b="0">
                <a:solidFill>
                  <a:srgbClr val="000000"/>
                </a:solidFill>
                <a:latin typeface="Calibri"/>
                <a:ea typeface="Calibri"/>
                <a:cs typeface="Calibri"/>
              </a:defRPr>
            </a:lvl4pPr>
            <a:lvl5pPr>
              <a:defRPr sz="975" b="0">
                <a:solidFill>
                  <a:srgbClr val="000000"/>
                </a:solidFill>
                <a:latin typeface="Calibri"/>
                <a:ea typeface="Calibri"/>
                <a:cs typeface="Calibri"/>
              </a:defRPr>
            </a:lvl5pPr>
            <a:lvl6pPr>
              <a:defRPr sz="975" b="0">
                <a:solidFill>
                  <a:srgbClr val="000000"/>
                </a:solidFill>
                <a:latin typeface="Calibri"/>
                <a:ea typeface="Calibri"/>
                <a:cs typeface="Calibri"/>
              </a:defRPr>
            </a:lvl6pPr>
            <a:lvl7pPr>
              <a:defRPr sz="975" b="0">
                <a:solidFill>
                  <a:srgbClr val="000000"/>
                </a:solidFill>
                <a:latin typeface="Calibri"/>
                <a:ea typeface="Calibri"/>
                <a:cs typeface="Calibri"/>
              </a:defRPr>
            </a:lvl7pPr>
            <a:lvl8pPr>
              <a:defRPr sz="975" b="0">
                <a:solidFill>
                  <a:srgbClr val="000000"/>
                </a:solidFill>
                <a:latin typeface="Calibri"/>
                <a:ea typeface="Calibri"/>
                <a:cs typeface="Calibri"/>
              </a:defRPr>
            </a:lvl8pPr>
            <a:lvl9pPr>
              <a:defRPr sz="975" b="0">
                <a:solidFill>
                  <a:srgbClr val="000000"/>
                </a:solidFill>
                <a:latin typeface="Calibri"/>
                <a:ea typeface="Calibri"/>
                <a:cs typeface="Calibri"/>
              </a:defRPr>
            </a:lvl9pPr>
          </a:lstStyle>
          <a:p>
            <a:pPr>
              <a:defRPr sz="975" b="0">
                <a:solidFill>
                  <a:srgbClr val="000000"/>
                </a:solidFill>
                <a:latin typeface="Calibri"/>
                <a:ea typeface="Calibri"/>
                <a:cs typeface="Calibri"/>
              </a:defRPr>
            </a:pPr>
            <a:r>
              <a:rPr sz="975" b="0">
                <a:solidFill>
                  <a:srgbClr val="000000"/>
                </a:solidFill>
                <a:latin typeface="Calibri"/>
                <a:ea typeface="Calibri"/>
                <a:cs typeface="Calibri"/>
              </a:rPr>
              <a:t>Airframe structure: 96.6 kg (30%)</a:t>
            </a:r>
          </a:p>
        </p:txBody>
      </p:sp>
      <p:sp>
        <p:nvSpPr>
          <p:cNvPr id="255" name="Rectangle 254">
            <a:extLst>
              <a:ext uri="{FF2B5EF4-FFF2-40B4-BE49-F238E27FC236}">
                <a16:creationId xmlns:a16="http://schemas.microsoft.com/office/drawing/2014/main" id="{159063B9-4668-FB48-D8DE-2A32EFA5B9F1}"/>
              </a:ext>
            </a:extLst>
          </p:cNvPr>
          <p:cNvSpPr>
            <a:spLocks noGrp="1"/>
          </p:cNvSpPr>
          <p:nvPr/>
        </p:nvSpPr>
        <p:spPr>
          <a:xfrm>
            <a:off x="8715375" y="4257675"/>
            <a:ext cx="142875" cy="171450"/>
          </a:xfrm>
          <a:prstGeom prst="rect">
            <a:avLst/>
          </a:prstGeom>
          <a:noFill/>
          <a:ln w="0">
            <a:noFill/>
            <a:prstDash val="solid"/>
          </a:ln>
        </p:spPr>
        <p:txBody>
          <a:bodyPr lIns="0" tIns="0" rIns="0" bIns="0"/>
          <a:lstStyle>
            <a:defPPr>
              <a:defRPr sz="900" b="0">
                <a:solidFill>
                  <a:srgbClr val="8062A5"/>
                </a:solidFill>
                <a:latin typeface="Calibri"/>
                <a:ea typeface="Calibri"/>
                <a:cs typeface="Calibri"/>
              </a:defRPr>
            </a:defPPr>
            <a:lvl1pPr>
              <a:defRPr sz="900" b="0">
                <a:solidFill>
                  <a:srgbClr val="8062A5"/>
                </a:solidFill>
                <a:latin typeface="Calibri"/>
                <a:ea typeface="Calibri"/>
                <a:cs typeface="Calibri"/>
              </a:defRPr>
            </a:lvl1pPr>
            <a:lvl2pPr>
              <a:defRPr sz="900" b="0">
                <a:solidFill>
                  <a:srgbClr val="8062A5"/>
                </a:solidFill>
                <a:latin typeface="Calibri"/>
                <a:ea typeface="Calibri"/>
                <a:cs typeface="Calibri"/>
              </a:defRPr>
            </a:lvl2pPr>
            <a:lvl3pPr>
              <a:defRPr sz="900" b="0">
                <a:solidFill>
                  <a:srgbClr val="8062A5"/>
                </a:solidFill>
                <a:latin typeface="Calibri"/>
                <a:ea typeface="Calibri"/>
                <a:cs typeface="Calibri"/>
              </a:defRPr>
            </a:lvl3pPr>
            <a:lvl4pPr>
              <a:defRPr sz="900" b="0">
                <a:solidFill>
                  <a:srgbClr val="8062A5"/>
                </a:solidFill>
                <a:latin typeface="Calibri"/>
                <a:ea typeface="Calibri"/>
                <a:cs typeface="Calibri"/>
              </a:defRPr>
            </a:lvl4pPr>
            <a:lvl5pPr>
              <a:defRPr sz="900" b="0">
                <a:solidFill>
                  <a:srgbClr val="8062A5"/>
                </a:solidFill>
                <a:latin typeface="Calibri"/>
                <a:ea typeface="Calibri"/>
                <a:cs typeface="Calibri"/>
              </a:defRPr>
            </a:lvl5pPr>
            <a:lvl6pPr>
              <a:defRPr sz="900" b="0">
                <a:solidFill>
                  <a:srgbClr val="8062A5"/>
                </a:solidFill>
                <a:latin typeface="Calibri"/>
                <a:ea typeface="Calibri"/>
                <a:cs typeface="Calibri"/>
              </a:defRPr>
            </a:lvl6pPr>
            <a:lvl7pPr>
              <a:defRPr sz="900" b="0">
                <a:solidFill>
                  <a:srgbClr val="8062A5"/>
                </a:solidFill>
                <a:latin typeface="Calibri"/>
                <a:ea typeface="Calibri"/>
                <a:cs typeface="Calibri"/>
              </a:defRPr>
            </a:lvl7pPr>
            <a:lvl8pPr>
              <a:defRPr sz="900" b="0">
                <a:solidFill>
                  <a:srgbClr val="8062A5"/>
                </a:solidFill>
                <a:latin typeface="Calibri"/>
                <a:ea typeface="Calibri"/>
                <a:cs typeface="Calibri"/>
              </a:defRPr>
            </a:lvl8pPr>
            <a:lvl9pPr>
              <a:defRPr sz="900" b="0">
                <a:solidFill>
                  <a:srgbClr val="8062A5"/>
                </a:solidFill>
                <a:latin typeface="Calibri"/>
                <a:ea typeface="Calibri"/>
                <a:cs typeface="Calibri"/>
              </a:defRPr>
            </a:lvl9pPr>
          </a:lstStyle>
          <a:p>
            <a:pPr>
              <a:defRPr sz="900" b="0">
                <a:solidFill>
                  <a:srgbClr val="8062A5"/>
                </a:solidFill>
                <a:latin typeface="Calibri"/>
                <a:ea typeface="Calibri"/>
                <a:cs typeface="Calibri"/>
              </a:defRPr>
            </a:pPr>
            <a:r>
              <a:rPr sz="900" b="0">
                <a:solidFill>
                  <a:srgbClr val="8062A5"/>
                </a:solidFill>
                <a:latin typeface="Calibri"/>
                <a:ea typeface="Calibri"/>
                <a:cs typeface="Calibri"/>
              </a:rPr>
              <a:t>■</a:t>
            </a:r>
          </a:p>
        </p:txBody>
      </p:sp>
      <p:sp>
        <p:nvSpPr>
          <p:cNvPr id="256" name="Rectangle 255">
            <a:extLst>
              <a:ext uri="{FF2B5EF4-FFF2-40B4-BE49-F238E27FC236}">
                <a16:creationId xmlns:a16="http://schemas.microsoft.com/office/drawing/2014/main" id="{ED405845-B185-75C3-6334-A9BF120C2CA5}"/>
              </a:ext>
            </a:extLst>
          </p:cNvPr>
          <p:cNvSpPr>
            <a:spLocks noGrp="1"/>
          </p:cNvSpPr>
          <p:nvPr/>
        </p:nvSpPr>
        <p:spPr>
          <a:xfrm>
            <a:off x="8867775" y="4257675"/>
            <a:ext cx="2905125" cy="200025"/>
          </a:xfrm>
          <a:prstGeom prst="rect">
            <a:avLst/>
          </a:prstGeom>
          <a:noFill/>
          <a:ln w="0">
            <a:noFill/>
            <a:prstDash val="solid"/>
          </a:ln>
        </p:spPr>
        <p:txBody>
          <a:bodyPr lIns="0" tIns="0" rIns="0" bIns="0"/>
          <a:lstStyle>
            <a:defPPr>
              <a:defRPr sz="975" b="0">
                <a:solidFill>
                  <a:srgbClr val="000000"/>
                </a:solidFill>
                <a:latin typeface="Calibri"/>
                <a:ea typeface="Calibri"/>
                <a:cs typeface="Calibri"/>
              </a:defRPr>
            </a:defPPr>
            <a:lvl1pPr>
              <a:defRPr sz="975" b="0">
                <a:solidFill>
                  <a:srgbClr val="000000"/>
                </a:solidFill>
                <a:latin typeface="Calibri"/>
                <a:ea typeface="Calibri"/>
                <a:cs typeface="Calibri"/>
              </a:defRPr>
            </a:lvl1pPr>
            <a:lvl2pPr>
              <a:defRPr sz="975" b="0">
                <a:solidFill>
                  <a:srgbClr val="000000"/>
                </a:solidFill>
                <a:latin typeface="Calibri"/>
                <a:ea typeface="Calibri"/>
                <a:cs typeface="Calibri"/>
              </a:defRPr>
            </a:lvl2pPr>
            <a:lvl3pPr>
              <a:defRPr sz="975" b="0">
                <a:solidFill>
                  <a:srgbClr val="000000"/>
                </a:solidFill>
                <a:latin typeface="Calibri"/>
                <a:ea typeface="Calibri"/>
                <a:cs typeface="Calibri"/>
              </a:defRPr>
            </a:lvl3pPr>
            <a:lvl4pPr>
              <a:defRPr sz="975" b="0">
                <a:solidFill>
                  <a:srgbClr val="000000"/>
                </a:solidFill>
                <a:latin typeface="Calibri"/>
                <a:ea typeface="Calibri"/>
                <a:cs typeface="Calibri"/>
              </a:defRPr>
            </a:lvl4pPr>
            <a:lvl5pPr>
              <a:defRPr sz="975" b="0">
                <a:solidFill>
                  <a:srgbClr val="000000"/>
                </a:solidFill>
                <a:latin typeface="Calibri"/>
                <a:ea typeface="Calibri"/>
                <a:cs typeface="Calibri"/>
              </a:defRPr>
            </a:lvl5pPr>
            <a:lvl6pPr>
              <a:defRPr sz="975" b="0">
                <a:solidFill>
                  <a:srgbClr val="000000"/>
                </a:solidFill>
                <a:latin typeface="Calibri"/>
                <a:ea typeface="Calibri"/>
                <a:cs typeface="Calibri"/>
              </a:defRPr>
            </a:lvl6pPr>
            <a:lvl7pPr>
              <a:defRPr sz="975" b="0">
                <a:solidFill>
                  <a:srgbClr val="000000"/>
                </a:solidFill>
                <a:latin typeface="Calibri"/>
                <a:ea typeface="Calibri"/>
                <a:cs typeface="Calibri"/>
              </a:defRPr>
            </a:lvl7pPr>
            <a:lvl8pPr>
              <a:defRPr sz="975" b="0">
                <a:solidFill>
                  <a:srgbClr val="000000"/>
                </a:solidFill>
                <a:latin typeface="Calibri"/>
                <a:ea typeface="Calibri"/>
                <a:cs typeface="Calibri"/>
              </a:defRPr>
            </a:lvl8pPr>
            <a:lvl9pPr>
              <a:defRPr sz="975" b="0">
                <a:solidFill>
                  <a:srgbClr val="000000"/>
                </a:solidFill>
                <a:latin typeface="Calibri"/>
                <a:ea typeface="Calibri"/>
                <a:cs typeface="Calibri"/>
              </a:defRPr>
            </a:lvl9pPr>
          </a:lstStyle>
          <a:p>
            <a:pPr>
              <a:defRPr sz="975" b="0">
                <a:solidFill>
                  <a:srgbClr val="000000"/>
                </a:solidFill>
                <a:latin typeface="Calibri"/>
                <a:ea typeface="Calibri"/>
                <a:cs typeface="Calibri"/>
              </a:defRPr>
            </a:pPr>
            <a:r>
              <a:rPr sz="975" b="0">
                <a:solidFill>
                  <a:srgbClr val="000000"/>
                </a:solidFill>
                <a:latin typeface="Calibri"/>
                <a:ea typeface="Calibri"/>
                <a:cs typeface="Calibri"/>
              </a:rPr>
              <a:t>Landing gear: 8.0 kg (2%)</a:t>
            </a:r>
          </a:p>
        </p:txBody>
      </p:sp>
      <p:sp>
        <p:nvSpPr>
          <p:cNvPr id="257" name="Rectangle 256">
            <a:extLst>
              <a:ext uri="{FF2B5EF4-FFF2-40B4-BE49-F238E27FC236}">
                <a16:creationId xmlns:a16="http://schemas.microsoft.com/office/drawing/2014/main" id="{B718AD30-5D9E-7845-FE51-91F93B2E5D21}"/>
              </a:ext>
            </a:extLst>
          </p:cNvPr>
          <p:cNvSpPr>
            <a:spLocks noGrp="1"/>
          </p:cNvSpPr>
          <p:nvPr/>
        </p:nvSpPr>
        <p:spPr>
          <a:xfrm>
            <a:off x="8715375" y="4429125"/>
            <a:ext cx="142875" cy="171450"/>
          </a:xfrm>
          <a:prstGeom prst="rect">
            <a:avLst/>
          </a:prstGeom>
          <a:noFill/>
          <a:ln w="0">
            <a:noFill/>
            <a:prstDash val="solid"/>
          </a:ln>
        </p:spPr>
        <p:txBody>
          <a:bodyPr lIns="0" tIns="0" rIns="0" bIns="0"/>
          <a:lstStyle>
            <a:defPPr>
              <a:defRPr sz="900" b="0">
                <a:solidFill>
                  <a:srgbClr val="B15E8C"/>
                </a:solidFill>
                <a:latin typeface="Calibri"/>
                <a:ea typeface="Calibri"/>
                <a:cs typeface="Calibri"/>
              </a:defRPr>
            </a:defPPr>
            <a:lvl1pPr>
              <a:defRPr sz="900" b="0">
                <a:solidFill>
                  <a:srgbClr val="B15E8C"/>
                </a:solidFill>
                <a:latin typeface="Calibri"/>
                <a:ea typeface="Calibri"/>
                <a:cs typeface="Calibri"/>
              </a:defRPr>
            </a:lvl1pPr>
            <a:lvl2pPr>
              <a:defRPr sz="900" b="0">
                <a:solidFill>
                  <a:srgbClr val="B15E8C"/>
                </a:solidFill>
                <a:latin typeface="Calibri"/>
                <a:ea typeface="Calibri"/>
                <a:cs typeface="Calibri"/>
              </a:defRPr>
            </a:lvl2pPr>
            <a:lvl3pPr>
              <a:defRPr sz="900" b="0">
                <a:solidFill>
                  <a:srgbClr val="B15E8C"/>
                </a:solidFill>
                <a:latin typeface="Calibri"/>
                <a:ea typeface="Calibri"/>
                <a:cs typeface="Calibri"/>
              </a:defRPr>
            </a:lvl3pPr>
            <a:lvl4pPr>
              <a:defRPr sz="900" b="0">
                <a:solidFill>
                  <a:srgbClr val="B15E8C"/>
                </a:solidFill>
                <a:latin typeface="Calibri"/>
                <a:ea typeface="Calibri"/>
                <a:cs typeface="Calibri"/>
              </a:defRPr>
            </a:lvl4pPr>
            <a:lvl5pPr>
              <a:defRPr sz="900" b="0">
                <a:solidFill>
                  <a:srgbClr val="B15E8C"/>
                </a:solidFill>
                <a:latin typeface="Calibri"/>
                <a:ea typeface="Calibri"/>
                <a:cs typeface="Calibri"/>
              </a:defRPr>
            </a:lvl5pPr>
            <a:lvl6pPr>
              <a:defRPr sz="900" b="0">
                <a:solidFill>
                  <a:srgbClr val="B15E8C"/>
                </a:solidFill>
                <a:latin typeface="Calibri"/>
                <a:ea typeface="Calibri"/>
                <a:cs typeface="Calibri"/>
              </a:defRPr>
            </a:lvl6pPr>
            <a:lvl7pPr>
              <a:defRPr sz="900" b="0">
                <a:solidFill>
                  <a:srgbClr val="B15E8C"/>
                </a:solidFill>
                <a:latin typeface="Calibri"/>
                <a:ea typeface="Calibri"/>
                <a:cs typeface="Calibri"/>
              </a:defRPr>
            </a:lvl7pPr>
            <a:lvl8pPr>
              <a:defRPr sz="900" b="0">
                <a:solidFill>
                  <a:srgbClr val="B15E8C"/>
                </a:solidFill>
                <a:latin typeface="Calibri"/>
                <a:ea typeface="Calibri"/>
                <a:cs typeface="Calibri"/>
              </a:defRPr>
            </a:lvl8pPr>
            <a:lvl9pPr>
              <a:defRPr sz="900" b="0">
                <a:solidFill>
                  <a:srgbClr val="B15E8C"/>
                </a:solidFill>
                <a:latin typeface="Calibri"/>
                <a:ea typeface="Calibri"/>
                <a:cs typeface="Calibri"/>
              </a:defRPr>
            </a:lvl9pPr>
          </a:lstStyle>
          <a:p>
            <a:pPr>
              <a:defRPr sz="900" b="0">
                <a:solidFill>
                  <a:srgbClr val="B15E8C"/>
                </a:solidFill>
                <a:latin typeface="Calibri"/>
                <a:ea typeface="Calibri"/>
                <a:cs typeface="Calibri"/>
              </a:defRPr>
            </a:pPr>
            <a:r>
              <a:rPr sz="900" b="0">
                <a:solidFill>
                  <a:srgbClr val="B15E8C"/>
                </a:solidFill>
                <a:latin typeface="Calibri"/>
                <a:ea typeface="Calibri"/>
                <a:cs typeface="Calibri"/>
              </a:rPr>
              <a:t>■</a:t>
            </a:r>
          </a:p>
        </p:txBody>
      </p:sp>
      <p:sp>
        <p:nvSpPr>
          <p:cNvPr id="258" name="Rectangle 257">
            <a:extLst>
              <a:ext uri="{FF2B5EF4-FFF2-40B4-BE49-F238E27FC236}">
                <a16:creationId xmlns:a16="http://schemas.microsoft.com/office/drawing/2014/main" id="{1C6E750F-4196-5874-194A-109BF4326CD8}"/>
              </a:ext>
            </a:extLst>
          </p:cNvPr>
          <p:cNvSpPr>
            <a:spLocks noGrp="1"/>
          </p:cNvSpPr>
          <p:nvPr/>
        </p:nvSpPr>
        <p:spPr>
          <a:xfrm>
            <a:off x="8867775" y="4429125"/>
            <a:ext cx="2905125" cy="200025"/>
          </a:xfrm>
          <a:prstGeom prst="rect">
            <a:avLst/>
          </a:prstGeom>
          <a:noFill/>
          <a:ln w="0">
            <a:noFill/>
            <a:prstDash val="solid"/>
          </a:ln>
        </p:spPr>
        <p:txBody>
          <a:bodyPr lIns="0" tIns="0" rIns="0" bIns="0"/>
          <a:lstStyle>
            <a:defPPr>
              <a:defRPr sz="975" b="0">
                <a:solidFill>
                  <a:srgbClr val="000000"/>
                </a:solidFill>
                <a:latin typeface="Calibri"/>
                <a:ea typeface="Calibri"/>
                <a:cs typeface="Calibri"/>
              </a:defRPr>
            </a:defPPr>
            <a:lvl1pPr>
              <a:defRPr sz="975" b="0">
                <a:solidFill>
                  <a:srgbClr val="000000"/>
                </a:solidFill>
                <a:latin typeface="Calibri"/>
                <a:ea typeface="Calibri"/>
                <a:cs typeface="Calibri"/>
              </a:defRPr>
            </a:lvl1pPr>
            <a:lvl2pPr>
              <a:defRPr sz="975" b="0">
                <a:solidFill>
                  <a:srgbClr val="000000"/>
                </a:solidFill>
                <a:latin typeface="Calibri"/>
                <a:ea typeface="Calibri"/>
                <a:cs typeface="Calibri"/>
              </a:defRPr>
            </a:lvl2pPr>
            <a:lvl3pPr>
              <a:defRPr sz="975" b="0">
                <a:solidFill>
                  <a:srgbClr val="000000"/>
                </a:solidFill>
                <a:latin typeface="Calibri"/>
                <a:ea typeface="Calibri"/>
                <a:cs typeface="Calibri"/>
              </a:defRPr>
            </a:lvl3pPr>
            <a:lvl4pPr>
              <a:defRPr sz="975" b="0">
                <a:solidFill>
                  <a:srgbClr val="000000"/>
                </a:solidFill>
                <a:latin typeface="Calibri"/>
                <a:ea typeface="Calibri"/>
                <a:cs typeface="Calibri"/>
              </a:defRPr>
            </a:lvl4pPr>
            <a:lvl5pPr>
              <a:defRPr sz="975" b="0">
                <a:solidFill>
                  <a:srgbClr val="000000"/>
                </a:solidFill>
                <a:latin typeface="Calibri"/>
                <a:ea typeface="Calibri"/>
                <a:cs typeface="Calibri"/>
              </a:defRPr>
            </a:lvl5pPr>
            <a:lvl6pPr>
              <a:defRPr sz="975" b="0">
                <a:solidFill>
                  <a:srgbClr val="000000"/>
                </a:solidFill>
                <a:latin typeface="Calibri"/>
                <a:ea typeface="Calibri"/>
                <a:cs typeface="Calibri"/>
              </a:defRPr>
            </a:lvl6pPr>
            <a:lvl7pPr>
              <a:defRPr sz="975" b="0">
                <a:solidFill>
                  <a:srgbClr val="000000"/>
                </a:solidFill>
                <a:latin typeface="Calibri"/>
                <a:ea typeface="Calibri"/>
                <a:cs typeface="Calibri"/>
              </a:defRPr>
            </a:lvl7pPr>
            <a:lvl8pPr>
              <a:defRPr sz="975" b="0">
                <a:solidFill>
                  <a:srgbClr val="000000"/>
                </a:solidFill>
                <a:latin typeface="Calibri"/>
                <a:ea typeface="Calibri"/>
                <a:cs typeface="Calibri"/>
              </a:defRPr>
            </a:lvl8pPr>
            <a:lvl9pPr>
              <a:defRPr sz="975" b="0">
                <a:solidFill>
                  <a:srgbClr val="000000"/>
                </a:solidFill>
                <a:latin typeface="Calibri"/>
                <a:ea typeface="Calibri"/>
                <a:cs typeface="Calibri"/>
              </a:defRPr>
            </a:lvl9pPr>
          </a:lstStyle>
          <a:p>
            <a:pPr>
              <a:defRPr sz="975" b="0">
                <a:solidFill>
                  <a:srgbClr val="000000"/>
                </a:solidFill>
                <a:latin typeface="Calibri"/>
                <a:ea typeface="Calibri"/>
                <a:cs typeface="Calibri"/>
              </a:defRPr>
            </a:pPr>
            <a:r>
              <a:rPr sz="975" b="0">
                <a:solidFill>
                  <a:srgbClr val="000000"/>
                </a:solidFill>
                <a:latin typeface="Calibri"/>
                <a:ea typeface="Calibri"/>
                <a:cs typeface="Calibri"/>
              </a:rPr>
              <a:t>Shared propulsion: 88.7 kg (28%)</a:t>
            </a:r>
          </a:p>
        </p:txBody>
      </p:sp>
      <p:sp>
        <p:nvSpPr>
          <p:cNvPr id="259" name="Rectangle 258">
            <a:extLst>
              <a:ext uri="{FF2B5EF4-FFF2-40B4-BE49-F238E27FC236}">
                <a16:creationId xmlns:a16="http://schemas.microsoft.com/office/drawing/2014/main" id="{CFC9830D-3889-226C-246E-537A85AF8A41}"/>
              </a:ext>
            </a:extLst>
          </p:cNvPr>
          <p:cNvSpPr>
            <a:spLocks noGrp="1"/>
          </p:cNvSpPr>
          <p:nvPr/>
        </p:nvSpPr>
        <p:spPr>
          <a:xfrm>
            <a:off x="8867775" y="4600575"/>
            <a:ext cx="2905125" cy="180975"/>
          </a:xfrm>
          <a:prstGeom prst="rect">
            <a:avLst/>
          </a:prstGeom>
          <a:noFill/>
          <a:ln w="0">
            <a:noFill/>
            <a:prstDash val="solid"/>
          </a:ln>
        </p:spPr>
        <p:txBody>
          <a:bodyPr lIns="0" tIns="0" rIns="0" bIns="0"/>
          <a:lstStyle>
            <a:defPPr>
              <a:defRPr sz="825" b="0">
                <a:solidFill>
                  <a:srgbClr val="444444"/>
                </a:solidFill>
                <a:latin typeface="Calibri"/>
                <a:ea typeface="Calibri"/>
                <a:cs typeface="Calibri"/>
              </a:defRPr>
            </a:defPPr>
            <a:lvl1pPr>
              <a:defRPr sz="825" b="0">
                <a:solidFill>
                  <a:srgbClr val="444444"/>
                </a:solidFill>
                <a:latin typeface="Calibri"/>
                <a:ea typeface="Calibri"/>
                <a:cs typeface="Calibri"/>
              </a:defRPr>
            </a:lvl1pPr>
            <a:lvl2pPr>
              <a:defRPr sz="825" b="0">
                <a:solidFill>
                  <a:srgbClr val="444444"/>
                </a:solidFill>
                <a:latin typeface="Calibri"/>
                <a:ea typeface="Calibri"/>
                <a:cs typeface="Calibri"/>
              </a:defRPr>
            </a:lvl2pPr>
            <a:lvl3pPr>
              <a:defRPr sz="825" b="0">
                <a:solidFill>
                  <a:srgbClr val="444444"/>
                </a:solidFill>
                <a:latin typeface="Calibri"/>
                <a:ea typeface="Calibri"/>
                <a:cs typeface="Calibri"/>
              </a:defRPr>
            </a:lvl3pPr>
            <a:lvl4pPr>
              <a:defRPr sz="825" b="0">
                <a:solidFill>
                  <a:srgbClr val="444444"/>
                </a:solidFill>
                <a:latin typeface="Calibri"/>
                <a:ea typeface="Calibri"/>
                <a:cs typeface="Calibri"/>
              </a:defRPr>
            </a:lvl4pPr>
            <a:lvl5pPr>
              <a:defRPr sz="825" b="0">
                <a:solidFill>
                  <a:srgbClr val="444444"/>
                </a:solidFill>
                <a:latin typeface="Calibri"/>
                <a:ea typeface="Calibri"/>
                <a:cs typeface="Calibri"/>
              </a:defRPr>
            </a:lvl5pPr>
            <a:lvl6pPr>
              <a:defRPr sz="825" b="0">
                <a:solidFill>
                  <a:srgbClr val="444444"/>
                </a:solidFill>
                <a:latin typeface="Calibri"/>
                <a:ea typeface="Calibri"/>
                <a:cs typeface="Calibri"/>
              </a:defRPr>
            </a:lvl6pPr>
            <a:lvl7pPr>
              <a:defRPr sz="825" b="0">
                <a:solidFill>
                  <a:srgbClr val="444444"/>
                </a:solidFill>
                <a:latin typeface="Calibri"/>
                <a:ea typeface="Calibri"/>
                <a:cs typeface="Calibri"/>
              </a:defRPr>
            </a:lvl7pPr>
            <a:lvl8pPr>
              <a:defRPr sz="825" b="0">
                <a:solidFill>
                  <a:srgbClr val="444444"/>
                </a:solidFill>
                <a:latin typeface="Calibri"/>
                <a:ea typeface="Calibri"/>
                <a:cs typeface="Calibri"/>
              </a:defRPr>
            </a:lvl8pPr>
            <a:lvl9pPr>
              <a:defRPr sz="825" b="0">
                <a:solidFill>
                  <a:srgbClr val="444444"/>
                </a:solidFill>
                <a:latin typeface="Calibri"/>
                <a:ea typeface="Calibri"/>
                <a:cs typeface="Calibri"/>
              </a:defRPr>
            </a:lvl9pPr>
          </a:lstStyle>
          <a:p>
            <a:pPr>
              <a:defRPr sz="825" b="0">
                <a:solidFill>
                  <a:srgbClr val="444444"/>
                </a:solidFill>
                <a:latin typeface="Calibri"/>
                <a:ea typeface="Calibri"/>
                <a:cs typeface="Calibri"/>
              </a:defRPr>
            </a:pPr>
            <a:r>
              <a:rPr sz="825" b="0">
                <a:solidFill>
                  <a:srgbClr val="444444"/>
                </a:solidFill>
                <a:latin typeface="Calibri"/>
                <a:ea typeface="Calibri"/>
                <a:cs typeface="Calibri"/>
              </a:rPr>
              <a:t>Engine 37.5, props 16.2 kg</a:t>
            </a:r>
          </a:p>
        </p:txBody>
      </p:sp>
      <p:sp>
        <p:nvSpPr>
          <p:cNvPr id="260" name="Rectangle 259">
            <a:extLst>
              <a:ext uri="{FF2B5EF4-FFF2-40B4-BE49-F238E27FC236}">
                <a16:creationId xmlns:a16="http://schemas.microsoft.com/office/drawing/2014/main" id="{BB4D06F2-EDB1-E82D-0BE1-1723F7B0B6F4}"/>
              </a:ext>
            </a:extLst>
          </p:cNvPr>
          <p:cNvSpPr>
            <a:spLocks noGrp="1"/>
          </p:cNvSpPr>
          <p:nvPr/>
        </p:nvSpPr>
        <p:spPr>
          <a:xfrm>
            <a:off x="8867775" y="4743450"/>
            <a:ext cx="2905125" cy="180975"/>
          </a:xfrm>
          <a:prstGeom prst="rect">
            <a:avLst/>
          </a:prstGeom>
          <a:noFill/>
          <a:ln w="0">
            <a:noFill/>
            <a:prstDash val="solid"/>
          </a:ln>
        </p:spPr>
        <p:txBody>
          <a:bodyPr lIns="0" tIns="0" rIns="0" bIns="0"/>
          <a:lstStyle>
            <a:defPPr>
              <a:defRPr sz="825" b="0">
                <a:solidFill>
                  <a:srgbClr val="444444"/>
                </a:solidFill>
                <a:latin typeface="Calibri"/>
                <a:ea typeface="Calibri"/>
                <a:cs typeface="Calibri"/>
              </a:defRPr>
            </a:defPPr>
            <a:lvl1pPr>
              <a:defRPr sz="825" b="0">
                <a:solidFill>
                  <a:srgbClr val="444444"/>
                </a:solidFill>
                <a:latin typeface="Calibri"/>
                <a:ea typeface="Calibri"/>
                <a:cs typeface="Calibri"/>
              </a:defRPr>
            </a:lvl1pPr>
            <a:lvl2pPr>
              <a:defRPr sz="825" b="0">
                <a:solidFill>
                  <a:srgbClr val="444444"/>
                </a:solidFill>
                <a:latin typeface="Calibri"/>
                <a:ea typeface="Calibri"/>
                <a:cs typeface="Calibri"/>
              </a:defRPr>
            </a:lvl2pPr>
            <a:lvl3pPr>
              <a:defRPr sz="825" b="0">
                <a:solidFill>
                  <a:srgbClr val="444444"/>
                </a:solidFill>
                <a:latin typeface="Calibri"/>
                <a:ea typeface="Calibri"/>
                <a:cs typeface="Calibri"/>
              </a:defRPr>
            </a:lvl3pPr>
            <a:lvl4pPr>
              <a:defRPr sz="825" b="0">
                <a:solidFill>
                  <a:srgbClr val="444444"/>
                </a:solidFill>
                <a:latin typeface="Calibri"/>
                <a:ea typeface="Calibri"/>
                <a:cs typeface="Calibri"/>
              </a:defRPr>
            </a:lvl4pPr>
            <a:lvl5pPr>
              <a:defRPr sz="825" b="0">
                <a:solidFill>
                  <a:srgbClr val="444444"/>
                </a:solidFill>
                <a:latin typeface="Calibri"/>
                <a:ea typeface="Calibri"/>
                <a:cs typeface="Calibri"/>
              </a:defRPr>
            </a:lvl5pPr>
            <a:lvl6pPr>
              <a:defRPr sz="825" b="0">
                <a:solidFill>
                  <a:srgbClr val="444444"/>
                </a:solidFill>
                <a:latin typeface="Calibri"/>
                <a:ea typeface="Calibri"/>
                <a:cs typeface="Calibri"/>
              </a:defRPr>
            </a:lvl6pPr>
            <a:lvl7pPr>
              <a:defRPr sz="825" b="0">
                <a:solidFill>
                  <a:srgbClr val="444444"/>
                </a:solidFill>
                <a:latin typeface="Calibri"/>
                <a:ea typeface="Calibri"/>
                <a:cs typeface="Calibri"/>
              </a:defRPr>
            </a:lvl7pPr>
            <a:lvl8pPr>
              <a:defRPr sz="825" b="0">
                <a:solidFill>
                  <a:srgbClr val="444444"/>
                </a:solidFill>
                <a:latin typeface="Calibri"/>
                <a:ea typeface="Calibri"/>
                <a:cs typeface="Calibri"/>
              </a:defRPr>
            </a:lvl8pPr>
            <a:lvl9pPr>
              <a:defRPr sz="825" b="0">
                <a:solidFill>
                  <a:srgbClr val="444444"/>
                </a:solidFill>
                <a:latin typeface="Calibri"/>
                <a:ea typeface="Calibri"/>
                <a:cs typeface="Calibri"/>
              </a:defRPr>
            </a:lvl9pPr>
          </a:lstStyle>
          <a:p>
            <a:pPr>
              <a:defRPr sz="825" b="0">
                <a:solidFill>
                  <a:srgbClr val="444444"/>
                </a:solidFill>
                <a:latin typeface="Calibri"/>
                <a:ea typeface="Calibri"/>
                <a:cs typeface="Calibri"/>
              </a:defRPr>
            </a:pPr>
            <a:r>
              <a:rPr sz="825" b="0">
                <a:solidFill>
                  <a:srgbClr val="444444"/>
                </a:solidFill>
                <a:latin typeface="Calibri"/>
                <a:ea typeface="Calibri"/>
                <a:cs typeface="Calibri"/>
              </a:rPr>
              <a:t>Electric drive 35.0 kg</a:t>
            </a:r>
          </a:p>
        </p:txBody>
      </p:sp>
      <p:sp>
        <p:nvSpPr>
          <p:cNvPr id="261" name="Rectangle 260">
            <a:extLst>
              <a:ext uri="{FF2B5EF4-FFF2-40B4-BE49-F238E27FC236}">
                <a16:creationId xmlns:a16="http://schemas.microsoft.com/office/drawing/2014/main" id="{0443FB07-D0BC-92E0-C0C4-DFBE48F6DAF6}"/>
              </a:ext>
            </a:extLst>
          </p:cNvPr>
          <p:cNvSpPr>
            <a:spLocks noGrp="1"/>
          </p:cNvSpPr>
          <p:nvPr/>
        </p:nvSpPr>
        <p:spPr>
          <a:xfrm>
            <a:off x="8715375" y="4886325"/>
            <a:ext cx="142875" cy="171450"/>
          </a:xfrm>
          <a:prstGeom prst="rect">
            <a:avLst/>
          </a:prstGeom>
          <a:noFill/>
          <a:ln w="0">
            <a:noFill/>
            <a:prstDash val="solid"/>
          </a:ln>
        </p:spPr>
        <p:txBody>
          <a:bodyPr lIns="0" tIns="0" rIns="0" bIns="0"/>
          <a:lstStyle>
            <a:defPPr>
              <a:defRPr sz="900" b="0">
                <a:solidFill>
                  <a:srgbClr val="8A9A42"/>
                </a:solidFill>
                <a:latin typeface="Calibri"/>
                <a:ea typeface="Calibri"/>
                <a:cs typeface="Calibri"/>
              </a:defRPr>
            </a:defPPr>
            <a:lvl1pPr>
              <a:defRPr sz="900" b="0">
                <a:solidFill>
                  <a:srgbClr val="8A9A42"/>
                </a:solidFill>
                <a:latin typeface="Calibri"/>
                <a:ea typeface="Calibri"/>
                <a:cs typeface="Calibri"/>
              </a:defRPr>
            </a:lvl1pPr>
            <a:lvl2pPr>
              <a:defRPr sz="900" b="0">
                <a:solidFill>
                  <a:srgbClr val="8A9A42"/>
                </a:solidFill>
                <a:latin typeface="Calibri"/>
                <a:ea typeface="Calibri"/>
                <a:cs typeface="Calibri"/>
              </a:defRPr>
            </a:lvl2pPr>
            <a:lvl3pPr>
              <a:defRPr sz="900" b="0">
                <a:solidFill>
                  <a:srgbClr val="8A9A42"/>
                </a:solidFill>
                <a:latin typeface="Calibri"/>
                <a:ea typeface="Calibri"/>
                <a:cs typeface="Calibri"/>
              </a:defRPr>
            </a:lvl3pPr>
            <a:lvl4pPr>
              <a:defRPr sz="900" b="0">
                <a:solidFill>
                  <a:srgbClr val="8A9A42"/>
                </a:solidFill>
                <a:latin typeface="Calibri"/>
                <a:ea typeface="Calibri"/>
                <a:cs typeface="Calibri"/>
              </a:defRPr>
            </a:lvl4pPr>
            <a:lvl5pPr>
              <a:defRPr sz="900" b="0">
                <a:solidFill>
                  <a:srgbClr val="8A9A42"/>
                </a:solidFill>
                <a:latin typeface="Calibri"/>
                <a:ea typeface="Calibri"/>
                <a:cs typeface="Calibri"/>
              </a:defRPr>
            </a:lvl5pPr>
            <a:lvl6pPr>
              <a:defRPr sz="900" b="0">
                <a:solidFill>
                  <a:srgbClr val="8A9A42"/>
                </a:solidFill>
                <a:latin typeface="Calibri"/>
                <a:ea typeface="Calibri"/>
                <a:cs typeface="Calibri"/>
              </a:defRPr>
            </a:lvl6pPr>
            <a:lvl7pPr>
              <a:defRPr sz="900" b="0">
                <a:solidFill>
                  <a:srgbClr val="8A9A42"/>
                </a:solidFill>
                <a:latin typeface="Calibri"/>
                <a:ea typeface="Calibri"/>
                <a:cs typeface="Calibri"/>
              </a:defRPr>
            </a:lvl7pPr>
            <a:lvl8pPr>
              <a:defRPr sz="900" b="0">
                <a:solidFill>
                  <a:srgbClr val="8A9A42"/>
                </a:solidFill>
                <a:latin typeface="Calibri"/>
                <a:ea typeface="Calibri"/>
                <a:cs typeface="Calibri"/>
              </a:defRPr>
            </a:lvl8pPr>
            <a:lvl9pPr>
              <a:defRPr sz="900" b="0">
                <a:solidFill>
                  <a:srgbClr val="8A9A42"/>
                </a:solidFill>
                <a:latin typeface="Calibri"/>
                <a:ea typeface="Calibri"/>
                <a:cs typeface="Calibri"/>
              </a:defRPr>
            </a:lvl9pPr>
          </a:lstStyle>
          <a:p>
            <a:pPr>
              <a:defRPr sz="900" b="0">
                <a:solidFill>
                  <a:srgbClr val="8A9A42"/>
                </a:solidFill>
                <a:latin typeface="Calibri"/>
                <a:ea typeface="Calibri"/>
                <a:cs typeface="Calibri"/>
              </a:defRPr>
            </a:pPr>
            <a:r>
              <a:rPr sz="900" b="0">
                <a:solidFill>
                  <a:srgbClr val="8A9A42"/>
                </a:solidFill>
                <a:latin typeface="Calibri"/>
                <a:ea typeface="Calibri"/>
                <a:cs typeface="Calibri"/>
              </a:rPr>
              <a:t>■</a:t>
            </a:r>
          </a:p>
        </p:txBody>
      </p:sp>
      <p:sp>
        <p:nvSpPr>
          <p:cNvPr id="262" name="Rectangle 261">
            <a:extLst>
              <a:ext uri="{FF2B5EF4-FFF2-40B4-BE49-F238E27FC236}">
                <a16:creationId xmlns:a16="http://schemas.microsoft.com/office/drawing/2014/main" id="{6B08495C-D693-51D9-6749-559AA907D3A2}"/>
              </a:ext>
            </a:extLst>
          </p:cNvPr>
          <p:cNvSpPr>
            <a:spLocks noGrp="1"/>
          </p:cNvSpPr>
          <p:nvPr/>
        </p:nvSpPr>
        <p:spPr>
          <a:xfrm>
            <a:off x="8867775" y="4886325"/>
            <a:ext cx="2905125" cy="200025"/>
          </a:xfrm>
          <a:prstGeom prst="rect">
            <a:avLst/>
          </a:prstGeom>
          <a:noFill/>
          <a:ln w="0">
            <a:noFill/>
            <a:prstDash val="solid"/>
          </a:ln>
        </p:spPr>
        <p:txBody>
          <a:bodyPr lIns="0" tIns="0" rIns="0" bIns="0"/>
          <a:lstStyle>
            <a:defPPr>
              <a:defRPr sz="975" b="0">
                <a:solidFill>
                  <a:srgbClr val="000000"/>
                </a:solidFill>
                <a:latin typeface="Calibri"/>
                <a:ea typeface="Calibri"/>
                <a:cs typeface="Calibri"/>
              </a:defRPr>
            </a:defPPr>
            <a:lvl1pPr>
              <a:defRPr sz="975" b="0">
                <a:solidFill>
                  <a:srgbClr val="000000"/>
                </a:solidFill>
                <a:latin typeface="Calibri"/>
                <a:ea typeface="Calibri"/>
                <a:cs typeface="Calibri"/>
              </a:defRPr>
            </a:lvl1pPr>
            <a:lvl2pPr>
              <a:defRPr sz="975" b="0">
                <a:solidFill>
                  <a:srgbClr val="000000"/>
                </a:solidFill>
                <a:latin typeface="Calibri"/>
                <a:ea typeface="Calibri"/>
                <a:cs typeface="Calibri"/>
              </a:defRPr>
            </a:lvl2pPr>
            <a:lvl3pPr>
              <a:defRPr sz="975" b="0">
                <a:solidFill>
                  <a:srgbClr val="000000"/>
                </a:solidFill>
                <a:latin typeface="Calibri"/>
                <a:ea typeface="Calibri"/>
                <a:cs typeface="Calibri"/>
              </a:defRPr>
            </a:lvl3pPr>
            <a:lvl4pPr>
              <a:defRPr sz="975" b="0">
                <a:solidFill>
                  <a:srgbClr val="000000"/>
                </a:solidFill>
                <a:latin typeface="Calibri"/>
                <a:ea typeface="Calibri"/>
                <a:cs typeface="Calibri"/>
              </a:defRPr>
            </a:lvl4pPr>
            <a:lvl5pPr>
              <a:defRPr sz="975" b="0">
                <a:solidFill>
                  <a:srgbClr val="000000"/>
                </a:solidFill>
                <a:latin typeface="Calibri"/>
                <a:ea typeface="Calibri"/>
                <a:cs typeface="Calibri"/>
              </a:defRPr>
            </a:lvl5pPr>
            <a:lvl6pPr>
              <a:defRPr sz="975" b="0">
                <a:solidFill>
                  <a:srgbClr val="000000"/>
                </a:solidFill>
                <a:latin typeface="Calibri"/>
                <a:ea typeface="Calibri"/>
                <a:cs typeface="Calibri"/>
              </a:defRPr>
            </a:lvl6pPr>
            <a:lvl7pPr>
              <a:defRPr sz="975" b="0">
                <a:solidFill>
                  <a:srgbClr val="000000"/>
                </a:solidFill>
                <a:latin typeface="Calibri"/>
                <a:ea typeface="Calibri"/>
                <a:cs typeface="Calibri"/>
              </a:defRPr>
            </a:lvl7pPr>
            <a:lvl8pPr>
              <a:defRPr sz="975" b="0">
                <a:solidFill>
                  <a:srgbClr val="000000"/>
                </a:solidFill>
                <a:latin typeface="Calibri"/>
                <a:ea typeface="Calibri"/>
                <a:cs typeface="Calibri"/>
              </a:defRPr>
            </a:lvl8pPr>
            <a:lvl9pPr>
              <a:defRPr sz="975" b="0">
                <a:solidFill>
                  <a:srgbClr val="000000"/>
                </a:solidFill>
                <a:latin typeface="Calibri"/>
                <a:ea typeface="Calibri"/>
                <a:cs typeface="Calibri"/>
              </a:defRPr>
            </a:lvl9pPr>
          </a:lstStyle>
          <a:p>
            <a:pPr>
              <a:defRPr sz="975" b="0">
                <a:solidFill>
                  <a:srgbClr val="000000"/>
                </a:solidFill>
                <a:latin typeface="Calibri"/>
                <a:ea typeface="Calibri"/>
                <a:cs typeface="Calibri"/>
              </a:defRPr>
            </a:pPr>
            <a:r>
              <a:rPr sz="975" b="0">
                <a:solidFill>
                  <a:srgbClr val="000000"/>
                </a:solidFill>
                <a:latin typeface="Calibri"/>
                <a:ea typeface="Calibri"/>
                <a:cs typeface="Calibri"/>
              </a:rPr>
              <a:t>Fuel-system hardware: 6.7 kg (2%)</a:t>
            </a:r>
          </a:p>
        </p:txBody>
      </p:sp>
      <p:sp>
        <p:nvSpPr>
          <p:cNvPr id="263" name="Rectangle 262">
            <a:extLst>
              <a:ext uri="{FF2B5EF4-FFF2-40B4-BE49-F238E27FC236}">
                <a16:creationId xmlns:a16="http://schemas.microsoft.com/office/drawing/2014/main" id="{39152B44-44F1-9914-6F62-0999DD661193}"/>
              </a:ext>
            </a:extLst>
          </p:cNvPr>
          <p:cNvSpPr>
            <a:spLocks noGrp="1"/>
          </p:cNvSpPr>
          <p:nvPr/>
        </p:nvSpPr>
        <p:spPr>
          <a:xfrm>
            <a:off x="8715375" y="5057775"/>
            <a:ext cx="142875" cy="171450"/>
          </a:xfrm>
          <a:prstGeom prst="rect">
            <a:avLst/>
          </a:prstGeom>
          <a:noFill/>
          <a:ln w="0">
            <a:noFill/>
            <a:prstDash val="solid"/>
          </a:ln>
        </p:spPr>
        <p:txBody>
          <a:bodyPr lIns="0" tIns="0" rIns="0" bIns="0"/>
          <a:lstStyle>
            <a:defPPr>
              <a:defRPr sz="900" b="0">
                <a:solidFill>
                  <a:srgbClr val="D2AB39"/>
                </a:solidFill>
                <a:latin typeface="Calibri"/>
                <a:ea typeface="Calibri"/>
                <a:cs typeface="Calibri"/>
              </a:defRPr>
            </a:defPPr>
            <a:lvl1pPr>
              <a:defRPr sz="900" b="0">
                <a:solidFill>
                  <a:srgbClr val="D2AB39"/>
                </a:solidFill>
                <a:latin typeface="Calibri"/>
                <a:ea typeface="Calibri"/>
                <a:cs typeface="Calibri"/>
              </a:defRPr>
            </a:lvl1pPr>
            <a:lvl2pPr>
              <a:defRPr sz="900" b="0">
                <a:solidFill>
                  <a:srgbClr val="D2AB39"/>
                </a:solidFill>
                <a:latin typeface="Calibri"/>
                <a:ea typeface="Calibri"/>
                <a:cs typeface="Calibri"/>
              </a:defRPr>
            </a:lvl2pPr>
            <a:lvl3pPr>
              <a:defRPr sz="900" b="0">
                <a:solidFill>
                  <a:srgbClr val="D2AB39"/>
                </a:solidFill>
                <a:latin typeface="Calibri"/>
                <a:ea typeface="Calibri"/>
                <a:cs typeface="Calibri"/>
              </a:defRPr>
            </a:lvl3pPr>
            <a:lvl4pPr>
              <a:defRPr sz="900" b="0">
                <a:solidFill>
                  <a:srgbClr val="D2AB39"/>
                </a:solidFill>
                <a:latin typeface="Calibri"/>
                <a:ea typeface="Calibri"/>
                <a:cs typeface="Calibri"/>
              </a:defRPr>
            </a:lvl4pPr>
            <a:lvl5pPr>
              <a:defRPr sz="900" b="0">
                <a:solidFill>
                  <a:srgbClr val="D2AB39"/>
                </a:solidFill>
                <a:latin typeface="Calibri"/>
                <a:ea typeface="Calibri"/>
                <a:cs typeface="Calibri"/>
              </a:defRPr>
            </a:lvl5pPr>
            <a:lvl6pPr>
              <a:defRPr sz="900" b="0">
                <a:solidFill>
                  <a:srgbClr val="D2AB39"/>
                </a:solidFill>
                <a:latin typeface="Calibri"/>
                <a:ea typeface="Calibri"/>
                <a:cs typeface="Calibri"/>
              </a:defRPr>
            </a:lvl6pPr>
            <a:lvl7pPr>
              <a:defRPr sz="900" b="0">
                <a:solidFill>
                  <a:srgbClr val="D2AB39"/>
                </a:solidFill>
                <a:latin typeface="Calibri"/>
                <a:ea typeface="Calibri"/>
                <a:cs typeface="Calibri"/>
              </a:defRPr>
            </a:lvl7pPr>
            <a:lvl8pPr>
              <a:defRPr sz="900" b="0">
                <a:solidFill>
                  <a:srgbClr val="D2AB39"/>
                </a:solidFill>
                <a:latin typeface="Calibri"/>
                <a:ea typeface="Calibri"/>
                <a:cs typeface="Calibri"/>
              </a:defRPr>
            </a:lvl8pPr>
            <a:lvl9pPr>
              <a:defRPr sz="900" b="0">
                <a:solidFill>
                  <a:srgbClr val="D2AB39"/>
                </a:solidFill>
                <a:latin typeface="Calibri"/>
                <a:ea typeface="Calibri"/>
                <a:cs typeface="Calibri"/>
              </a:defRPr>
            </a:lvl9pPr>
          </a:lstStyle>
          <a:p>
            <a:pPr>
              <a:defRPr sz="900" b="0">
                <a:solidFill>
                  <a:srgbClr val="D2AB39"/>
                </a:solidFill>
                <a:latin typeface="Calibri"/>
                <a:ea typeface="Calibri"/>
                <a:cs typeface="Calibri"/>
              </a:defRPr>
            </a:pPr>
            <a:r>
              <a:rPr sz="900" b="0">
                <a:solidFill>
                  <a:srgbClr val="D2AB39"/>
                </a:solidFill>
                <a:latin typeface="Calibri"/>
                <a:ea typeface="Calibri"/>
                <a:cs typeface="Calibri"/>
              </a:rPr>
              <a:t>■</a:t>
            </a:r>
          </a:p>
        </p:txBody>
      </p:sp>
      <p:sp>
        <p:nvSpPr>
          <p:cNvPr id="264" name="Rectangle 263">
            <a:extLst>
              <a:ext uri="{FF2B5EF4-FFF2-40B4-BE49-F238E27FC236}">
                <a16:creationId xmlns:a16="http://schemas.microsoft.com/office/drawing/2014/main" id="{5F2E21D4-C639-EAF0-554B-A8A3DE824A72}"/>
              </a:ext>
            </a:extLst>
          </p:cNvPr>
          <p:cNvSpPr>
            <a:spLocks noGrp="1"/>
          </p:cNvSpPr>
          <p:nvPr/>
        </p:nvSpPr>
        <p:spPr>
          <a:xfrm>
            <a:off x="8867775" y="5057775"/>
            <a:ext cx="2905125" cy="200025"/>
          </a:xfrm>
          <a:prstGeom prst="rect">
            <a:avLst/>
          </a:prstGeom>
          <a:noFill/>
          <a:ln w="0">
            <a:noFill/>
            <a:prstDash val="solid"/>
          </a:ln>
        </p:spPr>
        <p:txBody>
          <a:bodyPr lIns="0" tIns="0" rIns="0" bIns="0"/>
          <a:lstStyle>
            <a:defPPr>
              <a:defRPr sz="975" b="0">
                <a:solidFill>
                  <a:srgbClr val="000000"/>
                </a:solidFill>
                <a:latin typeface="Calibri"/>
                <a:ea typeface="Calibri"/>
                <a:cs typeface="Calibri"/>
              </a:defRPr>
            </a:defPPr>
            <a:lvl1pPr>
              <a:defRPr sz="975" b="0">
                <a:solidFill>
                  <a:srgbClr val="000000"/>
                </a:solidFill>
                <a:latin typeface="Calibri"/>
                <a:ea typeface="Calibri"/>
                <a:cs typeface="Calibri"/>
              </a:defRPr>
            </a:lvl1pPr>
            <a:lvl2pPr>
              <a:defRPr sz="975" b="0">
                <a:solidFill>
                  <a:srgbClr val="000000"/>
                </a:solidFill>
                <a:latin typeface="Calibri"/>
                <a:ea typeface="Calibri"/>
                <a:cs typeface="Calibri"/>
              </a:defRPr>
            </a:lvl2pPr>
            <a:lvl3pPr>
              <a:defRPr sz="975" b="0">
                <a:solidFill>
                  <a:srgbClr val="000000"/>
                </a:solidFill>
                <a:latin typeface="Calibri"/>
                <a:ea typeface="Calibri"/>
                <a:cs typeface="Calibri"/>
              </a:defRPr>
            </a:lvl3pPr>
            <a:lvl4pPr>
              <a:defRPr sz="975" b="0">
                <a:solidFill>
                  <a:srgbClr val="000000"/>
                </a:solidFill>
                <a:latin typeface="Calibri"/>
                <a:ea typeface="Calibri"/>
                <a:cs typeface="Calibri"/>
              </a:defRPr>
            </a:lvl4pPr>
            <a:lvl5pPr>
              <a:defRPr sz="975" b="0">
                <a:solidFill>
                  <a:srgbClr val="000000"/>
                </a:solidFill>
                <a:latin typeface="Calibri"/>
                <a:ea typeface="Calibri"/>
                <a:cs typeface="Calibri"/>
              </a:defRPr>
            </a:lvl5pPr>
            <a:lvl6pPr>
              <a:defRPr sz="975" b="0">
                <a:solidFill>
                  <a:srgbClr val="000000"/>
                </a:solidFill>
                <a:latin typeface="Calibri"/>
                <a:ea typeface="Calibri"/>
                <a:cs typeface="Calibri"/>
              </a:defRPr>
            </a:lvl6pPr>
            <a:lvl7pPr>
              <a:defRPr sz="975" b="0">
                <a:solidFill>
                  <a:srgbClr val="000000"/>
                </a:solidFill>
                <a:latin typeface="Calibri"/>
                <a:ea typeface="Calibri"/>
                <a:cs typeface="Calibri"/>
              </a:defRPr>
            </a:lvl7pPr>
            <a:lvl8pPr>
              <a:defRPr sz="975" b="0">
                <a:solidFill>
                  <a:srgbClr val="000000"/>
                </a:solidFill>
                <a:latin typeface="Calibri"/>
                <a:ea typeface="Calibri"/>
                <a:cs typeface="Calibri"/>
              </a:defRPr>
            </a:lvl8pPr>
            <a:lvl9pPr>
              <a:defRPr sz="975" b="0">
                <a:solidFill>
                  <a:srgbClr val="000000"/>
                </a:solidFill>
                <a:latin typeface="Calibri"/>
                <a:ea typeface="Calibri"/>
                <a:cs typeface="Calibri"/>
              </a:defRPr>
            </a:lvl9pPr>
          </a:lstStyle>
          <a:p>
            <a:pPr>
              <a:defRPr sz="975" b="0">
                <a:solidFill>
                  <a:srgbClr val="000000"/>
                </a:solidFill>
                <a:latin typeface="Calibri"/>
                <a:ea typeface="Calibri"/>
                <a:cs typeface="Calibri"/>
              </a:defRPr>
            </a:pPr>
            <a:r>
              <a:rPr sz="975" b="0">
                <a:solidFill>
                  <a:srgbClr val="000000"/>
                </a:solidFill>
                <a:latin typeface="Calibri"/>
                <a:ea typeface="Calibri"/>
                <a:cs typeface="Calibri"/>
              </a:rPr>
              <a:t>Payload: 30.0 kg (9%)</a:t>
            </a:r>
          </a:p>
        </p:txBody>
      </p:sp>
      <p:sp>
        <p:nvSpPr>
          <p:cNvPr id="265" name="Rectangle 264">
            <a:extLst>
              <a:ext uri="{FF2B5EF4-FFF2-40B4-BE49-F238E27FC236}">
                <a16:creationId xmlns:a16="http://schemas.microsoft.com/office/drawing/2014/main" id="{6D6520D1-0497-DDC1-4B70-4125EA6247E5}"/>
              </a:ext>
            </a:extLst>
          </p:cNvPr>
          <p:cNvSpPr>
            <a:spLocks noGrp="1"/>
          </p:cNvSpPr>
          <p:nvPr/>
        </p:nvSpPr>
        <p:spPr>
          <a:xfrm>
            <a:off x="8715375" y="5229225"/>
            <a:ext cx="142875" cy="171450"/>
          </a:xfrm>
          <a:prstGeom prst="rect">
            <a:avLst/>
          </a:prstGeom>
          <a:noFill/>
          <a:ln w="0">
            <a:noFill/>
            <a:prstDash val="solid"/>
          </a:ln>
        </p:spPr>
        <p:txBody>
          <a:bodyPr lIns="0" tIns="0" rIns="0" bIns="0"/>
          <a:lstStyle>
            <a:defPPr>
              <a:defRPr sz="900" b="0">
                <a:solidFill>
                  <a:srgbClr val="518BB7"/>
                </a:solidFill>
                <a:latin typeface="Calibri"/>
                <a:ea typeface="Calibri"/>
                <a:cs typeface="Calibri"/>
              </a:defRPr>
            </a:defPPr>
            <a:lvl1pPr>
              <a:defRPr sz="900" b="0">
                <a:solidFill>
                  <a:srgbClr val="518BB7"/>
                </a:solidFill>
                <a:latin typeface="Calibri"/>
                <a:ea typeface="Calibri"/>
                <a:cs typeface="Calibri"/>
              </a:defRPr>
            </a:lvl1pPr>
            <a:lvl2pPr>
              <a:defRPr sz="900" b="0">
                <a:solidFill>
                  <a:srgbClr val="518BB7"/>
                </a:solidFill>
                <a:latin typeface="Calibri"/>
                <a:ea typeface="Calibri"/>
                <a:cs typeface="Calibri"/>
              </a:defRPr>
            </a:lvl2pPr>
            <a:lvl3pPr>
              <a:defRPr sz="900" b="0">
                <a:solidFill>
                  <a:srgbClr val="518BB7"/>
                </a:solidFill>
                <a:latin typeface="Calibri"/>
                <a:ea typeface="Calibri"/>
                <a:cs typeface="Calibri"/>
              </a:defRPr>
            </a:lvl3pPr>
            <a:lvl4pPr>
              <a:defRPr sz="900" b="0">
                <a:solidFill>
                  <a:srgbClr val="518BB7"/>
                </a:solidFill>
                <a:latin typeface="Calibri"/>
                <a:ea typeface="Calibri"/>
                <a:cs typeface="Calibri"/>
              </a:defRPr>
            </a:lvl4pPr>
            <a:lvl5pPr>
              <a:defRPr sz="900" b="0">
                <a:solidFill>
                  <a:srgbClr val="518BB7"/>
                </a:solidFill>
                <a:latin typeface="Calibri"/>
                <a:ea typeface="Calibri"/>
                <a:cs typeface="Calibri"/>
              </a:defRPr>
            </a:lvl5pPr>
            <a:lvl6pPr>
              <a:defRPr sz="900" b="0">
                <a:solidFill>
                  <a:srgbClr val="518BB7"/>
                </a:solidFill>
                <a:latin typeface="Calibri"/>
                <a:ea typeface="Calibri"/>
                <a:cs typeface="Calibri"/>
              </a:defRPr>
            </a:lvl6pPr>
            <a:lvl7pPr>
              <a:defRPr sz="900" b="0">
                <a:solidFill>
                  <a:srgbClr val="518BB7"/>
                </a:solidFill>
                <a:latin typeface="Calibri"/>
                <a:ea typeface="Calibri"/>
                <a:cs typeface="Calibri"/>
              </a:defRPr>
            </a:lvl7pPr>
            <a:lvl8pPr>
              <a:defRPr sz="900" b="0">
                <a:solidFill>
                  <a:srgbClr val="518BB7"/>
                </a:solidFill>
                <a:latin typeface="Calibri"/>
                <a:ea typeface="Calibri"/>
                <a:cs typeface="Calibri"/>
              </a:defRPr>
            </a:lvl8pPr>
            <a:lvl9pPr>
              <a:defRPr sz="900" b="0">
                <a:solidFill>
                  <a:srgbClr val="518BB7"/>
                </a:solidFill>
                <a:latin typeface="Calibri"/>
                <a:ea typeface="Calibri"/>
                <a:cs typeface="Calibri"/>
              </a:defRPr>
            </a:lvl9pPr>
          </a:lstStyle>
          <a:p>
            <a:pPr>
              <a:defRPr sz="900" b="0">
                <a:solidFill>
                  <a:srgbClr val="518BB7"/>
                </a:solidFill>
                <a:latin typeface="Calibri"/>
                <a:ea typeface="Calibri"/>
                <a:cs typeface="Calibri"/>
              </a:defRPr>
            </a:pPr>
            <a:r>
              <a:rPr sz="900" b="0">
                <a:solidFill>
                  <a:srgbClr val="518BB7"/>
                </a:solidFill>
                <a:latin typeface="Calibri"/>
                <a:ea typeface="Calibri"/>
                <a:cs typeface="Calibri"/>
              </a:rPr>
              <a:t>■</a:t>
            </a:r>
          </a:p>
        </p:txBody>
      </p:sp>
      <p:sp>
        <p:nvSpPr>
          <p:cNvPr id="266" name="Rectangle 265">
            <a:extLst>
              <a:ext uri="{FF2B5EF4-FFF2-40B4-BE49-F238E27FC236}">
                <a16:creationId xmlns:a16="http://schemas.microsoft.com/office/drawing/2014/main" id="{341DEBD8-139C-512D-7846-0B34659A9F81}"/>
              </a:ext>
            </a:extLst>
          </p:cNvPr>
          <p:cNvSpPr>
            <a:spLocks noGrp="1"/>
          </p:cNvSpPr>
          <p:nvPr/>
        </p:nvSpPr>
        <p:spPr>
          <a:xfrm>
            <a:off x="8867775" y="5229225"/>
            <a:ext cx="2905125" cy="200025"/>
          </a:xfrm>
          <a:prstGeom prst="rect">
            <a:avLst/>
          </a:prstGeom>
          <a:noFill/>
          <a:ln w="0">
            <a:noFill/>
            <a:prstDash val="solid"/>
          </a:ln>
        </p:spPr>
        <p:txBody>
          <a:bodyPr lIns="0" tIns="0" rIns="0" bIns="0"/>
          <a:lstStyle>
            <a:defPPr>
              <a:defRPr sz="975" b="0">
                <a:solidFill>
                  <a:srgbClr val="000000"/>
                </a:solidFill>
                <a:latin typeface="Calibri"/>
                <a:ea typeface="Calibri"/>
                <a:cs typeface="Calibri"/>
              </a:defRPr>
            </a:defPPr>
            <a:lvl1pPr>
              <a:defRPr sz="975" b="0">
                <a:solidFill>
                  <a:srgbClr val="000000"/>
                </a:solidFill>
                <a:latin typeface="Calibri"/>
                <a:ea typeface="Calibri"/>
                <a:cs typeface="Calibri"/>
              </a:defRPr>
            </a:lvl1pPr>
            <a:lvl2pPr>
              <a:defRPr sz="975" b="0">
                <a:solidFill>
                  <a:srgbClr val="000000"/>
                </a:solidFill>
                <a:latin typeface="Calibri"/>
                <a:ea typeface="Calibri"/>
                <a:cs typeface="Calibri"/>
              </a:defRPr>
            </a:lvl2pPr>
            <a:lvl3pPr>
              <a:defRPr sz="975" b="0">
                <a:solidFill>
                  <a:srgbClr val="000000"/>
                </a:solidFill>
                <a:latin typeface="Calibri"/>
                <a:ea typeface="Calibri"/>
                <a:cs typeface="Calibri"/>
              </a:defRPr>
            </a:lvl3pPr>
            <a:lvl4pPr>
              <a:defRPr sz="975" b="0">
                <a:solidFill>
                  <a:srgbClr val="000000"/>
                </a:solidFill>
                <a:latin typeface="Calibri"/>
                <a:ea typeface="Calibri"/>
                <a:cs typeface="Calibri"/>
              </a:defRPr>
            </a:lvl4pPr>
            <a:lvl5pPr>
              <a:defRPr sz="975" b="0">
                <a:solidFill>
                  <a:srgbClr val="000000"/>
                </a:solidFill>
                <a:latin typeface="Calibri"/>
                <a:ea typeface="Calibri"/>
                <a:cs typeface="Calibri"/>
              </a:defRPr>
            </a:lvl5pPr>
            <a:lvl6pPr>
              <a:defRPr sz="975" b="0">
                <a:solidFill>
                  <a:srgbClr val="000000"/>
                </a:solidFill>
                <a:latin typeface="Calibri"/>
                <a:ea typeface="Calibri"/>
                <a:cs typeface="Calibri"/>
              </a:defRPr>
            </a:lvl6pPr>
            <a:lvl7pPr>
              <a:defRPr sz="975" b="0">
                <a:solidFill>
                  <a:srgbClr val="000000"/>
                </a:solidFill>
                <a:latin typeface="Calibri"/>
                <a:ea typeface="Calibri"/>
                <a:cs typeface="Calibri"/>
              </a:defRPr>
            </a:lvl7pPr>
            <a:lvl8pPr>
              <a:defRPr sz="975" b="0">
                <a:solidFill>
                  <a:srgbClr val="000000"/>
                </a:solidFill>
                <a:latin typeface="Calibri"/>
                <a:ea typeface="Calibri"/>
                <a:cs typeface="Calibri"/>
              </a:defRPr>
            </a:lvl8pPr>
            <a:lvl9pPr>
              <a:defRPr sz="975" b="0">
                <a:solidFill>
                  <a:srgbClr val="000000"/>
                </a:solidFill>
                <a:latin typeface="Calibri"/>
                <a:ea typeface="Calibri"/>
                <a:cs typeface="Calibri"/>
              </a:defRPr>
            </a:lvl9pPr>
          </a:lstStyle>
          <a:p>
            <a:pPr>
              <a:defRPr sz="975" b="0">
                <a:solidFill>
                  <a:srgbClr val="000000"/>
                </a:solidFill>
                <a:latin typeface="Calibri"/>
                <a:ea typeface="Calibri"/>
                <a:cs typeface="Calibri"/>
              </a:defRPr>
            </a:pPr>
            <a:r>
              <a:rPr sz="975" b="0">
                <a:solidFill>
                  <a:srgbClr val="000000"/>
                </a:solidFill>
                <a:latin typeface="Calibri"/>
                <a:ea typeface="Calibri"/>
                <a:cs typeface="Calibri"/>
              </a:rPr>
              <a:t>Fuel: 44.7 kg (14%)</a:t>
            </a:r>
          </a:p>
        </p:txBody>
      </p:sp>
      <p:sp>
        <p:nvSpPr>
          <p:cNvPr id="267" name="Rectangle 266">
            <a:extLst>
              <a:ext uri="{FF2B5EF4-FFF2-40B4-BE49-F238E27FC236}">
                <a16:creationId xmlns:a16="http://schemas.microsoft.com/office/drawing/2014/main" id="{A687D9E5-0846-3D61-926E-755ABCAB2681}"/>
              </a:ext>
            </a:extLst>
          </p:cNvPr>
          <p:cNvSpPr>
            <a:spLocks noGrp="1"/>
          </p:cNvSpPr>
          <p:nvPr/>
        </p:nvSpPr>
        <p:spPr>
          <a:xfrm>
            <a:off x="8715375" y="5400675"/>
            <a:ext cx="142875" cy="171450"/>
          </a:xfrm>
          <a:prstGeom prst="rect">
            <a:avLst/>
          </a:prstGeom>
          <a:noFill/>
          <a:ln w="0">
            <a:noFill/>
            <a:prstDash val="solid"/>
          </a:ln>
        </p:spPr>
        <p:txBody>
          <a:bodyPr lIns="0" tIns="0" rIns="0" bIns="0"/>
          <a:lstStyle>
            <a:defPPr>
              <a:defRPr sz="900" b="0">
                <a:solidFill>
                  <a:srgbClr val="B2BAC1"/>
                </a:solidFill>
                <a:latin typeface="Calibri"/>
                <a:ea typeface="Calibri"/>
                <a:cs typeface="Calibri"/>
              </a:defRPr>
            </a:defPPr>
            <a:lvl1pPr>
              <a:defRPr sz="900" b="0">
                <a:solidFill>
                  <a:srgbClr val="B2BAC1"/>
                </a:solidFill>
                <a:latin typeface="Calibri"/>
                <a:ea typeface="Calibri"/>
                <a:cs typeface="Calibri"/>
              </a:defRPr>
            </a:lvl1pPr>
            <a:lvl2pPr>
              <a:defRPr sz="900" b="0">
                <a:solidFill>
                  <a:srgbClr val="B2BAC1"/>
                </a:solidFill>
                <a:latin typeface="Calibri"/>
                <a:ea typeface="Calibri"/>
                <a:cs typeface="Calibri"/>
              </a:defRPr>
            </a:lvl2pPr>
            <a:lvl3pPr>
              <a:defRPr sz="900" b="0">
                <a:solidFill>
                  <a:srgbClr val="B2BAC1"/>
                </a:solidFill>
                <a:latin typeface="Calibri"/>
                <a:ea typeface="Calibri"/>
                <a:cs typeface="Calibri"/>
              </a:defRPr>
            </a:lvl3pPr>
            <a:lvl4pPr>
              <a:defRPr sz="900" b="0">
                <a:solidFill>
                  <a:srgbClr val="B2BAC1"/>
                </a:solidFill>
                <a:latin typeface="Calibri"/>
                <a:ea typeface="Calibri"/>
                <a:cs typeface="Calibri"/>
              </a:defRPr>
            </a:lvl4pPr>
            <a:lvl5pPr>
              <a:defRPr sz="900" b="0">
                <a:solidFill>
                  <a:srgbClr val="B2BAC1"/>
                </a:solidFill>
                <a:latin typeface="Calibri"/>
                <a:ea typeface="Calibri"/>
                <a:cs typeface="Calibri"/>
              </a:defRPr>
            </a:lvl5pPr>
            <a:lvl6pPr>
              <a:defRPr sz="900" b="0">
                <a:solidFill>
                  <a:srgbClr val="B2BAC1"/>
                </a:solidFill>
                <a:latin typeface="Calibri"/>
                <a:ea typeface="Calibri"/>
                <a:cs typeface="Calibri"/>
              </a:defRPr>
            </a:lvl6pPr>
            <a:lvl7pPr>
              <a:defRPr sz="900" b="0">
                <a:solidFill>
                  <a:srgbClr val="B2BAC1"/>
                </a:solidFill>
                <a:latin typeface="Calibri"/>
                <a:ea typeface="Calibri"/>
                <a:cs typeface="Calibri"/>
              </a:defRPr>
            </a:lvl7pPr>
            <a:lvl8pPr>
              <a:defRPr sz="900" b="0">
                <a:solidFill>
                  <a:srgbClr val="B2BAC1"/>
                </a:solidFill>
                <a:latin typeface="Calibri"/>
                <a:ea typeface="Calibri"/>
                <a:cs typeface="Calibri"/>
              </a:defRPr>
            </a:lvl8pPr>
            <a:lvl9pPr>
              <a:defRPr sz="900" b="0">
                <a:solidFill>
                  <a:srgbClr val="B2BAC1"/>
                </a:solidFill>
                <a:latin typeface="Calibri"/>
                <a:ea typeface="Calibri"/>
                <a:cs typeface="Calibri"/>
              </a:defRPr>
            </a:lvl9pPr>
          </a:lstStyle>
          <a:p>
            <a:pPr>
              <a:defRPr sz="900" b="0">
                <a:solidFill>
                  <a:srgbClr val="B2BAC1"/>
                </a:solidFill>
                <a:latin typeface="Calibri"/>
                <a:ea typeface="Calibri"/>
                <a:cs typeface="Calibri"/>
              </a:defRPr>
            </a:pPr>
            <a:r>
              <a:rPr sz="900" b="0">
                <a:solidFill>
                  <a:srgbClr val="B2BAC1"/>
                </a:solidFill>
                <a:latin typeface="Calibri"/>
                <a:ea typeface="Calibri"/>
                <a:cs typeface="Calibri"/>
              </a:rPr>
              <a:t>■</a:t>
            </a:r>
          </a:p>
        </p:txBody>
      </p:sp>
      <p:sp>
        <p:nvSpPr>
          <p:cNvPr id="268" name="Rectangle 267">
            <a:extLst>
              <a:ext uri="{FF2B5EF4-FFF2-40B4-BE49-F238E27FC236}">
                <a16:creationId xmlns:a16="http://schemas.microsoft.com/office/drawing/2014/main" id="{B5880AE8-6D0C-D149-0F18-9D9FA0D90947}"/>
              </a:ext>
            </a:extLst>
          </p:cNvPr>
          <p:cNvSpPr>
            <a:spLocks noGrp="1"/>
          </p:cNvSpPr>
          <p:nvPr/>
        </p:nvSpPr>
        <p:spPr>
          <a:xfrm>
            <a:off x="8867775" y="5400675"/>
            <a:ext cx="2905125" cy="200025"/>
          </a:xfrm>
          <a:prstGeom prst="rect">
            <a:avLst/>
          </a:prstGeom>
          <a:noFill/>
          <a:ln w="0">
            <a:noFill/>
            <a:prstDash val="solid"/>
          </a:ln>
        </p:spPr>
        <p:txBody>
          <a:bodyPr lIns="0" tIns="0" rIns="0" bIns="0"/>
          <a:lstStyle>
            <a:defPPr>
              <a:defRPr sz="975" b="0">
                <a:solidFill>
                  <a:srgbClr val="000000"/>
                </a:solidFill>
                <a:latin typeface="Calibri"/>
                <a:ea typeface="Calibri"/>
                <a:cs typeface="Calibri"/>
              </a:defRPr>
            </a:defPPr>
            <a:lvl1pPr>
              <a:defRPr sz="975" b="0">
                <a:solidFill>
                  <a:srgbClr val="000000"/>
                </a:solidFill>
                <a:latin typeface="Calibri"/>
                <a:ea typeface="Calibri"/>
                <a:cs typeface="Calibri"/>
              </a:defRPr>
            </a:lvl1pPr>
            <a:lvl2pPr>
              <a:defRPr sz="975" b="0">
                <a:solidFill>
                  <a:srgbClr val="000000"/>
                </a:solidFill>
                <a:latin typeface="Calibri"/>
                <a:ea typeface="Calibri"/>
                <a:cs typeface="Calibri"/>
              </a:defRPr>
            </a:lvl2pPr>
            <a:lvl3pPr>
              <a:defRPr sz="975" b="0">
                <a:solidFill>
                  <a:srgbClr val="000000"/>
                </a:solidFill>
                <a:latin typeface="Calibri"/>
                <a:ea typeface="Calibri"/>
                <a:cs typeface="Calibri"/>
              </a:defRPr>
            </a:lvl3pPr>
            <a:lvl4pPr>
              <a:defRPr sz="975" b="0">
                <a:solidFill>
                  <a:srgbClr val="000000"/>
                </a:solidFill>
                <a:latin typeface="Calibri"/>
                <a:ea typeface="Calibri"/>
                <a:cs typeface="Calibri"/>
              </a:defRPr>
            </a:lvl4pPr>
            <a:lvl5pPr>
              <a:defRPr sz="975" b="0">
                <a:solidFill>
                  <a:srgbClr val="000000"/>
                </a:solidFill>
                <a:latin typeface="Calibri"/>
                <a:ea typeface="Calibri"/>
                <a:cs typeface="Calibri"/>
              </a:defRPr>
            </a:lvl5pPr>
            <a:lvl6pPr>
              <a:defRPr sz="975" b="0">
                <a:solidFill>
                  <a:srgbClr val="000000"/>
                </a:solidFill>
                <a:latin typeface="Calibri"/>
                <a:ea typeface="Calibri"/>
                <a:cs typeface="Calibri"/>
              </a:defRPr>
            </a:lvl6pPr>
            <a:lvl7pPr>
              <a:defRPr sz="975" b="0">
                <a:solidFill>
                  <a:srgbClr val="000000"/>
                </a:solidFill>
                <a:latin typeface="Calibri"/>
                <a:ea typeface="Calibri"/>
                <a:cs typeface="Calibri"/>
              </a:defRPr>
            </a:lvl7pPr>
            <a:lvl8pPr>
              <a:defRPr sz="975" b="0">
                <a:solidFill>
                  <a:srgbClr val="000000"/>
                </a:solidFill>
                <a:latin typeface="Calibri"/>
                <a:ea typeface="Calibri"/>
                <a:cs typeface="Calibri"/>
              </a:defRPr>
            </a:lvl8pPr>
            <a:lvl9pPr>
              <a:defRPr sz="975" b="0">
                <a:solidFill>
                  <a:srgbClr val="000000"/>
                </a:solidFill>
                <a:latin typeface="Calibri"/>
                <a:ea typeface="Calibri"/>
                <a:cs typeface="Calibri"/>
              </a:defRPr>
            </a:lvl9pPr>
          </a:lstStyle>
          <a:p>
            <a:pPr>
              <a:defRPr sz="975" b="0">
                <a:solidFill>
                  <a:srgbClr val="000000"/>
                </a:solidFill>
                <a:latin typeface="Calibri"/>
                <a:ea typeface="Calibri"/>
                <a:cs typeface="Calibri"/>
              </a:defRPr>
            </a:pPr>
            <a:r>
              <a:rPr sz="975" b="0">
                <a:solidFill>
                  <a:srgbClr val="000000"/>
                </a:solidFill>
                <a:latin typeface="Calibri"/>
                <a:ea typeface="Calibri"/>
                <a:cs typeface="Calibri"/>
              </a:rPr>
              <a:t>Others: 46.6 kg (15%)</a:t>
            </a:r>
          </a:p>
        </p:txBody>
      </p:sp>
      <p:sp>
        <p:nvSpPr>
          <p:cNvPr id="269" name="Rectangle 268">
            <a:extLst>
              <a:ext uri="{FF2B5EF4-FFF2-40B4-BE49-F238E27FC236}">
                <a16:creationId xmlns:a16="http://schemas.microsoft.com/office/drawing/2014/main" id="{B4F9144B-ED9D-3865-D4CB-C78A98C77670}"/>
              </a:ext>
            </a:extLst>
          </p:cNvPr>
          <p:cNvSpPr>
            <a:spLocks noGrp="1"/>
          </p:cNvSpPr>
          <p:nvPr/>
        </p:nvSpPr>
        <p:spPr>
          <a:xfrm>
            <a:off x="476250" y="5953125"/>
            <a:ext cx="11239500" cy="323850"/>
          </a:xfrm>
          <a:prstGeom prst="rect">
            <a:avLst/>
          </a:prstGeom>
          <a:noFill/>
          <a:ln w="0">
            <a:noFill/>
            <a:prstDash val="solid"/>
          </a:ln>
        </p:spPr>
        <p:txBody>
          <a:bodyPr lIns="0" tIns="0" rIns="0" bIns="0"/>
          <a:lstStyle>
            <a:defPPr>
              <a:defRPr sz="1200" b="0">
                <a:solidFill>
                  <a:srgbClr val="444444"/>
                </a:solidFill>
                <a:latin typeface="Calibri"/>
                <a:ea typeface="Calibri"/>
                <a:cs typeface="Calibri"/>
              </a:defRPr>
            </a:defPPr>
            <a:lvl1pPr>
              <a:defRPr sz="1200" b="0">
                <a:solidFill>
                  <a:srgbClr val="444444"/>
                </a:solidFill>
                <a:latin typeface="Calibri"/>
                <a:ea typeface="Calibri"/>
                <a:cs typeface="Calibri"/>
              </a:defRPr>
            </a:lvl1pPr>
            <a:lvl2pPr>
              <a:defRPr sz="1200" b="0">
                <a:solidFill>
                  <a:srgbClr val="444444"/>
                </a:solidFill>
                <a:latin typeface="Calibri"/>
                <a:ea typeface="Calibri"/>
                <a:cs typeface="Calibri"/>
              </a:defRPr>
            </a:lvl2pPr>
            <a:lvl3pPr>
              <a:defRPr sz="1200" b="0">
                <a:solidFill>
                  <a:srgbClr val="444444"/>
                </a:solidFill>
                <a:latin typeface="Calibri"/>
                <a:ea typeface="Calibri"/>
                <a:cs typeface="Calibri"/>
              </a:defRPr>
            </a:lvl3pPr>
            <a:lvl4pPr>
              <a:defRPr sz="1200" b="0">
                <a:solidFill>
                  <a:srgbClr val="444444"/>
                </a:solidFill>
                <a:latin typeface="Calibri"/>
                <a:ea typeface="Calibri"/>
                <a:cs typeface="Calibri"/>
              </a:defRPr>
            </a:lvl4pPr>
            <a:lvl5pPr>
              <a:defRPr sz="1200" b="0">
                <a:solidFill>
                  <a:srgbClr val="444444"/>
                </a:solidFill>
                <a:latin typeface="Calibri"/>
                <a:ea typeface="Calibri"/>
                <a:cs typeface="Calibri"/>
              </a:defRPr>
            </a:lvl5pPr>
            <a:lvl6pPr>
              <a:defRPr sz="1200" b="0">
                <a:solidFill>
                  <a:srgbClr val="444444"/>
                </a:solidFill>
                <a:latin typeface="Calibri"/>
                <a:ea typeface="Calibri"/>
                <a:cs typeface="Calibri"/>
              </a:defRPr>
            </a:lvl6pPr>
            <a:lvl7pPr>
              <a:defRPr sz="1200" b="0">
                <a:solidFill>
                  <a:srgbClr val="444444"/>
                </a:solidFill>
                <a:latin typeface="Calibri"/>
                <a:ea typeface="Calibri"/>
                <a:cs typeface="Calibri"/>
              </a:defRPr>
            </a:lvl7pPr>
            <a:lvl8pPr>
              <a:defRPr sz="1200" b="0">
                <a:solidFill>
                  <a:srgbClr val="444444"/>
                </a:solidFill>
                <a:latin typeface="Calibri"/>
                <a:ea typeface="Calibri"/>
                <a:cs typeface="Calibri"/>
              </a:defRPr>
            </a:lvl8pPr>
            <a:lvl9pPr>
              <a:defRPr sz="1200" b="0">
                <a:solidFill>
                  <a:srgbClr val="444444"/>
                </a:solidFill>
                <a:latin typeface="Calibri"/>
                <a:ea typeface="Calibri"/>
                <a:cs typeface="Calibri"/>
              </a:defRPr>
            </a:lvl9pPr>
          </a:lstStyle>
          <a:p>
            <a:pPr>
              <a:defRPr sz="1200" b="0">
                <a:solidFill>
                  <a:srgbClr val="444444"/>
                </a:solidFill>
                <a:latin typeface="Calibri"/>
                <a:ea typeface="Calibri"/>
                <a:cs typeface="Calibri"/>
              </a:defRPr>
            </a:pPr>
            <a:r>
              <a:rPr sz="1200" b="0">
                <a:solidFill>
                  <a:srgbClr val="444444"/>
                </a:solidFill>
                <a:latin typeface="Calibri"/>
                <a:ea typeface="Calibri"/>
                <a:cs typeface="Calibri"/>
              </a:rPr>
              <a:t>Reference ledger: 268.42 kg components + 30 kg payload + 35 kg takeoff fuel = 333.42 kg. The 6.58 kg difference closes to the stated reference only; it is not identified hardware.</a:t>
            </a:r>
          </a:p>
        </p:txBody>
      </p:sp>
      <p:sp>
        <p:nvSpPr>
          <p:cNvPr id="270" name="TextBox 269">
            <a:extLst>
              <a:ext uri="{FF2B5EF4-FFF2-40B4-BE49-F238E27FC236}">
                <a16:creationId xmlns:a16="http://schemas.microsoft.com/office/drawing/2014/main" id="{E2DE42F1-9ED1-27D7-0533-1B8852BB2EF2}"/>
              </a:ext>
            </a:extLst>
          </p:cNvPr>
          <p:cNvSpPr txBox="1"/>
          <p:nvPr/>
        </p:nvSpPr>
        <p:spPr>
          <a:xfrm>
            <a:off x="476250" y="6400800"/>
            <a:ext cx="11074400" cy="323165"/>
          </a:xfrm>
          <a:prstGeom prst="rect">
            <a:avLst/>
          </a:prstGeom>
          <a:noFill/>
        </p:spPr>
        <p:txBody>
          <a:bodyPr vert="horz" lIns="0" tIns="0" rIns="0" bIns="0" rtlCol="0">
            <a:spAutoFit/>
          </a:bodyPr>
          <a:lstStyle/>
          <a:p>
            <a:r>
              <a:rPr lang="en-US" sz="1050">
                <a:solidFill>
                  <a:srgbClr val="000000"/>
                </a:solidFill>
                <a:latin typeface="Calibri" panose="020F0502020204030204" pitchFamily="34" charset="0"/>
              </a:rPr>
              <a:t>[S7] Corrected native component weights, 28 Oct 2026. [U1] User baseline ledger, 268.42 kg + 30 kg payload + 35 kg fuel.
Baseline 6.58 kg remains unallocated. Model “Others” includes generic allowances, not a matched equipment inventory.</a:t>
            </a:r>
          </a:p>
        </p:txBody>
      </p:sp>
      <p:sp>
        <p:nvSpPr>
          <p:cNvPr id="271" name="TextBox 270">
            <a:extLst>
              <a:ext uri="{FF2B5EF4-FFF2-40B4-BE49-F238E27FC236}">
                <a16:creationId xmlns:a16="http://schemas.microsoft.com/office/drawing/2014/main" id="{0A527749-D702-E1E5-9B22-81A927338631}"/>
              </a:ext>
            </a:extLst>
          </p:cNvPr>
          <p:cNvSpPr txBox="1"/>
          <p:nvPr/>
        </p:nvSpPr>
        <p:spPr>
          <a:xfrm>
            <a:off x="11671300" y="6527800"/>
            <a:ext cx="355600" cy="153888"/>
          </a:xfrm>
          <a:prstGeom prst="rect">
            <a:avLst/>
          </a:prstGeom>
          <a:noFill/>
        </p:spPr>
        <p:txBody>
          <a:bodyPr vert="horz" lIns="0" tIns="0" rIns="0" bIns="0" rtlCol="0">
            <a:spAutoFit/>
          </a:bodyPr>
          <a:lstStyle/>
          <a:p>
            <a:r>
              <a:rPr lang="en-US" sz="1000">
                <a:solidFill>
                  <a:srgbClr val="000000"/>
                </a:solidFill>
                <a:latin typeface="Calibri" panose="020F0502020204030204" pitchFamily="34" charset="0"/>
              </a:rPr>
              <a:t>6</a:t>
            </a:r>
          </a:p>
        </p:txBody>
      </p:sp>
    </p:spTree>
    <p:extLst>
      <p:ext uri="{BB962C8B-B14F-4D97-AF65-F5344CB8AC3E}">
        <p14:creationId xmlns:p14="http://schemas.microsoft.com/office/powerpoint/2010/main" val="1982475303"/>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4F06E29-A5DA-4DEF-BE4D-2E215C56152E}"/>
              </a:ext>
            </a:extLst>
          </p:cNvPr>
          <p:cNvSpPr>
            <a:spLocks noGrp="1"/>
          </p:cNvSpPr>
          <p:nvPr/>
        </p:nvSpPr>
        <p:spPr>
          <a:xfrm>
            <a:off x="838200" y="361950"/>
            <a:ext cx="10896600" cy="571500"/>
          </a:xfrm>
          <a:prstGeom prst="rect">
            <a:avLst/>
          </a:prstGeom>
          <a:noFill/>
          <a:ln w="0">
            <a:noFill/>
          </a:ln>
        </p:spPr>
        <p:txBody>
          <a:bodyPr/>
          <a:lstStyle>
            <a:defPPr>
              <a:defRPr sz="2775" b="1">
                <a:solidFill>
                  <a:srgbClr val="173344"/>
                </a:solidFill>
                <a:latin typeface="Arial"/>
                <a:ea typeface="Arial"/>
                <a:cs typeface="Arial"/>
              </a:defRPr>
            </a:defPPr>
            <a:lvl1pPr>
              <a:defRPr sz="2775" b="1">
                <a:solidFill>
                  <a:srgbClr val="173344"/>
                </a:solidFill>
                <a:latin typeface="Arial"/>
                <a:ea typeface="Arial"/>
                <a:cs typeface="Arial"/>
              </a:defRPr>
            </a:lvl1pPr>
            <a:lvl2pPr>
              <a:defRPr sz="2775" b="1">
                <a:solidFill>
                  <a:srgbClr val="173344"/>
                </a:solidFill>
                <a:latin typeface="Arial"/>
                <a:ea typeface="Arial"/>
                <a:cs typeface="Arial"/>
              </a:defRPr>
            </a:lvl2pPr>
            <a:lvl3pPr>
              <a:defRPr sz="2775" b="1">
                <a:solidFill>
                  <a:srgbClr val="173344"/>
                </a:solidFill>
                <a:latin typeface="Arial"/>
                <a:ea typeface="Arial"/>
                <a:cs typeface="Arial"/>
              </a:defRPr>
            </a:lvl3pPr>
            <a:lvl4pPr>
              <a:defRPr sz="2775" b="1">
                <a:solidFill>
                  <a:srgbClr val="173344"/>
                </a:solidFill>
                <a:latin typeface="Arial"/>
                <a:ea typeface="Arial"/>
                <a:cs typeface="Arial"/>
              </a:defRPr>
            </a:lvl4pPr>
            <a:lvl5pPr>
              <a:defRPr sz="2775" b="1">
                <a:solidFill>
                  <a:srgbClr val="173344"/>
                </a:solidFill>
                <a:latin typeface="Arial"/>
                <a:ea typeface="Arial"/>
                <a:cs typeface="Arial"/>
              </a:defRPr>
            </a:lvl5pPr>
            <a:lvl6pPr>
              <a:defRPr sz="2775" b="1">
                <a:solidFill>
                  <a:srgbClr val="173344"/>
                </a:solidFill>
                <a:latin typeface="Arial"/>
                <a:ea typeface="Arial"/>
                <a:cs typeface="Arial"/>
              </a:defRPr>
            </a:lvl6pPr>
            <a:lvl7pPr>
              <a:defRPr sz="2775" b="1">
                <a:solidFill>
                  <a:srgbClr val="173344"/>
                </a:solidFill>
                <a:latin typeface="Arial"/>
                <a:ea typeface="Arial"/>
                <a:cs typeface="Arial"/>
              </a:defRPr>
            </a:lvl7pPr>
            <a:lvl8pPr>
              <a:defRPr sz="2775" b="1">
                <a:solidFill>
                  <a:srgbClr val="173344"/>
                </a:solidFill>
                <a:latin typeface="Arial"/>
                <a:ea typeface="Arial"/>
                <a:cs typeface="Arial"/>
              </a:defRPr>
            </a:lvl8pPr>
            <a:lvl9pPr>
              <a:defRPr sz="2775" b="1">
                <a:solidFill>
                  <a:srgbClr val="173344"/>
                </a:solidFill>
                <a:latin typeface="Arial"/>
                <a:ea typeface="Arial"/>
                <a:cs typeface="Arial"/>
              </a:defRPr>
            </a:lvl9pPr>
          </a:lstStyle>
          <a:p>
            <a:pPr>
              <a:defRPr sz="2775" b="1">
                <a:solidFill>
                  <a:srgbClr val="173344"/>
                </a:solidFill>
                <a:latin typeface="Arial"/>
                <a:ea typeface="Arial"/>
                <a:cs typeface="Arial"/>
              </a:defRPr>
            </a:pPr>
            <a:r>
              <a:rPr lang="en-US" sz="2400" b="1">
                <a:solidFill>
                  <a:srgbClr val="000000"/>
                </a:solidFill>
                <a:latin typeface="Calibri" panose="020F0502020204030204" pitchFamily="34" charset="0"/>
                <a:ea typeface="Arial"/>
                <a:cs typeface="Arial"/>
              </a:rPr>
              <a:t>Historical Battery Assumptions [S2]</a:t>
            </a:r>
            <a:endParaRPr sz="2400" b="1">
              <a:solidFill>
                <a:srgbClr val="000000"/>
              </a:solidFill>
              <a:latin typeface="Calibri" panose="020F0502020204030204" pitchFamily="34" charset="0"/>
              <a:ea typeface="Arial"/>
              <a:cs typeface="Arial"/>
            </a:endParaRPr>
          </a:p>
        </p:txBody>
      </p:sp>
      <p:sp>
        <p:nvSpPr>
          <p:cNvPr id="2" name="Rectangle 1">
            <a:extLst>
              <a:ext uri="{FF2B5EF4-FFF2-40B4-BE49-F238E27FC236}">
                <a16:creationId xmlns:a16="http://schemas.microsoft.com/office/drawing/2014/main" id="{C020F1EB-555D-4270-82C9-817D42C4EBF1}"/>
              </a:ext>
            </a:extLst>
          </p:cNvPr>
          <p:cNvSpPr>
            <a:spLocks noGrp="1"/>
          </p:cNvSpPr>
          <p:nvPr/>
        </p:nvSpPr>
        <p:spPr>
          <a:xfrm>
            <a:off x="476250" y="876300"/>
            <a:ext cx="11239500" cy="523875"/>
          </a:xfrm>
          <a:prstGeom prst="rect">
            <a:avLst/>
          </a:prstGeom>
          <a:noFill/>
          <a:ln w="0">
            <a:noFill/>
          </a:ln>
        </p:spPr>
        <p:txBody>
          <a:bodyPr/>
          <a:lstStyle>
            <a:defPPr>
              <a:defRPr sz="1575" b="0">
                <a:solidFill>
                  <a:srgbClr val="536675"/>
                </a:solidFill>
                <a:latin typeface="Arial"/>
                <a:ea typeface="Arial"/>
                <a:cs typeface="Arial"/>
              </a:defRPr>
            </a:defPPr>
            <a:lvl1pPr>
              <a:defRPr sz="1575" b="0">
                <a:solidFill>
                  <a:srgbClr val="536675"/>
                </a:solidFill>
                <a:latin typeface="Arial"/>
                <a:ea typeface="Arial"/>
                <a:cs typeface="Arial"/>
              </a:defRPr>
            </a:lvl1pPr>
            <a:lvl2pPr>
              <a:defRPr sz="1575" b="0">
                <a:solidFill>
                  <a:srgbClr val="536675"/>
                </a:solidFill>
                <a:latin typeface="Arial"/>
                <a:ea typeface="Arial"/>
                <a:cs typeface="Arial"/>
              </a:defRPr>
            </a:lvl2pPr>
            <a:lvl3pPr>
              <a:defRPr sz="1575" b="0">
                <a:solidFill>
                  <a:srgbClr val="536675"/>
                </a:solidFill>
                <a:latin typeface="Arial"/>
                <a:ea typeface="Arial"/>
                <a:cs typeface="Arial"/>
              </a:defRPr>
            </a:lvl3pPr>
            <a:lvl4pPr>
              <a:defRPr sz="1575" b="0">
                <a:solidFill>
                  <a:srgbClr val="536675"/>
                </a:solidFill>
                <a:latin typeface="Arial"/>
                <a:ea typeface="Arial"/>
                <a:cs typeface="Arial"/>
              </a:defRPr>
            </a:lvl4pPr>
            <a:lvl5pPr>
              <a:defRPr sz="1575" b="0">
                <a:solidFill>
                  <a:srgbClr val="536675"/>
                </a:solidFill>
                <a:latin typeface="Arial"/>
                <a:ea typeface="Arial"/>
                <a:cs typeface="Arial"/>
              </a:defRPr>
            </a:lvl5pPr>
            <a:lvl6pPr>
              <a:defRPr sz="1575" b="0">
                <a:solidFill>
                  <a:srgbClr val="536675"/>
                </a:solidFill>
                <a:latin typeface="Arial"/>
                <a:ea typeface="Arial"/>
                <a:cs typeface="Arial"/>
              </a:defRPr>
            </a:lvl6pPr>
            <a:lvl7pPr>
              <a:defRPr sz="1575" b="0">
                <a:solidFill>
                  <a:srgbClr val="536675"/>
                </a:solidFill>
                <a:latin typeface="Arial"/>
                <a:ea typeface="Arial"/>
                <a:cs typeface="Arial"/>
              </a:defRPr>
            </a:lvl7pPr>
            <a:lvl8pPr>
              <a:defRPr sz="1575" b="0">
                <a:solidFill>
                  <a:srgbClr val="536675"/>
                </a:solidFill>
                <a:latin typeface="Arial"/>
                <a:ea typeface="Arial"/>
                <a:cs typeface="Arial"/>
              </a:defRPr>
            </a:lvl8pPr>
            <a:lvl9pPr>
              <a:defRPr sz="1575" b="0">
                <a:solidFill>
                  <a:srgbClr val="536675"/>
                </a:solidFill>
                <a:latin typeface="Arial"/>
                <a:ea typeface="Arial"/>
                <a:cs typeface="Arial"/>
              </a:defRPr>
            </a:lvl9pPr>
          </a:lstStyle>
          <a:p>
            <a:pPr>
              <a:defRPr sz="1575" b="0">
                <a:solidFill>
                  <a:srgbClr val="536675"/>
                </a:solidFill>
                <a:latin typeface="Arial"/>
                <a:ea typeface="Arial"/>
                <a:cs typeface="Arial"/>
              </a:defRPr>
            </a:pPr>
            <a:r>
              <a:rPr lang="en-US" sz="1575" b="0">
                <a:solidFill>
                  <a:srgbClr val="000000"/>
                </a:solidFill>
                <a:latin typeface="Calibri" panose="020F0502020204030204" pitchFamily="34" charset="0"/>
                <a:ea typeface="Arial"/>
                <a:cs typeface="Arial"/>
              </a:rPr>
              <a:t>Nominal pack specific energy fell 21.5%; the revised cases also require more energy.</a:t>
            </a:r>
            <a:endParaRPr sz="1575" b="0">
              <a:solidFill>
                <a:srgbClr val="000000"/>
              </a:solidFill>
              <a:latin typeface="Calibri" panose="020F0502020204030204" pitchFamily="34" charset="0"/>
              <a:ea typeface="Arial"/>
              <a:cs typeface="Arial"/>
            </a:endParaRPr>
          </a:p>
        </p:txBody>
      </p:sp>
      <p:sp>
        <p:nvSpPr>
          <p:cNvPr id="3" name="Rectangle 2">
            <a:extLst>
              <a:ext uri="{FF2B5EF4-FFF2-40B4-BE49-F238E27FC236}">
                <a16:creationId xmlns:a16="http://schemas.microsoft.com/office/drawing/2014/main" id="{EA2A3014-C909-4F86-A65D-747C6EAB2F75}"/>
              </a:ext>
            </a:extLst>
          </p:cNvPr>
          <p:cNvSpPr>
            <a:spLocks noGrp="1"/>
          </p:cNvSpPr>
          <p:nvPr/>
        </p:nvSpPr>
        <p:spPr>
          <a:xfrm>
            <a:off x="476250" y="6524625"/>
            <a:ext cx="10477500" cy="190500"/>
          </a:xfrm>
          <a:prstGeom prst="rect">
            <a:avLst/>
          </a:prstGeom>
          <a:noFill/>
          <a:ln w="0">
            <a:noFill/>
          </a:ln>
        </p:spPr>
        <p:txBody>
          <a:bodyPr/>
          <a:lstStyle>
            <a:defPPr>
              <a:defRPr sz="975" b="0">
                <a:solidFill>
                  <a:srgbClr val="536675"/>
                </a:solidFill>
                <a:latin typeface="Arial"/>
                <a:ea typeface="Arial"/>
                <a:cs typeface="Arial"/>
              </a:defRPr>
            </a:defPPr>
            <a:lvl1pPr>
              <a:defRPr sz="975" b="0">
                <a:solidFill>
                  <a:srgbClr val="536675"/>
                </a:solidFill>
                <a:latin typeface="Arial"/>
                <a:ea typeface="Arial"/>
                <a:cs typeface="Arial"/>
              </a:defRPr>
            </a:lvl1pPr>
            <a:lvl2pPr>
              <a:defRPr sz="975" b="0">
                <a:solidFill>
                  <a:srgbClr val="536675"/>
                </a:solidFill>
                <a:latin typeface="Arial"/>
                <a:ea typeface="Arial"/>
                <a:cs typeface="Arial"/>
              </a:defRPr>
            </a:lvl2pPr>
            <a:lvl3pPr>
              <a:defRPr sz="975" b="0">
                <a:solidFill>
                  <a:srgbClr val="536675"/>
                </a:solidFill>
                <a:latin typeface="Arial"/>
                <a:ea typeface="Arial"/>
                <a:cs typeface="Arial"/>
              </a:defRPr>
            </a:lvl3pPr>
            <a:lvl4pPr>
              <a:defRPr sz="975" b="0">
                <a:solidFill>
                  <a:srgbClr val="536675"/>
                </a:solidFill>
                <a:latin typeface="Arial"/>
                <a:ea typeface="Arial"/>
                <a:cs typeface="Arial"/>
              </a:defRPr>
            </a:lvl4pPr>
            <a:lvl5pPr>
              <a:defRPr sz="975" b="0">
                <a:solidFill>
                  <a:srgbClr val="536675"/>
                </a:solidFill>
                <a:latin typeface="Arial"/>
                <a:ea typeface="Arial"/>
                <a:cs typeface="Arial"/>
              </a:defRPr>
            </a:lvl5pPr>
            <a:lvl6pPr>
              <a:defRPr sz="975" b="0">
                <a:solidFill>
                  <a:srgbClr val="536675"/>
                </a:solidFill>
                <a:latin typeface="Arial"/>
                <a:ea typeface="Arial"/>
                <a:cs typeface="Arial"/>
              </a:defRPr>
            </a:lvl6pPr>
            <a:lvl7pPr>
              <a:defRPr sz="975" b="0">
                <a:solidFill>
                  <a:srgbClr val="536675"/>
                </a:solidFill>
                <a:latin typeface="Arial"/>
                <a:ea typeface="Arial"/>
                <a:cs typeface="Arial"/>
              </a:defRPr>
            </a:lvl7pPr>
            <a:lvl8pPr>
              <a:defRPr sz="975" b="0">
                <a:solidFill>
                  <a:srgbClr val="536675"/>
                </a:solidFill>
                <a:latin typeface="Arial"/>
                <a:ea typeface="Arial"/>
                <a:cs typeface="Arial"/>
              </a:defRPr>
            </a:lvl8pPr>
            <a:lvl9pPr>
              <a:defRPr sz="975" b="0">
                <a:solidFill>
                  <a:srgbClr val="536675"/>
                </a:solidFill>
                <a:latin typeface="Arial"/>
                <a:ea typeface="Arial"/>
                <a:cs typeface="Arial"/>
              </a:defRPr>
            </a:lvl9pPr>
          </a:lstStyle>
          <a:p>
            <a:pPr>
              <a:defRPr sz="975" b="0">
                <a:solidFill>
                  <a:srgbClr val="536675"/>
                </a:solidFill>
                <a:latin typeface="Arial"/>
                <a:ea typeface="Arial"/>
                <a:cs typeface="Arial"/>
              </a:defRPr>
            </a:pPr>
            <a:endParaRPr sz="975" b="0">
              <a:solidFill>
                <a:srgbClr val="000000"/>
              </a:solidFill>
              <a:latin typeface="Calibri" panose="020F0502020204030204" pitchFamily="34" charset="0"/>
              <a:ea typeface="Arial"/>
              <a:cs typeface="Arial"/>
            </a:endParaRPr>
          </a:p>
        </p:txBody>
      </p:sp>
      <p:sp>
        <p:nvSpPr>
          <p:cNvPr id="4" name="Rectangle 3">
            <a:extLst>
              <a:ext uri="{FF2B5EF4-FFF2-40B4-BE49-F238E27FC236}">
                <a16:creationId xmlns:a16="http://schemas.microsoft.com/office/drawing/2014/main" id="{DEBD9CA6-6689-4AE6-9561-510A4F232B48}"/>
              </a:ext>
            </a:extLst>
          </p:cNvPr>
          <p:cNvSpPr>
            <a:spLocks noGrp="1"/>
          </p:cNvSpPr>
          <p:nvPr/>
        </p:nvSpPr>
        <p:spPr>
          <a:xfrm>
            <a:off x="11334750" y="6496050"/>
            <a:ext cx="381000" cy="228600"/>
          </a:xfrm>
          <a:prstGeom prst="rect">
            <a:avLst/>
          </a:prstGeom>
          <a:noFill/>
          <a:ln w="0">
            <a:noFill/>
          </a:ln>
        </p:spPr>
        <p:txBody>
          <a:bodyPr/>
          <a:lstStyle>
            <a:defPPr>
              <a:defRPr sz="1200" b="0">
                <a:solidFill>
                  <a:srgbClr val="536675"/>
                </a:solidFill>
                <a:latin typeface="Arial"/>
                <a:ea typeface="Arial"/>
                <a:cs typeface="Arial"/>
              </a:defRPr>
            </a:defPPr>
            <a:lvl1pPr>
              <a:defRPr sz="1200" b="0">
                <a:solidFill>
                  <a:srgbClr val="536675"/>
                </a:solidFill>
                <a:latin typeface="Arial"/>
                <a:ea typeface="Arial"/>
                <a:cs typeface="Arial"/>
              </a:defRPr>
            </a:lvl1pPr>
            <a:lvl2pPr>
              <a:defRPr sz="1200" b="0">
                <a:solidFill>
                  <a:srgbClr val="536675"/>
                </a:solidFill>
                <a:latin typeface="Arial"/>
                <a:ea typeface="Arial"/>
                <a:cs typeface="Arial"/>
              </a:defRPr>
            </a:lvl2pPr>
            <a:lvl3pPr>
              <a:defRPr sz="1200" b="0">
                <a:solidFill>
                  <a:srgbClr val="536675"/>
                </a:solidFill>
                <a:latin typeface="Arial"/>
                <a:ea typeface="Arial"/>
                <a:cs typeface="Arial"/>
              </a:defRPr>
            </a:lvl3pPr>
            <a:lvl4pPr>
              <a:defRPr sz="1200" b="0">
                <a:solidFill>
                  <a:srgbClr val="536675"/>
                </a:solidFill>
                <a:latin typeface="Arial"/>
                <a:ea typeface="Arial"/>
                <a:cs typeface="Arial"/>
              </a:defRPr>
            </a:lvl4pPr>
            <a:lvl5pPr>
              <a:defRPr sz="1200" b="0">
                <a:solidFill>
                  <a:srgbClr val="536675"/>
                </a:solidFill>
                <a:latin typeface="Arial"/>
                <a:ea typeface="Arial"/>
                <a:cs typeface="Arial"/>
              </a:defRPr>
            </a:lvl5pPr>
            <a:lvl6pPr>
              <a:defRPr sz="1200" b="0">
                <a:solidFill>
                  <a:srgbClr val="536675"/>
                </a:solidFill>
                <a:latin typeface="Arial"/>
                <a:ea typeface="Arial"/>
                <a:cs typeface="Arial"/>
              </a:defRPr>
            </a:lvl6pPr>
            <a:lvl7pPr>
              <a:defRPr sz="1200" b="0">
                <a:solidFill>
                  <a:srgbClr val="536675"/>
                </a:solidFill>
                <a:latin typeface="Arial"/>
                <a:ea typeface="Arial"/>
                <a:cs typeface="Arial"/>
              </a:defRPr>
            </a:lvl7pPr>
            <a:lvl8pPr>
              <a:defRPr sz="1200" b="0">
                <a:solidFill>
                  <a:srgbClr val="536675"/>
                </a:solidFill>
                <a:latin typeface="Arial"/>
                <a:ea typeface="Arial"/>
                <a:cs typeface="Arial"/>
              </a:defRPr>
            </a:lvl8pPr>
            <a:lvl9pPr>
              <a:defRPr sz="1200" b="0">
                <a:solidFill>
                  <a:srgbClr val="536675"/>
                </a:solidFill>
                <a:latin typeface="Arial"/>
                <a:ea typeface="Arial"/>
                <a:cs typeface="Arial"/>
              </a:defRPr>
            </a:lvl9pPr>
          </a:lstStyle>
          <a:p>
            <a:pPr>
              <a:defRPr sz="1200" b="0">
                <a:solidFill>
                  <a:srgbClr val="536675"/>
                </a:solidFill>
                <a:latin typeface="Arial"/>
                <a:ea typeface="Arial"/>
                <a:cs typeface="Arial"/>
              </a:defRPr>
            </a:pPr>
            <a:endParaRPr sz="1200" b="0">
              <a:solidFill>
                <a:srgbClr val="000000"/>
              </a:solidFill>
              <a:latin typeface="Calibri" panose="020F0502020204030204" pitchFamily="34" charset="0"/>
              <a:ea typeface="Arial"/>
              <a:cs typeface="Arial"/>
            </a:endParaRPr>
          </a:p>
        </p:txBody>
      </p:sp>
      <p:graphicFrame>
        <p:nvGraphicFramePr>
          <p:cNvPr id="5" name="Table 4">
            <a:extLst>
              <a:ext uri="{FF2B5EF4-FFF2-40B4-BE49-F238E27FC236}">
                <a16:creationId xmlns:a16="http://schemas.microsoft.com/office/drawing/2014/main" id="{59017334-AFD0-42D7-854D-49B0D4592366}"/>
              </a:ext>
            </a:extLst>
          </p:cNvPr>
          <p:cNvGraphicFramePr/>
          <p:nvPr>
            <p:extLst>
              <p:ext uri="{D42A27DB-BD31-4B8C-83A1-F6EECF244321}">
                <p14:modId xmlns:p14="http://schemas.microsoft.com/office/powerpoint/2010/main" val="643775164"/>
              </p:ext>
            </p:extLst>
          </p:nvPr>
        </p:nvGraphicFramePr>
        <p:xfrm>
          <a:off x="476250" y="1524000"/>
          <a:ext cx="11239500" cy="3667125"/>
        </p:xfrm>
        <a:graphic>
          <a:graphicData uri="http://schemas.openxmlformats.org/drawingml/2006/table">
            <a:tbl>
              <a:tblPr/>
              <a:tblGrid>
                <a:gridCol w="4191000">
                  <a:extLst>
                    <a:ext uri="{9D8B030D-6E8A-4147-A177-3AD203B41FA5}">
                      <a16:colId xmlns:a16="http://schemas.microsoft.com/office/drawing/2014/main" val="20000"/>
                    </a:ext>
                  </a:extLst>
                </a:gridCol>
                <a:gridCol w="3524250">
                  <a:extLst>
                    <a:ext uri="{9D8B030D-6E8A-4147-A177-3AD203B41FA5}">
                      <a16:colId xmlns:a16="http://schemas.microsoft.com/office/drawing/2014/main" val="20001"/>
                    </a:ext>
                  </a:extLst>
                </a:gridCol>
                <a:gridCol w="3524250">
                  <a:extLst>
                    <a:ext uri="{9D8B030D-6E8A-4147-A177-3AD203B41FA5}">
                      <a16:colId xmlns:a16="http://schemas.microsoft.com/office/drawing/2014/main" val="20002"/>
                    </a:ext>
                  </a:extLst>
                </a:gridCol>
              </a:tblGrid>
              <a:tr h="523875">
                <a:tc>
                  <a:txBody>
                    <a:bodyPr/>
                    <a:lstStyle/>
                    <a:p>
                      <a:r>
                        <a:rPr sz="1425" b="1">
                          <a:solidFill>
                            <a:srgbClr val="000000"/>
                          </a:solidFill>
                          <a:latin typeface="Calibri" panose="020F0502020204030204" pitchFamily="34" charset="0"/>
                          <a:ea typeface="Arial"/>
                          <a:cs typeface="Arial"/>
                        </a:rPr>
                        <a:t>Parameter</a:t>
                      </a:r>
                    </a:p>
                  </a:txBody>
                  <a:tcPr>
                    <a:lnL w="9525">
                      <a:solidFill>
                        <a:srgbClr val="DCE4E8"/>
                      </a:solidFill>
                    </a:lnL>
                    <a:lnR w="9525">
                      <a:solidFill>
                        <a:srgbClr val="DCE4E8"/>
                      </a:solidFill>
                    </a:lnR>
                    <a:lnT w="9525">
                      <a:solidFill>
                        <a:srgbClr val="DCE4E8"/>
                      </a:solidFill>
                    </a:lnT>
                    <a:lnB w="9525">
                      <a:solidFill>
                        <a:srgbClr val="DCE4E8"/>
                      </a:solidFill>
                    </a:lnB>
                    <a:solidFill>
                      <a:srgbClr val="D9D9D9"/>
                    </a:solidFill>
                  </a:tcPr>
                </a:tc>
                <a:tc>
                  <a:txBody>
                    <a:bodyPr/>
                    <a:lstStyle/>
                    <a:p>
                      <a:r>
                        <a:rPr sz="1425" b="1">
                          <a:solidFill>
                            <a:srgbClr val="000000"/>
                          </a:solidFill>
                          <a:latin typeface="Calibri" panose="020F0502020204030204" pitchFamily="34" charset="0"/>
                          <a:ea typeface="Arial"/>
                          <a:cs typeface="Arial"/>
                        </a:rPr>
                        <a:t>Previous assumptions</a:t>
                      </a:r>
                    </a:p>
                  </a:txBody>
                  <a:tcPr>
                    <a:lnL w="9525" cap="flat" cmpd="sng" algn="ctr">
                      <a:solidFill>
                        <a:srgbClr val="DCE4E8"/>
                      </a:solidFill>
                      <a:prstDash val="solid"/>
                      <a:round/>
                      <a:headEnd type="none" w="med" len="med"/>
                      <a:tailEnd type="none" w="med" len="med"/>
                    </a:lnL>
                    <a:lnR w="9525">
                      <a:solidFill>
                        <a:srgbClr val="DCE4E8"/>
                      </a:solidFill>
                    </a:lnR>
                    <a:lnT w="9525">
                      <a:solidFill>
                        <a:srgbClr val="DCE4E8"/>
                      </a:solidFill>
                    </a:lnT>
                    <a:lnB w="9525">
                      <a:solidFill>
                        <a:srgbClr val="DCE4E8"/>
                      </a:solidFill>
                    </a:lnB>
                    <a:solidFill>
                      <a:srgbClr val="D9D9D9"/>
                    </a:solidFill>
                  </a:tcPr>
                </a:tc>
                <a:tc>
                  <a:txBody>
                    <a:bodyPr/>
                    <a:lstStyle/>
                    <a:p>
                      <a:r>
                        <a:rPr sz="1425" b="1">
                          <a:solidFill>
                            <a:srgbClr val="000000"/>
                          </a:solidFill>
                          <a:latin typeface="Calibri" panose="020F0502020204030204" pitchFamily="34" charset="0"/>
                          <a:ea typeface="Arial"/>
                          <a:cs typeface="Arial"/>
                        </a:rPr>
                        <a:t>Lower specific energy</a:t>
                      </a:r>
                    </a:p>
                  </a:txBody>
                  <a:tcPr>
                    <a:lnL w="9525" cap="flat" cmpd="sng" algn="ctr">
                      <a:solidFill>
                        <a:srgbClr val="DCE4E8"/>
                      </a:solidFill>
                      <a:prstDash val="solid"/>
                      <a:round/>
                      <a:headEnd type="none" w="med" len="med"/>
                      <a:tailEnd type="none" w="med" len="med"/>
                    </a:lnL>
                    <a:lnR w="9525">
                      <a:solidFill>
                        <a:srgbClr val="DCE4E8"/>
                      </a:solidFill>
                    </a:lnR>
                    <a:lnT w="9525">
                      <a:solidFill>
                        <a:srgbClr val="DCE4E8"/>
                      </a:solidFill>
                    </a:lnT>
                    <a:lnB w="9525">
                      <a:solidFill>
                        <a:srgbClr val="DCE4E8"/>
                      </a:solidFill>
                    </a:lnB>
                    <a:solidFill>
                      <a:srgbClr val="D9D9D9"/>
                    </a:solidFill>
                  </a:tcPr>
                </a:tc>
                <a:extLst>
                  <a:ext uri="{0D108BD9-81ED-4DB2-BD59-A6C34878D82A}">
                    <a16:rowId xmlns:a16="http://schemas.microsoft.com/office/drawing/2014/main" val="10000"/>
                  </a:ext>
                </a:extLst>
              </a:tr>
              <a:tr h="523875">
                <a:tc>
                  <a:txBody>
                    <a:bodyPr/>
                    <a:lstStyle/>
                    <a:p>
                      <a:r>
                        <a:rPr sz="1425" b="0">
                          <a:solidFill>
                            <a:srgbClr val="000000"/>
                          </a:solidFill>
                          <a:latin typeface="Calibri" panose="020F0502020204030204" pitchFamily="34" charset="0"/>
                          <a:ea typeface="Arial"/>
                          <a:cs typeface="Arial"/>
                        </a:rPr>
                        <a:t>Nominal pack specific energy</a:t>
                      </a: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sz="1425" b="0">
                          <a:solidFill>
                            <a:srgbClr val="000000"/>
                          </a:solidFill>
                          <a:latin typeface="Calibri" panose="020F0502020204030204" pitchFamily="34" charset="0"/>
                          <a:ea typeface="Arial"/>
                          <a:cs typeface="Arial"/>
                        </a:rPr>
                        <a:t>181.88 Wh/kg</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sz="1425" b="0">
                          <a:solidFill>
                            <a:srgbClr val="000000"/>
                          </a:solidFill>
                          <a:latin typeface="Calibri" panose="020F0502020204030204" pitchFamily="34" charset="0"/>
                          <a:ea typeface="Arial"/>
                          <a:cs typeface="Arial"/>
                        </a:rPr>
                        <a:t>142.75 Wh/kg (−21.5%)</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extLst>
                  <a:ext uri="{0D108BD9-81ED-4DB2-BD59-A6C34878D82A}">
                    <a16:rowId xmlns:a16="http://schemas.microsoft.com/office/drawing/2014/main" val="10001"/>
                  </a:ext>
                </a:extLst>
              </a:tr>
              <a:tr h="523875">
                <a:tc>
                  <a:txBody>
                    <a:bodyPr/>
                    <a:lstStyle/>
                    <a:p>
                      <a:r>
                        <a:rPr sz="1425" b="0">
                          <a:solidFill>
                            <a:srgbClr val="000000"/>
                          </a:solidFill>
                          <a:latin typeface="Calibri" panose="020F0502020204030204" pitchFamily="34" charset="0"/>
                          <a:ea typeface="Arial"/>
                          <a:cs typeface="Arial"/>
                        </a:rPr>
                        <a:t>Retrofit main pack: energy / mass</a:t>
                      </a: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sz="1425" b="0">
                          <a:solidFill>
                            <a:srgbClr val="000000"/>
                          </a:solidFill>
                          <a:latin typeface="Calibri" panose="020F0502020204030204" pitchFamily="34" charset="0"/>
                          <a:ea typeface="Arial"/>
                          <a:cs typeface="Arial"/>
                        </a:rPr>
                        <a:t>13.41 kWh / 73.73 kg</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sz="1425" b="0">
                          <a:solidFill>
                            <a:srgbClr val="000000"/>
                          </a:solidFill>
                          <a:latin typeface="Calibri" panose="020F0502020204030204" pitchFamily="34" charset="0"/>
                          <a:ea typeface="Arial"/>
                          <a:cs typeface="Arial"/>
                        </a:rPr>
                        <a:t>17.23 kWh / 120.68 kg</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extLst>
                  <a:ext uri="{0D108BD9-81ED-4DB2-BD59-A6C34878D82A}">
                    <a16:rowId xmlns:a16="http://schemas.microsoft.com/office/drawing/2014/main" val="10002"/>
                  </a:ext>
                </a:extLst>
              </a:tr>
              <a:tr h="523875">
                <a:tc>
                  <a:txBody>
                    <a:bodyPr/>
                    <a:lstStyle/>
                    <a:p>
                      <a:r>
                        <a:rPr sz="1425" b="0">
                          <a:solidFill>
                            <a:srgbClr val="000000"/>
                          </a:solidFill>
                          <a:latin typeface="Calibri" panose="020F0502020204030204" pitchFamily="34" charset="0"/>
                          <a:ea typeface="Arial"/>
                          <a:cs typeface="Arial"/>
                        </a:rPr>
                        <a:t>Clean sheet main pack: energy / mass</a:t>
                      </a: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sz="1425" b="0">
                          <a:solidFill>
                            <a:srgbClr val="000000"/>
                          </a:solidFill>
                          <a:latin typeface="Calibri" panose="020F0502020204030204" pitchFamily="34" charset="0"/>
                          <a:ea typeface="Arial"/>
                          <a:cs typeface="Arial"/>
                        </a:rPr>
                        <a:t>9.22 kWh / 50.69 kg</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sz="1425" b="0">
                          <a:solidFill>
                            <a:srgbClr val="000000"/>
                          </a:solidFill>
                          <a:latin typeface="Calibri" panose="020F0502020204030204" pitchFamily="34" charset="0"/>
                          <a:ea typeface="Arial"/>
                          <a:cs typeface="Arial"/>
                        </a:rPr>
                        <a:t>11.20 kWh / 78.44 kg</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extLst>
                  <a:ext uri="{0D108BD9-81ED-4DB2-BD59-A6C34878D82A}">
                    <a16:rowId xmlns:a16="http://schemas.microsoft.com/office/drawing/2014/main" val="10003"/>
                  </a:ext>
                </a:extLst>
              </a:tr>
              <a:tr h="523875">
                <a:tc>
                  <a:txBody>
                    <a:bodyPr/>
                    <a:lstStyle/>
                    <a:p>
                      <a:r>
                        <a:rPr sz="1425" b="0">
                          <a:solidFill>
                            <a:srgbClr val="000000"/>
                          </a:solidFill>
                          <a:latin typeface="Calibri" panose="020F0502020204030204" pitchFamily="34" charset="0"/>
                          <a:ea typeface="Arial"/>
                          <a:cs typeface="Arial"/>
                        </a:rPr>
                        <a:t>Common avionics pack</a:t>
                      </a: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sz="1425" b="0">
                          <a:solidFill>
                            <a:srgbClr val="000000"/>
                          </a:solidFill>
                          <a:latin typeface="Calibri" panose="020F0502020204030204" pitchFamily="34" charset="0"/>
                          <a:ea typeface="Arial"/>
                          <a:cs typeface="Arial"/>
                        </a:rPr>
                        <a:t>1.536 kWh / 9.448 kg installed</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sz="1425" b="0">
                          <a:solidFill>
                            <a:srgbClr val="000000"/>
                          </a:solidFill>
                          <a:latin typeface="Calibri" panose="020F0502020204030204" pitchFamily="34" charset="0"/>
                          <a:ea typeface="Arial"/>
                          <a:cs typeface="Arial"/>
                        </a:rPr>
                        <a:t>Unchanged</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extLst>
                  <a:ext uri="{0D108BD9-81ED-4DB2-BD59-A6C34878D82A}">
                    <a16:rowId xmlns:a16="http://schemas.microsoft.com/office/drawing/2014/main" val="10004"/>
                  </a:ext>
                </a:extLst>
              </a:tr>
              <a:tr h="523875">
                <a:tc>
                  <a:txBody>
                    <a:bodyPr/>
                    <a:lstStyle/>
                    <a:p>
                      <a:r>
                        <a:rPr sz="1425" b="0">
                          <a:solidFill>
                            <a:srgbClr val="000000"/>
                          </a:solidFill>
                          <a:latin typeface="Calibri" panose="020F0502020204030204" pitchFamily="34" charset="0"/>
                          <a:ea typeface="Arial"/>
                          <a:cs typeface="Arial"/>
                        </a:rPr>
                        <a:t>Source mission</a:t>
                      </a: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sz="1425" b="0">
                          <a:solidFill>
                            <a:srgbClr val="000000"/>
                          </a:solidFill>
                          <a:latin typeface="Calibri" panose="020F0502020204030204" pitchFamily="34" charset="0"/>
                          <a:ea typeface="Arial"/>
                          <a:cs typeface="Arial"/>
                        </a:rPr>
                        <a:t>Five-hour saved profile</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sz="1425" b="0">
                          <a:solidFill>
                            <a:srgbClr val="000000"/>
                          </a:solidFill>
                          <a:latin typeface="Calibri" panose="020F0502020204030204" pitchFamily="34" charset="0"/>
                          <a:ea typeface="Arial"/>
                          <a:cs typeface="Arial"/>
                        </a:rPr>
                        <a:t>Same duration / segment definition</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extLst>
                  <a:ext uri="{0D108BD9-81ED-4DB2-BD59-A6C34878D82A}">
                    <a16:rowId xmlns:a16="http://schemas.microsoft.com/office/drawing/2014/main" val="10005"/>
                  </a:ext>
                </a:extLst>
              </a:tr>
              <a:tr h="523875">
                <a:tc>
                  <a:txBody>
                    <a:bodyPr/>
                    <a:lstStyle/>
                    <a:p>
                      <a:r>
                        <a:rPr sz="1425" b="0">
                          <a:solidFill>
                            <a:srgbClr val="000000"/>
                          </a:solidFill>
                          <a:latin typeface="Calibri" panose="020F0502020204030204" pitchFamily="34" charset="0"/>
                          <a:ea typeface="Arial"/>
                          <a:cs typeface="Arial"/>
                        </a:rPr>
                        <a:t>Model interpretation</a:t>
                      </a: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sz="1425" b="0">
                          <a:solidFill>
                            <a:srgbClr val="000000"/>
                          </a:solidFill>
                          <a:latin typeface="Calibri" panose="020F0502020204030204" pitchFamily="34" charset="0"/>
                          <a:ea typeface="Arial"/>
                          <a:cs typeface="Arial"/>
                        </a:rPr>
                        <a:t>Aggregate cell surrogate</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sz="1425" b="0">
                          <a:solidFill>
                            <a:srgbClr val="000000"/>
                          </a:solidFill>
                          <a:latin typeface="Calibri" panose="020F0502020204030204" pitchFamily="34" charset="0"/>
                          <a:ea typeface="Arial"/>
                          <a:cs typeface="Arial"/>
                        </a:rPr>
                        <a:t>Revised voltage / mass assumptions</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extLst>
                  <a:ext uri="{0D108BD9-81ED-4DB2-BD59-A6C34878D82A}">
                    <a16:rowId xmlns:a16="http://schemas.microsoft.com/office/drawing/2014/main" val="10006"/>
                  </a:ext>
                </a:extLst>
              </a:tr>
            </a:tbl>
          </a:graphicData>
        </a:graphic>
      </p:graphicFrame>
      <p:sp>
        <p:nvSpPr>
          <p:cNvPr id="6" name="Rectangle 5">
            <a:extLst>
              <a:ext uri="{FF2B5EF4-FFF2-40B4-BE49-F238E27FC236}">
                <a16:creationId xmlns:a16="http://schemas.microsoft.com/office/drawing/2014/main" id="{8312C979-2124-47A4-8F62-0640836B68ED}"/>
              </a:ext>
            </a:extLst>
          </p:cNvPr>
          <p:cNvSpPr>
            <a:spLocks noGrp="1"/>
          </p:cNvSpPr>
          <p:nvPr/>
        </p:nvSpPr>
        <p:spPr>
          <a:xfrm>
            <a:off x="523875" y="5353050"/>
            <a:ext cx="11144250" cy="590550"/>
          </a:xfrm>
          <a:prstGeom prst="rect">
            <a:avLst/>
          </a:prstGeom>
          <a:noFill/>
          <a:ln w="0">
            <a:noFill/>
          </a:ln>
        </p:spPr>
        <p:txBody>
          <a:bodyPr/>
          <a:lstStyle>
            <a:defPPr>
              <a:defRPr sz="1650" b="0">
                <a:solidFill>
                  <a:srgbClr val="173344"/>
                </a:solidFill>
                <a:latin typeface="Arial"/>
                <a:ea typeface="Arial"/>
                <a:cs typeface="Arial"/>
              </a:defRPr>
            </a:defPPr>
            <a:lvl1pPr>
              <a:defRPr sz="1650" b="0">
                <a:solidFill>
                  <a:srgbClr val="173344"/>
                </a:solidFill>
                <a:latin typeface="Arial"/>
                <a:ea typeface="Arial"/>
                <a:cs typeface="Arial"/>
              </a:defRPr>
            </a:lvl1pPr>
            <a:lvl2pPr>
              <a:defRPr sz="1650" b="0">
                <a:solidFill>
                  <a:srgbClr val="173344"/>
                </a:solidFill>
                <a:latin typeface="Arial"/>
                <a:ea typeface="Arial"/>
                <a:cs typeface="Arial"/>
              </a:defRPr>
            </a:lvl2pPr>
            <a:lvl3pPr>
              <a:defRPr sz="1650" b="0">
                <a:solidFill>
                  <a:srgbClr val="173344"/>
                </a:solidFill>
                <a:latin typeface="Arial"/>
                <a:ea typeface="Arial"/>
                <a:cs typeface="Arial"/>
              </a:defRPr>
            </a:lvl3pPr>
            <a:lvl4pPr>
              <a:defRPr sz="1650" b="0">
                <a:solidFill>
                  <a:srgbClr val="173344"/>
                </a:solidFill>
                <a:latin typeface="Arial"/>
                <a:ea typeface="Arial"/>
                <a:cs typeface="Arial"/>
              </a:defRPr>
            </a:lvl4pPr>
            <a:lvl5pPr>
              <a:defRPr sz="1650" b="0">
                <a:solidFill>
                  <a:srgbClr val="173344"/>
                </a:solidFill>
                <a:latin typeface="Arial"/>
                <a:ea typeface="Arial"/>
                <a:cs typeface="Arial"/>
              </a:defRPr>
            </a:lvl5pPr>
            <a:lvl6pPr>
              <a:defRPr sz="1650" b="0">
                <a:solidFill>
                  <a:srgbClr val="173344"/>
                </a:solidFill>
                <a:latin typeface="Arial"/>
                <a:ea typeface="Arial"/>
                <a:cs typeface="Arial"/>
              </a:defRPr>
            </a:lvl6pPr>
            <a:lvl7pPr>
              <a:defRPr sz="1650" b="0">
                <a:solidFill>
                  <a:srgbClr val="173344"/>
                </a:solidFill>
                <a:latin typeface="Arial"/>
                <a:ea typeface="Arial"/>
                <a:cs typeface="Arial"/>
              </a:defRPr>
            </a:lvl7pPr>
            <a:lvl8pPr>
              <a:defRPr sz="1650" b="0">
                <a:solidFill>
                  <a:srgbClr val="173344"/>
                </a:solidFill>
                <a:latin typeface="Arial"/>
                <a:ea typeface="Arial"/>
                <a:cs typeface="Arial"/>
              </a:defRPr>
            </a:lvl8pPr>
            <a:lvl9pPr>
              <a:defRPr sz="1650" b="0">
                <a:solidFill>
                  <a:srgbClr val="173344"/>
                </a:solidFill>
                <a:latin typeface="Arial"/>
                <a:ea typeface="Arial"/>
                <a:cs typeface="Arial"/>
              </a:defRPr>
            </a:lvl9pPr>
          </a:lstStyle>
          <a:p>
            <a:pPr>
              <a:defRPr sz="1650" b="0">
                <a:solidFill>
                  <a:srgbClr val="173344"/>
                </a:solidFill>
                <a:latin typeface="Arial"/>
                <a:ea typeface="Arial"/>
                <a:cs typeface="Arial"/>
              </a:defRPr>
            </a:pPr>
            <a:r>
              <a:rPr sz="1650" b="0">
                <a:solidFill>
                  <a:srgbClr val="000000"/>
                </a:solidFill>
                <a:latin typeface="Calibri" panose="020F0502020204030204" pitchFamily="34" charset="0"/>
                <a:ea typeface="Arial"/>
                <a:cs typeface="Arial"/>
              </a:rPr>
              <a:t>Required energy changes with resized mass and power. These are coupled sizing results.</a:t>
            </a:r>
          </a:p>
          <a:p>
            <a:pPr>
              <a:defRPr sz="1650" b="0">
                <a:solidFill>
                  <a:srgbClr val="173344"/>
                </a:solidFill>
                <a:latin typeface="Arial"/>
                <a:ea typeface="Arial"/>
                <a:cs typeface="Arial"/>
              </a:defRPr>
            </a:pPr>
            <a:r>
              <a:rPr sz="1650" b="0">
                <a:solidFill>
                  <a:srgbClr val="000000"/>
                </a:solidFill>
                <a:latin typeface="Calibri" panose="020F0502020204030204" pitchFamily="34" charset="0"/>
                <a:ea typeface="Arial"/>
                <a:cs typeface="Arial"/>
              </a:rPr>
              <a:t>Neither battery model is calibrated to the proposed two independent 28S6P packs.</a:t>
            </a:r>
          </a:p>
        </p:txBody>
      </p:sp>
      <p:sp>
        <p:nvSpPr>
          <p:cNvPr id="7" name="Rectangle 6">
            <a:extLst>
              <a:ext uri="{FF2B5EF4-FFF2-40B4-BE49-F238E27FC236}">
                <a16:creationId xmlns:a16="http://schemas.microsoft.com/office/drawing/2014/main" id="{7BE352A6-0488-4D32-AE4D-809D40DF58F5}"/>
              </a:ext>
            </a:extLst>
          </p:cNvPr>
          <p:cNvSpPr>
            <a:spLocks noGrp="1"/>
          </p:cNvSpPr>
          <p:nvPr/>
        </p:nvSpPr>
        <p:spPr>
          <a:xfrm>
            <a:off x="476250" y="6010275"/>
            <a:ext cx="11239500" cy="447675"/>
          </a:xfrm>
          <a:prstGeom prst="rect">
            <a:avLst/>
          </a:prstGeom>
          <a:noFill/>
          <a:ln w="0">
            <a:noFill/>
          </a:ln>
        </p:spPr>
        <p:txBody>
          <a:bodyPr/>
          <a:lstStyle>
            <a:defPPr>
              <a:defRPr sz="1275" b="0">
                <a:solidFill>
                  <a:srgbClr val="536675"/>
                </a:solidFill>
                <a:latin typeface="Arial"/>
                <a:ea typeface="Arial"/>
                <a:cs typeface="Arial"/>
              </a:defRPr>
            </a:defPPr>
            <a:lvl1pPr>
              <a:defRPr sz="1275" b="0">
                <a:solidFill>
                  <a:srgbClr val="536675"/>
                </a:solidFill>
                <a:latin typeface="Arial"/>
                <a:ea typeface="Arial"/>
                <a:cs typeface="Arial"/>
              </a:defRPr>
            </a:lvl1pPr>
            <a:lvl2pPr>
              <a:defRPr sz="1275" b="0">
                <a:solidFill>
                  <a:srgbClr val="536675"/>
                </a:solidFill>
                <a:latin typeface="Arial"/>
                <a:ea typeface="Arial"/>
                <a:cs typeface="Arial"/>
              </a:defRPr>
            </a:lvl2pPr>
            <a:lvl3pPr>
              <a:defRPr sz="1275" b="0">
                <a:solidFill>
                  <a:srgbClr val="536675"/>
                </a:solidFill>
                <a:latin typeface="Arial"/>
                <a:ea typeface="Arial"/>
                <a:cs typeface="Arial"/>
              </a:defRPr>
            </a:lvl3pPr>
            <a:lvl4pPr>
              <a:defRPr sz="1275" b="0">
                <a:solidFill>
                  <a:srgbClr val="536675"/>
                </a:solidFill>
                <a:latin typeface="Arial"/>
                <a:ea typeface="Arial"/>
                <a:cs typeface="Arial"/>
              </a:defRPr>
            </a:lvl4pPr>
            <a:lvl5pPr>
              <a:defRPr sz="1275" b="0">
                <a:solidFill>
                  <a:srgbClr val="536675"/>
                </a:solidFill>
                <a:latin typeface="Arial"/>
                <a:ea typeface="Arial"/>
                <a:cs typeface="Arial"/>
              </a:defRPr>
            </a:lvl5pPr>
            <a:lvl6pPr>
              <a:defRPr sz="1275" b="0">
                <a:solidFill>
                  <a:srgbClr val="536675"/>
                </a:solidFill>
                <a:latin typeface="Arial"/>
                <a:ea typeface="Arial"/>
                <a:cs typeface="Arial"/>
              </a:defRPr>
            </a:lvl6pPr>
            <a:lvl7pPr>
              <a:defRPr sz="1275" b="0">
                <a:solidFill>
                  <a:srgbClr val="536675"/>
                </a:solidFill>
                <a:latin typeface="Arial"/>
                <a:ea typeface="Arial"/>
                <a:cs typeface="Arial"/>
              </a:defRPr>
            </a:lvl7pPr>
            <a:lvl8pPr>
              <a:defRPr sz="1275" b="0">
                <a:solidFill>
                  <a:srgbClr val="536675"/>
                </a:solidFill>
                <a:latin typeface="Arial"/>
                <a:ea typeface="Arial"/>
                <a:cs typeface="Arial"/>
              </a:defRPr>
            </a:lvl8pPr>
            <a:lvl9pPr>
              <a:defRPr sz="1275" b="0">
                <a:solidFill>
                  <a:srgbClr val="536675"/>
                </a:solidFill>
                <a:latin typeface="Arial"/>
                <a:ea typeface="Arial"/>
                <a:cs typeface="Arial"/>
              </a:defRPr>
            </a:lvl9pPr>
          </a:lstStyle>
          <a:p>
            <a:pPr>
              <a:defRPr sz="1275" b="0">
                <a:solidFill>
                  <a:srgbClr val="536675"/>
                </a:solidFill>
                <a:latin typeface="Arial"/>
                <a:ea typeface="Arial"/>
                <a:cs typeface="Arial"/>
              </a:defRPr>
            </a:pPr>
            <a:endParaRPr sz="1275" b="0">
              <a:solidFill>
                <a:srgbClr val="000000"/>
              </a:solidFill>
              <a:latin typeface="Calibri" panose="020F0502020204030204" pitchFamily="34" charset="0"/>
              <a:ea typeface="Arial"/>
              <a:cs typeface="Arial"/>
            </a:endParaRPr>
          </a:p>
        </p:txBody>
      </p:sp>
      <p:sp>
        <p:nvSpPr>
          <p:cNvPr id="9" name="TextBox 8">
            <a:extLst>
              <a:ext uri="{FF2B5EF4-FFF2-40B4-BE49-F238E27FC236}">
                <a16:creationId xmlns:a16="http://schemas.microsoft.com/office/drawing/2014/main" id="{FE45EA53-12B2-DC66-6EE5-5C962D70B9B9}"/>
              </a:ext>
            </a:extLst>
          </p:cNvPr>
          <p:cNvSpPr txBox="1"/>
          <p:nvPr/>
        </p:nvSpPr>
        <p:spPr>
          <a:xfrm>
            <a:off x="476250" y="6400800"/>
            <a:ext cx="10795000" cy="265457"/>
          </a:xfrm>
          <a:prstGeom prst="rect">
            <a:avLst/>
          </a:prstGeom>
          <a:noFill/>
        </p:spPr>
        <p:txBody>
          <a:bodyPr vert="horz" rtlCol="0">
            <a:spAutoFit/>
          </a:bodyPr>
          <a:lstStyle/>
          <a:p>
            <a:endParaRPr lang="en-US" sz="1125">
              <a:solidFill>
                <a:srgbClr val="444444"/>
              </a:solidFill>
              <a:latin typeface="Calibri" panose="020F0502020204030204" pitchFamily="34" charset="0"/>
            </a:endParaRPr>
          </a:p>
        </p:txBody>
      </p:sp>
      <p:sp>
        <p:nvSpPr>
          <p:cNvPr id="10" name="TextBox 9">
            <a:extLst>
              <a:ext uri="{FF2B5EF4-FFF2-40B4-BE49-F238E27FC236}">
                <a16:creationId xmlns:a16="http://schemas.microsoft.com/office/drawing/2014/main" id="{22C1F9B9-0BD6-7347-4186-006C30536035}"/>
              </a:ext>
            </a:extLst>
          </p:cNvPr>
          <p:cNvSpPr txBox="1"/>
          <p:nvPr/>
        </p:nvSpPr>
        <p:spPr>
          <a:xfrm>
            <a:off x="476250" y="6400800"/>
            <a:ext cx="11074400" cy="323165"/>
          </a:xfrm>
          <a:prstGeom prst="rect">
            <a:avLst/>
          </a:prstGeom>
          <a:noFill/>
        </p:spPr>
        <p:txBody>
          <a:bodyPr vert="horz" lIns="0" tIns="0" rIns="0" bIns="0" rtlCol="0">
            <a:spAutoFit/>
          </a:bodyPr>
          <a:lstStyle/>
          <a:p>
            <a:r>
              <a:rPr lang="en-US" sz="1050">
                <a:solidFill>
                  <a:srgbClr val="000000"/>
                </a:solidFill>
                <a:latin typeface="Calibri" panose="020F0502020204030204" pitchFamily="34" charset="0"/>
              </a:rPr>
              <a:t>[S2] Historical 25 Oct battery comparison: 181.88 versus 142.75 Wh/kg pack assumptions, 17.14 s vertical climb.
The lower-specific-energy cases have NOT been rerun with 30 s climb; do not combine these masses with the corrected results.</a:t>
            </a:r>
          </a:p>
        </p:txBody>
      </p:sp>
      <p:sp>
        <p:nvSpPr>
          <p:cNvPr id="11" name="TextBox 10">
            <a:extLst>
              <a:ext uri="{FF2B5EF4-FFF2-40B4-BE49-F238E27FC236}">
                <a16:creationId xmlns:a16="http://schemas.microsoft.com/office/drawing/2014/main" id="{C180E0B9-6B1E-8899-8AA6-BF3B23CF2248}"/>
              </a:ext>
            </a:extLst>
          </p:cNvPr>
          <p:cNvSpPr txBox="1"/>
          <p:nvPr/>
        </p:nvSpPr>
        <p:spPr>
          <a:xfrm>
            <a:off x="11671300" y="6527800"/>
            <a:ext cx="355600" cy="153888"/>
          </a:xfrm>
          <a:prstGeom prst="rect">
            <a:avLst/>
          </a:prstGeom>
          <a:noFill/>
        </p:spPr>
        <p:txBody>
          <a:bodyPr vert="horz" lIns="0" tIns="0" rIns="0" bIns="0" rtlCol="0">
            <a:spAutoFit/>
          </a:bodyPr>
          <a:lstStyle/>
          <a:p>
            <a:r>
              <a:rPr lang="en-US" sz="1000">
                <a:solidFill>
                  <a:srgbClr val="000000"/>
                </a:solidFill>
                <a:latin typeface="Calibri" panose="020F0502020204030204" pitchFamily="34" charset="0"/>
              </a:rPr>
              <a:t>7</a:t>
            </a:r>
          </a:p>
        </p:txBody>
      </p:sp>
    </p:spTree>
    <p:extLst>
      <p:ext uri="{BB962C8B-B14F-4D97-AF65-F5344CB8AC3E}">
        <p14:creationId xmlns:p14="http://schemas.microsoft.com/office/powerpoint/2010/main" val="6681841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E3E5BE2-24E5-40AA-927B-A6D3893EE135}"/>
              </a:ext>
            </a:extLst>
          </p:cNvPr>
          <p:cNvSpPr>
            <a:spLocks noGrp="1"/>
          </p:cNvSpPr>
          <p:nvPr/>
        </p:nvSpPr>
        <p:spPr>
          <a:xfrm>
            <a:off x="838200" y="361950"/>
            <a:ext cx="10896600" cy="571500"/>
          </a:xfrm>
          <a:prstGeom prst="rect">
            <a:avLst/>
          </a:prstGeom>
          <a:noFill/>
          <a:ln w="0">
            <a:noFill/>
          </a:ln>
        </p:spPr>
        <p:txBody>
          <a:bodyPr/>
          <a:lstStyle>
            <a:defPPr>
              <a:defRPr sz="2775" b="1">
                <a:solidFill>
                  <a:srgbClr val="173344"/>
                </a:solidFill>
                <a:latin typeface="Arial"/>
                <a:ea typeface="Arial"/>
                <a:cs typeface="Arial"/>
              </a:defRPr>
            </a:defPPr>
            <a:lvl1pPr>
              <a:defRPr sz="2775" b="1">
                <a:solidFill>
                  <a:srgbClr val="173344"/>
                </a:solidFill>
                <a:latin typeface="Arial"/>
                <a:ea typeface="Arial"/>
                <a:cs typeface="Arial"/>
              </a:defRPr>
            </a:lvl1pPr>
            <a:lvl2pPr>
              <a:defRPr sz="2775" b="1">
                <a:solidFill>
                  <a:srgbClr val="173344"/>
                </a:solidFill>
                <a:latin typeface="Arial"/>
                <a:ea typeface="Arial"/>
                <a:cs typeface="Arial"/>
              </a:defRPr>
            </a:lvl2pPr>
            <a:lvl3pPr>
              <a:defRPr sz="2775" b="1">
                <a:solidFill>
                  <a:srgbClr val="173344"/>
                </a:solidFill>
                <a:latin typeface="Arial"/>
                <a:ea typeface="Arial"/>
                <a:cs typeface="Arial"/>
              </a:defRPr>
            </a:lvl3pPr>
            <a:lvl4pPr>
              <a:defRPr sz="2775" b="1">
                <a:solidFill>
                  <a:srgbClr val="173344"/>
                </a:solidFill>
                <a:latin typeface="Arial"/>
                <a:ea typeface="Arial"/>
                <a:cs typeface="Arial"/>
              </a:defRPr>
            </a:lvl4pPr>
            <a:lvl5pPr>
              <a:defRPr sz="2775" b="1">
                <a:solidFill>
                  <a:srgbClr val="173344"/>
                </a:solidFill>
                <a:latin typeface="Arial"/>
                <a:ea typeface="Arial"/>
                <a:cs typeface="Arial"/>
              </a:defRPr>
            </a:lvl5pPr>
            <a:lvl6pPr>
              <a:defRPr sz="2775" b="1">
                <a:solidFill>
                  <a:srgbClr val="173344"/>
                </a:solidFill>
                <a:latin typeface="Arial"/>
                <a:ea typeface="Arial"/>
                <a:cs typeface="Arial"/>
              </a:defRPr>
            </a:lvl6pPr>
            <a:lvl7pPr>
              <a:defRPr sz="2775" b="1">
                <a:solidFill>
                  <a:srgbClr val="173344"/>
                </a:solidFill>
                <a:latin typeface="Arial"/>
                <a:ea typeface="Arial"/>
                <a:cs typeface="Arial"/>
              </a:defRPr>
            </a:lvl7pPr>
            <a:lvl8pPr>
              <a:defRPr sz="2775" b="1">
                <a:solidFill>
                  <a:srgbClr val="173344"/>
                </a:solidFill>
                <a:latin typeface="Arial"/>
                <a:ea typeface="Arial"/>
                <a:cs typeface="Arial"/>
              </a:defRPr>
            </a:lvl8pPr>
            <a:lvl9pPr>
              <a:defRPr sz="2775" b="1">
                <a:solidFill>
                  <a:srgbClr val="173344"/>
                </a:solidFill>
                <a:latin typeface="Arial"/>
                <a:ea typeface="Arial"/>
                <a:cs typeface="Arial"/>
              </a:defRPr>
            </a:lvl9pPr>
          </a:lstStyle>
          <a:p>
            <a:pPr>
              <a:defRPr sz="2775" b="1">
                <a:solidFill>
                  <a:srgbClr val="173344"/>
                </a:solidFill>
                <a:latin typeface="Arial"/>
                <a:ea typeface="Arial"/>
                <a:cs typeface="Arial"/>
              </a:defRPr>
            </a:pPr>
            <a:r>
              <a:rPr lang="en-US" sz="2400" b="1">
                <a:solidFill>
                  <a:srgbClr val="000000"/>
                </a:solidFill>
                <a:latin typeface="Calibri" panose="020F0502020204030204" pitchFamily="34" charset="0"/>
                <a:ea typeface="Arial"/>
                <a:cs typeface="Arial"/>
              </a:rPr>
              <a:t>Historical Risk #1: Battery Specific Energy [S2]</a:t>
            </a:r>
            <a:endParaRPr sz="2400" b="1" dirty="0">
              <a:solidFill>
                <a:srgbClr val="000000"/>
              </a:solidFill>
              <a:latin typeface="Calibri" panose="020F0502020204030204" pitchFamily="34" charset="0"/>
              <a:ea typeface="Arial"/>
              <a:cs typeface="Arial"/>
            </a:endParaRPr>
          </a:p>
        </p:txBody>
      </p:sp>
      <p:sp>
        <p:nvSpPr>
          <p:cNvPr id="2" name="Rectangle 1">
            <a:extLst>
              <a:ext uri="{FF2B5EF4-FFF2-40B4-BE49-F238E27FC236}">
                <a16:creationId xmlns:a16="http://schemas.microsoft.com/office/drawing/2014/main" id="{2BC49195-6579-4F9F-83E2-5D7B1814F2AD}"/>
              </a:ext>
            </a:extLst>
          </p:cNvPr>
          <p:cNvSpPr>
            <a:spLocks noGrp="1"/>
          </p:cNvSpPr>
          <p:nvPr/>
        </p:nvSpPr>
        <p:spPr>
          <a:xfrm>
            <a:off x="476250" y="876300"/>
            <a:ext cx="11239500" cy="523875"/>
          </a:xfrm>
          <a:prstGeom prst="rect">
            <a:avLst/>
          </a:prstGeom>
          <a:noFill/>
          <a:ln w="0">
            <a:noFill/>
          </a:ln>
        </p:spPr>
        <p:txBody>
          <a:bodyPr/>
          <a:lstStyle>
            <a:defPPr>
              <a:defRPr sz="1575" b="0">
                <a:solidFill>
                  <a:srgbClr val="536675"/>
                </a:solidFill>
                <a:latin typeface="Arial"/>
                <a:ea typeface="Arial"/>
                <a:cs typeface="Arial"/>
              </a:defRPr>
            </a:defPPr>
            <a:lvl1pPr>
              <a:defRPr sz="1575" b="0">
                <a:solidFill>
                  <a:srgbClr val="536675"/>
                </a:solidFill>
                <a:latin typeface="Arial"/>
                <a:ea typeface="Arial"/>
                <a:cs typeface="Arial"/>
              </a:defRPr>
            </a:lvl1pPr>
            <a:lvl2pPr>
              <a:defRPr sz="1575" b="0">
                <a:solidFill>
                  <a:srgbClr val="536675"/>
                </a:solidFill>
                <a:latin typeface="Arial"/>
                <a:ea typeface="Arial"/>
                <a:cs typeface="Arial"/>
              </a:defRPr>
            </a:lvl2pPr>
            <a:lvl3pPr>
              <a:defRPr sz="1575" b="0">
                <a:solidFill>
                  <a:srgbClr val="536675"/>
                </a:solidFill>
                <a:latin typeface="Arial"/>
                <a:ea typeface="Arial"/>
                <a:cs typeface="Arial"/>
              </a:defRPr>
            </a:lvl3pPr>
            <a:lvl4pPr>
              <a:defRPr sz="1575" b="0">
                <a:solidFill>
                  <a:srgbClr val="536675"/>
                </a:solidFill>
                <a:latin typeface="Arial"/>
                <a:ea typeface="Arial"/>
                <a:cs typeface="Arial"/>
              </a:defRPr>
            </a:lvl4pPr>
            <a:lvl5pPr>
              <a:defRPr sz="1575" b="0">
                <a:solidFill>
                  <a:srgbClr val="536675"/>
                </a:solidFill>
                <a:latin typeface="Arial"/>
                <a:ea typeface="Arial"/>
                <a:cs typeface="Arial"/>
              </a:defRPr>
            </a:lvl5pPr>
            <a:lvl6pPr>
              <a:defRPr sz="1575" b="0">
                <a:solidFill>
                  <a:srgbClr val="536675"/>
                </a:solidFill>
                <a:latin typeface="Arial"/>
                <a:ea typeface="Arial"/>
                <a:cs typeface="Arial"/>
              </a:defRPr>
            </a:lvl6pPr>
            <a:lvl7pPr>
              <a:defRPr sz="1575" b="0">
                <a:solidFill>
                  <a:srgbClr val="536675"/>
                </a:solidFill>
                <a:latin typeface="Arial"/>
                <a:ea typeface="Arial"/>
                <a:cs typeface="Arial"/>
              </a:defRPr>
            </a:lvl7pPr>
            <a:lvl8pPr>
              <a:defRPr sz="1575" b="0">
                <a:solidFill>
                  <a:srgbClr val="536675"/>
                </a:solidFill>
                <a:latin typeface="Arial"/>
                <a:ea typeface="Arial"/>
                <a:cs typeface="Arial"/>
              </a:defRPr>
            </a:lvl8pPr>
            <a:lvl9pPr>
              <a:defRPr sz="1575" b="0">
                <a:solidFill>
                  <a:srgbClr val="536675"/>
                </a:solidFill>
                <a:latin typeface="Arial"/>
                <a:ea typeface="Arial"/>
                <a:cs typeface="Arial"/>
              </a:defRPr>
            </a:lvl9pPr>
          </a:lstStyle>
          <a:p>
            <a:pPr>
              <a:defRPr sz="1575" b="0">
                <a:solidFill>
                  <a:srgbClr val="536675"/>
                </a:solidFill>
                <a:latin typeface="Arial"/>
                <a:ea typeface="Arial"/>
                <a:cs typeface="Arial"/>
              </a:defRPr>
            </a:pPr>
            <a:r>
              <a:rPr lang="en-US" sz="1575" b="0">
                <a:solidFill>
                  <a:srgbClr val="000000"/>
                </a:solidFill>
                <a:latin typeface="Calibri" panose="020F0502020204030204" pitchFamily="34" charset="0"/>
                <a:ea typeface="Arial"/>
                <a:cs typeface="Arial"/>
              </a:rPr>
              <a:t>If pack specific energy falls from 181.88 to 142.75 Wh/kg, resized mass rises by 69.7 / 41.8 kg.</a:t>
            </a:r>
            <a:endParaRPr sz="1575" b="0" dirty="0">
              <a:solidFill>
                <a:srgbClr val="000000"/>
              </a:solidFill>
              <a:latin typeface="Calibri" panose="020F0502020204030204" pitchFamily="34" charset="0"/>
              <a:ea typeface="Arial"/>
              <a:cs typeface="Arial"/>
            </a:endParaRPr>
          </a:p>
        </p:txBody>
      </p:sp>
      <p:sp>
        <p:nvSpPr>
          <p:cNvPr id="3" name="Rectangle 2">
            <a:extLst>
              <a:ext uri="{FF2B5EF4-FFF2-40B4-BE49-F238E27FC236}">
                <a16:creationId xmlns:a16="http://schemas.microsoft.com/office/drawing/2014/main" id="{4B3DFE59-48A0-4EF9-A65E-E1025BC1C907}"/>
              </a:ext>
            </a:extLst>
          </p:cNvPr>
          <p:cNvSpPr>
            <a:spLocks noGrp="1"/>
          </p:cNvSpPr>
          <p:nvPr/>
        </p:nvSpPr>
        <p:spPr>
          <a:xfrm>
            <a:off x="476250" y="6524625"/>
            <a:ext cx="10477500" cy="190500"/>
          </a:xfrm>
          <a:prstGeom prst="rect">
            <a:avLst/>
          </a:prstGeom>
          <a:noFill/>
          <a:ln w="0">
            <a:noFill/>
          </a:ln>
        </p:spPr>
        <p:txBody>
          <a:bodyPr/>
          <a:lstStyle>
            <a:defPPr>
              <a:defRPr sz="975" b="0">
                <a:solidFill>
                  <a:srgbClr val="536675"/>
                </a:solidFill>
                <a:latin typeface="Arial"/>
                <a:ea typeface="Arial"/>
                <a:cs typeface="Arial"/>
              </a:defRPr>
            </a:defPPr>
            <a:lvl1pPr>
              <a:defRPr sz="975" b="0">
                <a:solidFill>
                  <a:srgbClr val="536675"/>
                </a:solidFill>
                <a:latin typeface="Arial"/>
                <a:ea typeface="Arial"/>
                <a:cs typeface="Arial"/>
              </a:defRPr>
            </a:lvl1pPr>
            <a:lvl2pPr>
              <a:defRPr sz="975" b="0">
                <a:solidFill>
                  <a:srgbClr val="536675"/>
                </a:solidFill>
                <a:latin typeface="Arial"/>
                <a:ea typeface="Arial"/>
                <a:cs typeface="Arial"/>
              </a:defRPr>
            </a:lvl2pPr>
            <a:lvl3pPr>
              <a:defRPr sz="975" b="0">
                <a:solidFill>
                  <a:srgbClr val="536675"/>
                </a:solidFill>
                <a:latin typeface="Arial"/>
                <a:ea typeface="Arial"/>
                <a:cs typeface="Arial"/>
              </a:defRPr>
            </a:lvl3pPr>
            <a:lvl4pPr>
              <a:defRPr sz="975" b="0">
                <a:solidFill>
                  <a:srgbClr val="536675"/>
                </a:solidFill>
                <a:latin typeface="Arial"/>
                <a:ea typeface="Arial"/>
                <a:cs typeface="Arial"/>
              </a:defRPr>
            </a:lvl4pPr>
            <a:lvl5pPr>
              <a:defRPr sz="975" b="0">
                <a:solidFill>
                  <a:srgbClr val="536675"/>
                </a:solidFill>
                <a:latin typeface="Arial"/>
                <a:ea typeface="Arial"/>
                <a:cs typeface="Arial"/>
              </a:defRPr>
            </a:lvl5pPr>
            <a:lvl6pPr>
              <a:defRPr sz="975" b="0">
                <a:solidFill>
                  <a:srgbClr val="536675"/>
                </a:solidFill>
                <a:latin typeface="Arial"/>
                <a:ea typeface="Arial"/>
                <a:cs typeface="Arial"/>
              </a:defRPr>
            </a:lvl6pPr>
            <a:lvl7pPr>
              <a:defRPr sz="975" b="0">
                <a:solidFill>
                  <a:srgbClr val="536675"/>
                </a:solidFill>
                <a:latin typeface="Arial"/>
                <a:ea typeface="Arial"/>
                <a:cs typeface="Arial"/>
              </a:defRPr>
            </a:lvl7pPr>
            <a:lvl8pPr>
              <a:defRPr sz="975" b="0">
                <a:solidFill>
                  <a:srgbClr val="536675"/>
                </a:solidFill>
                <a:latin typeface="Arial"/>
                <a:ea typeface="Arial"/>
                <a:cs typeface="Arial"/>
              </a:defRPr>
            </a:lvl8pPr>
            <a:lvl9pPr>
              <a:defRPr sz="975" b="0">
                <a:solidFill>
                  <a:srgbClr val="536675"/>
                </a:solidFill>
                <a:latin typeface="Arial"/>
                <a:ea typeface="Arial"/>
                <a:cs typeface="Arial"/>
              </a:defRPr>
            </a:lvl9pPr>
          </a:lstStyle>
          <a:p>
            <a:pPr>
              <a:defRPr sz="975" b="0">
                <a:solidFill>
                  <a:srgbClr val="536675"/>
                </a:solidFill>
                <a:latin typeface="Arial"/>
                <a:ea typeface="Arial"/>
                <a:cs typeface="Arial"/>
              </a:defRPr>
            </a:pPr>
            <a:endParaRPr sz="975" b="0">
              <a:solidFill>
                <a:srgbClr val="000000"/>
              </a:solidFill>
              <a:latin typeface="Calibri" panose="020F0502020204030204" pitchFamily="34" charset="0"/>
              <a:ea typeface="Arial"/>
              <a:cs typeface="Arial"/>
            </a:endParaRPr>
          </a:p>
        </p:txBody>
      </p:sp>
      <p:sp>
        <p:nvSpPr>
          <p:cNvPr id="4" name="Rectangle 3">
            <a:extLst>
              <a:ext uri="{FF2B5EF4-FFF2-40B4-BE49-F238E27FC236}">
                <a16:creationId xmlns:a16="http://schemas.microsoft.com/office/drawing/2014/main" id="{EEFD0C10-0440-459B-B222-7FBDB73F94CD}"/>
              </a:ext>
            </a:extLst>
          </p:cNvPr>
          <p:cNvSpPr>
            <a:spLocks noGrp="1"/>
          </p:cNvSpPr>
          <p:nvPr/>
        </p:nvSpPr>
        <p:spPr>
          <a:xfrm>
            <a:off x="11334750" y="6496050"/>
            <a:ext cx="381000" cy="228600"/>
          </a:xfrm>
          <a:prstGeom prst="rect">
            <a:avLst/>
          </a:prstGeom>
          <a:noFill/>
          <a:ln w="0">
            <a:noFill/>
          </a:ln>
        </p:spPr>
        <p:txBody>
          <a:bodyPr/>
          <a:lstStyle>
            <a:defPPr>
              <a:defRPr sz="1200" b="0">
                <a:solidFill>
                  <a:srgbClr val="536675"/>
                </a:solidFill>
                <a:latin typeface="Arial"/>
                <a:ea typeface="Arial"/>
                <a:cs typeface="Arial"/>
              </a:defRPr>
            </a:defPPr>
            <a:lvl1pPr>
              <a:defRPr sz="1200" b="0">
                <a:solidFill>
                  <a:srgbClr val="536675"/>
                </a:solidFill>
                <a:latin typeface="Arial"/>
                <a:ea typeface="Arial"/>
                <a:cs typeface="Arial"/>
              </a:defRPr>
            </a:lvl1pPr>
            <a:lvl2pPr>
              <a:defRPr sz="1200" b="0">
                <a:solidFill>
                  <a:srgbClr val="536675"/>
                </a:solidFill>
                <a:latin typeface="Arial"/>
                <a:ea typeface="Arial"/>
                <a:cs typeface="Arial"/>
              </a:defRPr>
            </a:lvl2pPr>
            <a:lvl3pPr>
              <a:defRPr sz="1200" b="0">
                <a:solidFill>
                  <a:srgbClr val="536675"/>
                </a:solidFill>
                <a:latin typeface="Arial"/>
                <a:ea typeface="Arial"/>
                <a:cs typeface="Arial"/>
              </a:defRPr>
            </a:lvl3pPr>
            <a:lvl4pPr>
              <a:defRPr sz="1200" b="0">
                <a:solidFill>
                  <a:srgbClr val="536675"/>
                </a:solidFill>
                <a:latin typeface="Arial"/>
                <a:ea typeface="Arial"/>
                <a:cs typeface="Arial"/>
              </a:defRPr>
            </a:lvl4pPr>
            <a:lvl5pPr>
              <a:defRPr sz="1200" b="0">
                <a:solidFill>
                  <a:srgbClr val="536675"/>
                </a:solidFill>
                <a:latin typeface="Arial"/>
                <a:ea typeface="Arial"/>
                <a:cs typeface="Arial"/>
              </a:defRPr>
            </a:lvl5pPr>
            <a:lvl6pPr>
              <a:defRPr sz="1200" b="0">
                <a:solidFill>
                  <a:srgbClr val="536675"/>
                </a:solidFill>
                <a:latin typeface="Arial"/>
                <a:ea typeface="Arial"/>
                <a:cs typeface="Arial"/>
              </a:defRPr>
            </a:lvl6pPr>
            <a:lvl7pPr>
              <a:defRPr sz="1200" b="0">
                <a:solidFill>
                  <a:srgbClr val="536675"/>
                </a:solidFill>
                <a:latin typeface="Arial"/>
                <a:ea typeface="Arial"/>
                <a:cs typeface="Arial"/>
              </a:defRPr>
            </a:lvl7pPr>
            <a:lvl8pPr>
              <a:defRPr sz="1200" b="0">
                <a:solidFill>
                  <a:srgbClr val="536675"/>
                </a:solidFill>
                <a:latin typeface="Arial"/>
                <a:ea typeface="Arial"/>
                <a:cs typeface="Arial"/>
              </a:defRPr>
            </a:lvl8pPr>
            <a:lvl9pPr>
              <a:defRPr sz="1200" b="0">
                <a:solidFill>
                  <a:srgbClr val="536675"/>
                </a:solidFill>
                <a:latin typeface="Arial"/>
                <a:ea typeface="Arial"/>
                <a:cs typeface="Arial"/>
              </a:defRPr>
            </a:lvl9pPr>
          </a:lstStyle>
          <a:p>
            <a:pPr>
              <a:defRPr sz="1200" b="0">
                <a:solidFill>
                  <a:srgbClr val="536675"/>
                </a:solidFill>
                <a:latin typeface="Arial"/>
                <a:ea typeface="Arial"/>
                <a:cs typeface="Arial"/>
              </a:defRPr>
            </a:pPr>
            <a:endParaRPr sz="1200" b="0">
              <a:solidFill>
                <a:srgbClr val="000000"/>
              </a:solidFill>
              <a:latin typeface="Calibri" panose="020F0502020204030204" pitchFamily="34" charset="0"/>
              <a:ea typeface="Arial"/>
              <a:cs typeface="Arial"/>
            </a:endParaRPr>
          </a:p>
        </p:txBody>
      </p:sp>
      <p:graphicFrame>
        <p:nvGraphicFramePr>
          <p:cNvPr id="5" name="Chart">
            <a:extLst>
              <a:ext uri="{FF2B5EF4-FFF2-40B4-BE49-F238E27FC236}">
                <a16:creationId xmlns:a16="http://schemas.microsoft.com/office/drawing/2014/main" id="{32780AA2-6D46-42DC-AFB4-53F515FB4DA4}"/>
              </a:ext>
            </a:extLst>
          </p:cNvPr>
          <p:cNvGraphicFramePr/>
          <p:nvPr/>
        </p:nvGraphicFramePr>
        <p:xfrm>
          <a:off x="523875" y="1571625"/>
          <a:ext cx="6762750" cy="3714750"/>
        </p:xfrm>
        <a:graphic>
          <a:graphicData uri="http://schemas.openxmlformats.org/drawingml/2006/chart">
            <c:chart xmlns:c="http://schemas.openxmlformats.org/drawingml/2006/chart" xmlns:r="http://schemas.openxmlformats.org/officeDocument/2006/relationships" r:id="rId4"/>
          </a:graphicData>
        </a:graphic>
      </p:graphicFrame>
      <p:sp>
        <p:nvSpPr>
          <p:cNvPr id="6" name="Rectangle 5">
            <a:extLst>
              <a:ext uri="{FF2B5EF4-FFF2-40B4-BE49-F238E27FC236}">
                <a16:creationId xmlns:a16="http://schemas.microsoft.com/office/drawing/2014/main" id="{07F656FA-8BE6-4872-B8DF-3B36662D29C6}"/>
              </a:ext>
            </a:extLst>
          </p:cNvPr>
          <p:cNvSpPr>
            <a:spLocks noGrp="1"/>
          </p:cNvSpPr>
          <p:nvPr/>
        </p:nvSpPr>
        <p:spPr>
          <a:xfrm>
            <a:off x="7810500" y="1619250"/>
            <a:ext cx="3619500" cy="333375"/>
          </a:xfrm>
          <a:prstGeom prst="rect">
            <a:avLst/>
          </a:prstGeom>
          <a:noFill/>
          <a:ln w="0">
            <a:noFill/>
          </a:ln>
        </p:spPr>
        <p:txBody>
          <a:bodyPr/>
          <a:lstStyle>
            <a:defPPr>
              <a:defRPr sz="1950" b="1">
                <a:solidFill>
                  <a:srgbClr val="173344"/>
                </a:solidFill>
                <a:latin typeface="Arial"/>
                <a:ea typeface="Arial"/>
                <a:cs typeface="Arial"/>
              </a:defRPr>
            </a:defPPr>
            <a:lvl1pPr>
              <a:defRPr sz="1950" b="1">
                <a:solidFill>
                  <a:srgbClr val="173344"/>
                </a:solidFill>
                <a:latin typeface="Arial"/>
                <a:ea typeface="Arial"/>
                <a:cs typeface="Arial"/>
              </a:defRPr>
            </a:lvl1pPr>
            <a:lvl2pPr>
              <a:defRPr sz="1950" b="1">
                <a:solidFill>
                  <a:srgbClr val="173344"/>
                </a:solidFill>
                <a:latin typeface="Arial"/>
                <a:ea typeface="Arial"/>
                <a:cs typeface="Arial"/>
              </a:defRPr>
            </a:lvl2pPr>
            <a:lvl3pPr>
              <a:defRPr sz="1950" b="1">
                <a:solidFill>
                  <a:srgbClr val="173344"/>
                </a:solidFill>
                <a:latin typeface="Arial"/>
                <a:ea typeface="Arial"/>
                <a:cs typeface="Arial"/>
              </a:defRPr>
            </a:lvl3pPr>
            <a:lvl4pPr>
              <a:defRPr sz="1950" b="1">
                <a:solidFill>
                  <a:srgbClr val="173344"/>
                </a:solidFill>
                <a:latin typeface="Arial"/>
                <a:ea typeface="Arial"/>
                <a:cs typeface="Arial"/>
              </a:defRPr>
            </a:lvl4pPr>
            <a:lvl5pPr>
              <a:defRPr sz="1950" b="1">
                <a:solidFill>
                  <a:srgbClr val="173344"/>
                </a:solidFill>
                <a:latin typeface="Arial"/>
                <a:ea typeface="Arial"/>
                <a:cs typeface="Arial"/>
              </a:defRPr>
            </a:lvl5pPr>
            <a:lvl6pPr>
              <a:defRPr sz="1950" b="1">
                <a:solidFill>
                  <a:srgbClr val="173344"/>
                </a:solidFill>
                <a:latin typeface="Arial"/>
                <a:ea typeface="Arial"/>
                <a:cs typeface="Arial"/>
              </a:defRPr>
            </a:lvl6pPr>
            <a:lvl7pPr>
              <a:defRPr sz="1950" b="1">
                <a:solidFill>
                  <a:srgbClr val="173344"/>
                </a:solidFill>
                <a:latin typeface="Arial"/>
                <a:ea typeface="Arial"/>
                <a:cs typeface="Arial"/>
              </a:defRPr>
            </a:lvl7pPr>
            <a:lvl8pPr>
              <a:defRPr sz="1950" b="1">
                <a:solidFill>
                  <a:srgbClr val="173344"/>
                </a:solidFill>
                <a:latin typeface="Arial"/>
                <a:ea typeface="Arial"/>
                <a:cs typeface="Arial"/>
              </a:defRPr>
            </a:lvl8pPr>
            <a:lvl9pPr>
              <a:defRPr sz="1950" b="1">
                <a:solidFill>
                  <a:srgbClr val="173344"/>
                </a:solidFill>
                <a:latin typeface="Arial"/>
                <a:ea typeface="Arial"/>
                <a:cs typeface="Arial"/>
              </a:defRPr>
            </a:lvl9pPr>
          </a:lstStyle>
          <a:p>
            <a:pPr>
              <a:defRPr sz="1950" b="1">
                <a:solidFill>
                  <a:srgbClr val="173344"/>
                </a:solidFill>
                <a:latin typeface="Arial"/>
                <a:ea typeface="Arial"/>
                <a:cs typeface="Arial"/>
              </a:defRPr>
            </a:pPr>
            <a:r>
              <a:rPr sz="1950" b="1">
                <a:solidFill>
                  <a:srgbClr val="000000"/>
                </a:solidFill>
                <a:latin typeface="Calibri" panose="020F0502020204030204" pitchFamily="34" charset="0"/>
                <a:ea typeface="Arial"/>
                <a:cs typeface="Arial"/>
              </a:rPr>
              <a:t>Retrofit</a:t>
            </a:r>
          </a:p>
        </p:txBody>
      </p:sp>
      <p:sp>
        <p:nvSpPr>
          <p:cNvPr id="7" name="Rectangle 6">
            <a:extLst>
              <a:ext uri="{FF2B5EF4-FFF2-40B4-BE49-F238E27FC236}">
                <a16:creationId xmlns:a16="http://schemas.microsoft.com/office/drawing/2014/main" id="{045B8AE2-EE9E-4AF6-8D5F-EA3E8EEEC45E}"/>
              </a:ext>
            </a:extLst>
          </p:cNvPr>
          <p:cNvSpPr>
            <a:spLocks noGrp="1"/>
          </p:cNvSpPr>
          <p:nvPr/>
        </p:nvSpPr>
        <p:spPr>
          <a:xfrm>
            <a:off x="7810500" y="2066925"/>
            <a:ext cx="3714750" cy="952500"/>
          </a:xfrm>
          <a:prstGeom prst="rect">
            <a:avLst/>
          </a:prstGeom>
          <a:noFill/>
          <a:ln w="0">
            <a:noFill/>
          </a:ln>
        </p:spPr>
        <p:txBody>
          <a:bodyPr/>
          <a:lstStyle>
            <a:defPPr>
              <a:defRPr sz="1725" b="0">
                <a:solidFill>
                  <a:srgbClr val="173344"/>
                </a:solidFill>
                <a:latin typeface="Arial"/>
                <a:ea typeface="Arial"/>
                <a:cs typeface="Arial"/>
              </a:defRPr>
            </a:defPPr>
            <a:lvl1pPr>
              <a:defRPr sz="1725" b="0">
                <a:solidFill>
                  <a:srgbClr val="173344"/>
                </a:solidFill>
                <a:latin typeface="Arial"/>
                <a:ea typeface="Arial"/>
                <a:cs typeface="Arial"/>
              </a:defRPr>
            </a:lvl1pPr>
            <a:lvl2pPr>
              <a:defRPr sz="1725" b="0">
                <a:solidFill>
                  <a:srgbClr val="173344"/>
                </a:solidFill>
                <a:latin typeface="Arial"/>
                <a:ea typeface="Arial"/>
                <a:cs typeface="Arial"/>
              </a:defRPr>
            </a:lvl2pPr>
            <a:lvl3pPr>
              <a:defRPr sz="1725" b="0">
                <a:solidFill>
                  <a:srgbClr val="173344"/>
                </a:solidFill>
                <a:latin typeface="Arial"/>
                <a:ea typeface="Arial"/>
                <a:cs typeface="Arial"/>
              </a:defRPr>
            </a:lvl3pPr>
            <a:lvl4pPr>
              <a:defRPr sz="1725" b="0">
                <a:solidFill>
                  <a:srgbClr val="173344"/>
                </a:solidFill>
                <a:latin typeface="Arial"/>
                <a:ea typeface="Arial"/>
                <a:cs typeface="Arial"/>
              </a:defRPr>
            </a:lvl4pPr>
            <a:lvl5pPr>
              <a:defRPr sz="1725" b="0">
                <a:solidFill>
                  <a:srgbClr val="173344"/>
                </a:solidFill>
                <a:latin typeface="Arial"/>
                <a:ea typeface="Arial"/>
                <a:cs typeface="Arial"/>
              </a:defRPr>
            </a:lvl5pPr>
            <a:lvl6pPr>
              <a:defRPr sz="1725" b="0">
                <a:solidFill>
                  <a:srgbClr val="173344"/>
                </a:solidFill>
                <a:latin typeface="Arial"/>
                <a:ea typeface="Arial"/>
                <a:cs typeface="Arial"/>
              </a:defRPr>
            </a:lvl6pPr>
            <a:lvl7pPr>
              <a:defRPr sz="1725" b="0">
                <a:solidFill>
                  <a:srgbClr val="173344"/>
                </a:solidFill>
                <a:latin typeface="Arial"/>
                <a:ea typeface="Arial"/>
                <a:cs typeface="Arial"/>
              </a:defRPr>
            </a:lvl7pPr>
            <a:lvl8pPr>
              <a:defRPr sz="1725" b="0">
                <a:solidFill>
                  <a:srgbClr val="173344"/>
                </a:solidFill>
                <a:latin typeface="Arial"/>
                <a:ea typeface="Arial"/>
                <a:cs typeface="Arial"/>
              </a:defRPr>
            </a:lvl8pPr>
            <a:lvl9pPr>
              <a:defRPr sz="1725" b="0">
                <a:solidFill>
                  <a:srgbClr val="173344"/>
                </a:solidFill>
                <a:latin typeface="Arial"/>
                <a:ea typeface="Arial"/>
                <a:cs typeface="Arial"/>
              </a:defRPr>
            </a:lvl9pPr>
          </a:lstStyle>
          <a:p>
            <a:pPr>
              <a:defRPr sz="1725" b="0">
                <a:solidFill>
                  <a:srgbClr val="173344"/>
                </a:solidFill>
                <a:latin typeface="Arial"/>
                <a:ea typeface="Arial"/>
                <a:cs typeface="Arial"/>
              </a:defRPr>
            </a:pPr>
            <a:r>
              <a:rPr sz="1725" b="0">
                <a:solidFill>
                  <a:srgbClr val="000000"/>
                </a:solidFill>
                <a:latin typeface="Calibri" panose="020F0502020204030204" pitchFamily="34" charset="0"/>
                <a:ea typeface="Arial"/>
                <a:cs typeface="Arial"/>
              </a:rPr>
              <a:t>397.2 → 466.9 kg</a:t>
            </a:r>
          </a:p>
          <a:p>
            <a:pPr>
              <a:defRPr sz="1725" b="0">
                <a:solidFill>
                  <a:srgbClr val="173344"/>
                </a:solidFill>
                <a:latin typeface="Arial"/>
                <a:ea typeface="Arial"/>
                <a:cs typeface="Arial"/>
              </a:defRPr>
            </a:pPr>
            <a:r>
              <a:rPr sz="1725" b="0">
                <a:solidFill>
                  <a:srgbClr val="000000"/>
                </a:solidFill>
                <a:latin typeface="Calibri" panose="020F0502020204030204" pitchFamily="34" charset="0"/>
                <a:ea typeface="Arial"/>
                <a:cs typeface="Arial"/>
              </a:rPr>
              <a:t>+69.7 kg (+17.5%)</a:t>
            </a:r>
          </a:p>
          <a:p>
            <a:pPr>
              <a:defRPr sz="1725" b="0">
                <a:solidFill>
                  <a:srgbClr val="173344"/>
                </a:solidFill>
                <a:latin typeface="Arial"/>
                <a:ea typeface="Arial"/>
                <a:cs typeface="Arial"/>
              </a:defRPr>
            </a:pPr>
            <a:r>
              <a:rPr sz="1725" b="0">
                <a:solidFill>
                  <a:srgbClr val="000000"/>
                </a:solidFill>
                <a:latin typeface="Calibri" panose="020F0502020204030204" pitchFamily="34" charset="0"/>
                <a:ea typeface="Arial"/>
                <a:cs typeface="Arial"/>
              </a:rPr>
              <a:t>Lower-energy result: rejected</a:t>
            </a:r>
          </a:p>
        </p:txBody>
      </p:sp>
      <p:sp>
        <p:nvSpPr>
          <p:cNvPr id="8" name="Rectangle 7">
            <a:extLst>
              <a:ext uri="{FF2B5EF4-FFF2-40B4-BE49-F238E27FC236}">
                <a16:creationId xmlns:a16="http://schemas.microsoft.com/office/drawing/2014/main" id="{75DF4AE9-D7EE-4685-8615-8FFD8991723F}"/>
              </a:ext>
            </a:extLst>
          </p:cNvPr>
          <p:cNvSpPr>
            <a:spLocks noGrp="1"/>
          </p:cNvSpPr>
          <p:nvPr/>
        </p:nvSpPr>
        <p:spPr>
          <a:xfrm>
            <a:off x="7810500" y="3333750"/>
            <a:ext cx="3619500" cy="333375"/>
          </a:xfrm>
          <a:prstGeom prst="rect">
            <a:avLst/>
          </a:prstGeom>
          <a:noFill/>
          <a:ln w="0">
            <a:noFill/>
          </a:ln>
        </p:spPr>
        <p:txBody>
          <a:bodyPr/>
          <a:lstStyle>
            <a:defPPr>
              <a:defRPr sz="1950" b="1">
                <a:solidFill>
                  <a:srgbClr val="173344"/>
                </a:solidFill>
                <a:latin typeface="Arial"/>
                <a:ea typeface="Arial"/>
                <a:cs typeface="Arial"/>
              </a:defRPr>
            </a:defPPr>
            <a:lvl1pPr>
              <a:defRPr sz="1950" b="1">
                <a:solidFill>
                  <a:srgbClr val="173344"/>
                </a:solidFill>
                <a:latin typeface="Arial"/>
                <a:ea typeface="Arial"/>
                <a:cs typeface="Arial"/>
              </a:defRPr>
            </a:lvl1pPr>
            <a:lvl2pPr>
              <a:defRPr sz="1950" b="1">
                <a:solidFill>
                  <a:srgbClr val="173344"/>
                </a:solidFill>
                <a:latin typeface="Arial"/>
                <a:ea typeface="Arial"/>
                <a:cs typeface="Arial"/>
              </a:defRPr>
            </a:lvl2pPr>
            <a:lvl3pPr>
              <a:defRPr sz="1950" b="1">
                <a:solidFill>
                  <a:srgbClr val="173344"/>
                </a:solidFill>
                <a:latin typeface="Arial"/>
                <a:ea typeface="Arial"/>
                <a:cs typeface="Arial"/>
              </a:defRPr>
            </a:lvl3pPr>
            <a:lvl4pPr>
              <a:defRPr sz="1950" b="1">
                <a:solidFill>
                  <a:srgbClr val="173344"/>
                </a:solidFill>
                <a:latin typeface="Arial"/>
                <a:ea typeface="Arial"/>
                <a:cs typeface="Arial"/>
              </a:defRPr>
            </a:lvl4pPr>
            <a:lvl5pPr>
              <a:defRPr sz="1950" b="1">
                <a:solidFill>
                  <a:srgbClr val="173344"/>
                </a:solidFill>
                <a:latin typeface="Arial"/>
                <a:ea typeface="Arial"/>
                <a:cs typeface="Arial"/>
              </a:defRPr>
            </a:lvl5pPr>
            <a:lvl6pPr>
              <a:defRPr sz="1950" b="1">
                <a:solidFill>
                  <a:srgbClr val="173344"/>
                </a:solidFill>
                <a:latin typeface="Arial"/>
                <a:ea typeface="Arial"/>
                <a:cs typeface="Arial"/>
              </a:defRPr>
            </a:lvl6pPr>
            <a:lvl7pPr>
              <a:defRPr sz="1950" b="1">
                <a:solidFill>
                  <a:srgbClr val="173344"/>
                </a:solidFill>
                <a:latin typeface="Arial"/>
                <a:ea typeface="Arial"/>
                <a:cs typeface="Arial"/>
              </a:defRPr>
            </a:lvl7pPr>
            <a:lvl8pPr>
              <a:defRPr sz="1950" b="1">
                <a:solidFill>
                  <a:srgbClr val="173344"/>
                </a:solidFill>
                <a:latin typeface="Arial"/>
                <a:ea typeface="Arial"/>
                <a:cs typeface="Arial"/>
              </a:defRPr>
            </a:lvl8pPr>
            <a:lvl9pPr>
              <a:defRPr sz="1950" b="1">
                <a:solidFill>
                  <a:srgbClr val="173344"/>
                </a:solidFill>
                <a:latin typeface="Arial"/>
                <a:ea typeface="Arial"/>
                <a:cs typeface="Arial"/>
              </a:defRPr>
            </a:lvl9pPr>
          </a:lstStyle>
          <a:p>
            <a:pPr>
              <a:defRPr sz="1950" b="1">
                <a:solidFill>
                  <a:srgbClr val="173344"/>
                </a:solidFill>
                <a:latin typeface="Arial"/>
                <a:ea typeface="Arial"/>
                <a:cs typeface="Arial"/>
              </a:defRPr>
            </a:pPr>
            <a:r>
              <a:rPr sz="1950" b="1">
                <a:solidFill>
                  <a:srgbClr val="000000"/>
                </a:solidFill>
                <a:latin typeface="Calibri" panose="020F0502020204030204" pitchFamily="34" charset="0"/>
                <a:ea typeface="Arial"/>
                <a:cs typeface="Arial"/>
              </a:rPr>
              <a:t>Clean sheet</a:t>
            </a:r>
          </a:p>
        </p:txBody>
      </p:sp>
      <p:sp>
        <p:nvSpPr>
          <p:cNvPr id="9" name="Rectangle 8">
            <a:extLst>
              <a:ext uri="{FF2B5EF4-FFF2-40B4-BE49-F238E27FC236}">
                <a16:creationId xmlns:a16="http://schemas.microsoft.com/office/drawing/2014/main" id="{BAE1CB35-B773-4683-B2AF-260D70789967}"/>
              </a:ext>
            </a:extLst>
          </p:cNvPr>
          <p:cNvSpPr>
            <a:spLocks noGrp="1"/>
          </p:cNvSpPr>
          <p:nvPr/>
        </p:nvSpPr>
        <p:spPr>
          <a:xfrm>
            <a:off x="7810500" y="3781425"/>
            <a:ext cx="3714750" cy="952500"/>
          </a:xfrm>
          <a:prstGeom prst="rect">
            <a:avLst/>
          </a:prstGeom>
          <a:noFill/>
          <a:ln w="0">
            <a:noFill/>
          </a:ln>
        </p:spPr>
        <p:txBody>
          <a:bodyPr/>
          <a:lstStyle>
            <a:defPPr>
              <a:defRPr sz="1725" b="0">
                <a:solidFill>
                  <a:srgbClr val="173344"/>
                </a:solidFill>
                <a:latin typeface="Arial"/>
                <a:ea typeface="Arial"/>
                <a:cs typeface="Arial"/>
              </a:defRPr>
            </a:defPPr>
            <a:lvl1pPr>
              <a:defRPr sz="1725" b="0">
                <a:solidFill>
                  <a:srgbClr val="173344"/>
                </a:solidFill>
                <a:latin typeface="Arial"/>
                <a:ea typeface="Arial"/>
                <a:cs typeface="Arial"/>
              </a:defRPr>
            </a:lvl1pPr>
            <a:lvl2pPr>
              <a:defRPr sz="1725" b="0">
                <a:solidFill>
                  <a:srgbClr val="173344"/>
                </a:solidFill>
                <a:latin typeface="Arial"/>
                <a:ea typeface="Arial"/>
                <a:cs typeface="Arial"/>
              </a:defRPr>
            </a:lvl2pPr>
            <a:lvl3pPr>
              <a:defRPr sz="1725" b="0">
                <a:solidFill>
                  <a:srgbClr val="173344"/>
                </a:solidFill>
                <a:latin typeface="Arial"/>
                <a:ea typeface="Arial"/>
                <a:cs typeface="Arial"/>
              </a:defRPr>
            </a:lvl3pPr>
            <a:lvl4pPr>
              <a:defRPr sz="1725" b="0">
                <a:solidFill>
                  <a:srgbClr val="173344"/>
                </a:solidFill>
                <a:latin typeface="Arial"/>
                <a:ea typeface="Arial"/>
                <a:cs typeface="Arial"/>
              </a:defRPr>
            </a:lvl4pPr>
            <a:lvl5pPr>
              <a:defRPr sz="1725" b="0">
                <a:solidFill>
                  <a:srgbClr val="173344"/>
                </a:solidFill>
                <a:latin typeface="Arial"/>
                <a:ea typeface="Arial"/>
                <a:cs typeface="Arial"/>
              </a:defRPr>
            </a:lvl5pPr>
            <a:lvl6pPr>
              <a:defRPr sz="1725" b="0">
                <a:solidFill>
                  <a:srgbClr val="173344"/>
                </a:solidFill>
                <a:latin typeface="Arial"/>
                <a:ea typeface="Arial"/>
                <a:cs typeface="Arial"/>
              </a:defRPr>
            </a:lvl6pPr>
            <a:lvl7pPr>
              <a:defRPr sz="1725" b="0">
                <a:solidFill>
                  <a:srgbClr val="173344"/>
                </a:solidFill>
                <a:latin typeface="Arial"/>
                <a:ea typeface="Arial"/>
                <a:cs typeface="Arial"/>
              </a:defRPr>
            </a:lvl7pPr>
            <a:lvl8pPr>
              <a:defRPr sz="1725" b="0">
                <a:solidFill>
                  <a:srgbClr val="173344"/>
                </a:solidFill>
                <a:latin typeface="Arial"/>
                <a:ea typeface="Arial"/>
                <a:cs typeface="Arial"/>
              </a:defRPr>
            </a:lvl8pPr>
            <a:lvl9pPr>
              <a:defRPr sz="1725" b="0">
                <a:solidFill>
                  <a:srgbClr val="173344"/>
                </a:solidFill>
                <a:latin typeface="Arial"/>
                <a:ea typeface="Arial"/>
                <a:cs typeface="Arial"/>
              </a:defRPr>
            </a:lvl9pPr>
          </a:lstStyle>
          <a:p>
            <a:pPr>
              <a:defRPr sz="1725" b="0">
                <a:solidFill>
                  <a:srgbClr val="173344"/>
                </a:solidFill>
                <a:latin typeface="Arial"/>
                <a:ea typeface="Arial"/>
                <a:cs typeface="Arial"/>
              </a:defRPr>
            </a:pPr>
            <a:r>
              <a:rPr sz="1725" b="0">
                <a:solidFill>
                  <a:srgbClr val="000000"/>
                </a:solidFill>
                <a:latin typeface="Calibri" panose="020F0502020204030204" pitchFamily="34" charset="0"/>
                <a:ea typeface="Arial"/>
                <a:cs typeface="Arial"/>
              </a:rPr>
              <a:t>381.7 → 423.5 kg</a:t>
            </a:r>
          </a:p>
          <a:p>
            <a:pPr>
              <a:defRPr sz="1725" b="0">
                <a:solidFill>
                  <a:srgbClr val="173344"/>
                </a:solidFill>
                <a:latin typeface="Arial"/>
                <a:ea typeface="Arial"/>
                <a:cs typeface="Arial"/>
              </a:defRPr>
            </a:pPr>
            <a:r>
              <a:rPr sz="1725" b="0">
                <a:solidFill>
                  <a:srgbClr val="000000"/>
                </a:solidFill>
                <a:latin typeface="Calibri" panose="020F0502020204030204" pitchFamily="34" charset="0"/>
                <a:ea typeface="Arial"/>
                <a:cs typeface="Arial"/>
              </a:rPr>
              <a:t>+41.8 kg (+10.9%)</a:t>
            </a:r>
          </a:p>
          <a:p>
            <a:pPr>
              <a:defRPr sz="1725" b="0">
                <a:solidFill>
                  <a:srgbClr val="173344"/>
                </a:solidFill>
                <a:latin typeface="Arial"/>
                <a:ea typeface="Arial"/>
                <a:cs typeface="Arial"/>
              </a:defRPr>
            </a:pPr>
            <a:r>
              <a:rPr sz="1725" b="0">
                <a:solidFill>
                  <a:srgbClr val="000000"/>
                </a:solidFill>
                <a:latin typeface="Calibri" panose="020F0502020204030204" pitchFamily="34" charset="0"/>
                <a:ea typeface="Arial"/>
                <a:cs typeface="Arial"/>
              </a:rPr>
              <a:t>Motor RPM remains conditional</a:t>
            </a:r>
          </a:p>
        </p:txBody>
      </p:sp>
      <p:sp>
        <p:nvSpPr>
          <p:cNvPr id="10" name="Rectangle 9">
            <a:extLst>
              <a:ext uri="{FF2B5EF4-FFF2-40B4-BE49-F238E27FC236}">
                <a16:creationId xmlns:a16="http://schemas.microsoft.com/office/drawing/2014/main" id="{2A4A3600-6A7E-4FFA-B685-79618E82CC07}"/>
              </a:ext>
            </a:extLst>
          </p:cNvPr>
          <p:cNvSpPr>
            <a:spLocks noGrp="1"/>
          </p:cNvSpPr>
          <p:nvPr/>
        </p:nvSpPr>
        <p:spPr>
          <a:xfrm>
            <a:off x="523875" y="5476875"/>
            <a:ext cx="11144250" cy="381000"/>
          </a:xfrm>
          <a:prstGeom prst="rect">
            <a:avLst/>
          </a:prstGeom>
          <a:noFill/>
          <a:ln w="0">
            <a:noFill/>
          </a:ln>
        </p:spPr>
        <p:txBody>
          <a:bodyPr/>
          <a:lstStyle>
            <a:defPPr>
              <a:defRPr sz="1725" b="1">
                <a:solidFill>
                  <a:srgbClr val="173344"/>
                </a:solidFill>
                <a:latin typeface="Arial"/>
                <a:ea typeface="Arial"/>
                <a:cs typeface="Arial"/>
              </a:defRPr>
            </a:defPPr>
            <a:lvl1pPr>
              <a:defRPr sz="1725" b="1">
                <a:solidFill>
                  <a:srgbClr val="173344"/>
                </a:solidFill>
                <a:latin typeface="Arial"/>
                <a:ea typeface="Arial"/>
                <a:cs typeface="Arial"/>
              </a:defRPr>
            </a:lvl1pPr>
            <a:lvl2pPr>
              <a:defRPr sz="1725" b="1">
                <a:solidFill>
                  <a:srgbClr val="173344"/>
                </a:solidFill>
                <a:latin typeface="Arial"/>
                <a:ea typeface="Arial"/>
                <a:cs typeface="Arial"/>
              </a:defRPr>
            </a:lvl2pPr>
            <a:lvl3pPr>
              <a:defRPr sz="1725" b="1">
                <a:solidFill>
                  <a:srgbClr val="173344"/>
                </a:solidFill>
                <a:latin typeface="Arial"/>
                <a:ea typeface="Arial"/>
                <a:cs typeface="Arial"/>
              </a:defRPr>
            </a:lvl3pPr>
            <a:lvl4pPr>
              <a:defRPr sz="1725" b="1">
                <a:solidFill>
                  <a:srgbClr val="173344"/>
                </a:solidFill>
                <a:latin typeface="Arial"/>
                <a:ea typeface="Arial"/>
                <a:cs typeface="Arial"/>
              </a:defRPr>
            </a:lvl4pPr>
            <a:lvl5pPr>
              <a:defRPr sz="1725" b="1">
                <a:solidFill>
                  <a:srgbClr val="173344"/>
                </a:solidFill>
                <a:latin typeface="Arial"/>
                <a:ea typeface="Arial"/>
                <a:cs typeface="Arial"/>
              </a:defRPr>
            </a:lvl5pPr>
            <a:lvl6pPr>
              <a:defRPr sz="1725" b="1">
                <a:solidFill>
                  <a:srgbClr val="173344"/>
                </a:solidFill>
                <a:latin typeface="Arial"/>
                <a:ea typeface="Arial"/>
                <a:cs typeface="Arial"/>
              </a:defRPr>
            </a:lvl6pPr>
            <a:lvl7pPr>
              <a:defRPr sz="1725" b="1">
                <a:solidFill>
                  <a:srgbClr val="173344"/>
                </a:solidFill>
                <a:latin typeface="Arial"/>
                <a:ea typeface="Arial"/>
                <a:cs typeface="Arial"/>
              </a:defRPr>
            </a:lvl7pPr>
            <a:lvl8pPr>
              <a:defRPr sz="1725" b="1">
                <a:solidFill>
                  <a:srgbClr val="173344"/>
                </a:solidFill>
                <a:latin typeface="Arial"/>
                <a:ea typeface="Arial"/>
                <a:cs typeface="Arial"/>
              </a:defRPr>
            </a:lvl8pPr>
            <a:lvl9pPr>
              <a:defRPr sz="1725" b="1">
                <a:solidFill>
                  <a:srgbClr val="173344"/>
                </a:solidFill>
                <a:latin typeface="Arial"/>
                <a:ea typeface="Arial"/>
                <a:cs typeface="Arial"/>
              </a:defRPr>
            </a:lvl9pPr>
          </a:lstStyle>
          <a:p>
            <a:pPr>
              <a:defRPr sz="1725" b="1">
                <a:solidFill>
                  <a:srgbClr val="173344"/>
                </a:solidFill>
                <a:latin typeface="Arial"/>
                <a:ea typeface="Arial"/>
                <a:cs typeface="Arial"/>
              </a:defRPr>
            </a:pPr>
            <a:r>
              <a:rPr sz="1725" b="1">
                <a:solidFill>
                  <a:srgbClr val="000000"/>
                </a:solidFill>
                <a:latin typeface="Calibri" panose="020F0502020204030204" pitchFamily="34" charset="0"/>
                <a:ea typeface="Arial"/>
                <a:cs typeface="Arial"/>
              </a:rPr>
              <a:t>Tiltrotor cases are unchanged: no main propulsion battery is installed in either model.</a:t>
            </a:r>
          </a:p>
        </p:txBody>
      </p:sp>
      <p:sp>
        <p:nvSpPr>
          <p:cNvPr id="11" name="Rectangle 10">
            <a:extLst>
              <a:ext uri="{FF2B5EF4-FFF2-40B4-BE49-F238E27FC236}">
                <a16:creationId xmlns:a16="http://schemas.microsoft.com/office/drawing/2014/main" id="{0D090F2C-D281-40E3-8FDD-55215297C6FA}"/>
              </a:ext>
            </a:extLst>
          </p:cNvPr>
          <p:cNvSpPr>
            <a:spLocks noGrp="1"/>
          </p:cNvSpPr>
          <p:nvPr/>
        </p:nvSpPr>
        <p:spPr>
          <a:xfrm>
            <a:off x="476250" y="6010275"/>
            <a:ext cx="11239500" cy="447675"/>
          </a:xfrm>
          <a:prstGeom prst="rect">
            <a:avLst/>
          </a:prstGeom>
          <a:noFill/>
          <a:ln w="0">
            <a:noFill/>
          </a:ln>
        </p:spPr>
        <p:txBody>
          <a:bodyPr/>
          <a:lstStyle>
            <a:defPPr>
              <a:defRPr sz="1275" b="0">
                <a:solidFill>
                  <a:srgbClr val="536675"/>
                </a:solidFill>
                <a:latin typeface="Arial"/>
                <a:ea typeface="Arial"/>
                <a:cs typeface="Arial"/>
              </a:defRPr>
            </a:defPPr>
            <a:lvl1pPr>
              <a:defRPr sz="1275" b="0">
                <a:solidFill>
                  <a:srgbClr val="536675"/>
                </a:solidFill>
                <a:latin typeface="Arial"/>
                <a:ea typeface="Arial"/>
                <a:cs typeface="Arial"/>
              </a:defRPr>
            </a:lvl1pPr>
            <a:lvl2pPr>
              <a:defRPr sz="1275" b="0">
                <a:solidFill>
                  <a:srgbClr val="536675"/>
                </a:solidFill>
                <a:latin typeface="Arial"/>
                <a:ea typeface="Arial"/>
                <a:cs typeface="Arial"/>
              </a:defRPr>
            </a:lvl2pPr>
            <a:lvl3pPr>
              <a:defRPr sz="1275" b="0">
                <a:solidFill>
                  <a:srgbClr val="536675"/>
                </a:solidFill>
                <a:latin typeface="Arial"/>
                <a:ea typeface="Arial"/>
                <a:cs typeface="Arial"/>
              </a:defRPr>
            </a:lvl3pPr>
            <a:lvl4pPr>
              <a:defRPr sz="1275" b="0">
                <a:solidFill>
                  <a:srgbClr val="536675"/>
                </a:solidFill>
                <a:latin typeface="Arial"/>
                <a:ea typeface="Arial"/>
                <a:cs typeface="Arial"/>
              </a:defRPr>
            </a:lvl4pPr>
            <a:lvl5pPr>
              <a:defRPr sz="1275" b="0">
                <a:solidFill>
                  <a:srgbClr val="536675"/>
                </a:solidFill>
                <a:latin typeface="Arial"/>
                <a:ea typeface="Arial"/>
                <a:cs typeface="Arial"/>
              </a:defRPr>
            </a:lvl5pPr>
            <a:lvl6pPr>
              <a:defRPr sz="1275" b="0">
                <a:solidFill>
                  <a:srgbClr val="536675"/>
                </a:solidFill>
                <a:latin typeface="Arial"/>
                <a:ea typeface="Arial"/>
                <a:cs typeface="Arial"/>
              </a:defRPr>
            </a:lvl6pPr>
            <a:lvl7pPr>
              <a:defRPr sz="1275" b="0">
                <a:solidFill>
                  <a:srgbClr val="536675"/>
                </a:solidFill>
                <a:latin typeface="Arial"/>
                <a:ea typeface="Arial"/>
                <a:cs typeface="Arial"/>
              </a:defRPr>
            </a:lvl7pPr>
            <a:lvl8pPr>
              <a:defRPr sz="1275" b="0">
                <a:solidFill>
                  <a:srgbClr val="536675"/>
                </a:solidFill>
                <a:latin typeface="Arial"/>
                <a:ea typeface="Arial"/>
                <a:cs typeface="Arial"/>
              </a:defRPr>
            </a:lvl8pPr>
            <a:lvl9pPr>
              <a:defRPr sz="1275" b="0">
                <a:solidFill>
                  <a:srgbClr val="536675"/>
                </a:solidFill>
                <a:latin typeface="Arial"/>
                <a:ea typeface="Arial"/>
                <a:cs typeface="Arial"/>
              </a:defRPr>
            </a:lvl9pPr>
          </a:lstStyle>
          <a:p>
            <a:pPr>
              <a:defRPr sz="1275" b="0">
                <a:solidFill>
                  <a:srgbClr val="536675"/>
                </a:solidFill>
                <a:latin typeface="Arial"/>
                <a:ea typeface="Arial"/>
                <a:cs typeface="Arial"/>
              </a:defRPr>
            </a:pPr>
            <a:endParaRPr sz="1275" b="0">
              <a:solidFill>
                <a:srgbClr val="000000"/>
              </a:solidFill>
              <a:latin typeface="Calibri" panose="020F0502020204030204" pitchFamily="34" charset="0"/>
              <a:ea typeface="Arial"/>
              <a:cs typeface="Arial"/>
            </a:endParaRPr>
          </a:p>
        </p:txBody>
      </p:sp>
      <p:sp>
        <p:nvSpPr>
          <p:cNvPr id="13" name="TextBox 12">
            <a:extLst>
              <a:ext uri="{FF2B5EF4-FFF2-40B4-BE49-F238E27FC236}">
                <a16:creationId xmlns:a16="http://schemas.microsoft.com/office/drawing/2014/main" id="{7E11079F-900B-8DF6-48BF-DEE0D4439E5C}"/>
              </a:ext>
            </a:extLst>
          </p:cNvPr>
          <p:cNvSpPr txBox="1"/>
          <p:nvPr/>
        </p:nvSpPr>
        <p:spPr>
          <a:xfrm>
            <a:off x="476250" y="6400800"/>
            <a:ext cx="10795000" cy="265457"/>
          </a:xfrm>
          <a:prstGeom prst="rect">
            <a:avLst/>
          </a:prstGeom>
          <a:noFill/>
        </p:spPr>
        <p:txBody>
          <a:bodyPr vert="horz" rtlCol="0">
            <a:spAutoFit/>
          </a:bodyPr>
          <a:lstStyle/>
          <a:p>
            <a:endParaRPr lang="en-US" sz="1125">
              <a:solidFill>
                <a:srgbClr val="444444"/>
              </a:solidFill>
              <a:latin typeface="Calibri" panose="020F0502020204030204" pitchFamily="34" charset="0"/>
            </a:endParaRPr>
          </a:p>
        </p:txBody>
      </p:sp>
      <p:sp>
        <p:nvSpPr>
          <p:cNvPr id="14" name="TextBox 13">
            <a:extLst>
              <a:ext uri="{FF2B5EF4-FFF2-40B4-BE49-F238E27FC236}">
                <a16:creationId xmlns:a16="http://schemas.microsoft.com/office/drawing/2014/main" id="{CB34EF53-2B00-2403-9045-E99685E1A032}"/>
              </a:ext>
            </a:extLst>
          </p:cNvPr>
          <p:cNvSpPr txBox="1"/>
          <p:nvPr/>
        </p:nvSpPr>
        <p:spPr>
          <a:xfrm>
            <a:off x="476250" y="6400800"/>
            <a:ext cx="11074400" cy="323165"/>
          </a:xfrm>
          <a:prstGeom prst="rect">
            <a:avLst/>
          </a:prstGeom>
          <a:noFill/>
        </p:spPr>
        <p:txBody>
          <a:bodyPr vert="horz" lIns="0" tIns="0" rIns="0" bIns="0" rtlCol="0">
            <a:spAutoFit/>
          </a:bodyPr>
          <a:lstStyle/>
          <a:p>
            <a:r>
              <a:rPr lang="en-US" sz="1050">
                <a:solidFill>
                  <a:srgbClr val="000000"/>
                </a:solidFill>
                <a:latin typeface="Calibri" panose="020F0502020204030204" pitchFamily="34" charset="0"/>
              </a:rPr>
              <a:t>[S2] Historical 17.14 s mission: previous versus lower battery specific energy. No 30 s lower-energy rerun is claimed.
Voltage / mass conversion also changed. This is a coupled sensitivity, not an isolated specific-energy experiment.</a:t>
            </a:r>
          </a:p>
        </p:txBody>
      </p:sp>
      <p:sp>
        <p:nvSpPr>
          <p:cNvPr id="15" name="TextBox 14">
            <a:extLst>
              <a:ext uri="{FF2B5EF4-FFF2-40B4-BE49-F238E27FC236}">
                <a16:creationId xmlns:a16="http://schemas.microsoft.com/office/drawing/2014/main" id="{91F96408-C00A-02B1-32F8-7F82EF11A53A}"/>
              </a:ext>
            </a:extLst>
          </p:cNvPr>
          <p:cNvSpPr txBox="1"/>
          <p:nvPr/>
        </p:nvSpPr>
        <p:spPr>
          <a:xfrm>
            <a:off x="11671300" y="6527800"/>
            <a:ext cx="355600" cy="153888"/>
          </a:xfrm>
          <a:prstGeom prst="rect">
            <a:avLst/>
          </a:prstGeom>
          <a:noFill/>
        </p:spPr>
        <p:txBody>
          <a:bodyPr vert="horz" lIns="0" tIns="0" rIns="0" bIns="0" rtlCol="0">
            <a:spAutoFit/>
          </a:bodyPr>
          <a:lstStyle/>
          <a:p>
            <a:r>
              <a:rPr lang="en-US" sz="1000">
                <a:solidFill>
                  <a:srgbClr val="000000"/>
                </a:solidFill>
                <a:latin typeface="Calibri" panose="020F0502020204030204" pitchFamily="34" charset="0"/>
              </a:rPr>
              <a:t>8</a:t>
            </a:r>
          </a:p>
        </p:txBody>
      </p:sp>
    </p:spTree>
    <p:extLst>
      <p:ext uri="{BB962C8B-B14F-4D97-AF65-F5344CB8AC3E}">
        <p14:creationId xmlns:p14="http://schemas.microsoft.com/office/powerpoint/2010/main" val="2002277910"/>
      </p:ext>
    </p:extLst>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37A3865-3B2B-4027-AF49-7E4383A04DDE}"/>
              </a:ext>
            </a:extLst>
          </p:cNvPr>
          <p:cNvSpPr>
            <a:spLocks noGrp="1"/>
          </p:cNvSpPr>
          <p:nvPr/>
        </p:nvSpPr>
        <p:spPr>
          <a:xfrm>
            <a:off x="838200" y="361950"/>
            <a:ext cx="10896600" cy="495300"/>
          </a:xfrm>
          <a:prstGeom prst="rect">
            <a:avLst/>
          </a:prstGeom>
          <a:noFill/>
          <a:ln w="0">
            <a:noFill/>
            <a:prstDash val="solid"/>
          </a:ln>
        </p:spPr>
        <p:txBody>
          <a:bodyPr lIns="0" tIns="0" rIns="0" bIns="0"/>
          <a:lstStyle>
            <a:defPPr>
              <a:defRPr sz="2400" b="1">
                <a:solidFill>
                  <a:srgbClr val="000000"/>
                </a:solidFill>
                <a:latin typeface="Calibri"/>
                <a:ea typeface="Calibri"/>
                <a:cs typeface="Calibri"/>
              </a:defRPr>
            </a:defPPr>
            <a:lvl1pPr>
              <a:defRPr sz="2400" b="1">
                <a:solidFill>
                  <a:srgbClr val="000000"/>
                </a:solidFill>
                <a:latin typeface="Calibri"/>
                <a:ea typeface="Calibri"/>
                <a:cs typeface="Calibri"/>
              </a:defRPr>
            </a:lvl1pPr>
            <a:lvl2pPr>
              <a:defRPr sz="2400" b="1">
                <a:solidFill>
                  <a:srgbClr val="000000"/>
                </a:solidFill>
                <a:latin typeface="Calibri"/>
                <a:ea typeface="Calibri"/>
                <a:cs typeface="Calibri"/>
              </a:defRPr>
            </a:lvl2pPr>
            <a:lvl3pPr>
              <a:defRPr sz="2400" b="1">
                <a:solidFill>
                  <a:srgbClr val="000000"/>
                </a:solidFill>
                <a:latin typeface="Calibri"/>
                <a:ea typeface="Calibri"/>
                <a:cs typeface="Calibri"/>
              </a:defRPr>
            </a:lvl3pPr>
            <a:lvl4pPr>
              <a:defRPr sz="2400" b="1">
                <a:solidFill>
                  <a:srgbClr val="000000"/>
                </a:solidFill>
                <a:latin typeface="Calibri"/>
                <a:ea typeface="Calibri"/>
                <a:cs typeface="Calibri"/>
              </a:defRPr>
            </a:lvl4pPr>
            <a:lvl5pPr>
              <a:defRPr sz="2400" b="1">
                <a:solidFill>
                  <a:srgbClr val="000000"/>
                </a:solidFill>
                <a:latin typeface="Calibri"/>
                <a:ea typeface="Calibri"/>
                <a:cs typeface="Calibri"/>
              </a:defRPr>
            </a:lvl5pPr>
            <a:lvl6pPr>
              <a:defRPr sz="2400" b="1">
                <a:solidFill>
                  <a:srgbClr val="000000"/>
                </a:solidFill>
                <a:latin typeface="Calibri"/>
                <a:ea typeface="Calibri"/>
                <a:cs typeface="Calibri"/>
              </a:defRPr>
            </a:lvl6pPr>
            <a:lvl7pPr>
              <a:defRPr sz="2400" b="1">
                <a:solidFill>
                  <a:srgbClr val="000000"/>
                </a:solidFill>
                <a:latin typeface="Calibri"/>
                <a:ea typeface="Calibri"/>
                <a:cs typeface="Calibri"/>
              </a:defRPr>
            </a:lvl7pPr>
            <a:lvl8pPr>
              <a:defRPr sz="2400" b="1">
                <a:solidFill>
                  <a:srgbClr val="000000"/>
                </a:solidFill>
                <a:latin typeface="Calibri"/>
                <a:ea typeface="Calibri"/>
                <a:cs typeface="Calibri"/>
              </a:defRPr>
            </a:lvl8pPr>
            <a:lvl9pPr>
              <a:defRPr sz="2400" b="1">
                <a:solidFill>
                  <a:srgbClr val="000000"/>
                </a:solidFill>
                <a:latin typeface="Calibri"/>
                <a:ea typeface="Calibri"/>
                <a:cs typeface="Calibri"/>
              </a:defRPr>
            </a:lvl9pPr>
          </a:lstStyle>
          <a:p>
            <a:pPr>
              <a:defRPr sz="2400" b="1">
                <a:solidFill>
                  <a:srgbClr val="000000"/>
                </a:solidFill>
                <a:latin typeface="Calibri"/>
                <a:ea typeface="Calibri"/>
                <a:cs typeface="Calibri"/>
              </a:defRPr>
            </a:pPr>
            <a:r>
              <a:rPr sz="2400" b="1">
                <a:solidFill>
                  <a:srgbClr val="000000"/>
                </a:solidFill>
                <a:latin typeface="Calibri" panose="020F0502020204030204" pitchFamily="34" charset="0"/>
                <a:ea typeface="Calibri"/>
                <a:cs typeface="Calibri"/>
              </a:rPr>
              <a:t>Engine Assumptions: Lift + Cruise</a:t>
            </a:r>
          </a:p>
        </p:txBody>
      </p:sp>
      <p:sp>
        <p:nvSpPr>
          <p:cNvPr id="2" name="Rectangle 1">
            <a:extLst>
              <a:ext uri="{FF2B5EF4-FFF2-40B4-BE49-F238E27FC236}">
                <a16:creationId xmlns:a16="http://schemas.microsoft.com/office/drawing/2014/main" id="{469AD00B-956E-4000-B224-E190484C0DD8}"/>
              </a:ext>
            </a:extLst>
          </p:cNvPr>
          <p:cNvSpPr>
            <a:spLocks noGrp="1"/>
          </p:cNvSpPr>
          <p:nvPr/>
        </p:nvSpPr>
        <p:spPr>
          <a:xfrm>
            <a:off x="476250" y="895350"/>
            <a:ext cx="11239500" cy="523875"/>
          </a:xfrm>
          <a:prstGeom prst="rect">
            <a:avLst/>
          </a:prstGeom>
          <a:noFill/>
          <a:ln w="0">
            <a:noFill/>
            <a:prstDash val="solid"/>
          </a:ln>
        </p:spPr>
        <p:txBody>
          <a:bodyPr lIns="0" tIns="0" rIns="0" bIns="0"/>
          <a:lstStyle>
            <a:defPPr>
              <a:defRPr sz="1575" b="0">
                <a:solidFill>
                  <a:srgbClr val="444444"/>
                </a:solidFill>
                <a:latin typeface="Calibri"/>
                <a:ea typeface="Calibri"/>
                <a:cs typeface="Calibri"/>
              </a:defRPr>
            </a:defPPr>
            <a:lvl1pPr>
              <a:defRPr sz="1575" b="0">
                <a:solidFill>
                  <a:srgbClr val="444444"/>
                </a:solidFill>
                <a:latin typeface="Calibri"/>
                <a:ea typeface="Calibri"/>
                <a:cs typeface="Calibri"/>
              </a:defRPr>
            </a:lvl1pPr>
            <a:lvl2pPr>
              <a:defRPr sz="1575" b="0">
                <a:solidFill>
                  <a:srgbClr val="444444"/>
                </a:solidFill>
                <a:latin typeface="Calibri"/>
                <a:ea typeface="Calibri"/>
                <a:cs typeface="Calibri"/>
              </a:defRPr>
            </a:lvl2pPr>
            <a:lvl3pPr>
              <a:defRPr sz="1575" b="0">
                <a:solidFill>
                  <a:srgbClr val="444444"/>
                </a:solidFill>
                <a:latin typeface="Calibri"/>
                <a:ea typeface="Calibri"/>
                <a:cs typeface="Calibri"/>
              </a:defRPr>
            </a:lvl3pPr>
            <a:lvl4pPr>
              <a:defRPr sz="1575" b="0">
                <a:solidFill>
                  <a:srgbClr val="444444"/>
                </a:solidFill>
                <a:latin typeface="Calibri"/>
                <a:ea typeface="Calibri"/>
                <a:cs typeface="Calibri"/>
              </a:defRPr>
            </a:lvl4pPr>
            <a:lvl5pPr>
              <a:defRPr sz="1575" b="0">
                <a:solidFill>
                  <a:srgbClr val="444444"/>
                </a:solidFill>
                <a:latin typeface="Calibri"/>
                <a:ea typeface="Calibri"/>
                <a:cs typeface="Calibri"/>
              </a:defRPr>
            </a:lvl5pPr>
            <a:lvl6pPr>
              <a:defRPr sz="1575" b="0">
                <a:solidFill>
                  <a:srgbClr val="444444"/>
                </a:solidFill>
                <a:latin typeface="Calibri"/>
                <a:ea typeface="Calibri"/>
                <a:cs typeface="Calibri"/>
              </a:defRPr>
            </a:lvl6pPr>
            <a:lvl7pPr>
              <a:defRPr sz="1575" b="0">
                <a:solidFill>
                  <a:srgbClr val="444444"/>
                </a:solidFill>
                <a:latin typeface="Calibri"/>
                <a:ea typeface="Calibri"/>
                <a:cs typeface="Calibri"/>
              </a:defRPr>
            </a:lvl7pPr>
            <a:lvl8pPr>
              <a:defRPr sz="1575" b="0">
                <a:solidFill>
                  <a:srgbClr val="444444"/>
                </a:solidFill>
                <a:latin typeface="Calibri"/>
                <a:ea typeface="Calibri"/>
                <a:cs typeface="Calibri"/>
              </a:defRPr>
            </a:lvl8pPr>
            <a:lvl9pPr>
              <a:defRPr sz="1575" b="0">
                <a:solidFill>
                  <a:srgbClr val="444444"/>
                </a:solidFill>
                <a:latin typeface="Calibri"/>
                <a:ea typeface="Calibri"/>
                <a:cs typeface="Calibri"/>
              </a:defRPr>
            </a:lvl9pPr>
          </a:lstStyle>
          <a:p>
            <a:pPr>
              <a:defRPr sz="1575" b="0">
                <a:solidFill>
                  <a:srgbClr val="444444"/>
                </a:solidFill>
                <a:latin typeface="Calibri"/>
                <a:ea typeface="Calibri"/>
                <a:cs typeface="Calibri"/>
              </a:defRPr>
            </a:pPr>
            <a:r>
              <a:rPr sz="1575" b="0">
                <a:solidFill>
                  <a:srgbClr val="444444"/>
                </a:solidFill>
                <a:latin typeface="Calibri" panose="020F0502020204030204" pitchFamily="34" charset="0"/>
                <a:ea typeface="Calibri"/>
                <a:cs typeface="Calibri"/>
              </a:rPr>
              <a:t>L+C uses a Rotron-based rotary surrogate. Rev B incorrectly called it a Hirth-based performance model.</a:t>
            </a:r>
          </a:p>
        </p:txBody>
      </p:sp>
      <p:sp>
        <p:nvSpPr>
          <p:cNvPr id="3" name="Rectangle 2">
            <a:extLst>
              <a:ext uri="{FF2B5EF4-FFF2-40B4-BE49-F238E27FC236}">
                <a16:creationId xmlns:a16="http://schemas.microsoft.com/office/drawing/2014/main" id="{C7A3E2CB-5A59-4545-BF1C-B46D8E387D97}"/>
              </a:ext>
            </a:extLst>
          </p:cNvPr>
          <p:cNvSpPr>
            <a:spLocks noGrp="1"/>
          </p:cNvSpPr>
          <p:nvPr/>
        </p:nvSpPr>
        <p:spPr>
          <a:xfrm>
            <a:off x="11382375" y="6524625"/>
            <a:ext cx="333375" cy="219075"/>
          </a:xfrm>
          <a:prstGeom prst="rect">
            <a:avLst/>
          </a:prstGeom>
          <a:noFill/>
          <a:ln w="0">
            <a:noFill/>
            <a:prstDash val="solid"/>
          </a:ln>
        </p:spPr>
        <p:txBody>
          <a:bodyPr lIns="0" tIns="0" rIns="0" bIns="0"/>
          <a:lstStyle>
            <a:defPPr>
              <a:defRPr sz="1125" b="0">
                <a:solidFill>
                  <a:srgbClr val="444444"/>
                </a:solidFill>
                <a:latin typeface="Calibri"/>
                <a:ea typeface="Calibri"/>
                <a:cs typeface="Calibri"/>
              </a:defRPr>
            </a:defPPr>
            <a:lvl1pPr>
              <a:defRPr sz="1125" b="0">
                <a:solidFill>
                  <a:srgbClr val="444444"/>
                </a:solidFill>
                <a:latin typeface="Calibri"/>
                <a:ea typeface="Calibri"/>
                <a:cs typeface="Calibri"/>
              </a:defRPr>
            </a:lvl1pPr>
            <a:lvl2pPr>
              <a:defRPr sz="1125" b="0">
                <a:solidFill>
                  <a:srgbClr val="444444"/>
                </a:solidFill>
                <a:latin typeface="Calibri"/>
                <a:ea typeface="Calibri"/>
                <a:cs typeface="Calibri"/>
              </a:defRPr>
            </a:lvl2pPr>
            <a:lvl3pPr>
              <a:defRPr sz="1125" b="0">
                <a:solidFill>
                  <a:srgbClr val="444444"/>
                </a:solidFill>
                <a:latin typeface="Calibri"/>
                <a:ea typeface="Calibri"/>
                <a:cs typeface="Calibri"/>
              </a:defRPr>
            </a:lvl3pPr>
            <a:lvl4pPr>
              <a:defRPr sz="1125" b="0">
                <a:solidFill>
                  <a:srgbClr val="444444"/>
                </a:solidFill>
                <a:latin typeface="Calibri"/>
                <a:ea typeface="Calibri"/>
                <a:cs typeface="Calibri"/>
              </a:defRPr>
            </a:lvl4pPr>
            <a:lvl5pPr>
              <a:defRPr sz="1125" b="0">
                <a:solidFill>
                  <a:srgbClr val="444444"/>
                </a:solidFill>
                <a:latin typeface="Calibri"/>
                <a:ea typeface="Calibri"/>
                <a:cs typeface="Calibri"/>
              </a:defRPr>
            </a:lvl5pPr>
            <a:lvl6pPr>
              <a:defRPr sz="1125" b="0">
                <a:solidFill>
                  <a:srgbClr val="444444"/>
                </a:solidFill>
                <a:latin typeface="Calibri"/>
                <a:ea typeface="Calibri"/>
                <a:cs typeface="Calibri"/>
              </a:defRPr>
            </a:lvl6pPr>
            <a:lvl7pPr>
              <a:defRPr sz="1125" b="0">
                <a:solidFill>
                  <a:srgbClr val="444444"/>
                </a:solidFill>
                <a:latin typeface="Calibri"/>
                <a:ea typeface="Calibri"/>
                <a:cs typeface="Calibri"/>
              </a:defRPr>
            </a:lvl7pPr>
            <a:lvl8pPr>
              <a:defRPr sz="1125" b="0">
                <a:solidFill>
                  <a:srgbClr val="444444"/>
                </a:solidFill>
                <a:latin typeface="Calibri"/>
                <a:ea typeface="Calibri"/>
                <a:cs typeface="Calibri"/>
              </a:defRPr>
            </a:lvl8pPr>
            <a:lvl9pPr>
              <a:defRPr sz="1125" b="0">
                <a:solidFill>
                  <a:srgbClr val="444444"/>
                </a:solidFill>
                <a:latin typeface="Calibri"/>
                <a:ea typeface="Calibri"/>
                <a:cs typeface="Calibri"/>
              </a:defRPr>
            </a:lvl9pPr>
          </a:lstStyle>
          <a:p>
            <a:pPr>
              <a:defRPr sz="1125" b="0">
                <a:solidFill>
                  <a:srgbClr val="444444"/>
                </a:solidFill>
                <a:latin typeface="Calibri"/>
                <a:ea typeface="Calibri"/>
                <a:cs typeface="Calibri"/>
              </a:defRPr>
            </a:pPr>
            <a:endParaRPr sz="1125" b="0">
              <a:solidFill>
                <a:srgbClr val="444444"/>
              </a:solidFill>
              <a:latin typeface="Calibri" panose="020F0502020204030204" pitchFamily="34" charset="0"/>
              <a:ea typeface="Calibri"/>
              <a:cs typeface="Calibri"/>
            </a:endParaRPr>
          </a:p>
        </p:txBody>
      </p:sp>
      <p:graphicFrame>
        <p:nvGraphicFramePr>
          <p:cNvPr id="4" name="Table 3">
            <a:extLst>
              <a:ext uri="{FF2B5EF4-FFF2-40B4-BE49-F238E27FC236}">
                <a16:creationId xmlns:a16="http://schemas.microsoft.com/office/drawing/2014/main" id="{D8E9090D-9795-42CC-A984-56E6D64B30AB}"/>
              </a:ext>
            </a:extLst>
          </p:cNvPr>
          <p:cNvGraphicFramePr/>
          <p:nvPr>
            <p:extLst>
              <p:ext uri="{D42A27DB-BD31-4B8C-83A1-F6EECF244321}">
                <p14:modId xmlns:p14="http://schemas.microsoft.com/office/powerpoint/2010/main" val="1131420657"/>
              </p:ext>
            </p:extLst>
          </p:nvPr>
        </p:nvGraphicFramePr>
        <p:xfrm>
          <a:off x="476250" y="1647825"/>
          <a:ext cx="11239500" cy="3000378"/>
        </p:xfrm>
        <a:graphic>
          <a:graphicData uri="http://schemas.openxmlformats.org/drawingml/2006/table">
            <a:tbl>
              <a:tblPr/>
              <a:tblGrid>
                <a:gridCol w="314325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3905250">
                  <a:extLst>
                    <a:ext uri="{9D8B030D-6E8A-4147-A177-3AD203B41FA5}">
                      <a16:colId xmlns:a16="http://schemas.microsoft.com/office/drawing/2014/main" val="20002"/>
                    </a:ext>
                  </a:extLst>
                </a:gridCol>
              </a:tblGrid>
              <a:tr h="500063">
                <a:tc>
                  <a:txBody>
                    <a:bodyPr/>
                    <a:lstStyle/>
                    <a:p>
                      <a:r>
                        <a:rPr sz="1500" b="1">
                          <a:solidFill>
                            <a:srgbClr val="000000"/>
                          </a:solidFill>
                          <a:latin typeface="Calibri" panose="020F0502020204030204" pitchFamily="34" charset="0"/>
                          <a:ea typeface="Calibri"/>
                          <a:cs typeface="Calibri"/>
                        </a:rPr>
                        <a:t>Quantity</a:t>
                      </a:r>
                    </a:p>
                  </a:txBody>
                  <a:tcPr>
                    <a:lnL w="9525">
                      <a:solidFill>
                        <a:srgbClr val="BBBBBB"/>
                      </a:solidFill>
                    </a:lnL>
                    <a:lnR w="9525">
                      <a:solidFill>
                        <a:srgbClr val="BBBBBB"/>
                      </a:solidFill>
                    </a:lnR>
                    <a:lnT w="9525">
                      <a:solidFill>
                        <a:srgbClr val="BBBBBB"/>
                      </a:solidFill>
                    </a:lnT>
                    <a:lnB w="9525">
                      <a:solidFill>
                        <a:srgbClr val="BBBBBB"/>
                      </a:solidFill>
                    </a:lnB>
                    <a:solidFill>
                      <a:srgbClr val="D9D9D9"/>
                    </a:solidFill>
                  </a:tcPr>
                </a:tc>
                <a:tc>
                  <a:txBody>
                    <a:bodyPr/>
                    <a:lstStyle/>
                    <a:p>
                      <a:r>
                        <a:rPr sz="1500" b="1">
                          <a:solidFill>
                            <a:srgbClr val="000000"/>
                          </a:solidFill>
                          <a:latin typeface="Calibri" panose="020F0502020204030204" pitchFamily="34" charset="0"/>
                          <a:ea typeface="Calibri"/>
                          <a:cs typeface="Calibri"/>
                        </a:rPr>
                        <a:t>Saved L+C model [S1]</a:t>
                      </a:r>
                    </a:p>
                  </a:txBody>
                  <a:tcPr>
                    <a:lnL w="9525" cap="flat" cmpd="sng" algn="ctr">
                      <a:solidFill>
                        <a:srgbClr val="BBBBBB"/>
                      </a:solidFill>
                      <a:prstDash val="solid"/>
                      <a:round/>
                      <a:headEnd type="none" w="med" len="med"/>
                      <a:tailEnd type="none" w="med" len="med"/>
                    </a:lnL>
                    <a:lnR w="9525">
                      <a:solidFill>
                        <a:srgbClr val="BBBBBB"/>
                      </a:solidFill>
                    </a:lnR>
                    <a:lnT w="9525">
                      <a:solidFill>
                        <a:srgbClr val="BBBBBB"/>
                      </a:solidFill>
                    </a:lnT>
                    <a:lnB w="9525">
                      <a:solidFill>
                        <a:srgbClr val="BBBBBB"/>
                      </a:solidFill>
                    </a:lnB>
                    <a:solidFill>
                      <a:srgbClr val="D9D9D9"/>
                    </a:solidFill>
                  </a:tcPr>
                </a:tc>
                <a:tc>
                  <a:txBody>
                    <a:bodyPr/>
                    <a:lstStyle/>
                    <a:p>
                      <a:r>
                        <a:rPr sz="1500" b="1">
                          <a:solidFill>
                            <a:srgbClr val="000000"/>
                          </a:solidFill>
                          <a:latin typeface="Calibri" panose="020F0502020204030204" pitchFamily="34" charset="0"/>
                          <a:ea typeface="Calibri"/>
                          <a:cs typeface="Calibri"/>
                        </a:rPr>
                        <a:t>Current RT600-XE catalog [R7]</a:t>
                      </a:r>
                    </a:p>
                  </a:txBody>
                  <a:tcPr>
                    <a:lnL w="9525" cap="flat" cmpd="sng" algn="ctr">
                      <a:solidFill>
                        <a:srgbClr val="BBBBBB"/>
                      </a:solidFill>
                      <a:prstDash val="solid"/>
                      <a:round/>
                      <a:headEnd type="none" w="med" len="med"/>
                      <a:tailEnd type="none" w="med" len="med"/>
                    </a:lnL>
                    <a:lnR w="9525">
                      <a:solidFill>
                        <a:srgbClr val="BBBBBB"/>
                      </a:solidFill>
                    </a:lnR>
                    <a:lnT w="9525">
                      <a:solidFill>
                        <a:srgbClr val="BBBBBB"/>
                      </a:solidFill>
                    </a:lnT>
                    <a:lnB w="9525">
                      <a:solidFill>
                        <a:srgbClr val="BBBBBB"/>
                      </a:solidFill>
                    </a:lnB>
                    <a:solidFill>
                      <a:srgbClr val="D9D9D9"/>
                    </a:solidFill>
                  </a:tcPr>
                </a:tc>
                <a:extLst>
                  <a:ext uri="{0D108BD9-81ED-4DB2-BD59-A6C34878D82A}">
                    <a16:rowId xmlns:a16="http://schemas.microsoft.com/office/drawing/2014/main" val="10000"/>
                  </a:ext>
                </a:extLst>
              </a:tr>
              <a:tr h="500063">
                <a:tc>
                  <a:txBody>
                    <a:bodyPr/>
                    <a:lstStyle/>
                    <a:p>
                      <a:r>
                        <a:rPr sz="1500" b="0">
                          <a:solidFill>
                            <a:srgbClr val="000000"/>
                          </a:solidFill>
                          <a:latin typeface="Calibri" panose="020F0502020204030204" pitchFamily="34" charset="0"/>
                          <a:ea typeface="Calibri"/>
                          <a:cs typeface="Calibri"/>
                        </a:rPr>
                        <a:t>Engine family</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500" b="0">
                          <a:solidFill>
                            <a:srgbClr val="000000"/>
                          </a:solidFill>
                          <a:latin typeface="Calibri" panose="020F0502020204030204" pitchFamily="34" charset="0"/>
                          <a:ea typeface="Calibri"/>
                          <a:cs typeface="Calibri"/>
                        </a:rPr>
                        <a:t>RecipModel empirical rotary surrogate</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500" b="0">
                          <a:solidFill>
                            <a:srgbClr val="000000"/>
                          </a:solidFill>
                          <a:latin typeface="Calibri" panose="020F0502020204030204" pitchFamily="34" charset="0"/>
                          <a:ea typeface="Calibri"/>
                          <a:cs typeface="Calibri"/>
                        </a:rPr>
                        <a:t>Twin-rotor Wankel</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extLst>
                  <a:ext uri="{0D108BD9-81ED-4DB2-BD59-A6C34878D82A}">
                    <a16:rowId xmlns:a16="http://schemas.microsoft.com/office/drawing/2014/main" val="10001"/>
                  </a:ext>
                </a:extLst>
              </a:tr>
              <a:tr h="500063">
                <a:tc>
                  <a:txBody>
                    <a:bodyPr/>
                    <a:lstStyle/>
                    <a:p>
                      <a:r>
                        <a:rPr sz="1500" b="0">
                          <a:solidFill>
                            <a:srgbClr val="000000"/>
                          </a:solidFill>
                          <a:latin typeface="Calibri" panose="020F0502020204030204" pitchFamily="34" charset="0"/>
                          <a:ea typeface="Calibri"/>
                          <a:cs typeface="Calibri"/>
                        </a:rPr>
                        <a:t>Continuous / peak shaft rating</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500" b="0">
                          <a:solidFill>
                            <a:srgbClr val="000000"/>
                          </a:solidFill>
                          <a:latin typeface="Calibri" panose="020F0502020204030204" pitchFamily="34" charset="0"/>
                          <a:ea typeface="Calibri"/>
                          <a:cs typeface="Calibri"/>
                        </a:rPr>
                        <a:t>70 / 100 hp (52.2 / 74.6 kW)</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500" b="0">
                          <a:solidFill>
                            <a:srgbClr val="000000"/>
                          </a:solidFill>
                          <a:latin typeface="Calibri" panose="020F0502020204030204" pitchFamily="34" charset="0"/>
                          <a:ea typeface="Calibri"/>
                          <a:cs typeface="Calibri"/>
                        </a:rPr>
                        <a:t>70 / 100 hp (52.2 / 74.6 kW)</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extLst>
                  <a:ext uri="{0D108BD9-81ED-4DB2-BD59-A6C34878D82A}">
                    <a16:rowId xmlns:a16="http://schemas.microsoft.com/office/drawing/2014/main" val="10002"/>
                  </a:ext>
                </a:extLst>
              </a:tr>
              <a:tr h="500063">
                <a:tc>
                  <a:txBody>
                    <a:bodyPr/>
                    <a:lstStyle/>
                    <a:p>
                      <a:r>
                        <a:rPr sz="1500" b="0">
                          <a:solidFill>
                            <a:srgbClr val="000000"/>
                          </a:solidFill>
                          <a:latin typeface="Calibri" panose="020F0502020204030204" pitchFamily="34" charset="0"/>
                          <a:ea typeface="Calibri"/>
                          <a:cs typeface="Calibri"/>
                        </a:rPr>
                        <a:t>Engine mass boundary</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500" b="0">
                          <a:solidFill>
                            <a:srgbClr val="000000"/>
                          </a:solidFill>
                          <a:latin typeface="Calibri" panose="020F0502020204030204" pitchFamily="34" charset="0"/>
                          <a:ea typeface="Calibri"/>
                          <a:cs typeface="Calibri"/>
                        </a:rPr>
                        <a:t>41.0 kg fixed engine allocation</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500" b="0">
                          <a:solidFill>
                            <a:srgbClr val="000000"/>
                          </a:solidFill>
                          <a:latin typeface="Calibri" panose="020F0502020204030204" pitchFamily="34" charset="0"/>
                          <a:ea typeface="Calibri"/>
                          <a:cs typeface="Calibri"/>
                        </a:rPr>
                        <a:t>44.5 kg system weight</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extLst>
                  <a:ext uri="{0D108BD9-81ED-4DB2-BD59-A6C34878D82A}">
                    <a16:rowId xmlns:a16="http://schemas.microsoft.com/office/drawing/2014/main" val="10003"/>
                  </a:ext>
                </a:extLst>
              </a:tr>
              <a:tr h="500063">
                <a:tc>
                  <a:txBody>
                    <a:bodyPr/>
                    <a:lstStyle/>
                    <a:p>
                      <a:r>
                        <a:rPr sz="1500" b="0">
                          <a:solidFill>
                            <a:srgbClr val="000000"/>
                          </a:solidFill>
                          <a:latin typeface="Calibri" panose="020F0502020204030204" pitchFamily="34" charset="0"/>
                          <a:ea typeface="Calibri"/>
                          <a:cs typeface="Calibri"/>
                        </a:rPr>
                        <a:t>Shaft / drive ceiling</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500" b="0">
                          <a:solidFill>
                            <a:srgbClr val="000000"/>
                          </a:solidFill>
                          <a:latin typeface="Calibri" panose="020F0502020204030204" pitchFamily="34" charset="0"/>
                          <a:ea typeface="Calibri"/>
                          <a:cs typeface="Calibri"/>
                        </a:rPr>
                        <a:t>34.0 kW input limit</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500" b="0">
                          <a:solidFill>
                            <a:srgbClr val="000000"/>
                          </a:solidFill>
                          <a:latin typeface="Calibri" panose="020F0502020204030204" pitchFamily="34" charset="0"/>
                          <a:ea typeface="Calibri"/>
                          <a:cs typeface="Calibri"/>
                        </a:rPr>
                        <a:t>Not a published RT600-XE rating</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extLst>
                  <a:ext uri="{0D108BD9-81ED-4DB2-BD59-A6C34878D82A}">
                    <a16:rowId xmlns:a16="http://schemas.microsoft.com/office/drawing/2014/main" val="10004"/>
                  </a:ext>
                </a:extLst>
              </a:tr>
              <a:tr h="500063">
                <a:tc>
                  <a:txBody>
                    <a:bodyPr/>
                    <a:lstStyle/>
                    <a:p>
                      <a:r>
                        <a:rPr sz="1500" b="0">
                          <a:solidFill>
                            <a:srgbClr val="000000"/>
                          </a:solidFill>
                          <a:latin typeface="Calibri" panose="020F0502020204030204" pitchFamily="34" charset="0"/>
                          <a:ea typeface="Calibri"/>
                          <a:cs typeface="Calibri"/>
                        </a:rPr>
                        <a:t>Fuel consumption model</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500" b="0">
                          <a:solidFill>
                            <a:srgbClr val="000000"/>
                          </a:solidFill>
                          <a:latin typeface="Calibri" panose="020F0502020204030204" pitchFamily="34" charset="0"/>
                          <a:ea typeface="Calibri"/>
                          <a:cs typeface="Calibri"/>
                        </a:rPr>
                        <a:t>0.56 lb/(hp h), fixed coefficient</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500" b="0">
                          <a:solidFill>
                            <a:srgbClr val="000000"/>
                          </a:solidFill>
                          <a:latin typeface="Calibri" panose="020F0502020204030204" pitchFamily="34" charset="0"/>
                          <a:ea typeface="Calibri"/>
                          <a:cs typeface="Calibri"/>
                        </a:rPr>
                        <a:t>0.56 lb/(hp h) stated; full map needed</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extLst>
                  <a:ext uri="{0D108BD9-81ED-4DB2-BD59-A6C34878D82A}">
                    <a16:rowId xmlns:a16="http://schemas.microsoft.com/office/drawing/2014/main" val="10005"/>
                  </a:ext>
                </a:extLst>
              </a:tr>
            </a:tbl>
          </a:graphicData>
        </a:graphic>
      </p:graphicFrame>
      <p:sp>
        <p:nvSpPr>
          <p:cNvPr id="5" name="Rectangle 4">
            <a:extLst>
              <a:ext uri="{FF2B5EF4-FFF2-40B4-BE49-F238E27FC236}">
                <a16:creationId xmlns:a16="http://schemas.microsoft.com/office/drawing/2014/main" id="{4D156A0B-A3D1-4DA7-98E7-C996ECD27D8B}"/>
              </a:ext>
            </a:extLst>
          </p:cNvPr>
          <p:cNvSpPr>
            <a:spLocks noGrp="1"/>
          </p:cNvSpPr>
          <p:nvPr/>
        </p:nvSpPr>
        <p:spPr>
          <a:xfrm>
            <a:off x="476250" y="4876800"/>
            <a:ext cx="11239500" cy="323850"/>
          </a:xfrm>
          <a:prstGeom prst="rect">
            <a:avLst/>
          </a:prstGeom>
          <a:noFill/>
          <a:ln w="0">
            <a:noFill/>
            <a:prstDash val="solid"/>
          </a:ln>
        </p:spPr>
        <p:txBody>
          <a:bodyPr lIns="0" tIns="0" rIns="0" bIns="0"/>
          <a:lstStyle>
            <a:defPPr>
              <a:defRPr sz="1725" b="1">
                <a:solidFill>
                  <a:srgbClr val="000000"/>
                </a:solidFill>
                <a:latin typeface="Calibri"/>
                <a:ea typeface="Calibri"/>
                <a:cs typeface="Calibri"/>
              </a:defRPr>
            </a:defPPr>
            <a:lvl1pPr>
              <a:defRPr sz="1725" b="1">
                <a:solidFill>
                  <a:srgbClr val="000000"/>
                </a:solidFill>
                <a:latin typeface="Calibri"/>
                <a:ea typeface="Calibri"/>
                <a:cs typeface="Calibri"/>
              </a:defRPr>
            </a:lvl1pPr>
            <a:lvl2pPr>
              <a:defRPr sz="1725" b="1">
                <a:solidFill>
                  <a:srgbClr val="000000"/>
                </a:solidFill>
                <a:latin typeface="Calibri"/>
                <a:ea typeface="Calibri"/>
                <a:cs typeface="Calibri"/>
              </a:defRPr>
            </a:lvl2pPr>
            <a:lvl3pPr>
              <a:defRPr sz="1725" b="1">
                <a:solidFill>
                  <a:srgbClr val="000000"/>
                </a:solidFill>
                <a:latin typeface="Calibri"/>
                <a:ea typeface="Calibri"/>
                <a:cs typeface="Calibri"/>
              </a:defRPr>
            </a:lvl3pPr>
            <a:lvl4pPr>
              <a:defRPr sz="1725" b="1">
                <a:solidFill>
                  <a:srgbClr val="000000"/>
                </a:solidFill>
                <a:latin typeface="Calibri"/>
                <a:ea typeface="Calibri"/>
                <a:cs typeface="Calibri"/>
              </a:defRPr>
            </a:lvl4pPr>
            <a:lvl5pPr>
              <a:defRPr sz="1725" b="1">
                <a:solidFill>
                  <a:srgbClr val="000000"/>
                </a:solidFill>
                <a:latin typeface="Calibri"/>
                <a:ea typeface="Calibri"/>
                <a:cs typeface="Calibri"/>
              </a:defRPr>
            </a:lvl5pPr>
            <a:lvl6pPr>
              <a:defRPr sz="1725" b="1">
                <a:solidFill>
                  <a:srgbClr val="000000"/>
                </a:solidFill>
                <a:latin typeface="Calibri"/>
                <a:ea typeface="Calibri"/>
                <a:cs typeface="Calibri"/>
              </a:defRPr>
            </a:lvl6pPr>
            <a:lvl7pPr>
              <a:defRPr sz="1725" b="1">
                <a:solidFill>
                  <a:srgbClr val="000000"/>
                </a:solidFill>
                <a:latin typeface="Calibri"/>
                <a:ea typeface="Calibri"/>
                <a:cs typeface="Calibri"/>
              </a:defRPr>
            </a:lvl7pPr>
            <a:lvl8pPr>
              <a:defRPr sz="1725" b="1">
                <a:solidFill>
                  <a:srgbClr val="000000"/>
                </a:solidFill>
                <a:latin typeface="Calibri"/>
                <a:ea typeface="Calibri"/>
                <a:cs typeface="Calibri"/>
              </a:defRPr>
            </a:lvl8pPr>
            <a:lvl9pPr>
              <a:defRPr sz="1725" b="1">
                <a:solidFill>
                  <a:srgbClr val="000000"/>
                </a:solidFill>
                <a:latin typeface="Calibri"/>
                <a:ea typeface="Calibri"/>
                <a:cs typeface="Calibri"/>
              </a:defRPr>
            </a:lvl9pPr>
          </a:lstStyle>
          <a:p>
            <a:pPr>
              <a:defRPr sz="1725" b="1">
                <a:solidFill>
                  <a:srgbClr val="000000"/>
                </a:solidFill>
                <a:latin typeface="Calibri"/>
                <a:ea typeface="Calibri"/>
                <a:cs typeface="Calibri"/>
              </a:defRPr>
            </a:pPr>
            <a:r>
              <a:rPr sz="1725" b="1">
                <a:solidFill>
                  <a:srgbClr val="000000"/>
                </a:solidFill>
                <a:latin typeface="Calibri" panose="020F0502020204030204" pitchFamily="34" charset="0"/>
                <a:ea typeface="Calibri"/>
                <a:cs typeface="Calibri"/>
              </a:rPr>
              <a:t>What “drive limit” means</a:t>
            </a:r>
          </a:p>
        </p:txBody>
      </p:sp>
      <p:sp>
        <p:nvSpPr>
          <p:cNvPr id="6" name="Rectangle 5">
            <a:extLst>
              <a:ext uri="{FF2B5EF4-FFF2-40B4-BE49-F238E27FC236}">
                <a16:creationId xmlns:a16="http://schemas.microsoft.com/office/drawing/2014/main" id="{B071134F-D168-45E2-B543-90325B7AB870}"/>
              </a:ext>
            </a:extLst>
          </p:cNvPr>
          <p:cNvSpPr>
            <a:spLocks noGrp="1"/>
          </p:cNvSpPr>
          <p:nvPr/>
        </p:nvSpPr>
        <p:spPr>
          <a:xfrm>
            <a:off x="476250" y="5267325"/>
            <a:ext cx="11239500" cy="552450"/>
          </a:xfrm>
          <a:prstGeom prst="rect">
            <a:avLst/>
          </a:prstGeom>
          <a:noFill/>
          <a:ln w="0">
            <a:noFill/>
            <a:prstDash val="solid"/>
          </a:ln>
        </p:spPr>
        <p:txBody>
          <a:bodyPr lIns="0" tIns="0" rIns="0" bIns="0"/>
          <a:lstStyle>
            <a:defPPr>
              <a:defRPr sz="1650" b="0">
                <a:solidFill>
                  <a:srgbClr val="000000"/>
                </a:solidFill>
                <a:latin typeface="Calibri"/>
                <a:ea typeface="Calibri"/>
                <a:cs typeface="Calibri"/>
              </a:defRPr>
            </a:defPPr>
            <a:lvl1pPr>
              <a:defRPr sz="1650" b="0">
                <a:solidFill>
                  <a:srgbClr val="000000"/>
                </a:solidFill>
                <a:latin typeface="Calibri"/>
                <a:ea typeface="Calibri"/>
                <a:cs typeface="Calibri"/>
              </a:defRPr>
            </a:lvl1pPr>
            <a:lvl2pPr>
              <a:defRPr sz="1650" b="0">
                <a:solidFill>
                  <a:srgbClr val="000000"/>
                </a:solidFill>
                <a:latin typeface="Calibri"/>
                <a:ea typeface="Calibri"/>
                <a:cs typeface="Calibri"/>
              </a:defRPr>
            </a:lvl2pPr>
            <a:lvl3pPr>
              <a:defRPr sz="1650" b="0">
                <a:solidFill>
                  <a:srgbClr val="000000"/>
                </a:solidFill>
                <a:latin typeface="Calibri"/>
                <a:ea typeface="Calibri"/>
                <a:cs typeface="Calibri"/>
              </a:defRPr>
            </a:lvl3pPr>
            <a:lvl4pPr>
              <a:defRPr sz="1650" b="0">
                <a:solidFill>
                  <a:srgbClr val="000000"/>
                </a:solidFill>
                <a:latin typeface="Calibri"/>
                <a:ea typeface="Calibri"/>
                <a:cs typeface="Calibri"/>
              </a:defRPr>
            </a:lvl4pPr>
            <a:lvl5pPr>
              <a:defRPr sz="1650" b="0">
                <a:solidFill>
                  <a:srgbClr val="000000"/>
                </a:solidFill>
                <a:latin typeface="Calibri"/>
                <a:ea typeface="Calibri"/>
                <a:cs typeface="Calibri"/>
              </a:defRPr>
            </a:lvl5pPr>
            <a:lvl6pPr>
              <a:defRPr sz="1650" b="0">
                <a:solidFill>
                  <a:srgbClr val="000000"/>
                </a:solidFill>
                <a:latin typeface="Calibri"/>
                <a:ea typeface="Calibri"/>
                <a:cs typeface="Calibri"/>
              </a:defRPr>
            </a:lvl6pPr>
            <a:lvl7pPr>
              <a:defRPr sz="1650" b="0">
                <a:solidFill>
                  <a:srgbClr val="000000"/>
                </a:solidFill>
                <a:latin typeface="Calibri"/>
                <a:ea typeface="Calibri"/>
                <a:cs typeface="Calibri"/>
              </a:defRPr>
            </a:lvl7pPr>
            <a:lvl8pPr>
              <a:defRPr sz="1650" b="0">
                <a:solidFill>
                  <a:srgbClr val="000000"/>
                </a:solidFill>
                <a:latin typeface="Calibri"/>
                <a:ea typeface="Calibri"/>
                <a:cs typeface="Calibri"/>
              </a:defRPr>
            </a:lvl8pPr>
            <a:lvl9pPr>
              <a:defRPr sz="1650" b="0">
                <a:solidFill>
                  <a:srgbClr val="000000"/>
                </a:solidFill>
                <a:latin typeface="Calibri"/>
                <a:ea typeface="Calibri"/>
                <a:cs typeface="Calibri"/>
              </a:defRPr>
            </a:lvl9pPr>
          </a:lstStyle>
          <a:p>
            <a:pPr>
              <a:defRPr sz="1650" b="0">
                <a:solidFill>
                  <a:srgbClr val="000000"/>
                </a:solidFill>
                <a:latin typeface="Calibri"/>
                <a:ea typeface="Calibri"/>
                <a:cs typeface="Calibri"/>
              </a:defRPr>
            </a:pPr>
            <a:r>
              <a:rPr sz="1650" b="0">
                <a:solidFill>
                  <a:srgbClr val="000000"/>
                </a:solidFill>
                <a:latin typeface="Calibri" panose="020F0502020204030204" pitchFamily="34" charset="0"/>
                <a:ea typeface="Calibri"/>
                <a:cs typeface="Calibri"/>
              </a:rPr>
              <a:t>The input caps engine-shaft and transmission power at 34 kW. The propeller receives less after modeled losses and accessory demand. [S1]</a:t>
            </a:r>
          </a:p>
        </p:txBody>
      </p:sp>
      <p:sp>
        <p:nvSpPr>
          <p:cNvPr id="7" name="Rectangle 6">
            <a:extLst>
              <a:ext uri="{FF2B5EF4-FFF2-40B4-BE49-F238E27FC236}">
                <a16:creationId xmlns:a16="http://schemas.microsoft.com/office/drawing/2014/main" id="{F7054AE6-4CBA-4940-A6CC-921A4BE2F764}"/>
              </a:ext>
            </a:extLst>
          </p:cNvPr>
          <p:cNvSpPr>
            <a:spLocks noGrp="1"/>
          </p:cNvSpPr>
          <p:nvPr/>
        </p:nvSpPr>
        <p:spPr>
          <a:xfrm>
            <a:off x="476250" y="5953125"/>
            <a:ext cx="11239500" cy="323850"/>
          </a:xfrm>
          <a:prstGeom prst="rect">
            <a:avLst/>
          </a:prstGeom>
          <a:noFill/>
          <a:ln w="0">
            <a:noFill/>
            <a:prstDash val="solid"/>
          </a:ln>
        </p:spPr>
        <p:txBody>
          <a:bodyPr lIns="0" tIns="0" rIns="0" bIns="0"/>
          <a:lstStyle>
            <a:defPPr>
              <a:defRPr sz="1200" b="0">
                <a:solidFill>
                  <a:srgbClr val="444444"/>
                </a:solidFill>
                <a:latin typeface="Calibri"/>
                <a:ea typeface="Calibri"/>
                <a:cs typeface="Calibri"/>
              </a:defRPr>
            </a:defPPr>
            <a:lvl1pPr>
              <a:defRPr sz="1200" b="0">
                <a:solidFill>
                  <a:srgbClr val="444444"/>
                </a:solidFill>
                <a:latin typeface="Calibri"/>
                <a:ea typeface="Calibri"/>
                <a:cs typeface="Calibri"/>
              </a:defRPr>
            </a:lvl1pPr>
            <a:lvl2pPr>
              <a:defRPr sz="1200" b="0">
                <a:solidFill>
                  <a:srgbClr val="444444"/>
                </a:solidFill>
                <a:latin typeface="Calibri"/>
                <a:ea typeface="Calibri"/>
                <a:cs typeface="Calibri"/>
              </a:defRPr>
            </a:lvl2pPr>
            <a:lvl3pPr>
              <a:defRPr sz="1200" b="0">
                <a:solidFill>
                  <a:srgbClr val="444444"/>
                </a:solidFill>
                <a:latin typeface="Calibri"/>
                <a:ea typeface="Calibri"/>
                <a:cs typeface="Calibri"/>
              </a:defRPr>
            </a:lvl3pPr>
            <a:lvl4pPr>
              <a:defRPr sz="1200" b="0">
                <a:solidFill>
                  <a:srgbClr val="444444"/>
                </a:solidFill>
                <a:latin typeface="Calibri"/>
                <a:ea typeface="Calibri"/>
                <a:cs typeface="Calibri"/>
              </a:defRPr>
            </a:lvl4pPr>
            <a:lvl5pPr>
              <a:defRPr sz="1200" b="0">
                <a:solidFill>
                  <a:srgbClr val="444444"/>
                </a:solidFill>
                <a:latin typeface="Calibri"/>
                <a:ea typeface="Calibri"/>
                <a:cs typeface="Calibri"/>
              </a:defRPr>
            </a:lvl5pPr>
            <a:lvl6pPr>
              <a:defRPr sz="1200" b="0">
                <a:solidFill>
                  <a:srgbClr val="444444"/>
                </a:solidFill>
                <a:latin typeface="Calibri"/>
                <a:ea typeface="Calibri"/>
                <a:cs typeface="Calibri"/>
              </a:defRPr>
            </a:lvl6pPr>
            <a:lvl7pPr>
              <a:defRPr sz="1200" b="0">
                <a:solidFill>
                  <a:srgbClr val="444444"/>
                </a:solidFill>
                <a:latin typeface="Calibri"/>
                <a:ea typeface="Calibri"/>
                <a:cs typeface="Calibri"/>
              </a:defRPr>
            </a:lvl7pPr>
            <a:lvl8pPr>
              <a:defRPr sz="1200" b="0">
                <a:solidFill>
                  <a:srgbClr val="444444"/>
                </a:solidFill>
                <a:latin typeface="Calibri"/>
                <a:ea typeface="Calibri"/>
                <a:cs typeface="Calibri"/>
              </a:defRPr>
            </a:lvl8pPr>
            <a:lvl9pPr>
              <a:defRPr sz="1200" b="0">
                <a:solidFill>
                  <a:srgbClr val="444444"/>
                </a:solidFill>
                <a:latin typeface="Calibri"/>
                <a:ea typeface="Calibri"/>
                <a:cs typeface="Calibri"/>
              </a:defRPr>
            </a:lvl9pPr>
          </a:lstStyle>
          <a:p>
            <a:pPr>
              <a:defRPr sz="1200" b="0">
                <a:solidFill>
                  <a:srgbClr val="444444"/>
                </a:solidFill>
                <a:latin typeface="Calibri"/>
                <a:ea typeface="Calibri"/>
                <a:cs typeface="Calibri"/>
              </a:defRPr>
            </a:pPr>
            <a:r>
              <a:rPr sz="1200" b="0">
                <a:solidFill>
                  <a:srgbClr val="444444"/>
                </a:solidFill>
                <a:latin typeface="Calibri" panose="020F0502020204030204" pitchFamily="34" charset="0"/>
                <a:ea typeface="Calibri"/>
                <a:cs typeface="Calibri"/>
              </a:rPr>
              <a:t>Different installed hardware explains different ratings, but this is not a controlled engine-technology comparison. A common mass / fuel / altitude policy is needed for that claim.</a:t>
            </a:r>
          </a:p>
        </p:txBody>
      </p:sp>
      <p:sp>
        <p:nvSpPr>
          <p:cNvPr id="8" name="Rectangle 7">
            <a:extLst>
              <a:ext uri="{FF2B5EF4-FFF2-40B4-BE49-F238E27FC236}">
                <a16:creationId xmlns:a16="http://schemas.microsoft.com/office/drawing/2014/main" id="{20710DEA-4050-47ED-9F82-F5FC43487DDD}"/>
              </a:ext>
            </a:extLst>
          </p:cNvPr>
          <p:cNvSpPr>
            <a:spLocks noGrp="1"/>
          </p:cNvSpPr>
          <p:nvPr/>
        </p:nvSpPr>
        <p:spPr>
          <a:xfrm>
            <a:off x="476250" y="6400800"/>
            <a:ext cx="10810875" cy="381000"/>
          </a:xfrm>
          <a:prstGeom prst="rect">
            <a:avLst/>
          </a:prstGeom>
          <a:noFill/>
          <a:ln w="0">
            <a:noFill/>
            <a:prstDash val="solid"/>
          </a:ln>
        </p:spPr>
        <p:txBody>
          <a:bodyPr lIns="0" tIns="0" rIns="0" bIns="0"/>
          <a:lstStyle>
            <a:defPPr>
              <a:defRPr sz="1125" b="0">
                <a:solidFill>
                  <a:srgbClr val="444444"/>
                </a:solidFill>
                <a:latin typeface="Calibri"/>
                <a:ea typeface="Calibri"/>
                <a:cs typeface="Calibri"/>
              </a:defRPr>
            </a:defPPr>
            <a:lvl1pPr>
              <a:defRPr sz="1125" b="0">
                <a:solidFill>
                  <a:srgbClr val="444444"/>
                </a:solidFill>
                <a:latin typeface="Calibri"/>
                <a:ea typeface="Calibri"/>
                <a:cs typeface="Calibri"/>
              </a:defRPr>
            </a:lvl1pPr>
            <a:lvl2pPr>
              <a:defRPr sz="1125" b="0">
                <a:solidFill>
                  <a:srgbClr val="444444"/>
                </a:solidFill>
                <a:latin typeface="Calibri"/>
                <a:ea typeface="Calibri"/>
                <a:cs typeface="Calibri"/>
              </a:defRPr>
            </a:lvl2pPr>
            <a:lvl3pPr>
              <a:defRPr sz="1125" b="0">
                <a:solidFill>
                  <a:srgbClr val="444444"/>
                </a:solidFill>
                <a:latin typeface="Calibri"/>
                <a:ea typeface="Calibri"/>
                <a:cs typeface="Calibri"/>
              </a:defRPr>
            </a:lvl3pPr>
            <a:lvl4pPr>
              <a:defRPr sz="1125" b="0">
                <a:solidFill>
                  <a:srgbClr val="444444"/>
                </a:solidFill>
                <a:latin typeface="Calibri"/>
                <a:ea typeface="Calibri"/>
                <a:cs typeface="Calibri"/>
              </a:defRPr>
            </a:lvl4pPr>
            <a:lvl5pPr>
              <a:defRPr sz="1125" b="0">
                <a:solidFill>
                  <a:srgbClr val="444444"/>
                </a:solidFill>
                <a:latin typeface="Calibri"/>
                <a:ea typeface="Calibri"/>
                <a:cs typeface="Calibri"/>
              </a:defRPr>
            </a:lvl5pPr>
            <a:lvl6pPr>
              <a:defRPr sz="1125" b="0">
                <a:solidFill>
                  <a:srgbClr val="444444"/>
                </a:solidFill>
                <a:latin typeface="Calibri"/>
                <a:ea typeface="Calibri"/>
                <a:cs typeface="Calibri"/>
              </a:defRPr>
            </a:lvl6pPr>
            <a:lvl7pPr>
              <a:defRPr sz="1125" b="0">
                <a:solidFill>
                  <a:srgbClr val="444444"/>
                </a:solidFill>
                <a:latin typeface="Calibri"/>
                <a:ea typeface="Calibri"/>
                <a:cs typeface="Calibri"/>
              </a:defRPr>
            </a:lvl7pPr>
            <a:lvl8pPr>
              <a:defRPr sz="1125" b="0">
                <a:solidFill>
                  <a:srgbClr val="444444"/>
                </a:solidFill>
                <a:latin typeface="Calibri"/>
                <a:ea typeface="Calibri"/>
                <a:cs typeface="Calibri"/>
              </a:defRPr>
            </a:lvl8pPr>
            <a:lvl9pPr>
              <a:defRPr sz="1125" b="0">
                <a:solidFill>
                  <a:srgbClr val="444444"/>
                </a:solidFill>
                <a:latin typeface="Calibri"/>
                <a:ea typeface="Calibri"/>
                <a:cs typeface="Calibri"/>
              </a:defRPr>
            </a:lvl9pPr>
          </a:lstStyle>
          <a:p>
            <a:pPr>
              <a:defRPr sz="1125" b="0">
                <a:solidFill>
                  <a:srgbClr val="444444"/>
                </a:solidFill>
                <a:latin typeface="Calibri"/>
                <a:ea typeface="Calibri"/>
                <a:cs typeface="Calibri"/>
              </a:defRPr>
            </a:pPr>
            <a:r>
              <a:rPr sz="1125" b="0">
                <a:solidFill>
                  <a:srgbClr val="444444"/>
                </a:solidFill>
                <a:latin typeface="Calibri" panose="020F0502020204030204" pitchFamily="34" charset="0"/>
                <a:ea typeface="Calibri"/>
                <a:cs typeface="Calibri"/>
              </a:rPr>
              <a:t>[R7] Rotron, RT600-XE specifications (accessed 27 Oct 2026). [S1] Final L+C input, EngineGroup 5 / RecipModel / Propulsion 5.</a:t>
            </a:r>
          </a:p>
        </p:txBody>
      </p:sp>
      <p:sp>
        <p:nvSpPr>
          <p:cNvPr id="10" name="TextBox 9">
            <a:extLst>
              <a:ext uri="{FF2B5EF4-FFF2-40B4-BE49-F238E27FC236}">
                <a16:creationId xmlns:a16="http://schemas.microsoft.com/office/drawing/2014/main" id="{655AEB4F-8DA3-C2A2-53B3-61449AA4BBF1}"/>
              </a:ext>
            </a:extLst>
          </p:cNvPr>
          <p:cNvSpPr txBox="1"/>
          <p:nvPr/>
        </p:nvSpPr>
        <p:spPr>
          <a:xfrm>
            <a:off x="11671300" y="6527800"/>
            <a:ext cx="355600" cy="153888"/>
          </a:xfrm>
          <a:prstGeom prst="rect">
            <a:avLst/>
          </a:prstGeom>
          <a:noFill/>
        </p:spPr>
        <p:txBody>
          <a:bodyPr vert="horz" lIns="0" tIns="0" rIns="0" bIns="0" rtlCol="0">
            <a:spAutoFit/>
          </a:bodyPr>
          <a:lstStyle/>
          <a:p>
            <a:r>
              <a:rPr lang="en-US" sz="1000">
                <a:solidFill>
                  <a:srgbClr val="000000"/>
                </a:solidFill>
                <a:latin typeface="Calibri" panose="020F0502020204030204" pitchFamily="34" charset="0"/>
              </a:rPr>
              <a:t>9</a:t>
            </a:r>
          </a:p>
        </p:txBody>
      </p:sp>
    </p:spTree>
    <p:extLst>
      <p:ext uri="{BB962C8B-B14F-4D97-AF65-F5344CB8AC3E}">
        <p14:creationId xmlns:p14="http://schemas.microsoft.com/office/powerpoint/2010/main" val="42836388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6CA17-1D44-2AC4-A2BC-0FCE9852E37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1159C9F-6948-F9A7-C764-7EEC09D188B6}"/>
              </a:ext>
            </a:extLst>
          </p:cNvPr>
          <p:cNvSpPr>
            <a:spLocks noGrp="1"/>
          </p:cNvSpPr>
          <p:nvPr/>
        </p:nvSpPr>
        <p:spPr>
          <a:xfrm>
            <a:off x="838200" y="361950"/>
            <a:ext cx="10896600" cy="495300"/>
          </a:xfrm>
          <a:prstGeom prst="rect">
            <a:avLst/>
          </a:prstGeom>
          <a:noFill/>
          <a:ln w="0">
            <a:noFill/>
            <a:prstDash val="solid"/>
          </a:ln>
        </p:spPr>
        <p:txBody>
          <a:bodyPr lIns="0" tIns="0" rIns="0" bIns="0"/>
          <a:lstStyle>
            <a:defPPr>
              <a:defRPr sz="2400" b="1">
                <a:solidFill>
                  <a:srgbClr val="000000"/>
                </a:solidFill>
                <a:latin typeface="Calibri"/>
                <a:ea typeface="Calibri"/>
                <a:cs typeface="Calibri"/>
              </a:defRPr>
            </a:defPPr>
            <a:lvl1pPr>
              <a:defRPr sz="2400" b="1">
                <a:solidFill>
                  <a:srgbClr val="000000"/>
                </a:solidFill>
                <a:latin typeface="Calibri"/>
                <a:ea typeface="Calibri"/>
                <a:cs typeface="Calibri"/>
              </a:defRPr>
            </a:lvl1pPr>
            <a:lvl2pPr>
              <a:defRPr sz="2400" b="1">
                <a:solidFill>
                  <a:srgbClr val="000000"/>
                </a:solidFill>
                <a:latin typeface="Calibri"/>
                <a:ea typeface="Calibri"/>
                <a:cs typeface="Calibri"/>
              </a:defRPr>
            </a:lvl2pPr>
            <a:lvl3pPr>
              <a:defRPr sz="2400" b="1">
                <a:solidFill>
                  <a:srgbClr val="000000"/>
                </a:solidFill>
                <a:latin typeface="Calibri"/>
                <a:ea typeface="Calibri"/>
                <a:cs typeface="Calibri"/>
              </a:defRPr>
            </a:lvl3pPr>
            <a:lvl4pPr>
              <a:defRPr sz="2400" b="1">
                <a:solidFill>
                  <a:srgbClr val="000000"/>
                </a:solidFill>
                <a:latin typeface="Calibri"/>
                <a:ea typeface="Calibri"/>
                <a:cs typeface="Calibri"/>
              </a:defRPr>
            </a:lvl4pPr>
            <a:lvl5pPr>
              <a:defRPr sz="2400" b="1">
                <a:solidFill>
                  <a:srgbClr val="000000"/>
                </a:solidFill>
                <a:latin typeface="Calibri"/>
                <a:ea typeface="Calibri"/>
                <a:cs typeface="Calibri"/>
              </a:defRPr>
            </a:lvl5pPr>
            <a:lvl6pPr>
              <a:defRPr sz="2400" b="1">
                <a:solidFill>
                  <a:srgbClr val="000000"/>
                </a:solidFill>
                <a:latin typeface="Calibri"/>
                <a:ea typeface="Calibri"/>
                <a:cs typeface="Calibri"/>
              </a:defRPr>
            </a:lvl6pPr>
            <a:lvl7pPr>
              <a:defRPr sz="2400" b="1">
                <a:solidFill>
                  <a:srgbClr val="000000"/>
                </a:solidFill>
                <a:latin typeface="Calibri"/>
                <a:ea typeface="Calibri"/>
                <a:cs typeface="Calibri"/>
              </a:defRPr>
            </a:lvl7pPr>
            <a:lvl8pPr>
              <a:defRPr sz="2400" b="1">
                <a:solidFill>
                  <a:srgbClr val="000000"/>
                </a:solidFill>
                <a:latin typeface="Calibri"/>
                <a:ea typeface="Calibri"/>
                <a:cs typeface="Calibri"/>
              </a:defRPr>
            </a:lvl8pPr>
            <a:lvl9pPr>
              <a:defRPr sz="2400" b="1">
                <a:solidFill>
                  <a:srgbClr val="000000"/>
                </a:solidFill>
                <a:latin typeface="Calibri"/>
                <a:ea typeface="Calibri"/>
                <a:cs typeface="Calibri"/>
              </a:defRPr>
            </a:lvl9pPr>
          </a:lstStyle>
          <a:p>
            <a:pPr>
              <a:defRPr sz="2400" b="1">
                <a:solidFill>
                  <a:srgbClr val="000000"/>
                </a:solidFill>
                <a:latin typeface="Calibri"/>
                <a:ea typeface="Calibri"/>
                <a:cs typeface="Calibri"/>
              </a:defRPr>
            </a:pPr>
            <a:r>
              <a:rPr sz="2400" b="1">
                <a:solidFill>
                  <a:srgbClr val="000000"/>
                </a:solidFill>
                <a:latin typeface="Calibri" panose="020F0502020204030204" pitchFamily="34" charset="0"/>
                <a:ea typeface="Calibri"/>
                <a:cs typeface="Calibri"/>
              </a:rPr>
              <a:t>Engine Assumptions: Piston Tiltrotor</a:t>
            </a:r>
          </a:p>
        </p:txBody>
      </p:sp>
      <p:sp>
        <p:nvSpPr>
          <p:cNvPr id="3" name="Rectangle 2">
            <a:extLst>
              <a:ext uri="{FF2B5EF4-FFF2-40B4-BE49-F238E27FC236}">
                <a16:creationId xmlns:a16="http://schemas.microsoft.com/office/drawing/2014/main" id="{7552B815-A25C-777D-56E1-B2B504F927D0}"/>
              </a:ext>
            </a:extLst>
          </p:cNvPr>
          <p:cNvSpPr>
            <a:spLocks noGrp="1"/>
          </p:cNvSpPr>
          <p:nvPr/>
        </p:nvSpPr>
        <p:spPr>
          <a:xfrm>
            <a:off x="476250" y="895350"/>
            <a:ext cx="11239500" cy="523875"/>
          </a:xfrm>
          <a:prstGeom prst="rect">
            <a:avLst/>
          </a:prstGeom>
          <a:noFill/>
          <a:ln w="0">
            <a:noFill/>
            <a:prstDash val="solid"/>
          </a:ln>
        </p:spPr>
        <p:txBody>
          <a:bodyPr lIns="0" tIns="0" rIns="0" bIns="0"/>
          <a:lstStyle>
            <a:defPPr>
              <a:defRPr sz="1575" b="0">
                <a:solidFill>
                  <a:srgbClr val="444444"/>
                </a:solidFill>
                <a:latin typeface="Calibri"/>
                <a:ea typeface="Calibri"/>
                <a:cs typeface="Calibri"/>
              </a:defRPr>
            </a:defPPr>
            <a:lvl1pPr>
              <a:defRPr sz="1575" b="0">
                <a:solidFill>
                  <a:srgbClr val="444444"/>
                </a:solidFill>
                <a:latin typeface="Calibri"/>
                <a:ea typeface="Calibri"/>
                <a:cs typeface="Calibri"/>
              </a:defRPr>
            </a:lvl1pPr>
            <a:lvl2pPr>
              <a:defRPr sz="1575" b="0">
                <a:solidFill>
                  <a:srgbClr val="444444"/>
                </a:solidFill>
                <a:latin typeface="Calibri"/>
                <a:ea typeface="Calibri"/>
                <a:cs typeface="Calibri"/>
              </a:defRPr>
            </a:lvl2pPr>
            <a:lvl3pPr>
              <a:defRPr sz="1575" b="0">
                <a:solidFill>
                  <a:srgbClr val="444444"/>
                </a:solidFill>
                <a:latin typeface="Calibri"/>
                <a:ea typeface="Calibri"/>
                <a:cs typeface="Calibri"/>
              </a:defRPr>
            </a:lvl3pPr>
            <a:lvl4pPr>
              <a:defRPr sz="1575" b="0">
                <a:solidFill>
                  <a:srgbClr val="444444"/>
                </a:solidFill>
                <a:latin typeface="Calibri"/>
                <a:ea typeface="Calibri"/>
                <a:cs typeface="Calibri"/>
              </a:defRPr>
            </a:lvl4pPr>
            <a:lvl5pPr>
              <a:defRPr sz="1575" b="0">
                <a:solidFill>
                  <a:srgbClr val="444444"/>
                </a:solidFill>
                <a:latin typeface="Calibri"/>
                <a:ea typeface="Calibri"/>
                <a:cs typeface="Calibri"/>
              </a:defRPr>
            </a:lvl5pPr>
            <a:lvl6pPr>
              <a:defRPr sz="1575" b="0">
                <a:solidFill>
                  <a:srgbClr val="444444"/>
                </a:solidFill>
                <a:latin typeface="Calibri"/>
                <a:ea typeface="Calibri"/>
                <a:cs typeface="Calibri"/>
              </a:defRPr>
            </a:lvl6pPr>
            <a:lvl7pPr>
              <a:defRPr sz="1575" b="0">
                <a:solidFill>
                  <a:srgbClr val="444444"/>
                </a:solidFill>
                <a:latin typeface="Calibri"/>
                <a:ea typeface="Calibri"/>
                <a:cs typeface="Calibri"/>
              </a:defRPr>
            </a:lvl7pPr>
            <a:lvl8pPr>
              <a:defRPr sz="1575" b="0">
                <a:solidFill>
                  <a:srgbClr val="444444"/>
                </a:solidFill>
                <a:latin typeface="Calibri"/>
                <a:ea typeface="Calibri"/>
                <a:cs typeface="Calibri"/>
              </a:defRPr>
            </a:lvl8pPr>
            <a:lvl9pPr>
              <a:defRPr sz="1575" b="0">
                <a:solidFill>
                  <a:srgbClr val="444444"/>
                </a:solidFill>
                <a:latin typeface="Calibri"/>
                <a:ea typeface="Calibri"/>
                <a:cs typeface="Calibri"/>
              </a:defRPr>
            </a:lvl9pPr>
          </a:lstStyle>
          <a:p>
            <a:pPr>
              <a:defRPr sz="1575" b="0">
                <a:solidFill>
                  <a:srgbClr val="444444"/>
                </a:solidFill>
                <a:latin typeface="Calibri"/>
                <a:ea typeface="Calibri"/>
                <a:cs typeface="Calibri"/>
              </a:defRPr>
            </a:pPr>
            <a:r>
              <a:rPr sz="1575" b="0">
                <a:solidFill>
                  <a:srgbClr val="444444"/>
                </a:solidFill>
                <a:latin typeface="Calibri" panose="020F0502020204030204" pitchFamily="34" charset="0"/>
                <a:ea typeface="Calibri"/>
                <a:cs typeface="Calibri"/>
              </a:rPr>
              <a:t>The 46 kg engine allocation is heavier than the catalog engine, but that only provides a mass allowance.</a:t>
            </a:r>
          </a:p>
        </p:txBody>
      </p:sp>
      <p:sp>
        <p:nvSpPr>
          <p:cNvPr id="4" name="Rectangle 3">
            <a:extLst>
              <a:ext uri="{FF2B5EF4-FFF2-40B4-BE49-F238E27FC236}">
                <a16:creationId xmlns:a16="http://schemas.microsoft.com/office/drawing/2014/main" id="{32701644-CB5C-62E0-AB82-68CD295F9B20}"/>
              </a:ext>
            </a:extLst>
          </p:cNvPr>
          <p:cNvSpPr>
            <a:spLocks noGrp="1"/>
          </p:cNvSpPr>
          <p:nvPr/>
        </p:nvSpPr>
        <p:spPr>
          <a:xfrm>
            <a:off x="11382375" y="6524625"/>
            <a:ext cx="333375" cy="219075"/>
          </a:xfrm>
          <a:prstGeom prst="rect">
            <a:avLst/>
          </a:prstGeom>
          <a:noFill/>
          <a:ln w="0">
            <a:noFill/>
            <a:prstDash val="solid"/>
          </a:ln>
        </p:spPr>
        <p:txBody>
          <a:bodyPr lIns="0" tIns="0" rIns="0" bIns="0"/>
          <a:lstStyle>
            <a:defPPr>
              <a:defRPr sz="1125" b="0">
                <a:solidFill>
                  <a:srgbClr val="444444"/>
                </a:solidFill>
                <a:latin typeface="Calibri"/>
                <a:ea typeface="Calibri"/>
                <a:cs typeface="Calibri"/>
              </a:defRPr>
            </a:defPPr>
            <a:lvl1pPr>
              <a:defRPr sz="1125" b="0">
                <a:solidFill>
                  <a:srgbClr val="444444"/>
                </a:solidFill>
                <a:latin typeface="Calibri"/>
                <a:ea typeface="Calibri"/>
                <a:cs typeface="Calibri"/>
              </a:defRPr>
            </a:lvl1pPr>
            <a:lvl2pPr>
              <a:defRPr sz="1125" b="0">
                <a:solidFill>
                  <a:srgbClr val="444444"/>
                </a:solidFill>
                <a:latin typeface="Calibri"/>
                <a:ea typeface="Calibri"/>
                <a:cs typeface="Calibri"/>
              </a:defRPr>
            </a:lvl2pPr>
            <a:lvl3pPr>
              <a:defRPr sz="1125" b="0">
                <a:solidFill>
                  <a:srgbClr val="444444"/>
                </a:solidFill>
                <a:latin typeface="Calibri"/>
                <a:ea typeface="Calibri"/>
                <a:cs typeface="Calibri"/>
              </a:defRPr>
            </a:lvl3pPr>
            <a:lvl4pPr>
              <a:defRPr sz="1125" b="0">
                <a:solidFill>
                  <a:srgbClr val="444444"/>
                </a:solidFill>
                <a:latin typeface="Calibri"/>
                <a:ea typeface="Calibri"/>
                <a:cs typeface="Calibri"/>
              </a:defRPr>
            </a:lvl4pPr>
            <a:lvl5pPr>
              <a:defRPr sz="1125" b="0">
                <a:solidFill>
                  <a:srgbClr val="444444"/>
                </a:solidFill>
                <a:latin typeface="Calibri"/>
                <a:ea typeface="Calibri"/>
                <a:cs typeface="Calibri"/>
              </a:defRPr>
            </a:lvl5pPr>
            <a:lvl6pPr>
              <a:defRPr sz="1125" b="0">
                <a:solidFill>
                  <a:srgbClr val="444444"/>
                </a:solidFill>
                <a:latin typeface="Calibri"/>
                <a:ea typeface="Calibri"/>
                <a:cs typeface="Calibri"/>
              </a:defRPr>
            </a:lvl6pPr>
            <a:lvl7pPr>
              <a:defRPr sz="1125" b="0">
                <a:solidFill>
                  <a:srgbClr val="444444"/>
                </a:solidFill>
                <a:latin typeface="Calibri"/>
                <a:ea typeface="Calibri"/>
                <a:cs typeface="Calibri"/>
              </a:defRPr>
            </a:lvl7pPr>
            <a:lvl8pPr>
              <a:defRPr sz="1125" b="0">
                <a:solidFill>
                  <a:srgbClr val="444444"/>
                </a:solidFill>
                <a:latin typeface="Calibri"/>
                <a:ea typeface="Calibri"/>
                <a:cs typeface="Calibri"/>
              </a:defRPr>
            </a:lvl8pPr>
            <a:lvl9pPr>
              <a:defRPr sz="1125" b="0">
                <a:solidFill>
                  <a:srgbClr val="444444"/>
                </a:solidFill>
                <a:latin typeface="Calibri"/>
                <a:ea typeface="Calibri"/>
                <a:cs typeface="Calibri"/>
              </a:defRPr>
            </a:lvl9pPr>
          </a:lstStyle>
          <a:p>
            <a:pPr>
              <a:defRPr sz="1125" b="0">
                <a:solidFill>
                  <a:srgbClr val="444444"/>
                </a:solidFill>
                <a:latin typeface="Calibri"/>
                <a:ea typeface="Calibri"/>
                <a:cs typeface="Calibri"/>
              </a:defRPr>
            </a:pPr>
            <a:endParaRPr sz="1125" b="0">
              <a:solidFill>
                <a:srgbClr val="444444"/>
              </a:solidFill>
              <a:latin typeface="Calibri" panose="020F0502020204030204" pitchFamily="34" charset="0"/>
              <a:ea typeface="Calibri"/>
              <a:cs typeface="Calibri"/>
            </a:endParaRPr>
          </a:p>
        </p:txBody>
      </p:sp>
      <p:graphicFrame>
        <p:nvGraphicFramePr>
          <p:cNvPr id="15" name="Table 14">
            <a:extLst>
              <a:ext uri="{FF2B5EF4-FFF2-40B4-BE49-F238E27FC236}">
                <a16:creationId xmlns:a16="http://schemas.microsoft.com/office/drawing/2014/main" id="{C1725F03-AF18-4254-24C1-39F4E7AEF557}"/>
              </a:ext>
            </a:extLst>
          </p:cNvPr>
          <p:cNvGraphicFramePr/>
          <p:nvPr>
            <p:extLst>
              <p:ext uri="{D42A27DB-BD31-4B8C-83A1-F6EECF244321}">
                <p14:modId xmlns:p14="http://schemas.microsoft.com/office/powerpoint/2010/main" val="3159093830"/>
              </p:ext>
            </p:extLst>
          </p:nvPr>
        </p:nvGraphicFramePr>
        <p:xfrm>
          <a:off x="476250" y="1666875"/>
          <a:ext cx="11239500" cy="2476500"/>
        </p:xfrm>
        <a:graphic>
          <a:graphicData uri="http://schemas.openxmlformats.org/drawingml/2006/table">
            <a:tbl>
              <a:tblPr/>
              <a:tblGrid>
                <a:gridCol w="3810000">
                  <a:extLst>
                    <a:ext uri="{9D8B030D-6E8A-4147-A177-3AD203B41FA5}">
                      <a16:colId xmlns:a16="http://schemas.microsoft.com/office/drawing/2014/main" val="20000"/>
                    </a:ext>
                  </a:extLst>
                </a:gridCol>
                <a:gridCol w="3143250">
                  <a:extLst>
                    <a:ext uri="{9D8B030D-6E8A-4147-A177-3AD203B41FA5}">
                      <a16:colId xmlns:a16="http://schemas.microsoft.com/office/drawing/2014/main" val="20001"/>
                    </a:ext>
                  </a:extLst>
                </a:gridCol>
                <a:gridCol w="2095500">
                  <a:extLst>
                    <a:ext uri="{9D8B030D-6E8A-4147-A177-3AD203B41FA5}">
                      <a16:colId xmlns:a16="http://schemas.microsoft.com/office/drawing/2014/main" val="20002"/>
                    </a:ext>
                  </a:extLst>
                </a:gridCol>
                <a:gridCol w="2190750">
                  <a:extLst>
                    <a:ext uri="{9D8B030D-6E8A-4147-A177-3AD203B41FA5}">
                      <a16:colId xmlns:a16="http://schemas.microsoft.com/office/drawing/2014/main" val="20003"/>
                    </a:ext>
                  </a:extLst>
                </a:gridCol>
              </a:tblGrid>
              <a:tr h="495300">
                <a:tc>
                  <a:txBody>
                    <a:bodyPr/>
                    <a:lstStyle/>
                    <a:p>
                      <a:r>
                        <a:rPr sz="1500" b="1">
                          <a:solidFill>
                            <a:srgbClr val="000000"/>
                          </a:solidFill>
                          <a:latin typeface="Calibri" panose="020F0502020204030204" pitchFamily="34" charset="0"/>
                          <a:ea typeface="Calibri"/>
                          <a:cs typeface="Calibri"/>
                        </a:rPr>
                        <a:t>Boundary [R6, S1]</a:t>
                      </a:r>
                    </a:p>
                  </a:txBody>
                  <a:tcPr>
                    <a:lnL w="9525">
                      <a:solidFill>
                        <a:srgbClr val="BBBBBB"/>
                      </a:solidFill>
                    </a:lnL>
                    <a:lnR w="9525">
                      <a:solidFill>
                        <a:srgbClr val="BBBBBB"/>
                      </a:solidFill>
                    </a:lnR>
                    <a:lnT w="9525">
                      <a:solidFill>
                        <a:srgbClr val="BBBBBB"/>
                      </a:solidFill>
                    </a:lnT>
                    <a:lnB w="9525">
                      <a:solidFill>
                        <a:srgbClr val="BBBBBB"/>
                      </a:solidFill>
                    </a:lnB>
                    <a:solidFill>
                      <a:srgbClr val="D9D9D9"/>
                    </a:solidFill>
                  </a:tcPr>
                </a:tc>
                <a:tc>
                  <a:txBody>
                    <a:bodyPr/>
                    <a:lstStyle/>
                    <a:p>
                      <a:r>
                        <a:rPr sz="1500" b="1">
                          <a:solidFill>
                            <a:srgbClr val="000000"/>
                          </a:solidFill>
                          <a:latin typeface="Calibri" panose="020F0502020204030204" pitchFamily="34" charset="0"/>
                          <a:ea typeface="Calibri"/>
                          <a:cs typeface="Calibri"/>
                        </a:rPr>
                        <a:t>Shaft power</a:t>
                      </a:r>
                    </a:p>
                  </a:txBody>
                  <a:tcPr>
                    <a:lnL w="9525" cap="flat" cmpd="sng" algn="ctr">
                      <a:solidFill>
                        <a:srgbClr val="BBBBBB"/>
                      </a:solidFill>
                      <a:prstDash val="solid"/>
                      <a:round/>
                      <a:headEnd type="none" w="med" len="med"/>
                      <a:tailEnd type="none" w="med" len="med"/>
                    </a:lnL>
                    <a:lnR w="9525">
                      <a:solidFill>
                        <a:srgbClr val="BBBBBB"/>
                      </a:solidFill>
                    </a:lnR>
                    <a:lnT w="9525">
                      <a:solidFill>
                        <a:srgbClr val="BBBBBB"/>
                      </a:solidFill>
                    </a:lnT>
                    <a:lnB w="9525">
                      <a:solidFill>
                        <a:srgbClr val="BBBBBB"/>
                      </a:solidFill>
                    </a:lnB>
                    <a:solidFill>
                      <a:srgbClr val="D9D9D9"/>
                    </a:solidFill>
                  </a:tcPr>
                </a:tc>
                <a:tc>
                  <a:txBody>
                    <a:bodyPr/>
                    <a:lstStyle/>
                    <a:p>
                      <a:r>
                        <a:rPr sz="1500" b="1">
                          <a:solidFill>
                            <a:srgbClr val="000000"/>
                          </a:solidFill>
                          <a:latin typeface="Calibri" panose="020F0502020204030204" pitchFamily="34" charset="0"/>
                          <a:ea typeface="Calibri"/>
                          <a:cs typeface="Calibri"/>
                        </a:rPr>
                        <a:t>Mass</a:t>
                      </a:r>
                    </a:p>
                  </a:txBody>
                  <a:tcPr>
                    <a:lnL w="9525" cap="flat" cmpd="sng" algn="ctr">
                      <a:solidFill>
                        <a:srgbClr val="BBBBBB"/>
                      </a:solidFill>
                      <a:prstDash val="solid"/>
                      <a:round/>
                      <a:headEnd type="none" w="med" len="med"/>
                      <a:tailEnd type="none" w="med" len="med"/>
                    </a:lnL>
                    <a:lnR w="9525">
                      <a:solidFill>
                        <a:srgbClr val="BBBBBB"/>
                      </a:solidFill>
                    </a:lnR>
                    <a:lnT w="9525">
                      <a:solidFill>
                        <a:srgbClr val="BBBBBB"/>
                      </a:solidFill>
                    </a:lnT>
                    <a:lnB w="9525">
                      <a:solidFill>
                        <a:srgbClr val="BBBBBB"/>
                      </a:solidFill>
                    </a:lnB>
                    <a:solidFill>
                      <a:srgbClr val="D9D9D9"/>
                    </a:solidFill>
                  </a:tcPr>
                </a:tc>
                <a:tc>
                  <a:txBody>
                    <a:bodyPr/>
                    <a:lstStyle/>
                    <a:p>
                      <a:r>
                        <a:rPr sz="1500" b="1">
                          <a:solidFill>
                            <a:srgbClr val="000000"/>
                          </a:solidFill>
                          <a:latin typeface="Calibri" panose="020F0502020204030204" pitchFamily="34" charset="0"/>
                          <a:ea typeface="Calibri"/>
                          <a:cs typeface="Calibri"/>
                        </a:rPr>
                        <a:t>Power / mass</a:t>
                      </a:r>
                    </a:p>
                  </a:txBody>
                  <a:tcPr>
                    <a:lnL w="9525" cap="flat" cmpd="sng" algn="ctr">
                      <a:solidFill>
                        <a:srgbClr val="BBBBBB"/>
                      </a:solidFill>
                      <a:prstDash val="solid"/>
                      <a:round/>
                      <a:headEnd type="none" w="med" len="med"/>
                      <a:tailEnd type="none" w="med" len="med"/>
                    </a:lnL>
                    <a:lnR w="9525">
                      <a:solidFill>
                        <a:srgbClr val="BBBBBB"/>
                      </a:solidFill>
                    </a:lnR>
                    <a:lnT w="9525">
                      <a:solidFill>
                        <a:srgbClr val="BBBBBB"/>
                      </a:solidFill>
                    </a:lnT>
                    <a:lnB w="9525">
                      <a:solidFill>
                        <a:srgbClr val="BBBBBB"/>
                      </a:solidFill>
                    </a:lnB>
                    <a:solidFill>
                      <a:srgbClr val="D9D9D9"/>
                    </a:solidFill>
                  </a:tcPr>
                </a:tc>
                <a:extLst>
                  <a:ext uri="{0D108BD9-81ED-4DB2-BD59-A6C34878D82A}">
                    <a16:rowId xmlns:a16="http://schemas.microsoft.com/office/drawing/2014/main" val="10000"/>
                  </a:ext>
                </a:extLst>
              </a:tr>
              <a:tr h="495300">
                <a:tc>
                  <a:txBody>
                    <a:bodyPr/>
                    <a:lstStyle/>
                    <a:p>
                      <a:r>
                        <a:rPr sz="1500" b="0">
                          <a:solidFill>
                            <a:srgbClr val="000000"/>
                          </a:solidFill>
                          <a:latin typeface="Calibri" panose="020F0502020204030204" pitchFamily="34" charset="0"/>
                          <a:ea typeface="Calibri"/>
                          <a:cs typeface="Calibri"/>
                        </a:rPr>
                        <a:t>Hirth 3503, without exhaust</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500" b="0">
                          <a:solidFill>
                            <a:srgbClr val="000000"/>
                          </a:solidFill>
                          <a:latin typeface="Calibri" panose="020F0502020204030204" pitchFamily="34" charset="0"/>
                          <a:ea typeface="Calibri"/>
                          <a:cs typeface="Calibri"/>
                        </a:rPr>
                        <a:t>51.67 kW full throttle</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500" b="0">
                          <a:solidFill>
                            <a:srgbClr val="000000"/>
                          </a:solidFill>
                          <a:latin typeface="Calibri" panose="020F0502020204030204" pitchFamily="34" charset="0"/>
                          <a:ea typeface="Calibri"/>
                          <a:cs typeface="Calibri"/>
                        </a:rPr>
                        <a:t>33.5 kg</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500" b="0">
                          <a:solidFill>
                            <a:srgbClr val="000000"/>
                          </a:solidFill>
                          <a:latin typeface="Calibri" panose="020F0502020204030204" pitchFamily="34" charset="0"/>
                          <a:ea typeface="Calibri"/>
                          <a:cs typeface="Calibri"/>
                        </a:rPr>
                        <a:t>1.54 kW/kg</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extLst>
                  <a:ext uri="{0D108BD9-81ED-4DB2-BD59-A6C34878D82A}">
                    <a16:rowId xmlns:a16="http://schemas.microsoft.com/office/drawing/2014/main" val="10001"/>
                  </a:ext>
                </a:extLst>
              </a:tr>
              <a:tr h="495300">
                <a:tc>
                  <a:txBody>
                    <a:bodyPr/>
                    <a:lstStyle/>
                    <a:p>
                      <a:r>
                        <a:rPr sz="1500" b="0">
                          <a:solidFill>
                            <a:srgbClr val="000000"/>
                          </a:solidFill>
                          <a:latin typeface="Calibri" panose="020F0502020204030204" pitchFamily="34" charset="0"/>
                          <a:ea typeface="Calibri"/>
                          <a:cs typeface="Calibri"/>
                        </a:rPr>
                        <a:t>Hirth 3503, with exhaust</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500" b="0">
                          <a:solidFill>
                            <a:srgbClr val="000000"/>
                          </a:solidFill>
                          <a:latin typeface="Calibri" panose="020F0502020204030204" pitchFamily="34" charset="0"/>
                          <a:ea typeface="Calibri"/>
                          <a:cs typeface="Calibri"/>
                        </a:rPr>
                        <a:t>51.67 kW full throttle</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500" b="0">
                          <a:solidFill>
                            <a:srgbClr val="000000"/>
                          </a:solidFill>
                          <a:latin typeface="Calibri" panose="020F0502020204030204" pitchFamily="34" charset="0"/>
                          <a:ea typeface="Calibri"/>
                          <a:cs typeface="Calibri"/>
                        </a:rPr>
                        <a:t>36.0 kg</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500" b="0">
                          <a:solidFill>
                            <a:srgbClr val="000000"/>
                          </a:solidFill>
                          <a:latin typeface="Calibri" panose="020F0502020204030204" pitchFamily="34" charset="0"/>
                          <a:ea typeface="Calibri"/>
                          <a:cs typeface="Calibri"/>
                        </a:rPr>
                        <a:t>1.44 kW/kg</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extLst>
                  <a:ext uri="{0D108BD9-81ED-4DB2-BD59-A6C34878D82A}">
                    <a16:rowId xmlns:a16="http://schemas.microsoft.com/office/drawing/2014/main" val="10002"/>
                  </a:ext>
                </a:extLst>
              </a:tr>
              <a:tr h="495300">
                <a:tc>
                  <a:txBody>
                    <a:bodyPr/>
                    <a:lstStyle/>
                    <a:p>
                      <a:r>
                        <a:rPr sz="1500" b="0">
                          <a:solidFill>
                            <a:srgbClr val="000000"/>
                          </a:solidFill>
                          <a:latin typeface="Calibri" panose="020F0502020204030204" pitchFamily="34" charset="0"/>
                          <a:ea typeface="Calibri"/>
                          <a:cs typeface="Calibri"/>
                        </a:rPr>
                        <a:t>Tiltrotor engine allocation</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500" b="0">
                          <a:solidFill>
                            <a:srgbClr val="000000"/>
                          </a:solidFill>
                          <a:latin typeface="Calibri" panose="020F0502020204030204" pitchFamily="34" charset="0"/>
                          <a:ea typeface="Calibri"/>
                          <a:cs typeface="Calibri"/>
                        </a:rPr>
                        <a:t>51.67 kW nominal</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500" b="0">
                          <a:solidFill>
                            <a:srgbClr val="000000"/>
                          </a:solidFill>
                          <a:latin typeface="Calibri" panose="020F0502020204030204" pitchFamily="34" charset="0"/>
                          <a:ea typeface="Calibri"/>
                          <a:cs typeface="Calibri"/>
                        </a:rPr>
                        <a:t>46.0 kg</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500" b="0">
                          <a:solidFill>
                            <a:srgbClr val="000000"/>
                          </a:solidFill>
                          <a:latin typeface="Calibri" panose="020F0502020204030204" pitchFamily="34" charset="0"/>
                          <a:ea typeface="Calibri"/>
                          <a:cs typeface="Calibri"/>
                        </a:rPr>
                        <a:t>1.12 kW/kg</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extLst>
                  <a:ext uri="{0D108BD9-81ED-4DB2-BD59-A6C34878D82A}">
                    <a16:rowId xmlns:a16="http://schemas.microsoft.com/office/drawing/2014/main" val="10003"/>
                  </a:ext>
                </a:extLst>
              </a:tr>
              <a:tr h="495300">
                <a:tc>
                  <a:txBody>
                    <a:bodyPr/>
                    <a:lstStyle/>
                    <a:p>
                      <a:r>
                        <a:rPr sz="1500" b="0">
                          <a:solidFill>
                            <a:srgbClr val="000000"/>
                          </a:solidFill>
                          <a:latin typeface="Calibri" panose="020F0502020204030204" pitchFamily="34" charset="0"/>
                          <a:ea typeface="Calibri"/>
                          <a:cs typeface="Calibri"/>
                        </a:rPr>
                        <a:t>Rotron RT600-XE [R7]</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500" b="0">
                          <a:solidFill>
                            <a:srgbClr val="000000"/>
                          </a:solidFill>
                          <a:latin typeface="Calibri" panose="020F0502020204030204" pitchFamily="34" charset="0"/>
                          <a:ea typeface="Calibri"/>
                          <a:cs typeface="Calibri"/>
                        </a:rPr>
                        <a:t>74.6 peak / 52.2 continuous kW</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500" b="0">
                          <a:solidFill>
                            <a:srgbClr val="000000"/>
                          </a:solidFill>
                          <a:latin typeface="Calibri" panose="020F0502020204030204" pitchFamily="34" charset="0"/>
                          <a:ea typeface="Calibri"/>
                          <a:cs typeface="Calibri"/>
                        </a:rPr>
                        <a:t>44.5 kg system</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500" b="0">
                          <a:solidFill>
                            <a:srgbClr val="000000"/>
                          </a:solidFill>
                          <a:latin typeface="Calibri" panose="020F0502020204030204" pitchFamily="34" charset="0"/>
                          <a:ea typeface="Calibri"/>
                          <a:cs typeface="Calibri"/>
                        </a:rPr>
                        <a:t>1.68 peak / 1.17 cont.</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extLst>
                  <a:ext uri="{0D108BD9-81ED-4DB2-BD59-A6C34878D82A}">
                    <a16:rowId xmlns:a16="http://schemas.microsoft.com/office/drawing/2014/main" val="10004"/>
                  </a:ext>
                </a:extLst>
              </a:tr>
            </a:tbl>
          </a:graphicData>
        </a:graphic>
      </p:graphicFrame>
      <p:sp>
        <p:nvSpPr>
          <p:cNvPr id="16" name="Rectangle 15">
            <a:extLst>
              <a:ext uri="{FF2B5EF4-FFF2-40B4-BE49-F238E27FC236}">
                <a16:creationId xmlns:a16="http://schemas.microsoft.com/office/drawing/2014/main" id="{D234888D-BFA4-58EB-8584-FF8E11D922CE}"/>
              </a:ext>
            </a:extLst>
          </p:cNvPr>
          <p:cNvSpPr>
            <a:spLocks noGrp="1"/>
          </p:cNvSpPr>
          <p:nvPr/>
        </p:nvSpPr>
        <p:spPr>
          <a:xfrm>
            <a:off x="476250" y="4429125"/>
            <a:ext cx="5238750" cy="304800"/>
          </a:xfrm>
          <a:prstGeom prst="rect">
            <a:avLst/>
          </a:prstGeom>
          <a:noFill/>
          <a:ln w="0">
            <a:noFill/>
            <a:prstDash val="solid"/>
          </a:ln>
        </p:spPr>
        <p:txBody>
          <a:bodyPr lIns="0" tIns="0" rIns="0" bIns="0"/>
          <a:lstStyle>
            <a:defPPr>
              <a:defRPr sz="1725" b="1">
                <a:solidFill>
                  <a:srgbClr val="000000"/>
                </a:solidFill>
                <a:latin typeface="Calibri"/>
                <a:ea typeface="Calibri"/>
                <a:cs typeface="Calibri"/>
              </a:defRPr>
            </a:defPPr>
            <a:lvl1pPr>
              <a:defRPr sz="1725" b="1">
                <a:solidFill>
                  <a:srgbClr val="000000"/>
                </a:solidFill>
                <a:latin typeface="Calibri"/>
                <a:ea typeface="Calibri"/>
                <a:cs typeface="Calibri"/>
              </a:defRPr>
            </a:lvl1pPr>
            <a:lvl2pPr>
              <a:defRPr sz="1725" b="1">
                <a:solidFill>
                  <a:srgbClr val="000000"/>
                </a:solidFill>
                <a:latin typeface="Calibri"/>
                <a:ea typeface="Calibri"/>
                <a:cs typeface="Calibri"/>
              </a:defRPr>
            </a:lvl2pPr>
            <a:lvl3pPr>
              <a:defRPr sz="1725" b="1">
                <a:solidFill>
                  <a:srgbClr val="000000"/>
                </a:solidFill>
                <a:latin typeface="Calibri"/>
                <a:ea typeface="Calibri"/>
                <a:cs typeface="Calibri"/>
              </a:defRPr>
            </a:lvl3pPr>
            <a:lvl4pPr>
              <a:defRPr sz="1725" b="1">
                <a:solidFill>
                  <a:srgbClr val="000000"/>
                </a:solidFill>
                <a:latin typeface="Calibri"/>
                <a:ea typeface="Calibri"/>
                <a:cs typeface="Calibri"/>
              </a:defRPr>
            </a:lvl4pPr>
            <a:lvl5pPr>
              <a:defRPr sz="1725" b="1">
                <a:solidFill>
                  <a:srgbClr val="000000"/>
                </a:solidFill>
                <a:latin typeface="Calibri"/>
                <a:ea typeface="Calibri"/>
                <a:cs typeface="Calibri"/>
              </a:defRPr>
            </a:lvl5pPr>
            <a:lvl6pPr>
              <a:defRPr sz="1725" b="1">
                <a:solidFill>
                  <a:srgbClr val="000000"/>
                </a:solidFill>
                <a:latin typeface="Calibri"/>
                <a:ea typeface="Calibri"/>
                <a:cs typeface="Calibri"/>
              </a:defRPr>
            </a:lvl6pPr>
            <a:lvl7pPr>
              <a:defRPr sz="1725" b="1">
                <a:solidFill>
                  <a:srgbClr val="000000"/>
                </a:solidFill>
                <a:latin typeface="Calibri"/>
                <a:ea typeface="Calibri"/>
                <a:cs typeface="Calibri"/>
              </a:defRPr>
            </a:lvl7pPr>
            <a:lvl8pPr>
              <a:defRPr sz="1725" b="1">
                <a:solidFill>
                  <a:srgbClr val="000000"/>
                </a:solidFill>
                <a:latin typeface="Calibri"/>
                <a:ea typeface="Calibri"/>
                <a:cs typeface="Calibri"/>
              </a:defRPr>
            </a:lvl8pPr>
            <a:lvl9pPr>
              <a:defRPr sz="1725" b="1">
                <a:solidFill>
                  <a:srgbClr val="000000"/>
                </a:solidFill>
                <a:latin typeface="Calibri"/>
                <a:ea typeface="Calibri"/>
                <a:cs typeface="Calibri"/>
              </a:defRPr>
            </a:lvl9pPr>
          </a:lstStyle>
          <a:p>
            <a:pPr>
              <a:defRPr sz="1725" b="1">
                <a:solidFill>
                  <a:srgbClr val="000000"/>
                </a:solidFill>
                <a:latin typeface="Calibri"/>
                <a:ea typeface="Calibri"/>
                <a:cs typeface="Calibri"/>
              </a:defRPr>
            </a:pPr>
            <a:r>
              <a:rPr sz="1725" b="1">
                <a:solidFill>
                  <a:srgbClr val="000000"/>
                </a:solidFill>
                <a:latin typeface="Calibri" panose="020F0502020204030204" pitchFamily="34" charset="0"/>
                <a:ea typeface="Calibri"/>
                <a:cs typeface="Calibri"/>
              </a:rPr>
              <a:t>What is conservative?</a:t>
            </a:r>
          </a:p>
        </p:txBody>
      </p:sp>
      <p:sp>
        <p:nvSpPr>
          <p:cNvPr id="17" name="Rectangle 16">
            <a:extLst>
              <a:ext uri="{FF2B5EF4-FFF2-40B4-BE49-F238E27FC236}">
                <a16:creationId xmlns:a16="http://schemas.microsoft.com/office/drawing/2014/main" id="{A280B516-B626-549D-161D-B7065C827CBE}"/>
              </a:ext>
            </a:extLst>
          </p:cNvPr>
          <p:cNvSpPr>
            <a:spLocks noGrp="1"/>
          </p:cNvSpPr>
          <p:nvPr/>
        </p:nvSpPr>
        <p:spPr>
          <a:xfrm>
            <a:off x="476250" y="4829175"/>
            <a:ext cx="5238750" cy="904875"/>
          </a:xfrm>
          <a:prstGeom prst="rect">
            <a:avLst/>
          </a:prstGeom>
          <a:noFill/>
          <a:ln w="0">
            <a:noFill/>
            <a:prstDash val="solid"/>
          </a:ln>
        </p:spPr>
        <p:txBody>
          <a:bodyPr lIns="0" tIns="0" rIns="0" bIns="0"/>
          <a:lstStyle>
            <a:defPPr>
              <a:defRPr sz="1575" b="0">
                <a:solidFill>
                  <a:srgbClr val="000000"/>
                </a:solidFill>
                <a:latin typeface="Calibri"/>
                <a:ea typeface="Calibri"/>
                <a:cs typeface="Calibri"/>
              </a:defRPr>
            </a:defPPr>
            <a:lvl1pPr>
              <a:defRPr sz="1575" b="0">
                <a:solidFill>
                  <a:srgbClr val="000000"/>
                </a:solidFill>
                <a:latin typeface="Calibri"/>
                <a:ea typeface="Calibri"/>
                <a:cs typeface="Calibri"/>
              </a:defRPr>
            </a:lvl1pPr>
            <a:lvl2pPr>
              <a:defRPr sz="1575" b="0">
                <a:solidFill>
                  <a:srgbClr val="000000"/>
                </a:solidFill>
                <a:latin typeface="Calibri"/>
                <a:ea typeface="Calibri"/>
                <a:cs typeface="Calibri"/>
              </a:defRPr>
            </a:lvl2pPr>
            <a:lvl3pPr>
              <a:defRPr sz="1575" b="0">
                <a:solidFill>
                  <a:srgbClr val="000000"/>
                </a:solidFill>
                <a:latin typeface="Calibri"/>
                <a:ea typeface="Calibri"/>
                <a:cs typeface="Calibri"/>
              </a:defRPr>
            </a:lvl3pPr>
            <a:lvl4pPr>
              <a:defRPr sz="1575" b="0">
                <a:solidFill>
                  <a:srgbClr val="000000"/>
                </a:solidFill>
                <a:latin typeface="Calibri"/>
                <a:ea typeface="Calibri"/>
                <a:cs typeface="Calibri"/>
              </a:defRPr>
            </a:lvl4pPr>
            <a:lvl5pPr>
              <a:defRPr sz="1575" b="0">
                <a:solidFill>
                  <a:srgbClr val="000000"/>
                </a:solidFill>
                <a:latin typeface="Calibri"/>
                <a:ea typeface="Calibri"/>
                <a:cs typeface="Calibri"/>
              </a:defRPr>
            </a:lvl5pPr>
            <a:lvl6pPr>
              <a:defRPr sz="1575" b="0">
                <a:solidFill>
                  <a:srgbClr val="000000"/>
                </a:solidFill>
                <a:latin typeface="Calibri"/>
                <a:ea typeface="Calibri"/>
                <a:cs typeface="Calibri"/>
              </a:defRPr>
            </a:lvl6pPr>
            <a:lvl7pPr>
              <a:defRPr sz="1575" b="0">
                <a:solidFill>
                  <a:srgbClr val="000000"/>
                </a:solidFill>
                <a:latin typeface="Calibri"/>
                <a:ea typeface="Calibri"/>
                <a:cs typeface="Calibri"/>
              </a:defRPr>
            </a:lvl7pPr>
            <a:lvl8pPr>
              <a:defRPr sz="1575" b="0">
                <a:solidFill>
                  <a:srgbClr val="000000"/>
                </a:solidFill>
                <a:latin typeface="Calibri"/>
                <a:ea typeface="Calibri"/>
                <a:cs typeface="Calibri"/>
              </a:defRPr>
            </a:lvl8pPr>
            <a:lvl9pPr>
              <a:defRPr sz="1575" b="0">
                <a:solidFill>
                  <a:srgbClr val="000000"/>
                </a:solidFill>
                <a:latin typeface="Calibri"/>
                <a:ea typeface="Calibri"/>
                <a:cs typeface="Calibri"/>
              </a:defRPr>
            </a:lvl9pPr>
          </a:lstStyle>
          <a:p>
            <a:pPr>
              <a:defRPr sz="1575" b="0">
                <a:solidFill>
                  <a:srgbClr val="000000"/>
                </a:solidFill>
                <a:latin typeface="Calibri"/>
                <a:ea typeface="Calibri"/>
                <a:cs typeface="Calibri"/>
              </a:defRPr>
            </a:pPr>
            <a:r>
              <a:rPr sz="1575" b="0">
                <a:solidFill>
                  <a:srgbClr val="000000"/>
                </a:solidFill>
                <a:latin typeface="Calibri" panose="020F0502020204030204" pitchFamily="34" charset="0"/>
                <a:ea typeface="Calibri"/>
                <a:cs typeface="Calibri"/>
              </a:rPr>
              <a:t>The model carries 10 kg above Hirth plus exhaust. Mechanical transmission is another 17.6 kg, allocated separately. [S1]</a:t>
            </a:r>
          </a:p>
        </p:txBody>
      </p:sp>
      <p:sp>
        <p:nvSpPr>
          <p:cNvPr id="18" name="Rectangle 17">
            <a:extLst>
              <a:ext uri="{FF2B5EF4-FFF2-40B4-BE49-F238E27FC236}">
                <a16:creationId xmlns:a16="http://schemas.microsoft.com/office/drawing/2014/main" id="{C975CC58-E42D-EECC-3C50-98F92194AF9B}"/>
              </a:ext>
            </a:extLst>
          </p:cNvPr>
          <p:cNvSpPr>
            <a:spLocks noGrp="1"/>
          </p:cNvSpPr>
          <p:nvPr/>
        </p:nvSpPr>
        <p:spPr>
          <a:xfrm>
            <a:off x="6286500" y="4429125"/>
            <a:ext cx="5238750" cy="304800"/>
          </a:xfrm>
          <a:prstGeom prst="rect">
            <a:avLst/>
          </a:prstGeom>
          <a:noFill/>
          <a:ln w="0">
            <a:noFill/>
            <a:prstDash val="solid"/>
          </a:ln>
        </p:spPr>
        <p:txBody>
          <a:bodyPr lIns="0" tIns="0" rIns="0" bIns="0"/>
          <a:lstStyle>
            <a:defPPr>
              <a:defRPr sz="1725" b="1">
                <a:solidFill>
                  <a:srgbClr val="000000"/>
                </a:solidFill>
                <a:latin typeface="Calibri"/>
                <a:ea typeface="Calibri"/>
                <a:cs typeface="Calibri"/>
              </a:defRPr>
            </a:defPPr>
            <a:lvl1pPr>
              <a:defRPr sz="1725" b="1">
                <a:solidFill>
                  <a:srgbClr val="000000"/>
                </a:solidFill>
                <a:latin typeface="Calibri"/>
                <a:ea typeface="Calibri"/>
                <a:cs typeface="Calibri"/>
              </a:defRPr>
            </a:lvl1pPr>
            <a:lvl2pPr>
              <a:defRPr sz="1725" b="1">
                <a:solidFill>
                  <a:srgbClr val="000000"/>
                </a:solidFill>
                <a:latin typeface="Calibri"/>
                <a:ea typeface="Calibri"/>
                <a:cs typeface="Calibri"/>
              </a:defRPr>
            </a:lvl2pPr>
            <a:lvl3pPr>
              <a:defRPr sz="1725" b="1">
                <a:solidFill>
                  <a:srgbClr val="000000"/>
                </a:solidFill>
                <a:latin typeface="Calibri"/>
                <a:ea typeface="Calibri"/>
                <a:cs typeface="Calibri"/>
              </a:defRPr>
            </a:lvl3pPr>
            <a:lvl4pPr>
              <a:defRPr sz="1725" b="1">
                <a:solidFill>
                  <a:srgbClr val="000000"/>
                </a:solidFill>
                <a:latin typeface="Calibri"/>
                <a:ea typeface="Calibri"/>
                <a:cs typeface="Calibri"/>
              </a:defRPr>
            </a:lvl4pPr>
            <a:lvl5pPr>
              <a:defRPr sz="1725" b="1">
                <a:solidFill>
                  <a:srgbClr val="000000"/>
                </a:solidFill>
                <a:latin typeface="Calibri"/>
                <a:ea typeface="Calibri"/>
                <a:cs typeface="Calibri"/>
              </a:defRPr>
            </a:lvl5pPr>
            <a:lvl6pPr>
              <a:defRPr sz="1725" b="1">
                <a:solidFill>
                  <a:srgbClr val="000000"/>
                </a:solidFill>
                <a:latin typeface="Calibri"/>
                <a:ea typeface="Calibri"/>
                <a:cs typeface="Calibri"/>
              </a:defRPr>
            </a:lvl6pPr>
            <a:lvl7pPr>
              <a:defRPr sz="1725" b="1">
                <a:solidFill>
                  <a:srgbClr val="000000"/>
                </a:solidFill>
                <a:latin typeface="Calibri"/>
                <a:ea typeface="Calibri"/>
                <a:cs typeface="Calibri"/>
              </a:defRPr>
            </a:lvl7pPr>
            <a:lvl8pPr>
              <a:defRPr sz="1725" b="1">
                <a:solidFill>
                  <a:srgbClr val="000000"/>
                </a:solidFill>
                <a:latin typeface="Calibri"/>
                <a:ea typeface="Calibri"/>
                <a:cs typeface="Calibri"/>
              </a:defRPr>
            </a:lvl8pPr>
            <a:lvl9pPr>
              <a:defRPr sz="1725" b="1">
                <a:solidFill>
                  <a:srgbClr val="000000"/>
                </a:solidFill>
                <a:latin typeface="Calibri"/>
                <a:ea typeface="Calibri"/>
                <a:cs typeface="Calibri"/>
              </a:defRPr>
            </a:lvl9pPr>
          </a:lstStyle>
          <a:p>
            <a:pPr>
              <a:defRPr sz="1725" b="1">
                <a:solidFill>
                  <a:srgbClr val="000000"/>
                </a:solidFill>
                <a:latin typeface="Calibri"/>
                <a:ea typeface="Calibri"/>
                <a:cs typeface="Calibri"/>
              </a:defRPr>
            </a:pPr>
            <a:r>
              <a:rPr sz="1725" b="1">
                <a:solidFill>
                  <a:srgbClr val="000000"/>
                </a:solidFill>
                <a:latin typeface="Calibri" panose="020F0502020204030204" pitchFamily="34" charset="0"/>
                <a:ea typeface="Calibri"/>
                <a:cs typeface="Calibri"/>
              </a:rPr>
              <a:t>What remains uncertain?</a:t>
            </a:r>
          </a:p>
        </p:txBody>
      </p:sp>
      <p:sp>
        <p:nvSpPr>
          <p:cNvPr id="19" name="Rectangle 18">
            <a:extLst>
              <a:ext uri="{FF2B5EF4-FFF2-40B4-BE49-F238E27FC236}">
                <a16:creationId xmlns:a16="http://schemas.microsoft.com/office/drawing/2014/main" id="{E77152BC-A24B-ACAB-DAA8-BC8A8B99159F}"/>
              </a:ext>
            </a:extLst>
          </p:cNvPr>
          <p:cNvSpPr>
            <a:spLocks noGrp="1"/>
          </p:cNvSpPr>
          <p:nvPr/>
        </p:nvSpPr>
        <p:spPr>
          <a:xfrm>
            <a:off x="6286500" y="4829175"/>
            <a:ext cx="5286375" cy="904875"/>
          </a:xfrm>
          <a:prstGeom prst="rect">
            <a:avLst/>
          </a:prstGeom>
          <a:noFill/>
          <a:ln w="0">
            <a:noFill/>
            <a:prstDash val="solid"/>
          </a:ln>
        </p:spPr>
        <p:txBody>
          <a:bodyPr lIns="0" tIns="0" rIns="0" bIns="0"/>
          <a:lstStyle>
            <a:defPPr>
              <a:defRPr sz="1575" b="0">
                <a:solidFill>
                  <a:srgbClr val="000000"/>
                </a:solidFill>
                <a:latin typeface="Calibri"/>
                <a:ea typeface="Calibri"/>
                <a:cs typeface="Calibri"/>
              </a:defRPr>
            </a:defPPr>
            <a:lvl1pPr>
              <a:defRPr sz="1575" b="0">
                <a:solidFill>
                  <a:srgbClr val="000000"/>
                </a:solidFill>
                <a:latin typeface="Calibri"/>
                <a:ea typeface="Calibri"/>
                <a:cs typeface="Calibri"/>
              </a:defRPr>
            </a:lvl1pPr>
            <a:lvl2pPr>
              <a:defRPr sz="1575" b="0">
                <a:solidFill>
                  <a:srgbClr val="000000"/>
                </a:solidFill>
                <a:latin typeface="Calibri"/>
                <a:ea typeface="Calibri"/>
                <a:cs typeface="Calibri"/>
              </a:defRPr>
            </a:lvl2pPr>
            <a:lvl3pPr>
              <a:defRPr sz="1575" b="0">
                <a:solidFill>
                  <a:srgbClr val="000000"/>
                </a:solidFill>
                <a:latin typeface="Calibri"/>
                <a:ea typeface="Calibri"/>
                <a:cs typeface="Calibri"/>
              </a:defRPr>
            </a:lvl3pPr>
            <a:lvl4pPr>
              <a:defRPr sz="1575" b="0">
                <a:solidFill>
                  <a:srgbClr val="000000"/>
                </a:solidFill>
                <a:latin typeface="Calibri"/>
                <a:ea typeface="Calibri"/>
                <a:cs typeface="Calibri"/>
              </a:defRPr>
            </a:lvl4pPr>
            <a:lvl5pPr>
              <a:defRPr sz="1575" b="0">
                <a:solidFill>
                  <a:srgbClr val="000000"/>
                </a:solidFill>
                <a:latin typeface="Calibri"/>
                <a:ea typeface="Calibri"/>
                <a:cs typeface="Calibri"/>
              </a:defRPr>
            </a:lvl5pPr>
            <a:lvl6pPr>
              <a:defRPr sz="1575" b="0">
                <a:solidFill>
                  <a:srgbClr val="000000"/>
                </a:solidFill>
                <a:latin typeface="Calibri"/>
                <a:ea typeface="Calibri"/>
                <a:cs typeface="Calibri"/>
              </a:defRPr>
            </a:lvl6pPr>
            <a:lvl7pPr>
              <a:defRPr sz="1575" b="0">
                <a:solidFill>
                  <a:srgbClr val="000000"/>
                </a:solidFill>
                <a:latin typeface="Calibri"/>
                <a:ea typeface="Calibri"/>
                <a:cs typeface="Calibri"/>
              </a:defRPr>
            </a:lvl7pPr>
            <a:lvl8pPr>
              <a:defRPr sz="1575" b="0">
                <a:solidFill>
                  <a:srgbClr val="000000"/>
                </a:solidFill>
                <a:latin typeface="Calibri"/>
                <a:ea typeface="Calibri"/>
                <a:cs typeface="Calibri"/>
              </a:defRPr>
            </a:lvl8pPr>
            <a:lvl9pPr>
              <a:defRPr sz="1575" b="0">
                <a:solidFill>
                  <a:srgbClr val="000000"/>
                </a:solidFill>
                <a:latin typeface="Calibri"/>
                <a:ea typeface="Calibri"/>
                <a:cs typeface="Calibri"/>
              </a:defRPr>
            </a:lvl9pPr>
          </a:lstStyle>
          <a:p>
            <a:pPr>
              <a:defRPr sz="1575" b="0">
                <a:solidFill>
                  <a:srgbClr val="000000"/>
                </a:solidFill>
                <a:latin typeface="Calibri"/>
                <a:ea typeface="Calibri"/>
                <a:cs typeface="Calibri"/>
              </a:defRPr>
            </a:pPr>
            <a:r>
              <a:rPr sz="1575" b="0">
                <a:solidFill>
                  <a:srgbClr val="000000"/>
                </a:solidFill>
                <a:latin typeface="Calibri" panose="020F0502020204030204" pitchFamily="34" charset="0"/>
                <a:ea typeface="Calibri"/>
                <a:cs typeface="Calibri"/>
              </a:rPr>
              <a:t>The assumed 80% continuous rating and 90% availability factor need validation. Cooling, altitude lapse, SFC and gearbox duty are still open. [S1]</a:t>
            </a:r>
          </a:p>
        </p:txBody>
      </p:sp>
      <p:sp>
        <p:nvSpPr>
          <p:cNvPr id="20" name="Rectangle 19">
            <a:extLst>
              <a:ext uri="{FF2B5EF4-FFF2-40B4-BE49-F238E27FC236}">
                <a16:creationId xmlns:a16="http://schemas.microsoft.com/office/drawing/2014/main" id="{149AE5EF-A53C-5B0B-D314-058912E81CEF}"/>
              </a:ext>
            </a:extLst>
          </p:cNvPr>
          <p:cNvSpPr>
            <a:spLocks noGrp="1"/>
          </p:cNvSpPr>
          <p:nvPr/>
        </p:nvSpPr>
        <p:spPr>
          <a:xfrm>
            <a:off x="476250" y="6400800"/>
            <a:ext cx="10810875" cy="381000"/>
          </a:xfrm>
          <a:prstGeom prst="rect">
            <a:avLst/>
          </a:prstGeom>
          <a:noFill/>
          <a:ln w="0">
            <a:noFill/>
            <a:prstDash val="solid"/>
          </a:ln>
        </p:spPr>
        <p:txBody>
          <a:bodyPr lIns="0" tIns="0" rIns="0" bIns="0"/>
          <a:lstStyle>
            <a:defPPr>
              <a:defRPr sz="1125" b="0">
                <a:solidFill>
                  <a:srgbClr val="444444"/>
                </a:solidFill>
                <a:latin typeface="Calibri"/>
                <a:ea typeface="Calibri"/>
                <a:cs typeface="Calibri"/>
              </a:defRPr>
            </a:defPPr>
            <a:lvl1pPr>
              <a:defRPr sz="1125" b="0">
                <a:solidFill>
                  <a:srgbClr val="444444"/>
                </a:solidFill>
                <a:latin typeface="Calibri"/>
                <a:ea typeface="Calibri"/>
                <a:cs typeface="Calibri"/>
              </a:defRPr>
            </a:lvl1pPr>
            <a:lvl2pPr>
              <a:defRPr sz="1125" b="0">
                <a:solidFill>
                  <a:srgbClr val="444444"/>
                </a:solidFill>
                <a:latin typeface="Calibri"/>
                <a:ea typeface="Calibri"/>
                <a:cs typeface="Calibri"/>
              </a:defRPr>
            </a:lvl2pPr>
            <a:lvl3pPr>
              <a:defRPr sz="1125" b="0">
                <a:solidFill>
                  <a:srgbClr val="444444"/>
                </a:solidFill>
                <a:latin typeface="Calibri"/>
                <a:ea typeface="Calibri"/>
                <a:cs typeface="Calibri"/>
              </a:defRPr>
            </a:lvl3pPr>
            <a:lvl4pPr>
              <a:defRPr sz="1125" b="0">
                <a:solidFill>
                  <a:srgbClr val="444444"/>
                </a:solidFill>
                <a:latin typeface="Calibri"/>
                <a:ea typeface="Calibri"/>
                <a:cs typeface="Calibri"/>
              </a:defRPr>
            </a:lvl4pPr>
            <a:lvl5pPr>
              <a:defRPr sz="1125" b="0">
                <a:solidFill>
                  <a:srgbClr val="444444"/>
                </a:solidFill>
                <a:latin typeface="Calibri"/>
                <a:ea typeface="Calibri"/>
                <a:cs typeface="Calibri"/>
              </a:defRPr>
            </a:lvl5pPr>
            <a:lvl6pPr>
              <a:defRPr sz="1125" b="0">
                <a:solidFill>
                  <a:srgbClr val="444444"/>
                </a:solidFill>
                <a:latin typeface="Calibri"/>
                <a:ea typeface="Calibri"/>
                <a:cs typeface="Calibri"/>
              </a:defRPr>
            </a:lvl6pPr>
            <a:lvl7pPr>
              <a:defRPr sz="1125" b="0">
                <a:solidFill>
                  <a:srgbClr val="444444"/>
                </a:solidFill>
                <a:latin typeface="Calibri"/>
                <a:ea typeface="Calibri"/>
                <a:cs typeface="Calibri"/>
              </a:defRPr>
            </a:lvl7pPr>
            <a:lvl8pPr>
              <a:defRPr sz="1125" b="0">
                <a:solidFill>
                  <a:srgbClr val="444444"/>
                </a:solidFill>
                <a:latin typeface="Calibri"/>
                <a:ea typeface="Calibri"/>
                <a:cs typeface="Calibri"/>
              </a:defRPr>
            </a:lvl8pPr>
            <a:lvl9pPr>
              <a:defRPr sz="1125" b="0">
                <a:solidFill>
                  <a:srgbClr val="444444"/>
                </a:solidFill>
                <a:latin typeface="Calibri"/>
                <a:ea typeface="Calibri"/>
                <a:cs typeface="Calibri"/>
              </a:defRPr>
            </a:lvl9pPr>
          </a:lstStyle>
          <a:p>
            <a:pPr>
              <a:defRPr sz="1125" b="0">
                <a:solidFill>
                  <a:srgbClr val="444444"/>
                </a:solidFill>
                <a:latin typeface="Calibri"/>
                <a:ea typeface="Calibri"/>
                <a:cs typeface="Calibri"/>
              </a:defRPr>
            </a:pPr>
            <a:r>
              <a:rPr sz="1125" b="0">
                <a:solidFill>
                  <a:srgbClr val="444444"/>
                </a:solidFill>
                <a:latin typeface="Calibri" panose="020F0502020204030204" pitchFamily="34" charset="0"/>
                <a:ea typeface="Calibri"/>
                <a:cs typeface="Calibri"/>
              </a:rPr>
              <a:t>[R6] Hirth, 3503 datasheet (2025), p. 2. [R7] Rotron, RT600-XE specifications.</a:t>
            </a:r>
          </a:p>
          <a:p>
            <a:pPr>
              <a:defRPr sz="1125" b="0">
                <a:solidFill>
                  <a:srgbClr val="444444"/>
                </a:solidFill>
                <a:latin typeface="Calibri"/>
                <a:ea typeface="Calibri"/>
                <a:cs typeface="Calibri"/>
              </a:defRPr>
            </a:pPr>
            <a:r>
              <a:rPr sz="1125" b="0">
                <a:solidFill>
                  <a:srgbClr val="444444"/>
                </a:solidFill>
                <a:latin typeface="Calibri" panose="020F0502020204030204" pitchFamily="34" charset="0"/>
                <a:ea typeface="Calibri"/>
                <a:cs typeface="Calibri"/>
              </a:rPr>
              <a:t>[S1] Saved UAV inputs and component audit, 21–27 Oct 2026. Catalog boundaries differ from installed packages.</a:t>
            </a:r>
          </a:p>
        </p:txBody>
      </p:sp>
      <p:sp>
        <p:nvSpPr>
          <p:cNvPr id="5" name="TextBox 4">
            <a:extLst>
              <a:ext uri="{FF2B5EF4-FFF2-40B4-BE49-F238E27FC236}">
                <a16:creationId xmlns:a16="http://schemas.microsoft.com/office/drawing/2014/main" id="{377E6FC6-49E5-D19D-80F8-5D6717A9A6BD}"/>
              </a:ext>
            </a:extLst>
          </p:cNvPr>
          <p:cNvSpPr txBox="1"/>
          <p:nvPr/>
        </p:nvSpPr>
        <p:spPr>
          <a:xfrm>
            <a:off x="11671300" y="6527800"/>
            <a:ext cx="355600" cy="153888"/>
          </a:xfrm>
          <a:prstGeom prst="rect">
            <a:avLst/>
          </a:prstGeom>
          <a:noFill/>
        </p:spPr>
        <p:txBody>
          <a:bodyPr vert="horz" lIns="0" tIns="0" rIns="0" bIns="0" rtlCol="0">
            <a:spAutoFit/>
          </a:bodyPr>
          <a:lstStyle/>
          <a:p>
            <a:r>
              <a:rPr lang="en-US" sz="1000">
                <a:solidFill>
                  <a:srgbClr val="000000"/>
                </a:solidFill>
                <a:latin typeface="Calibri" panose="020F0502020204030204" pitchFamily="34" charset="0"/>
              </a:rPr>
              <a:t>10</a:t>
            </a:r>
          </a:p>
        </p:txBody>
      </p:sp>
    </p:spTree>
    <p:extLst>
      <p:ext uri="{BB962C8B-B14F-4D97-AF65-F5344CB8AC3E}">
        <p14:creationId xmlns:p14="http://schemas.microsoft.com/office/powerpoint/2010/main" val="1618600781"/>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04F2289-A542-42F4-86D0-FABCD6D2C1A8}"/>
              </a:ext>
            </a:extLst>
          </p:cNvPr>
          <p:cNvSpPr>
            <a:spLocks noGrp="1"/>
          </p:cNvSpPr>
          <p:nvPr/>
        </p:nvSpPr>
        <p:spPr>
          <a:xfrm>
            <a:off x="838200" y="361950"/>
            <a:ext cx="10896600" cy="495300"/>
          </a:xfrm>
          <a:prstGeom prst="rect">
            <a:avLst/>
          </a:prstGeom>
          <a:noFill/>
          <a:ln w="0">
            <a:noFill/>
            <a:prstDash val="solid"/>
          </a:ln>
        </p:spPr>
        <p:txBody>
          <a:bodyPr lIns="0" tIns="0" rIns="0" bIns="0"/>
          <a:lstStyle>
            <a:defPPr>
              <a:defRPr sz="2400" b="1">
                <a:solidFill>
                  <a:srgbClr val="000000"/>
                </a:solidFill>
                <a:latin typeface="Calibri"/>
                <a:ea typeface="Calibri"/>
                <a:cs typeface="Calibri"/>
              </a:defRPr>
            </a:defPPr>
            <a:lvl1pPr>
              <a:defRPr sz="2400" b="1">
                <a:solidFill>
                  <a:srgbClr val="000000"/>
                </a:solidFill>
                <a:latin typeface="Calibri"/>
                <a:ea typeface="Calibri"/>
                <a:cs typeface="Calibri"/>
              </a:defRPr>
            </a:lvl1pPr>
            <a:lvl2pPr>
              <a:defRPr sz="2400" b="1">
                <a:solidFill>
                  <a:srgbClr val="000000"/>
                </a:solidFill>
                <a:latin typeface="Calibri"/>
                <a:ea typeface="Calibri"/>
                <a:cs typeface="Calibri"/>
              </a:defRPr>
            </a:lvl2pPr>
            <a:lvl3pPr>
              <a:defRPr sz="2400" b="1">
                <a:solidFill>
                  <a:srgbClr val="000000"/>
                </a:solidFill>
                <a:latin typeface="Calibri"/>
                <a:ea typeface="Calibri"/>
                <a:cs typeface="Calibri"/>
              </a:defRPr>
            </a:lvl3pPr>
            <a:lvl4pPr>
              <a:defRPr sz="2400" b="1">
                <a:solidFill>
                  <a:srgbClr val="000000"/>
                </a:solidFill>
                <a:latin typeface="Calibri"/>
                <a:ea typeface="Calibri"/>
                <a:cs typeface="Calibri"/>
              </a:defRPr>
            </a:lvl4pPr>
            <a:lvl5pPr>
              <a:defRPr sz="2400" b="1">
                <a:solidFill>
                  <a:srgbClr val="000000"/>
                </a:solidFill>
                <a:latin typeface="Calibri"/>
                <a:ea typeface="Calibri"/>
                <a:cs typeface="Calibri"/>
              </a:defRPr>
            </a:lvl5pPr>
            <a:lvl6pPr>
              <a:defRPr sz="2400" b="1">
                <a:solidFill>
                  <a:srgbClr val="000000"/>
                </a:solidFill>
                <a:latin typeface="Calibri"/>
                <a:ea typeface="Calibri"/>
                <a:cs typeface="Calibri"/>
              </a:defRPr>
            </a:lvl6pPr>
            <a:lvl7pPr>
              <a:defRPr sz="2400" b="1">
                <a:solidFill>
                  <a:srgbClr val="000000"/>
                </a:solidFill>
                <a:latin typeface="Calibri"/>
                <a:ea typeface="Calibri"/>
                <a:cs typeface="Calibri"/>
              </a:defRPr>
            </a:lvl7pPr>
            <a:lvl8pPr>
              <a:defRPr sz="2400" b="1">
                <a:solidFill>
                  <a:srgbClr val="000000"/>
                </a:solidFill>
                <a:latin typeface="Calibri"/>
                <a:ea typeface="Calibri"/>
                <a:cs typeface="Calibri"/>
              </a:defRPr>
            </a:lvl8pPr>
            <a:lvl9pPr>
              <a:defRPr sz="2400" b="1">
                <a:solidFill>
                  <a:srgbClr val="000000"/>
                </a:solidFill>
                <a:latin typeface="Calibri"/>
                <a:ea typeface="Calibri"/>
                <a:cs typeface="Calibri"/>
              </a:defRPr>
            </a:lvl9pPr>
          </a:lstStyle>
          <a:p>
            <a:pPr>
              <a:defRPr sz="2400" b="1">
                <a:solidFill>
                  <a:srgbClr val="000000"/>
                </a:solidFill>
                <a:latin typeface="Calibri"/>
                <a:ea typeface="Calibri"/>
                <a:cs typeface="Calibri"/>
              </a:defRPr>
            </a:pPr>
            <a:r>
              <a:rPr sz="2400" b="1">
                <a:solidFill>
                  <a:srgbClr val="000000"/>
                </a:solidFill>
                <a:latin typeface="Calibri" panose="020F0502020204030204" pitchFamily="34" charset="0"/>
                <a:ea typeface="Calibri"/>
                <a:cs typeface="Calibri"/>
              </a:rPr>
              <a:t>Engine Assumptions: Turboelectric Tiltrotor</a:t>
            </a:r>
          </a:p>
        </p:txBody>
      </p:sp>
      <p:sp>
        <p:nvSpPr>
          <p:cNvPr id="2" name="Rectangle 1">
            <a:extLst>
              <a:ext uri="{FF2B5EF4-FFF2-40B4-BE49-F238E27FC236}">
                <a16:creationId xmlns:a16="http://schemas.microsoft.com/office/drawing/2014/main" id="{FBA4302F-F164-47AC-A6D3-9C13769F5E26}"/>
              </a:ext>
            </a:extLst>
          </p:cNvPr>
          <p:cNvSpPr>
            <a:spLocks noGrp="1"/>
          </p:cNvSpPr>
          <p:nvPr/>
        </p:nvSpPr>
        <p:spPr>
          <a:xfrm>
            <a:off x="476250" y="895350"/>
            <a:ext cx="11239500" cy="523875"/>
          </a:xfrm>
          <a:prstGeom prst="rect">
            <a:avLst/>
          </a:prstGeom>
          <a:noFill/>
          <a:ln w="0">
            <a:noFill/>
            <a:prstDash val="solid"/>
          </a:ln>
        </p:spPr>
        <p:txBody>
          <a:bodyPr lIns="0" tIns="0" rIns="0" bIns="0"/>
          <a:lstStyle>
            <a:defPPr>
              <a:defRPr sz="1575" b="0">
                <a:solidFill>
                  <a:srgbClr val="444444"/>
                </a:solidFill>
                <a:latin typeface="Calibri"/>
                <a:ea typeface="Calibri"/>
                <a:cs typeface="Calibri"/>
              </a:defRPr>
            </a:defPPr>
            <a:lvl1pPr>
              <a:defRPr sz="1575" b="0">
                <a:solidFill>
                  <a:srgbClr val="444444"/>
                </a:solidFill>
                <a:latin typeface="Calibri"/>
                <a:ea typeface="Calibri"/>
                <a:cs typeface="Calibri"/>
              </a:defRPr>
            </a:lvl1pPr>
            <a:lvl2pPr>
              <a:defRPr sz="1575" b="0">
                <a:solidFill>
                  <a:srgbClr val="444444"/>
                </a:solidFill>
                <a:latin typeface="Calibri"/>
                <a:ea typeface="Calibri"/>
                <a:cs typeface="Calibri"/>
              </a:defRPr>
            </a:lvl2pPr>
            <a:lvl3pPr>
              <a:defRPr sz="1575" b="0">
                <a:solidFill>
                  <a:srgbClr val="444444"/>
                </a:solidFill>
                <a:latin typeface="Calibri"/>
                <a:ea typeface="Calibri"/>
                <a:cs typeface="Calibri"/>
              </a:defRPr>
            </a:lvl3pPr>
            <a:lvl4pPr>
              <a:defRPr sz="1575" b="0">
                <a:solidFill>
                  <a:srgbClr val="444444"/>
                </a:solidFill>
                <a:latin typeface="Calibri"/>
                <a:ea typeface="Calibri"/>
                <a:cs typeface="Calibri"/>
              </a:defRPr>
            </a:lvl4pPr>
            <a:lvl5pPr>
              <a:defRPr sz="1575" b="0">
                <a:solidFill>
                  <a:srgbClr val="444444"/>
                </a:solidFill>
                <a:latin typeface="Calibri"/>
                <a:ea typeface="Calibri"/>
                <a:cs typeface="Calibri"/>
              </a:defRPr>
            </a:lvl5pPr>
            <a:lvl6pPr>
              <a:defRPr sz="1575" b="0">
                <a:solidFill>
                  <a:srgbClr val="444444"/>
                </a:solidFill>
                <a:latin typeface="Calibri"/>
                <a:ea typeface="Calibri"/>
                <a:cs typeface="Calibri"/>
              </a:defRPr>
            </a:lvl6pPr>
            <a:lvl7pPr>
              <a:defRPr sz="1575" b="0">
                <a:solidFill>
                  <a:srgbClr val="444444"/>
                </a:solidFill>
                <a:latin typeface="Calibri"/>
                <a:ea typeface="Calibri"/>
                <a:cs typeface="Calibri"/>
              </a:defRPr>
            </a:lvl7pPr>
            <a:lvl8pPr>
              <a:defRPr sz="1575" b="0">
                <a:solidFill>
                  <a:srgbClr val="444444"/>
                </a:solidFill>
                <a:latin typeface="Calibri"/>
                <a:ea typeface="Calibri"/>
                <a:cs typeface="Calibri"/>
              </a:defRPr>
            </a:lvl8pPr>
            <a:lvl9pPr>
              <a:defRPr sz="1575" b="0">
                <a:solidFill>
                  <a:srgbClr val="444444"/>
                </a:solidFill>
                <a:latin typeface="Calibri"/>
                <a:ea typeface="Calibri"/>
                <a:cs typeface="Calibri"/>
              </a:defRPr>
            </a:lvl9pPr>
          </a:lstStyle>
          <a:p>
            <a:pPr>
              <a:defRPr sz="1575" b="0">
                <a:solidFill>
                  <a:srgbClr val="444444"/>
                </a:solidFill>
                <a:latin typeface="Calibri"/>
                <a:ea typeface="Calibri"/>
                <a:cs typeface="Calibri"/>
              </a:defRPr>
            </a:pPr>
            <a:r>
              <a:rPr sz="1575" b="0">
                <a:solidFill>
                  <a:srgbClr val="444444"/>
                </a:solidFill>
                <a:latin typeface="Calibri" panose="020F0502020204030204" pitchFamily="34" charset="0"/>
                <a:ea typeface="Calibri"/>
                <a:cs typeface="Calibri"/>
              </a:rPr>
              <a:t>Compare turbine shaft output and generator electrical output at their own mass boundaries.</a:t>
            </a:r>
          </a:p>
        </p:txBody>
      </p:sp>
      <p:sp>
        <p:nvSpPr>
          <p:cNvPr id="3" name="Rectangle 2">
            <a:extLst>
              <a:ext uri="{FF2B5EF4-FFF2-40B4-BE49-F238E27FC236}">
                <a16:creationId xmlns:a16="http://schemas.microsoft.com/office/drawing/2014/main" id="{D7CEEA7F-5829-4A59-830D-D7523A78E380}"/>
              </a:ext>
            </a:extLst>
          </p:cNvPr>
          <p:cNvSpPr>
            <a:spLocks noGrp="1"/>
          </p:cNvSpPr>
          <p:nvPr/>
        </p:nvSpPr>
        <p:spPr>
          <a:xfrm>
            <a:off x="11382375" y="6524625"/>
            <a:ext cx="333375" cy="219075"/>
          </a:xfrm>
          <a:prstGeom prst="rect">
            <a:avLst/>
          </a:prstGeom>
          <a:noFill/>
          <a:ln w="0">
            <a:noFill/>
            <a:prstDash val="solid"/>
          </a:ln>
        </p:spPr>
        <p:txBody>
          <a:bodyPr lIns="0" tIns="0" rIns="0" bIns="0"/>
          <a:lstStyle>
            <a:defPPr>
              <a:defRPr sz="1125" b="0">
                <a:solidFill>
                  <a:srgbClr val="444444"/>
                </a:solidFill>
                <a:latin typeface="Calibri"/>
                <a:ea typeface="Calibri"/>
                <a:cs typeface="Calibri"/>
              </a:defRPr>
            </a:defPPr>
            <a:lvl1pPr>
              <a:defRPr sz="1125" b="0">
                <a:solidFill>
                  <a:srgbClr val="444444"/>
                </a:solidFill>
                <a:latin typeface="Calibri"/>
                <a:ea typeface="Calibri"/>
                <a:cs typeface="Calibri"/>
              </a:defRPr>
            </a:lvl1pPr>
            <a:lvl2pPr>
              <a:defRPr sz="1125" b="0">
                <a:solidFill>
                  <a:srgbClr val="444444"/>
                </a:solidFill>
                <a:latin typeface="Calibri"/>
                <a:ea typeface="Calibri"/>
                <a:cs typeface="Calibri"/>
              </a:defRPr>
            </a:lvl2pPr>
            <a:lvl3pPr>
              <a:defRPr sz="1125" b="0">
                <a:solidFill>
                  <a:srgbClr val="444444"/>
                </a:solidFill>
                <a:latin typeface="Calibri"/>
                <a:ea typeface="Calibri"/>
                <a:cs typeface="Calibri"/>
              </a:defRPr>
            </a:lvl3pPr>
            <a:lvl4pPr>
              <a:defRPr sz="1125" b="0">
                <a:solidFill>
                  <a:srgbClr val="444444"/>
                </a:solidFill>
                <a:latin typeface="Calibri"/>
                <a:ea typeface="Calibri"/>
                <a:cs typeface="Calibri"/>
              </a:defRPr>
            </a:lvl4pPr>
            <a:lvl5pPr>
              <a:defRPr sz="1125" b="0">
                <a:solidFill>
                  <a:srgbClr val="444444"/>
                </a:solidFill>
                <a:latin typeface="Calibri"/>
                <a:ea typeface="Calibri"/>
                <a:cs typeface="Calibri"/>
              </a:defRPr>
            </a:lvl5pPr>
            <a:lvl6pPr>
              <a:defRPr sz="1125" b="0">
                <a:solidFill>
                  <a:srgbClr val="444444"/>
                </a:solidFill>
                <a:latin typeface="Calibri"/>
                <a:ea typeface="Calibri"/>
                <a:cs typeface="Calibri"/>
              </a:defRPr>
            </a:lvl6pPr>
            <a:lvl7pPr>
              <a:defRPr sz="1125" b="0">
                <a:solidFill>
                  <a:srgbClr val="444444"/>
                </a:solidFill>
                <a:latin typeface="Calibri"/>
                <a:ea typeface="Calibri"/>
                <a:cs typeface="Calibri"/>
              </a:defRPr>
            </a:lvl7pPr>
            <a:lvl8pPr>
              <a:defRPr sz="1125" b="0">
                <a:solidFill>
                  <a:srgbClr val="444444"/>
                </a:solidFill>
                <a:latin typeface="Calibri"/>
                <a:ea typeface="Calibri"/>
                <a:cs typeface="Calibri"/>
              </a:defRPr>
            </a:lvl8pPr>
            <a:lvl9pPr>
              <a:defRPr sz="1125" b="0">
                <a:solidFill>
                  <a:srgbClr val="444444"/>
                </a:solidFill>
                <a:latin typeface="Calibri"/>
                <a:ea typeface="Calibri"/>
                <a:cs typeface="Calibri"/>
              </a:defRPr>
            </a:lvl9pPr>
          </a:lstStyle>
          <a:p>
            <a:pPr>
              <a:defRPr sz="1125" b="0">
                <a:solidFill>
                  <a:srgbClr val="444444"/>
                </a:solidFill>
                <a:latin typeface="Calibri"/>
                <a:ea typeface="Calibri"/>
                <a:cs typeface="Calibri"/>
              </a:defRPr>
            </a:pPr>
            <a:endParaRPr sz="1125" b="0">
              <a:solidFill>
                <a:srgbClr val="444444"/>
              </a:solidFill>
              <a:latin typeface="Calibri" panose="020F0502020204030204" pitchFamily="34" charset="0"/>
              <a:ea typeface="Calibri"/>
              <a:cs typeface="Calibri"/>
            </a:endParaRPr>
          </a:p>
        </p:txBody>
      </p:sp>
      <p:graphicFrame>
        <p:nvGraphicFramePr>
          <p:cNvPr id="4" name="Table 3">
            <a:extLst>
              <a:ext uri="{FF2B5EF4-FFF2-40B4-BE49-F238E27FC236}">
                <a16:creationId xmlns:a16="http://schemas.microsoft.com/office/drawing/2014/main" id="{11BA435A-AD35-4E0B-B4E8-12596D7DF3A6}"/>
              </a:ext>
            </a:extLst>
          </p:cNvPr>
          <p:cNvGraphicFramePr/>
          <p:nvPr>
            <p:extLst>
              <p:ext uri="{D42A27DB-BD31-4B8C-83A1-F6EECF244321}">
                <p14:modId xmlns:p14="http://schemas.microsoft.com/office/powerpoint/2010/main" val="4240063768"/>
              </p:ext>
            </p:extLst>
          </p:nvPr>
        </p:nvGraphicFramePr>
        <p:xfrm>
          <a:off x="476250" y="1695450"/>
          <a:ext cx="11239500" cy="2667000"/>
        </p:xfrm>
        <a:graphic>
          <a:graphicData uri="http://schemas.openxmlformats.org/drawingml/2006/table">
            <a:tbl>
              <a:tblPr/>
              <a:tblGrid>
                <a:gridCol w="381000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24765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533400">
                <a:tc>
                  <a:txBody>
                    <a:bodyPr/>
                    <a:lstStyle/>
                    <a:p>
                      <a:r>
                        <a:rPr sz="1425" b="1">
                          <a:solidFill>
                            <a:srgbClr val="000000"/>
                          </a:solidFill>
                          <a:latin typeface="Calibri" panose="020F0502020204030204" pitchFamily="34" charset="0"/>
                          <a:ea typeface="Calibri"/>
                          <a:cs typeface="Calibri"/>
                        </a:rPr>
                        <a:t>Boundary</a:t>
                      </a:r>
                    </a:p>
                  </a:txBody>
                  <a:tcPr>
                    <a:lnL w="9525">
                      <a:solidFill>
                        <a:srgbClr val="BBBBBB"/>
                      </a:solidFill>
                    </a:lnL>
                    <a:lnR w="9525">
                      <a:solidFill>
                        <a:srgbClr val="BBBBBB"/>
                      </a:solidFill>
                    </a:lnR>
                    <a:lnT w="9525">
                      <a:solidFill>
                        <a:srgbClr val="BBBBBB"/>
                      </a:solidFill>
                    </a:lnT>
                    <a:lnB w="9525">
                      <a:solidFill>
                        <a:srgbClr val="BBBBBB"/>
                      </a:solidFill>
                    </a:lnB>
                    <a:solidFill>
                      <a:srgbClr val="D9D9D9"/>
                    </a:solidFill>
                  </a:tcPr>
                </a:tc>
                <a:tc>
                  <a:txBody>
                    <a:bodyPr/>
                    <a:lstStyle/>
                    <a:p>
                      <a:r>
                        <a:rPr sz="1425" b="1">
                          <a:solidFill>
                            <a:srgbClr val="000000"/>
                          </a:solidFill>
                          <a:latin typeface="Calibri" panose="020F0502020204030204" pitchFamily="34" charset="0"/>
                          <a:ea typeface="Calibri"/>
                          <a:cs typeface="Calibri"/>
                        </a:rPr>
                        <a:t>Output</a:t>
                      </a:r>
                    </a:p>
                  </a:txBody>
                  <a:tcPr>
                    <a:lnL w="9525" cap="flat" cmpd="sng" algn="ctr">
                      <a:solidFill>
                        <a:srgbClr val="BBBBBB"/>
                      </a:solidFill>
                      <a:prstDash val="solid"/>
                      <a:round/>
                      <a:headEnd type="none" w="med" len="med"/>
                      <a:tailEnd type="none" w="med" len="med"/>
                    </a:lnL>
                    <a:lnR w="9525">
                      <a:solidFill>
                        <a:srgbClr val="BBBBBB"/>
                      </a:solidFill>
                    </a:lnR>
                    <a:lnT w="9525">
                      <a:solidFill>
                        <a:srgbClr val="BBBBBB"/>
                      </a:solidFill>
                    </a:lnT>
                    <a:lnB w="9525">
                      <a:solidFill>
                        <a:srgbClr val="BBBBBB"/>
                      </a:solidFill>
                    </a:lnB>
                    <a:solidFill>
                      <a:srgbClr val="D9D9D9"/>
                    </a:solidFill>
                  </a:tcPr>
                </a:tc>
                <a:tc>
                  <a:txBody>
                    <a:bodyPr/>
                    <a:lstStyle/>
                    <a:p>
                      <a:r>
                        <a:rPr sz="1425" b="1">
                          <a:solidFill>
                            <a:srgbClr val="000000"/>
                          </a:solidFill>
                          <a:latin typeface="Calibri" panose="020F0502020204030204" pitchFamily="34" charset="0"/>
                          <a:ea typeface="Calibri"/>
                          <a:cs typeface="Calibri"/>
                        </a:rPr>
                        <a:t>Mass</a:t>
                      </a:r>
                    </a:p>
                  </a:txBody>
                  <a:tcPr>
                    <a:lnL w="9525" cap="flat" cmpd="sng" algn="ctr">
                      <a:solidFill>
                        <a:srgbClr val="BBBBBB"/>
                      </a:solidFill>
                      <a:prstDash val="solid"/>
                      <a:round/>
                      <a:headEnd type="none" w="med" len="med"/>
                      <a:tailEnd type="none" w="med" len="med"/>
                    </a:lnL>
                    <a:lnR w="9525">
                      <a:solidFill>
                        <a:srgbClr val="BBBBBB"/>
                      </a:solidFill>
                    </a:lnR>
                    <a:lnT w="9525">
                      <a:solidFill>
                        <a:srgbClr val="BBBBBB"/>
                      </a:solidFill>
                    </a:lnT>
                    <a:lnB w="9525">
                      <a:solidFill>
                        <a:srgbClr val="BBBBBB"/>
                      </a:solidFill>
                    </a:lnB>
                    <a:solidFill>
                      <a:srgbClr val="D9D9D9"/>
                    </a:solidFill>
                  </a:tcPr>
                </a:tc>
                <a:tc>
                  <a:txBody>
                    <a:bodyPr/>
                    <a:lstStyle/>
                    <a:p>
                      <a:r>
                        <a:rPr sz="1425" b="1">
                          <a:solidFill>
                            <a:srgbClr val="000000"/>
                          </a:solidFill>
                          <a:latin typeface="Calibri" panose="020F0502020204030204" pitchFamily="34" charset="0"/>
                          <a:ea typeface="Calibri"/>
                          <a:cs typeface="Calibri"/>
                        </a:rPr>
                        <a:t>Interpretation</a:t>
                      </a:r>
                    </a:p>
                  </a:txBody>
                  <a:tcPr>
                    <a:lnL w="9525" cap="flat" cmpd="sng" algn="ctr">
                      <a:solidFill>
                        <a:srgbClr val="BBBBBB"/>
                      </a:solidFill>
                      <a:prstDash val="solid"/>
                      <a:round/>
                      <a:headEnd type="none" w="med" len="med"/>
                      <a:tailEnd type="none" w="med" len="med"/>
                    </a:lnL>
                    <a:lnR w="9525">
                      <a:solidFill>
                        <a:srgbClr val="BBBBBB"/>
                      </a:solidFill>
                    </a:lnR>
                    <a:lnT w="9525">
                      <a:solidFill>
                        <a:srgbClr val="BBBBBB"/>
                      </a:solidFill>
                    </a:lnT>
                    <a:lnB w="9525">
                      <a:solidFill>
                        <a:srgbClr val="BBBBBB"/>
                      </a:solidFill>
                    </a:lnB>
                    <a:solidFill>
                      <a:srgbClr val="D9D9D9"/>
                    </a:solidFill>
                  </a:tcPr>
                </a:tc>
                <a:extLst>
                  <a:ext uri="{0D108BD9-81ED-4DB2-BD59-A6C34878D82A}">
                    <a16:rowId xmlns:a16="http://schemas.microsoft.com/office/drawing/2014/main" val="10000"/>
                  </a:ext>
                </a:extLst>
              </a:tr>
              <a:tr h="533400">
                <a:tc>
                  <a:txBody>
                    <a:bodyPr/>
                    <a:lstStyle/>
                    <a:p>
                      <a:r>
                        <a:rPr sz="1425" b="0">
                          <a:solidFill>
                            <a:srgbClr val="000000"/>
                          </a:solidFill>
                          <a:latin typeface="Calibri" panose="020F0502020204030204" pitchFamily="34" charset="0"/>
                          <a:ea typeface="Calibri"/>
                          <a:cs typeface="Calibri"/>
                        </a:rPr>
                        <a:t>Model turbine only [S1]</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425" b="0">
                          <a:solidFill>
                            <a:srgbClr val="000000"/>
                          </a:solidFill>
                          <a:latin typeface="Calibri" panose="020F0502020204030204" pitchFamily="34" charset="0"/>
                          <a:ea typeface="Calibri"/>
                          <a:cs typeface="Calibri"/>
                        </a:rPr>
                        <a:t>75 kW shaft nominal</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425" b="0">
                          <a:solidFill>
                            <a:srgbClr val="000000"/>
                          </a:solidFill>
                          <a:latin typeface="Calibri" panose="020F0502020204030204" pitchFamily="34" charset="0"/>
                          <a:ea typeface="Calibri"/>
                          <a:cs typeface="Calibri"/>
                        </a:rPr>
                        <a:t>25 kg bare + 12.5 kg allowance</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425" b="0">
                          <a:solidFill>
                            <a:srgbClr val="000000"/>
                          </a:solidFill>
                          <a:latin typeface="Calibri" panose="020F0502020204030204" pitchFamily="34" charset="0"/>
                          <a:ea typeface="Calibri"/>
                          <a:cs typeface="Calibri"/>
                        </a:rPr>
                        <a:t>2.00 kW/kg including allowance</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extLst>
                  <a:ext uri="{0D108BD9-81ED-4DB2-BD59-A6C34878D82A}">
                    <a16:rowId xmlns:a16="http://schemas.microsoft.com/office/drawing/2014/main" val="10001"/>
                  </a:ext>
                </a:extLst>
              </a:tr>
              <a:tr h="533400">
                <a:tc>
                  <a:txBody>
                    <a:bodyPr/>
                    <a:lstStyle/>
                    <a:p>
                      <a:r>
                        <a:rPr sz="1425" b="0">
                          <a:solidFill>
                            <a:srgbClr val="000000"/>
                          </a:solidFill>
                          <a:latin typeface="Calibri" panose="020F0502020204030204" pitchFamily="34" charset="0"/>
                          <a:ea typeface="Calibri"/>
                          <a:cs typeface="Calibri"/>
                        </a:rPr>
                        <a:t>Model turbine + electric drive [S1]</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425" b="0">
                          <a:solidFill>
                            <a:srgbClr val="000000"/>
                          </a:solidFill>
                          <a:latin typeface="Calibri" panose="020F0502020204030204" pitchFamily="34" charset="0"/>
                          <a:ea typeface="Calibri"/>
                          <a:cs typeface="Calibri"/>
                        </a:rPr>
                        <a:t>64.5 kW total rotor shaft*</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425" b="0">
                          <a:solidFill>
                            <a:srgbClr val="000000"/>
                          </a:solidFill>
                          <a:latin typeface="Calibri" panose="020F0502020204030204" pitchFamily="34" charset="0"/>
                          <a:ea typeface="Calibri"/>
                          <a:cs typeface="Calibri"/>
                        </a:rPr>
                        <a:t>72.5 kg aggregate</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425" b="0">
                          <a:solidFill>
                            <a:srgbClr val="000000"/>
                          </a:solidFill>
                          <a:latin typeface="Calibri" panose="020F0502020204030204" pitchFamily="34" charset="0"/>
                          <a:ea typeface="Calibri"/>
                          <a:cs typeface="Calibri"/>
                        </a:rPr>
                        <a:t>0.89 kW/kg; includes motors</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extLst>
                  <a:ext uri="{0D108BD9-81ED-4DB2-BD59-A6C34878D82A}">
                    <a16:rowId xmlns:a16="http://schemas.microsoft.com/office/drawing/2014/main" val="10002"/>
                  </a:ext>
                </a:extLst>
              </a:tr>
              <a:tr h="533400">
                <a:tc>
                  <a:txBody>
                    <a:bodyPr/>
                    <a:lstStyle/>
                    <a:p>
                      <a:r>
                        <a:rPr sz="1425" b="0">
                          <a:solidFill>
                            <a:srgbClr val="000000"/>
                          </a:solidFill>
                          <a:latin typeface="Calibri" panose="020F0502020204030204" pitchFamily="34" charset="0"/>
                          <a:ea typeface="Calibri"/>
                          <a:cs typeface="Calibri"/>
                        </a:rPr>
                        <a:t>Turbotech TG-R90 [R8]</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425" b="0">
                          <a:solidFill>
                            <a:srgbClr val="000000"/>
                          </a:solidFill>
                          <a:latin typeface="Calibri" panose="020F0502020204030204" pitchFamily="34" charset="0"/>
                          <a:ea typeface="Calibri"/>
                          <a:cs typeface="Calibri"/>
                        </a:rPr>
                        <a:t>85 kW continuous electric</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425" b="0">
                          <a:solidFill>
                            <a:srgbClr val="000000"/>
                          </a:solidFill>
                          <a:latin typeface="Calibri" panose="020F0502020204030204" pitchFamily="34" charset="0"/>
                          <a:ea typeface="Calibri"/>
                          <a:cs typeface="Calibri"/>
                        </a:rPr>
                        <a:t>64 kg without equipment</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425" b="0">
                          <a:solidFill>
                            <a:srgbClr val="000000"/>
                          </a:solidFill>
                          <a:latin typeface="Calibri" panose="020F0502020204030204" pitchFamily="34" charset="0"/>
                          <a:ea typeface="Calibri"/>
                          <a:cs typeface="Calibri"/>
                        </a:rPr>
                        <a:t>1.33 kWe/kg; motor mass extra</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extLst>
                  <a:ext uri="{0D108BD9-81ED-4DB2-BD59-A6C34878D82A}">
                    <a16:rowId xmlns:a16="http://schemas.microsoft.com/office/drawing/2014/main" val="10003"/>
                  </a:ext>
                </a:extLst>
              </a:tr>
              <a:tr h="533400">
                <a:tc>
                  <a:txBody>
                    <a:bodyPr/>
                    <a:lstStyle/>
                    <a:p>
                      <a:r>
                        <a:rPr sz="1425" b="0">
                          <a:solidFill>
                            <a:srgbClr val="000000"/>
                          </a:solidFill>
                          <a:latin typeface="Calibri" panose="020F0502020204030204" pitchFamily="34" charset="0"/>
                          <a:ea typeface="Calibri"/>
                          <a:cs typeface="Calibri"/>
                        </a:rPr>
                        <a:t>Turbotech TP-R150 [R8]</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425" b="0">
                          <a:solidFill>
                            <a:srgbClr val="000000"/>
                          </a:solidFill>
                          <a:latin typeface="Calibri" panose="020F0502020204030204" pitchFamily="34" charset="0"/>
                          <a:ea typeface="Calibri"/>
                          <a:cs typeface="Calibri"/>
                        </a:rPr>
                        <a:t>104 kW shaft</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425" b="0">
                          <a:solidFill>
                            <a:srgbClr val="000000"/>
                          </a:solidFill>
                          <a:latin typeface="Calibri" panose="020F0502020204030204" pitchFamily="34" charset="0"/>
                          <a:ea typeface="Calibri"/>
                          <a:cs typeface="Calibri"/>
                        </a:rPr>
                        <a:t>86 kg fully equipped</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425" b="0">
                          <a:solidFill>
                            <a:srgbClr val="000000"/>
                          </a:solidFill>
                          <a:latin typeface="Calibri" panose="020F0502020204030204" pitchFamily="34" charset="0"/>
                          <a:ea typeface="Calibri"/>
                          <a:cs typeface="Calibri"/>
                        </a:rPr>
                        <a:t>1.21 kW/kg; larger shaft reference</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11C52583-6076-46AD-91DB-E031F779B6BB}"/>
              </a:ext>
            </a:extLst>
          </p:cNvPr>
          <p:cNvSpPr>
            <a:spLocks noGrp="1"/>
          </p:cNvSpPr>
          <p:nvPr/>
        </p:nvSpPr>
        <p:spPr>
          <a:xfrm>
            <a:off x="476250" y="4695825"/>
            <a:ext cx="11239500" cy="723900"/>
          </a:xfrm>
          <a:prstGeom prst="rect">
            <a:avLst/>
          </a:prstGeom>
          <a:noFill/>
          <a:ln w="0">
            <a:noFill/>
            <a:prstDash val="solid"/>
          </a:ln>
        </p:spPr>
        <p:txBody>
          <a:bodyPr lIns="0" tIns="0" rIns="0" bIns="0"/>
          <a:lstStyle>
            <a:defPPr>
              <a:defRPr sz="1800" b="1">
                <a:solidFill>
                  <a:srgbClr val="000000"/>
                </a:solidFill>
                <a:latin typeface="Calibri"/>
                <a:ea typeface="Calibri"/>
                <a:cs typeface="Calibri"/>
              </a:defRPr>
            </a:defPPr>
            <a:lvl1pPr>
              <a:defRPr sz="1800" b="1">
                <a:solidFill>
                  <a:srgbClr val="000000"/>
                </a:solidFill>
                <a:latin typeface="Calibri"/>
                <a:ea typeface="Calibri"/>
                <a:cs typeface="Calibri"/>
              </a:defRPr>
            </a:lvl1pPr>
            <a:lvl2pPr>
              <a:defRPr sz="1800" b="1">
                <a:solidFill>
                  <a:srgbClr val="000000"/>
                </a:solidFill>
                <a:latin typeface="Calibri"/>
                <a:ea typeface="Calibri"/>
                <a:cs typeface="Calibri"/>
              </a:defRPr>
            </a:lvl2pPr>
            <a:lvl3pPr>
              <a:defRPr sz="1800" b="1">
                <a:solidFill>
                  <a:srgbClr val="000000"/>
                </a:solidFill>
                <a:latin typeface="Calibri"/>
                <a:ea typeface="Calibri"/>
                <a:cs typeface="Calibri"/>
              </a:defRPr>
            </a:lvl3pPr>
            <a:lvl4pPr>
              <a:defRPr sz="1800" b="1">
                <a:solidFill>
                  <a:srgbClr val="000000"/>
                </a:solidFill>
                <a:latin typeface="Calibri"/>
                <a:ea typeface="Calibri"/>
                <a:cs typeface="Calibri"/>
              </a:defRPr>
            </a:lvl4pPr>
            <a:lvl5pPr>
              <a:defRPr sz="1800" b="1">
                <a:solidFill>
                  <a:srgbClr val="000000"/>
                </a:solidFill>
                <a:latin typeface="Calibri"/>
                <a:ea typeface="Calibri"/>
                <a:cs typeface="Calibri"/>
              </a:defRPr>
            </a:lvl5pPr>
            <a:lvl6pPr>
              <a:defRPr sz="1800" b="1">
                <a:solidFill>
                  <a:srgbClr val="000000"/>
                </a:solidFill>
                <a:latin typeface="Calibri"/>
                <a:ea typeface="Calibri"/>
                <a:cs typeface="Calibri"/>
              </a:defRPr>
            </a:lvl6pPr>
            <a:lvl7pPr>
              <a:defRPr sz="1800" b="1">
                <a:solidFill>
                  <a:srgbClr val="000000"/>
                </a:solidFill>
                <a:latin typeface="Calibri"/>
                <a:ea typeface="Calibri"/>
                <a:cs typeface="Calibri"/>
              </a:defRPr>
            </a:lvl7pPr>
            <a:lvl8pPr>
              <a:defRPr sz="1800" b="1">
                <a:solidFill>
                  <a:srgbClr val="000000"/>
                </a:solidFill>
                <a:latin typeface="Calibri"/>
                <a:ea typeface="Calibri"/>
                <a:cs typeface="Calibri"/>
              </a:defRPr>
            </a:lvl8pPr>
            <a:lvl9pPr>
              <a:defRPr sz="1800" b="1">
                <a:solidFill>
                  <a:srgbClr val="000000"/>
                </a:solidFill>
                <a:latin typeface="Calibri"/>
                <a:ea typeface="Calibri"/>
                <a:cs typeface="Calibri"/>
              </a:defRPr>
            </a:lvl9pPr>
          </a:lstStyle>
          <a:p>
            <a:pPr>
              <a:defRPr sz="1800" b="1">
                <a:solidFill>
                  <a:srgbClr val="000000"/>
                </a:solidFill>
                <a:latin typeface="Calibri"/>
                <a:ea typeface="Calibri"/>
                <a:cs typeface="Calibri"/>
              </a:defRPr>
            </a:pPr>
            <a:r>
              <a:rPr sz="1800" b="1">
                <a:solidFill>
                  <a:srgbClr val="000000"/>
                </a:solidFill>
                <a:latin typeface="Calibri" panose="020F0502020204030204" pitchFamily="34" charset="0"/>
                <a:ea typeface="Calibri"/>
                <a:cs typeface="Calibri"/>
              </a:rPr>
              <a:t>The generic 25 kg turbine has no matched product. TG-R90 is the nearer power-class electrical source for a supplier inquiry, not a drop-in match.</a:t>
            </a:r>
          </a:p>
        </p:txBody>
      </p:sp>
      <p:sp>
        <p:nvSpPr>
          <p:cNvPr id="6" name="Rectangle 5">
            <a:extLst>
              <a:ext uri="{FF2B5EF4-FFF2-40B4-BE49-F238E27FC236}">
                <a16:creationId xmlns:a16="http://schemas.microsoft.com/office/drawing/2014/main" id="{8DA728D8-9DCD-4638-BB62-F7B31B3CF3D3}"/>
              </a:ext>
            </a:extLst>
          </p:cNvPr>
          <p:cNvSpPr>
            <a:spLocks noGrp="1"/>
          </p:cNvSpPr>
          <p:nvPr/>
        </p:nvSpPr>
        <p:spPr>
          <a:xfrm>
            <a:off x="476250" y="5953125"/>
            <a:ext cx="11239500" cy="323850"/>
          </a:xfrm>
          <a:prstGeom prst="rect">
            <a:avLst/>
          </a:prstGeom>
          <a:noFill/>
          <a:ln w="0">
            <a:noFill/>
            <a:prstDash val="solid"/>
          </a:ln>
        </p:spPr>
        <p:txBody>
          <a:bodyPr lIns="0" tIns="0" rIns="0" bIns="0"/>
          <a:lstStyle>
            <a:defPPr>
              <a:defRPr sz="1200" b="0">
                <a:solidFill>
                  <a:srgbClr val="444444"/>
                </a:solidFill>
                <a:latin typeface="Calibri"/>
                <a:ea typeface="Calibri"/>
                <a:cs typeface="Calibri"/>
              </a:defRPr>
            </a:defPPr>
            <a:lvl1pPr>
              <a:defRPr sz="1200" b="0">
                <a:solidFill>
                  <a:srgbClr val="444444"/>
                </a:solidFill>
                <a:latin typeface="Calibri"/>
                <a:ea typeface="Calibri"/>
                <a:cs typeface="Calibri"/>
              </a:defRPr>
            </a:lvl1pPr>
            <a:lvl2pPr>
              <a:defRPr sz="1200" b="0">
                <a:solidFill>
                  <a:srgbClr val="444444"/>
                </a:solidFill>
                <a:latin typeface="Calibri"/>
                <a:ea typeface="Calibri"/>
                <a:cs typeface="Calibri"/>
              </a:defRPr>
            </a:lvl2pPr>
            <a:lvl3pPr>
              <a:defRPr sz="1200" b="0">
                <a:solidFill>
                  <a:srgbClr val="444444"/>
                </a:solidFill>
                <a:latin typeface="Calibri"/>
                <a:ea typeface="Calibri"/>
                <a:cs typeface="Calibri"/>
              </a:defRPr>
            </a:lvl3pPr>
            <a:lvl4pPr>
              <a:defRPr sz="1200" b="0">
                <a:solidFill>
                  <a:srgbClr val="444444"/>
                </a:solidFill>
                <a:latin typeface="Calibri"/>
                <a:ea typeface="Calibri"/>
                <a:cs typeface="Calibri"/>
              </a:defRPr>
            </a:lvl4pPr>
            <a:lvl5pPr>
              <a:defRPr sz="1200" b="0">
                <a:solidFill>
                  <a:srgbClr val="444444"/>
                </a:solidFill>
                <a:latin typeface="Calibri"/>
                <a:ea typeface="Calibri"/>
                <a:cs typeface="Calibri"/>
              </a:defRPr>
            </a:lvl5pPr>
            <a:lvl6pPr>
              <a:defRPr sz="1200" b="0">
                <a:solidFill>
                  <a:srgbClr val="444444"/>
                </a:solidFill>
                <a:latin typeface="Calibri"/>
                <a:ea typeface="Calibri"/>
                <a:cs typeface="Calibri"/>
              </a:defRPr>
            </a:lvl6pPr>
            <a:lvl7pPr>
              <a:defRPr sz="1200" b="0">
                <a:solidFill>
                  <a:srgbClr val="444444"/>
                </a:solidFill>
                <a:latin typeface="Calibri"/>
                <a:ea typeface="Calibri"/>
                <a:cs typeface="Calibri"/>
              </a:defRPr>
            </a:lvl7pPr>
            <a:lvl8pPr>
              <a:defRPr sz="1200" b="0">
                <a:solidFill>
                  <a:srgbClr val="444444"/>
                </a:solidFill>
                <a:latin typeface="Calibri"/>
                <a:ea typeface="Calibri"/>
                <a:cs typeface="Calibri"/>
              </a:defRPr>
            </a:lvl8pPr>
            <a:lvl9pPr>
              <a:defRPr sz="1200" b="0">
                <a:solidFill>
                  <a:srgbClr val="444444"/>
                </a:solidFill>
                <a:latin typeface="Calibri"/>
                <a:ea typeface="Calibri"/>
                <a:cs typeface="Calibri"/>
              </a:defRPr>
            </a:lvl9pPr>
          </a:lstStyle>
          <a:p>
            <a:pPr>
              <a:defRPr sz="1200" b="0">
                <a:solidFill>
                  <a:srgbClr val="444444"/>
                </a:solidFill>
                <a:latin typeface="Calibri"/>
                <a:ea typeface="Calibri"/>
                <a:cs typeface="Calibri"/>
              </a:defRPr>
            </a:pPr>
            <a:r>
              <a:rPr sz="1200" b="0">
                <a:solidFill>
                  <a:srgbClr val="444444"/>
                </a:solidFill>
                <a:latin typeface="Calibri" panose="020F0502020204030204" pitchFamily="34" charset="0"/>
                <a:ea typeface="Calibri"/>
                <a:cs typeface="Calibri"/>
              </a:rPr>
              <a:t>*75 × 0.86 = 64.5 kW before auxiliary allocation. The 35 kg electric-drive allowance already includes generator and motors; avoid double counting when replacing it.</a:t>
            </a:r>
          </a:p>
        </p:txBody>
      </p:sp>
      <p:sp>
        <p:nvSpPr>
          <p:cNvPr id="7" name="Rectangle 6">
            <a:extLst>
              <a:ext uri="{FF2B5EF4-FFF2-40B4-BE49-F238E27FC236}">
                <a16:creationId xmlns:a16="http://schemas.microsoft.com/office/drawing/2014/main" id="{9F6B0621-9457-4282-9963-6C354B8996A0}"/>
              </a:ext>
            </a:extLst>
          </p:cNvPr>
          <p:cNvSpPr>
            <a:spLocks noGrp="1"/>
          </p:cNvSpPr>
          <p:nvPr/>
        </p:nvSpPr>
        <p:spPr>
          <a:xfrm>
            <a:off x="476250" y="6400800"/>
            <a:ext cx="10810875" cy="381000"/>
          </a:xfrm>
          <a:prstGeom prst="rect">
            <a:avLst/>
          </a:prstGeom>
          <a:noFill/>
          <a:ln w="0">
            <a:noFill/>
            <a:prstDash val="solid"/>
          </a:ln>
        </p:spPr>
        <p:txBody>
          <a:bodyPr lIns="0" tIns="0" rIns="0" bIns="0"/>
          <a:lstStyle>
            <a:defPPr>
              <a:defRPr sz="1125" b="0">
                <a:solidFill>
                  <a:srgbClr val="444444"/>
                </a:solidFill>
                <a:latin typeface="Calibri"/>
                <a:ea typeface="Calibri"/>
                <a:cs typeface="Calibri"/>
              </a:defRPr>
            </a:defPPr>
            <a:lvl1pPr>
              <a:defRPr sz="1125" b="0">
                <a:solidFill>
                  <a:srgbClr val="444444"/>
                </a:solidFill>
                <a:latin typeface="Calibri"/>
                <a:ea typeface="Calibri"/>
                <a:cs typeface="Calibri"/>
              </a:defRPr>
            </a:lvl1pPr>
            <a:lvl2pPr>
              <a:defRPr sz="1125" b="0">
                <a:solidFill>
                  <a:srgbClr val="444444"/>
                </a:solidFill>
                <a:latin typeface="Calibri"/>
                <a:ea typeface="Calibri"/>
                <a:cs typeface="Calibri"/>
              </a:defRPr>
            </a:lvl2pPr>
            <a:lvl3pPr>
              <a:defRPr sz="1125" b="0">
                <a:solidFill>
                  <a:srgbClr val="444444"/>
                </a:solidFill>
                <a:latin typeface="Calibri"/>
                <a:ea typeface="Calibri"/>
                <a:cs typeface="Calibri"/>
              </a:defRPr>
            </a:lvl3pPr>
            <a:lvl4pPr>
              <a:defRPr sz="1125" b="0">
                <a:solidFill>
                  <a:srgbClr val="444444"/>
                </a:solidFill>
                <a:latin typeface="Calibri"/>
                <a:ea typeface="Calibri"/>
                <a:cs typeface="Calibri"/>
              </a:defRPr>
            </a:lvl4pPr>
            <a:lvl5pPr>
              <a:defRPr sz="1125" b="0">
                <a:solidFill>
                  <a:srgbClr val="444444"/>
                </a:solidFill>
                <a:latin typeface="Calibri"/>
                <a:ea typeface="Calibri"/>
                <a:cs typeface="Calibri"/>
              </a:defRPr>
            </a:lvl5pPr>
            <a:lvl6pPr>
              <a:defRPr sz="1125" b="0">
                <a:solidFill>
                  <a:srgbClr val="444444"/>
                </a:solidFill>
                <a:latin typeface="Calibri"/>
                <a:ea typeface="Calibri"/>
                <a:cs typeface="Calibri"/>
              </a:defRPr>
            </a:lvl6pPr>
            <a:lvl7pPr>
              <a:defRPr sz="1125" b="0">
                <a:solidFill>
                  <a:srgbClr val="444444"/>
                </a:solidFill>
                <a:latin typeface="Calibri"/>
                <a:ea typeface="Calibri"/>
                <a:cs typeface="Calibri"/>
              </a:defRPr>
            </a:lvl7pPr>
            <a:lvl8pPr>
              <a:defRPr sz="1125" b="0">
                <a:solidFill>
                  <a:srgbClr val="444444"/>
                </a:solidFill>
                <a:latin typeface="Calibri"/>
                <a:ea typeface="Calibri"/>
                <a:cs typeface="Calibri"/>
              </a:defRPr>
            </a:lvl8pPr>
            <a:lvl9pPr>
              <a:defRPr sz="1125" b="0">
                <a:solidFill>
                  <a:srgbClr val="444444"/>
                </a:solidFill>
                <a:latin typeface="Calibri"/>
                <a:ea typeface="Calibri"/>
                <a:cs typeface="Calibri"/>
              </a:defRPr>
            </a:lvl9pPr>
          </a:lstStyle>
          <a:p>
            <a:pPr>
              <a:defRPr sz="1125" b="0">
                <a:solidFill>
                  <a:srgbClr val="444444"/>
                </a:solidFill>
                <a:latin typeface="Calibri"/>
                <a:ea typeface="Calibri"/>
                <a:cs typeface="Calibri"/>
              </a:defRPr>
            </a:pPr>
            <a:r>
              <a:rPr sz="1125" b="0">
                <a:solidFill>
                  <a:srgbClr val="444444"/>
                </a:solidFill>
                <a:latin typeface="Calibri" panose="020F0502020204030204" pitchFamily="34" charset="0"/>
                <a:ea typeface="Calibri"/>
                <a:cs typeface="Calibri"/>
              </a:rPr>
              <a:t>[R8] Turbotech, Solutions: TG-R90 and TP-R150 specifications (27 Oct 2026).</a:t>
            </a:r>
          </a:p>
          <a:p>
            <a:pPr>
              <a:defRPr sz="1125" b="0">
                <a:solidFill>
                  <a:srgbClr val="444444"/>
                </a:solidFill>
                <a:latin typeface="Calibri"/>
                <a:ea typeface="Calibri"/>
                <a:cs typeface="Calibri"/>
              </a:defRPr>
            </a:pPr>
            <a:r>
              <a:rPr sz="1125" b="0">
                <a:solidFill>
                  <a:srgbClr val="444444"/>
                </a:solidFill>
                <a:latin typeface="Calibri" panose="020F0502020204030204" pitchFamily="34" charset="0"/>
                <a:ea typeface="Calibri"/>
                <a:cs typeface="Calibri"/>
              </a:rPr>
              <a:t>[S1] Central turboelectric surrogate: 75 kW, 25 + 12.5 + 35 kg, 86% total shaft-to-rotor efficiency.</a:t>
            </a:r>
          </a:p>
        </p:txBody>
      </p:sp>
      <p:sp>
        <p:nvSpPr>
          <p:cNvPr id="9" name="TextBox 8">
            <a:extLst>
              <a:ext uri="{FF2B5EF4-FFF2-40B4-BE49-F238E27FC236}">
                <a16:creationId xmlns:a16="http://schemas.microsoft.com/office/drawing/2014/main" id="{0DDDD2C7-890D-C242-CFA9-086662B6ADD1}"/>
              </a:ext>
            </a:extLst>
          </p:cNvPr>
          <p:cNvSpPr txBox="1"/>
          <p:nvPr/>
        </p:nvSpPr>
        <p:spPr>
          <a:xfrm>
            <a:off x="11671300" y="6527800"/>
            <a:ext cx="355600" cy="153888"/>
          </a:xfrm>
          <a:prstGeom prst="rect">
            <a:avLst/>
          </a:prstGeom>
          <a:noFill/>
        </p:spPr>
        <p:txBody>
          <a:bodyPr vert="horz" lIns="0" tIns="0" rIns="0" bIns="0" rtlCol="0">
            <a:spAutoFit/>
          </a:bodyPr>
          <a:lstStyle/>
          <a:p>
            <a:r>
              <a:rPr lang="en-US" sz="1000">
                <a:solidFill>
                  <a:srgbClr val="000000"/>
                </a:solidFill>
                <a:latin typeface="Calibri" panose="020F0502020204030204" pitchFamily="34" charset="0"/>
              </a:rPr>
              <a:t>11</a:t>
            </a:r>
          </a:p>
        </p:txBody>
      </p:sp>
    </p:spTree>
    <p:extLst>
      <p:ext uri="{BB962C8B-B14F-4D97-AF65-F5344CB8AC3E}">
        <p14:creationId xmlns:p14="http://schemas.microsoft.com/office/powerpoint/2010/main" val="30199960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684FF-348C-0E59-9CB5-6C24B08861A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3031617-760C-2F8A-38E4-5118A4DC1416}"/>
              </a:ext>
            </a:extLst>
          </p:cNvPr>
          <p:cNvSpPr>
            <a:spLocks noGrp="1"/>
          </p:cNvSpPr>
          <p:nvPr/>
        </p:nvSpPr>
        <p:spPr>
          <a:xfrm>
            <a:off x="838200" y="361950"/>
            <a:ext cx="10896600" cy="495300"/>
          </a:xfrm>
          <a:prstGeom prst="rect">
            <a:avLst/>
          </a:prstGeom>
          <a:noFill/>
          <a:ln w="0">
            <a:noFill/>
            <a:prstDash val="solid"/>
          </a:ln>
        </p:spPr>
        <p:txBody>
          <a:bodyPr lIns="0" tIns="0" rIns="0" bIns="0"/>
          <a:lstStyle>
            <a:defPPr>
              <a:defRPr sz="2400" b="1">
                <a:solidFill>
                  <a:srgbClr val="000000"/>
                </a:solidFill>
                <a:latin typeface="Calibri"/>
                <a:ea typeface="Calibri"/>
                <a:cs typeface="Calibri"/>
              </a:defRPr>
            </a:defPPr>
            <a:lvl1pPr>
              <a:defRPr sz="2400" b="1">
                <a:solidFill>
                  <a:srgbClr val="000000"/>
                </a:solidFill>
                <a:latin typeface="Calibri"/>
                <a:ea typeface="Calibri"/>
                <a:cs typeface="Calibri"/>
              </a:defRPr>
            </a:lvl1pPr>
            <a:lvl2pPr>
              <a:defRPr sz="2400" b="1">
                <a:solidFill>
                  <a:srgbClr val="000000"/>
                </a:solidFill>
                <a:latin typeface="Calibri"/>
                <a:ea typeface="Calibri"/>
                <a:cs typeface="Calibri"/>
              </a:defRPr>
            </a:lvl2pPr>
            <a:lvl3pPr>
              <a:defRPr sz="2400" b="1">
                <a:solidFill>
                  <a:srgbClr val="000000"/>
                </a:solidFill>
                <a:latin typeface="Calibri"/>
                <a:ea typeface="Calibri"/>
                <a:cs typeface="Calibri"/>
              </a:defRPr>
            </a:lvl3pPr>
            <a:lvl4pPr>
              <a:defRPr sz="2400" b="1">
                <a:solidFill>
                  <a:srgbClr val="000000"/>
                </a:solidFill>
                <a:latin typeface="Calibri"/>
                <a:ea typeface="Calibri"/>
                <a:cs typeface="Calibri"/>
              </a:defRPr>
            </a:lvl4pPr>
            <a:lvl5pPr>
              <a:defRPr sz="2400" b="1">
                <a:solidFill>
                  <a:srgbClr val="000000"/>
                </a:solidFill>
                <a:latin typeface="Calibri"/>
                <a:ea typeface="Calibri"/>
                <a:cs typeface="Calibri"/>
              </a:defRPr>
            </a:lvl5pPr>
            <a:lvl6pPr>
              <a:defRPr sz="2400" b="1">
                <a:solidFill>
                  <a:srgbClr val="000000"/>
                </a:solidFill>
                <a:latin typeface="Calibri"/>
                <a:ea typeface="Calibri"/>
                <a:cs typeface="Calibri"/>
              </a:defRPr>
            </a:lvl6pPr>
            <a:lvl7pPr>
              <a:defRPr sz="2400" b="1">
                <a:solidFill>
                  <a:srgbClr val="000000"/>
                </a:solidFill>
                <a:latin typeface="Calibri"/>
                <a:ea typeface="Calibri"/>
                <a:cs typeface="Calibri"/>
              </a:defRPr>
            </a:lvl7pPr>
            <a:lvl8pPr>
              <a:defRPr sz="2400" b="1">
                <a:solidFill>
                  <a:srgbClr val="000000"/>
                </a:solidFill>
                <a:latin typeface="Calibri"/>
                <a:ea typeface="Calibri"/>
                <a:cs typeface="Calibri"/>
              </a:defRPr>
            </a:lvl8pPr>
            <a:lvl9pPr>
              <a:defRPr sz="2400" b="1">
                <a:solidFill>
                  <a:srgbClr val="000000"/>
                </a:solidFill>
                <a:latin typeface="Calibri"/>
                <a:ea typeface="Calibri"/>
                <a:cs typeface="Calibri"/>
              </a:defRPr>
            </a:lvl9pPr>
          </a:lstStyle>
          <a:p>
            <a:pPr>
              <a:defRPr sz="2400" b="1">
                <a:solidFill>
                  <a:srgbClr val="000000"/>
                </a:solidFill>
                <a:latin typeface="Calibri"/>
                <a:ea typeface="Calibri"/>
                <a:cs typeface="Calibri"/>
              </a:defRPr>
            </a:pPr>
            <a:r>
              <a:rPr sz="2400" b="1">
                <a:solidFill>
                  <a:srgbClr val="000000"/>
                </a:solidFill>
                <a:latin typeface="Calibri" panose="020F0502020204030204" pitchFamily="34" charset="0"/>
                <a:ea typeface="Calibri"/>
                <a:cs typeface="Calibri"/>
              </a:rPr>
              <a:t>Risk #3: Verification and Validation</a:t>
            </a:r>
          </a:p>
        </p:txBody>
      </p:sp>
      <p:sp>
        <p:nvSpPr>
          <p:cNvPr id="3" name="Rectangle 2">
            <a:extLst>
              <a:ext uri="{FF2B5EF4-FFF2-40B4-BE49-F238E27FC236}">
                <a16:creationId xmlns:a16="http://schemas.microsoft.com/office/drawing/2014/main" id="{594035EC-7608-D2F4-73F0-F7B55F76DC63}"/>
              </a:ext>
            </a:extLst>
          </p:cNvPr>
          <p:cNvSpPr>
            <a:spLocks noGrp="1"/>
          </p:cNvSpPr>
          <p:nvPr/>
        </p:nvSpPr>
        <p:spPr>
          <a:xfrm>
            <a:off x="476250" y="895350"/>
            <a:ext cx="11239500" cy="523875"/>
          </a:xfrm>
          <a:prstGeom prst="rect">
            <a:avLst/>
          </a:prstGeom>
          <a:noFill/>
          <a:ln w="0">
            <a:noFill/>
            <a:prstDash val="solid"/>
          </a:ln>
        </p:spPr>
        <p:txBody>
          <a:bodyPr lIns="0" tIns="0" rIns="0" bIns="0"/>
          <a:lstStyle>
            <a:defPPr>
              <a:defRPr sz="1575" b="0">
                <a:solidFill>
                  <a:srgbClr val="444444"/>
                </a:solidFill>
                <a:latin typeface="Calibri"/>
                <a:ea typeface="Calibri"/>
                <a:cs typeface="Calibri"/>
              </a:defRPr>
            </a:defPPr>
            <a:lvl1pPr>
              <a:defRPr sz="1575" b="0">
                <a:solidFill>
                  <a:srgbClr val="444444"/>
                </a:solidFill>
                <a:latin typeface="Calibri"/>
                <a:ea typeface="Calibri"/>
                <a:cs typeface="Calibri"/>
              </a:defRPr>
            </a:lvl1pPr>
            <a:lvl2pPr>
              <a:defRPr sz="1575" b="0">
                <a:solidFill>
                  <a:srgbClr val="444444"/>
                </a:solidFill>
                <a:latin typeface="Calibri"/>
                <a:ea typeface="Calibri"/>
                <a:cs typeface="Calibri"/>
              </a:defRPr>
            </a:lvl2pPr>
            <a:lvl3pPr>
              <a:defRPr sz="1575" b="0">
                <a:solidFill>
                  <a:srgbClr val="444444"/>
                </a:solidFill>
                <a:latin typeface="Calibri"/>
                <a:ea typeface="Calibri"/>
                <a:cs typeface="Calibri"/>
              </a:defRPr>
            </a:lvl3pPr>
            <a:lvl4pPr>
              <a:defRPr sz="1575" b="0">
                <a:solidFill>
                  <a:srgbClr val="444444"/>
                </a:solidFill>
                <a:latin typeface="Calibri"/>
                <a:ea typeface="Calibri"/>
                <a:cs typeface="Calibri"/>
              </a:defRPr>
            </a:lvl4pPr>
            <a:lvl5pPr>
              <a:defRPr sz="1575" b="0">
                <a:solidFill>
                  <a:srgbClr val="444444"/>
                </a:solidFill>
                <a:latin typeface="Calibri"/>
                <a:ea typeface="Calibri"/>
                <a:cs typeface="Calibri"/>
              </a:defRPr>
            </a:lvl5pPr>
            <a:lvl6pPr>
              <a:defRPr sz="1575" b="0">
                <a:solidFill>
                  <a:srgbClr val="444444"/>
                </a:solidFill>
                <a:latin typeface="Calibri"/>
                <a:ea typeface="Calibri"/>
                <a:cs typeface="Calibri"/>
              </a:defRPr>
            </a:lvl6pPr>
            <a:lvl7pPr>
              <a:defRPr sz="1575" b="0">
                <a:solidFill>
                  <a:srgbClr val="444444"/>
                </a:solidFill>
                <a:latin typeface="Calibri"/>
                <a:ea typeface="Calibri"/>
                <a:cs typeface="Calibri"/>
              </a:defRPr>
            </a:lvl7pPr>
            <a:lvl8pPr>
              <a:defRPr sz="1575" b="0">
                <a:solidFill>
                  <a:srgbClr val="444444"/>
                </a:solidFill>
                <a:latin typeface="Calibri"/>
                <a:ea typeface="Calibri"/>
                <a:cs typeface="Calibri"/>
              </a:defRPr>
            </a:lvl8pPr>
            <a:lvl9pPr>
              <a:defRPr sz="1575" b="0">
                <a:solidFill>
                  <a:srgbClr val="444444"/>
                </a:solidFill>
                <a:latin typeface="Calibri"/>
                <a:ea typeface="Calibri"/>
                <a:cs typeface="Calibri"/>
              </a:defRPr>
            </a:lvl9pPr>
          </a:lstStyle>
          <a:p>
            <a:pPr>
              <a:defRPr sz="1575" b="0">
                <a:solidFill>
                  <a:srgbClr val="444444"/>
                </a:solidFill>
                <a:latin typeface="Calibri"/>
                <a:ea typeface="Calibri"/>
                <a:cs typeface="Calibri"/>
              </a:defRPr>
            </a:pPr>
            <a:r>
              <a:rPr sz="1575" b="0">
                <a:solidFill>
                  <a:srgbClr val="444444"/>
                </a:solidFill>
                <a:latin typeface="Calibri" panose="020F0502020204030204" pitchFamily="34" charset="0"/>
                <a:ea typeface="Calibri"/>
                <a:cs typeface="Calibri"/>
              </a:rPr>
              <a:t>Published calculations support numerical reproduction. Flight-data validation of the UAV weight and performance models remains incomplete.</a:t>
            </a:r>
          </a:p>
        </p:txBody>
      </p:sp>
      <p:sp>
        <p:nvSpPr>
          <p:cNvPr id="4" name="Rectangle 3">
            <a:extLst>
              <a:ext uri="{FF2B5EF4-FFF2-40B4-BE49-F238E27FC236}">
                <a16:creationId xmlns:a16="http://schemas.microsoft.com/office/drawing/2014/main" id="{A18E97BC-C0ED-AA06-F42C-2D33D7FE5B4F}"/>
              </a:ext>
            </a:extLst>
          </p:cNvPr>
          <p:cNvSpPr>
            <a:spLocks noGrp="1"/>
          </p:cNvSpPr>
          <p:nvPr/>
        </p:nvSpPr>
        <p:spPr>
          <a:xfrm>
            <a:off x="11382375" y="6524625"/>
            <a:ext cx="333375" cy="219075"/>
          </a:xfrm>
          <a:prstGeom prst="rect">
            <a:avLst/>
          </a:prstGeom>
          <a:noFill/>
          <a:ln w="0">
            <a:noFill/>
            <a:prstDash val="solid"/>
          </a:ln>
        </p:spPr>
        <p:txBody>
          <a:bodyPr lIns="0" tIns="0" rIns="0" bIns="0"/>
          <a:lstStyle>
            <a:defPPr>
              <a:defRPr sz="1125" b="0">
                <a:solidFill>
                  <a:srgbClr val="444444"/>
                </a:solidFill>
                <a:latin typeface="Calibri"/>
                <a:ea typeface="Calibri"/>
                <a:cs typeface="Calibri"/>
              </a:defRPr>
            </a:defPPr>
            <a:lvl1pPr>
              <a:defRPr sz="1125" b="0">
                <a:solidFill>
                  <a:srgbClr val="444444"/>
                </a:solidFill>
                <a:latin typeface="Calibri"/>
                <a:ea typeface="Calibri"/>
                <a:cs typeface="Calibri"/>
              </a:defRPr>
            </a:lvl1pPr>
            <a:lvl2pPr>
              <a:defRPr sz="1125" b="0">
                <a:solidFill>
                  <a:srgbClr val="444444"/>
                </a:solidFill>
                <a:latin typeface="Calibri"/>
                <a:ea typeface="Calibri"/>
                <a:cs typeface="Calibri"/>
              </a:defRPr>
            </a:lvl2pPr>
            <a:lvl3pPr>
              <a:defRPr sz="1125" b="0">
                <a:solidFill>
                  <a:srgbClr val="444444"/>
                </a:solidFill>
                <a:latin typeface="Calibri"/>
                <a:ea typeface="Calibri"/>
                <a:cs typeface="Calibri"/>
              </a:defRPr>
            </a:lvl3pPr>
            <a:lvl4pPr>
              <a:defRPr sz="1125" b="0">
                <a:solidFill>
                  <a:srgbClr val="444444"/>
                </a:solidFill>
                <a:latin typeface="Calibri"/>
                <a:ea typeface="Calibri"/>
                <a:cs typeface="Calibri"/>
              </a:defRPr>
            </a:lvl4pPr>
            <a:lvl5pPr>
              <a:defRPr sz="1125" b="0">
                <a:solidFill>
                  <a:srgbClr val="444444"/>
                </a:solidFill>
                <a:latin typeface="Calibri"/>
                <a:ea typeface="Calibri"/>
                <a:cs typeface="Calibri"/>
              </a:defRPr>
            </a:lvl5pPr>
            <a:lvl6pPr>
              <a:defRPr sz="1125" b="0">
                <a:solidFill>
                  <a:srgbClr val="444444"/>
                </a:solidFill>
                <a:latin typeface="Calibri"/>
                <a:ea typeface="Calibri"/>
                <a:cs typeface="Calibri"/>
              </a:defRPr>
            </a:lvl6pPr>
            <a:lvl7pPr>
              <a:defRPr sz="1125" b="0">
                <a:solidFill>
                  <a:srgbClr val="444444"/>
                </a:solidFill>
                <a:latin typeface="Calibri"/>
                <a:ea typeface="Calibri"/>
                <a:cs typeface="Calibri"/>
              </a:defRPr>
            </a:lvl7pPr>
            <a:lvl8pPr>
              <a:defRPr sz="1125" b="0">
                <a:solidFill>
                  <a:srgbClr val="444444"/>
                </a:solidFill>
                <a:latin typeface="Calibri"/>
                <a:ea typeface="Calibri"/>
                <a:cs typeface="Calibri"/>
              </a:defRPr>
            </a:lvl8pPr>
            <a:lvl9pPr>
              <a:defRPr sz="1125" b="0">
                <a:solidFill>
                  <a:srgbClr val="444444"/>
                </a:solidFill>
                <a:latin typeface="Calibri"/>
                <a:ea typeface="Calibri"/>
                <a:cs typeface="Calibri"/>
              </a:defRPr>
            </a:lvl9pPr>
          </a:lstStyle>
          <a:p>
            <a:pPr>
              <a:defRPr sz="1125" b="0">
                <a:solidFill>
                  <a:srgbClr val="444444"/>
                </a:solidFill>
                <a:latin typeface="Calibri"/>
                <a:ea typeface="Calibri"/>
                <a:cs typeface="Calibri"/>
              </a:defRPr>
            </a:pPr>
            <a:endParaRPr sz="1125" b="0">
              <a:solidFill>
                <a:srgbClr val="444444"/>
              </a:solidFill>
              <a:latin typeface="Calibri" panose="020F0502020204030204" pitchFamily="34" charset="0"/>
              <a:ea typeface="Calibri"/>
              <a:cs typeface="Calibri"/>
            </a:endParaRPr>
          </a:p>
        </p:txBody>
      </p:sp>
      <p:graphicFrame>
        <p:nvGraphicFramePr>
          <p:cNvPr id="6" name="Table 5">
            <a:extLst>
              <a:ext uri="{FF2B5EF4-FFF2-40B4-BE49-F238E27FC236}">
                <a16:creationId xmlns:a16="http://schemas.microsoft.com/office/drawing/2014/main" id="{631C56E6-4B91-5D34-D5B7-9C55D39AFB7F}"/>
              </a:ext>
            </a:extLst>
          </p:cNvPr>
          <p:cNvGraphicFramePr/>
          <p:nvPr>
            <p:extLst>
              <p:ext uri="{D42A27DB-BD31-4B8C-83A1-F6EECF244321}">
                <p14:modId xmlns:p14="http://schemas.microsoft.com/office/powerpoint/2010/main" val="1151723798"/>
              </p:ext>
            </p:extLst>
          </p:nvPr>
        </p:nvGraphicFramePr>
        <p:xfrm>
          <a:off x="476250" y="1733550"/>
          <a:ext cx="11239500" cy="3402330"/>
        </p:xfrm>
        <a:graphic>
          <a:graphicData uri="http://schemas.openxmlformats.org/drawingml/2006/table">
            <a:tbl>
              <a:tblPr/>
              <a:tblGrid>
                <a:gridCol w="2333625">
                  <a:extLst>
                    <a:ext uri="{9D8B030D-6E8A-4147-A177-3AD203B41FA5}">
                      <a16:colId xmlns:a16="http://schemas.microsoft.com/office/drawing/2014/main" val="20000"/>
                    </a:ext>
                  </a:extLst>
                </a:gridCol>
                <a:gridCol w="4714875">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tblGrid>
              <a:tr h="647700">
                <a:tc>
                  <a:txBody>
                    <a:bodyPr/>
                    <a:lstStyle/>
                    <a:p>
                      <a:r>
                        <a:rPr sz="1575" b="1">
                          <a:solidFill>
                            <a:srgbClr val="000000"/>
                          </a:solidFill>
                          <a:latin typeface="Calibri" panose="020F0502020204030204" pitchFamily="34" charset="0"/>
                          <a:ea typeface="Calibri"/>
                          <a:cs typeface="Calibri"/>
                        </a:rPr>
                        <a:t>Evidence level</a:t>
                      </a:r>
                    </a:p>
                  </a:txBody>
                  <a:tcPr>
                    <a:lnL w="9525">
                      <a:solidFill>
                        <a:srgbClr val="BBBBBB"/>
                      </a:solidFill>
                    </a:lnL>
                    <a:lnR w="9525">
                      <a:solidFill>
                        <a:srgbClr val="BBBBBB"/>
                      </a:solidFill>
                    </a:lnR>
                    <a:lnT w="9525">
                      <a:solidFill>
                        <a:srgbClr val="BBBBBB"/>
                      </a:solidFill>
                    </a:lnT>
                    <a:lnB w="9525">
                      <a:solidFill>
                        <a:srgbClr val="BBBBBB"/>
                      </a:solidFill>
                    </a:lnB>
                    <a:solidFill>
                      <a:srgbClr val="D9D9D9"/>
                    </a:solidFill>
                  </a:tcPr>
                </a:tc>
                <a:tc>
                  <a:txBody>
                    <a:bodyPr/>
                    <a:lstStyle/>
                    <a:p>
                      <a:r>
                        <a:rPr sz="1575" b="1">
                          <a:solidFill>
                            <a:srgbClr val="000000"/>
                          </a:solidFill>
                          <a:latin typeface="Calibri" panose="020F0502020204030204" pitchFamily="34" charset="0"/>
                          <a:ea typeface="Calibri"/>
                          <a:cs typeface="Calibri"/>
                        </a:rPr>
                        <a:t>What we have</a:t>
                      </a:r>
                    </a:p>
                  </a:txBody>
                  <a:tcPr>
                    <a:lnL w="9525" cap="flat" cmpd="sng" algn="ctr">
                      <a:solidFill>
                        <a:srgbClr val="BBBBBB"/>
                      </a:solidFill>
                      <a:prstDash val="solid"/>
                      <a:round/>
                      <a:headEnd type="none" w="med" len="med"/>
                      <a:tailEnd type="none" w="med" len="med"/>
                    </a:lnL>
                    <a:lnR w="9525">
                      <a:solidFill>
                        <a:srgbClr val="BBBBBB"/>
                      </a:solidFill>
                    </a:lnR>
                    <a:lnT w="9525">
                      <a:solidFill>
                        <a:srgbClr val="BBBBBB"/>
                      </a:solidFill>
                    </a:lnT>
                    <a:lnB w="9525">
                      <a:solidFill>
                        <a:srgbClr val="BBBBBB"/>
                      </a:solidFill>
                    </a:lnB>
                    <a:solidFill>
                      <a:srgbClr val="D9D9D9"/>
                    </a:solidFill>
                  </a:tcPr>
                </a:tc>
                <a:tc>
                  <a:txBody>
                    <a:bodyPr/>
                    <a:lstStyle/>
                    <a:p>
                      <a:r>
                        <a:rPr sz="1575" b="1">
                          <a:solidFill>
                            <a:srgbClr val="000000"/>
                          </a:solidFill>
                          <a:latin typeface="Calibri" panose="020F0502020204030204" pitchFamily="34" charset="0"/>
                          <a:ea typeface="Calibri"/>
                          <a:cs typeface="Calibri"/>
                        </a:rPr>
                        <a:t>What it establishes</a:t>
                      </a:r>
                    </a:p>
                  </a:txBody>
                  <a:tcPr>
                    <a:lnL w="9525" cap="flat" cmpd="sng" algn="ctr">
                      <a:solidFill>
                        <a:srgbClr val="BBBBBB"/>
                      </a:solidFill>
                      <a:prstDash val="solid"/>
                      <a:round/>
                      <a:headEnd type="none" w="med" len="med"/>
                      <a:tailEnd type="none" w="med" len="med"/>
                    </a:lnL>
                    <a:lnR w="9525">
                      <a:solidFill>
                        <a:srgbClr val="BBBBBB"/>
                      </a:solidFill>
                    </a:lnR>
                    <a:lnT w="9525">
                      <a:solidFill>
                        <a:srgbClr val="BBBBBB"/>
                      </a:solidFill>
                    </a:lnT>
                    <a:lnB w="9525">
                      <a:solidFill>
                        <a:srgbClr val="BBBBBB"/>
                      </a:solidFill>
                    </a:lnB>
                    <a:solidFill>
                      <a:srgbClr val="D9D9D9"/>
                    </a:solidFill>
                  </a:tcPr>
                </a:tc>
                <a:extLst>
                  <a:ext uri="{0D108BD9-81ED-4DB2-BD59-A6C34878D82A}">
                    <a16:rowId xmlns:a16="http://schemas.microsoft.com/office/drawing/2014/main" val="10000"/>
                  </a:ext>
                </a:extLst>
              </a:tr>
              <a:tr h="647700">
                <a:tc>
                  <a:txBody>
                    <a:bodyPr/>
                    <a:lstStyle/>
                    <a:p>
                      <a:r>
                        <a:rPr sz="1575" b="0">
                          <a:solidFill>
                            <a:srgbClr val="000000"/>
                          </a:solidFill>
                          <a:latin typeface="Calibri" panose="020F0502020204030204" pitchFamily="34" charset="0"/>
                          <a:ea typeface="Calibri"/>
                          <a:cs typeface="Calibri"/>
                        </a:rPr>
                        <a:t>Numerical reproduction</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575" b="0">
                          <a:solidFill>
                            <a:srgbClr val="000000"/>
                          </a:solidFill>
                          <a:latin typeface="Calibri" panose="020F0502020204030204" pitchFamily="34" charset="0"/>
                          <a:ea typeface="Calibri"/>
                          <a:cs typeface="Calibri"/>
                        </a:rPr>
                        <a:t>Radotich turboshaft tiltrotor; Silva electric quadrotor and side-by-side cases</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575" b="0">
                          <a:solidFill>
                            <a:srgbClr val="000000"/>
                          </a:solidFill>
                          <a:latin typeface="Calibri" panose="020F0502020204030204" pitchFamily="34" charset="0"/>
                          <a:ea typeface="Calibri"/>
                          <a:cs typeface="Calibri"/>
                        </a:rPr>
                        <a:t>Selected published sizing / performance quantities can be repeated</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extLst>
                  <a:ext uri="{0D108BD9-81ED-4DB2-BD59-A6C34878D82A}">
                    <a16:rowId xmlns:a16="http://schemas.microsoft.com/office/drawing/2014/main" val="10001"/>
                  </a:ext>
                </a:extLst>
              </a:tr>
              <a:tr h="647700">
                <a:tc>
                  <a:txBody>
                    <a:bodyPr/>
                    <a:lstStyle/>
                    <a:p>
                      <a:r>
                        <a:rPr sz="1575" b="0">
                          <a:solidFill>
                            <a:srgbClr val="000000"/>
                          </a:solidFill>
                          <a:latin typeface="Calibri" panose="020F0502020204030204" pitchFamily="34" charset="0"/>
                          <a:ea typeface="Calibri"/>
                          <a:cs typeface="Calibri"/>
                        </a:rPr>
                        <a:t>Unresolved reproduction</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lang="en-US" sz="1575" b="0">
                          <a:solidFill>
                            <a:srgbClr val="000000"/>
                          </a:solidFill>
                          <a:latin typeface="Calibri" panose="020F0502020204030204" pitchFamily="34" charset="0"/>
                          <a:ea typeface="Calibri"/>
                          <a:cs typeface="Calibri"/>
                        </a:rPr>
                        <a:t>Electric TR trim discrepancy; L+C mismatch and TE constraint flags</a:t>
                      </a:r>
                      <a:endParaRPr sz="1575" b="0">
                        <a:solidFill>
                          <a:srgbClr val="000000"/>
                        </a:solidFill>
                        <a:latin typeface="Calibri" panose="020F0502020204030204" pitchFamily="34" charset="0"/>
                        <a:ea typeface="Calibri"/>
                        <a:cs typeface="Calibri"/>
                      </a:endParaRP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575" b="0">
                          <a:solidFill>
                            <a:srgbClr val="000000"/>
                          </a:solidFill>
                          <a:latin typeface="Calibri" panose="020F0502020204030204" pitchFamily="34" charset="0"/>
                          <a:ea typeface="Calibri"/>
                          <a:cs typeface="Calibri"/>
                        </a:rPr>
                        <a:t>These cases cannot support a blanket verification claim</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extLst>
                  <a:ext uri="{0D108BD9-81ED-4DB2-BD59-A6C34878D82A}">
                    <a16:rowId xmlns:a16="http://schemas.microsoft.com/office/drawing/2014/main" val="10002"/>
                  </a:ext>
                </a:extLst>
              </a:tr>
              <a:tr h="647700">
                <a:tc>
                  <a:txBody>
                    <a:bodyPr/>
                    <a:lstStyle/>
                    <a:p>
                      <a:r>
                        <a:rPr sz="1575" b="0">
                          <a:solidFill>
                            <a:srgbClr val="000000"/>
                          </a:solidFill>
                          <a:latin typeface="Calibri" panose="020F0502020204030204" pitchFamily="34" charset="0"/>
                          <a:ea typeface="Calibri"/>
                          <a:cs typeface="Calibri"/>
                        </a:rPr>
                        <a:t>UAV reconstruction</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575" b="0">
                          <a:solidFill>
                            <a:srgbClr val="000000"/>
                          </a:solidFill>
                          <a:latin typeface="Calibri" panose="020F0502020204030204" pitchFamily="34" charset="0"/>
                          <a:ea typeface="Calibri"/>
                          <a:cs typeface="Calibri"/>
                        </a:rPr>
                        <a:t>Bell Eagle Eye and KARI TR60 studies using stated geometry and explicit assumptions</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575" b="0">
                          <a:solidFill>
                            <a:srgbClr val="000000"/>
                          </a:solidFill>
                          <a:latin typeface="Calibri" panose="020F0502020204030204" pitchFamily="34" charset="0"/>
                          <a:ea typeface="Calibri"/>
                          <a:cs typeface="Calibri"/>
                        </a:rPr>
                        <a:t>Conditional plausibility and model sensitivity</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extLst>
                  <a:ext uri="{0D108BD9-81ED-4DB2-BD59-A6C34878D82A}">
                    <a16:rowId xmlns:a16="http://schemas.microsoft.com/office/drawing/2014/main" val="10003"/>
                  </a:ext>
                </a:extLst>
              </a:tr>
              <a:tr h="647700">
                <a:tc>
                  <a:txBody>
                    <a:bodyPr/>
                    <a:lstStyle/>
                    <a:p>
                      <a:r>
                        <a:rPr sz="1575" b="0">
                          <a:solidFill>
                            <a:srgbClr val="000000"/>
                          </a:solidFill>
                          <a:latin typeface="Calibri" panose="020F0502020204030204" pitchFamily="34" charset="0"/>
                          <a:ea typeface="Calibri"/>
                          <a:cs typeface="Calibri"/>
                        </a:rPr>
                        <a:t>Empirical validation still needed</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575" b="0">
                          <a:solidFill>
                            <a:srgbClr val="000000"/>
                          </a:solidFill>
                          <a:latin typeface="Calibri" panose="020F0502020204030204" pitchFamily="34" charset="0"/>
                          <a:ea typeface="Calibri"/>
                          <a:cs typeface="Calibri"/>
                        </a:rPr>
                        <a:t>Measured empty-weight breakdown, rotor maps, engine SFC / RPM and condition-matched flight power / fuel data</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575" b="0">
                          <a:solidFill>
                            <a:srgbClr val="000000"/>
                          </a:solidFill>
                          <a:latin typeface="Calibri" panose="020F0502020204030204" pitchFamily="34" charset="0"/>
                          <a:ea typeface="Calibri"/>
                          <a:cs typeface="Calibri"/>
                        </a:rPr>
                        <a:t>Independent prediction accuracy on an actual aircraft</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extLst>
                  <a:ext uri="{0D108BD9-81ED-4DB2-BD59-A6C34878D82A}">
                    <a16:rowId xmlns:a16="http://schemas.microsoft.com/office/drawing/2014/main" val="10004"/>
                  </a:ext>
                </a:extLst>
              </a:tr>
            </a:tbl>
          </a:graphicData>
        </a:graphic>
      </p:graphicFrame>
      <p:sp>
        <p:nvSpPr>
          <p:cNvPr id="14" name="Rectangle 13">
            <a:extLst>
              <a:ext uri="{FF2B5EF4-FFF2-40B4-BE49-F238E27FC236}">
                <a16:creationId xmlns:a16="http://schemas.microsoft.com/office/drawing/2014/main" id="{413C7EA3-61C9-AA9D-5074-692929021694}"/>
              </a:ext>
            </a:extLst>
          </p:cNvPr>
          <p:cNvSpPr>
            <a:spLocks noGrp="1"/>
          </p:cNvSpPr>
          <p:nvPr/>
        </p:nvSpPr>
        <p:spPr>
          <a:xfrm>
            <a:off x="476250" y="5305425"/>
            <a:ext cx="11239500" cy="428625"/>
          </a:xfrm>
          <a:prstGeom prst="rect">
            <a:avLst/>
          </a:prstGeom>
          <a:noFill/>
          <a:ln w="0">
            <a:noFill/>
            <a:prstDash val="solid"/>
          </a:ln>
        </p:spPr>
        <p:txBody>
          <a:bodyPr lIns="0" tIns="0" rIns="0" bIns="0"/>
          <a:lstStyle>
            <a:defPPr>
              <a:defRPr sz="1800" b="1">
                <a:solidFill>
                  <a:srgbClr val="000000"/>
                </a:solidFill>
                <a:latin typeface="Calibri"/>
                <a:ea typeface="Calibri"/>
                <a:cs typeface="Calibri"/>
              </a:defRPr>
            </a:defPPr>
            <a:lvl1pPr>
              <a:defRPr sz="1800" b="1">
                <a:solidFill>
                  <a:srgbClr val="000000"/>
                </a:solidFill>
                <a:latin typeface="Calibri"/>
                <a:ea typeface="Calibri"/>
                <a:cs typeface="Calibri"/>
              </a:defRPr>
            </a:lvl1pPr>
            <a:lvl2pPr>
              <a:defRPr sz="1800" b="1">
                <a:solidFill>
                  <a:srgbClr val="000000"/>
                </a:solidFill>
                <a:latin typeface="Calibri"/>
                <a:ea typeface="Calibri"/>
                <a:cs typeface="Calibri"/>
              </a:defRPr>
            </a:lvl2pPr>
            <a:lvl3pPr>
              <a:defRPr sz="1800" b="1">
                <a:solidFill>
                  <a:srgbClr val="000000"/>
                </a:solidFill>
                <a:latin typeface="Calibri"/>
                <a:ea typeface="Calibri"/>
                <a:cs typeface="Calibri"/>
              </a:defRPr>
            </a:lvl3pPr>
            <a:lvl4pPr>
              <a:defRPr sz="1800" b="1">
                <a:solidFill>
                  <a:srgbClr val="000000"/>
                </a:solidFill>
                <a:latin typeface="Calibri"/>
                <a:ea typeface="Calibri"/>
                <a:cs typeface="Calibri"/>
              </a:defRPr>
            </a:lvl4pPr>
            <a:lvl5pPr>
              <a:defRPr sz="1800" b="1">
                <a:solidFill>
                  <a:srgbClr val="000000"/>
                </a:solidFill>
                <a:latin typeface="Calibri"/>
                <a:ea typeface="Calibri"/>
                <a:cs typeface="Calibri"/>
              </a:defRPr>
            </a:lvl5pPr>
            <a:lvl6pPr>
              <a:defRPr sz="1800" b="1">
                <a:solidFill>
                  <a:srgbClr val="000000"/>
                </a:solidFill>
                <a:latin typeface="Calibri"/>
                <a:ea typeface="Calibri"/>
                <a:cs typeface="Calibri"/>
              </a:defRPr>
            </a:lvl6pPr>
            <a:lvl7pPr>
              <a:defRPr sz="1800" b="1">
                <a:solidFill>
                  <a:srgbClr val="000000"/>
                </a:solidFill>
                <a:latin typeface="Calibri"/>
                <a:ea typeface="Calibri"/>
                <a:cs typeface="Calibri"/>
              </a:defRPr>
            </a:lvl7pPr>
            <a:lvl8pPr>
              <a:defRPr sz="1800" b="1">
                <a:solidFill>
                  <a:srgbClr val="000000"/>
                </a:solidFill>
                <a:latin typeface="Calibri"/>
                <a:ea typeface="Calibri"/>
                <a:cs typeface="Calibri"/>
              </a:defRPr>
            </a:lvl8pPr>
            <a:lvl9pPr>
              <a:defRPr sz="1800" b="1">
                <a:solidFill>
                  <a:srgbClr val="000000"/>
                </a:solidFill>
                <a:latin typeface="Calibri"/>
                <a:ea typeface="Calibri"/>
                <a:cs typeface="Calibri"/>
              </a:defRPr>
            </a:lvl9pPr>
          </a:lstStyle>
          <a:p>
            <a:pPr>
              <a:defRPr sz="1800" b="1">
                <a:solidFill>
                  <a:srgbClr val="000000"/>
                </a:solidFill>
                <a:latin typeface="Calibri"/>
                <a:ea typeface="Calibri"/>
                <a:cs typeface="Calibri"/>
              </a:defRPr>
            </a:pPr>
            <a:r>
              <a:rPr sz="1800" b="1">
                <a:solidFill>
                  <a:srgbClr val="000000"/>
                </a:solidFill>
                <a:latin typeface="Calibri" panose="020F0502020204030204" pitchFamily="34" charset="0"/>
                <a:ea typeface="Calibri"/>
                <a:cs typeface="Calibri"/>
              </a:rPr>
              <a:t>TR100 remains a literature cross-check; no TR100 simulation result is claimed.</a:t>
            </a:r>
          </a:p>
        </p:txBody>
      </p:sp>
      <p:sp>
        <p:nvSpPr>
          <p:cNvPr id="15" name="Rectangle 14">
            <a:extLst>
              <a:ext uri="{FF2B5EF4-FFF2-40B4-BE49-F238E27FC236}">
                <a16:creationId xmlns:a16="http://schemas.microsoft.com/office/drawing/2014/main" id="{C8724B7C-E8DE-C487-78E7-E69E7A3C0D0F}"/>
              </a:ext>
            </a:extLst>
          </p:cNvPr>
          <p:cNvSpPr>
            <a:spLocks noGrp="1"/>
          </p:cNvSpPr>
          <p:nvPr/>
        </p:nvSpPr>
        <p:spPr>
          <a:xfrm>
            <a:off x="476250" y="5953125"/>
            <a:ext cx="11239500" cy="323850"/>
          </a:xfrm>
          <a:prstGeom prst="rect">
            <a:avLst/>
          </a:prstGeom>
          <a:noFill/>
          <a:ln w="0">
            <a:noFill/>
            <a:prstDash val="solid"/>
          </a:ln>
        </p:spPr>
        <p:txBody>
          <a:bodyPr lIns="0" tIns="0" rIns="0" bIns="0"/>
          <a:lstStyle>
            <a:defPPr>
              <a:defRPr sz="1200" b="0">
                <a:solidFill>
                  <a:srgbClr val="444444"/>
                </a:solidFill>
                <a:latin typeface="Calibri"/>
                <a:ea typeface="Calibri"/>
                <a:cs typeface="Calibri"/>
              </a:defRPr>
            </a:defPPr>
            <a:lvl1pPr>
              <a:defRPr sz="1200" b="0">
                <a:solidFill>
                  <a:srgbClr val="444444"/>
                </a:solidFill>
                <a:latin typeface="Calibri"/>
                <a:ea typeface="Calibri"/>
                <a:cs typeface="Calibri"/>
              </a:defRPr>
            </a:lvl1pPr>
            <a:lvl2pPr>
              <a:defRPr sz="1200" b="0">
                <a:solidFill>
                  <a:srgbClr val="444444"/>
                </a:solidFill>
                <a:latin typeface="Calibri"/>
                <a:ea typeface="Calibri"/>
                <a:cs typeface="Calibri"/>
              </a:defRPr>
            </a:lvl2pPr>
            <a:lvl3pPr>
              <a:defRPr sz="1200" b="0">
                <a:solidFill>
                  <a:srgbClr val="444444"/>
                </a:solidFill>
                <a:latin typeface="Calibri"/>
                <a:ea typeface="Calibri"/>
                <a:cs typeface="Calibri"/>
              </a:defRPr>
            </a:lvl3pPr>
            <a:lvl4pPr>
              <a:defRPr sz="1200" b="0">
                <a:solidFill>
                  <a:srgbClr val="444444"/>
                </a:solidFill>
                <a:latin typeface="Calibri"/>
                <a:ea typeface="Calibri"/>
                <a:cs typeface="Calibri"/>
              </a:defRPr>
            </a:lvl4pPr>
            <a:lvl5pPr>
              <a:defRPr sz="1200" b="0">
                <a:solidFill>
                  <a:srgbClr val="444444"/>
                </a:solidFill>
                <a:latin typeface="Calibri"/>
                <a:ea typeface="Calibri"/>
                <a:cs typeface="Calibri"/>
              </a:defRPr>
            </a:lvl5pPr>
            <a:lvl6pPr>
              <a:defRPr sz="1200" b="0">
                <a:solidFill>
                  <a:srgbClr val="444444"/>
                </a:solidFill>
                <a:latin typeface="Calibri"/>
                <a:ea typeface="Calibri"/>
                <a:cs typeface="Calibri"/>
              </a:defRPr>
            </a:lvl6pPr>
            <a:lvl7pPr>
              <a:defRPr sz="1200" b="0">
                <a:solidFill>
                  <a:srgbClr val="444444"/>
                </a:solidFill>
                <a:latin typeface="Calibri"/>
                <a:ea typeface="Calibri"/>
                <a:cs typeface="Calibri"/>
              </a:defRPr>
            </a:lvl7pPr>
            <a:lvl8pPr>
              <a:defRPr sz="1200" b="0">
                <a:solidFill>
                  <a:srgbClr val="444444"/>
                </a:solidFill>
                <a:latin typeface="Calibri"/>
                <a:ea typeface="Calibri"/>
                <a:cs typeface="Calibri"/>
              </a:defRPr>
            </a:lvl8pPr>
            <a:lvl9pPr>
              <a:defRPr sz="1200" b="0">
                <a:solidFill>
                  <a:srgbClr val="444444"/>
                </a:solidFill>
                <a:latin typeface="Calibri"/>
                <a:ea typeface="Calibri"/>
                <a:cs typeface="Calibri"/>
              </a:defRPr>
            </a:lvl9pPr>
          </a:lstStyle>
          <a:p>
            <a:pPr>
              <a:defRPr sz="1200" b="0">
                <a:solidFill>
                  <a:srgbClr val="444444"/>
                </a:solidFill>
                <a:latin typeface="Calibri"/>
                <a:ea typeface="Calibri"/>
                <a:cs typeface="Calibri"/>
              </a:defRPr>
            </a:pPr>
            <a:endParaRPr>
              <a:latin typeface="Calibri" panose="020F0502020204030204" pitchFamily="34" charset="0"/>
            </a:endParaRPr>
          </a:p>
        </p:txBody>
      </p:sp>
      <p:sp>
        <p:nvSpPr>
          <p:cNvPr id="16" name="Rectangle 15">
            <a:extLst>
              <a:ext uri="{FF2B5EF4-FFF2-40B4-BE49-F238E27FC236}">
                <a16:creationId xmlns:a16="http://schemas.microsoft.com/office/drawing/2014/main" id="{9803DCC4-A37E-B210-4AED-D10DB5E354B4}"/>
              </a:ext>
            </a:extLst>
          </p:cNvPr>
          <p:cNvSpPr>
            <a:spLocks noGrp="1"/>
          </p:cNvSpPr>
          <p:nvPr/>
        </p:nvSpPr>
        <p:spPr>
          <a:xfrm>
            <a:off x="476250" y="6400800"/>
            <a:ext cx="10810875" cy="381000"/>
          </a:xfrm>
          <a:prstGeom prst="rect">
            <a:avLst/>
          </a:prstGeom>
          <a:noFill/>
          <a:ln w="0">
            <a:noFill/>
            <a:prstDash val="solid"/>
          </a:ln>
        </p:spPr>
        <p:txBody>
          <a:bodyPr lIns="0" tIns="0" rIns="0" bIns="0"/>
          <a:lstStyle>
            <a:defPPr>
              <a:defRPr sz="1125" b="0">
                <a:solidFill>
                  <a:srgbClr val="444444"/>
                </a:solidFill>
                <a:latin typeface="Calibri"/>
                <a:ea typeface="Calibri"/>
                <a:cs typeface="Calibri"/>
              </a:defRPr>
            </a:defPPr>
            <a:lvl1pPr>
              <a:defRPr sz="1125" b="0">
                <a:solidFill>
                  <a:srgbClr val="444444"/>
                </a:solidFill>
                <a:latin typeface="Calibri"/>
                <a:ea typeface="Calibri"/>
                <a:cs typeface="Calibri"/>
              </a:defRPr>
            </a:lvl1pPr>
            <a:lvl2pPr>
              <a:defRPr sz="1125" b="0">
                <a:solidFill>
                  <a:srgbClr val="444444"/>
                </a:solidFill>
                <a:latin typeface="Calibri"/>
                <a:ea typeface="Calibri"/>
                <a:cs typeface="Calibri"/>
              </a:defRPr>
            </a:lvl2pPr>
            <a:lvl3pPr>
              <a:defRPr sz="1125" b="0">
                <a:solidFill>
                  <a:srgbClr val="444444"/>
                </a:solidFill>
                <a:latin typeface="Calibri"/>
                <a:ea typeface="Calibri"/>
                <a:cs typeface="Calibri"/>
              </a:defRPr>
            </a:lvl3pPr>
            <a:lvl4pPr>
              <a:defRPr sz="1125" b="0">
                <a:solidFill>
                  <a:srgbClr val="444444"/>
                </a:solidFill>
                <a:latin typeface="Calibri"/>
                <a:ea typeface="Calibri"/>
                <a:cs typeface="Calibri"/>
              </a:defRPr>
            </a:lvl4pPr>
            <a:lvl5pPr>
              <a:defRPr sz="1125" b="0">
                <a:solidFill>
                  <a:srgbClr val="444444"/>
                </a:solidFill>
                <a:latin typeface="Calibri"/>
                <a:ea typeface="Calibri"/>
                <a:cs typeface="Calibri"/>
              </a:defRPr>
            </a:lvl5pPr>
            <a:lvl6pPr>
              <a:defRPr sz="1125" b="0">
                <a:solidFill>
                  <a:srgbClr val="444444"/>
                </a:solidFill>
                <a:latin typeface="Calibri"/>
                <a:ea typeface="Calibri"/>
                <a:cs typeface="Calibri"/>
              </a:defRPr>
            </a:lvl6pPr>
            <a:lvl7pPr>
              <a:defRPr sz="1125" b="0">
                <a:solidFill>
                  <a:srgbClr val="444444"/>
                </a:solidFill>
                <a:latin typeface="Calibri"/>
                <a:ea typeface="Calibri"/>
                <a:cs typeface="Calibri"/>
              </a:defRPr>
            </a:lvl7pPr>
            <a:lvl8pPr>
              <a:defRPr sz="1125" b="0">
                <a:solidFill>
                  <a:srgbClr val="444444"/>
                </a:solidFill>
                <a:latin typeface="Calibri"/>
                <a:ea typeface="Calibri"/>
                <a:cs typeface="Calibri"/>
              </a:defRPr>
            </a:lvl8pPr>
            <a:lvl9pPr>
              <a:defRPr sz="1125" b="0">
                <a:solidFill>
                  <a:srgbClr val="444444"/>
                </a:solidFill>
                <a:latin typeface="Calibri"/>
                <a:ea typeface="Calibri"/>
                <a:cs typeface="Calibri"/>
              </a:defRPr>
            </a:lvl9pPr>
          </a:lstStyle>
          <a:p>
            <a:pPr>
              <a:defRPr sz="1125" b="0">
                <a:solidFill>
                  <a:srgbClr val="444444"/>
                </a:solidFill>
                <a:latin typeface="Calibri"/>
                <a:ea typeface="Calibri"/>
                <a:cs typeface="Calibri"/>
              </a:defRPr>
            </a:pPr>
            <a:r>
              <a:rPr sz="1125" b="0">
                <a:solidFill>
                  <a:srgbClr val="444444"/>
                </a:solidFill>
                <a:latin typeface="Calibri" panose="020F0502020204030204" pitchFamily="34" charset="0"/>
                <a:ea typeface="Calibri"/>
                <a:cs typeface="Calibri"/>
              </a:rPr>
              <a:t>[R1–R4] NASA numerical benchmarks and UAV reference specifications. [S3–S5] Saved reproduction / reconstruction reports.</a:t>
            </a:r>
          </a:p>
          <a:p>
            <a:pPr>
              <a:defRPr sz="1125" b="0">
                <a:solidFill>
                  <a:srgbClr val="444444"/>
                </a:solidFill>
                <a:latin typeface="Calibri"/>
                <a:ea typeface="Calibri"/>
                <a:cs typeface="Calibri"/>
              </a:defRPr>
            </a:pPr>
            <a:r>
              <a:rPr sz="1125" b="0">
                <a:solidFill>
                  <a:srgbClr val="444444"/>
                </a:solidFill>
                <a:latin typeface="Calibri" panose="020F0502020204030204" pitchFamily="34" charset="0"/>
                <a:ea typeface="Calibri"/>
                <a:cs typeface="Calibri"/>
              </a:rPr>
              <a:t>Verification, constraint screening and validation are separate evidence levels.</a:t>
            </a:r>
          </a:p>
        </p:txBody>
      </p:sp>
      <p:sp>
        <p:nvSpPr>
          <p:cNvPr id="5" name="TextBox 4">
            <a:extLst>
              <a:ext uri="{FF2B5EF4-FFF2-40B4-BE49-F238E27FC236}">
                <a16:creationId xmlns:a16="http://schemas.microsoft.com/office/drawing/2014/main" id="{2C087954-B7E7-FBDE-703E-9D5D81CE9EC2}"/>
              </a:ext>
            </a:extLst>
          </p:cNvPr>
          <p:cNvSpPr txBox="1"/>
          <p:nvPr/>
        </p:nvSpPr>
        <p:spPr>
          <a:xfrm>
            <a:off x="11671300" y="6527800"/>
            <a:ext cx="355600" cy="153888"/>
          </a:xfrm>
          <a:prstGeom prst="rect">
            <a:avLst/>
          </a:prstGeom>
          <a:noFill/>
        </p:spPr>
        <p:txBody>
          <a:bodyPr vert="horz" lIns="0" tIns="0" rIns="0" bIns="0" rtlCol="0">
            <a:spAutoFit/>
          </a:bodyPr>
          <a:lstStyle/>
          <a:p>
            <a:r>
              <a:rPr lang="en-US" sz="1000">
                <a:solidFill>
                  <a:srgbClr val="000000"/>
                </a:solidFill>
                <a:latin typeface="Calibri" panose="020F0502020204030204" pitchFamily="34" charset="0"/>
              </a:rPr>
              <a:t>12</a:t>
            </a:r>
          </a:p>
        </p:txBody>
      </p:sp>
    </p:spTree>
    <p:extLst>
      <p:ext uri="{BB962C8B-B14F-4D97-AF65-F5344CB8AC3E}">
        <p14:creationId xmlns:p14="http://schemas.microsoft.com/office/powerpoint/2010/main" val="419739028"/>
      </p:ext>
    </p:extLst>
  </p:cSld>
  <p:clrMapOvr>
    <a:masterClrMapping/>
  </p:clrMapOvr>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37C9869-8482-8886-585C-325E89852787}"/>
              </a:ext>
            </a:extLst>
          </p:cNvPr>
          <p:cNvSpPr>
            <a:spLocks noGrp="1"/>
          </p:cNvSpPr>
          <p:nvPr/>
        </p:nvSpPr>
        <p:spPr>
          <a:xfrm>
            <a:off x="838200" y="361950"/>
            <a:ext cx="10896600" cy="495300"/>
          </a:xfrm>
          <a:prstGeom prst="rect">
            <a:avLst/>
          </a:prstGeom>
          <a:noFill/>
          <a:ln w="0">
            <a:noFill/>
            <a:prstDash val="solid"/>
          </a:ln>
        </p:spPr>
        <p:txBody>
          <a:bodyPr lIns="0" tIns="0" rIns="0" bIns="0"/>
          <a:lstStyle>
            <a:defPPr>
              <a:defRPr sz="2400" b="1">
                <a:solidFill>
                  <a:srgbClr val="000000"/>
                </a:solidFill>
                <a:latin typeface="Calibri"/>
                <a:ea typeface="Calibri"/>
                <a:cs typeface="Calibri"/>
              </a:defRPr>
            </a:defPPr>
            <a:lvl1pPr>
              <a:defRPr sz="2400" b="1">
                <a:solidFill>
                  <a:srgbClr val="000000"/>
                </a:solidFill>
                <a:latin typeface="Calibri"/>
                <a:ea typeface="Calibri"/>
                <a:cs typeface="Calibri"/>
              </a:defRPr>
            </a:lvl1pPr>
            <a:lvl2pPr>
              <a:defRPr sz="2400" b="1">
                <a:solidFill>
                  <a:srgbClr val="000000"/>
                </a:solidFill>
                <a:latin typeface="Calibri"/>
                <a:ea typeface="Calibri"/>
                <a:cs typeface="Calibri"/>
              </a:defRPr>
            </a:lvl2pPr>
            <a:lvl3pPr>
              <a:defRPr sz="2400" b="1">
                <a:solidFill>
                  <a:srgbClr val="000000"/>
                </a:solidFill>
                <a:latin typeface="Calibri"/>
                <a:ea typeface="Calibri"/>
                <a:cs typeface="Calibri"/>
              </a:defRPr>
            </a:lvl3pPr>
            <a:lvl4pPr>
              <a:defRPr sz="2400" b="1">
                <a:solidFill>
                  <a:srgbClr val="000000"/>
                </a:solidFill>
                <a:latin typeface="Calibri"/>
                <a:ea typeface="Calibri"/>
                <a:cs typeface="Calibri"/>
              </a:defRPr>
            </a:lvl4pPr>
            <a:lvl5pPr>
              <a:defRPr sz="2400" b="1">
                <a:solidFill>
                  <a:srgbClr val="000000"/>
                </a:solidFill>
                <a:latin typeface="Calibri"/>
                <a:ea typeface="Calibri"/>
                <a:cs typeface="Calibri"/>
              </a:defRPr>
            </a:lvl5pPr>
            <a:lvl6pPr>
              <a:defRPr sz="2400" b="1">
                <a:solidFill>
                  <a:srgbClr val="000000"/>
                </a:solidFill>
                <a:latin typeface="Calibri"/>
                <a:ea typeface="Calibri"/>
                <a:cs typeface="Calibri"/>
              </a:defRPr>
            </a:lvl6pPr>
            <a:lvl7pPr>
              <a:defRPr sz="2400" b="1">
                <a:solidFill>
                  <a:srgbClr val="000000"/>
                </a:solidFill>
                <a:latin typeface="Calibri"/>
                <a:ea typeface="Calibri"/>
                <a:cs typeface="Calibri"/>
              </a:defRPr>
            </a:lvl7pPr>
            <a:lvl8pPr>
              <a:defRPr sz="2400" b="1">
                <a:solidFill>
                  <a:srgbClr val="000000"/>
                </a:solidFill>
                <a:latin typeface="Calibri"/>
                <a:ea typeface="Calibri"/>
                <a:cs typeface="Calibri"/>
              </a:defRPr>
            </a:lvl8pPr>
            <a:lvl9pPr>
              <a:defRPr sz="2400" b="1">
                <a:solidFill>
                  <a:srgbClr val="000000"/>
                </a:solidFill>
                <a:latin typeface="Calibri"/>
                <a:ea typeface="Calibri"/>
                <a:cs typeface="Calibri"/>
              </a:defRPr>
            </a:lvl9pPr>
          </a:lstStyle>
          <a:p>
            <a:pPr>
              <a:defRPr sz="2400" b="1">
                <a:solidFill>
                  <a:srgbClr val="000000"/>
                </a:solidFill>
                <a:latin typeface="Calibri"/>
                <a:ea typeface="Calibri"/>
                <a:cs typeface="Calibri"/>
              </a:defRPr>
            </a:pPr>
            <a:r>
              <a:rPr sz="2400" b="1">
                <a:solidFill>
                  <a:srgbClr val="000000"/>
                </a:solidFill>
                <a:latin typeface="Calibri" panose="020F0502020204030204" pitchFamily="34" charset="0"/>
                <a:ea typeface="Calibri"/>
                <a:cs typeface="Calibri"/>
              </a:rPr>
              <a:t>Verification: NASA Turboshaft Tiltrotor</a:t>
            </a:r>
          </a:p>
        </p:txBody>
      </p:sp>
      <p:sp>
        <p:nvSpPr>
          <p:cNvPr id="3" name="Rectangle 2">
            <a:extLst>
              <a:ext uri="{FF2B5EF4-FFF2-40B4-BE49-F238E27FC236}">
                <a16:creationId xmlns:a16="http://schemas.microsoft.com/office/drawing/2014/main" id="{084C10C5-C60A-D622-6703-DD95A43486E8}"/>
              </a:ext>
            </a:extLst>
          </p:cNvPr>
          <p:cNvSpPr>
            <a:spLocks noGrp="1"/>
          </p:cNvSpPr>
          <p:nvPr/>
        </p:nvSpPr>
        <p:spPr>
          <a:xfrm>
            <a:off x="476250" y="895350"/>
            <a:ext cx="11239500" cy="523875"/>
          </a:xfrm>
          <a:prstGeom prst="rect">
            <a:avLst/>
          </a:prstGeom>
          <a:noFill/>
          <a:ln w="0">
            <a:noFill/>
            <a:prstDash val="solid"/>
          </a:ln>
        </p:spPr>
        <p:txBody>
          <a:bodyPr lIns="0" tIns="0" rIns="0" bIns="0"/>
          <a:lstStyle>
            <a:defPPr>
              <a:defRPr sz="1575" b="0">
                <a:solidFill>
                  <a:srgbClr val="444444"/>
                </a:solidFill>
                <a:latin typeface="Calibri"/>
                <a:ea typeface="Calibri"/>
                <a:cs typeface="Calibri"/>
              </a:defRPr>
            </a:defPPr>
            <a:lvl1pPr>
              <a:defRPr sz="1575" b="0">
                <a:solidFill>
                  <a:srgbClr val="444444"/>
                </a:solidFill>
                <a:latin typeface="Calibri"/>
                <a:ea typeface="Calibri"/>
                <a:cs typeface="Calibri"/>
              </a:defRPr>
            </a:lvl1pPr>
            <a:lvl2pPr>
              <a:defRPr sz="1575" b="0">
                <a:solidFill>
                  <a:srgbClr val="444444"/>
                </a:solidFill>
                <a:latin typeface="Calibri"/>
                <a:ea typeface="Calibri"/>
                <a:cs typeface="Calibri"/>
              </a:defRPr>
            </a:lvl2pPr>
            <a:lvl3pPr>
              <a:defRPr sz="1575" b="0">
                <a:solidFill>
                  <a:srgbClr val="444444"/>
                </a:solidFill>
                <a:latin typeface="Calibri"/>
                <a:ea typeface="Calibri"/>
                <a:cs typeface="Calibri"/>
              </a:defRPr>
            </a:lvl3pPr>
            <a:lvl4pPr>
              <a:defRPr sz="1575" b="0">
                <a:solidFill>
                  <a:srgbClr val="444444"/>
                </a:solidFill>
                <a:latin typeface="Calibri"/>
                <a:ea typeface="Calibri"/>
                <a:cs typeface="Calibri"/>
              </a:defRPr>
            </a:lvl4pPr>
            <a:lvl5pPr>
              <a:defRPr sz="1575" b="0">
                <a:solidFill>
                  <a:srgbClr val="444444"/>
                </a:solidFill>
                <a:latin typeface="Calibri"/>
                <a:ea typeface="Calibri"/>
                <a:cs typeface="Calibri"/>
              </a:defRPr>
            </a:lvl5pPr>
            <a:lvl6pPr>
              <a:defRPr sz="1575" b="0">
                <a:solidFill>
                  <a:srgbClr val="444444"/>
                </a:solidFill>
                <a:latin typeface="Calibri"/>
                <a:ea typeface="Calibri"/>
                <a:cs typeface="Calibri"/>
              </a:defRPr>
            </a:lvl6pPr>
            <a:lvl7pPr>
              <a:defRPr sz="1575" b="0">
                <a:solidFill>
                  <a:srgbClr val="444444"/>
                </a:solidFill>
                <a:latin typeface="Calibri"/>
                <a:ea typeface="Calibri"/>
                <a:cs typeface="Calibri"/>
              </a:defRPr>
            </a:lvl7pPr>
            <a:lvl8pPr>
              <a:defRPr sz="1575" b="0">
                <a:solidFill>
                  <a:srgbClr val="444444"/>
                </a:solidFill>
                <a:latin typeface="Calibri"/>
                <a:ea typeface="Calibri"/>
                <a:cs typeface="Calibri"/>
              </a:defRPr>
            </a:lvl8pPr>
            <a:lvl9pPr>
              <a:defRPr sz="1575" b="0">
                <a:solidFill>
                  <a:srgbClr val="444444"/>
                </a:solidFill>
                <a:latin typeface="Calibri"/>
                <a:ea typeface="Calibri"/>
                <a:cs typeface="Calibri"/>
              </a:defRPr>
            </a:lvl9pPr>
          </a:lstStyle>
          <a:p>
            <a:pPr>
              <a:defRPr sz="1575" b="0">
                <a:solidFill>
                  <a:srgbClr val="444444"/>
                </a:solidFill>
                <a:latin typeface="Calibri"/>
                <a:ea typeface="Calibri"/>
                <a:cs typeface="Calibri"/>
              </a:defRPr>
            </a:pPr>
            <a:r>
              <a:rPr sz="1575" b="0">
                <a:solidFill>
                  <a:srgbClr val="444444"/>
                </a:solidFill>
                <a:latin typeface="Calibri" panose="020F0502020204030204" pitchFamily="34" charset="0"/>
                <a:ea typeface="Calibri"/>
                <a:cs typeface="Calibri"/>
              </a:rPr>
              <a:t>The six-passenger, 75-nm turboshaft benchmark reproduces the six quantities below within 0.4%.</a:t>
            </a:r>
          </a:p>
        </p:txBody>
      </p:sp>
      <p:sp>
        <p:nvSpPr>
          <p:cNvPr id="4" name="Rectangle 3">
            <a:extLst>
              <a:ext uri="{FF2B5EF4-FFF2-40B4-BE49-F238E27FC236}">
                <a16:creationId xmlns:a16="http://schemas.microsoft.com/office/drawing/2014/main" id="{DBA1C96C-A406-459C-2492-5D3A2D2612C6}"/>
              </a:ext>
            </a:extLst>
          </p:cNvPr>
          <p:cNvSpPr>
            <a:spLocks noGrp="1"/>
          </p:cNvSpPr>
          <p:nvPr/>
        </p:nvSpPr>
        <p:spPr>
          <a:xfrm>
            <a:off x="11382375" y="6524625"/>
            <a:ext cx="333375" cy="219075"/>
          </a:xfrm>
          <a:prstGeom prst="rect">
            <a:avLst/>
          </a:prstGeom>
          <a:noFill/>
          <a:ln w="0">
            <a:noFill/>
            <a:prstDash val="solid"/>
          </a:ln>
        </p:spPr>
        <p:txBody>
          <a:bodyPr lIns="0" tIns="0" rIns="0" bIns="0"/>
          <a:lstStyle>
            <a:defPPr>
              <a:defRPr sz="1125" b="0">
                <a:solidFill>
                  <a:srgbClr val="444444"/>
                </a:solidFill>
                <a:latin typeface="Calibri"/>
                <a:ea typeface="Calibri"/>
                <a:cs typeface="Calibri"/>
              </a:defRPr>
            </a:defPPr>
            <a:lvl1pPr>
              <a:defRPr sz="1125" b="0">
                <a:solidFill>
                  <a:srgbClr val="444444"/>
                </a:solidFill>
                <a:latin typeface="Calibri"/>
                <a:ea typeface="Calibri"/>
                <a:cs typeface="Calibri"/>
              </a:defRPr>
            </a:lvl1pPr>
            <a:lvl2pPr>
              <a:defRPr sz="1125" b="0">
                <a:solidFill>
                  <a:srgbClr val="444444"/>
                </a:solidFill>
                <a:latin typeface="Calibri"/>
                <a:ea typeface="Calibri"/>
                <a:cs typeface="Calibri"/>
              </a:defRPr>
            </a:lvl2pPr>
            <a:lvl3pPr>
              <a:defRPr sz="1125" b="0">
                <a:solidFill>
                  <a:srgbClr val="444444"/>
                </a:solidFill>
                <a:latin typeface="Calibri"/>
                <a:ea typeface="Calibri"/>
                <a:cs typeface="Calibri"/>
              </a:defRPr>
            </a:lvl3pPr>
            <a:lvl4pPr>
              <a:defRPr sz="1125" b="0">
                <a:solidFill>
                  <a:srgbClr val="444444"/>
                </a:solidFill>
                <a:latin typeface="Calibri"/>
                <a:ea typeface="Calibri"/>
                <a:cs typeface="Calibri"/>
              </a:defRPr>
            </a:lvl4pPr>
            <a:lvl5pPr>
              <a:defRPr sz="1125" b="0">
                <a:solidFill>
                  <a:srgbClr val="444444"/>
                </a:solidFill>
                <a:latin typeface="Calibri"/>
                <a:ea typeface="Calibri"/>
                <a:cs typeface="Calibri"/>
              </a:defRPr>
            </a:lvl5pPr>
            <a:lvl6pPr>
              <a:defRPr sz="1125" b="0">
                <a:solidFill>
                  <a:srgbClr val="444444"/>
                </a:solidFill>
                <a:latin typeface="Calibri"/>
                <a:ea typeface="Calibri"/>
                <a:cs typeface="Calibri"/>
              </a:defRPr>
            </a:lvl6pPr>
            <a:lvl7pPr>
              <a:defRPr sz="1125" b="0">
                <a:solidFill>
                  <a:srgbClr val="444444"/>
                </a:solidFill>
                <a:latin typeface="Calibri"/>
                <a:ea typeface="Calibri"/>
                <a:cs typeface="Calibri"/>
              </a:defRPr>
            </a:lvl7pPr>
            <a:lvl8pPr>
              <a:defRPr sz="1125" b="0">
                <a:solidFill>
                  <a:srgbClr val="444444"/>
                </a:solidFill>
                <a:latin typeface="Calibri"/>
                <a:ea typeface="Calibri"/>
                <a:cs typeface="Calibri"/>
              </a:defRPr>
            </a:lvl8pPr>
            <a:lvl9pPr>
              <a:defRPr sz="1125" b="0">
                <a:solidFill>
                  <a:srgbClr val="444444"/>
                </a:solidFill>
                <a:latin typeface="Calibri"/>
                <a:ea typeface="Calibri"/>
                <a:cs typeface="Calibri"/>
              </a:defRPr>
            </a:lvl9pPr>
          </a:lstStyle>
          <a:p>
            <a:pPr>
              <a:defRPr sz="1125" b="0">
                <a:solidFill>
                  <a:srgbClr val="444444"/>
                </a:solidFill>
                <a:latin typeface="Calibri"/>
                <a:ea typeface="Calibri"/>
                <a:cs typeface="Calibri"/>
              </a:defRPr>
            </a:pPr>
            <a:endParaRPr sz="1125" b="0">
              <a:solidFill>
                <a:srgbClr val="444444"/>
              </a:solidFill>
              <a:latin typeface="Calibri" panose="020F0502020204030204" pitchFamily="34" charset="0"/>
              <a:ea typeface="Calibri"/>
              <a:cs typeface="Calibri"/>
            </a:endParaRPr>
          </a:p>
        </p:txBody>
      </p:sp>
      <p:graphicFrame>
        <p:nvGraphicFramePr>
          <p:cNvPr id="5" name="Table 4">
            <a:extLst>
              <a:ext uri="{FF2B5EF4-FFF2-40B4-BE49-F238E27FC236}">
                <a16:creationId xmlns:a16="http://schemas.microsoft.com/office/drawing/2014/main" id="{E4E15616-6D69-4132-E7BC-024F13B4F310}"/>
              </a:ext>
            </a:extLst>
          </p:cNvPr>
          <p:cNvGraphicFramePr/>
          <p:nvPr>
            <p:extLst>
              <p:ext uri="{D42A27DB-BD31-4B8C-83A1-F6EECF244321}">
                <p14:modId xmlns:p14="http://schemas.microsoft.com/office/powerpoint/2010/main" val="3826592907"/>
              </p:ext>
            </p:extLst>
          </p:nvPr>
        </p:nvGraphicFramePr>
        <p:xfrm>
          <a:off x="476250" y="1743075"/>
          <a:ext cx="7429500" cy="3286122"/>
        </p:xfrm>
        <a:graphic>
          <a:graphicData uri="http://schemas.openxmlformats.org/drawingml/2006/table">
            <a:tbl>
              <a:tblPr/>
              <a:tblGrid>
                <a:gridCol w="3000375">
                  <a:extLst>
                    <a:ext uri="{9D8B030D-6E8A-4147-A177-3AD203B41FA5}">
                      <a16:colId xmlns:a16="http://schemas.microsoft.com/office/drawing/2014/main" val="20000"/>
                    </a:ext>
                  </a:extLst>
                </a:gridCol>
                <a:gridCol w="1476375">
                  <a:extLst>
                    <a:ext uri="{9D8B030D-6E8A-4147-A177-3AD203B41FA5}">
                      <a16:colId xmlns:a16="http://schemas.microsoft.com/office/drawing/2014/main" val="20001"/>
                    </a:ext>
                  </a:extLst>
                </a:gridCol>
                <a:gridCol w="1476375">
                  <a:extLst>
                    <a:ext uri="{9D8B030D-6E8A-4147-A177-3AD203B41FA5}">
                      <a16:colId xmlns:a16="http://schemas.microsoft.com/office/drawing/2014/main" val="20002"/>
                    </a:ext>
                  </a:extLst>
                </a:gridCol>
                <a:gridCol w="1476375">
                  <a:extLst>
                    <a:ext uri="{9D8B030D-6E8A-4147-A177-3AD203B41FA5}">
                      <a16:colId xmlns:a16="http://schemas.microsoft.com/office/drawing/2014/main" val="20003"/>
                    </a:ext>
                  </a:extLst>
                </a:gridCol>
              </a:tblGrid>
              <a:tr h="469446">
                <a:tc>
                  <a:txBody>
                    <a:bodyPr/>
                    <a:lstStyle/>
                    <a:p>
                      <a:r>
                        <a:rPr sz="1425" b="1">
                          <a:solidFill>
                            <a:srgbClr val="000000"/>
                          </a:solidFill>
                          <a:latin typeface="Calibri" panose="020F0502020204030204" pitchFamily="34" charset="0"/>
                          <a:ea typeface="Calibri"/>
                          <a:cs typeface="Calibri"/>
                        </a:rPr>
                        <a:t>Quantity</a:t>
                      </a:r>
                    </a:p>
                  </a:txBody>
                  <a:tcPr>
                    <a:lnL w="9525">
                      <a:solidFill>
                        <a:srgbClr val="BBBBBB"/>
                      </a:solidFill>
                    </a:lnL>
                    <a:lnR w="9525">
                      <a:solidFill>
                        <a:srgbClr val="BBBBBB"/>
                      </a:solidFill>
                    </a:lnR>
                    <a:lnT w="9525">
                      <a:solidFill>
                        <a:srgbClr val="BBBBBB"/>
                      </a:solidFill>
                    </a:lnT>
                    <a:lnB w="9525">
                      <a:solidFill>
                        <a:srgbClr val="BBBBBB"/>
                      </a:solidFill>
                    </a:lnB>
                    <a:solidFill>
                      <a:srgbClr val="D9D9D9"/>
                    </a:solidFill>
                  </a:tcPr>
                </a:tc>
                <a:tc>
                  <a:txBody>
                    <a:bodyPr/>
                    <a:lstStyle/>
                    <a:p>
                      <a:r>
                        <a:rPr sz="1425" b="1">
                          <a:solidFill>
                            <a:srgbClr val="000000"/>
                          </a:solidFill>
                          <a:latin typeface="Calibri" panose="020F0502020204030204" pitchFamily="34" charset="0"/>
                          <a:ea typeface="Calibri"/>
                          <a:cs typeface="Calibri"/>
                        </a:rPr>
                        <a:t>Published</a:t>
                      </a:r>
                    </a:p>
                  </a:txBody>
                  <a:tcPr>
                    <a:lnL w="9525" cap="flat" cmpd="sng" algn="ctr">
                      <a:solidFill>
                        <a:srgbClr val="BBBBBB"/>
                      </a:solidFill>
                      <a:prstDash val="solid"/>
                      <a:round/>
                      <a:headEnd type="none" w="med" len="med"/>
                      <a:tailEnd type="none" w="med" len="med"/>
                    </a:lnL>
                    <a:lnR w="9525">
                      <a:solidFill>
                        <a:srgbClr val="BBBBBB"/>
                      </a:solidFill>
                    </a:lnR>
                    <a:lnT w="9525">
                      <a:solidFill>
                        <a:srgbClr val="BBBBBB"/>
                      </a:solidFill>
                    </a:lnT>
                    <a:lnB w="9525">
                      <a:solidFill>
                        <a:srgbClr val="BBBBBB"/>
                      </a:solidFill>
                    </a:lnB>
                    <a:solidFill>
                      <a:srgbClr val="D9D9D9"/>
                    </a:solidFill>
                  </a:tcPr>
                </a:tc>
                <a:tc>
                  <a:txBody>
                    <a:bodyPr/>
                    <a:lstStyle/>
                    <a:p>
                      <a:r>
                        <a:rPr sz="1425" b="1">
                          <a:solidFill>
                            <a:srgbClr val="000000"/>
                          </a:solidFill>
                          <a:latin typeface="Calibri" panose="020F0502020204030204" pitchFamily="34" charset="0"/>
                          <a:ea typeface="Calibri"/>
                          <a:cs typeface="Calibri"/>
                        </a:rPr>
                        <a:t>Reproduced</a:t>
                      </a:r>
                    </a:p>
                  </a:txBody>
                  <a:tcPr>
                    <a:lnL w="9525" cap="flat" cmpd="sng" algn="ctr">
                      <a:solidFill>
                        <a:srgbClr val="BBBBBB"/>
                      </a:solidFill>
                      <a:prstDash val="solid"/>
                      <a:round/>
                      <a:headEnd type="none" w="med" len="med"/>
                      <a:tailEnd type="none" w="med" len="med"/>
                    </a:lnL>
                    <a:lnR w="9525">
                      <a:solidFill>
                        <a:srgbClr val="BBBBBB"/>
                      </a:solidFill>
                    </a:lnR>
                    <a:lnT w="9525">
                      <a:solidFill>
                        <a:srgbClr val="BBBBBB"/>
                      </a:solidFill>
                    </a:lnT>
                    <a:lnB w="9525">
                      <a:solidFill>
                        <a:srgbClr val="BBBBBB"/>
                      </a:solidFill>
                    </a:lnB>
                    <a:solidFill>
                      <a:srgbClr val="D9D9D9"/>
                    </a:solidFill>
                  </a:tcPr>
                </a:tc>
                <a:tc>
                  <a:txBody>
                    <a:bodyPr/>
                    <a:lstStyle/>
                    <a:p>
                      <a:r>
                        <a:rPr sz="1425" b="1">
                          <a:solidFill>
                            <a:srgbClr val="000000"/>
                          </a:solidFill>
                          <a:latin typeface="Calibri" panose="020F0502020204030204" pitchFamily="34" charset="0"/>
                          <a:ea typeface="Calibri"/>
                          <a:cs typeface="Calibri"/>
                        </a:rPr>
                        <a:t>Difference</a:t>
                      </a:r>
                    </a:p>
                  </a:txBody>
                  <a:tcPr>
                    <a:lnL w="9525" cap="flat" cmpd="sng" algn="ctr">
                      <a:solidFill>
                        <a:srgbClr val="BBBBBB"/>
                      </a:solidFill>
                      <a:prstDash val="solid"/>
                      <a:round/>
                      <a:headEnd type="none" w="med" len="med"/>
                      <a:tailEnd type="none" w="med" len="med"/>
                    </a:lnL>
                    <a:lnR w="9525">
                      <a:solidFill>
                        <a:srgbClr val="BBBBBB"/>
                      </a:solidFill>
                    </a:lnR>
                    <a:lnT w="9525">
                      <a:solidFill>
                        <a:srgbClr val="BBBBBB"/>
                      </a:solidFill>
                    </a:lnT>
                    <a:lnB w="9525">
                      <a:solidFill>
                        <a:srgbClr val="BBBBBB"/>
                      </a:solidFill>
                    </a:lnB>
                    <a:solidFill>
                      <a:srgbClr val="D9D9D9"/>
                    </a:solidFill>
                  </a:tcPr>
                </a:tc>
                <a:extLst>
                  <a:ext uri="{0D108BD9-81ED-4DB2-BD59-A6C34878D82A}">
                    <a16:rowId xmlns:a16="http://schemas.microsoft.com/office/drawing/2014/main" val="10000"/>
                  </a:ext>
                </a:extLst>
              </a:tr>
              <a:tr h="469446">
                <a:tc>
                  <a:txBody>
                    <a:bodyPr/>
                    <a:lstStyle/>
                    <a:p>
                      <a:r>
                        <a:rPr sz="1425" b="0">
                          <a:solidFill>
                            <a:srgbClr val="000000"/>
                          </a:solidFill>
                          <a:latin typeface="Calibri" panose="020F0502020204030204" pitchFamily="34" charset="0"/>
                          <a:ea typeface="Calibri"/>
                          <a:cs typeface="Calibri"/>
                        </a:rPr>
                        <a:t>Gross weight, lb</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425" b="0">
                          <a:solidFill>
                            <a:srgbClr val="000000"/>
                          </a:solidFill>
                          <a:latin typeface="Calibri" panose="020F0502020204030204" pitchFamily="34" charset="0"/>
                          <a:ea typeface="Calibri"/>
                          <a:cs typeface="Calibri"/>
                        </a:rPr>
                        <a:t>4,299.7</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425" b="0">
                          <a:solidFill>
                            <a:srgbClr val="000000"/>
                          </a:solidFill>
                          <a:latin typeface="Calibri" panose="020F0502020204030204" pitchFamily="34" charset="0"/>
                          <a:ea typeface="Calibri"/>
                          <a:cs typeface="Calibri"/>
                        </a:rPr>
                        <a:t>4,299.2</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425" b="0">
                          <a:solidFill>
                            <a:srgbClr val="000000"/>
                          </a:solidFill>
                          <a:latin typeface="Calibri" panose="020F0502020204030204" pitchFamily="34" charset="0"/>
                          <a:ea typeface="Calibri"/>
                          <a:cs typeface="Calibri"/>
                        </a:rPr>
                        <a:t>−0.01%</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extLst>
                  <a:ext uri="{0D108BD9-81ED-4DB2-BD59-A6C34878D82A}">
                    <a16:rowId xmlns:a16="http://schemas.microsoft.com/office/drawing/2014/main" val="10001"/>
                  </a:ext>
                </a:extLst>
              </a:tr>
              <a:tr h="469446">
                <a:tc>
                  <a:txBody>
                    <a:bodyPr/>
                    <a:lstStyle/>
                    <a:p>
                      <a:r>
                        <a:rPr sz="1425" b="0">
                          <a:solidFill>
                            <a:srgbClr val="000000"/>
                          </a:solidFill>
                          <a:latin typeface="Calibri" panose="020F0502020204030204" pitchFamily="34" charset="0"/>
                          <a:ea typeface="Calibri"/>
                          <a:cs typeface="Calibri"/>
                        </a:rPr>
                        <a:t>Empty weight, lb</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425" b="0">
                          <a:solidFill>
                            <a:srgbClr val="000000"/>
                          </a:solidFill>
                          <a:latin typeface="Calibri" panose="020F0502020204030204" pitchFamily="34" charset="0"/>
                          <a:ea typeface="Calibri"/>
                          <a:cs typeface="Calibri"/>
                        </a:rPr>
                        <a:t>2,893.1</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425" b="0">
                          <a:solidFill>
                            <a:srgbClr val="000000"/>
                          </a:solidFill>
                          <a:latin typeface="Calibri" panose="020F0502020204030204" pitchFamily="34" charset="0"/>
                          <a:ea typeface="Calibri"/>
                          <a:cs typeface="Calibri"/>
                        </a:rPr>
                        <a:t>2,893.0</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425" b="0">
                          <a:solidFill>
                            <a:srgbClr val="000000"/>
                          </a:solidFill>
                          <a:latin typeface="Calibri" panose="020F0502020204030204" pitchFamily="34" charset="0"/>
                          <a:ea typeface="Calibri"/>
                          <a:cs typeface="Calibri"/>
                        </a:rPr>
                        <a:t>&lt;0.01%</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extLst>
                  <a:ext uri="{0D108BD9-81ED-4DB2-BD59-A6C34878D82A}">
                    <a16:rowId xmlns:a16="http://schemas.microsoft.com/office/drawing/2014/main" val="10002"/>
                  </a:ext>
                </a:extLst>
              </a:tr>
              <a:tr h="469446">
                <a:tc>
                  <a:txBody>
                    <a:bodyPr/>
                    <a:lstStyle/>
                    <a:p>
                      <a:r>
                        <a:rPr sz="1425" b="0">
                          <a:solidFill>
                            <a:srgbClr val="000000"/>
                          </a:solidFill>
                          <a:latin typeface="Calibri" panose="020F0502020204030204" pitchFamily="34" charset="0"/>
                          <a:ea typeface="Calibri"/>
                          <a:cs typeface="Calibri"/>
                        </a:rPr>
                        <a:t>Rotor radius, ft</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425" b="0">
                          <a:solidFill>
                            <a:srgbClr val="000000"/>
                          </a:solidFill>
                          <a:latin typeface="Calibri" panose="020F0502020204030204" pitchFamily="34" charset="0"/>
                          <a:ea typeface="Calibri"/>
                          <a:cs typeface="Calibri"/>
                        </a:rPr>
                        <a:t>7.55</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425" b="0">
                          <a:solidFill>
                            <a:srgbClr val="000000"/>
                          </a:solidFill>
                          <a:latin typeface="Calibri" panose="020F0502020204030204" pitchFamily="34" charset="0"/>
                          <a:ea typeface="Calibri"/>
                          <a:cs typeface="Calibri"/>
                        </a:rPr>
                        <a:t>7.55</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425" b="0">
                          <a:solidFill>
                            <a:srgbClr val="000000"/>
                          </a:solidFill>
                          <a:latin typeface="Calibri" panose="020F0502020204030204" pitchFamily="34" charset="0"/>
                          <a:ea typeface="Calibri"/>
                          <a:cs typeface="Calibri"/>
                        </a:rPr>
                        <a:t>+0.02%</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extLst>
                  <a:ext uri="{0D108BD9-81ED-4DB2-BD59-A6C34878D82A}">
                    <a16:rowId xmlns:a16="http://schemas.microsoft.com/office/drawing/2014/main" val="10003"/>
                  </a:ext>
                </a:extLst>
              </a:tr>
              <a:tr h="469446">
                <a:tc>
                  <a:txBody>
                    <a:bodyPr/>
                    <a:lstStyle/>
                    <a:p>
                      <a:r>
                        <a:rPr sz="1425" b="0">
                          <a:solidFill>
                            <a:srgbClr val="000000"/>
                          </a:solidFill>
                          <a:latin typeface="Calibri" panose="020F0502020204030204" pitchFamily="34" charset="0"/>
                          <a:ea typeface="Calibri"/>
                          <a:cs typeface="Calibri"/>
                        </a:rPr>
                        <a:t>Wing span, ft</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425" b="0">
                          <a:solidFill>
                            <a:srgbClr val="000000"/>
                          </a:solidFill>
                          <a:latin typeface="Calibri" panose="020F0502020204030204" pitchFamily="34" charset="0"/>
                          <a:ea typeface="Calibri"/>
                          <a:cs typeface="Calibri"/>
                        </a:rPr>
                        <a:t>24.00</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425" b="0">
                          <a:solidFill>
                            <a:srgbClr val="000000"/>
                          </a:solidFill>
                          <a:latin typeface="Calibri" panose="020F0502020204030204" pitchFamily="34" charset="0"/>
                          <a:ea typeface="Calibri"/>
                          <a:cs typeface="Calibri"/>
                        </a:rPr>
                        <a:t>24.05</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425" b="0">
                          <a:solidFill>
                            <a:srgbClr val="000000"/>
                          </a:solidFill>
                          <a:latin typeface="Calibri" panose="020F0502020204030204" pitchFamily="34" charset="0"/>
                          <a:ea typeface="Calibri"/>
                          <a:cs typeface="Calibri"/>
                        </a:rPr>
                        <a:t>+0.19%</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extLst>
                  <a:ext uri="{0D108BD9-81ED-4DB2-BD59-A6C34878D82A}">
                    <a16:rowId xmlns:a16="http://schemas.microsoft.com/office/drawing/2014/main" val="10004"/>
                  </a:ext>
                </a:extLst>
              </a:tr>
              <a:tr h="469446">
                <a:tc>
                  <a:txBody>
                    <a:bodyPr/>
                    <a:lstStyle/>
                    <a:p>
                      <a:r>
                        <a:rPr sz="1425" b="0">
                          <a:solidFill>
                            <a:srgbClr val="000000"/>
                          </a:solidFill>
                          <a:latin typeface="Calibri" panose="020F0502020204030204" pitchFamily="34" charset="0"/>
                          <a:ea typeface="Calibri"/>
                          <a:cs typeface="Calibri"/>
                        </a:rPr>
                        <a:t>Rated power, hp / engine</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425" b="0">
                          <a:solidFill>
                            <a:srgbClr val="000000"/>
                          </a:solidFill>
                          <a:latin typeface="Calibri" panose="020F0502020204030204" pitchFamily="34" charset="0"/>
                          <a:ea typeface="Calibri"/>
                          <a:cs typeface="Calibri"/>
                        </a:rPr>
                        <a:t>411.0</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425" b="0">
                          <a:solidFill>
                            <a:srgbClr val="000000"/>
                          </a:solidFill>
                          <a:latin typeface="Calibri" panose="020F0502020204030204" pitchFamily="34" charset="0"/>
                          <a:ea typeface="Calibri"/>
                          <a:cs typeface="Calibri"/>
                        </a:rPr>
                        <a:t>410.5</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425" b="0">
                          <a:solidFill>
                            <a:srgbClr val="000000"/>
                          </a:solidFill>
                          <a:latin typeface="Calibri" panose="020F0502020204030204" pitchFamily="34" charset="0"/>
                          <a:ea typeface="Calibri"/>
                          <a:cs typeface="Calibri"/>
                        </a:rPr>
                        <a:t>−0.11%</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extLst>
                  <a:ext uri="{0D108BD9-81ED-4DB2-BD59-A6C34878D82A}">
                    <a16:rowId xmlns:a16="http://schemas.microsoft.com/office/drawing/2014/main" val="10005"/>
                  </a:ext>
                </a:extLst>
              </a:tr>
              <a:tr h="469446">
                <a:tc>
                  <a:txBody>
                    <a:bodyPr/>
                    <a:lstStyle/>
                    <a:p>
                      <a:r>
                        <a:rPr sz="1425" b="0">
                          <a:solidFill>
                            <a:srgbClr val="000000"/>
                          </a:solidFill>
                          <a:latin typeface="Calibri" panose="020F0502020204030204" pitchFamily="34" charset="0"/>
                          <a:ea typeface="Calibri"/>
                          <a:cs typeface="Calibri"/>
                        </a:rPr>
                        <a:t>Mission fuel burn, lb</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425" b="0">
                          <a:solidFill>
                            <a:srgbClr val="000000"/>
                          </a:solidFill>
                          <a:latin typeface="Calibri" panose="020F0502020204030204" pitchFamily="34" charset="0"/>
                          <a:ea typeface="Calibri"/>
                          <a:cs typeface="Calibri"/>
                        </a:rPr>
                        <a:t>141.0</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425" b="0">
                          <a:solidFill>
                            <a:srgbClr val="000000"/>
                          </a:solidFill>
                          <a:latin typeface="Calibri" panose="020F0502020204030204" pitchFamily="34" charset="0"/>
                          <a:ea typeface="Calibri"/>
                          <a:cs typeface="Calibri"/>
                        </a:rPr>
                        <a:t>140.5</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425" b="0">
                          <a:solidFill>
                            <a:srgbClr val="000000"/>
                          </a:solidFill>
                          <a:latin typeface="Calibri" panose="020F0502020204030204" pitchFamily="34" charset="0"/>
                          <a:ea typeface="Calibri"/>
                          <a:cs typeface="Calibri"/>
                        </a:rPr>
                        <a:t>−0.39%</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extLst>
                  <a:ext uri="{0D108BD9-81ED-4DB2-BD59-A6C34878D82A}">
                    <a16:rowId xmlns:a16="http://schemas.microsoft.com/office/drawing/2014/main" val="10006"/>
                  </a:ext>
                </a:extLst>
              </a:tr>
            </a:tbl>
          </a:graphicData>
        </a:graphic>
      </p:graphicFrame>
      <p:pic>
        <p:nvPicPr>
          <p:cNvPr id="6" name="Picture 5">
            <a:extLst>
              <a:ext uri="{FF2B5EF4-FFF2-40B4-BE49-F238E27FC236}">
                <a16:creationId xmlns:a16="http://schemas.microsoft.com/office/drawing/2014/main" id="{91BB768D-BBF1-51AF-7828-BAAE9AB734C5}"/>
              </a:ext>
            </a:extLst>
          </p:cNvPr>
          <p:cNvPicPr>
            <a:picLocks noChangeAspect="1"/>
          </p:cNvPicPr>
          <p:nvPr/>
        </p:nvPicPr>
        <p:blipFill>
          <a:blip r:embed="rId4"/>
          <a:stretch/>
        </p:blipFill>
        <p:spPr>
          <a:xfrm>
            <a:off x="8286750" y="2141896"/>
            <a:ext cx="3238500" cy="1755058"/>
          </a:xfrm>
          <a:prstGeom prst="rect">
            <a:avLst/>
          </a:prstGeom>
        </p:spPr>
      </p:pic>
      <p:sp>
        <p:nvSpPr>
          <p:cNvPr id="7" name="Rectangle 6">
            <a:extLst>
              <a:ext uri="{FF2B5EF4-FFF2-40B4-BE49-F238E27FC236}">
                <a16:creationId xmlns:a16="http://schemas.microsoft.com/office/drawing/2014/main" id="{25AAA335-8F43-671C-7677-97862BE7F8F4}"/>
              </a:ext>
            </a:extLst>
          </p:cNvPr>
          <p:cNvSpPr>
            <a:spLocks noGrp="1"/>
          </p:cNvSpPr>
          <p:nvPr/>
        </p:nvSpPr>
        <p:spPr>
          <a:xfrm>
            <a:off x="8239125" y="4343400"/>
            <a:ext cx="3381375" cy="571500"/>
          </a:xfrm>
          <a:prstGeom prst="rect">
            <a:avLst/>
          </a:prstGeom>
          <a:noFill/>
          <a:ln w="0">
            <a:noFill/>
            <a:prstDash val="solid"/>
          </a:ln>
        </p:spPr>
        <p:txBody>
          <a:bodyPr lIns="0" tIns="0" rIns="0" bIns="0"/>
          <a:lstStyle>
            <a:defPPr>
              <a:defRPr sz="1350" b="0">
                <a:solidFill>
                  <a:srgbClr val="444444"/>
                </a:solidFill>
                <a:latin typeface="Calibri"/>
                <a:ea typeface="Calibri"/>
                <a:cs typeface="Calibri"/>
              </a:defRPr>
            </a:defPPr>
            <a:lvl1pPr>
              <a:defRPr sz="1350" b="0">
                <a:solidFill>
                  <a:srgbClr val="444444"/>
                </a:solidFill>
                <a:latin typeface="Calibri"/>
                <a:ea typeface="Calibri"/>
                <a:cs typeface="Calibri"/>
              </a:defRPr>
            </a:lvl1pPr>
            <a:lvl2pPr>
              <a:defRPr sz="1350" b="0">
                <a:solidFill>
                  <a:srgbClr val="444444"/>
                </a:solidFill>
                <a:latin typeface="Calibri"/>
                <a:ea typeface="Calibri"/>
                <a:cs typeface="Calibri"/>
              </a:defRPr>
            </a:lvl2pPr>
            <a:lvl3pPr>
              <a:defRPr sz="1350" b="0">
                <a:solidFill>
                  <a:srgbClr val="444444"/>
                </a:solidFill>
                <a:latin typeface="Calibri"/>
                <a:ea typeface="Calibri"/>
                <a:cs typeface="Calibri"/>
              </a:defRPr>
            </a:lvl3pPr>
            <a:lvl4pPr>
              <a:defRPr sz="1350" b="0">
                <a:solidFill>
                  <a:srgbClr val="444444"/>
                </a:solidFill>
                <a:latin typeface="Calibri"/>
                <a:ea typeface="Calibri"/>
                <a:cs typeface="Calibri"/>
              </a:defRPr>
            </a:lvl4pPr>
            <a:lvl5pPr>
              <a:defRPr sz="1350" b="0">
                <a:solidFill>
                  <a:srgbClr val="444444"/>
                </a:solidFill>
                <a:latin typeface="Calibri"/>
                <a:ea typeface="Calibri"/>
                <a:cs typeface="Calibri"/>
              </a:defRPr>
            </a:lvl5pPr>
            <a:lvl6pPr>
              <a:defRPr sz="1350" b="0">
                <a:solidFill>
                  <a:srgbClr val="444444"/>
                </a:solidFill>
                <a:latin typeface="Calibri"/>
                <a:ea typeface="Calibri"/>
                <a:cs typeface="Calibri"/>
              </a:defRPr>
            </a:lvl6pPr>
            <a:lvl7pPr>
              <a:defRPr sz="1350" b="0">
                <a:solidFill>
                  <a:srgbClr val="444444"/>
                </a:solidFill>
                <a:latin typeface="Calibri"/>
                <a:ea typeface="Calibri"/>
                <a:cs typeface="Calibri"/>
              </a:defRPr>
            </a:lvl7pPr>
            <a:lvl8pPr>
              <a:defRPr sz="1350" b="0">
                <a:solidFill>
                  <a:srgbClr val="444444"/>
                </a:solidFill>
                <a:latin typeface="Calibri"/>
                <a:ea typeface="Calibri"/>
                <a:cs typeface="Calibri"/>
              </a:defRPr>
            </a:lvl8pPr>
            <a:lvl9pPr>
              <a:defRPr sz="1350" b="0">
                <a:solidFill>
                  <a:srgbClr val="444444"/>
                </a:solidFill>
                <a:latin typeface="Calibri"/>
                <a:ea typeface="Calibri"/>
                <a:cs typeface="Calibri"/>
              </a:defRPr>
            </a:lvl9pPr>
          </a:lstStyle>
          <a:p>
            <a:pPr>
              <a:defRPr sz="1350" b="0">
                <a:solidFill>
                  <a:srgbClr val="444444"/>
                </a:solidFill>
                <a:latin typeface="Calibri"/>
                <a:ea typeface="Calibri"/>
                <a:cs typeface="Calibri"/>
              </a:defRPr>
            </a:pPr>
            <a:r>
              <a:rPr sz="1350" b="0">
                <a:solidFill>
                  <a:srgbClr val="444444"/>
                </a:solidFill>
                <a:latin typeface="Calibri" panose="020F0502020204030204" pitchFamily="34" charset="0"/>
                <a:ea typeface="Calibri"/>
                <a:cs typeface="Calibri"/>
              </a:rPr>
              <a:t>Radotich (2022), Fig. 32</a:t>
            </a:r>
          </a:p>
          <a:p>
            <a:pPr>
              <a:defRPr sz="1350" b="0">
                <a:solidFill>
                  <a:srgbClr val="444444"/>
                </a:solidFill>
                <a:latin typeface="Calibri"/>
                <a:ea typeface="Calibri"/>
                <a:cs typeface="Calibri"/>
              </a:defRPr>
            </a:pPr>
            <a:r>
              <a:rPr sz="1350" b="0">
                <a:solidFill>
                  <a:srgbClr val="444444"/>
                </a:solidFill>
                <a:latin typeface="Calibri" panose="020F0502020204030204" pitchFamily="34" charset="0"/>
                <a:ea typeface="Calibri"/>
                <a:cs typeface="Calibri"/>
              </a:rPr>
              <a:t>Turboshaft tiltrotor in cruise</a:t>
            </a:r>
          </a:p>
        </p:txBody>
      </p:sp>
      <p:sp>
        <p:nvSpPr>
          <p:cNvPr id="8" name="Rectangle 7">
            <a:extLst>
              <a:ext uri="{FF2B5EF4-FFF2-40B4-BE49-F238E27FC236}">
                <a16:creationId xmlns:a16="http://schemas.microsoft.com/office/drawing/2014/main" id="{E01D66F4-BB56-7FA3-0C99-5D34BE9F2377}"/>
              </a:ext>
            </a:extLst>
          </p:cNvPr>
          <p:cNvSpPr>
            <a:spLocks noGrp="1"/>
          </p:cNvSpPr>
          <p:nvPr/>
        </p:nvSpPr>
        <p:spPr>
          <a:xfrm>
            <a:off x="476250" y="5381625"/>
            <a:ext cx="11239500" cy="381000"/>
          </a:xfrm>
          <a:prstGeom prst="rect">
            <a:avLst/>
          </a:prstGeom>
          <a:noFill/>
          <a:ln w="0">
            <a:noFill/>
            <a:prstDash val="solid"/>
          </a:ln>
        </p:spPr>
        <p:txBody>
          <a:bodyPr lIns="0" tIns="0" rIns="0" bIns="0"/>
          <a:lstStyle>
            <a:defPPr>
              <a:defRPr sz="1725" b="1">
                <a:solidFill>
                  <a:srgbClr val="000000"/>
                </a:solidFill>
                <a:latin typeface="Calibri"/>
                <a:ea typeface="Calibri"/>
                <a:cs typeface="Calibri"/>
              </a:defRPr>
            </a:defPPr>
            <a:lvl1pPr>
              <a:defRPr sz="1725" b="1">
                <a:solidFill>
                  <a:srgbClr val="000000"/>
                </a:solidFill>
                <a:latin typeface="Calibri"/>
                <a:ea typeface="Calibri"/>
                <a:cs typeface="Calibri"/>
              </a:defRPr>
            </a:lvl1pPr>
            <a:lvl2pPr>
              <a:defRPr sz="1725" b="1">
                <a:solidFill>
                  <a:srgbClr val="000000"/>
                </a:solidFill>
                <a:latin typeface="Calibri"/>
                <a:ea typeface="Calibri"/>
                <a:cs typeface="Calibri"/>
              </a:defRPr>
            </a:lvl2pPr>
            <a:lvl3pPr>
              <a:defRPr sz="1725" b="1">
                <a:solidFill>
                  <a:srgbClr val="000000"/>
                </a:solidFill>
                <a:latin typeface="Calibri"/>
                <a:ea typeface="Calibri"/>
                <a:cs typeface="Calibri"/>
              </a:defRPr>
            </a:lvl3pPr>
            <a:lvl4pPr>
              <a:defRPr sz="1725" b="1">
                <a:solidFill>
                  <a:srgbClr val="000000"/>
                </a:solidFill>
                <a:latin typeface="Calibri"/>
                <a:ea typeface="Calibri"/>
                <a:cs typeface="Calibri"/>
              </a:defRPr>
            </a:lvl4pPr>
            <a:lvl5pPr>
              <a:defRPr sz="1725" b="1">
                <a:solidFill>
                  <a:srgbClr val="000000"/>
                </a:solidFill>
                <a:latin typeface="Calibri"/>
                <a:ea typeface="Calibri"/>
                <a:cs typeface="Calibri"/>
              </a:defRPr>
            </a:lvl5pPr>
            <a:lvl6pPr>
              <a:defRPr sz="1725" b="1">
                <a:solidFill>
                  <a:srgbClr val="000000"/>
                </a:solidFill>
                <a:latin typeface="Calibri"/>
                <a:ea typeface="Calibri"/>
                <a:cs typeface="Calibri"/>
              </a:defRPr>
            </a:lvl6pPr>
            <a:lvl7pPr>
              <a:defRPr sz="1725" b="1">
                <a:solidFill>
                  <a:srgbClr val="000000"/>
                </a:solidFill>
                <a:latin typeface="Calibri"/>
                <a:ea typeface="Calibri"/>
                <a:cs typeface="Calibri"/>
              </a:defRPr>
            </a:lvl7pPr>
            <a:lvl8pPr>
              <a:defRPr sz="1725" b="1">
                <a:solidFill>
                  <a:srgbClr val="000000"/>
                </a:solidFill>
                <a:latin typeface="Calibri"/>
                <a:ea typeface="Calibri"/>
                <a:cs typeface="Calibri"/>
              </a:defRPr>
            </a:lvl8pPr>
            <a:lvl9pPr>
              <a:defRPr sz="1725" b="1">
                <a:solidFill>
                  <a:srgbClr val="000000"/>
                </a:solidFill>
                <a:latin typeface="Calibri"/>
                <a:ea typeface="Calibri"/>
                <a:cs typeface="Calibri"/>
              </a:defRPr>
            </a:lvl9pPr>
          </a:lstStyle>
          <a:p>
            <a:pPr>
              <a:defRPr sz="1725" b="1">
                <a:solidFill>
                  <a:srgbClr val="000000"/>
                </a:solidFill>
                <a:latin typeface="Calibri"/>
                <a:ea typeface="Calibri"/>
                <a:cs typeface="Calibri"/>
              </a:defRPr>
            </a:pPr>
            <a:r>
              <a:rPr sz="1725" b="1">
                <a:solidFill>
                  <a:srgbClr val="000000"/>
                </a:solidFill>
                <a:latin typeface="Calibri" panose="020F0502020204030204" pitchFamily="34" charset="0"/>
                <a:ea typeface="Calibri"/>
                <a:cs typeface="Calibri"/>
              </a:rPr>
              <a:t>500-nm case: gross weight 5,651.0 → 5,665.4 lb (+0.26%); empty weight differs +0.60%.</a:t>
            </a:r>
          </a:p>
        </p:txBody>
      </p:sp>
      <p:sp>
        <p:nvSpPr>
          <p:cNvPr id="17" name="Rectangle 16">
            <a:extLst>
              <a:ext uri="{FF2B5EF4-FFF2-40B4-BE49-F238E27FC236}">
                <a16:creationId xmlns:a16="http://schemas.microsoft.com/office/drawing/2014/main" id="{F0E56C33-7854-E6A3-BF75-64D5113BC347}"/>
              </a:ext>
            </a:extLst>
          </p:cNvPr>
          <p:cNvSpPr>
            <a:spLocks noGrp="1"/>
          </p:cNvSpPr>
          <p:nvPr/>
        </p:nvSpPr>
        <p:spPr>
          <a:xfrm>
            <a:off x="476250" y="5953125"/>
            <a:ext cx="11239500" cy="323850"/>
          </a:xfrm>
          <a:prstGeom prst="rect">
            <a:avLst/>
          </a:prstGeom>
          <a:noFill/>
          <a:ln w="0">
            <a:noFill/>
            <a:prstDash val="solid"/>
          </a:ln>
        </p:spPr>
        <p:txBody>
          <a:bodyPr lIns="0" tIns="0" rIns="0" bIns="0"/>
          <a:lstStyle>
            <a:defPPr>
              <a:defRPr sz="1200" b="0">
                <a:solidFill>
                  <a:srgbClr val="444444"/>
                </a:solidFill>
                <a:latin typeface="Calibri"/>
                <a:ea typeface="Calibri"/>
                <a:cs typeface="Calibri"/>
              </a:defRPr>
            </a:defPPr>
            <a:lvl1pPr>
              <a:defRPr sz="1200" b="0">
                <a:solidFill>
                  <a:srgbClr val="444444"/>
                </a:solidFill>
                <a:latin typeface="Calibri"/>
                <a:ea typeface="Calibri"/>
                <a:cs typeface="Calibri"/>
              </a:defRPr>
            </a:lvl1pPr>
            <a:lvl2pPr>
              <a:defRPr sz="1200" b="0">
                <a:solidFill>
                  <a:srgbClr val="444444"/>
                </a:solidFill>
                <a:latin typeface="Calibri"/>
                <a:ea typeface="Calibri"/>
                <a:cs typeface="Calibri"/>
              </a:defRPr>
            </a:lvl2pPr>
            <a:lvl3pPr>
              <a:defRPr sz="1200" b="0">
                <a:solidFill>
                  <a:srgbClr val="444444"/>
                </a:solidFill>
                <a:latin typeface="Calibri"/>
                <a:ea typeface="Calibri"/>
                <a:cs typeface="Calibri"/>
              </a:defRPr>
            </a:lvl3pPr>
            <a:lvl4pPr>
              <a:defRPr sz="1200" b="0">
                <a:solidFill>
                  <a:srgbClr val="444444"/>
                </a:solidFill>
                <a:latin typeface="Calibri"/>
                <a:ea typeface="Calibri"/>
                <a:cs typeface="Calibri"/>
              </a:defRPr>
            </a:lvl4pPr>
            <a:lvl5pPr>
              <a:defRPr sz="1200" b="0">
                <a:solidFill>
                  <a:srgbClr val="444444"/>
                </a:solidFill>
                <a:latin typeface="Calibri"/>
                <a:ea typeface="Calibri"/>
                <a:cs typeface="Calibri"/>
              </a:defRPr>
            </a:lvl5pPr>
            <a:lvl6pPr>
              <a:defRPr sz="1200" b="0">
                <a:solidFill>
                  <a:srgbClr val="444444"/>
                </a:solidFill>
                <a:latin typeface="Calibri"/>
                <a:ea typeface="Calibri"/>
                <a:cs typeface="Calibri"/>
              </a:defRPr>
            </a:lvl6pPr>
            <a:lvl7pPr>
              <a:defRPr sz="1200" b="0">
                <a:solidFill>
                  <a:srgbClr val="444444"/>
                </a:solidFill>
                <a:latin typeface="Calibri"/>
                <a:ea typeface="Calibri"/>
                <a:cs typeface="Calibri"/>
              </a:defRPr>
            </a:lvl7pPr>
            <a:lvl8pPr>
              <a:defRPr sz="1200" b="0">
                <a:solidFill>
                  <a:srgbClr val="444444"/>
                </a:solidFill>
                <a:latin typeface="Calibri"/>
                <a:ea typeface="Calibri"/>
                <a:cs typeface="Calibri"/>
              </a:defRPr>
            </a:lvl8pPr>
            <a:lvl9pPr>
              <a:defRPr sz="1200" b="0">
                <a:solidFill>
                  <a:srgbClr val="444444"/>
                </a:solidFill>
                <a:latin typeface="Calibri"/>
                <a:ea typeface="Calibri"/>
                <a:cs typeface="Calibri"/>
              </a:defRPr>
            </a:lvl9pPr>
          </a:lstStyle>
          <a:p>
            <a:pPr>
              <a:defRPr sz="1200" b="0">
                <a:solidFill>
                  <a:srgbClr val="444444"/>
                </a:solidFill>
                <a:latin typeface="Calibri"/>
                <a:ea typeface="Calibri"/>
                <a:cs typeface="Calibri"/>
              </a:defRPr>
            </a:pPr>
            <a:endParaRPr>
              <a:latin typeface="Calibri" panose="020F0502020204030204" pitchFamily="34" charset="0"/>
            </a:endParaRPr>
          </a:p>
        </p:txBody>
      </p:sp>
      <p:sp>
        <p:nvSpPr>
          <p:cNvPr id="18" name="Rectangle 17">
            <a:extLst>
              <a:ext uri="{FF2B5EF4-FFF2-40B4-BE49-F238E27FC236}">
                <a16:creationId xmlns:a16="http://schemas.microsoft.com/office/drawing/2014/main" id="{AA771CC4-324B-81EE-58A2-3B504BC83BC0}"/>
              </a:ext>
            </a:extLst>
          </p:cNvPr>
          <p:cNvSpPr>
            <a:spLocks noGrp="1"/>
          </p:cNvSpPr>
          <p:nvPr/>
        </p:nvSpPr>
        <p:spPr>
          <a:xfrm>
            <a:off x="476250" y="6400800"/>
            <a:ext cx="10810875" cy="381000"/>
          </a:xfrm>
          <a:prstGeom prst="rect">
            <a:avLst/>
          </a:prstGeom>
          <a:noFill/>
          <a:ln w="0">
            <a:noFill/>
            <a:prstDash val="solid"/>
          </a:ln>
        </p:spPr>
        <p:txBody>
          <a:bodyPr lIns="0" tIns="0" rIns="0" bIns="0"/>
          <a:lstStyle>
            <a:defPPr>
              <a:defRPr sz="1125" b="0">
                <a:solidFill>
                  <a:srgbClr val="444444"/>
                </a:solidFill>
                <a:latin typeface="Calibri"/>
                <a:ea typeface="Calibri"/>
                <a:cs typeface="Calibri"/>
              </a:defRPr>
            </a:defPPr>
            <a:lvl1pPr>
              <a:defRPr sz="1125" b="0">
                <a:solidFill>
                  <a:srgbClr val="444444"/>
                </a:solidFill>
                <a:latin typeface="Calibri"/>
                <a:ea typeface="Calibri"/>
                <a:cs typeface="Calibri"/>
              </a:defRPr>
            </a:lvl1pPr>
            <a:lvl2pPr>
              <a:defRPr sz="1125" b="0">
                <a:solidFill>
                  <a:srgbClr val="444444"/>
                </a:solidFill>
                <a:latin typeface="Calibri"/>
                <a:ea typeface="Calibri"/>
                <a:cs typeface="Calibri"/>
              </a:defRPr>
            </a:lvl2pPr>
            <a:lvl3pPr>
              <a:defRPr sz="1125" b="0">
                <a:solidFill>
                  <a:srgbClr val="444444"/>
                </a:solidFill>
                <a:latin typeface="Calibri"/>
                <a:ea typeface="Calibri"/>
                <a:cs typeface="Calibri"/>
              </a:defRPr>
            </a:lvl3pPr>
            <a:lvl4pPr>
              <a:defRPr sz="1125" b="0">
                <a:solidFill>
                  <a:srgbClr val="444444"/>
                </a:solidFill>
                <a:latin typeface="Calibri"/>
                <a:ea typeface="Calibri"/>
                <a:cs typeface="Calibri"/>
              </a:defRPr>
            </a:lvl4pPr>
            <a:lvl5pPr>
              <a:defRPr sz="1125" b="0">
                <a:solidFill>
                  <a:srgbClr val="444444"/>
                </a:solidFill>
                <a:latin typeface="Calibri"/>
                <a:ea typeface="Calibri"/>
                <a:cs typeface="Calibri"/>
              </a:defRPr>
            </a:lvl5pPr>
            <a:lvl6pPr>
              <a:defRPr sz="1125" b="0">
                <a:solidFill>
                  <a:srgbClr val="444444"/>
                </a:solidFill>
                <a:latin typeface="Calibri"/>
                <a:ea typeface="Calibri"/>
                <a:cs typeface="Calibri"/>
              </a:defRPr>
            </a:lvl6pPr>
            <a:lvl7pPr>
              <a:defRPr sz="1125" b="0">
                <a:solidFill>
                  <a:srgbClr val="444444"/>
                </a:solidFill>
                <a:latin typeface="Calibri"/>
                <a:ea typeface="Calibri"/>
                <a:cs typeface="Calibri"/>
              </a:defRPr>
            </a:lvl7pPr>
            <a:lvl8pPr>
              <a:defRPr sz="1125" b="0">
                <a:solidFill>
                  <a:srgbClr val="444444"/>
                </a:solidFill>
                <a:latin typeface="Calibri"/>
                <a:ea typeface="Calibri"/>
                <a:cs typeface="Calibri"/>
              </a:defRPr>
            </a:lvl8pPr>
            <a:lvl9pPr>
              <a:defRPr sz="1125" b="0">
                <a:solidFill>
                  <a:srgbClr val="444444"/>
                </a:solidFill>
                <a:latin typeface="Calibri"/>
                <a:ea typeface="Calibri"/>
                <a:cs typeface="Calibri"/>
              </a:defRPr>
            </a:lvl9pPr>
          </a:lstStyle>
          <a:p>
            <a:pPr>
              <a:defRPr sz="1125" b="0">
                <a:solidFill>
                  <a:srgbClr val="444444"/>
                </a:solidFill>
                <a:latin typeface="Calibri"/>
                <a:ea typeface="Calibri"/>
                <a:cs typeface="Calibri"/>
              </a:defRPr>
            </a:pPr>
            <a:r>
              <a:rPr sz="1125" b="0">
                <a:solidFill>
                  <a:srgbClr val="444444"/>
                </a:solidFill>
                <a:latin typeface="Calibri" panose="020F0502020204030204" pitchFamily="34" charset="0"/>
                <a:ea typeface="Calibri"/>
                <a:cs typeface="Calibri"/>
              </a:rPr>
              <a:t>[R2] Radotich (2022), Tables 3–4 / 6 and Fig. 32. [S3] Radotich comparison report and repeated Windows outputs.</a:t>
            </a:r>
          </a:p>
          <a:p>
            <a:pPr>
              <a:defRPr sz="1125" b="0">
                <a:solidFill>
                  <a:srgbClr val="444444"/>
                </a:solidFill>
                <a:latin typeface="Calibri"/>
                <a:ea typeface="Calibri"/>
                <a:cs typeface="Calibri"/>
              </a:defRPr>
            </a:pPr>
            <a:r>
              <a:rPr sz="1125" b="0">
                <a:solidFill>
                  <a:srgbClr val="444444"/>
                </a:solidFill>
                <a:latin typeface="Calibri" panose="020F0502020204030204" pitchFamily="34" charset="0"/>
                <a:ea typeface="Calibri"/>
                <a:cs typeface="Calibri"/>
              </a:rPr>
              <a:t>Six displayed 75-nm metrics agree within 0.4%; this is numerical reproduction, not UAV flight validation.</a:t>
            </a:r>
          </a:p>
        </p:txBody>
      </p:sp>
      <p:sp>
        <p:nvSpPr>
          <p:cNvPr id="9" name="TextBox 8">
            <a:extLst>
              <a:ext uri="{FF2B5EF4-FFF2-40B4-BE49-F238E27FC236}">
                <a16:creationId xmlns:a16="http://schemas.microsoft.com/office/drawing/2014/main" id="{BDFEF071-2DF5-CAD7-6A4E-72442E60BEE7}"/>
              </a:ext>
            </a:extLst>
          </p:cNvPr>
          <p:cNvSpPr txBox="1"/>
          <p:nvPr/>
        </p:nvSpPr>
        <p:spPr>
          <a:xfrm>
            <a:off x="11671300" y="6527800"/>
            <a:ext cx="355600" cy="153888"/>
          </a:xfrm>
          <a:prstGeom prst="rect">
            <a:avLst/>
          </a:prstGeom>
          <a:noFill/>
        </p:spPr>
        <p:txBody>
          <a:bodyPr vert="horz" lIns="0" tIns="0" rIns="0" bIns="0" rtlCol="0">
            <a:spAutoFit/>
          </a:bodyPr>
          <a:lstStyle/>
          <a:p>
            <a:r>
              <a:rPr lang="en-US" sz="1000">
                <a:solidFill>
                  <a:srgbClr val="000000"/>
                </a:solidFill>
                <a:latin typeface="Calibri" panose="020F0502020204030204" pitchFamily="34" charset="0"/>
              </a:rPr>
              <a:t>13</a:t>
            </a:r>
          </a:p>
        </p:txBody>
      </p:sp>
    </p:spTree>
    <p:extLst>
      <p:ext uri="{BB962C8B-B14F-4D97-AF65-F5344CB8AC3E}">
        <p14:creationId xmlns:p14="http://schemas.microsoft.com/office/powerpoint/2010/main" val="1735781006"/>
      </p:ext>
    </p:extLst>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40BCBBC-3248-4D1E-AAD2-0544C61372D2}"/>
              </a:ext>
            </a:extLst>
          </p:cNvPr>
          <p:cNvSpPr>
            <a:spLocks noGrp="1"/>
          </p:cNvSpPr>
          <p:nvPr/>
        </p:nvSpPr>
        <p:spPr>
          <a:xfrm>
            <a:off x="838200" y="361950"/>
            <a:ext cx="10896600" cy="495300"/>
          </a:xfrm>
          <a:prstGeom prst="rect">
            <a:avLst/>
          </a:prstGeom>
          <a:noFill/>
          <a:ln w="0">
            <a:noFill/>
            <a:prstDash val="solid"/>
          </a:ln>
        </p:spPr>
        <p:txBody>
          <a:bodyPr lIns="0" tIns="0" rIns="0" bIns="0"/>
          <a:lstStyle>
            <a:defPPr>
              <a:defRPr sz="2400" b="1">
                <a:solidFill>
                  <a:srgbClr val="000000"/>
                </a:solidFill>
                <a:latin typeface="Calibri"/>
                <a:ea typeface="Calibri"/>
                <a:cs typeface="Calibri"/>
              </a:defRPr>
            </a:defPPr>
            <a:lvl1pPr>
              <a:defRPr sz="2400" b="1">
                <a:solidFill>
                  <a:srgbClr val="000000"/>
                </a:solidFill>
                <a:latin typeface="Calibri"/>
                <a:ea typeface="Calibri"/>
                <a:cs typeface="Calibri"/>
              </a:defRPr>
            </a:lvl1pPr>
            <a:lvl2pPr>
              <a:defRPr sz="2400" b="1">
                <a:solidFill>
                  <a:srgbClr val="000000"/>
                </a:solidFill>
                <a:latin typeface="Calibri"/>
                <a:ea typeface="Calibri"/>
                <a:cs typeface="Calibri"/>
              </a:defRPr>
            </a:lvl2pPr>
            <a:lvl3pPr>
              <a:defRPr sz="2400" b="1">
                <a:solidFill>
                  <a:srgbClr val="000000"/>
                </a:solidFill>
                <a:latin typeface="Calibri"/>
                <a:ea typeface="Calibri"/>
                <a:cs typeface="Calibri"/>
              </a:defRPr>
            </a:lvl3pPr>
            <a:lvl4pPr>
              <a:defRPr sz="2400" b="1">
                <a:solidFill>
                  <a:srgbClr val="000000"/>
                </a:solidFill>
                <a:latin typeface="Calibri"/>
                <a:ea typeface="Calibri"/>
                <a:cs typeface="Calibri"/>
              </a:defRPr>
            </a:lvl4pPr>
            <a:lvl5pPr>
              <a:defRPr sz="2400" b="1">
                <a:solidFill>
                  <a:srgbClr val="000000"/>
                </a:solidFill>
                <a:latin typeface="Calibri"/>
                <a:ea typeface="Calibri"/>
                <a:cs typeface="Calibri"/>
              </a:defRPr>
            </a:lvl5pPr>
            <a:lvl6pPr>
              <a:defRPr sz="2400" b="1">
                <a:solidFill>
                  <a:srgbClr val="000000"/>
                </a:solidFill>
                <a:latin typeface="Calibri"/>
                <a:ea typeface="Calibri"/>
                <a:cs typeface="Calibri"/>
              </a:defRPr>
            </a:lvl6pPr>
            <a:lvl7pPr>
              <a:defRPr sz="2400" b="1">
                <a:solidFill>
                  <a:srgbClr val="000000"/>
                </a:solidFill>
                <a:latin typeface="Calibri"/>
                <a:ea typeface="Calibri"/>
                <a:cs typeface="Calibri"/>
              </a:defRPr>
            </a:lvl7pPr>
            <a:lvl8pPr>
              <a:defRPr sz="2400" b="1">
                <a:solidFill>
                  <a:srgbClr val="000000"/>
                </a:solidFill>
                <a:latin typeface="Calibri"/>
                <a:ea typeface="Calibri"/>
                <a:cs typeface="Calibri"/>
              </a:defRPr>
            </a:lvl8pPr>
            <a:lvl9pPr>
              <a:defRPr sz="2400" b="1">
                <a:solidFill>
                  <a:srgbClr val="000000"/>
                </a:solidFill>
                <a:latin typeface="Calibri"/>
                <a:ea typeface="Calibri"/>
                <a:cs typeface="Calibri"/>
              </a:defRPr>
            </a:lvl9pPr>
          </a:lstStyle>
          <a:p>
            <a:pPr>
              <a:defRPr sz="2400" b="1">
                <a:solidFill>
                  <a:srgbClr val="000000"/>
                </a:solidFill>
                <a:latin typeface="Calibri"/>
                <a:ea typeface="Calibri"/>
                <a:cs typeface="Calibri"/>
              </a:defRPr>
            </a:pPr>
            <a:r>
              <a:rPr sz="2400" b="1">
                <a:solidFill>
                  <a:srgbClr val="000000"/>
                </a:solidFill>
                <a:latin typeface="Calibri" panose="020F0502020204030204" pitchFamily="34" charset="0"/>
                <a:ea typeface="Calibri"/>
                <a:cs typeface="Calibri"/>
              </a:rPr>
              <a:t>Verification: Additional NASA Configurations</a:t>
            </a:r>
          </a:p>
        </p:txBody>
      </p:sp>
      <p:sp>
        <p:nvSpPr>
          <p:cNvPr id="9" name="Rectangle 8">
            <a:extLst>
              <a:ext uri="{FF2B5EF4-FFF2-40B4-BE49-F238E27FC236}">
                <a16:creationId xmlns:a16="http://schemas.microsoft.com/office/drawing/2014/main" id="{5A8550C3-E885-DCEE-7AD4-B78FF3B12D33}"/>
              </a:ext>
            </a:extLst>
          </p:cNvPr>
          <p:cNvSpPr>
            <a:spLocks noGrp="1"/>
          </p:cNvSpPr>
          <p:nvPr/>
        </p:nvSpPr>
        <p:spPr>
          <a:xfrm>
            <a:off x="476250" y="895350"/>
            <a:ext cx="11239500" cy="523875"/>
          </a:xfrm>
          <a:prstGeom prst="rect">
            <a:avLst/>
          </a:prstGeom>
          <a:noFill/>
          <a:ln w="0">
            <a:noFill/>
            <a:prstDash val="solid"/>
          </a:ln>
        </p:spPr>
        <p:txBody>
          <a:bodyPr lIns="0" tIns="0" rIns="0" bIns="0"/>
          <a:lstStyle>
            <a:defPPr>
              <a:defRPr sz="1575" b="0">
                <a:solidFill>
                  <a:srgbClr val="444444"/>
                </a:solidFill>
                <a:latin typeface="Calibri"/>
                <a:ea typeface="Calibri"/>
                <a:cs typeface="Calibri"/>
              </a:defRPr>
            </a:defPPr>
            <a:lvl1pPr>
              <a:defRPr sz="1575" b="0">
                <a:solidFill>
                  <a:srgbClr val="444444"/>
                </a:solidFill>
                <a:latin typeface="Calibri"/>
                <a:ea typeface="Calibri"/>
                <a:cs typeface="Calibri"/>
              </a:defRPr>
            </a:lvl1pPr>
            <a:lvl2pPr>
              <a:defRPr sz="1575" b="0">
                <a:solidFill>
                  <a:srgbClr val="444444"/>
                </a:solidFill>
                <a:latin typeface="Calibri"/>
                <a:ea typeface="Calibri"/>
                <a:cs typeface="Calibri"/>
              </a:defRPr>
            </a:lvl2pPr>
            <a:lvl3pPr>
              <a:defRPr sz="1575" b="0">
                <a:solidFill>
                  <a:srgbClr val="444444"/>
                </a:solidFill>
                <a:latin typeface="Calibri"/>
                <a:ea typeface="Calibri"/>
                <a:cs typeface="Calibri"/>
              </a:defRPr>
            </a:lvl3pPr>
            <a:lvl4pPr>
              <a:defRPr sz="1575" b="0">
                <a:solidFill>
                  <a:srgbClr val="444444"/>
                </a:solidFill>
                <a:latin typeface="Calibri"/>
                <a:ea typeface="Calibri"/>
                <a:cs typeface="Calibri"/>
              </a:defRPr>
            </a:lvl4pPr>
            <a:lvl5pPr>
              <a:defRPr sz="1575" b="0">
                <a:solidFill>
                  <a:srgbClr val="444444"/>
                </a:solidFill>
                <a:latin typeface="Calibri"/>
                <a:ea typeface="Calibri"/>
                <a:cs typeface="Calibri"/>
              </a:defRPr>
            </a:lvl5pPr>
            <a:lvl6pPr>
              <a:defRPr sz="1575" b="0">
                <a:solidFill>
                  <a:srgbClr val="444444"/>
                </a:solidFill>
                <a:latin typeface="Calibri"/>
                <a:ea typeface="Calibri"/>
                <a:cs typeface="Calibri"/>
              </a:defRPr>
            </a:lvl6pPr>
            <a:lvl7pPr>
              <a:defRPr sz="1575" b="0">
                <a:solidFill>
                  <a:srgbClr val="444444"/>
                </a:solidFill>
                <a:latin typeface="Calibri"/>
                <a:ea typeface="Calibri"/>
                <a:cs typeface="Calibri"/>
              </a:defRPr>
            </a:lvl7pPr>
            <a:lvl8pPr>
              <a:defRPr sz="1575" b="0">
                <a:solidFill>
                  <a:srgbClr val="444444"/>
                </a:solidFill>
                <a:latin typeface="Calibri"/>
                <a:ea typeface="Calibri"/>
                <a:cs typeface="Calibri"/>
              </a:defRPr>
            </a:lvl8pPr>
            <a:lvl9pPr>
              <a:defRPr sz="1575" b="0">
                <a:solidFill>
                  <a:srgbClr val="444444"/>
                </a:solidFill>
                <a:latin typeface="Calibri"/>
                <a:ea typeface="Calibri"/>
                <a:cs typeface="Calibri"/>
              </a:defRPr>
            </a:lvl9pPr>
          </a:lstStyle>
          <a:p>
            <a:pPr>
              <a:defRPr sz="1575" b="0">
                <a:solidFill>
                  <a:srgbClr val="444444"/>
                </a:solidFill>
                <a:latin typeface="Calibri"/>
                <a:ea typeface="Calibri"/>
                <a:cs typeface="Calibri"/>
              </a:defRPr>
            </a:pPr>
            <a:r>
              <a:rPr sz="1575" b="0">
                <a:solidFill>
                  <a:srgbClr val="444444"/>
                </a:solidFill>
                <a:latin typeface="Calibri" panose="020F0502020204030204" pitchFamily="34" charset="0"/>
                <a:ea typeface="Calibri"/>
                <a:cs typeface="Calibri"/>
              </a:rPr>
              <a:t>Three Silva (2018) sizing cases reproduce gross weight within 0.05%. L+C discrepancies remain unresolved.</a:t>
            </a:r>
          </a:p>
        </p:txBody>
      </p:sp>
      <p:sp>
        <p:nvSpPr>
          <p:cNvPr id="10" name="Rectangle 9">
            <a:extLst>
              <a:ext uri="{FF2B5EF4-FFF2-40B4-BE49-F238E27FC236}">
                <a16:creationId xmlns:a16="http://schemas.microsoft.com/office/drawing/2014/main" id="{0F1C12C6-7AF0-07E0-4323-392A8CD855C8}"/>
              </a:ext>
            </a:extLst>
          </p:cNvPr>
          <p:cNvSpPr>
            <a:spLocks noGrp="1"/>
          </p:cNvSpPr>
          <p:nvPr/>
        </p:nvSpPr>
        <p:spPr>
          <a:xfrm>
            <a:off x="11382375" y="6524625"/>
            <a:ext cx="333375" cy="219075"/>
          </a:xfrm>
          <a:prstGeom prst="rect">
            <a:avLst/>
          </a:prstGeom>
          <a:noFill/>
          <a:ln w="0">
            <a:noFill/>
            <a:prstDash val="solid"/>
          </a:ln>
        </p:spPr>
        <p:txBody>
          <a:bodyPr lIns="0" tIns="0" rIns="0" bIns="0"/>
          <a:lstStyle>
            <a:defPPr>
              <a:defRPr sz="1125" b="0">
                <a:solidFill>
                  <a:srgbClr val="444444"/>
                </a:solidFill>
                <a:latin typeface="Calibri"/>
                <a:ea typeface="Calibri"/>
                <a:cs typeface="Calibri"/>
              </a:defRPr>
            </a:defPPr>
            <a:lvl1pPr>
              <a:defRPr sz="1125" b="0">
                <a:solidFill>
                  <a:srgbClr val="444444"/>
                </a:solidFill>
                <a:latin typeface="Calibri"/>
                <a:ea typeface="Calibri"/>
                <a:cs typeface="Calibri"/>
              </a:defRPr>
            </a:lvl1pPr>
            <a:lvl2pPr>
              <a:defRPr sz="1125" b="0">
                <a:solidFill>
                  <a:srgbClr val="444444"/>
                </a:solidFill>
                <a:latin typeface="Calibri"/>
                <a:ea typeface="Calibri"/>
                <a:cs typeface="Calibri"/>
              </a:defRPr>
            </a:lvl2pPr>
            <a:lvl3pPr>
              <a:defRPr sz="1125" b="0">
                <a:solidFill>
                  <a:srgbClr val="444444"/>
                </a:solidFill>
                <a:latin typeface="Calibri"/>
                <a:ea typeface="Calibri"/>
                <a:cs typeface="Calibri"/>
              </a:defRPr>
            </a:lvl3pPr>
            <a:lvl4pPr>
              <a:defRPr sz="1125" b="0">
                <a:solidFill>
                  <a:srgbClr val="444444"/>
                </a:solidFill>
                <a:latin typeface="Calibri"/>
                <a:ea typeface="Calibri"/>
                <a:cs typeface="Calibri"/>
              </a:defRPr>
            </a:lvl4pPr>
            <a:lvl5pPr>
              <a:defRPr sz="1125" b="0">
                <a:solidFill>
                  <a:srgbClr val="444444"/>
                </a:solidFill>
                <a:latin typeface="Calibri"/>
                <a:ea typeface="Calibri"/>
                <a:cs typeface="Calibri"/>
              </a:defRPr>
            </a:lvl5pPr>
            <a:lvl6pPr>
              <a:defRPr sz="1125" b="0">
                <a:solidFill>
                  <a:srgbClr val="444444"/>
                </a:solidFill>
                <a:latin typeface="Calibri"/>
                <a:ea typeface="Calibri"/>
                <a:cs typeface="Calibri"/>
              </a:defRPr>
            </a:lvl6pPr>
            <a:lvl7pPr>
              <a:defRPr sz="1125" b="0">
                <a:solidFill>
                  <a:srgbClr val="444444"/>
                </a:solidFill>
                <a:latin typeface="Calibri"/>
                <a:ea typeface="Calibri"/>
                <a:cs typeface="Calibri"/>
              </a:defRPr>
            </a:lvl7pPr>
            <a:lvl8pPr>
              <a:defRPr sz="1125" b="0">
                <a:solidFill>
                  <a:srgbClr val="444444"/>
                </a:solidFill>
                <a:latin typeface="Calibri"/>
                <a:ea typeface="Calibri"/>
                <a:cs typeface="Calibri"/>
              </a:defRPr>
            </a:lvl8pPr>
            <a:lvl9pPr>
              <a:defRPr sz="1125" b="0">
                <a:solidFill>
                  <a:srgbClr val="444444"/>
                </a:solidFill>
                <a:latin typeface="Calibri"/>
                <a:ea typeface="Calibri"/>
                <a:cs typeface="Calibri"/>
              </a:defRPr>
            </a:lvl9pPr>
          </a:lstStyle>
          <a:p>
            <a:pPr>
              <a:defRPr sz="1125" b="0">
                <a:solidFill>
                  <a:srgbClr val="444444"/>
                </a:solidFill>
                <a:latin typeface="Calibri"/>
                <a:ea typeface="Calibri"/>
                <a:cs typeface="Calibri"/>
              </a:defRPr>
            </a:pPr>
            <a:endParaRPr sz="1125" b="0">
              <a:solidFill>
                <a:srgbClr val="444444"/>
              </a:solidFill>
              <a:latin typeface="Calibri" panose="020F0502020204030204" pitchFamily="34" charset="0"/>
              <a:ea typeface="Calibri"/>
              <a:cs typeface="Calibri"/>
            </a:endParaRPr>
          </a:p>
        </p:txBody>
      </p:sp>
      <p:pic>
        <p:nvPicPr>
          <p:cNvPr id="11" name="Picture 10">
            <a:extLst>
              <a:ext uri="{FF2B5EF4-FFF2-40B4-BE49-F238E27FC236}">
                <a16:creationId xmlns:a16="http://schemas.microsoft.com/office/drawing/2014/main" id="{3CD02E45-EBD7-110B-850B-2C3F60A1EF11}"/>
              </a:ext>
            </a:extLst>
          </p:cNvPr>
          <p:cNvPicPr>
            <a:picLocks noChangeAspect="1"/>
          </p:cNvPicPr>
          <p:nvPr/>
        </p:nvPicPr>
        <p:blipFill>
          <a:blip r:embed="rId3"/>
          <a:stretch/>
        </p:blipFill>
        <p:spPr>
          <a:xfrm>
            <a:off x="666750" y="1438275"/>
            <a:ext cx="3143250" cy="1571625"/>
          </a:xfrm>
          <a:prstGeom prst="rect">
            <a:avLst/>
          </a:prstGeom>
        </p:spPr>
      </p:pic>
      <p:sp>
        <p:nvSpPr>
          <p:cNvPr id="12" name="Rectangle 11">
            <a:extLst>
              <a:ext uri="{FF2B5EF4-FFF2-40B4-BE49-F238E27FC236}">
                <a16:creationId xmlns:a16="http://schemas.microsoft.com/office/drawing/2014/main" id="{7E7B2E3F-6191-10D7-CEAE-429465829A89}"/>
              </a:ext>
            </a:extLst>
          </p:cNvPr>
          <p:cNvSpPr>
            <a:spLocks noGrp="1"/>
          </p:cNvSpPr>
          <p:nvPr/>
        </p:nvSpPr>
        <p:spPr>
          <a:xfrm>
            <a:off x="619125" y="3067050"/>
            <a:ext cx="3524250" cy="285750"/>
          </a:xfrm>
          <a:prstGeom prst="rect">
            <a:avLst/>
          </a:prstGeom>
          <a:noFill/>
          <a:ln w="0">
            <a:noFill/>
            <a:prstDash val="solid"/>
          </a:ln>
        </p:spPr>
        <p:txBody>
          <a:bodyPr lIns="0" tIns="0" rIns="0" bIns="0"/>
          <a:lstStyle>
            <a:defPPr>
              <a:defRPr sz="1275" b="0">
                <a:solidFill>
                  <a:srgbClr val="444444"/>
                </a:solidFill>
                <a:latin typeface="Calibri"/>
                <a:ea typeface="Calibri"/>
                <a:cs typeface="Calibri"/>
              </a:defRPr>
            </a:defPPr>
            <a:lvl1pPr>
              <a:defRPr sz="1275" b="0">
                <a:solidFill>
                  <a:srgbClr val="444444"/>
                </a:solidFill>
                <a:latin typeface="Calibri"/>
                <a:ea typeface="Calibri"/>
                <a:cs typeface="Calibri"/>
              </a:defRPr>
            </a:lvl1pPr>
            <a:lvl2pPr>
              <a:defRPr sz="1275" b="0">
                <a:solidFill>
                  <a:srgbClr val="444444"/>
                </a:solidFill>
                <a:latin typeface="Calibri"/>
                <a:ea typeface="Calibri"/>
                <a:cs typeface="Calibri"/>
              </a:defRPr>
            </a:lvl2pPr>
            <a:lvl3pPr>
              <a:defRPr sz="1275" b="0">
                <a:solidFill>
                  <a:srgbClr val="444444"/>
                </a:solidFill>
                <a:latin typeface="Calibri"/>
                <a:ea typeface="Calibri"/>
                <a:cs typeface="Calibri"/>
              </a:defRPr>
            </a:lvl3pPr>
            <a:lvl4pPr>
              <a:defRPr sz="1275" b="0">
                <a:solidFill>
                  <a:srgbClr val="444444"/>
                </a:solidFill>
                <a:latin typeface="Calibri"/>
                <a:ea typeface="Calibri"/>
                <a:cs typeface="Calibri"/>
              </a:defRPr>
            </a:lvl4pPr>
            <a:lvl5pPr>
              <a:defRPr sz="1275" b="0">
                <a:solidFill>
                  <a:srgbClr val="444444"/>
                </a:solidFill>
                <a:latin typeface="Calibri"/>
                <a:ea typeface="Calibri"/>
                <a:cs typeface="Calibri"/>
              </a:defRPr>
            </a:lvl5pPr>
            <a:lvl6pPr>
              <a:defRPr sz="1275" b="0">
                <a:solidFill>
                  <a:srgbClr val="444444"/>
                </a:solidFill>
                <a:latin typeface="Calibri"/>
                <a:ea typeface="Calibri"/>
                <a:cs typeface="Calibri"/>
              </a:defRPr>
            </a:lvl6pPr>
            <a:lvl7pPr>
              <a:defRPr sz="1275" b="0">
                <a:solidFill>
                  <a:srgbClr val="444444"/>
                </a:solidFill>
                <a:latin typeface="Calibri"/>
                <a:ea typeface="Calibri"/>
                <a:cs typeface="Calibri"/>
              </a:defRPr>
            </a:lvl7pPr>
            <a:lvl8pPr>
              <a:defRPr sz="1275" b="0">
                <a:solidFill>
                  <a:srgbClr val="444444"/>
                </a:solidFill>
                <a:latin typeface="Calibri"/>
                <a:ea typeface="Calibri"/>
                <a:cs typeface="Calibri"/>
              </a:defRPr>
            </a:lvl8pPr>
            <a:lvl9pPr>
              <a:defRPr sz="1275" b="0">
                <a:solidFill>
                  <a:srgbClr val="444444"/>
                </a:solidFill>
                <a:latin typeface="Calibri"/>
                <a:ea typeface="Calibri"/>
                <a:cs typeface="Calibri"/>
              </a:defRPr>
            </a:lvl9pPr>
          </a:lstStyle>
          <a:p>
            <a:pPr>
              <a:defRPr sz="1275" b="0">
                <a:solidFill>
                  <a:srgbClr val="444444"/>
                </a:solidFill>
                <a:latin typeface="Calibri"/>
                <a:ea typeface="Calibri"/>
                <a:cs typeface="Calibri"/>
              </a:defRPr>
            </a:pPr>
            <a:r>
              <a:rPr sz="1275" b="0">
                <a:solidFill>
                  <a:srgbClr val="444444"/>
                </a:solidFill>
                <a:latin typeface="Calibri" panose="020F0502020204030204" pitchFamily="34" charset="0"/>
                <a:ea typeface="Calibri"/>
                <a:cs typeface="Calibri"/>
              </a:rPr>
              <a:t>Quadrotor: turboshaft illustration</a:t>
            </a:r>
          </a:p>
        </p:txBody>
      </p:sp>
      <p:pic>
        <p:nvPicPr>
          <p:cNvPr id="13" name="Picture 12">
            <a:extLst>
              <a:ext uri="{FF2B5EF4-FFF2-40B4-BE49-F238E27FC236}">
                <a16:creationId xmlns:a16="http://schemas.microsoft.com/office/drawing/2014/main" id="{D29B95ED-C2A2-0F6C-17B7-BA6F0F8DCD5E}"/>
              </a:ext>
            </a:extLst>
          </p:cNvPr>
          <p:cNvPicPr>
            <a:picLocks noChangeAspect="1"/>
          </p:cNvPicPr>
          <p:nvPr/>
        </p:nvPicPr>
        <p:blipFill>
          <a:blip r:embed="rId4"/>
          <a:stretch/>
        </p:blipFill>
        <p:spPr>
          <a:xfrm>
            <a:off x="4830494" y="1438275"/>
            <a:ext cx="2340512" cy="1571625"/>
          </a:xfrm>
          <a:prstGeom prst="rect">
            <a:avLst/>
          </a:prstGeom>
        </p:spPr>
      </p:pic>
      <p:sp>
        <p:nvSpPr>
          <p:cNvPr id="14" name="Rectangle 13">
            <a:extLst>
              <a:ext uri="{FF2B5EF4-FFF2-40B4-BE49-F238E27FC236}">
                <a16:creationId xmlns:a16="http://schemas.microsoft.com/office/drawing/2014/main" id="{03D29D77-F501-39CA-A2AC-E46AFBE58FEF}"/>
              </a:ext>
            </a:extLst>
          </p:cNvPr>
          <p:cNvSpPr>
            <a:spLocks noGrp="1"/>
          </p:cNvSpPr>
          <p:nvPr/>
        </p:nvSpPr>
        <p:spPr>
          <a:xfrm>
            <a:off x="4381500" y="3067050"/>
            <a:ext cx="3524250" cy="285750"/>
          </a:xfrm>
          <a:prstGeom prst="rect">
            <a:avLst/>
          </a:prstGeom>
          <a:noFill/>
          <a:ln w="0">
            <a:noFill/>
            <a:prstDash val="solid"/>
          </a:ln>
        </p:spPr>
        <p:txBody>
          <a:bodyPr lIns="0" tIns="0" rIns="0" bIns="0"/>
          <a:lstStyle>
            <a:defPPr>
              <a:defRPr sz="1275" b="0">
                <a:solidFill>
                  <a:srgbClr val="444444"/>
                </a:solidFill>
                <a:latin typeface="Calibri"/>
                <a:ea typeface="Calibri"/>
                <a:cs typeface="Calibri"/>
              </a:defRPr>
            </a:defPPr>
            <a:lvl1pPr>
              <a:defRPr sz="1275" b="0">
                <a:solidFill>
                  <a:srgbClr val="444444"/>
                </a:solidFill>
                <a:latin typeface="Calibri"/>
                <a:ea typeface="Calibri"/>
                <a:cs typeface="Calibri"/>
              </a:defRPr>
            </a:lvl1pPr>
            <a:lvl2pPr>
              <a:defRPr sz="1275" b="0">
                <a:solidFill>
                  <a:srgbClr val="444444"/>
                </a:solidFill>
                <a:latin typeface="Calibri"/>
                <a:ea typeface="Calibri"/>
                <a:cs typeface="Calibri"/>
              </a:defRPr>
            </a:lvl2pPr>
            <a:lvl3pPr>
              <a:defRPr sz="1275" b="0">
                <a:solidFill>
                  <a:srgbClr val="444444"/>
                </a:solidFill>
                <a:latin typeface="Calibri"/>
                <a:ea typeface="Calibri"/>
                <a:cs typeface="Calibri"/>
              </a:defRPr>
            </a:lvl3pPr>
            <a:lvl4pPr>
              <a:defRPr sz="1275" b="0">
                <a:solidFill>
                  <a:srgbClr val="444444"/>
                </a:solidFill>
                <a:latin typeface="Calibri"/>
                <a:ea typeface="Calibri"/>
                <a:cs typeface="Calibri"/>
              </a:defRPr>
            </a:lvl4pPr>
            <a:lvl5pPr>
              <a:defRPr sz="1275" b="0">
                <a:solidFill>
                  <a:srgbClr val="444444"/>
                </a:solidFill>
                <a:latin typeface="Calibri"/>
                <a:ea typeface="Calibri"/>
                <a:cs typeface="Calibri"/>
              </a:defRPr>
            </a:lvl5pPr>
            <a:lvl6pPr>
              <a:defRPr sz="1275" b="0">
                <a:solidFill>
                  <a:srgbClr val="444444"/>
                </a:solidFill>
                <a:latin typeface="Calibri"/>
                <a:ea typeface="Calibri"/>
                <a:cs typeface="Calibri"/>
              </a:defRPr>
            </a:lvl6pPr>
            <a:lvl7pPr>
              <a:defRPr sz="1275" b="0">
                <a:solidFill>
                  <a:srgbClr val="444444"/>
                </a:solidFill>
                <a:latin typeface="Calibri"/>
                <a:ea typeface="Calibri"/>
                <a:cs typeface="Calibri"/>
              </a:defRPr>
            </a:lvl7pPr>
            <a:lvl8pPr>
              <a:defRPr sz="1275" b="0">
                <a:solidFill>
                  <a:srgbClr val="444444"/>
                </a:solidFill>
                <a:latin typeface="Calibri"/>
                <a:ea typeface="Calibri"/>
                <a:cs typeface="Calibri"/>
              </a:defRPr>
            </a:lvl8pPr>
            <a:lvl9pPr>
              <a:defRPr sz="1275" b="0">
                <a:solidFill>
                  <a:srgbClr val="444444"/>
                </a:solidFill>
                <a:latin typeface="Calibri"/>
                <a:ea typeface="Calibri"/>
                <a:cs typeface="Calibri"/>
              </a:defRPr>
            </a:lvl9pPr>
          </a:lstStyle>
          <a:p>
            <a:pPr>
              <a:defRPr sz="1275" b="0">
                <a:solidFill>
                  <a:srgbClr val="444444"/>
                </a:solidFill>
                <a:latin typeface="Calibri"/>
                <a:ea typeface="Calibri"/>
                <a:cs typeface="Calibri"/>
              </a:defRPr>
            </a:pPr>
            <a:r>
              <a:rPr sz="1275" b="0">
                <a:solidFill>
                  <a:srgbClr val="444444"/>
                </a:solidFill>
                <a:latin typeface="Calibri" panose="020F0502020204030204" pitchFamily="34" charset="0"/>
                <a:ea typeface="Calibri"/>
                <a:cs typeface="Calibri"/>
              </a:rPr>
              <a:t>Side-by-side: turboshaft illustration</a:t>
            </a:r>
          </a:p>
        </p:txBody>
      </p:sp>
      <p:pic>
        <p:nvPicPr>
          <p:cNvPr id="15" name="Picture 14">
            <a:extLst>
              <a:ext uri="{FF2B5EF4-FFF2-40B4-BE49-F238E27FC236}">
                <a16:creationId xmlns:a16="http://schemas.microsoft.com/office/drawing/2014/main" id="{9033ABF2-B0ED-3094-E2EB-1A12EB229356}"/>
              </a:ext>
            </a:extLst>
          </p:cNvPr>
          <p:cNvPicPr>
            <a:picLocks noChangeAspect="1"/>
          </p:cNvPicPr>
          <p:nvPr/>
        </p:nvPicPr>
        <p:blipFill>
          <a:blip r:embed="rId5"/>
          <a:stretch/>
        </p:blipFill>
        <p:spPr>
          <a:xfrm>
            <a:off x="8488479" y="1438275"/>
            <a:ext cx="2549291" cy="1571625"/>
          </a:xfrm>
          <a:prstGeom prst="rect">
            <a:avLst/>
          </a:prstGeom>
        </p:spPr>
      </p:pic>
      <p:sp>
        <p:nvSpPr>
          <p:cNvPr id="16" name="Rectangle 15">
            <a:extLst>
              <a:ext uri="{FF2B5EF4-FFF2-40B4-BE49-F238E27FC236}">
                <a16:creationId xmlns:a16="http://schemas.microsoft.com/office/drawing/2014/main" id="{1B9E47A2-1BCB-B1A9-63EF-824BF4A0544B}"/>
              </a:ext>
            </a:extLst>
          </p:cNvPr>
          <p:cNvSpPr>
            <a:spLocks noGrp="1"/>
          </p:cNvSpPr>
          <p:nvPr/>
        </p:nvSpPr>
        <p:spPr>
          <a:xfrm>
            <a:off x="8143875" y="3067050"/>
            <a:ext cx="3524250" cy="285750"/>
          </a:xfrm>
          <a:prstGeom prst="rect">
            <a:avLst/>
          </a:prstGeom>
          <a:noFill/>
          <a:ln w="0">
            <a:noFill/>
            <a:prstDash val="solid"/>
          </a:ln>
        </p:spPr>
        <p:txBody>
          <a:bodyPr lIns="0" tIns="0" rIns="0" bIns="0"/>
          <a:lstStyle>
            <a:defPPr>
              <a:defRPr sz="1275" b="0">
                <a:solidFill>
                  <a:srgbClr val="444444"/>
                </a:solidFill>
                <a:latin typeface="Calibri"/>
                <a:ea typeface="Calibri"/>
                <a:cs typeface="Calibri"/>
              </a:defRPr>
            </a:defPPr>
            <a:lvl1pPr>
              <a:defRPr sz="1275" b="0">
                <a:solidFill>
                  <a:srgbClr val="444444"/>
                </a:solidFill>
                <a:latin typeface="Calibri"/>
                <a:ea typeface="Calibri"/>
                <a:cs typeface="Calibri"/>
              </a:defRPr>
            </a:lvl1pPr>
            <a:lvl2pPr>
              <a:defRPr sz="1275" b="0">
                <a:solidFill>
                  <a:srgbClr val="444444"/>
                </a:solidFill>
                <a:latin typeface="Calibri"/>
                <a:ea typeface="Calibri"/>
                <a:cs typeface="Calibri"/>
              </a:defRPr>
            </a:lvl2pPr>
            <a:lvl3pPr>
              <a:defRPr sz="1275" b="0">
                <a:solidFill>
                  <a:srgbClr val="444444"/>
                </a:solidFill>
                <a:latin typeface="Calibri"/>
                <a:ea typeface="Calibri"/>
                <a:cs typeface="Calibri"/>
              </a:defRPr>
            </a:lvl3pPr>
            <a:lvl4pPr>
              <a:defRPr sz="1275" b="0">
                <a:solidFill>
                  <a:srgbClr val="444444"/>
                </a:solidFill>
                <a:latin typeface="Calibri"/>
                <a:ea typeface="Calibri"/>
                <a:cs typeface="Calibri"/>
              </a:defRPr>
            </a:lvl4pPr>
            <a:lvl5pPr>
              <a:defRPr sz="1275" b="0">
                <a:solidFill>
                  <a:srgbClr val="444444"/>
                </a:solidFill>
                <a:latin typeface="Calibri"/>
                <a:ea typeface="Calibri"/>
                <a:cs typeface="Calibri"/>
              </a:defRPr>
            </a:lvl5pPr>
            <a:lvl6pPr>
              <a:defRPr sz="1275" b="0">
                <a:solidFill>
                  <a:srgbClr val="444444"/>
                </a:solidFill>
                <a:latin typeface="Calibri"/>
                <a:ea typeface="Calibri"/>
                <a:cs typeface="Calibri"/>
              </a:defRPr>
            </a:lvl6pPr>
            <a:lvl7pPr>
              <a:defRPr sz="1275" b="0">
                <a:solidFill>
                  <a:srgbClr val="444444"/>
                </a:solidFill>
                <a:latin typeface="Calibri"/>
                <a:ea typeface="Calibri"/>
                <a:cs typeface="Calibri"/>
              </a:defRPr>
            </a:lvl7pPr>
            <a:lvl8pPr>
              <a:defRPr sz="1275" b="0">
                <a:solidFill>
                  <a:srgbClr val="444444"/>
                </a:solidFill>
                <a:latin typeface="Calibri"/>
                <a:ea typeface="Calibri"/>
                <a:cs typeface="Calibri"/>
              </a:defRPr>
            </a:lvl8pPr>
            <a:lvl9pPr>
              <a:defRPr sz="1275" b="0">
                <a:solidFill>
                  <a:srgbClr val="444444"/>
                </a:solidFill>
                <a:latin typeface="Calibri"/>
                <a:ea typeface="Calibri"/>
                <a:cs typeface="Calibri"/>
              </a:defRPr>
            </a:lvl9pPr>
          </a:lstStyle>
          <a:p>
            <a:pPr>
              <a:defRPr sz="1275" b="0">
                <a:solidFill>
                  <a:srgbClr val="444444"/>
                </a:solidFill>
                <a:latin typeface="Calibri"/>
                <a:ea typeface="Calibri"/>
                <a:cs typeface="Calibri"/>
              </a:defRPr>
            </a:pPr>
            <a:r>
              <a:rPr sz="1275" b="0">
                <a:solidFill>
                  <a:srgbClr val="444444"/>
                </a:solidFill>
                <a:latin typeface="Calibri" panose="020F0502020204030204" pitchFamily="34" charset="0"/>
                <a:ea typeface="Calibri"/>
                <a:cs typeface="Calibri"/>
              </a:rPr>
              <a:t>Lift + cruise: turboelectric illustration</a:t>
            </a:r>
          </a:p>
        </p:txBody>
      </p:sp>
      <p:graphicFrame>
        <p:nvGraphicFramePr>
          <p:cNvPr id="17" name="Table 16">
            <a:extLst>
              <a:ext uri="{FF2B5EF4-FFF2-40B4-BE49-F238E27FC236}">
                <a16:creationId xmlns:a16="http://schemas.microsoft.com/office/drawing/2014/main" id="{24905AFB-4E46-6621-9746-D003FA377831}"/>
              </a:ext>
            </a:extLst>
          </p:cNvPr>
          <p:cNvGraphicFramePr/>
          <p:nvPr>
            <p:extLst>
              <p:ext uri="{D42A27DB-BD31-4B8C-83A1-F6EECF244321}">
                <p14:modId xmlns:p14="http://schemas.microsoft.com/office/powerpoint/2010/main" val="4224178507"/>
              </p:ext>
            </p:extLst>
          </p:nvPr>
        </p:nvGraphicFramePr>
        <p:xfrm>
          <a:off x="476250" y="3476625"/>
          <a:ext cx="11239500" cy="2333625"/>
        </p:xfrm>
        <a:graphic>
          <a:graphicData uri="http://schemas.openxmlformats.org/drawingml/2006/table">
            <a:tbl>
              <a:tblPr/>
              <a:tblGrid>
                <a:gridCol w="3619500">
                  <a:extLst>
                    <a:ext uri="{9D8B030D-6E8A-4147-A177-3AD203B41FA5}">
                      <a16:colId xmlns:a16="http://schemas.microsoft.com/office/drawing/2014/main" val="20000"/>
                    </a:ext>
                  </a:extLst>
                </a:gridCol>
                <a:gridCol w="2333625">
                  <a:extLst>
                    <a:ext uri="{9D8B030D-6E8A-4147-A177-3AD203B41FA5}">
                      <a16:colId xmlns:a16="http://schemas.microsoft.com/office/drawing/2014/main" val="20001"/>
                    </a:ext>
                  </a:extLst>
                </a:gridCol>
                <a:gridCol w="2333625">
                  <a:extLst>
                    <a:ext uri="{9D8B030D-6E8A-4147-A177-3AD203B41FA5}">
                      <a16:colId xmlns:a16="http://schemas.microsoft.com/office/drawing/2014/main" val="20002"/>
                    </a:ext>
                  </a:extLst>
                </a:gridCol>
                <a:gridCol w="2952750">
                  <a:extLst>
                    <a:ext uri="{9D8B030D-6E8A-4147-A177-3AD203B41FA5}">
                      <a16:colId xmlns:a16="http://schemas.microsoft.com/office/drawing/2014/main" val="20003"/>
                    </a:ext>
                  </a:extLst>
                </a:gridCol>
              </a:tblGrid>
              <a:tr h="333375">
                <a:tc>
                  <a:txBody>
                    <a:bodyPr/>
                    <a:lstStyle/>
                    <a:p>
                      <a:r>
                        <a:rPr sz="1350" b="1">
                          <a:solidFill>
                            <a:srgbClr val="000000"/>
                          </a:solidFill>
                          <a:latin typeface="Calibri" panose="020F0502020204030204" pitchFamily="34" charset="0"/>
                          <a:ea typeface="Calibri"/>
                          <a:cs typeface="Calibri"/>
                        </a:rPr>
                        <a:t>Configuration</a:t>
                      </a:r>
                    </a:p>
                  </a:txBody>
                  <a:tcPr>
                    <a:lnL w="9525">
                      <a:solidFill>
                        <a:srgbClr val="BBBBBB"/>
                      </a:solidFill>
                    </a:lnL>
                    <a:lnR w="9525">
                      <a:solidFill>
                        <a:srgbClr val="BBBBBB"/>
                      </a:solidFill>
                    </a:lnR>
                    <a:lnT w="9525">
                      <a:solidFill>
                        <a:srgbClr val="BBBBBB"/>
                      </a:solidFill>
                    </a:lnT>
                    <a:lnB w="9525">
                      <a:solidFill>
                        <a:srgbClr val="BBBBBB"/>
                      </a:solidFill>
                    </a:lnB>
                    <a:solidFill>
                      <a:srgbClr val="D9D9D9"/>
                    </a:solidFill>
                  </a:tcPr>
                </a:tc>
                <a:tc>
                  <a:txBody>
                    <a:bodyPr/>
                    <a:lstStyle/>
                    <a:p>
                      <a:r>
                        <a:rPr sz="1350" b="1">
                          <a:solidFill>
                            <a:srgbClr val="000000"/>
                          </a:solidFill>
                          <a:latin typeface="Calibri" panose="020F0502020204030204" pitchFamily="34" charset="0"/>
                          <a:ea typeface="Calibri"/>
                          <a:cs typeface="Calibri"/>
                        </a:rPr>
                        <a:t>Published DGW, lb</a:t>
                      </a:r>
                    </a:p>
                  </a:txBody>
                  <a:tcPr>
                    <a:lnL w="9525" cap="flat" cmpd="sng" algn="ctr">
                      <a:solidFill>
                        <a:srgbClr val="BBBBBB"/>
                      </a:solidFill>
                      <a:prstDash val="solid"/>
                      <a:round/>
                      <a:headEnd type="none" w="med" len="med"/>
                      <a:tailEnd type="none" w="med" len="med"/>
                    </a:lnL>
                    <a:lnR w="9525">
                      <a:solidFill>
                        <a:srgbClr val="BBBBBB"/>
                      </a:solidFill>
                    </a:lnR>
                    <a:lnT w="9525">
                      <a:solidFill>
                        <a:srgbClr val="BBBBBB"/>
                      </a:solidFill>
                    </a:lnT>
                    <a:lnB w="9525">
                      <a:solidFill>
                        <a:srgbClr val="BBBBBB"/>
                      </a:solidFill>
                    </a:lnB>
                    <a:solidFill>
                      <a:srgbClr val="D9D9D9"/>
                    </a:solidFill>
                  </a:tcPr>
                </a:tc>
                <a:tc>
                  <a:txBody>
                    <a:bodyPr/>
                    <a:lstStyle/>
                    <a:p>
                      <a:r>
                        <a:rPr sz="1350" b="1">
                          <a:solidFill>
                            <a:srgbClr val="000000"/>
                          </a:solidFill>
                          <a:latin typeface="Calibri" panose="020F0502020204030204" pitchFamily="34" charset="0"/>
                          <a:ea typeface="Calibri"/>
                          <a:cs typeface="Calibri"/>
                        </a:rPr>
                        <a:t>Reproduced, lb</a:t>
                      </a:r>
                    </a:p>
                  </a:txBody>
                  <a:tcPr>
                    <a:lnL w="9525" cap="flat" cmpd="sng" algn="ctr">
                      <a:solidFill>
                        <a:srgbClr val="BBBBBB"/>
                      </a:solidFill>
                      <a:prstDash val="solid"/>
                      <a:round/>
                      <a:headEnd type="none" w="med" len="med"/>
                      <a:tailEnd type="none" w="med" len="med"/>
                    </a:lnL>
                    <a:lnR w="9525">
                      <a:solidFill>
                        <a:srgbClr val="BBBBBB"/>
                      </a:solidFill>
                    </a:lnR>
                    <a:lnT w="9525">
                      <a:solidFill>
                        <a:srgbClr val="BBBBBB"/>
                      </a:solidFill>
                    </a:lnT>
                    <a:lnB w="9525">
                      <a:solidFill>
                        <a:srgbClr val="BBBBBB"/>
                      </a:solidFill>
                    </a:lnB>
                    <a:solidFill>
                      <a:srgbClr val="D9D9D9"/>
                    </a:solidFill>
                  </a:tcPr>
                </a:tc>
                <a:tc>
                  <a:txBody>
                    <a:bodyPr/>
                    <a:lstStyle/>
                    <a:p>
                      <a:r>
                        <a:rPr sz="1350" b="1">
                          <a:solidFill>
                            <a:srgbClr val="000000"/>
                          </a:solidFill>
                          <a:latin typeface="Calibri" panose="020F0502020204030204" pitchFamily="34" charset="0"/>
                          <a:ea typeface="Calibri"/>
                          <a:cs typeface="Calibri"/>
                        </a:rPr>
                        <a:t>Difference / status</a:t>
                      </a:r>
                    </a:p>
                  </a:txBody>
                  <a:tcPr>
                    <a:lnL w="9525" cap="flat" cmpd="sng" algn="ctr">
                      <a:solidFill>
                        <a:srgbClr val="BBBBBB"/>
                      </a:solidFill>
                      <a:prstDash val="solid"/>
                      <a:round/>
                      <a:headEnd type="none" w="med" len="med"/>
                      <a:tailEnd type="none" w="med" len="med"/>
                    </a:lnL>
                    <a:lnR w="9525">
                      <a:solidFill>
                        <a:srgbClr val="BBBBBB"/>
                      </a:solidFill>
                    </a:lnR>
                    <a:lnT w="9525">
                      <a:solidFill>
                        <a:srgbClr val="BBBBBB"/>
                      </a:solidFill>
                    </a:lnT>
                    <a:lnB w="9525">
                      <a:solidFill>
                        <a:srgbClr val="BBBBBB"/>
                      </a:solidFill>
                    </a:lnB>
                    <a:solidFill>
                      <a:srgbClr val="D9D9D9"/>
                    </a:solidFill>
                  </a:tcPr>
                </a:tc>
                <a:extLst>
                  <a:ext uri="{0D108BD9-81ED-4DB2-BD59-A6C34878D82A}">
                    <a16:rowId xmlns:a16="http://schemas.microsoft.com/office/drawing/2014/main" val="10000"/>
                  </a:ext>
                </a:extLst>
              </a:tr>
              <a:tr h="333375">
                <a:tc>
                  <a:txBody>
                    <a:bodyPr/>
                    <a:lstStyle/>
                    <a:p>
                      <a:r>
                        <a:rPr sz="1350" b="0">
                          <a:solidFill>
                            <a:srgbClr val="000000"/>
                          </a:solidFill>
                          <a:latin typeface="Calibri" panose="020F0502020204030204" pitchFamily="34" charset="0"/>
                          <a:ea typeface="Calibri"/>
                          <a:cs typeface="Calibri"/>
                        </a:rPr>
                        <a:t>Electric quadrotor</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350" b="0">
                          <a:solidFill>
                            <a:srgbClr val="000000"/>
                          </a:solidFill>
                          <a:latin typeface="Calibri" panose="020F0502020204030204" pitchFamily="34" charset="0"/>
                          <a:ea typeface="Calibri"/>
                          <a:cs typeface="Calibri"/>
                        </a:rPr>
                        <a:t>6,480</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350" b="0">
                          <a:solidFill>
                            <a:srgbClr val="000000"/>
                          </a:solidFill>
                          <a:latin typeface="Calibri" panose="020F0502020204030204" pitchFamily="34" charset="0"/>
                          <a:ea typeface="Calibri"/>
                          <a:cs typeface="Calibri"/>
                        </a:rPr>
                        <a:t>6,480.2</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350" b="0">
                          <a:solidFill>
                            <a:srgbClr val="000000"/>
                          </a:solidFill>
                          <a:latin typeface="Calibri" panose="020F0502020204030204" pitchFamily="34" charset="0"/>
                          <a:ea typeface="Calibri"/>
                          <a:cs typeface="Calibri"/>
                        </a:rPr>
                        <a:t>+0.003%; repeated</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extLst>
                  <a:ext uri="{0D108BD9-81ED-4DB2-BD59-A6C34878D82A}">
                    <a16:rowId xmlns:a16="http://schemas.microsoft.com/office/drawing/2014/main" val="10001"/>
                  </a:ext>
                </a:extLst>
              </a:tr>
              <a:tr h="333375">
                <a:tc>
                  <a:txBody>
                    <a:bodyPr/>
                    <a:lstStyle/>
                    <a:p>
                      <a:r>
                        <a:rPr sz="1350" b="0">
                          <a:solidFill>
                            <a:srgbClr val="000000"/>
                          </a:solidFill>
                          <a:latin typeface="Calibri" panose="020F0502020204030204" pitchFamily="34" charset="0"/>
                          <a:ea typeface="Calibri"/>
                          <a:cs typeface="Calibri"/>
                        </a:rPr>
                        <a:t>Turboshaft side-by-side</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350" b="0">
                          <a:solidFill>
                            <a:srgbClr val="000000"/>
                          </a:solidFill>
                          <a:latin typeface="Calibri" panose="020F0502020204030204" pitchFamily="34" charset="0"/>
                          <a:ea typeface="Calibri"/>
                          <a:cs typeface="Calibri"/>
                        </a:rPr>
                        <a:t>3,468</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350" b="0">
                          <a:solidFill>
                            <a:srgbClr val="000000"/>
                          </a:solidFill>
                          <a:latin typeface="Calibri" panose="020F0502020204030204" pitchFamily="34" charset="0"/>
                          <a:ea typeface="Calibri"/>
                          <a:cs typeface="Calibri"/>
                        </a:rPr>
                        <a:t>3,468.5</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350" b="0">
                          <a:solidFill>
                            <a:srgbClr val="000000"/>
                          </a:solidFill>
                          <a:latin typeface="Calibri" panose="020F0502020204030204" pitchFamily="34" charset="0"/>
                          <a:ea typeface="Calibri"/>
                          <a:cs typeface="Calibri"/>
                        </a:rPr>
                        <a:t>+0.014%; repeated</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extLst>
                  <a:ext uri="{0D108BD9-81ED-4DB2-BD59-A6C34878D82A}">
                    <a16:rowId xmlns:a16="http://schemas.microsoft.com/office/drawing/2014/main" val="10002"/>
                  </a:ext>
                </a:extLst>
              </a:tr>
              <a:tr h="333375">
                <a:tc>
                  <a:txBody>
                    <a:bodyPr/>
                    <a:lstStyle/>
                    <a:p>
                      <a:r>
                        <a:rPr sz="1350" b="0">
                          <a:solidFill>
                            <a:srgbClr val="000000"/>
                          </a:solidFill>
                          <a:latin typeface="Calibri" panose="020F0502020204030204" pitchFamily="34" charset="0"/>
                          <a:ea typeface="Calibri"/>
                          <a:cs typeface="Calibri"/>
                        </a:rPr>
                        <a:t>Electric side-by-side</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350" b="0">
                          <a:solidFill>
                            <a:srgbClr val="000000"/>
                          </a:solidFill>
                          <a:latin typeface="Calibri" panose="020F0502020204030204" pitchFamily="34" charset="0"/>
                          <a:ea typeface="Calibri"/>
                          <a:cs typeface="Calibri"/>
                        </a:rPr>
                        <a:t>4,897</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350" b="0">
                          <a:solidFill>
                            <a:srgbClr val="000000"/>
                          </a:solidFill>
                          <a:latin typeface="Calibri" panose="020F0502020204030204" pitchFamily="34" charset="0"/>
                          <a:ea typeface="Calibri"/>
                          <a:cs typeface="Calibri"/>
                        </a:rPr>
                        <a:t>4,899.3</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350" b="0">
                          <a:solidFill>
                            <a:srgbClr val="000000"/>
                          </a:solidFill>
                          <a:latin typeface="Calibri" panose="020F0502020204030204" pitchFamily="34" charset="0"/>
                          <a:ea typeface="Calibri"/>
                          <a:cs typeface="Calibri"/>
                        </a:rPr>
                        <a:t>+0.047%; repeated</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extLst>
                  <a:ext uri="{0D108BD9-81ED-4DB2-BD59-A6C34878D82A}">
                    <a16:rowId xmlns:a16="http://schemas.microsoft.com/office/drawing/2014/main" val="10003"/>
                  </a:ext>
                </a:extLst>
              </a:tr>
              <a:tr h="333375">
                <a:tc>
                  <a:txBody>
                    <a:bodyPr/>
                    <a:lstStyle/>
                    <a:p>
                      <a:r>
                        <a:rPr sz="1350" b="0">
                          <a:solidFill>
                            <a:srgbClr val="000000"/>
                          </a:solidFill>
                          <a:latin typeface="Calibri" panose="020F0502020204030204" pitchFamily="34" charset="0"/>
                          <a:ea typeface="Calibri"/>
                          <a:cs typeface="Calibri"/>
                        </a:rPr>
                        <a:t>Electric L+C, restricted subset</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350" b="0">
                          <a:solidFill>
                            <a:srgbClr val="000000"/>
                          </a:solidFill>
                          <a:latin typeface="Calibri" panose="020F0502020204030204" pitchFamily="34" charset="0"/>
                          <a:ea typeface="Calibri"/>
                          <a:cs typeface="Calibri"/>
                        </a:rPr>
                        <a:t>8,210</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350" b="0">
                          <a:solidFill>
                            <a:srgbClr val="000000"/>
                          </a:solidFill>
                          <a:latin typeface="Calibri" panose="020F0502020204030204" pitchFamily="34" charset="0"/>
                          <a:ea typeface="Calibri"/>
                          <a:cs typeface="Calibri"/>
                        </a:rPr>
                        <a:t>9,542.3</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350" b="0">
                          <a:solidFill>
                            <a:srgbClr val="000000"/>
                          </a:solidFill>
                          <a:latin typeface="Calibri" panose="020F0502020204030204" pitchFamily="34" charset="0"/>
                          <a:ea typeface="Calibri"/>
                          <a:cs typeface="Calibri"/>
                        </a:rPr>
                        <a:t>+16.23%; unresolved</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extLst>
                  <a:ext uri="{0D108BD9-81ED-4DB2-BD59-A6C34878D82A}">
                    <a16:rowId xmlns:a16="http://schemas.microsoft.com/office/drawing/2014/main" val="10004"/>
                  </a:ext>
                </a:extLst>
              </a:tr>
              <a:tr h="333375">
                <a:tc>
                  <a:txBody>
                    <a:bodyPr/>
                    <a:lstStyle/>
                    <a:p>
                      <a:r>
                        <a:rPr sz="1350" b="0">
                          <a:solidFill>
                            <a:srgbClr val="000000"/>
                          </a:solidFill>
                          <a:latin typeface="Calibri" panose="020F0502020204030204" pitchFamily="34" charset="0"/>
                          <a:ea typeface="Calibri"/>
                          <a:cs typeface="Calibri"/>
                        </a:rPr>
                        <a:t>Turboelectric L+C</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350" b="0">
                          <a:solidFill>
                            <a:srgbClr val="000000"/>
                          </a:solidFill>
                          <a:latin typeface="Calibri" panose="020F0502020204030204" pitchFamily="34" charset="0"/>
                          <a:ea typeface="Calibri"/>
                          <a:cs typeface="Calibri"/>
                        </a:rPr>
                        <a:t>6,013</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350" b="0">
                          <a:solidFill>
                            <a:srgbClr val="000000"/>
                          </a:solidFill>
                          <a:latin typeface="Calibri" panose="020F0502020204030204" pitchFamily="34" charset="0"/>
                          <a:ea typeface="Calibri"/>
                          <a:cs typeface="Calibri"/>
                        </a:rPr>
                        <a:t>No accepted result</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lang="en-US" sz="1350" b="0">
                          <a:solidFill>
                            <a:srgbClr val="000000"/>
                          </a:solidFill>
                          <a:latin typeface="Calibri" panose="020F0502020204030204" pitchFamily="34" charset="0"/>
                          <a:ea typeface="Calibri"/>
                          <a:cs typeface="Calibri"/>
                        </a:rPr>
                        <a:t>Retries: flags / timeout</a:t>
                      </a:r>
                      <a:endParaRPr sz="1350" b="0">
                        <a:solidFill>
                          <a:srgbClr val="000000"/>
                        </a:solidFill>
                        <a:latin typeface="Calibri" panose="020F0502020204030204" pitchFamily="34" charset="0"/>
                        <a:ea typeface="Calibri"/>
                        <a:cs typeface="Calibri"/>
                      </a:endParaRP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extLst>
                  <a:ext uri="{0D108BD9-81ED-4DB2-BD59-A6C34878D82A}">
                    <a16:rowId xmlns:a16="http://schemas.microsoft.com/office/drawing/2014/main" val="10005"/>
                  </a:ext>
                </a:extLst>
              </a:tr>
              <a:tr h="333375">
                <a:tc>
                  <a:txBody>
                    <a:bodyPr/>
                    <a:lstStyle/>
                    <a:p>
                      <a:r>
                        <a:rPr sz="1350" b="0">
                          <a:solidFill>
                            <a:srgbClr val="000000"/>
                          </a:solidFill>
                          <a:latin typeface="Calibri" panose="020F0502020204030204" pitchFamily="34" charset="0"/>
                          <a:ea typeface="Calibri"/>
                          <a:cs typeface="Calibri"/>
                        </a:rPr>
                        <a:t>Electric tiltrotor, Radotich</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350" b="0">
                          <a:solidFill>
                            <a:srgbClr val="000000"/>
                          </a:solidFill>
                          <a:latin typeface="Calibri" panose="020F0502020204030204" pitchFamily="34" charset="0"/>
                          <a:ea typeface="Calibri"/>
                          <a:cs typeface="Calibri"/>
                        </a:rPr>
                        <a:t>7,053.4</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350" b="0">
                          <a:solidFill>
                            <a:srgbClr val="000000"/>
                          </a:solidFill>
                          <a:latin typeface="Calibri" panose="020F0502020204030204" pitchFamily="34" charset="0"/>
                          <a:ea typeface="Calibri"/>
                          <a:cs typeface="Calibri"/>
                        </a:rPr>
                        <a:t>7,136.5</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350" b="0">
                          <a:solidFill>
                            <a:srgbClr val="000000"/>
                          </a:solidFill>
                          <a:latin typeface="Calibri" panose="020F0502020204030204" pitchFamily="34" charset="0"/>
                          <a:ea typeface="Calibri"/>
                          <a:cs typeface="Calibri"/>
                        </a:rPr>
                        <a:t>+1.18%; trim failure</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extLst>
                  <a:ext uri="{0D108BD9-81ED-4DB2-BD59-A6C34878D82A}">
                    <a16:rowId xmlns:a16="http://schemas.microsoft.com/office/drawing/2014/main" val="10006"/>
                  </a:ext>
                </a:extLst>
              </a:tr>
            </a:tbl>
          </a:graphicData>
        </a:graphic>
      </p:graphicFrame>
      <p:sp>
        <p:nvSpPr>
          <p:cNvPr id="18" name="Rectangle 17">
            <a:extLst>
              <a:ext uri="{FF2B5EF4-FFF2-40B4-BE49-F238E27FC236}">
                <a16:creationId xmlns:a16="http://schemas.microsoft.com/office/drawing/2014/main" id="{4A5AE0FC-8909-90AC-114D-30E024E734C6}"/>
              </a:ext>
            </a:extLst>
          </p:cNvPr>
          <p:cNvSpPr>
            <a:spLocks noGrp="1"/>
          </p:cNvSpPr>
          <p:nvPr/>
        </p:nvSpPr>
        <p:spPr>
          <a:xfrm>
            <a:off x="476250" y="5953125"/>
            <a:ext cx="11239500" cy="323850"/>
          </a:xfrm>
          <a:prstGeom prst="rect">
            <a:avLst/>
          </a:prstGeom>
          <a:noFill/>
          <a:ln w="0">
            <a:noFill/>
            <a:prstDash val="solid"/>
          </a:ln>
        </p:spPr>
        <p:txBody>
          <a:bodyPr lIns="0" tIns="0" rIns="0" bIns="0"/>
          <a:lstStyle>
            <a:defPPr>
              <a:defRPr sz="1200" b="0">
                <a:solidFill>
                  <a:srgbClr val="444444"/>
                </a:solidFill>
                <a:latin typeface="Calibri"/>
                <a:ea typeface="Calibri"/>
                <a:cs typeface="Calibri"/>
              </a:defRPr>
            </a:defPPr>
            <a:lvl1pPr>
              <a:defRPr sz="1200" b="0">
                <a:solidFill>
                  <a:srgbClr val="444444"/>
                </a:solidFill>
                <a:latin typeface="Calibri"/>
                <a:ea typeface="Calibri"/>
                <a:cs typeface="Calibri"/>
              </a:defRPr>
            </a:lvl1pPr>
            <a:lvl2pPr>
              <a:defRPr sz="1200" b="0">
                <a:solidFill>
                  <a:srgbClr val="444444"/>
                </a:solidFill>
                <a:latin typeface="Calibri"/>
                <a:ea typeface="Calibri"/>
                <a:cs typeface="Calibri"/>
              </a:defRPr>
            </a:lvl2pPr>
            <a:lvl3pPr>
              <a:defRPr sz="1200" b="0">
                <a:solidFill>
                  <a:srgbClr val="444444"/>
                </a:solidFill>
                <a:latin typeface="Calibri"/>
                <a:ea typeface="Calibri"/>
                <a:cs typeface="Calibri"/>
              </a:defRPr>
            </a:lvl3pPr>
            <a:lvl4pPr>
              <a:defRPr sz="1200" b="0">
                <a:solidFill>
                  <a:srgbClr val="444444"/>
                </a:solidFill>
                <a:latin typeface="Calibri"/>
                <a:ea typeface="Calibri"/>
                <a:cs typeface="Calibri"/>
              </a:defRPr>
            </a:lvl4pPr>
            <a:lvl5pPr>
              <a:defRPr sz="1200" b="0">
                <a:solidFill>
                  <a:srgbClr val="444444"/>
                </a:solidFill>
                <a:latin typeface="Calibri"/>
                <a:ea typeface="Calibri"/>
                <a:cs typeface="Calibri"/>
              </a:defRPr>
            </a:lvl5pPr>
            <a:lvl6pPr>
              <a:defRPr sz="1200" b="0">
                <a:solidFill>
                  <a:srgbClr val="444444"/>
                </a:solidFill>
                <a:latin typeface="Calibri"/>
                <a:ea typeface="Calibri"/>
                <a:cs typeface="Calibri"/>
              </a:defRPr>
            </a:lvl6pPr>
            <a:lvl7pPr>
              <a:defRPr sz="1200" b="0">
                <a:solidFill>
                  <a:srgbClr val="444444"/>
                </a:solidFill>
                <a:latin typeface="Calibri"/>
                <a:ea typeface="Calibri"/>
                <a:cs typeface="Calibri"/>
              </a:defRPr>
            </a:lvl7pPr>
            <a:lvl8pPr>
              <a:defRPr sz="1200" b="0">
                <a:solidFill>
                  <a:srgbClr val="444444"/>
                </a:solidFill>
                <a:latin typeface="Calibri"/>
                <a:ea typeface="Calibri"/>
                <a:cs typeface="Calibri"/>
              </a:defRPr>
            </a:lvl8pPr>
            <a:lvl9pPr>
              <a:defRPr sz="1200" b="0">
                <a:solidFill>
                  <a:srgbClr val="444444"/>
                </a:solidFill>
                <a:latin typeface="Calibri"/>
                <a:ea typeface="Calibri"/>
                <a:cs typeface="Calibri"/>
              </a:defRPr>
            </a:lvl9pPr>
          </a:lstStyle>
          <a:p>
            <a:pPr>
              <a:defRPr sz="1200" b="0">
                <a:solidFill>
                  <a:srgbClr val="444444"/>
                </a:solidFill>
                <a:latin typeface="Calibri"/>
                <a:ea typeface="Calibri"/>
                <a:cs typeface="Calibri"/>
              </a:defRPr>
            </a:pPr>
            <a:endParaRPr>
              <a:latin typeface="Calibri" panose="020F0502020204030204" pitchFamily="34" charset="0"/>
            </a:endParaRPr>
          </a:p>
        </p:txBody>
      </p:sp>
      <p:sp>
        <p:nvSpPr>
          <p:cNvPr id="19" name="Rectangle 18">
            <a:extLst>
              <a:ext uri="{FF2B5EF4-FFF2-40B4-BE49-F238E27FC236}">
                <a16:creationId xmlns:a16="http://schemas.microsoft.com/office/drawing/2014/main" id="{CADCEDB0-005F-1E1A-A6FD-62A0569CF84C}"/>
              </a:ext>
            </a:extLst>
          </p:cNvPr>
          <p:cNvSpPr>
            <a:spLocks noGrp="1"/>
          </p:cNvSpPr>
          <p:nvPr/>
        </p:nvSpPr>
        <p:spPr>
          <a:xfrm>
            <a:off x="476250" y="6400800"/>
            <a:ext cx="10810875" cy="381000"/>
          </a:xfrm>
          <a:prstGeom prst="rect">
            <a:avLst/>
          </a:prstGeom>
          <a:noFill/>
          <a:ln w="0">
            <a:noFill/>
            <a:prstDash val="solid"/>
          </a:ln>
        </p:spPr>
        <p:txBody>
          <a:bodyPr lIns="0" tIns="0" rIns="0" bIns="0"/>
          <a:lstStyle>
            <a:defPPr>
              <a:defRPr sz="1125" b="0">
                <a:solidFill>
                  <a:srgbClr val="444444"/>
                </a:solidFill>
                <a:latin typeface="Calibri"/>
                <a:ea typeface="Calibri"/>
                <a:cs typeface="Calibri"/>
              </a:defRPr>
            </a:defPPr>
            <a:lvl1pPr>
              <a:defRPr sz="1125" b="0">
                <a:solidFill>
                  <a:srgbClr val="444444"/>
                </a:solidFill>
                <a:latin typeface="Calibri"/>
                <a:ea typeface="Calibri"/>
                <a:cs typeface="Calibri"/>
              </a:defRPr>
            </a:lvl1pPr>
            <a:lvl2pPr>
              <a:defRPr sz="1125" b="0">
                <a:solidFill>
                  <a:srgbClr val="444444"/>
                </a:solidFill>
                <a:latin typeface="Calibri"/>
                <a:ea typeface="Calibri"/>
                <a:cs typeface="Calibri"/>
              </a:defRPr>
            </a:lvl2pPr>
            <a:lvl3pPr>
              <a:defRPr sz="1125" b="0">
                <a:solidFill>
                  <a:srgbClr val="444444"/>
                </a:solidFill>
                <a:latin typeface="Calibri"/>
                <a:ea typeface="Calibri"/>
                <a:cs typeface="Calibri"/>
              </a:defRPr>
            </a:lvl3pPr>
            <a:lvl4pPr>
              <a:defRPr sz="1125" b="0">
                <a:solidFill>
                  <a:srgbClr val="444444"/>
                </a:solidFill>
                <a:latin typeface="Calibri"/>
                <a:ea typeface="Calibri"/>
                <a:cs typeface="Calibri"/>
              </a:defRPr>
            </a:lvl4pPr>
            <a:lvl5pPr>
              <a:defRPr sz="1125" b="0">
                <a:solidFill>
                  <a:srgbClr val="444444"/>
                </a:solidFill>
                <a:latin typeface="Calibri"/>
                <a:ea typeface="Calibri"/>
                <a:cs typeface="Calibri"/>
              </a:defRPr>
            </a:lvl5pPr>
            <a:lvl6pPr>
              <a:defRPr sz="1125" b="0">
                <a:solidFill>
                  <a:srgbClr val="444444"/>
                </a:solidFill>
                <a:latin typeface="Calibri"/>
                <a:ea typeface="Calibri"/>
                <a:cs typeface="Calibri"/>
              </a:defRPr>
            </a:lvl6pPr>
            <a:lvl7pPr>
              <a:defRPr sz="1125" b="0">
                <a:solidFill>
                  <a:srgbClr val="444444"/>
                </a:solidFill>
                <a:latin typeface="Calibri"/>
                <a:ea typeface="Calibri"/>
                <a:cs typeface="Calibri"/>
              </a:defRPr>
            </a:lvl7pPr>
            <a:lvl8pPr>
              <a:defRPr sz="1125" b="0">
                <a:solidFill>
                  <a:srgbClr val="444444"/>
                </a:solidFill>
                <a:latin typeface="Calibri"/>
                <a:ea typeface="Calibri"/>
                <a:cs typeface="Calibri"/>
              </a:defRPr>
            </a:lvl8pPr>
            <a:lvl9pPr>
              <a:defRPr sz="1125" b="0">
                <a:solidFill>
                  <a:srgbClr val="444444"/>
                </a:solidFill>
                <a:latin typeface="Calibri"/>
                <a:ea typeface="Calibri"/>
                <a:cs typeface="Calibri"/>
              </a:defRPr>
            </a:lvl9pPr>
          </a:lstStyle>
          <a:p>
            <a:pPr>
              <a:defRPr sz="1125" b="0">
                <a:solidFill>
                  <a:srgbClr val="444444"/>
                </a:solidFill>
                <a:latin typeface="Calibri"/>
                <a:ea typeface="Calibri"/>
                <a:cs typeface="Calibri"/>
              </a:defRPr>
            </a:pPr>
            <a:r>
              <a:rPr sz="1125" b="0">
                <a:solidFill>
                  <a:srgbClr val="444444"/>
                </a:solidFill>
                <a:latin typeface="Calibri" panose="020F0502020204030204" pitchFamily="34" charset="0"/>
                <a:ea typeface="Calibri"/>
                <a:cs typeface="Calibri"/>
              </a:rPr>
              <a:t>[R1] Silva et al. (2018), Figs. 2, 4, 6 and Table 3. [R2] Radotich (2022), Tables 3–4. [S3] NASA project / tiltrotor reproduction reports.</a:t>
            </a:r>
          </a:p>
          <a:p>
            <a:pPr>
              <a:defRPr sz="1125" b="0">
                <a:solidFill>
                  <a:srgbClr val="444444"/>
                </a:solidFill>
                <a:latin typeface="Calibri"/>
                <a:ea typeface="Calibri"/>
                <a:cs typeface="Calibri"/>
              </a:defRPr>
            </a:pPr>
            <a:r>
              <a:rPr sz="1125" b="0">
                <a:solidFill>
                  <a:srgbClr val="444444"/>
                </a:solidFill>
                <a:latin typeface="Calibri" panose="020F0502020204030204" pitchFamily="34" charset="0"/>
                <a:ea typeface="Calibri"/>
                <a:cs typeface="Calibri"/>
              </a:rPr>
              <a:t>Restricted L+C jobs do not reproduce the original maximum-speed task.</a:t>
            </a:r>
          </a:p>
        </p:txBody>
      </p:sp>
      <p:sp>
        <p:nvSpPr>
          <p:cNvPr id="2" name="TextBox 1">
            <a:extLst>
              <a:ext uri="{FF2B5EF4-FFF2-40B4-BE49-F238E27FC236}">
                <a16:creationId xmlns:a16="http://schemas.microsoft.com/office/drawing/2014/main" id="{279B90CF-5C52-4B9C-46BE-8A01756C7E6F}"/>
              </a:ext>
            </a:extLst>
          </p:cNvPr>
          <p:cNvSpPr txBox="1"/>
          <p:nvPr/>
        </p:nvSpPr>
        <p:spPr>
          <a:xfrm>
            <a:off x="11671300" y="6527800"/>
            <a:ext cx="355600" cy="153888"/>
          </a:xfrm>
          <a:prstGeom prst="rect">
            <a:avLst/>
          </a:prstGeom>
          <a:noFill/>
        </p:spPr>
        <p:txBody>
          <a:bodyPr vert="horz" lIns="0" tIns="0" rIns="0" bIns="0" rtlCol="0">
            <a:spAutoFit/>
          </a:bodyPr>
          <a:lstStyle/>
          <a:p>
            <a:r>
              <a:rPr lang="en-US" sz="1000">
                <a:solidFill>
                  <a:srgbClr val="000000"/>
                </a:solidFill>
                <a:latin typeface="Calibri" panose="020F0502020204030204" pitchFamily="34" charset="0"/>
              </a:rPr>
              <a:t>14</a:t>
            </a:r>
          </a:p>
        </p:txBody>
      </p:sp>
    </p:spTree>
    <p:extLst>
      <p:ext uri="{BB962C8B-B14F-4D97-AF65-F5344CB8AC3E}">
        <p14:creationId xmlns:p14="http://schemas.microsoft.com/office/powerpoint/2010/main" val="40307980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18867AD-25C4-4AEC-B21E-FF3391E42A60}"/>
              </a:ext>
            </a:extLst>
          </p:cNvPr>
          <p:cNvSpPr>
            <a:spLocks noGrp="1"/>
          </p:cNvSpPr>
          <p:nvPr/>
        </p:nvSpPr>
        <p:spPr>
          <a:xfrm>
            <a:off x="838200" y="361950"/>
            <a:ext cx="10896600" cy="495300"/>
          </a:xfrm>
          <a:prstGeom prst="rect">
            <a:avLst/>
          </a:prstGeom>
          <a:noFill/>
          <a:ln w="0">
            <a:noFill/>
            <a:prstDash val="solid"/>
          </a:ln>
        </p:spPr>
        <p:txBody>
          <a:bodyPr lIns="0" tIns="0" rIns="0" bIns="0"/>
          <a:lstStyle>
            <a:defPPr>
              <a:defRPr sz="2400" b="1">
                <a:solidFill>
                  <a:srgbClr val="000000"/>
                </a:solidFill>
                <a:latin typeface="Calibri"/>
                <a:ea typeface="Calibri"/>
                <a:cs typeface="Calibri"/>
              </a:defRPr>
            </a:defPPr>
            <a:lvl1pPr>
              <a:defRPr sz="2400" b="1">
                <a:solidFill>
                  <a:srgbClr val="000000"/>
                </a:solidFill>
                <a:latin typeface="Calibri"/>
                <a:ea typeface="Calibri"/>
                <a:cs typeface="Calibri"/>
              </a:defRPr>
            </a:lvl1pPr>
            <a:lvl2pPr>
              <a:defRPr sz="2400" b="1">
                <a:solidFill>
                  <a:srgbClr val="000000"/>
                </a:solidFill>
                <a:latin typeface="Calibri"/>
                <a:ea typeface="Calibri"/>
                <a:cs typeface="Calibri"/>
              </a:defRPr>
            </a:lvl2pPr>
            <a:lvl3pPr>
              <a:defRPr sz="2400" b="1">
                <a:solidFill>
                  <a:srgbClr val="000000"/>
                </a:solidFill>
                <a:latin typeface="Calibri"/>
                <a:ea typeface="Calibri"/>
                <a:cs typeface="Calibri"/>
              </a:defRPr>
            </a:lvl3pPr>
            <a:lvl4pPr>
              <a:defRPr sz="2400" b="1">
                <a:solidFill>
                  <a:srgbClr val="000000"/>
                </a:solidFill>
                <a:latin typeface="Calibri"/>
                <a:ea typeface="Calibri"/>
                <a:cs typeface="Calibri"/>
              </a:defRPr>
            </a:lvl4pPr>
            <a:lvl5pPr>
              <a:defRPr sz="2400" b="1">
                <a:solidFill>
                  <a:srgbClr val="000000"/>
                </a:solidFill>
                <a:latin typeface="Calibri"/>
                <a:ea typeface="Calibri"/>
                <a:cs typeface="Calibri"/>
              </a:defRPr>
            </a:lvl5pPr>
            <a:lvl6pPr>
              <a:defRPr sz="2400" b="1">
                <a:solidFill>
                  <a:srgbClr val="000000"/>
                </a:solidFill>
                <a:latin typeface="Calibri"/>
                <a:ea typeface="Calibri"/>
                <a:cs typeface="Calibri"/>
              </a:defRPr>
            </a:lvl6pPr>
            <a:lvl7pPr>
              <a:defRPr sz="2400" b="1">
                <a:solidFill>
                  <a:srgbClr val="000000"/>
                </a:solidFill>
                <a:latin typeface="Calibri"/>
                <a:ea typeface="Calibri"/>
                <a:cs typeface="Calibri"/>
              </a:defRPr>
            </a:lvl7pPr>
            <a:lvl8pPr>
              <a:defRPr sz="2400" b="1">
                <a:solidFill>
                  <a:srgbClr val="000000"/>
                </a:solidFill>
                <a:latin typeface="Calibri"/>
                <a:ea typeface="Calibri"/>
                <a:cs typeface="Calibri"/>
              </a:defRPr>
            </a:lvl8pPr>
            <a:lvl9pPr>
              <a:defRPr sz="2400" b="1">
                <a:solidFill>
                  <a:srgbClr val="000000"/>
                </a:solidFill>
                <a:latin typeface="Calibri"/>
                <a:ea typeface="Calibri"/>
                <a:cs typeface="Calibri"/>
              </a:defRPr>
            </a:lvl9pPr>
          </a:lstStyle>
          <a:p>
            <a:pPr>
              <a:defRPr sz="2400" b="1">
                <a:solidFill>
                  <a:srgbClr val="000000"/>
                </a:solidFill>
                <a:latin typeface="Calibri"/>
                <a:ea typeface="Calibri"/>
                <a:cs typeface="Calibri"/>
              </a:defRPr>
            </a:pPr>
            <a:r>
              <a:rPr sz="2400" b="1">
                <a:solidFill>
                  <a:srgbClr val="000000"/>
                </a:solidFill>
                <a:latin typeface="Calibri" panose="020F0502020204030204" pitchFamily="34" charset="0"/>
                <a:ea typeface="Calibri"/>
                <a:cs typeface="Calibri"/>
              </a:rPr>
              <a:t>NASA Lift + Cruise: Discrepancy Audit</a:t>
            </a:r>
          </a:p>
        </p:txBody>
      </p:sp>
      <p:sp>
        <p:nvSpPr>
          <p:cNvPr id="2" name="Rectangle 1">
            <a:extLst>
              <a:ext uri="{FF2B5EF4-FFF2-40B4-BE49-F238E27FC236}">
                <a16:creationId xmlns:a16="http://schemas.microsoft.com/office/drawing/2014/main" id="{AF54CAEA-C8C8-4D78-BA80-A1427CCCF710}"/>
              </a:ext>
            </a:extLst>
          </p:cNvPr>
          <p:cNvSpPr>
            <a:spLocks noGrp="1"/>
          </p:cNvSpPr>
          <p:nvPr/>
        </p:nvSpPr>
        <p:spPr>
          <a:xfrm>
            <a:off x="476250" y="895350"/>
            <a:ext cx="11239500" cy="523875"/>
          </a:xfrm>
          <a:prstGeom prst="rect">
            <a:avLst/>
          </a:prstGeom>
          <a:noFill/>
          <a:ln w="0">
            <a:noFill/>
            <a:prstDash val="solid"/>
          </a:ln>
        </p:spPr>
        <p:txBody>
          <a:bodyPr lIns="0" tIns="0" rIns="0" bIns="0"/>
          <a:lstStyle>
            <a:defPPr>
              <a:defRPr sz="1575" b="0">
                <a:solidFill>
                  <a:srgbClr val="444444"/>
                </a:solidFill>
                <a:latin typeface="Calibri"/>
                <a:ea typeface="Calibri"/>
                <a:cs typeface="Calibri"/>
              </a:defRPr>
            </a:defPPr>
            <a:lvl1pPr>
              <a:defRPr sz="1575" b="0">
                <a:solidFill>
                  <a:srgbClr val="444444"/>
                </a:solidFill>
                <a:latin typeface="Calibri"/>
                <a:ea typeface="Calibri"/>
                <a:cs typeface="Calibri"/>
              </a:defRPr>
            </a:lvl1pPr>
            <a:lvl2pPr>
              <a:defRPr sz="1575" b="0">
                <a:solidFill>
                  <a:srgbClr val="444444"/>
                </a:solidFill>
                <a:latin typeface="Calibri"/>
                <a:ea typeface="Calibri"/>
                <a:cs typeface="Calibri"/>
              </a:defRPr>
            </a:lvl2pPr>
            <a:lvl3pPr>
              <a:defRPr sz="1575" b="0">
                <a:solidFill>
                  <a:srgbClr val="444444"/>
                </a:solidFill>
                <a:latin typeface="Calibri"/>
                <a:ea typeface="Calibri"/>
                <a:cs typeface="Calibri"/>
              </a:defRPr>
            </a:lvl3pPr>
            <a:lvl4pPr>
              <a:defRPr sz="1575" b="0">
                <a:solidFill>
                  <a:srgbClr val="444444"/>
                </a:solidFill>
                <a:latin typeface="Calibri"/>
                <a:ea typeface="Calibri"/>
                <a:cs typeface="Calibri"/>
              </a:defRPr>
            </a:lvl4pPr>
            <a:lvl5pPr>
              <a:defRPr sz="1575" b="0">
                <a:solidFill>
                  <a:srgbClr val="444444"/>
                </a:solidFill>
                <a:latin typeface="Calibri"/>
                <a:ea typeface="Calibri"/>
                <a:cs typeface="Calibri"/>
              </a:defRPr>
            </a:lvl5pPr>
            <a:lvl6pPr>
              <a:defRPr sz="1575" b="0">
                <a:solidFill>
                  <a:srgbClr val="444444"/>
                </a:solidFill>
                <a:latin typeface="Calibri"/>
                <a:ea typeface="Calibri"/>
                <a:cs typeface="Calibri"/>
              </a:defRPr>
            </a:lvl6pPr>
            <a:lvl7pPr>
              <a:defRPr sz="1575" b="0">
                <a:solidFill>
                  <a:srgbClr val="444444"/>
                </a:solidFill>
                <a:latin typeface="Calibri"/>
                <a:ea typeface="Calibri"/>
                <a:cs typeface="Calibri"/>
              </a:defRPr>
            </a:lvl7pPr>
            <a:lvl8pPr>
              <a:defRPr sz="1575" b="0">
                <a:solidFill>
                  <a:srgbClr val="444444"/>
                </a:solidFill>
                <a:latin typeface="Calibri"/>
                <a:ea typeface="Calibri"/>
                <a:cs typeface="Calibri"/>
              </a:defRPr>
            </a:lvl8pPr>
            <a:lvl9pPr>
              <a:defRPr sz="1575" b="0">
                <a:solidFill>
                  <a:srgbClr val="444444"/>
                </a:solidFill>
                <a:latin typeface="Calibri"/>
                <a:ea typeface="Calibri"/>
                <a:cs typeface="Calibri"/>
              </a:defRPr>
            </a:lvl9pPr>
          </a:lstStyle>
          <a:p>
            <a:pPr>
              <a:defRPr sz="1575" b="0">
                <a:solidFill>
                  <a:srgbClr val="444444"/>
                </a:solidFill>
                <a:latin typeface="Calibri"/>
                <a:ea typeface="Calibri"/>
                <a:cs typeface="Calibri"/>
              </a:defRPr>
            </a:pPr>
            <a:r>
              <a:rPr lang="en-US" sz="1575" b="0">
                <a:solidFill>
                  <a:srgbClr val="444444"/>
                </a:solidFill>
                <a:latin typeface="Calibri" panose="020F0502020204030204" pitchFamily="34" charset="0"/>
                <a:ea typeface="Calibri"/>
                <a:cs typeface="Calibri"/>
              </a:rPr>
              <a:t>Original electric L+C remains mismatched. New TE diagnostics converge with violations; see the appendix.</a:t>
            </a:r>
            <a:endParaRPr sz="1575" b="0">
              <a:solidFill>
                <a:srgbClr val="444444"/>
              </a:solidFill>
              <a:latin typeface="Calibri" panose="020F0502020204030204" pitchFamily="34" charset="0"/>
              <a:ea typeface="Calibri"/>
              <a:cs typeface="Calibri"/>
            </a:endParaRPr>
          </a:p>
        </p:txBody>
      </p:sp>
      <p:sp>
        <p:nvSpPr>
          <p:cNvPr id="3" name="Rectangle 2">
            <a:extLst>
              <a:ext uri="{FF2B5EF4-FFF2-40B4-BE49-F238E27FC236}">
                <a16:creationId xmlns:a16="http://schemas.microsoft.com/office/drawing/2014/main" id="{7ACF5585-64F8-4697-A838-E8D7153212E2}"/>
              </a:ext>
            </a:extLst>
          </p:cNvPr>
          <p:cNvSpPr>
            <a:spLocks noGrp="1"/>
          </p:cNvSpPr>
          <p:nvPr/>
        </p:nvSpPr>
        <p:spPr>
          <a:xfrm>
            <a:off x="11382375" y="6524625"/>
            <a:ext cx="333375" cy="219075"/>
          </a:xfrm>
          <a:prstGeom prst="rect">
            <a:avLst/>
          </a:prstGeom>
          <a:noFill/>
          <a:ln w="0">
            <a:noFill/>
            <a:prstDash val="solid"/>
          </a:ln>
        </p:spPr>
        <p:txBody>
          <a:bodyPr lIns="0" tIns="0" rIns="0" bIns="0"/>
          <a:lstStyle>
            <a:defPPr>
              <a:defRPr sz="1125" b="0">
                <a:solidFill>
                  <a:srgbClr val="444444"/>
                </a:solidFill>
                <a:latin typeface="Calibri"/>
                <a:ea typeface="Calibri"/>
                <a:cs typeface="Calibri"/>
              </a:defRPr>
            </a:defPPr>
            <a:lvl1pPr>
              <a:defRPr sz="1125" b="0">
                <a:solidFill>
                  <a:srgbClr val="444444"/>
                </a:solidFill>
                <a:latin typeface="Calibri"/>
                <a:ea typeface="Calibri"/>
                <a:cs typeface="Calibri"/>
              </a:defRPr>
            </a:lvl1pPr>
            <a:lvl2pPr>
              <a:defRPr sz="1125" b="0">
                <a:solidFill>
                  <a:srgbClr val="444444"/>
                </a:solidFill>
                <a:latin typeface="Calibri"/>
                <a:ea typeface="Calibri"/>
                <a:cs typeface="Calibri"/>
              </a:defRPr>
            </a:lvl2pPr>
            <a:lvl3pPr>
              <a:defRPr sz="1125" b="0">
                <a:solidFill>
                  <a:srgbClr val="444444"/>
                </a:solidFill>
                <a:latin typeface="Calibri"/>
                <a:ea typeface="Calibri"/>
                <a:cs typeface="Calibri"/>
              </a:defRPr>
            </a:lvl3pPr>
            <a:lvl4pPr>
              <a:defRPr sz="1125" b="0">
                <a:solidFill>
                  <a:srgbClr val="444444"/>
                </a:solidFill>
                <a:latin typeface="Calibri"/>
                <a:ea typeface="Calibri"/>
                <a:cs typeface="Calibri"/>
              </a:defRPr>
            </a:lvl4pPr>
            <a:lvl5pPr>
              <a:defRPr sz="1125" b="0">
                <a:solidFill>
                  <a:srgbClr val="444444"/>
                </a:solidFill>
                <a:latin typeface="Calibri"/>
                <a:ea typeface="Calibri"/>
                <a:cs typeface="Calibri"/>
              </a:defRPr>
            </a:lvl5pPr>
            <a:lvl6pPr>
              <a:defRPr sz="1125" b="0">
                <a:solidFill>
                  <a:srgbClr val="444444"/>
                </a:solidFill>
                <a:latin typeface="Calibri"/>
                <a:ea typeface="Calibri"/>
                <a:cs typeface="Calibri"/>
              </a:defRPr>
            </a:lvl6pPr>
            <a:lvl7pPr>
              <a:defRPr sz="1125" b="0">
                <a:solidFill>
                  <a:srgbClr val="444444"/>
                </a:solidFill>
                <a:latin typeface="Calibri"/>
                <a:ea typeface="Calibri"/>
                <a:cs typeface="Calibri"/>
              </a:defRPr>
            </a:lvl7pPr>
            <a:lvl8pPr>
              <a:defRPr sz="1125" b="0">
                <a:solidFill>
                  <a:srgbClr val="444444"/>
                </a:solidFill>
                <a:latin typeface="Calibri"/>
                <a:ea typeface="Calibri"/>
                <a:cs typeface="Calibri"/>
              </a:defRPr>
            </a:lvl8pPr>
            <a:lvl9pPr>
              <a:defRPr sz="1125" b="0">
                <a:solidFill>
                  <a:srgbClr val="444444"/>
                </a:solidFill>
                <a:latin typeface="Calibri"/>
                <a:ea typeface="Calibri"/>
                <a:cs typeface="Calibri"/>
              </a:defRPr>
            </a:lvl9pPr>
          </a:lstStyle>
          <a:p>
            <a:pPr>
              <a:defRPr sz="1125" b="0">
                <a:solidFill>
                  <a:srgbClr val="444444"/>
                </a:solidFill>
                <a:latin typeface="Calibri"/>
                <a:ea typeface="Calibri"/>
                <a:cs typeface="Calibri"/>
              </a:defRPr>
            </a:pPr>
            <a:endParaRPr sz="1125" b="0">
              <a:solidFill>
                <a:srgbClr val="444444"/>
              </a:solidFill>
              <a:latin typeface="Calibri" panose="020F0502020204030204" pitchFamily="34" charset="0"/>
              <a:ea typeface="Calibri"/>
              <a:cs typeface="Calibri"/>
            </a:endParaRPr>
          </a:p>
        </p:txBody>
      </p:sp>
      <p:graphicFrame>
        <p:nvGraphicFramePr>
          <p:cNvPr id="4" name="Table 3">
            <a:extLst>
              <a:ext uri="{FF2B5EF4-FFF2-40B4-BE49-F238E27FC236}">
                <a16:creationId xmlns:a16="http://schemas.microsoft.com/office/drawing/2014/main" id="{FD1F475E-B95B-4594-907E-3573E4B6C8CF}"/>
              </a:ext>
            </a:extLst>
          </p:cNvPr>
          <p:cNvGraphicFramePr/>
          <p:nvPr>
            <p:extLst>
              <p:ext uri="{D42A27DB-BD31-4B8C-83A1-F6EECF244321}">
                <p14:modId xmlns:p14="http://schemas.microsoft.com/office/powerpoint/2010/main" val="1135605222"/>
              </p:ext>
            </p:extLst>
          </p:nvPr>
        </p:nvGraphicFramePr>
        <p:xfrm>
          <a:off x="476250" y="1638300"/>
          <a:ext cx="11239500" cy="2857500"/>
        </p:xfrm>
        <a:graphic>
          <a:graphicData uri="http://schemas.openxmlformats.org/drawingml/2006/table">
            <a:tbl>
              <a:tblPr/>
              <a:tblGrid>
                <a:gridCol w="581025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gridCol w="1809750">
                  <a:extLst>
                    <a:ext uri="{9D8B030D-6E8A-4147-A177-3AD203B41FA5}">
                      <a16:colId xmlns:a16="http://schemas.microsoft.com/office/drawing/2014/main" val="20002"/>
                    </a:ext>
                  </a:extLst>
                </a:gridCol>
                <a:gridCol w="1809750">
                  <a:extLst>
                    <a:ext uri="{9D8B030D-6E8A-4147-A177-3AD203B41FA5}">
                      <a16:colId xmlns:a16="http://schemas.microsoft.com/office/drawing/2014/main" val="20003"/>
                    </a:ext>
                  </a:extLst>
                </a:gridCol>
              </a:tblGrid>
              <a:tr h="476250">
                <a:tc>
                  <a:txBody>
                    <a:bodyPr/>
                    <a:lstStyle/>
                    <a:p>
                      <a:r>
                        <a:rPr sz="1425" b="1">
                          <a:solidFill>
                            <a:srgbClr val="000000"/>
                          </a:solidFill>
                          <a:latin typeface="Calibri" panose="020F0502020204030204" pitchFamily="34" charset="0"/>
                          <a:ea typeface="Calibri"/>
                          <a:cs typeface="Calibri"/>
                        </a:rPr>
                        <a:t>Electric L+C component, lb [R1, S3]</a:t>
                      </a:r>
                    </a:p>
                  </a:txBody>
                  <a:tcPr>
                    <a:lnL w="9525">
                      <a:solidFill>
                        <a:srgbClr val="BBBBBB"/>
                      </a:solidFill>
                    </a:lnL>
                    <a:lnR w="9525">
                      <a:solidFill>
                        <a:srgbClr val="BBBBBB"/>
                      </a:solidFill>
                    </a:lnR>
                    <a:lnT w="9525">
                      <a:solidFill>
                        <a:srgbClr val="BBBBBB"/>
                      </a:solidFill>
                    </a:lnT>
                    <a:lnB w="9525">
                      <a:solidFill>
                        <a:srgbClr val="BBBBBB"/>
                      </a:solidFill>
                    </a:lnB>
                    <a:solidFill>
                      <a:srgbClr val="D9D9D9"/>
                    </a:solidFill>
                  </a:tcPr>
                </a:tc>
                <a:tc>
                  <a:txBody>
                    <a:bodyPr/>
                    <a:lstStyle/>
                    <a:p>
                      <a:r>
                        <a:rPr sz="1425" b="1">
                          <a:solidFill>
                            <a:srgbClr val="000000"/>
                          </a:solidFill>
                          <a:latin typeface="Calibri" panose="020F0502020204030204" pitchFamily="34" charset="0"/>
                          <a:ea typeface="Calibri"/>
                          <a:cs typeface="Calibri"/>
                        </a:rPr>
                        <a:t>Paper</a:t>
                      </a:r>
                    </a:p>
                  </a:txBody>
                  <a:tcPr>
                    <a:lnL w="9525" cap="flat" cmpd="sng" algn="ctr">
                      <a:solidFill>
                        <a:srgbClr val="BBBBBB"/>
                      </a:solidFill>
                      <a:prstDash val="solid"/>
                      <a:round/>
                      <a:headEnd type="none" w="med" len="med"/>
                      <a:tailEnd type="none" w="med" len="med"/>
                    </a:lnL>
                    <a:lnR w="9525">
                      <a:solidFill>
                        <a:srgbClr val="BBBBBB"/>
                      </a:solidFill>
                    </a:lnR>
                    <a:lnT w="9525">
                      <a:solidFill>
                        <a:srgbClr val="BBBBBB"/>
                      </a:solidFill>
                    </a:lnT>
                    <a:lnB w="9525">
                      <a:solidFill>
                        <a:srgbClr val="BBBBBB"/>
                      </a:solidFill>
                    </a:lnB>
                    <a:solidFill>
                      <a:srgbClr val="D9D9D9"/>
                    </a:solidFill>
                  </a:tcPr>
                </a:tc>
                <a:tc>
                  <a:txBody>
                    <a:bodyPr/>
                    <a:lstStyle/>
                    <a:p>
                      <a:r>
                        <a:rPr sz="1425" b="1">
                          <a:solidFill>
                            <a:srgbClr val="000000"/>
                          </a:solidFill>
                          <a:latin typeface="Calibri" panose="020F0502020204030204" pitchFamily="34" charset="0"/>
                          <a:ea typeface="Calibri"/>
                          <a:cs typeface="Calibri"/>
                        </a:rPr>
                        <a:t>Run</a:t>
                      </a:r>
                    </a:p>
                  </a:txBody>
                  <a:tcPr>
                    <a:lnL w="9525" cap="flat" cmpd="sng" algn="ctr">
                      <a:solidFill>
                        <a:srgbClr val="BBBBBB"/>
                      </a:solidFill>
                      <a:prstDash val="solid"/>
                      <a:round/>
                      <a:headEnd type="none" w="med" len="med"/>
                      <a:tailEnd type="none" w="med" len="med"/>
                    </a:lnL>
                    <a:lnR w="9525">
                      <a:solidFill>
                        <a:srgbClr val="BBBBBB"/>
                      </a:solidFill>
                    </a:lnR>
                    <a:lnT w="9525">
                      <a:solidFill>
                        <a:srgbClr val="BBBBBB"/>
                      </a:solidFill>
                    </a:lnT>
                    <a:lnB w="9525">
                      <a:solidFill>
                        <a:srgbClr val="BBBBBB"/>
                      </a:solidFill>
                    </a:lnB>
                    <a:solidFill>
                      <a:srgbClr val="D9D9D9"/>
                    </a:solidFill>
                  </a:tcPr>
                </a:tc>
                <a:tc>
                  <a:txBody>
                    <a:bodyPr/>
                    <a:lstStyle/>
                    <a:p>
                      <a:r>
                        <a:rPr sz="1425" b="1">
                          <a:solidFill>
                            <a:srgbClr val="000000"/>
                          </a:solidFill>
                          <a:latin typeface="Calibri" panose="020F0502020204030204" pitchFamily="34" charset="0"/>
                          <a:ea typeface="Calibri"/>
                          <a:cs typeface="Calibri"/>
                        </a:rPr>
                        <a:t>Difference</a:t>
                      </a:r>
                    </a:p>
                  </a:txBody>
                  <a:tcPr>
                    <a:lnL w="9525" cap="flat" cmpd="sng" algn="ctr">
                      <a:solidFill>
                        <a:srgbClr val="BBBBBB"/>
                      </a:solidFill>
                      <a:prstDash val="solid"/>
                      <a:round/>
                      <a:headEnd type="none" w="med" len="med"/>
                      <a:tailEnd type="none" w="med" len="med"/>
                    </a:lnL>
                    <a:lnR w="9525">
                      <a:solidFill>
                        <a:srgbClr val="BBBBBB"/>
                      </a:solidFill>
                    </a:lnR>
                    <a:lnT w="9525">
                      <a:solidFill>
                        <a:srgbClr val="BBBBBB"/>
                      </a:solidFill>
                    </a:lnT>
                    <a:lnB w="9525">
                      <a:solidFill>
                        <a:srgbClr val="BBBBBB"/>
                      </a:solidFill>
                    </a:lnB>
                    <a:solidFill>
                      <a:srgbClr val="D9D9D9"/>
                    </a:solidFill>
                  </a:tcPr>
                </a:tc>
                <a:extLst>
                  <a:ext uri="{0D108BD9-81ED-4DB2-BD59-A6C34878D82A}">
                    <a16:rowId xmlns:a16="http://schemas.microsoft.com/office/drawing/2014/main" val="10000"/>
                  </a:ext>
                </a:extLst>
              </a:tr>
              <a:tr h="476250">
                <a:tc>
                  <a:txBody>
                    <a:bodyPr/>
                    <a:lstStyle/>
                    <a:p>
                      <a:r>
                        <a:rPr sz="1425" b="0">
                          <a:solidFill>
                            <a:srgbClr val="000000"/>
                          </a:solidFill>
                          <a:latin typeface="Calibri" panose="020F0502020204030204" pitchFamily="34" charset="0"/>
                          <a:ea typeface="Calibri"/>
                          <a:cs typeface="Calibri"/>
                        </a:rPr>
                        <a:t>Structure (includes rotors)</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425" b="0">
                          <a:solidFill>
                            <a:srgbClr val="000000"/>
                          </a:solidFill>
                          <a:latin typeface="Calibri" panose="020F0502020204030204" pitchFamily="34" charset="0"/>
                          <a:ea typeface="Calibri"/>
                          <a:cs typeface="Calibri"/>
                        </a:rPr>
                        <a:t>2,575.0</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425" b="0">
                          <a:solidFill>
                            <a:srgbClr val="000000"/>
                          </a:solidFill>
                          <a:latin typeface="Calibri" panose="020F0502020204030204" pitchFamily="34" charset="0"/>
                          <a:ea typeface="Calibri"/>
                          <a:cs typeface="Calibri"/>
                        </a:rPr>
                        <a:t>2,988.7</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425" b="0">
                          <a:solidFill>
                            <a:srgbClr val="000000"/>
                          </a:solidFill>
                          <a:latin typeface="Calibri" panose="020F0502020204030204" pitchFamily="34" charset="0"/>
                          <a:ea typeface="Calibri"/>
                          <a:cs typeface="Calibri"/>
                        </a:rPr>
                        <a:t>+413.7</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extLst>
                  <a:ext uri="{0D108BD9-81ED-4DB2-BD59-A6C34878D82A}">
                    <a16:rowId xmlns:a16="http://schemas.microsoft.com/office/drawing/2014/main" val="10001"/>
                  </a:ext>
                </a:extLst>
              </a:tr>
              <a:tr h="476250">
                <a:tc>
                  <a:txBody>
                    <a:bodyPr/>
                    <a:lstStyle/>
                    <a:p>
                      <a:r>
                        <a:rPr sz="1425" b="0">
                          <a:solidFill>
                            <a:srgbClr val="000000"/>
                          </a:solidFill>
                          <a:latin typeface="Calibri" panose="020F0502020204030204" pitchFamily="34" charset="0"/>
                          <a:ea typeface="Calibri"/>
                          <a:cs typeface="Calibri"/>
                        </a:rPr>
                        <a:t>Propulsion (includes battery / fuel system)</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425" b="0">
                          <a:solidFill>
                            <a:srgbClr val="000000"/>
                          </a:solidFill>
                          <a:latin typeface="Calibri" panose="020F0502020204030204" pitchFamily="34" charset="0"/>
                          <a:ea typeface="Calibri"/>
                          <a:cs typeface="Calibri"/>
                        </a:rPr>
                        <a:t>3,186.0</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425" b="0">
                          <a:solidFill>
                            <a:srgbClr val="000000"/>
                          </a:solidFill>
                          <a:latin typeface="Calibri" panose="020F0502020204030204" pitchFamily="34" charset="0"/>
                          <a:ea typeface="Calibri"/>
                          <a:cs typeface="Calibri"/>
                        </a:rPr>
                        <a:t>3,961.8</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425" b="0">
                          <a:solidFill>
                            <a:srgbClr val="000000"/>
                          </a:solidFill>
                          <a:latin typeface="Calibri" panose="020F0502020204030204" pitchFamily="34" charset="0"/>
                          <a:ea typeface="Calibri"/>
                          <a:cs typeface="Calibri"/>
                        </a:rPr>
                        <a:t>+775.8</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extLst>
                  <a:ext uri="{0D108BD9-81ED-4DB2-BD59-A6C34878D82A}">
                    <a16:rowId xmlns:a16="http://schemas.microsoft.com/office/drawing/2014/main" val="10002"/>
                  </a:ext>
                </a:extLst>
              </a:tr>
              <a:tr h="476250">
                <a:tc>
                  <a:txBody>
                    <a:bodyPr/>
                    <a:lstStyle/>
                    <a:p>
                      <a:r>
                        <a:rPr sz="1425" b="0">
                          <a:solidFill>
                            <a:srgbClr val="000000"/>
                          </a:solidFill>
                          <a:latin typeface="Calibri" panose="020F0502020204030204" pitchFamily="34" charset="0"/>
                          <a:ea typeface="Calibri"/>
                          <a:cs typeface="Calibri"/>
                        </a:rPr>
                        <a:t>Systems and equipment</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425" b="0">
                          <a:solidFill>
                            <a:srgbClr val="000000"/>
                          </a:solidFill>
                          <a:latin typeface="Calibri" panose="020F0502020204030204" pitchFamily="34" charset="0"/>
                          <a:ea typeface="Calibri"/>
                          <a:cs typeface="Calibri"/>
                        </a:rPr>
                        <a:t>540.0</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425" b="0">
                          <a:solidFill>
                            <a:srgbClr val="000000"/>
                          </a:solidFill>
                          <a:latin typeface="Calibri" panose="020F0502020204030204" pitchFamily="34" charset="0"/>
                          <a:ea typeface="Calibri"/>
                          <a:cs typeface="Calibri"/>
                        </a:rPr>
                        <a:t>549.1</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425" b="0">
                          <a:solidFill>
                            <a:srgbClr val="000000"/>
                          </a:solidFill>
                          <a:latin typeface="Calibri" panose="020F0502020204030204" pitchFamily="34" charset="0"/>
                          <a:ea typeface="Calibri"/>
                          <a:cs typeface="Calibri"/>
                        </a:rPr>
                        <a:t>+9.1</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extLst>
                  <a:ext uri="{0D108BD9-81ED-4DB2-BD59-A6C34878D82A}">
                    <a16:rowId xmlns:a16="http://schemas.microsoft.com/office/drawing/2014/main" val="10003"/>
                  </a:ext>
                </a:extLst>
              </a:tr>
              <a:tr h="476250">
                <a:tc>
                  <a:txBody>
                    <a:bodyPr/>
                    <a:lstStyle/>
                    <a:p>
                      <a:r>
                        <a:rPr sz="1425" b="0">
                          <a:solidFill>
                            <a:srgbClr val="000000"/>
                          </a:solidFill>
                          <a:latin typeface="Calibri" panose="020F0502020204030204" pitchFamily="34" charset="0"/>
                          <a:ea typeface="Calibri"/>
                          <a:cs typeface="Calibri"/>
                        </a:rPr>
                        <a:t>Remaining empty-weight allowances</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425" b="0">
                          <a:solidFill>
                            <a:srgbClr val="000000"/>
                          </a:solidFill>
                          <a:latin typeface="Calibri" panose="020F0502020204030204" pitchFamily="34" charset="0"/>
                          <a:ea typeface="Calibri"/>
                          <a:cs typeface="Calibri"/>
                        </a:rPr>
                        <a:t>700.0¹</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425" b="0">
                          <a:solidFill>
                            <a:srgbClr val="000000"/>
                          </a:solidFill>
                          <a:latin typeface="Calibri" panose="020F0502020204030204" pitchFamily="34" charset="0"/>
                          <a:ea typeface="Calibri"/>
                          <a:cs typeface="Calibri"/>
                        </a:rPr>
                        <a:t>833.4</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425" b="0">
                          <a:solidFill>
                            <a:srgbClr val="000000"/>
                          </a:solidFill>
                          <a:latin typeface="Calibri" panose="020F0502020204030204" pitchFamily="34" charset="0"/>
                          <a:ea typeface="Calibri"/>
                          <a:cs typeface="Calibri"/>
                        </a:rPr>
                        <a:t>+133.4</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extLst>
                  <a:ext uri="{0D108BD9-81ED-4DB2-BD59-A6C34878D82A}">
                    <a16:rowId xmlns:a16="http://schemas.microsoft.com/office/drawing/2014/main" val="10004"/>
                  </a:ext>
                </a:extLst>
              </a:tr>
              <a:tr h="476250">
                <a:tc>
                  <a:txBody>
                    <a:bodyPr/>
                    <a:lstStyle/>
                    <a:p>
                      <a:r>
                        <a:rPr sz="1425" b="0">
                          <a:solidFill>
                            <a:srgbClr val="000000"/>
                          </a:solidFill>
                          <a:latin typeface="Calibri" panose="020F0502020204030204" pitchFamily="34" charset="0"/>
                          <a:ea typeface="Calibri"/>
                          <a:cs typeface="Calibri"/>
                        </a:rPr>
                        <a:t>Empty weight</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425" b="0">
                          <a:solidFill>
                            <a:srgbClr val="000000"/>
                          </a:solidFill>
                          <a:latin typeface="Calibri" panose="020F0502020204030204" pitchFamily="34" charset="0"/>
                          <a:ea typeface="Calibri"/>
                          <a:cs typeface="Calibri"/>
                        </a:rPr>
                        <a:t>7,001.0</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425" b="0">
                          <a:solidFill>
                            <a:srgbClr val="000000"/>
                          </a:solidFill>
                          <a:latin typeface="Calibri" panose="020F0502020204030204" pitchFamily="34" charset="0"/>
                          <a:ea typeface="Calibri"/>
                          <a:cs typeface="Calibri"/>
                        </a:rPr>
                        <a:t>8,333.0</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425" b="0">
                          <a:solidFill>
                            <a:srgbClr val="000000"/>
                          </a:solidFill>
                          <a:latin typeface="Calibri" panose="020F0502020204030204" pitchFamily="34" charset="0"/>
                          <a:ea typeface="Calibri"/>
                          <a:cs typeface="Calibri"/>
                        </a:rPr>
                        <a:t>+1,332.0</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extLst>
                  <a:ext uri="{0D108BD9-81ED-4DB2-BD59-A6C34878D82A}">
                    <a16:rowId xmlns:a16="http://schemas.microsoft.com/office/drawing/2014/main" val="10005"/>
                  </a:ext>
                </a:extLst>
              </a:tr>
            </a:tbl>
          </a:graphicData>
        </a:graphic>
      </p:graphicFrame>
      <p:sp>
        <p:nvSpPr>
          <p:cNvPr id="5" name="Rectangle 4">
            <a:extLst>
              <a:ext uri="{FF2B5EF4-FFF2-40B4-BE49-F238E27FC236}">
                <a16:creationId xmlns:a16="http://schemas.microsoft.com/office/drawing/2014/main" id="{5DDD4F5B-8123-4FFB-8F91-18DB5EFF1868}"/>
              </a:ext>
            </a:extLst>
          </p:cNvPr>
          <p:cNvSpPr>
            <a:spLocks noGrp="1"/>
          </p:cNvSpPr>
          <p:nvPr/>
        </p:nvSpPr>
        <p:spPr>
          <a:xfrm>
            <a:off x="476250" y="4733925"/>
            <a:ext cx="5143500" cy="285750"/>
          </a:xfrm>
          <a:prstGeom prst="rect">
            <a:avLst/>
          </a:prstGeom>
          <a:noFill/>
          <a:ln w="0">
            <a:noFill/>
            <a:prstDash val="solid"/>
          </a:ln>
        </p:spPr>
        <p:txBody>
          <a:bodyPr lIns="0" tIns="0" rIns="0" bIns="0"/>
          <a:lstStyle>
            <a:defPPr>
              <a:defRPr sz="1725" b="1">
                <a:solidFill>
                  <a:srgbClr val="000000"/>
                </a:solidFill>
                <a:latin typeface="Calibri"/>
                <a:ea typeface="Calibri"/>
                <a:cs typeface="Calibri"/>
              </a:defRPr>
            </a:defPPr>
            <a:lvl1pPr>
              <a:defRPr sz="1725" b="1">
                <a:solidFill>
                  <a:srgbClr val="000000"/>
                </a:solidFill>
                <a:latin typeface="Calibri"/>
                <a:ea typeface="Calibri"/>
                <a:cs typeface="Calibri"/>
              </a:defRPr>
            </a:lvl1pPr>
            <a:lvl2pPr>
              <a:defRPr sz="1725" b="1">
                <a:solidFill>
                  <a:srgbClr val="000000"/>
                </a:solidFill>
                <a:latin typeface="Calibri"/>
                <a:ea typeface="Calibri"/>
                <a:cs typeface="Calibri"/>
              </a:defRPr>
            </a:lvl2pPr>
            <a:lvl3pPr>
              <a:defRPr sz="1725" b="1">
                <a:solidFill>
                  <a:srgbClr val="000000"/>
                </a:solidFill>
                <a:latin typeface="Calibri"/>
                <a:ea typeface="Calibri"/>
                <a:cs typeface="Calibri"/>
              </a:defRPr>
            </a:lvl3pPr>
            <a:lvl4pPr>
              <a:defRPr sz="1725" b="1">
                <a:solidFill>
                  <a:srgbClr val="000000"/>
                </a:solidFill>
                <a:latin typeface="Calibri"/>
                <a:ea typeface="Calibri"/>
                <a:cs typeface="Calibri"/>
              </a:defRPr>
            </a:lvl4pPr>
            <a:lvl5pPr>
              <a:defRPr sz="1725" b="1">
                <a:solidFill>
                  <a:srgbClr val="000000"/>
                </a:solidFill>
                <a:latin typeface="Calibri"/>
                <a:ea typeface="Calibri"/>
                <a:cs typeface="Calibri"/>
              </a:defRPr>
            </a:lvl5pPr>
            <a:lvl6pPr>
              <a:defRPr sz="1725" b="1">
                <a:solidFill>
                  <a:srgbClr val="000000"/>
                </a:solidFill>
                <a:latin typeface="Calibri"/>
                <a:ea typeface="Calibri"/>
                <a:cs typeface="Calibri"/>
              </a:defRPr>
            </a:lvl6pPr>
            <a:lvl7pPr>
              <a:defRPr sz="1725" b="1">
                <a:solidFill>
                  <a:srgbClr val="000000"/>
                </a:solidFill>
                <a:latin typeface="Calibri"/>
                <a:ea typeface="Calibri"/>
                <a:cs typeface="Calibri"/>
              </a:defRPr>
            </a:lvl7pPr>
            <a:lvl8pPr>
              <a:defRPr sz="1725" b="1">
                <a:solidFill>
                  <a:srgbClr val="000000"/>
                </a:solidFill>
                <a:latin typeface="Calibri"/>
                <a:ea typeface="Calibri"/>
                <a:cs typeface="Calibri"/>
              </a:defRPr>
            </a:lvl8pPr>
            <a:lvl9pPr>
              <a:defRPr sz="1725" b="1">
                <a:solidFill>
                  <a:srgbClr val="000000"/>
                </a:solidFill>
                <a:latin typeface="Calibri"/>
                <a:ea typeface="Calibri"/>
                <a:cs typeface="Calibri"/>
              </a:defRPr>
            </a:lvl9pPr>
          </a:lstStyle>
          <a:p>
            <a:pPr>
              <a:defRPr sz="1725" b="1">
                <a:solidFill>
                  <a:srgbClr val="000000"/>
                </a:solidFill>
                <a:latin typeface="Calibri"/>
                <a:ea typeface="Calibri"/>
                <a:cs typeface="Calibri"/>
              </a:defRPr>
            </a:pPr>
            <a:r>
              <a:rPr sz="1725" b="1">
                <a:solidFill>
                  <a:srgbClr val="000000"/>
                </a:solidFill>
                <a:latin typeface="Calibri" panose="020F0502020204030204" pitchFamily="34" charset="0"/>
                <a:ea typeface="Calibri"/>
                <a:cs typeface="Calibri"/>
              </a:rPr>
              <a:t>Where the mass differs</a:t>
            </a:r>
          </a:p>
        </p:txBody>
      </p:sp>
      <p:sp>
        <p:nvSpPr>
          <p:cNvPr id="6" name="Rectangle 5">
            <a:extLst>
              <a:ext uri="{FF2B5EF4-FFF2-40B4-BE49-F238E27FC236}">
                <a16:creationId xmlns:a16="http://schemas.microsoft.com/office/drawing/2014/main" id="{D2EB5E1D-5ADA-4235-B664-7068804CE398}"/>
              </a:ext>
            </a:extLst>
          </p:cNvPr>
          <p:cNvSpPr>
            <a:spLocks noGrp="1"/>
          </p:cNvSpPr>
          <p:nvPr/>
        </p:nvSpPr>
        <p:spPr>
          <a:xfrm>
            <a:off x="476250" y="5114925"/>
            <a:ext cx="5238750" cy="704850"/>
          </a:xfrm>
          <a:prstGeom prst="rect">
            <a:avLst/>
          </a:prstGeom>
          <a:noFill/>
          <a:ln w="0">
            <a:noFill/>
            <a:prstDash val="solid"/>
          </a:ln>
        </p:spPr>
        <p:txBody>
          <a:bodyPr lIns="0" tIns="0" rIns="0" bIns="0"/>
          <a:lstStyle>
            <a:defPPr>
              <a:defRPr sz="1500" b="0">
                <a:solidFill>
                  <a:srgbClr val="000000"/>
                </a:solidFill>
                <a:latin typeface="Calibri"/>
                <a:ea typeface="Calibri"/>
                <a:cs typeface="Calibri"/>
              </a:defRPr>
            </a:defPPr>
            <a:lvl1pPr>
              <a:defRPr sz="1500" b="0">
                <a:solidFill>
                  <a:srgbClr val="000000"/>
                </a:solidFill>
                <a:latin typeface="Calibri"/>
                <a:ea typeface="Calibri"/>
                <a:cs typeface="Calibri"/>
              </a:defRPr>
            </a:lvl1pPr>
            <a:lvl2pPr>
              <a:defRPr sz="1500" b="0">
                <a:solidFill>
                  <a:srgbClr val="000000"/>
                </a:solidFill>
                <a:latin typeface="Calibri"/>
                <a:ea typeface="Calibri"/>
                <a:cs typeface="Calibri"/>
              </a:defRPr>
            </a:lvl2pPr>
            <a:lvl3pPr>
              <a:defRPr sz="1500" b="0">
                <a:solidFill>
                  <a:srgbClr val="000000"/>
                </a:solidFill>
                <a:latin typeface="Calibri"/>
                <a:ea typeface="Calibri"/>
                <a:cs typeface="Calibri"/>
              </a:defRPr>
            </a:lvl3pPr>
            <a:lvl4pPr>
              <a:defRPr sz="1500" b="0">
                <a:solidFill>
                  <a:srgbClr val="000000"/>
                </a:solidFill>
                <a:latin typeface="Calibri"/>
                <a:ea typeface="Calibri"/>
                <a:cs typeface="Calibri"/>
              </a:defRPr>
            </a:lvl4pPr>
            <a:lvl5pPr>
              <a:defRPr sz="1500" b="0">
                <a:solidFill>
                  <a:srgbClr val="000000"/>
                </a:solidFill>
                <a:latin typeface="Calibri"/>
                <a:ea typeface="Calibri"/>
                <a:cs typeface="Calibri"/>
              </a:defRPr>
            </a:lvl5pPr>
            <a:lvl6pPr>
              <a:defRPr sz="1500" b="0">
                <a:solidFill>
                  <a:srgbClr val="000000"/>
                </a:solidFill>
                <a:latin typeface="Calibri"/>
                <a:ea typeface="Calibri"/>
                <a:cs typeface="Calibri"/>
              </a:defRPr>
            </a:lvl6pPr>
            <a:lvl7pPr>
              <a:defRPr sz="1500" b="0">
                <a:solidFill>
                  <a:srgbClr val="000000"/>
                </a:solidFill>
                <a:latin typeface="Calibri"/>
                <a:ea typeface="Calibri"/>
                <a:cs typeface="Calibri"/>
              </a:defRPr>
            </a:lvl7pPr>
            <a:lvl8pPr>
              <a:defRPr sz="1500" b="0">
                <a:solidFill>
                  <a:srgbClr val="000000"/>
                </a:solidFill>
                <a:latin typeface="Calibri"/>
                <a:ea typeface="Calibri"/>
                <a:cs typeface="Calibri"/>
              </a:defRPr>
            </a:lvl8pPr>
            <a:lvl9pPr>
              <a:defRPr sz="1500" b="0">
                <a:solidFill>
                  <a:srgbClr val="000000"/>
                </a:solidFill>
                <a:latin typeface="Calibri"/>
                <a:ea typeface="Calibri"/>
                <a:cs typeface="Calibri"/>
              </a:defRPr>
            </a:lvl9pPr>
          </a:lstStyle>
          <a:p>
            <a:pPr>
              <a:defRPr sz="1500" b="0">
                <a:solidFill>
                  <a:srgbClr val="000000"/>
                </a:solidFill>
                <a:latin typeface="Calibri"/>
                <a:ea typeface="Calibri"/>
                <a:cs typeface="Calibri"/>
              </a:defRPr>
            </a:pPr>
            <a:r>
              <a:rPr sz="1500" b="0">
                <a:solidFill>
                  <a:srgbClr val="000000"/>
                </a:solidFill>
                <a:latin typeface="Calibri" panose="020F0502020204030204" pitchFamily="34" charset="0"/>
                <a:ea typeface="Calibri"/>
                <a:cs typeface="Calibri"/>
              </a:rPr>
              <a:t>Fuel-system group: +504.7 lb; drive: +107.6 lb. They are nested inside propulsion. Mission energy is also 24.4% higher. [S3]</a:t>
            </a:r>
          </a:p>
        </p:txBody>
      </p:sp>
      <p:sp>
        <p:nvSpPr>
          <p:cNvPr id="7" name="Rectangle 6">
            <a:extLst>
              <a:ext uri="{FF2B5EF4-FFF2-40B4-BE49-F238E27FC236}">
                <a16:creationId xmlns:a16="http://schemas.microsoft.com/office/drawing/2014/main" id="{3BB4C5B5-45D8-49B5-ADEB-E87E86A128DA}"/>
              </a:ext>
            </a:extLst>
          </p:cNvPr>
          <p:cNvSpPr>
            <a:spLocks noGrp="1"/>
          </p:cNvSpPr>
          <p:nvPr/>
        </p:nvSpPr>
        <p:spPr>
          <a:xfrm>
            <a:off x="6286500" y="4733925"/>
            <a:ext cx="5286375" cy="285750"/>
          </a:xfrm>
          <a:prstGeom prst="rect">
            <a:avLst/>
          </a:prstGeom>
          <a:noFill/>
          <a:ln w="0">
            <a:noFill/>
            <a:prstDash val="solid"/>
          </a:ln>
        </p:spPr>
        <p:txBody>
          <a:bodyPr lIns="0" tIns="0" rIns="0" bIns="0"/>
          <a:lstStyle>
            <a:defPPr>
              <a:defRPr sz="1725" b="1">
                <a:solidFill>
                  <a:srgbClr val="000000"/>
                </a:solidFill>
                <a:latin typeface="Calibri"/>
                <a:ea typeface="Calibri"/>
                <a:cs typeface="Calibri"/>
              </a:defRPr>
            </a:defPPr>
            <a:lvl1pPr>
              <a:defRPr sz="1725" b="1">
                <a:solidFill>
                  <a:srgbClr val="000000"/>
                </a:solidFill>
                <a:latin typeface="Calibri"/>
                <a:ea typeface="Calibri"/>
                <a:cs typeface="Calibri"/>
              </a:defRPr>
            </a:lvl1pPr>
            <a:lvl2pPr>
              <a:defRPr sz="1725" b="1">
                <a:solidFill>
                  <a:srgbClr val="000000"/>
                </a:solidFill>
                <a:latin typeface="Calibri"/>
                <a:ea typeface="Calibri"/>
                <a:cs typeface="Calibri"/>
              </a:defRPr>
            </a:lvl2pPr>
            <a:lvl3pPr>
              <a:defRPr sz="1725" b="1">
                <a:solidFill>
                  <a:srgbClr val="000000"/>
                </a:solidFill>
                <a:latin typeface="Calibri"/>
                <a:ea typeface="Calibri"/>
                <a:cs typeface="Calibri"/>
              </a:defRPr>
            </a:lvl3pPr>
            <a:lvl4pPr>
              <a:defRPr sz="1725" b="1">
                <a:solidFill>
                  <a:srgbClr val="000000"/>
                </a:solidFill>
                <a:latin typeface="Calibri"/>
                <a:ea typeface="Calibri"/>
                <a:cs typeface="Calibri"/>
              </a:defRPr>
            </a:lvl4pPr>
            <a:lvl5pPr>
              <a:defRPr sz="1725" b="1">
                <a:solidFill>
                  <a:srgbClr val="000000"/>
                </a:solidFill>
                <a:latin typeface="Calibri"/>
                <a:ea typeface="Calibri"/>
                <a:cs typeface="Calibri"/>
              </a:defRPr>
            </a:lvl5pPr>
            <a:lvl6pPr>
              <a:defRPr sz="1725" b="1">
                <a:solidFill>
                  <a:srgbClr val="000000"/>
                </a:solidFill>
                <a:latin typeface="Calibri"/>
                <a:ea typeface="Calibri"/>
                <a:cs typeface="Calibri"/>
              </a:defRPr>
            </a:lvl6pPr>
            <a:lvl7pPr>
              <a:defRPr sz="1725" b="1">
                <a:solidFill>
                  <a:srgbClr val="000000"/>
                </a:solidFill>
                <a:latin typeface="Calibri"/>
                <a:ea typeface="Calibri"/>
                <a:cs typeface="Calibri"/>
              </a:defRPr>
            </a:lvl7pPr>
            <a:lvl8pPr>
              <a:defRPr sz="1725" b="1">
                <a:solidFill>
                  <a:srgbClr val="000000"/>
                </a:solidFill>
                <a:latin typeface="Calibri"/>
                <a:ea typeface="Calibri"/>
                <a:cs typeface="Calibri"/>
              </a:defRPr>
            </a:lvl8pPr>
            <a:lvl9pPr>
              <a:defRPr sz="1725" b="1">
                <a:solidFill>
                  <a:srgbClr val="000000"/>
                </a:solidFill>
                <a:latin typeface="Calibri"/>
                <a:ea typeface="Calibri"/>
                <a:cs typeface="Calibri"/>
              </a:defRPr>
            </a:lvl9pPr>
          </a:lstStyle>
          <a:p>
            <a:pPr>
              <a:defRPr sz="1725" b="1">
                <a:solidFill>
                  <a:srgbClr val="000000"/>
                </a:solidFill>
                <a:latin typeface="Calibri"/>
                <a:ea typeface="Calibri"/>
                <a:cs typeface="Calibri"/>
              </a:defRPr>
            </a:pPr>
            <a:r>
              <a:rPr sz="1725" b="1">
                <a:solidFill>
                  <a:srgbClr val="000000"/>
                </a:solidFill>
                <a:latin typeface="Calibri" panose="020F0502020204030204" pitchFamily="34" charset="0"/>
                <a:ea typeface="Calibri"/>
                <a:cs typeface="Calibri"/>
              </a:rPr>
              <a:t>What is and is not established</a:t>
            </a:r>
          </a:p>
        </p:txBody>
      </p:sp>
      <p:sp>
        <p:nvSpPr>
          <p:cNvPr id="8" name="Rectangle 7">
            <a:extLst>
              <a:ext uri="{FF2B5EF4-FFF2-40B4-BE49-F238E27FC236}">
                <a16:creationId xmlns:a16="http://schemas.microsoft.com/office/drawing/2014/main" id="{5D1F1C2A-D194-4382-833E-AF3BBDC69BDF}"/>
              </a:ext>
            </a:extLst>
          </p:cNvPr>
          <p:cNvSpPr>
            <a:spLocks noGrp="1"/>
          </p:cNvSpPr>
          <p:nvPr/>
        </p:nvSpPr>
        <p:spPr>
          <a:xfrm>
            <a:off x="6286500" y="5114925"/>
            <a:ext cx="5286375" cy="704850"/>
          </a:xfrm>
          <a:prstGeom prst="rect">
            <a:avLst/>
          </a:prstGeom>
          <a:noFill/>
          <a:ln w="0">
            <a:noFill/>
            <a:prstDash val="solid"/>
          </a:ln>
        </p:spPr>
        <p:txBody>
          <a:bodyPr lIns="0" tIns="0" rIns="0" bIns="0"/>
          <a:lstStyle>
            <a:defPPr>
              <a:defRPr sz="1500" b="0">
                <a:solidFill>
                  <a:srgbClr val="000000"/>
                </a:solidFill>
                <a:latin typeface="Calibri"/>
                <a:ea typeface="Calibri"/>
                <a:cs typeface="Calibri"/>
              </a:defRPr>
            </a:defPPr>
            <a:lvl1pPr>
              <a:defRPr sz="1500" b="0">
                <a:solidFill>
                  <a:srgbClr val="000000"/>
                </a:solidFill>
                <a:latin typeface="Calibri"/>
                <a:ea typeface="Calibri"/>
                <a:cs typeface="Calibri"/>
              </a:defRPr>
            </a:lvl1pPr>
            <a:lvl2pPr>
              <a:defRPr sz="1500" b="0">
                <a:solidFill>
                  <a:srgbClr val="000000"/>
                </a:solidFill>
                <a:latin typeface="Calibri"/>
                <a:ea typeface="Calibri"/>
                <a:cs typeface="Calibri"/>
              </a:defRPr>
            </a:lvl2pPr>
            <a:lvl3pPr>
              <a:defRPr sz="1500" b="0">
                <a:solidFill>
                  <a:srgbClr val="000000"/>
                </a:solidFill>
                <a:latin typeface="Calibri"/>
                <a:ea typeface="Calibri"/>
                <a:cs typeface="Calibri"/>
              </a:defRPr>
            </a:lvl3pPr>
            <a:lvl4pPr>
              <a:defRPr sz="1500" b="0">
                <a:solidFill>
                  <a:srgbClr val="000000"/>
                </a:solidFill>
                <a:latin typeface="Calibri"/>
                <a:ea typeface="Calibri"/>
                <a:cs typeface="Calibri"/>
              </a:defRPr>
            </a:lvl4pPr>
            <a:lvl5pPr>
              <a:defRPr sz="1500" b="0">
                <a:solidFill>
                  <a:srgbClr val="000000"/>
                </a:solidFill>
                <a:latin typeface="Calibri"/>
                <a:ea typeface="Calibri"/>
                <a:cs typeface="Calibri"/>
              </a:defRPr>
            </a:lvl5pPr>
            <a:lvl6pPr>
              <a:defRPr sz="1500" b="0">
                <a:solidFill>
                  <a:srgbClr val="000000"/>
                </a:solidFill>
                <a:latin typeface="Calibri"/>
                <a:ea typeface="Calibri"/>
                <a:cs typeface="Calibri"/>
              </a:defRPr>
            </a:lvl6pPr>
            <a:lvl7pPr>
              <a:defRPr sz="1500" b="0">
                <a:solidFill>
                  <a:srgbClr val="000000"/>
                </a:solidFill>
                <a:latin typeface="Calibri"/>
                <a:ea typeface="Calibri"/>
                <a:cs typeface="Calibri"/>
              </a:defRPr>
            </a:lvl7pPr>
            <a:lvl8pPr>
              <a:defRPr sz="1500" b="0">
                <a:solidFill>
                  <a:srgbClr val="000000"/>
                </a:solidFill>
                <a:latin typeface="Calibri"/>
                <a:ea typeface="Calibri"/>
                <a:cs typeface="Calibri"/>
              </a:defRPr>
            </a:lvl8pPr>
            <a:lvl9pPr>
              <a:defRPr sz="1500" b="0">
                <a:solidFill>
                  <a:srgbClr val="000000"/>
                </a:solidFill>
                <a:latin typeface="Calibri"/>
                <a:ea typeface="Calibri"/>
                <a:cs typeface="Calibri"/>
              </a:defRPr>
            </a:lvl9pPr>
          </a:lstStyle>
          <a:p>
            <a:pPr>
              <a:defRPr sz="1500" b="0">
                <a:solidFill>
                  <a:srgbClr val="000000"/>
                </a:solidFill>
                <a:latin typeface="Calibri"/>
                <a:ea typeface="Calibri"/>
                <a:cs typeface="Calibri"/>
              </a:defRPr>
            </a:pPr>
            <a:r>
              <a:rPr lang="en-US" sz="1500" b="0">
                <a:solidFill>
                  <a:srgbClr val="000000"/>
                </a:solidFill>
                <a:latin typeface="Calibri" panose="020F0502020204030204" pitchFamily="34" charset="0"/>
                <a:ea typeface="Calibri"/>
                <a:cs typeface="Calibri"/>
              </a:rPr>
              <a:t>Root cause remains open. New fixed-speed TE converges but retains power / energy flags. Original optimized task still times out. [S11]</a:t>
            </a:r>
            <a:endParaRPr sz="1500" b="0">
              <a:solidFill>
                <a:srgbClr val="000000"/>
              </a:solidFill>
              <a:latin typeface="Calibri" panose="020F0502020204030204" pitchFamily="34" charset="0"/>
              <a:ea typeface="Calibri"/>
              <a:cs typeface="Calibri"/>
            </a:endParaRPr>
          </a:p>
        </p:txBody>
      </p:sp>
      <p:sp>
        <p:nvSpPr>
          <p:cNvPr id="9" name="Rectangle 8">
            <a:extLst>
              <a:ext uri="{FF2B5EF4-FFF2-40B4-BE49-F238E27FC236}">
                <a16:creationId xmlns:a16="http://schemas.microsoft.com/office/drawing/2014/main" id="{5D4FF9FD-A906-4F10-A614-A3603E1820D5}"/>
              </a:ext>
            </a:extLst>
          </p:cNvPr>
          <p:cNvSpPr>
            <a:spLocks noGrp="1"/>
          </p:cNvSpPr>
          <p:nvPr/>
        </p:nvSpPr>
        <p:spPr>
          <a:xfrm>
            <a:off x="476250" y="6400800"/>
            <a:ext cx="10810875" cy="381000"/>
          </a:xfrm>
          <a:prstGeom prst="rect">
            <a:avLst/>
          </a:prstGeom>
          <a:noFill/>
          <a:ln w="0">
            <a:noFill/>
            <a:prstDash val="solid"/>
          </a:ln>
        </p:spPr>
        <p:txBody>
          <a:bodyPr lIns="0" tIns="0" rIns="0" bIns="0"/>
          <a:lstStyle>
            <a:defPPr>
              <a:defRPr sz="1125" b="0">
                <a:solidFill>
                  <a:srgbClr val="444444"/>
                </a:solidFill>
                <a:latin typeface="Calibri"/>
                <a:ea typeface="Calibri"/>
                <a:cs typeface="Calibri"/>
              </a:defRPr>
            </a:defPPr>
            <a:lvl1pPr>
              <a:defRPr sz="1125" b="0">
                <a:solidFill>
                  <a:srgbClr val="444444"/>
                </a:solidFill>
                <a:latin typeface="Calibri"/>
                <a:ea typeface="Calibri"/>
                <a:cs typeface="Calibri"/>
              </a:defRPr>
            </a:lvl1pPr>
            <a:lvl2pPr>
              <a:defRPr sz="1125" b="0">
                <a:solidFill>
                  <a:srgbClr val="444444"/>
                </a:solidFill>
                <a:latin typeface="Calibri"/>
                <a:ea typeface="Calibri"/>
                <a:cs typeface="Calibri"/>
              </a:defRPr>
            </a:lvl2pPr>
            <a:lvl3pPr>
              <a:defRPr sz="1125" b="0">
                <a:solidFill>
                  <a:srgbClr val="444444"/>
                </a:solidFill>
                <a:latin typeface="Calibri"/>
                <a:ea typeface="Calibri"/>
                <a:cs typeface="Calibri"/>
              </a:defRPr>
            </a:lvl3pPr>
            <a:lvl4pPr>
              <a:defRPr sz="1125" b="0">
                <a:solidFill>
                  <a:srgbClr val="444444"/>
                </a:solidFill>
                <a:latin typeface="Calibri"/>
                <a:ea typeface="Calibri"/>
                <a:cs typeface="Calibri"/>
              </a:defRPr>
            </a:lvl4pPr>
            <a:lvl5pPr>
              <a:defRPr sz="1125" b="0">
                <a:solidFill>
                  <a:srgbClr val="444444"/>
                </a:solidFill>
                <a:latin typeface="Calibri"/>
                <a:ea typeface="Calibri"/>
                <a:cs typeface="Calibri"/>
              </a:defRPr>
            </a:lvl5pPr>
            <a:lvl6pPr>
              <a:defRPr sz="1125" b="0">
                <a:solidFill>
                  <a:srgbClr val="444444"/>
                </a:solidFill>
                <a:latin typeface="Calibri"/>
                <a:ea typeface="Calibri"/>
                <a:cs typeface="Calibri"/>
              </a:defRPr>
            </a:lvl6pPr>
            <a:lvl7pPr>
              <a:defRPr sz="1125" b="0">
                <a:solidFill>
                  <a:srgbClr val="444444"/>
                </a:solidFill>
                <a:latin typeface="Calibri"/>
                <a:ea typeface="Calibri"/>
                <a:cs typeface="Calibri"/>
              </a:defRPr>
            </a:lvl7pPr>
            <a:lvl8pPr>
              <a:defRPr sz="1125" b="0">
                <a:solidFill>
                  <a:srgbClr val="444444"/>
                </a:solidFill>
                <a:latin typeface="Calibri"/>
                <a:ea typeface="Calibri"/>
                <a:cs typeface="Calibri"/>
              </a:defRPr>
            </a:lvl8pPr>
            <a:lvl9pPr>
              <a:defRPr sz="1125" b="0">
                <a:solidFill>
                  <a:srgbClr val="444444"/>
                </a:solidFill>
                <a:latin typeface="Calibri"/>
                <a:ea typeface="Calibri"/>
                <a:cs typeface="Calibri"/>
              </a:defRPr>
            </a:lvl9pPr>
          </a:lstStyle>
          <a:p>
            <a:pPr>
              <a:defRPr sz="1125" b="0">
                <a:solidFill>
                  <a:srgbClr val="444444"/>
                </a:solidFill>
                <a:latin typeface="Calibri"/>
                <a:ea typeface="Calibri"/>
                <a:cs typeface="Calibri"/>
              </a:defRPr>
            </a:pPr>
            <a:r>
              <a:rPr sz="1125" b="0">
                <a:solidFill>
                  <a:srgbClr val="444444"/>
                </a:solidFill>
                <a:latin typeface="Calibri" panose="020F0502020204030204" pitchFamily="34" charset="0"/>
                <a:ea typeface="Calibri"/>
                <a:cs typeface="Calibri"/>
              </a:rPr>
              <a:t>[R1] Silva et al. (2018), Table 3, p. 12. [S3] Restricted L+C E / TE stdout and comparison report (24 Sep 2026).</a:t>
            </a:r>
          </a:p>
          <a:p>
            <a:pPr>
              <a:defRPr sz="1125" b="0">
                <a:solidFill>
                  <a:srgbClr val="444444"/>
                </a:solidFill>
                <a:latin typeface="Calibri"/>
                <a:ea typeface="Calibri"/>
                <a:cs typeface="Calibri"/>
              </a:defRPr>
            </a:pPr>
            <a:r>
              <a:rPr sz="1125" b="0">
                <a:solidFill>
                  <a:srgbClr val="444444"/>
                </a:solidFill>
                <a:latin typeface="Calibri" panose="020F0502020204030204" pitchFamily="34" charset="0"/>
                <a:ea typeface="Calibri"/>
                <a:cs typeface="Calibri"/>
              </a:rPr>
              <a:t>¹ Paper residual = empty − structure − propulsion − systems. These are mass locations, not proven causal attributions.</a:t>
            </a:r>
          </a:p>
        </p:txBody>
      </p:sp>
      <p:sp>
        <p:nvSpPr>
          <p:cNvPr id="11" name="TextBox 10">
            <a:extLst>
              <a:ext uri="{FF2B5EF4-FFF2-40B4-BE49-F238E27FC236}">
                <a16:creationId xmlns:a16="http://schemas.microsoft.com/office/drawing/2014/main" id="{F94261B0-0D84-9062-66FD-A016695AFAB4}"/>
              </a:ext>
            </a:extLst>
          </p:cNvPr>
          <p:cNvSpPr txBox="1"/>
          <p:nvPr/>
        </p:nvSpPr>
        <p:spPr>
          <a:xfrm>
            <a:off x="11671300" y="6527800"/>
            <a:ext cx="355600" cy="153888"/>
          </a:xfrm>
          <a:prstGeom prst="rect">
            <a:avLst/>
          </a:prstGeom>
          <a:noFill/>
        </p:spPr>
        <p:txBody>
          <a:bodyPr vert="horz" lIns="0" tIns="0" rIns="0" bIns="0" rtlCol="0">
            <a:spAutoFit/>
          </a:bodyPr>
          <a:lstStyle/>
          <a:p>
            <a:r>
              <a:rPr lang="en-US" sz="1000">
                <a:solidFill>
                  <a:srgbClr val="000000"/>
                </a:solidFill>
                <a:latin typeface="Calibri" panose="020F0502020204030204" pitchFamily="34" charset="0"/>
              </a:rPr>
              <a:t>15</a:t>
            </a:r>
          </a:p>
        </p:txBody>
      </p:sp>
    </p:spTree>
    <p:extLst>
      <p:ext uri="{BB962C8B-B14F-4D97-AF65-F5344CB8AC3E}">
        <p14:creationId xmlns:p14="http://schemas.microsoft.com/office/powerpoint/2010/main" val="17586745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124FE3D-77FB-1574-ADEC-0578E8A92362}"/>
              </a:ext>
            </a:extLst>
          </p:cNvPr>
          <p:cNvSpPr>
            <a:spLocks noGrp="1"/>
          </p:cNvSpPr>
          <p:nvPr/>
        </p:nvSpPr>
        <p:spPr>
          <a:xfrm>
            <a:off x="838200" y="361950"/>
            <a:ext cx="10896600" cy="495300"/>
          </a:xfrm>
          <a:prstGeom prst="rect">
            <a:avLst/>
          </a:prstGeom>
          <a:noFill/>
          <a:ln w="0">
            <a:noFill/>
            <a:prstDash val="solid"/>
          </a:ln>
        </p:spPr>
        <p:txBody>
          <a:bodyPr lIns="0" tIns="0" rIns="0" bIns="0"/>
          <a:lstStyle>
            <a:defPPr>
              <a:defRPr sz="2400" b="1">
                <a:solidFill>
                  <a:srgbClr val="000000"/>
                </a:solidFill>
                <a:latin typeface="Calibri"/>
                <a:ea typeface="Calibri"/>
                <a:cs typeface="Calibri"/>
              </a:defRPr>
            </a:defPPr>
            <a:lvl1pPr>
              <a:defRPr sz="2400" b="1">
                <a:solidFill>
                  <a:srgbClr val="000000"/>
                </a:solidFill>
                <a:latin typeface="Calibri"/>
                <a:ea typeface="Calibri"/>
                <a:cs typeface="Calibri"/>
              </a:defRPr>
            </a:lvl1pPr>
            <a:lvl2pPr>
              <a:defRPr sz="2400" b="1">
                <a:solidFill>
                  <a:srgbClr val="000000"/>
                </a:solidFill>
                <a:latin typeface="Calibri"/>
                <a:ea typeface="Calibri"/>
                <a:cs typeface="Calibri"/>
              </a:defRPr>
            </a:lvl2pPr>
            <a:lvl3pPr>
              <a:defRPr sz="2400" b="1">
                <a:solidFill>
                  <a:srgbClr val="000000"/>
                </a:solidFill>
                <a:latin typeface="Calibri"/>
                <a:ea typeface="Calibri"/>
                <a:cs typeface="Calibri"/>
              </a:defRPr>
            </a:lvl3pPr>
            <a:lvl4pPr>
              <a:defRPr sz="2400" b="1">
                <a:solidFill>
                  <a:srgbClr val="000000"/>
                </a:solidFill>
                <a:latin typeface="Calibri"/>
                <a:ea typeface="Calibri"/>
                <a:cs typeface="Calibri"/>
              </a:defRPr>
            </a:lvl4pPr>
            <a:lvl5pPr>
              <a:defRPr sz="2400" b="1">
                <a:solidFill>
                  <a:srgbClr val="000000"/>
                </a:solidFill>
                <a:latin typeface="Calibri"/>
                <a:ea typeface="Calibri"/>
                <a:cs typeface="Calibri"/>
              </a:defRPr>
            </a:lvl5pPr>
            <a:lvl6pPr>
              <a:defRPr sz="2400" b="1">
                <a:solidFill>
                  <a:srgbClr val="000000"/>
                </a:solidFill>
                <a:latin typeface="Calibri"/>
                <a:ea typeface="Calibri"/>
                <a:cs typeface="Calibri"/>
              </a:defRPr>
            </a:lvl6pPr>
            <a:lvl7pPr>
              <a:defRPr sz="2400" b="1">
                <a:solidFill>
                  <a:srgbClr val="000000"/>
                </a:solidFill>
                <a:latin typeface="Calibri"/>
                <a:ea typeface="Calibri"/>
                <a:cs typeface="Calibri"/>
              </a:defRPr>
            </a:lvl7pPr>
            <a:lvl8pPr>
              <a:defRPr sz="2400" b="1">
                <a:solidFill>
                  <a:srgbClr val="000000"/>
                </a:solidFill>
                <a:latin typeface="Calibri"/>
                <a:ea typeface="Calibri"/>
                <a:cs typeface="Calibri"/>
              </a:defRPr>
            </a:lvl8pPr>
            <a:lvl9pPr>
              <a:defRPr sz="2400" b="1">
                <a:solidFill>
                  <a:srgbClr val="000000"/>
                </a:solidFill>
                <a:latin typeface="Calibri"/>
                <a:ea typeface="Calibri"/>
                <a:cs typeface="Calibri"/>
              </a:defRPr>
            </a:lvl9pPr>
          </a:lstStyle>
          <a:p>
            <a:pPr>
              <a:defRPr sz="2400" b="1">
                <a:solidFill>
                  <a:srgbClr val="000000"/>
                </a:solidFill>
                <a:latin typeface="Calibri"/>
                <a:ea typeface="Calibri"/>
                <a:cs typeface="Calibri"/>
              </a:defRPr>
            </a:pPr>
            <a:r>
              <a:rPr sz="2400" b="1">
                <a:solidFill>
                  <a:srgbClr val="000000"/>
                </a:solidFill>
                <a:latin typeface="Calibri" panose="020F0502020204030204" pitchFamily="34" charset="0"/>
                <a:ea typeface="Calibri"/>
                <a:cs typeface="Calibri"/>
              </a:rPr>
              <a:t>TR60: Fixed-Engine Sensitivity</a:t>
            </a:r>
          </a:p>
        </p:txBody>
      </p:sp>
      <p:sp>
        <p:nvSpPr>
          <p:cNvPr id="10" name="Rectangle 9">
            <a:extLst>
              <a:ext uri="{FF2B5EF4-FFF2-40B4-BE49-F238E27FC236}">
                <a16:creationId xmlns:a16="http://schemas.microsoft.com/office/drawing/2014/main" id="{B2273528-C2DC-95F0-4A1A-9E342326444E}"/>
              </a:ext>
            </a:extLst>
          </p:cNvPr>
          <p:cNvSpPr>
            <a:spLocks noGrp="1"/>
          </p:cNvSpPr>
          <p:nvPr/>
        </p:nvSpPr>
        <p:spPr>
          <a:xfrm>
            <a:off x="476250" y="895350"/>
            <a:ext cx="11239500" cy="523875"/>
          </a:xfrm>
          <a:prstGeom prst="rect">
            <a:avLst/>
          </a:prstGeom>
          <a:noFill/>
          <a:ln w="0">
            <a:noFill/>
            <a:prstDash val="solid"/>
          </a:ln>
        </p:spPr>
        <p:txBody>
          <a:bodyPr lIns="0" tIns="0" rIns="0" bIns="0"/>
          <a:lstStyle>
            <a:defPPr>
              <a:defRPr sz="1575" b="0">
                <a:solidFill>
                  <a:srgbClr val="444444"/>
                </a:solidFill>
                <a:latin typeface="Calibri"/>
                <a:ea typeface="Calibri"/>
                <a:cs typeface="Calibri"/>
              </a:defRPr>
            </a:defPPr>
            <a:lvl1pPr>
              <a:defRPr sz="1575" b="0">
                <a:solidFill>
                  <a:srgbClr val="444444"/>
                </a:solidFill>
                <a:latin typeface="Calibri"/>
                <a:ea typeface="Calibri"/>
                <a:cs typeface="Calibri"/>
              </a:defRPr>
            </a:lvl1pPr>
            <a:lvl2pPr>
              <a:defRPr sz="1575" b="0">
                <a:solidFill>
                  <a:srgbClr val="444444"/>
                </a:solidFill>
                <a:latin typeface="Calibri"/>
                <a:ea typeface="Calibri"/>
                <a:cs typeface="Calibri"/>
              </a:defRPr>
            </a:lvl2pPr>
            <a:lvl3pPr>
              <a:defRPr sz="1575" b="0">
                <a:solidFill>
                  <a:srgbClr val="444444"/>
                </a:solidFill>
                <a:latin typeface="Calibri"/>
                <a:ea typeface="Calibri"/>
                <a:cs typeface="Calibri"/>
              </a:defRPr>
            </a:lvl3pPr>
            <a:lvl4pPr>
              <a:defRPr sz="1575" b="0">
                <a:solidFill>
                  <a:srgbClr val="444444"/>
                </a:solidFill>
                <a:latin typeface="Calibri"/>
                <a:ea typeface="Calibri"/>
                <a:cs typeface="Calibri"/>
              </a:defRPr>
            </a:lvl4pPr>
            <a:lvl5pPr>
              <a:defRPr sz="1575" b="0">
                <a:solidFill>
                  <a:srgbClr val="444444"/>
                </a:solidFill>
                <a:latin typeface="Calibri"/>
                <a:ea typeface="Calibri"/>
                <a:cs typeface="Calibri"/>
              </a:defRPr>
            </a:lvl5pPr>
            <a:lvl6pPr>
              <a:defRPr sz="1575" b="0">
                <a:solidFill>
                  <a:srgbClr val="444444"/>
                </a:solidFill>
                <a:latin typeface="Calibri"/>
                <a:ea typeface="Calibri"/>
                <a:cs typeface="Calibri"/>
              </a:defRPr>
            </a:lvl6pPr>
            <a:lvl7pPr>
              <a:defRPr sz="1575" b="0">
                <a:solidFill>
                  <a:srgbClr val="444444"/>
                </a:solidFill>
                <a:latin typeface="Calibri"/>
                <a:ea typeface="Calibri"/>
                <a:cs typeface="Calibri"/>
              </a:defRPr>
            </a:lvl7pPr>
            <a:lvl8pPr>
              <a:defRPr sz="1575" b="0">
                <a:solidFill>
                  <a:srgbClr val="444444"/>
                </a:solidFill>
                <a:latin typeface="Calibri"/>
                <a:ea typeface="Calibri"/>
                <a:cs typeface="Calibri"/>
              </a:defRPr>
            </a:lvl8pPr>
            <a:lvl9pPr>
              <a:defRPr sz="1575" b="0">
                <a:solidFill>
                  <a:srgbClr val="444444"/>
                </a:solidFill>
                <a:latin typeface="Calibri"/>
                <a:ea typeface="Calibri"/>
                <a:cs typeface="Calibri"/>
              </a:defRPr>
            </a:lvl9pPr>
          </a:lstStyle>
          <a:p>
            <a:pPr>
              <a:defRPr sz="1575" b="0">
                <a:solidFill>
                  <a:srgbClr val="444444"/>
                </a:solidFill>
                <a:latin typeface="Calibri"/>
                <a:ea typeface="Calibri"/>
                <a:cs typeface="Calibri"/>
              </a:defRPr>
            </a:pPr>
            <a:r>
              <a:rPr sz="1575" b="0">
                <a:solidFill>
                  <a:srgbClr val="444444"/>
                </a:solidFill>
                <a:latin typeface="Calibri" panose="020F0502020204030204" pitchFamily="34" charset="0"/>
                <a:ea typeface="Calibri"/>
                <a:cs typeface="Calibri"/>
              </a:rPr>
              <a:t>No measured TR60 component-weight ledger was found. The 130 kg reference empty mass is an assumption.</a:t>
            </a:r>
          </a:p>
        </p:txBody>
      </p:sp>
      <p:sp>
        <p:nvSpPr>
          <p:cNvPr id="11" name="Rectangle 10">
            <a:extLst>
              <a:ext uri="{FF2B5EF4-FFF2-40B4-BE49-F238E27FC236}">
                <a16:creationId xmlns:a16="http://schemas.microsoft.com/office/drawing/2014/main" id="{945FCEC7-7051-E032-9011-AB49BF731ABF}"/>
              </a:ext>
            </a:extLst>
          </p:cNvPr>
          <p:cNvSpPr>
            <a:spLocks noGrp="1"/>
          </p:cNvSpPr>
          <p:nvPr/>
        </p:nvSpPr>
        <p:spPr>
          <a:xfrm>
            <a:off x="11382375" y="6524625"/>
            <a:ext cx="333375" cy="219075"/>
          </a:xfrm>
          <a:prstGeom prst="rect">
            <a:avLst/>
          </a:prstGeom>
          <a:noFill/>
          <a:ln w="0">
            <a:noFill/>
            <a:prstDash val="solid"/>
          </a:ln>
        </p:spPr>
        <p:txBody>
          <a:bodyPr lIns="0" tIns="0" rIns="0" bIns="0"/>
          <a:lstStyle>
            <a:defPPr>
              <a:defRPr sz="1125" b="0">
                <a:solidFill>
                  <a:srgbClr val="444444"/>
                </a:solidFill>
                <a:latin typeface="Calibri"/>
                <a:ea typeface="Calibri"/>
                <a:cs typeface="Calibri"/>
              </a:defRPr>
            </a:defPPr>
            <a:lvl1pPr>
              <a:defRPr sz="1125" b="0">
                <a:solidFill>
                  <a:srgbClr val="444444"/>
                </a:solidFill>
                <a:latin typeface="Calibri"/>
                <a:ea typeface="Calibri"/>
                <a:cs typeface="Calibri"/>
              </a:defRPr>
            </a:lvl1pPr>
            <a:lvl2pPr>
              <a:defRPr sz="1125" b="0">
                <a:solidFill>
                  <a:srgbClr val="444444"/>
                </a:solidFill>
                <a:latin typeface="Calibri"/>
                <a:ea typeface="Calibri"/>
                <a:cs typeface="Calibri"/>
              </a:defRPr>
            </a:lvl2pPr>
            <a:lvl3pPr>
              <a:defRPr sz="1125" b="0">
                <a:solidFill>
                  <a:srgbClr val="444444"/>
                </a:solidFill>
                <a:latin typeface="Calibri"/>
                <a:ea typeface="Calibri"/>
                <a:cs typeface="Calibri"/>
              </a:defRPr>
            </a:lvl3pPr>
            <a:lvl4pPr>
              <a:defRPr sz="1125" b="0">
                <a:solidFill>
                  <a:srgbClr val="444444"/>
                </a:solidFill>
                <a:latin typeface="Calibri"/>
                <a:ea typeface="Calibri"/>
                <a:cs typeface="Calibri"/>
              </a:defRPr>
            </a:lvl4pPr>
            <a:lvl5pPr>
              <a:defRPr sz="1125" b="0">
                <a:solidFill>
                  <a:srgbClr val="444444"/>
                </a:solidFill>
                <a:latin typeface="Calibri"/>
                <a:ea typeface="Calibri"/>
                <a:cs typeface="Calibri"/>
              </a:defRPr>
            </a:lvl5pPr>
            <a:lvl6pPr>
              <a:defRPr sz="1125" b="0">
                <a:solidFill>
                  <a:srgbClr val="444444"/>
                </a:solidFill>
                <a:latin typeface="Calibri"/>
                <a:ea typeface="Calibri"/>
                <a:cs typeface="Calibri"/>
              </a:defRPr>
            </a:lvl6pPr>
            <a:lvl7pPr>
              <a:defRPr sz="1125" b="0">
                <a:solidFill>
                  <a:srgbClr val="444444"/>
                </a:solidFill>
                <a:latin typeface="Calibri"/>
                <a:ea typeface="Calibri"/>
                <a:cs typeface="Calibri"/>
              </a:defRPr>
            </a:lvl7pPr>
            <a:lvl8pPr>
              <a:defRPr sz="1125" b="0">
                <a:solidFill>
                  <a:srgbClr val="444444"/>
                </a:solidFill>
                <a:latin typeface="Calibri"/>
                <a:ea typeface="Calibri"/>
                <a:cs typeface="Calibri"/>
              </a:defRPr>
            </a:lvl8pPr>
            <a:lvl9pPr>
              <a:defRPr sz="1125" b="0">
                <a:solidFill>
                  <a:srgbClr val="444444"/>
                </a:solidFill>
                <a:latin typeface="Calibri"/>
                <a:ea typeface="Calibri"/>
                <a:cs typeface="Calibri"/>
              </a:defRPr>
            </a:lvl9pPr>
          </a:lstStyle>
          <a:p>
            <a:pPr>
              <a:defRPr sz="1125" b="0">
                <a:solidFill>
                  <a:srgbClr val="444444"/>
                </a:solidFill>
                <a:latin typeface="Calibri"/>
                <a:ea typeface="Calibri"/>
                <a:cs typeface="Calibri"/>
              </a:defRPr>
            </a:pPr>
            <a:endParaRPr sz="1125" b="0">
              <a:solidFill>
                <a:srgbClr val="444444"/>
              </a:solidFill>
              <a:latin typeface="Calibri" panose="020F0502020204030204" pitchFamily="34" charset="0"/>
              <a:ea typeface="Calibri"/>
              <a:cs typeface="Calibri"/>
            </a:endParaRPr>
          </a:p>
        </p:txBody>
      </p:sp>
      <p:graphicFrame>
        <p:nvGraphicFramePr>
          <p:cNvPr id="12" name="Table 11">
            <a:extLst>
              <a:ext uri="{FF2B5EF4-FFF2-40B4-BE49-F238E27FC236}">
                <a16:creationId xmlns:a16="http://schemas.microsoft.com/office/drawing/2014/main" id="{C660ADA9-B022-D33D-0A14-A813EC129404}"/>
              </a:ext>
            </a:extLst>
          </p:cNvPr>
          <p:cNvGraphicFramePr/>
          <p:nvPr>
            <p:extLst>
              <p:ext uri="{D42A27DB-BD31-4B8C-83A1-F6EECF244321}">
                <p14:modId xmlns:p14="http://schemas.microsoft.com/office/powerpoint/2010/main" val="2836703362"/>
              </p:ext>
            </p:extLst>
          </p:nvPr>
        </p:nvGraphicFramePr>
        <p:xfrm>
          <a:off x="476250" y="1638300"/>
          <a:ext cx="11239500" cy="2857500"/>
        </p:xfrm>
        <a:graphic>
          <a:graphicData uri="http://schemas.openxmlformats.org/drawingml/2006/table">
            <a:tbl>
              <a:tblPr/>
              <a:tblGrid>
                <a:gridCol w="4953000">
                  <a:extLst>
                    <a:ext uri="{9D8B030D-6E8A-4147-A177-3AD203B41FA5}">
                      <a16:colId xmlns:a16="http://schemas.microsoft.com/office/drawing/2014/main" val="20000"/>
                    </a:ext>
                  </a:extLst>
                </a:gridCol>
                <a:gridCol w="2095500">
                  <a:extLst>
                    <a:ext uri="{9D8B030D-6E8A-4147-A177-3AD203B41FA5}">
                      <a16:colId xmlns:a16="http://schemas.microsoft.com/office/drawing/2014/main" val="20001"/>
                    </a:ext>
                  </a:extLst>
                </a:gridCol>
                <a:gridCol w="2095500">
                  <a:extLst>
                    <a:ext uri="{9D8B030D-6E8A-4147-A177-3AD203B41FA5}">
                      <a16:colId xmlns:a16="http://schemas.microsoft.com/office/drawing/2014/main" val="20002"/>
                    </a:ext>
                  </a:extLst>
                </a:gridCol>
                <a:gridCol w="2095500">
                  <a:extLst>
                    <a:ext uri="{9D8B030D-6E8A-4147-A177-3AD203B41FA5}">
                      <a16:colId xmlns:a16="http://schemas.microsoft.com/office/drawing/2014/main" val="20003"/>
                    </a:ext>
                  </a:extLst>
                </a:gridCol>
              </a:tblGrid>
              <a:tr h="476250">
                <a:tc>
                  <a:txBody>
                    <a:bodyPr/>
                    <a:lstStyle/>
                    <a:p>
                      <a:r>
                        <a:rPr sz="1500" b="1">
                          <a:solidFill>
                            <a:srgbClr val="000000"/>
                          </a:solidFill>
                          <a:latin typeface="Calibri" panose="020F0502020204030204" pitchFamily="34" charset="0"/>
                          <a:ea typeface="Calibri"/>
                          <a:cs typeface="Calibri"/>
                        </a:rPr>
                        <a:t>Quantity [R3, S4]</a:t>
                      </a:r>
                    </a:p>
                  </a:txBody>
                  <a:tcPr>
                    <a:lnL w="9525">
                      <a:solidFill>
                        <a:srgbClr val="BBBBBB"/>
                      </a:solidFill>
                    </a:lnL>
                    <a:lnR w="9525">
                      <a:solidFill>
                        <a:srgbClr val="BBBBBB"/>
                      </a:solidFill>
                    </a:lnR>
                    <a:lnT w="9525">
                      <a:solidFill>
                        <a:srgbClr val="BBBBBB"/>
                      </a:solidFill>
                    </a:lnT>
                    <a:lnB w="9525">
                      <a:solidFill>
                        <a:srgbClr val="BBBBBB"/>
                      </a:solidFill>
                    </a:lnB>
                    <a:solidFill>
                      <a:srgbClr val="D9D9D9"/>
                    </a:solidFill>
                  </a:tcPr>
                </a:tc>
                <a:tc>
                  <a:txBody>
                    <a:bodyPr/>
                    <a:lstStyle/>
                    <a:p>
                      <a:r>
                        <a:rPr sz="1500" b="1">
                          <a:solidFill>
                            <a:srgbClr val="000000"/>
                          </a:solidFill>
                          <a:latin typeface="Calibri" panose="020F0502020204030204" pitchFamily="34" charset="0"/>
                          <a:ea typeface="Calibri"/>
                          <a:cs typeface="Calibri"/>
                        </a:rPr>
                        <a:t>Reference model</a:t>
                      </a:r>
                    </a:p>
                  </a:txBody>
                  <a:tcPr>
                    <a:lnL w="9525" cap="flat" cmpd="sng" algn="ctr">
                      <a:solidFill>
                        <a:srgbClr val="BBBBBB"/>
                      </a:solidFill>
                      <a:prstDash val="solid"/>
                      <a:round/>
                      <a:headEnd type="none" w="med" len="med"/>
                      <a:tailEnd type="none" w="med" len="med"/>
                    </a:lnL>
                    <a:lnR w="9525">
                      <a:solidFill>
                        <a:srgbClr val="BBBBBB"/>
                      </a:solidFill>
                    </a:lnR>
                    <a:lnT w="9525">
                      <a:solidFill>
                        <a:srgbClr val="BBBBBB"/>
                      </a:solidFill>
                    </a:lnT>
                    <a:lnB w="9525">
                      <a:solidFill>
                        <a:srgbClr val="BBBBBB"/>
                      </a:solidFill>
                    </a:lnB>
                    <a:solidFill>
                      <a:srgbClr val="D9D9D9"/>
                    </a:solidFill>
                  </a:tcPr>
                </a:tc>
                <a:tc>
                  <a:txBody>
                    <a:bodyPr/>
                    <a:lstStyle/>
                    <a:p>
                      <a:r>
                        <a:rPr sz="1500" b="1">
                          <a:solidFill>
                            <a:srgbClr val="000000"/>
                          </a:solidFill>
                          <a:latin typeface="Calibri" panose="020F0502020204030204" pitchFamily="34" charset="0"/>
                          <a:ea typeface="Calibri"/>
                          <a:cs typeface="Calibri"/>
                        </a:rPr>
                        <a:t>Fixed geometry</a:t>
                      </a:r>
                    </a:p>
                  </a:txBody>
                  <a:tcPr>
                    <a:lnL w="9525" cap="flat" cmpd="sng" algn="ctr">
                      <a:solidFill>
                        <a:srgbClr val="BBBBBB"/>
                      </a:solidFill>
                      <a:prstDash val="solid"/>
                      <a:round/>
                      <a:headEnd type="none" w="med" len="med"/>
                      <a:tailEnd type="none" w="med" len="med"/>
                    </a:lnL>
                    <a:lnR w="9525">
                      <a:solidFill>
                        <a:srgbClr val="BBBBBB"/>
                      </a:solidFill>
                    </a:lnR>
                    <a:lnT w="9525">
                      <a:solidFill>
                        <a:srgbClr val="BBBBBB"/>
                      </a:solidFill>
                    </a:lnT>
                    <a:lnB w="9525">
                      <a:solidFill>
                        <a:srgbClr val="BBBBBB"/>
                      </a:solidFill>
                    </a:lnB>
                    <a:solidFill>
                      <a:srgbClr val="D9D9D9"/>
                    </a:solidFill>
                  </a:tcPr>
                </a:tc>
                <a:tc>
                  <a:txBody>
                    <a:bodyPr/>
                    <a:lstStyle/>
                    <a:p>
                      <a:r>
                        <a:rPr sz="1500" b="1">
                          <a:solidFill>
                            <a:srgbClr val="000000"/>
                          </a:solidFill>
                          <a:latin typeface="Calibri" panose="020F0502020204030204" pitchFamily="34" charset="0"/>
                          <a:ea typeface="Calibri"/>
                          <a:cs typeface="Calibri"/>
                        </a:rPr>
                        <a:t>Clean sheet</a:t>
                      </a:r>
                    </a:p>
                  </a:txBody>
                  <a:tcPr>
                    <a:lnL w="9525" cap="flat" cmpd="sng" algn="ctr">
                      <a:solidFill>
                        <a:srgbClr val="BBBBBB"/>
                      </a:solidFill>
                      <a:prstDash val="solid"/>
                      <a:round/>
                      <a:headEnd type="none" w="med" len="med"/>
                      <a:tailEnd type="none" w="med" len="med"/>
                    </a:lnL>
                    <a:lnR w="9525">
                      <a:solidFill>
                        <a:srgbClr val="BBBBBB"/>
                      </a:solidFill>
                    </a:lnR>
                    <a:lnT w="9525">
                      <a:solidFill>
                        <a:srgbClr val="BBBBBB"/>
                      </a:solidFill>
                    </a:lnT>
                    <a:lnB w="9525">
                      <a:solidFill>
                        <a:srgbClr val="BBBBBB"/>
                      </a:solidFill>
                    </a:lnB>
                    <a:solidFill>
                      <a:srgbClr val="D9D9D9"/>
                    </a:solidFill>
                  </a:tcPr>
                </a:tc>
                <a:extLst>
                  <a:ext uri="{0D108BD9-81ED-4DB2-BD59-A6C34878D82A}">
                    <a16:rowId xmlns:a16="http://schemas.microsoft.com/office/drawing/2014/main" val="10000"/>
                  </a:ext>
                </a:extLst>
              </a:tr>
              <a:tr h="476250">
                <a:tc>
                  <a:txBody>
                    <a:bodyPr/>
                    <a:lstStyle/>
                    <a:p>
                      <a:r>
                        <a:rPr sz="1500" b="0">
                          <a:solidFill>
                            <a:srgbClr val="000000"/>
                          </a:solidFill>
                          <a:latin typeface="Calibri" panose="020F0502020204030204" pitchFamily="34" charset="0"/>
                          <a:ea typeface="Calibri"/>
                          <a:cs typeface="Calibri"/>
                        </a:rPr>
                        <a:t>Gross mass, engine sized / kg</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500" b="0">
                          <a:solidFill>
                            <a:srgbClr val="000000"/>
                          </a:solidFill>
                          <a:latin typeface="Calibri" panose="020F0502020204030204" pitchFamily="34" charset="0"/>
                          <a:ea typeface="Calibri"/>
                          <a:cs typeface="Calibri"/>
                        </a:rPr>
                        <a:t>200.0 fixed</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500" b="0">
                          <a:solidFill>
                            <a:srgbClr val="000000"/>
                          </a:solidFill>
                          <a:latin typeface="Calibri" panose="020F0502020204030204" pitchFamily="34" charset="0"/>
                          <a:ea typeface="Calibri"/>
                          <a:cs typeface="Calibri"/>
                        </a:rPr>
                        <a:t>185.3</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500" b="0">
                          <a:solidFill>
                            <a:srgbClr val="000000"/>
                          </a:solidFill>
                          <a:latin typeface="Calibri" panose="020F0502020204030204" pitchFamily="34" charset="0"/>
                          <a:ea typeface="Calibri"/>
                          <a:cs typeface="Calibri"/>
                        </a:rPr>
                        <a:t>174.7</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extLst>
                  <a:ext uri="{0D108BD9-81ED-4DB2-BD59-A6C34878D82A}">
                    <a16:rowId xmlns:a16="http://schemas.microsoft.com/office/drawing/2014/main" val="10001"/>
                  </a:ext>
                </a:extLst>
              </a:tr>
              <a:tr h="476250">
                <a:tc>
                  <a:txBody>
                    <a:bodyPr/>
                    <a:lstStyle/>
                    <a:p>
                      <a:r>
                        <a:rPr sz="1500" b="0">
                          <a:solidFill>
                            <a:srgbClr val="000000"/>
                          </a:solidFill>
                          <a:latin typeface="Calibri" panose="020F0502020204030204" pitchFamily="34" charset="0"/>
                          <a:ea typeface="Calibri"/>
                          <a:cs typeface="Calibri"/>
                        </a:rPr>
                        <a:t>Engine sized rating / hp</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500" b="0">
                          <a:solidFill>
                            <a:srgbClr val="000000"/>
                          </a:solidFill>
                          <a:latin typeface="Calibri" panose="020F0502020204030204" pitchFamily="34" charset="0"/>
                          <a:ea typeface="Calibri"/>
                          <a:cs typeface="Calibri"/>
                        </a:rPr>
                        <a:t>55.0 fixed</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500" b="0">
                          <a:solidFill>
                            <a:srgbClr val="000000"/>
                          </a:solidFill>
                          <a:latin typeface="Calibri" panose="020F0502020204030204" pitchFamily="34" charset="0"/>
                          <a:ea typeface="Calibri"/>
                          <a:cs typeface="Calibri"/>
                        </a:rPr>
                        <a:t>46.0</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500" b="0">
                          <a:solidFill>
                            <a:srgbClr val="000000"/>
                          </a:solidFill>
                          <a:latin typeface="Calibri" panose="020F0502020204030204" pitchFamily="34" charset="0"/>
                          <a:ea typeface="Calibri"/>
                          <a:cs typeface="Calibri"/>
                        </a:rPr>
                        <a:t>43.1</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extLst>
                  <a:ext uri="{0D108BD9-81ED-4DB2-BD59-A6C34878D82A}">
                    <a16:rowId xmlns:a16="http://schemas.microsoft.com/office/drawing/2014/main" val="10002"/>
                  </a:ext>
                </a:extLst>
              </a:tr>
              <a:tr h="476250">
                <a:tc>
                  <a:txBody>
                    <a:bodyPr/>
                    <a:lstStyle/>
                    <a:p>
                      <a:r>
                        <a:rPr sz="1500" b="0" dirty="0">
                          <a:solidFill>
                            <a:srgbClr val="000000"/>
                          </a:solidFill>
                          <a:latin typeface="Calibri" panose="020F0502020204030204" pitchFamily="34" charset="0"/>
                          <a:ea typeface="Calibri"/>
                          <a:cs typeface="Calibri"/>
                        </a:rPr>
                        <a:t>Gross mass with fixed 55 hp / kg</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500" b="0" dirty="0">
                          <a:solidFill>
                            <a:srgbClr val="000000"/>
                          </a:solidFill>
                          <a:latin typeface="Calibri" panose="020F0502020204030204" pitchFamily="34" charset="0"/>
                          <a:ea typeface="Calibri"/>
                          <a:cs typeface="Calibri"/>
                        </a:rPr>
                        <a:t>200.0 fixed</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500" b="0" dirty="0">
                          <a:solidFill>
                            <a:srgbClr val="000000"/>
                          </a:solidFill>
                          <a:latin typeface="Calibri" panose="020F0502020204030204" pitchFamily="34" charset="0"/>
                          <a:ea typeface="Calibri"/>
                          <a:cs typeface="Calibri"/>
                        </a:rPr>
                        <a:t>190.9</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500" b="0" dirty="0">
                          <a:solidFill>
                            <a:srgbClr val="000000"/>
                          </a:solidFill>
                          <a:latin typeface="Calibri" panose="020F0502020204030204" pitchFamily="34" charset="0"/>
                          <a:ea typeface="Calibri"/>
                          <a:cs typeface="Calibri"/>
                        </a:rPr>
                        <a:t>186.2</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extLst>
                  <a:ext uri="{0D108BD9-81ED-4DB2-BD59-A6C34878D82A}">
                    <a16:rowId xmlns:a16="http://schemas.microsoft.com/office/drawing/2014/main" val="10003"/>
                  </a:ext>
                </a:extLst>
              </a:tr>
              <a:tr h="476250">
                <a:tc>
                  <a:txBody>
                    <a:bodyPr/>
                    <a:lstStyle/>
                    <a:p>
                      <a:r>
                        <a:rPr sz="1500" b="0">
                          <a:solidFill>
                            <a:srgbClr val="000000"/>
                          </a:solidFill>
                          <a:latin typeface="Calibri" panose="020F0502020204030204" pitchFamily="34" charset="0"/>
                          <a:ea typeface="Calibri"/>
                          <a:cs typeface="Calibri"/>
                        </a:rPr>
                        <a:t>Empty mass with fixed 55 hp / kg</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500" b="0">
                          <a:solidFill>
                            <a:srgbClr val="000000"/>
                          </a:solidFill>
                          <a:latin typeface="Calibri" panose="020F0502020204030204" pitchFamily="34" charset="0"/>
                          <a:ea typeface="Calibri"/>
                          <a:cs typeface="Calibri"/>
                        </a:rPr>
                        <a:t>130.0 assumed</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500" b="0">
                          <a:solidFill>
                            <a:srgbClr val="000000"/>
                          </a:solidFill>
                          <a:latin typeface="Calibri" panose="020F0502020204030204" pitchFamily="34" charset="0"/>
                          <a:ea typeface="Calibri"/>
                          <a:cs typeface="Calibri"/>
                        </a:rPr>
                        <a:t>146.0 predicted</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500" b="0" dirty="0">
                          <a:solidFill>
                            <a:srgbClr val="000000"/>
                          </a:solidFill>
                          <a:latin typeface="Calibri" panose="020F0502020204030204" pitchFamily="34" charset="0"/>
                          <a:ea typeface="Calibri"/>
                          <a:cs typeface="Calibri"/>
                        </a:rPr>
                        <a:t>141.9 predicted</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extLst>
                  <a:ext uri="{0D108BD9-81ED-4DB2-BD59-A6C34878D82A}">
                    <a16:rowId xmlns:a16="http://schemas.microsoft.com/office/drawing/2014/main" val="10004"/>
                  </a:ext>
                </a:extLst>
              </a:tr>
              <a:tr h="476250">
                <a:tc>
                  <a:txBody>
                    <a:bodyPr/>
                    <a:lstStyle/>
                    <a:p>
                      <a:r>
                        <a:rPr sz="1500" b="0">
                          <a:solidFill>
                            <a:srgbClr val="000000"/>
                          </a:solidFill>
                          <a:latin typeface="Calibri" panose="020F0502020204030204" pitchFamily="34" charset="0"/>
                          <a:ea typeface="Calibri"/>
                          <a:cs typeface="Calibri"/>
                        </a:rPr>
                        <a:t>Takeoff fuel with fixed 55 hp / kg</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500" b="0">
                          <a:solidFill>
                            <a:srgbClr val="000000"/>
                          </a:solidFill>
                          <a:latin typeface="Calibri" panose="020F0502020204030204" pitchFamily="34" charset="0"/>
                          <a:ea typeface="Calibri"/>
                          <a:cs typeface="Calibri"/>
                        </a:rPr>
                        <a:t>49.0 budget</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500" b="0">
                          <a:solidFill>
                            <a:srgbClr val="000000"/>
                          </a:solidFill>
                          <a:latin typeface="Calibri" panose="020F0502020204030204" pitchFamily="34" charset="0"/>
                          <a:ea typeface="Calibri"/>
                          <a:cs typeface="Calibri"/>
                        </a:rPr>
                        <a:t>23.9 required</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500" b="0" dirty="0">
                          <a:solidFill>
                            <a:srgbClr val="000000"/>
                          </a:solidFill>
                          <a:latin typeface="Calibri" panose="020F0502020204030204" pitchFamily="34" charset="0"/>
                          <a:ea typeface="Calibri"/>
                          <a:cs typeface="Calibri"/>
                        </a:rPr>
                        <a:t>23.3 required</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extLst>
                  <a:ext uri="{0D108BD9-81ED-4DB2-BD59-A6C34878D82A}">
                    <a16:rowId xmlns:a16="http://schemas.microsoft.com/office/drawing/2014/main" val="10005"/>
                  </a:ext>
                </a:extLst>
              </a:tr>
            </a:tbl>
          </a:graphicData>
        </a:graphic>
      </p:graphicFrame>
      <p:sp>
        <p:nvSpPr>
          <p:cNvPr id="13" name="Rectangle 12">
            <a:extLst>
              <a:ext uri="{FF2B5EF4-FFF2-40B4-BE49-F238E27FC236}">
                <a16:creationId xmlns:a16="http://schemas.microsoft.com/office/drawing/2014/main" id="{DFC5DC7D-FFF0-4B1F-AFF2-DA75E82270E0}"/>
              </a:ext>
            </a:extLst>
          </p:cNvPr>
          <p:cNvSpPr>
            <a:spLocks noGrp="1"/>
          </p:cNvSpPr>
          <p:nvPr/>
        </p:nvSpPr>
        <p:spPr>
          <a:xfrm>
            <a:off x="476250" y="4762500"/>
            <a:ext cx="11239500" cy="314325"/>
          </a:xfrm>
          <a:prstGeom prst="rect">
            <a:avLst/>
          </a:prstGeom>
          <a:noFill/>
          <a:ln w="0">
            <a:noFill/>
            <a:prstDash val="solid"/>
          </a:ln>
        </p:spPr>
        <p:txBody>
          <a:bodyPr lIns="0" tIns="0" rIns="0" bIns="0"/>
          <a:lstStyle>
            <a:defPPr>
              <a:defRPr sz="1725" b="1">
                <a:solidFill>
                  <a:srgbClr val="000000"/>
                </a:solidFill>
                <a:latin typeface="Calibri"/>
                <a:ea typeface="Calibri"/>
                <a:cs typeface="Calibri"/>
              </a:defRPr>
            </a:defPPr>
            <a:lvl1pPr>
              <a:defRPr sz="1725" b="1">
                <a:solidFill>
                  <a:srgbClr val="000000"/>
                </a:solidFill>
                <a:latin typeface="Calibri"/>
                <a:ea typeface="Calibri"/>
                <a:cs typeface="Calibri"/>
              </a:defRPr>
            </a:lvl1pPr>
            <a:lvl2pPr>
              <a:defRPr sz="1725" b="1">
                <a:solidFill>
                  <a:srgbClr val="000000"/>
                </a:solidFill>
                <a:latin typeface="Calibri"/>
                <a:ea typeface="Calibri"/>
                <a:cs typeface="Calibri"/>
              </a:defRPr>
            </a:lvl2pPr>
            <a:lvl3pPr>
              <a:defRPr sz="1725" b="1">
                <a:solidFill>
                  <a:srgbClr val="000000"/>
                </a:solidFill>
                <a:latin typeface="Calibri"/>
                <a:ea typeface="Calibri"/>
                <a:cs typeface="Calibri"/>
              </a:defRPr>
            </a:lvl3pPr>
            <a:lvl4pPr>
              <a:defRPr sz="1725" b="1">
                <a:solidFill>
                  <a:srgbClr val="000000"/>
                </a:solidFill>
                <a:latin typeface="Calibri"/>
                <a:ea typeface="Calibri"/>
                <a:cs typeface="Calibri"/>
              </a:defRPr>
            </a:lvl4pPr>
            <a:lvl5pPr>
              <a:defRPr sz="1725" b="1">
                <a:solidFill>
                  <a:srgbClr val="000000"/>
                </a:solidFill>
                <a:latin typeface="Calibri"/>
                <a:ea typeface="Calibri"/>
                <a:cs typeface="Calibri"/>
              </a:defRPr>
            </a:lvl5pPr>
            <a:lvl6pPr>
              <a:defRPr sz="1725" b="1">
                <a:solidFill>
                  <a:srgbClr val="000000"/>
                </a:solidFill>
                <a:latin typeface="Calibri"/>
                <a:ea typeface="Calibri"/>
                <a:cs typeface="Calibri"/>
              </a:defRPr>
            </a:lvl6pPr>
            <a:lvl7pPr>
              <a:defRPr sz="1725" b="1">
                <a:solidFill>
                  <a:srgbClr val="000000"/>
                </a:solidFill>
                <a:latin typeface="Calibri"/>
                <a:ea typeface="Calibri"/>
                <a:cs typeface="Calibri"/>
              </a:defRPr>
            </a:lvl7pPr>
            <a:lvl8pPr>
              <a:defRPr sz="1725" b="1">
                <a:solidFill>
                  <a:srgbClr val="000000"/>
                </a:solidFill>
                <a:latin typeface="Calibri"/>
                <a:ea typeface="Calibri"/>
                <a:cs typeface="Calibri"/>
              </a:defRPr>
            </a:lvl8pPr>
            <a:lvl9pPr>
              <a:defRPr sz="1725" b="1">
                <a:solidFill>
                  <a:srgbClr val="000000"/>
                </a:solidFill>
                <a:latin typeface="Calibri"/>
                <a:ea typeface="Calibri"/>
                <a:cs typeface="Calibri"/>
              </a:defRPr>
            </a:lvl9pPr>
          </a:lstStyle>
          <a:p>
            <a:pPr>
              <a:defRPr sz="1725" b="1">
                <a:solidFill>
                  <a:srgbClr val="000000"/>
                </a:solidFill>
                <a:latin typeface="Calibri"/>
                <a:ea typeface="Calibri"/>
                <a:cs typeface="Calibri"/>
              </a:defRPr>
            </a:pPr>
            <a:r>
              <a:rPr sz="1725" b="1">
                <a:solidFill>
                  <a:srgbClr val="000000"/>
                </a:solidFill>
                <a:latin typeface="Calibri" panose="020F0502020204030204" pitchFamily="34" charset="0"/>
                <a:ea typeface="Calibri"/>
                <a:cs typeface="Calibri"/>
              </a:rPr>
              <a:t>Fixed-geometry mass reconciliation [S4]</a:t>
            </a:r>
          </a:p>
        </p:txBody>
      </p:sp>
      <p:sp>
        <p:nvSpPr>
          <p:cNvPr id="14" name="Rectangle 13">
            <a:extLst>
              <a:ext uri="{FF2B5EF4-FFF2-40B4-BE49-F238E27FC236}">
                <a16:creationId xmlns:a16="http://schemas.microsoft.com/office/drawing/2014/main" id="{4B4EB287-54DB-1E69-0EA8-F894AF4DA77B}"/>
              </a:ext>
            </a:extLst>
          </p:cNvPr>
          <p:cNvSpPr>
            <a:spLocks noGrp="1"/>
          </p:cNvSpPr>
          <p:nvPr/>
        </p:nvSpPr>
        <p:spPr>
          <a:xfrm>
            <a:off x="476250" y="5181600"/>
            <a:ext cx="11239500" cy="685800"/>
          </a:xfrm>
          <a:prstGeom prst="rect">
            <a:avLst/>
          </a:prstGeom>
          <a:noFill/>
          <a:ln w="0">
            <a:noFill/>
            <a:prstDash val="solid"/>
          </a:ln>
        </p:spPr>
        <p:txBody>
          <a:bodyPr lIns="0" tIns="0" rIns="0" bIns="0"/>
          <a:lstStyle>
            <a:defPPr>
              <a:defRPr sz="1650" b="0">
                <a:solidFill>
                  <a:srgbClr val="000000"/>
                </a:solidFill>
                <a:latin typeface="Calibri"/>
                <a:ea typeface="Calibri"/>
                <a:cs typeface="Calibri"/>
              </a:defRPr>
            </a:defPPr>
            <a:lvl1pPr>
              <a:defRPr sz="1650" b="0">
                <a:solidFill>
                  <a:srgbClr val="000000"/>
                </a:solidFill>
                <a:latin typeface="Calibri"/>
                <a:ea typeface="Calibri"/>
                <a:cs typeface="Calibri"/>
              </a:defRPr>
            </a:lvl1pPr>
            <a:lvl2pPr>
              <a:defRPr sz="1650" b="0">
                <a:solidFill>
                  <a:srgbClr val="000000"/>
                </a:solidFill>
                <a:latin typeface="Calibri"/>
                <a:ea typeface="Calibri"/>
                <a:cs typeface="Calibri"/>
              </a:defRPr>
            </a:lvl2pPr>
            <a:lvl3pPr>
              <a:defRPr sz="1650" b="0">
                <a:solidFill>
                  <a:srgbClr val="000000"/>
                </a:solidFill>
                <a:latin typeface="Calibri"/>
                <a:ea typeface="Calibri"/>
                <a:cs typeface="Calibri"/>
              </a:defRPr>
            </a:lvl3pPr>
            <a:lvl4pPr>
              <a:defRPr sz="1650" b="0">
                <a:solidFill>
                  <a:srgbClr val="000000"/>
                </a:solidFill>
                <a:latin typeface="Calibri"/>
                <a:ea typeface="Calibri"/>
                <a:cs typeface="Calibri"/>
              </a:defRPr>
            </a:lvl4pPr>
            <a:lvl5pPr>
              <a:defRPr sz="1650" b="0">
                <a:solidFill>
                  <a:srgbClr val="000000"/>
                </a:solidFill>
                <a:latin typeface="Calibri"/>
                <a:ea typeface="Calibri"/>
                <a:cs typeface="Calibri"/>
              </a:defRPr>
            </a:lvl5pPr>
            <a:lvl6pPr>
              <a:defRPr sz="1650" b="0">
                <a:solidFill>
                  <a:srgbClr val="000000"/>
                </a:solidFill>
                <a:latin typeface="Calibri"/>
                <a:ea typeface="Calibri"/>
                <a:cs typeface="Calibri"/>
              </a:defRPr>
            </a:lvl6pPr>
            <a:lvl7pPr>
              <a:defRPr sz="1650" b="0">
                <a:solidFill>
                  <a:srgbClr val="000000"/>
                </a:solidFill>
                <a:latin typeface="Calibri"/>
                <a:ea typeface="Calibri"/>
                <a:cs typeface="Calibri"/>
              </a:defRPr>
            </a:lvl7pPr>
            <a:lvl8pPr>
              <a:defRPr sz="1650" b="0">
                <a:solidFill>
                  <a:srgbClr val="000000"/>
                </a:solidFill>
                <a:latin typeface="Calibri"/>
                <a:ea typeface="Calibri"/>
                <a:cs typeface="Calibri"/>
              </a:defRPr>
            </a:lvl8pPr>
            <a:lvl9pPr>
              <a:defRPr sz="1650" b="0">
                <a:solidFill>
                  <a:srgbClr val="000000"/>
                </a:solidFill>
                <a:latin typeface="Calibri"/>
                <a:ea typeface="Calibri"/>
                <a:cs typeface="Calibri"/>
              </a:defRPr>
            </a:lvl9pPr>
          </a:lstStyle>
          <a:p>
            <a:pPr>
              <a:defRPr sz="1650" b="0">
                <a:solidFill>
                  <a:srgbClr val="000000"/>
                </a:solidFill>
                <a:latin typeface="Calibri"/>
                <a:ea typeface="Calibri"/>
                <a:cs typeface="Calibri"/>
              </a:defRPr>
            </a:pPr>
            <a:r>
              <a:rPr sz="1650" b="0">
                <a:solidFill>
                  <a:srgbClr val="000000"/>
                </a:solidFill>
                <a:latin typeface="Calibri" panose="020F0502020204030204" pitchFamily="34" charset="0"/>
                <a:ea typeface="Calibri"/>
                <a:cs typeface="Calibri"/>
              </a:rPr>
              <a:t>190.9 − 200.0 ≈ +16.0 kg empty weight − 25.1 kg fuel. Payload and fixed useful load are unchanged. The lighter result is not evidence of lighter actual structures.</a:t>
            </a:r>
          </a:p>
        </p:txBody>
      </p:sp>
      <p:sp>
        <p:nvSpPr>
          <p:cNvPr id="15" name="Rectangle 14">
            <a:extLst>
              <a:ext uri="{FF2B5EF4-FFF2-40B4-BE49-F238E27FC236}">
                <a16:creationId xmlns:a16="http://schemas.microsoft.com/office/drawing/2014/main" id="{1527E986-F3C8-1C47-B2AC-3CB8EA217ED6}"/>
              </a:ext>
            </a:extLst>
          </p:cNvPr>
          <p:cNvSpPr>
            <a:spLocks noGrp="1"/>
          </p:cNvSpPr>
          <p:nvPr/>
        </p:nvSpPr>
        <p:spPr>
          <a:xfrm>
            <a:off x="476250" y="6400800"/>
            <a:ext cx="10810875" cy="381000"/>
          </a:xfrm>
          <a:prstGeom prst="rect">
            <a:avLst/>
          </a:prstGeom>
          <a:noFill/>
          <a:ln w="0">
            <a:noFill/>
            <a:prstDash val="solid"/>
          </a:ln>
        </p:spPr>
        <p:txBody>
          <a:bodyPr lIns="0" tIns="0" rIns="0" bIns="0"/>
          <a:lstStyle>
            <a:defPPr>
              <a:defRPr sz="1125" b="0">
                <a:solidFill>
                  <a:srgbClr val="444444"/>
                </a:solidFill>
                <a:latin typeface="Calibri"/>
                <a:ea typeface="Calibri"/>
                <a:cs typeface="Calibri"/>
              </a:defRPr>
            </a:defPPr>
            <a:lvl1pPr>
              <a:defRPr sz="1125" b="0">
                <a:solidFill>
                  <a:srgbClr val="444444"/>
                </a:solidFill>
                <a:latin typeface="Calibri"/>
                <a:ea typeface="Calibri"/>
                <a:cs typeface="Calibri"/>
              </a:defRPr>
            </a:lvl1pPr>
            <a:lvl2pPr>
              <a:defRPr sz="1125" b="0">
                <a:solidFill>
                  <a:srgbClr val="444444"/>
                </a:solidFill>
                <a:latin typeface="Calibri"/>
                <a:ea typeface="Calibri"/>
                <a:cs typeface="Calibri"/>
              </a:defRPr>
            </a:lvl2pPr>
            <a:lvl3pPr>
              <a:defRPr sz="1125" b="0">
                <a:solidFill>
                  <a:srgbClr val="444444"/>
                </a:solidFill>
                <a:latin typeface="Calibri"/>
                <a:ea typeface="Calibri"/>
                <a:cs typeface="Calibri"/>
              </a:defRPr>
            </a:lvl3pPr>
            <a:lvl4pPr>
              <a:defRPr sz="1125" b="0">
                <a:solidFill>
                  <a:srgbClr val="444444"/>
                </a:solidFill>
                <a:latin typeface="Calibri"/>
                <a:ea typeface="Calibri"/>
                <a:cs typeface="Calibri"/>
              </a:defRPr>
            </a:lvl4pPr>
            <a:lvl5pPr>
              <a:defRPr sz="1125" b="0">
                <a:solidFill>
                  <a:srgbClr val="444444"/>
                </a:solidFill>
                <a:latin typeface="Calibri"/>
                <a:ea typeface="Calibri"/>
                <a:cs typeface="Calibri"/>
              </a:defRPr>
            </a:lvl5pPr>
            <a:lvl6pPr>
              <a:defRPr sz="1125" b="0">
                <a:solidFill>
                  <a:srgbClr val="444444"/>
                </a:solidFill>
                <a:latin typeface="Calibri"/>
                <a:ea typeface="Calibri"/>
                <a:cs typeface="Calibri"/>
              </a:defRPr>
            </a:lvl6pPr>
            <a:lvl7pPr>
              <a:defRPr sz="1125" b="0">
                <a:solidFill>
                  <a:srgbClr val="444444"/>
                </a:solidFill>
                <a:latin typeface="Calibri"/>
                <a:ea typeface="Calibri"/>
                <a:cs typeface="Calibri"/>
              </a:defRPr>
            </a:lvl7pPr>
            <a:lvl8pPr>
              <a:defRPr sz="1125" b="0">
                <a:solidFill>
                  <a:srgbClr val="444444"/>
                </a:solidFill>
                <a:latin typeface="Calibri"/>
                <a:ea typeface="Calibri"/>
                <a:cs typeface="Calibri"/>
              </a:defRPr>
            </a:lvl8pPr>
            <a:lvl9pPr>
              <a:defRPr sz="1125" b="0">
                <a:solidFill>
                  <a:srgbClr val="444444"/>
                </a:solidFill>
                <a:latin typeface="Calibri"/>
                <a:ea typeface="Calibri"/>
                <a:cs typeface="Calibri"/>
              </a:defRPr>
            </a:lvl9pPr>
          </a:lstStyle>
          <a:p>
            <a:pPr>
              <a:defRPr sz="1125" b="0">
                <a:solidFill>
                  <a:srgbClr val="444444"/>
                </a:solidFill>
                <a:latin typeface="Calibri"/>
                <a:ea typeface="Calibri"/>
                <a:cs typeface="Calibri"/>
              </a:defRPr>
            </a:pPr>
            <a:r>
              <a:rPr sz="1125" b="0">
                <a:solidFill>
                  <a:srgbClr val="444444"/>
                </a:solidFill>
                <a:latin typeface="Calibri" panose="020F0502020204030204" pitchFamily="34" charset="0"/>
                <a:ea typeface="Calibri"/>
                <a:cs typeface="Calibri"/>
              </a:rPr>
              <a:t>[R3] Kang / KARI (2015), TR60 specifications, slide 6. [S4] TR60 reconstruction and logged fixed-55-hp tests, 27 Oct 2026.</a:t>
            </a:r>
          </a:p>
          <a:p>
            <a:pPr>
              <a:defRPr sz="1125" b="0">
                <a:solidFill>
                  <a:srgbClr val="444444"/>
                </a:solidFill>
                <a:latin typeface="Calibri"/>
                <a:ea typeface="Calibri"/>
                <a:cs typeface="Calibri"/>
              </a:defRPr>
            </a:pPr>
            <a:r>
              <a:rPr sz="1125" b="0">
                <a:solidFill>
                  <a:srgbClr val="444444"/>
                </a:solidFill>
                <a:latin typeface="Calibri" panose="020F0502020204030204" pitchFamily="34" charset="0"/>
                <a:ea typeface="Calibri"/>
                <a:cs typeface="Calibri"/>
              </a:rPr>
              <a:t>Same 55 hp surrogate, not a measured engine match. Simplified sea-level mission omits climb, transition, reserve and wind.</a:t>
            </a:r>
          </a:p>
        </p:txBody>
      </p:sp>
      <p:sp>
        <p:nvSpPr>
          <p:cNvPr id="2" name="TextBox 1">
            <a:extLst>
              <a:ext uri="{FF2B5EF4-FFF2-40B4-BE49-F238E27FC236}">
                <a16:creationId xmlns:a16="http://schemas.microsoft.com/office/drawing/2014/main" id="{0F4DA08D-F073-2218-85F2-39798F910A5B}"/>
              </a:ext>
            </a:extLst>
          </p:cNvPr>
          <p:cNvSpPr txBox="1"/>
          <p:nvPr/>
        </p:nvSpPr>
        <p:spPr>
          <a:xfrm>
            <a:off x="11671300" y="6527800"/>
            <a:ext cx="355600" cy="153888"/>
          </a:xfrm>
          <a:prstGeom prst="rect">
            <a:avLst/>
          </a:prstGeom>
          <a:noFill/>
        </p:spPr>
        <p:txBody>
          <a:bodyPr vert="horz" lIns="0" tIns="0" rIns="0" bIns="0" rtlCol="0">
            <a:spAutoFit/>
          </a:bodyPr>
          <a:lstStyle/>
          <a:p>
            <a:r>
              <a:rPr lang="en-US" sz="1000">
                <a:solidFill>
                  <a:srgbClr val="000000"/>
                </a:solidFill>
                <a:latin typeface="Calibri" panose="020F0502020204030204" pitchFamily="34" charset="0"/>
              </a:rPr>
              <a:t>16</a:t>
            </a:r>
          </a:p>
        </p:txBody>
      </p:sp>
    </p:spTree>
    <p:extLst>
      <p:ext uri="{BB962C8B-B14F-4D97-AF65-F5344CB8AC3E}">
        <p14:creationId xmlns:p14="http://schemas.microsoft.com/office/powerpoint/2010/main" val="1030010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723636E-53AE-8BCF-3046-E92B6E8BF58B}"/>
              </a:ext>
            </a:extLst>
          </p:cNvPr>
          <p:cNvSpPr>
            <a:spLocks noGrp="1"/>
          </p:cNvSpPr>
          <p:nvPr/>
        </p:nvSpPr>
        <p:spPr>
          <a:xfrm>
            <a:off x="838200" y="361950"/>
            <a:ext cx="10896600" cy="495300"/>
          </a:xfrm>
          <a:prstGeom prst="rect">
            <a:avLst/>
          </a:prstGeom>
          <a:noFill/>
          <a:ln w="0">
            <a:noFill/>
            <a:prstDash val="solid"/>
          </a:ln>
        </p:spPr>
        <p:txBody>
          <a:bodyPr lIns="0" tIns="0" rIns="0" bIns="0"/>
          <a:lstStyle>
            <a:defPPr>
              <a:defRPr sz="2400" b="1">
                <a:solidFill>
                  <a:srgbClr val="000000"/>
                </a:solidFill>
                <a:latin typeface="Calibri"/>
                <a:ea typeface="Calibri"/>
                <a:cs typeface="Calibri"/>
              </a:defRPr>
            </a:defPPr>
            <a:lvl1pPr>
              <a:defRPr sz="2400" b="1">
                <a:solidFill>
                  <a:srgbClr val="000000"/>
                </a:solidFill>
                <a:latin typeface="Calibri"/>
                <a:ea typeface="Calibri"/>
                <a:cs typeface="Calibri"/>
              </a:defRPr>
            </a:lvl1pPr>
            <a:lvl2pPr>
              <a:defRPr sz="2400" b="1">
                <a:solidFill>
                  <a:srgbClr val="000000"/>
                </a:solidFill>
                <a:latin typeface="Calibri"/>
                <a:ea typeface="Calibri"/>
                <a:cs typeface="Calibri"/>
              </a:defRPr>
            </a:lvl2pPr>
            <a:lvl3pPr>
              <a:defRPr sz="2400" b="1">
                <a:solidFill>
                  <a:srgbClr val="000000"/>
                </a:solidFill>
                <a:latin typeface="Calibri"/>
                <a:ea typeface="Calibri"/>
                <a:cs typeface="Calibri"/>
              </a:defRPr>
            </a:lvl3pPr>
            <a:lvl4pPr>
              <a:defRPr sz="2400" b="1">
                <a:solidFill>
                  <a:srgbClr val="000000"/>
                </a:solidFill>
                <a:latin typeface="Calibri"/>
                <a:ea typeface="Calibri"/>
                <a:cs typeface="Calibri"/>
              </a:defRPr>
            </a:lvl4pPr>
            <a:lvl5pPr>
              <a:defRPr sz="2400" b="1">
                <a:solidFill>
                  <a:srgbClr val="000000"/>
                </a:solidFill>
                <a:latin typeface="Calibri"/>
                <a:ea typeface="Calibri"/>
                <a:cs typeface="Calibri"/>
              </a:defRPr>
            </a:lvl5pPr>
            <a:lvl6pPr>
              <a:defRPr sz="2400" b="1">
                <a:solidFill>
                  <a:srgbClr val="000000"/>
                </a:solidFill>
                <a:latin typeface="Calibri"/>
                <a:ea typeface="Calibri"/>
                <a:cs typeface="Calibri"/>
              </a:defRPr>
            </a:lvl6pPr>
            <a:lvl7pPr>
              <a:defRPr sz="2400" b="1">
                <a:solidFill>
                  <a:srgbClr val="000000"/>
                </a:solidFill>
                <a:latin typeface="Calibri"/>
                <a:ea typeface="Calibri"/>
                <a:cs typeface="Calibri"/>
              </a:defRPr>
            </a:lvl7pPr>
            <a:lvl8pPr>
              <a:defRPr sz="2400" b="1">
                <a:solidFill>
                  <a:srgbClr val="000000"/>
                </a:solidFill>
                <a:latin typeface="Calibri"/>
                <a:ea typeface="Calibri"/>
                <a:cs typeface="Calibri"/>
              </a:defRPr>
            </a:lvl8pPr>
            <a:lvl9pPr>
              <a:defRPr sz="2400" b="1">
                <a:solidFill>
                  <a:srgbClr val="000000"/>
                </a:solidFill>
                <a:latin typeface="Calibri"/>
                <a:ea typeface="Calibri"/>
                <a:cs typeface="Calibri"/>
              </a:defRPr>
            </a:lvl9pPr>
          </a:lstStyle>
          <a:p>
            <a:pPr>
              <a:defRPr sz="2400" b="1">
                <a:solidFill>
                  <a:srgbClr val="000000"/>
                </a:solidFill>
                <a:latin typeface="Calibri"/>
                <a:ea typeface="Calibri"/>
                <a:cs typeface="Calibri"/>
              </a:defRPr>
            </a:pPr>
            <a:r>
              <a:rPr b="1">
                <a:latin typeface="Calibri" panose="020F0502020204030204" pitchFamily="34" charset="0"/>
                <a:ea typeface="Calibri"/>
                <a:cs typeface="Calibri"/>
              </a:rPr>
              <a:t>Assumptions and Sizing Method</a:t>
            </a:r>
          </a:p>
        </p:txBody>
      </p:sp>
      <p:sp>
        <p:nvSpPr>
          <p:cNvPr id="3" name="Rectangle 2">
            <a:extLst>
              <a:ext uri="{FF2B5EF4-FFF2-40B4-BE49-F238E27FC236}">
                <a16:creationId xmlns:a16="http://schemas.microsoft.com/office/drawing/2014/main" id="{5B147257-A11D-9F51-675F-130F71F13B34}"/>
              </a:ext>
            </a:extLst>
          </p:cNvPr>
          <p:cNvSpPr>
            <a:spLocks noGrp="1"/>
          </p:cNvSpPr>
          <p:nvPr/>
        </p:nvSpPr>
        <p:spPr>
          <a:xfrm>
            <a:off x="476250" y="895350"/>
            <a:ext cx="11239500" cy="523875"/>
          </a:xfrm>
          <a:prstGeom prst="rect">
            <a:avLst/>
          </a:prstGeom>
          <a:noFill/>
          <a:ln w="0">
            <a:noFill/>
            <a:prstDash val="solid"/>
          </a:ln>
        </p:spPr>
        <p:txBody>
          <a:bodyPr lIns="0" tIns="0" rIns="0" bIns="0"/>
          <a:lstStyle>
            <a:defPPr>
              <a:defRPr sz="1575" b="0">
                <a:solidFill>
                  <a:srgbClr val="444444"/>
                </a:solidFill>
                <a:latin typeface="Calibri"/>
                <a:ea typeface="Calibri"/>
                <a:cs typeface="Calibri"/>
              </a:defRPr>
            </a:defPPr>
            <a:lvl1pPr>
              <a:defRPr sz="1575" b="0">
                <a:solidFill>
                  <a:srgbClr val="444444"/>
                </a:solidFill>
                <a:latin typeface="Calibri"/>
                <a:ea typeface="Calibri"/>
                <a:cs typeface="Calibri"/>
              </a:defRPr>
            </a:lvl1pPr>
            <a:lvl2pPr>
              <a:defRPr sz="1575" b="0">
                <a:solidFill>
                  <a:srgbClr val="444444"/>
                </a:solidFill>
                <a:latin typeface="Calibri"/>
                <a:ea typeface="Calibri"/>
                <a:cs typeface="Calibri"/>
              </a:defRPr>
            </a:lvl2pPr>
            <a:lvl3pPr>
              <a:defRPr sz="1575" b="0">
                <a:solidFill>
                  <a:srgbClr val="444444"/>
                </a:solidFill>
                <a:latin typeface="Calibri"/>
                <a:ea typeface="Calibri"/>
                <a:cs typeface="Calibri"/>
              </a:defRPr>
            </a:lvl3pPr>
            <a:lvl4pPr>
              <a:defRPr sz="1575" b="0">
                <a:solidFill>
                  <a:srgbClr val="444444"/>
                </a:solidFill>
                <a:latin typeface="Calibri"/>
                <a:ea typeface="Calibri"/>
                <a:cs typeface="Calibri"/>
              </a:defRPr>
            </a:lvl4pPr>
            <a:lvl5pPr>
              <a:defRPr sz="1575" b="0">
                <a:solidFill>
                  <a:srgbClr val="444444"/>
                </a:solidFill>
                <a:latin typeface="Calibri"/>
                <a:ea typeface="Calibri"/>
                <a:cs typeface="Calibri"/>
              </a:defRPr>
            </a:lvl5pPr>
            <a:lvl6pPr>
              <a:defRPr sz="1575" b="0">
                <a:solidFill>
                  <a:srgbClr val="444444"/>
                </a:solidFill>
                <a:latin typeface="Calibri"/>
                <a:ea typeface="Calibri"/>
                <a:cs typeface="Calibri"/>
              </a:defRPr>
            </a:lvl6pPr>
            <a:lvl7pPr>
              <a:defRPr sz="1575" b="0">
                <a:solidFill>
                  <a:srgbClr val="444444"/>
                </a:solidFill>
                <a:latin typeface="Calibri"/>
                <a:ea typeface="Calibri"/>
                <a:cs typeface="Calibri"/>
              </a:defRPr>
            </a:lvl7pPr>
            <a:lvl8pPr>
              <a:defRPr sz="1575" b="0">
                <a:solidFill>
                  <a:srgbClr val="444444"/>
                </a:solidFill>
                <a:latin typeface="Calibri"/>
                <a:ea typeface="Calibri"/>
                <a:cs typeface="Calibri"/>
              </a:defRPr>
            </a:lvl8pPr>
            <a:lvl9pPr>
              <a:defRPr sz="1575" b="0">
                <a:solidFill>
                  <a:srgbClr val="444444"/>
                </a:solidFill>
                <a:latin typeface="Calibri"/>
                <a:ea typeface="Calibri"/>
                <a:cs typeface="Calibri"/>
              </a:defRPr>
            </a:lvl9pPr>
          </a:lstStyle>
          <a:p>
            <a:pPr>
              <a:defRPr sz="1575" b="0">
                <a:solidFill>
                  <a:srgbClr val="444444"/>
                </a:solidFill>
                <a:latin typeface="Calibri"/>
                <a:ea typeface="Calibri"/>
                <a:cs typeface="Calibri"/>
              </a:defRPr>
            </a:pPr>
            <a:r>
              <a:rPr sz="1575" b="0">
                <a:solidFill>
                  <a:srgbClr val="000000"/>
                </a:solidFill>
                <a:latin typeface="Calibri" panose="020F0502020204030204" pitchFamily="34" charset="0"/>
                <a:ea typeface="Calibri"/>
                <a:cs typeface="Calibri"/>
              </a:rPr>
              <a:t>CAUTION: Convergence does not establish feasibility</a:t>
            </a:r>
          </a:p>
        </p:txBody>
      </p:sp>
      <p:sp>
        <p:nvSpPr>
          <p:cNvPr id="4" name="Rectangle 3">
            <a:extLst>
              <a:ext uri="{FF2B5EF4-FFF2-40B4-BE49-F238E27FC236}">
                <a16:creationId xmlns:a16="http://schemas.microsoft.com/office/drawing/2014/main" id="{8B63615E-EA29-23EB-0106-12EDD9F0DC63}"/>
              </a:ext>
            </a:extLst>
          </p:cNvPr>
          <p:cNvSpPr>
            <a:spLocks noGrp="1"/>
          </p:cNvSpPr>
          <p:nvPr/>
        </p:nvSpPr>
        <p:spPr>
          <a:xfrm>
            <a:off x="11382375" y="6524625"/>
            <a:ext cx="333375" cy="219075"/>
          </a:xfrm>
          <a:prstGeom prst="rect">
            <a:avLst/>
          </a:prstGeom>
          <a:noFill/>
          <a:ln w="0">
            <a:noFill/>
            <a:prstDash val="solid"/>
          </a:ln>
        </p:spPr>
        <p:txBody>
          <a:bodyPr lIns="0" tIns="0" rIns="0" bIns="0"/>
          <a:lstStyle>
            <a:defPPr>
              <a:defRPr sz="1125" b="0">
                <a:solidFill>
                  <a:srgbClr val="444444"/>
                </a:solidFill>
                <a:latin typeface="Calibri"/>
                <a:ea typeface="Calibri"/>
                <a:cs typeface="Calibri"/>
              </a:defRPr>
            </a:defPPr>
            <a:lvl1pPr>
              <a:defRPr sz="1125" b="0">
                <a:solidFill>
                  <a:srgbClr val="444444"/>
                </a:solidFill>
                <a:latin typeface="Calibri"/>
                <a:ea typeface="Calibri"/>
                <a:cs typeface="Calibri"/>
              </a:defRPr>
            </a:lvl1pPr>
            <a:lvl2pPr>
              <a:defRPr sz="1125" b="0">
                <a:solidFill>
                  <a:srgbClr val="444444"/>
                </a:solidFill>
                <a:latin typeface="Calibri"/>
                <a:ea typeface="Calibri"/>
                <a:cs typeface="Calibri"/>
              </a:defRPr>
            </a:lvl2pPr>
            <a:lvl3pPr>
              <a:defRPr sz="1125" b="0">
                <a:solidFill>
                  <a:srgbClr val="444444"/>
                </a:solidFill>
                <a:latin typeface="Calibri"/>
                <a:ea typeface="Calibri"/>
                <a:cs typeface="Calibri"/>
              </a:defRPr>
            </a:lvl3pPr>
            <a:lvl4pPr>
              <a:defRPr sz="1125" b="0">
                <a:solidFill>
                  <a:srgbClr val="444444"/>
                </a:solidFill>
                <a:latin typeface="Calibri"/>
                <a:ea typeface="Calibri"/>
                <a:cs typeface="Calibri"/>
              </a:defRPr>
            </a:lvl4pPr>
            <a:lvl5pPr>
              <a:defRPr sz="1125" b="0">
                <a:solidFill>
                  <a:srgbClr val="444444"/>
                </a:solidFill>
                <a:latin typeface="Calibri"/>
                <a:ea typeface="Calibri"/>
                <a:cs typeface="Calibri"/>
              </a:defRPr>
            </a:lvl5pPr>
            <a:lvl6pPr>
              <a:defRPr sz="1125" b="0">
                <a:solidFill>
                  <a:srgbClr val="444444"/>
                </a:solidFill>
                <a:latin typeface="Calibri"/>
                <a:ea typeface="Calibri"/>
                <a:cs typeface="Calibri"/>
              </a:defRPr>
            </a:lvl6pPr>
            <a:lvl7pPr>
              <a:defRPr sz="1125" b="0">
                <a:solidFill>
                  <a:srgbClr val="444444"/>
                </a:solidFill>
                <a:latin typeface="Calibri"/>
                <a:ea typeface="Calibri"/>
                <a:cs typeface="Calibri"/>
              </a:defRPr>
            </a:lvl7pPr>
            <a:lvl8pPr>
              <a:defRPr sz="1125" b="0">
                <a:solidFill>
                  <a:srgbClr val="444444"/>
                </a:solidFill>
                <a:latin typeface="Calibri"/>
                <a:ea typeface="Calibri"/>
                <a:cs typeface="Calibri"/>
              </a:defRPr>
            </a:lvl8pPr>
            <a:lvl9pPr>
              <a:defRPr sz="1125" b="0">
                <a:solidFill>
                  <a:srgbClr val="444444"/>
                </a:solidFill>
                <a:latin typeface="Calibri"/>
                <a:ea typeface="Calibri"/>
                <a:cs typeface="Calibri"/>
              </a:defRPr>
            </a:lvl9pPr>
          </a:lstStyle>
          <a:p>
            <a:pPr>
              <a:defRPr sz="1125" b="0">
                <a:solidFill>
                  <a:srgbClr val="444444"/>
                </a:solidFill>
                <a:latin typeface="Calibri"/>
                <a:ea typeface="Calibri"/>
                <a:cs typeface="Calibri"/>
              </a:defRPr>
            </a:pPr>
            <a:endParaRPr sz="1125" b="0">
              <a:solidFill>
                <a:srgbClr val="000000"/>
              </a:solidFill>
              <a:latin typeface="Calibri" panose="020F0502020204030204" pitchFamily="34" charset="0"/>
              <a:ea typeface="Calibri"/>
              <a:cs typeface="Calibri"/>
            </a:endParaRPr>
          </a:p>
        </p:txBody>
      </p:sp>
      <p:sp>
        <p:nvSpPr>
          <p:cNvPr id="5" name="Rectangle 4">
            <a:extLst>
              <a:ext uri="{FF2B5EF4-FFF2-40B4-BE49-F238E27FC236}">
                <a16:creationId xmlns:a16="http://schemas.microsoft.com/office/drawing/2014/main" id="{2C61F71F-77E9-8077-516C-089E97F61CEC}"/>
              </a:ext>
            </a:extLst>
          </p:cNvPr>
          <p:cNvSpPr>
            <a:spLocks noGrp="1"/>
          </p:cNvSpPr>
          <p:nvPr/>
        </p:nvSpPr>
        <p:spPr>
          <a:xfrm>
            <a:off x="476250" y="1562100"/>
            <a:ext cx="11239500" cy="523875"/>
          </a:xfrm>
          <a:prstGeom prst="rect">
            <a:avLst/>
          </a:prstGeom>
          <a:noFill/>
          <a:ln w="0">
            <a:noFill/>
            <a:prstDash val="solid"/>
          </a:ln>
        </p:spPr>
        <p:txBody>
          <a:bodyPr lIns="0" tIns="0" rIns="0" bIns="0"/>
          <a:lstStyle>
            <a:defPPr>
              <a:defRPr sz="1800" b="1">
                <a:solidFill>
                  <a:srgbClr val="000000"/>
                </a:solidFill>
                <a:latin typeface="Calibri"/>
                <a:ea typeface="Calibri"/>
                <a:cs typeface="Calibri"/>
              </a:defRPr>
            </a:defPPr>
            <a:lvl1pPr>
              <a:defRPr sz="1800" b="1">
                <a:solidFill>
                  <a:srgbClr val="000000"/>
                </a:solidFill>
                <a:latin typeface="Calibri"/>
                <a:ea typeface="Calibri"/>
                <a:cs typeface="Calibri"/>
              </a:defRPr>
            </a:lvl1pPr>
            <a:lvl2pPr>
              <a:defRPr sz="1800" b="1">
                <a:solidFill>
                  <a:srgbClr val="000000"/>
                </a:solidFill>
                <a:latin typeface="Calibri"/>
                <a:ea typeface="Calibri"/>
                <a:cs typeface="Calibri"/>
              </a:defRPr>
            </a:lvl2pPr>
            <a:lvl3pPr>
              <a:defRPr sz="1800" b="1">
                <a:solidFill>
                  <a:srgbClr val="000000"/>
                </a:solidFill>
                <a:latin typeface="Calibri"/>
                <a:ea typeface="Calibri"/>
                <a:cs typeface="Calibri"/>
              </a:defRPr>
            </a:lvl3pPr>
            <a:lvl4pPr>
              <a:defRPr sz="1800" b="1">
                <a:solidFill>
                  <a:srgbClr val="000000"/>
                </a:solidFill>
                <a:latin typeface="Calibri"/>
                <a:ea typeface="Calibri"/>
                <a:cs typeface="Calibri"/>
              </a:defRPr>
            </a:lvl4pPr>
            <a:lvl5pPr>
              <a:defRPr sz="1800" b="1">
                <a:solidFill>
                  <a:srgbClr val="000000"/>
                </a:solidFill>
                <a:latin typeface="Calibri"/>
                <a:ea typeface="Calibri"/>
                <a:cs typeface="Calibri"/>
              </a:defRPr>
            </a:lvl5pPr>
            <a:lvl6pPr>
              <a:defRPr sz="1800" b="1">
                <a:solidFill>
                  <a:srgbClr val="000000"/>
                </a:solidFill>
                <a:latin typeface="Calibri"/>
                <a:ea typeface="Calibri"/>
                <a:cs typeface="Calibri"/>
              </a:defRPr>
            </a:lvl6pPr>
            <a:lvl7pPr>
              <a:defRPr sz="1800" b="1">
                <a:solidFill>
                  <a:srgbClr val="000000"/>
                </a:solidFill>
                <a:latin typeface="Calibri"/>
                <a:ea typeface="Calibri"/>
                <a:cs typeface="Calibri"/>
              </a:defRPr>
            </a:lvl7pPr>
            <a:lvl8pPr>
              <a:defRPr sz="1800" b="1">
                <a:solidFill>
                  <a:srgbClr val="000000"/>
                </a:solidFill>
                <a:latin typeface="Calibri"/>
                <a:ea typeface="Calibri"/>
                <a:cs typeface="Calibri"/>
              </a:defRPr>
            </a:lvl8pPr>
            <a:lvl9pPr>
              <a:defRPr sz="1800" b="1">
                <a:solidFill>
                  <a:srgbClr val="000000"/>
                </a:solidFill>
                <a:latin typeface="Calibri"/>
                <a:ea typeface="Calibri"/>
                <a:cs typeface="Calibri"/>
              </a:defRPr>
            </a:lvl9pPr>
          </a:lstStyle>
          <a:p>
            <a:pPr>
              <a:defRPr sz="1800" b="1">
                <a:solidFill>
                  <a:srgbClr val="000000"/>
                </a:solidFill>
                <a:latin typeface="Calibri"/>
                <a:ea typeface="Calibri"/>
                <a:cs typeface="Calibri"/>
              </a:defRPr>
            </a:pPr>
            <a:r>
              <a:rPr sz="1800" b="1">
                <a:latin typeface="Calibri" panose="020F0502020204030204" pitchFamily="34" charset="0"/>
                <a:ea typeface="Calibri"/>
                <a:cs typeface="Calibri"/>
              </a:rPr>
              <a:t>Mission inputs → DL / WL sweep → NDARC sizing → Convergence → Feasibility screens</a:t>
            </a:r>
          </a:p>
        </p:txBody>
      </p:sp>
      <p:sp>
        <p:nvSpPr>
          <p:cNvPr id="8" name="Rectangle 7">
            <a:extLst>
              <a:ext uri="{FF2B5EF4-FFF2-40B4-BE49-F238E27FC236}">
                <a16:creationId xmlns:a16="http://schemas.microsoft.com/office/drawing/2014/main" id="{4C1EF090-E4A7-5C1D-5BD2-081C2B5420F0}"/>
              </a:ext>
            </a:extLst>
          </p:cNvPr>
          <p:cNvSpPr>
            <a:spLocks noGrp="1"/>
          </p:cNvSpPr>
          <p:nvPr/>
        </p:nvSpPr>
        <p:spPr>
          <a:xfrm>
            <a:off x="476250" y="6400800"/>
            <a:ext cx="10810875" cy="381000"/>
          </a:xfrm>
          <a:prstGeom prst="rect">
            <a:avLst/>
          </a:prstGeom>
          <a:noFill/>
          <a:ln w="0">
            <a:noFill/>
            <a:prstDash val="solid"/>
          </a:ln>
        </p:spPr>
        <p:txBody>
          <a:bodyPr lIns="0" tIns="0" rIns="0" bIns="0"/>
          <a:lstStyle>
            <a:defPPr>
              <a:defRPr sz="1125" b="0">
                <a:solidFill>
                  <a:srgbClr val="444444"/>
                </a:solidFill>
                <a:latin typeface="Calibri"/>
                <a:ea typeface="Calibri"/>
                <a:cs typeface="Calibri"/>
              </a:defRPr>
            </a:defPPr>
            <a:lvl1pPr>
              <a:defRPr sz="1125" b="0">
                <a:solidFill>
                  <a:srgbClr val="444444"/>
                </a:solidFill>
                <a:latin typeface="Calibri"/>
                <a:ea typeface="Calibri"/>
                <a:cs typeface="Calibri"/>
              </a:defRPr>
            </a:lvl1pPr>
            <a:lvl2pPr>
              <a:defRPr sz="1125" b="0">
                <a:solidFill>
                  <a:srgbClr val="444444"/>
                </a:solidFill>
                <a:latin typeface="Calibri"/>
                <a:ea typeface="Calibri"/>
                <a:cs typeface="Calibri"/>
              </a:defRPr>
            </a:lvl2pPr>
            <a:lvl3pPr>
              <a:defRPr sz="1125" b="0">
                <a:solidFill>
                  <a:srgbClr val="444444"/>
                </a:solidFill>
                <a:latin typeface="Calibri"/>
                <a:ea typeface="Calibri"/>
                <a:cs typeface="Calibri"/>
              </a:defRPr>
            </a:lvl3pPr>
            <a:lvl4pPr>
              <a:defRPr sz="1125" b="0">
                <a:solidFill>
                  <a:srgbClr val="444444"/>
                </a:solidFill>
                <a:latin typeface="Calibri"/>
                <a:ea typeface="Calibri"/>
                <a:cs typeface="Calibri"/>
              </a:defRPr>
            </a:lvl4pPr>
            <a:lvl5pPr>
              <a:defRPr sz="1125" b="0">
                <a:solidFill>
                  <a:srgbClr val="444444"/>
                </a:solidFill>
                <a:latin typeface="Calibri"/>
                <a:ea typeface="Calibri"/>
                <a:cs typeface="Calibri"/>
              </a:defRPr>
            </a:lvl5pPr>
            <a:lvl6pPr>
              <a:defRPr sz="1125" b="0">
                <a:solidFill>
                  <a:srgbClr val="444444"/>
                </a:solidFill>
                <a:latin typeface="Calibri"/>
                <a:ea typeface="Calibri"/>
                <a:cs typeface="Calibri"/>
              </a:defRPr>
            </a:lvl6pPr>
            <a:lvl7pPr>
              <a:defRPr sz="1125" b="0">
                <a:solidFill>
                  <a:srgbClr val="444444"/>
                </a:solidFill>
                <a:latin typeface="Calibri"/>
                <a:ea typeface="Calibri"/>
                <a:cs typeface="Calibri"/>
              </a:defRPr>
            </a:lvl7pPr>
            <a:lvl8pPr>
              <a:defRPr sz="1125" b="0">
                <a:solidFill>
                  <a:srgbClr val="444444"/>
                </a:solidFill>
                <a:latin typeface="Calibri"/>
                <a:ea typeface="Calibri"/>
                <a:cs typeface="Calibri"/>
              </a:defRPr>
            </a:lvl8pPr>
            <a:lvl9pPr>
              <a:defRPr sz="1125" b="0">
                <a:solidFill>
                  <a:srgbClr val="444444"/>
                </a:solidFill>
                <a:latin typeface="Calibri"/>
                <a:ea typeface="Calibri"/>
                <a:cs typeface="Calibri"/>
              </a:defRPr>
            </a:lvl9pPr>
          </a:lstStyle>
          <a:p>
            <a:pPr>
              <a:defRPr sz="1125" b="0">
                <a:solidFill>
                  <a:srgbClr val="444444"/>
                </a:solidFill>
                <a:latin typeface="Calibri"/>
                <a:ea typeface="Calibri"/>
                <a:cs typeface="Calibri"/>
              </a:defRPr>
            </a:pPr>
            <a:endParaRPr sz="1125" b="0">
              <a:solidFill>
                <a:srgbClr val="000000"/>
              </a:solidFill>
              <a:latin typeface="Calibri" panose="020F0502020204030204" pitchFamily="34" charset="0"/>
              <a:ea typeface="Calibri"/>
              <a:cs typeface="Calibri"/>
            </a:endParaRPr>
          </a:p>
        </p:txBody>
      </p:sp>
      <p:sp>
        <p:nvSpPr>
          <p:cNvPr id="9" name="TextBox 8">
            <a:extLst>
              <a:ext uri="{FF2B5EF4-FFF2-40B4-BE49-F238E27FC236}">
                <a16:creationId xmlns:a16="http://schemas.microsoft.com/office/drawing/2014/main" id="{9A0DF329-6201-4B9E-6195-E2D5B6758C8E}"/>
              </a:ext>
            </a:extLst>
          </p:cNvPr>
          <p:cNvSpPr txBox="1"/>
          <p:nvPr/>
        </p:nvSpPr>
        <p:spPr>
          <a:xfrm>
            <a:off x="476250" y="6400800"/>
            <a:ext cx="11074400" cy="323165"/>
          </a:xfrm>
          <a:prstGeom prst="rect">
            <a:avLst/>
          </a:prstGeom>
          <a:noFill/>
        </p:spPr>
        <p:txBody>
          <a:bodyPr vert="horz" lIns="0" tIns="0" rIns="0" bIns="0" rtlCol="0">
            <a:spAutoFit/>
          </a:bodyPr>
          <a:lstStyle/>
          <a:p>
            <a:r>
              <a:rPr lang="en-US" sz="1050">
                <a:solidFill>
                  <a:srgbClr val="000000"/>
                </a:solidFill>
                <a:latin typeface="Calibri" panose="020F0502020204030204" pitchFamily="34" charset="0"/>
              </a:rPr>
              <a:t>[R9, S6] NDARC empirical rotor / airframe fits. [S2] P50B-based external battery proxy. [S7] Corrected sizing.
TE uses 35 kg electric-drive allowance and 86% shaft-to-rotor efficiency; no transient network or supplier qualification.</a:t>
            </a:r>
          </a:p>
        </p:txBody>
      </p:sp>
      <p:sp>
        <p:nvSpPr>
          <p:cNvPr id="10" name="TextBox 9">
            <a:extLst>
              <a:ext uri="{FF2B5EF4-FFF2-40B4-BE49-F238E27FC236}">
                <a16:creationId xmlns:a16="http://schemas.microsoft.com/office/drawing/2014/main" id="{4B0058AD-8936-A045-DC6A-0F90E7FDA688}"/>
              </a:ext>
            </a:extLst>
          </p:cNvPr>
          <p:cNvSpPr txBox="1"/>
          <p:nvPr/>
        </p:nvSpPr>
        <p:spPr>
          <a:xfrm>
            <a:off x="482600" y="2171700"/>
            <a:ext cx="11137900" cy="292388"/>
          </a:xfrm>
          <a:prstGeom prst="rect">
            <a:avLst/>
          </a:prstGeom>
          <a:noFill/>
        </p:spPr>
        <p:txBody>
          <a:bodyPr vert="horz" lIns="0" tIns="0" rIns="0" bIns="0" rtlCol="0">
            <a:spAutoFit/>
          </a:bodyPr>
          <a:lstStyle/>
          <a:p>
            <a:r>
              <a:rPr lang="en-US" sz="1900">
                <a:solidFill>
                  <a:srgbClr val="000000"/>
                </a:solidFill>
                <a:latin typeface="Calibri" panose="020F0502020204030204" pitchFamily="34" charset="0"/>
              </a:rPr>
              <a:t>Numerical checks: finite outputs and final sizing, mission, trim and rotor convergence.</a:t>
            </a:r>
          </a:p>
        </p:txBody>
      </p:sp>
      <p:sp>
        <p:nvSpPr>
          <p:cNvPr id="11" name="TextBox 10">
            <a:extLst>
              <a:ext uri="{FF2B5EF4-FFF2-40B4-BE49-F238E27FC236}">
                <a16:creationId xmlns:a16="http://schemas.microsoft.com/office/drawing/2014/main" id="{0249CEDB-87CB-9CDB-1223-55403CD071A8}"/>
              </a:ext>
            </a:extLst>
          </p:cNvPr>
          <p:cNvSpPr txBox="1"/>
          <p:nvPr/>
        </p:nvSpPr>
        <p:spPr>
          <a:xfrm>
            <a:off x="482600" y="2997200"/>
            <a:ext cx="11137900" cy="584775"/>
          </a:xfrm>
          <a:prstGeom prst="rect">
            <a:avLst/>
          </a:prstGeom>
          <a:noFill/>
        </p:spPr>
        <p:txBody>
          <a:bodyPr vert="horz" lIns="0" tIns="0" rIns="0" bIns="0" rtlCol="0">
            <a:spAutoFit/>
          </a:bodyPr>
          <a:lstStyle/>
          <a:p>
            <a:r>
              <a:rPr lang="en-US" sz="1900">
                <a:solidFill>
                  <a:srgbClr val="000000"/>
                </a:solidFill>
                <a:latin typeface="Calibri" panose="020F0502020204030204" pitchFamily="34" charset="0"/>
              </a:rPr>
              <a:t>Retained screens: power / drive, stall margin, motor torque and battery voltage, current, SOC and temperature. Wind and complete hardware matching remain open.</a:t>
            </a:r>
          </a:p>
        </p:txBody>
      </p:sp>
      <p:sp>
        <p:nvSpPr>
          <p:cNvPr id="12" name="TextBox 11">
            <a:extLst>
              <a:ext uri="{FF2B5EF4-FFF2-40B4-BE49-F238E27FC236}">
                <a16:creationId xmlns:a16="http://schemas.microsoft.com/office/drawing/2014/main" id="{86D5871E-324B-AA60-4B06-C9A81A0569CE}"/>
              </a:ext>
            </a:extLst>
          </p:cNvPr>
          <p:cNvSpPr txBox="1"/>
          <p:nvPr/>
        </p:nvSpPr>
        <p:spPr>
          <a:xfrm>
            <a:off x="482600" y="4140200"/>
            <a:ext cx="11137900" cy="584775"/>
          </a:xfrm>
          <a:prstGeom prst="rect">
            <a:avLst/>
          </a:prstGeom>
          <a:noFill/>
        </p:spPr>
        <p:txBody>
          <a:bodyPr vert="horz" lIns="0" tIns="0" rIns="0" bIns="0" rtlCol="0">
            <a:spAutoFit/>
          </a:bodyPr>
          <a:lstStyle/>
          <a:p>
            <a:r>
              <a:rPr lang="en-US" sz="1900">
                <a:solidFill>
                  <a:srgbClr val="000000"/>
                </a:solidFill>
                <a:latin typeface="Calibri" panose="020F0502020204030204" pitchFamily="34" charset="0"/>
              </a:rPr>
              <a:t>Main battery proxy: 95% initial SOC, 80% SOH, 90% capacity derating; 9.5C retrofit / 9C clean sheet. Limits: 3.0 V, 31% final SOC, 60°C.</a:t>
            </a:r>
          </a:p>
        </p:txBody>
      </p:sp>
      <p:sp>
        <p:nvSpPr>
          <p:cNvPr id="13" name="TextBox 12">
            <a:extLst>
              <a:ext uri="{FF2B5EF4-FFF2-40B4-BE49-F238E27FC236}">
                <a16:creationId xmlns:a16="http://schemas.microsoft.com/office/drawing/2014/main" id="{AD25759C-B0F1-58F0-F423-188A35FB21FA}"/>
              </a:ext>
            </a:extLst>
          </p:cNvPr>
          <p:cNvSpPr txBox="1"/>
          <p:nvPr/>
        </p:nvSpPr>
        <p:spPr>
          <a:xfrm>
            <a:off x="482600" y="5270500"/>
            <a:ext cx="11137900" cy="584775"/>
          </a:xfrm>
          <a:prstGeom prst="rect">
            <a:avLst/>
          </a:prstGeom>
          <a:noFill/>
        </p:spPr>
        <p:txBody>
          <a:bodyPr vert="horz" lIns="0" tIns="0" rIns="0" bIns="0" rtlCol="0">
            <a:spAutoFit/>
          </a:bodyPr>
          <a:lstStyle/>
          <a:p>
            <a:r>
              <a:rPr lang="en-US" sz="1900">
                <a:solidFill>
                  <a:srgbClr val="000000"/>
                </a:solidFill>
                <a:latin typeface="Calibri" panose="020F0502020204030204" pitchFamily="34" charset="0"/>
              </a:rPr>
              <a:t>Sources: inherited NDARC empirical rotor / airframe fits; P50B-based cell proxy. Turboelectric drive: 35 kg and 86% aggregate efficiency.</a:t>
            </a:r>
          </a:p>
        </p:txBody>
      </p:sp>
      <p:sp>
        <p:nvSpPr>
          <p:cNvPr id="14" name="TextBox 13">
            <a:extLst>
              <a:ext uri="{FF2B5EF4-FFF2-40B4-BE49-F238E27FC236}">
                <a16:creationId xmlns:a16="http://schemas.microsoft.com/office/drawing/2014/main" id="{E71C0A10-E443-C2BE-C714-DE6FF1EFE416}"/>
              </a:ext>
            </a:extLst>
          </p:cNvPr>
          <p:cNvSpPr txBox="1"/>
          <p:nvPr/>
        </p:nvSpPr>
        <p:spPr>
          <a:xfrm>
            <a:off x="11671300" y="6527800"/>
            <a:ext cx="355600" cy="153888"/>
          </a:xfrm>
          <a:prstGeom prst="rect">
            <a:avLst/>
          </a:prstGeom>
          <a:noFill/>
        </p:spPr>
        <p:txBody>
          <a:bodyPr vert="horz" lIns="0" tIns="0" rIns="0" bIns="0" rtlCol="0">
            <a:spAutoFit/>
          </a:bodyPr>
          <a:lstStyle/>
          <a:p>
            <a:r>
              <a:rPr lang="en-US" sz="1000">
                <a:solidFill>
                  <a:srgbClr val="000000"/>
                </a:solidFill>
                <a:latin typeface="Calibri" panose="020F0502020204030204" pitchFamily="34" charset="0"/>
              </a:rPr>
              <a:t>17</a:t>
            </a:r>
          </a:p>
        </p:txBody>
      </p:sp>
    </p:spTree>
    <p:extLst>
      <p:ext uri="{BB962C8B-B14F-4D97-AF65-F5344CB8AC3E}">
        <p14:creationId xmlns:p14="http://schemas.microsoft.com/office/powerpoint/2010/main" val="2139967699"/>
      </p:ext>
    </p:extLst>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2FD1FF9-D0B7-4F2A-B6F2-C38D62EB6948}"/>
              </a:ext>
            </a:extLst>
          </p:cNvPr>
          <p:cNvSpPr>
            <a:spLocks noGrp="1"/>
          </p:cNvSpPr>
          <p:nvPr/>
        </p:nvSpPr>
        <p:spPr>
          <a:xfrm>
            <a:off x="838200" y="361950"/>
            <a:ext cx="10896600" cy="495300"/>
          </a:xfrm>
          <a:prstGeom prst="rect">
            <a:avLst/>
          </a:prstGeom>
          <a:noFill/>
          <a:ln w="0">
            <a:noFill/>
            <a:prstDash val="solid"/>
          </a:ln>
        </p:spPr>
        <p:txBody>
          <a:bodyPr lIns="0" tIns="0" rIns="0" bIns="0"/>
          <a:lstStyle>
            <a:defPPr>
              <a:defRPr sz="2400" b="1">
                <a:solidFill>
                  <a:srgbClr val="000000"/>
                </a:solidFill>
                <a:latin typeface="Calibri"/>
                <a:ea typeface="Calibri"/>
                <a:cs typeface="Calibri"/>
              </a:defRPr>
            </a:defPPr>
            <a:lvl1pPr>
              <a:defRPr sz="2400" b="1">
                <a:solidFill>
                  <a:srgbClr val="000000"/>
                </a:solidFill>
                <a:latin typeface="Calibri"/>
                <a:ea typeface="Calibri"/>
                <a:cs typeface="Calibri"/>
              </a:defRPr>
            </a:lvl1pPr>
            <a:lvl2pPr>
              <a:defRPr sz="2400" b="1">
                <a:solidFill>
                  <a:srgbClr val="000000"/>
                </a:solidFill>
                <a:latin typeface="Calibri"/>
                <a:ea typeface="Calibri"/>
                <a:cs typeface="Calibri"/>
              </a:defRPr>
            </a:lvl2pPr>
            <a:lvl3pPr>
              <a:defRPr sz="2400" b="1">
                <a:solidFill>
                  <a:srgbClr val="000000"/>
                </a:solidFill>
                <a:latin typeface="Calibri"/>
                <a:ea typeface="Calibri"/>
                <a:cs typeface="Calibri"/>
              </a:defRPr>
            </a:lvl3pPr>
            <a:lvl4pPr>
              <a:defRPr sz="2400" b="1">
                <a:solidFill>
                  <a:srgbClr val="000000"/>
                </a:solidFill>
                <a:latin typeface="Calibri"/>
                <a:ea typeface="Calibri"/>
                <a:cs typeface="Calibri"/>
              </a:defRPr>
            </a:lvl4pPr>
            <a:lvl5pPr>
              <a:defRPr sz="2400" b="1">
                <a:solidFill>
                  <a:srgbClr val="000000"/>
                </a:solidFill>
                <a:latin typeface="Calibri"/>
                <a:ea typeface="Calibri"/>
                <a:cs typeface="Calibri"/>
              </a:defRPr>
            </a:lvl5pPr>
            <a:lvl6pPr>
              <a:defRPr sz="2400" b="1">
                <a:solidFill>
                  <a:srgbClr val="000000"/>
                </a:solidFill>
                <a:latin typeface="Calibri"/>
                <a:ea typeface="Calibri"/>
                <a:cs typeface="Calibri"/>
              </a:defRPr>
            </a:lvl6pPr>
            <a:lvl7pPr>
              <a:defRPr sz="2400" b="1">
                <a:solidFill>
                  <a:srgbClr val="000000"/>
                </a:solidFill>
                <a:latin typeface="Calibri"/>
                <a:ea typeface="Calibri"/>
                <a:cs typeface="Calibri"/>
              </a:defRPr>
            </a:lvl7pPr>
            <a:lvl8pPr>
              <a:defRPr sz="2400" b="1">
                <a:solidFill>
                  <a:srgbClr val="000000"/>
                </a:solidFill>
                <a:latin typeface="Calibri"/>
                <a:ea typeface="Calibri"/>
                <a:cs typeface="Calibri"/>
              </a:defRPr>
            </a:lvl8pPr>
            <a:lvl9pPr>
              <a:defRPr sz="2400" b="1">
                <a:solidFill>
                  <a:srgbClr val="000000"/>
                </a:solidFill>
                <a:latin typeface="Calibri"/>
                <a:ea typeface="Calibri"/>
                <a:cs typeface="Calibri"/>
              </a:defRPr>
            </a:lvl9pPr>
          </a:lstStyle>
          <a:p>
            <a:pPr>
              <a:defRPr sz="2400" b="1">
                <a:solidFill>
                  <a:srgbClr val="000000"/>
                </a:solidFill>
                <a:latin typeface="Calibri"/>
                <a:ea typeface="Calibri"/>
                <a:cs typeface="Calibri"/>
              </a:defRPr>
            </a:pPr>
            <a:r>
              <a:rPr sz="2400" b="1">
                <a:solidFill>
                  <a:srgbClr val="000000"/>
                </a:solidFill>
                <a:latin typeface="Calibri"/>
                <a:ea typeface="Calibri"/>
                <a:cs typeface="Calibri"/>
              </a:rPr>
              <a:t>30-Second Climb: What Changed</a:t>
            </a:r>
          </a:p>
        </p:txBody>
      </p:sp>
      <p:sp>
        <p:nvSpPr>
          <p:cNvPr id="2" name="Rectangle 1">
            <a:extLst>
              <a:ext uri="{FF2B5EF4-FFF2-40B4-BE49-F238E27FC236}">
                <a16:creationId xmlns:a16="http://schemas.microsoft.com/office/drawing/2014/main" id="{72471875-0C00-4C56-B3A7-385775E2B4C5}"/>
              </a:ext>
            </a:extLst>
          </p:cNvPr>
          <p:cNvSpPr>
            <a:spLocks noGrp="1"/>
          </p:cNvSpPr>
          <p:nvPr/>
        </p:nvSpPr>
        <p:spPr>
          <a:xfrm>
            <a:off x="476250" y="895350"/>
            <a:ext cx="11239500" cy="523875"/>
          </a:xfrm>
          <a:prstGeom prst="rect">
            <a:avLst/>
          </a:prstGeom>
          <a:noFill/>
          <a:ln w="0">
            <a:noFill/>
            <a:prstDash val="solid"/>
          </a:ln>
        </p:spPr>
        <p:txBody>
          <a:bodyPr lIns="0" tIns="0" rIns="0" bIns="0"/>
          <a:lstStyle>
            <a:defPPr>
              <a:defRPr sz="1575" b="0">
                <a:solidFill>
                  <a:srgbClr val="444444"/>
                </a:solidFill>
                <a:latin typeface="Calibri"/>
                <a:ea typeface="Calibri"/>
                <a:cs typeface="Calibri"/>
              </a:defRPr>
            </a:defPPr>
            <a:lvl1pPr>
              <a:defRPr sz="1575" b="0">
                <a:solidFill>
                  <a:srgbClr val="444444"/>
                </a:solidFill>
                <a:latin typeface="Calibri"/>
                <a:ea typeface="Calibri"/>
                <a:cs typeface="Calibri"/>
              </a:defRPr>
            </a:lvl1pPr>
            <a:lvl2pPr>
              <a:defRPr sz="1575" b="0">
                <a:solidFill>
                  <a:srgbClr val="444444"/>
                </a:solidFill>
                <a:latin typeface="Calibri"/>
                <a:ea typeface="Calibri"/>
                <a:cs typeface="Calibri"/>
              </a:defRPr>
            </a:lvl2pPr>
            <a:lvl3pPr>
              <a:defRPr sz="1575" b="0">
                <a:solidFill>
                  <a:srgbClr val="444444"/>
                </a:solidFill>
                <a:latin typeface="Calibri"/>
                <a:ea typeface="Calibri"/>
                <a:cs typeface="Calibri"/>
              </a:defRPr>
            </a:lvl3pPr>
            <a:lvl4pPr>
              <a:defRPr sz="1575" b="0">
                <a:solidFill>
                  <a:srgbClr val="444444"/>
                </a:solidFill>
                <a:latin typeface="Calibri"/>
                <a:ea typeface="Calibri"/>
                <a:cs typeface="Calibri"/>
              </a:defRPr>
            </a:lvl4pPr>
            <a:lvl5pPr>
              <a:defRPr sz="1575" b="0">
                <a:solidFill>
                  <a:srgbClr val="444444"/>
                </a:solidFill>
                <a:latin typeface="Calibri"/>
                <a:ea typeface="Calibri"/>
                <a:cs typeface="Calibri"/>
              </a:defRPr>
            </a:lvl5pPr>
            <a:lvl6pPr>
              <a:defRPr sz="1575" b="0">
                <a:solidFill>
                  <a:srgbClr val="444444"/>
                </a:solidFill>
                <a:latin typeface="Calibri"/>
                <a:ea typeface="Calibri"/>
                <a:cs typeface="Calibri"/>
              </a:defRPr>
            </a:lvl6pPr>
            <a:lvl7pPr>
              <a:defRPr sz="1575" b="0">
                <a:solidFill>
                  <a:srgbClr val="444444"/>
                </a:solidFill>
                <a:latin typeface="Calibri"/>
                <a:ea typeface="Calibri"/>
                <a:cs typeface="Calibri"/>
              </a:defRPr>
            </a:lvl7pPr>
            <a:lvl8pPr>
              <a:defRPr sz="1575" b="0">
                <a:solidFill>
                  <a:srgbClr val="444444"/>
                </a:solidFill>
                <a:latin typeface="Calibri"/>
                <a:ea typeface="Calibri"/>
                <a:cs typeface="Calibri"/>
              </a:defRPr>
            </a:lvl8pPr>
            <a:lvl9pPr>
              <a:defRPr sz="1575" b="0">
                <a:solidFill>
                  <a:srgbClr val="444444"/>
                </a:solidFill>
                <a:latin typeface="Calibri"/>
                <a:ea typeface="Calibri"/>
                <a:cs typeface="Calibri"/>
              </a:defRPr>
            </a:lvl9pPr>
          </a:lstStyle>
          <a:p>
            <a:pPr>
              <a:defRPr sz="1575" b="0">
                <a:solidFill>
                  <a:srgbClr val="444444"/>
                </a:solidFill>
                <a:latin typeface="Calibri"/>
                <a:ea typeface="Calibri"/>
                <a:cs typeface="Calibri"/>
              </a:defRPr>
            </a:pPr>
            <a:r>
              <a:rPr sz="1575" b="0">
                <a:solidFill>
                  <a:srgbClr val="444444"/>
                </a:solidFill>
                <a:latin typeface="Calibri"/>
                <a:ea typeface="Calibri"/>
                <a:cs typeface="Calibri"/>
              </a:rPr>
              <a:t>The corrected mission changes mass by less than 0.1 kg, but uses more lift-battery energy.</a:t>
            </a:r>
          </a:p>
        </p:txBody>
      </p:sp>
      <p:sp>
        <p:nvSpPr>
          <p:cNvPr id="3" name="Rectangle 2">
            <a:extLst>
              <a:ext uri="{FF2B5EF4-FFF2-40B4-BE49-F238E27FC236}">
                <a16:creationId xmlns:a16="http://schemas.microsoft.com/office/drawing/2014/main" id="{983F3236-4905-4372-AFDC-F5655616424E}"/>
              </a:ext>
            </a:extLst>
          </p:cNvPr>
          <p:cNvSpPr>
            <a:spLocks noGrp="1"/>
          </p:cNvSpPr>
          <p:nvPr/>
        </p:nvSpPr>
        <p:spPr>
          <a:xfrm>
            <a:off x="11382375" y="6524625"/>
            <a:ext cx="333375" cy="219075"/>
          </a:xfrm>
          <a:prstGeom prst="rect">
            <a:avLst/>
          </a:prstGeom>
          <a:noFill/>
          <a:ln w="0">
            <a:noFill/>
            <a:prstDash val="solid"/>
          </a:ln>
        </p:spPr>
        <p:txBody>
          <a:bodyPr lIns="0" tIns="0" rIns="0" bIns="0"/>
          <a:lstStyle>
            <a:defPPr>
              <a:defRPr sz="1125" b="0">
                <a:solidFill>
                  <a:srgbClr val="444444"/>
                </a:solidFill>
                <a:latin typeface="Calibri"/>
                <a:ea typeface="Calibri"/>
                <a:cs typeface="Calibri"/>
              </a:defRPr>
            </a:defPPr>
            <a:lvl1pPr>
              <a:defRPr sz="1125" b="0">
                <a:solidFill>
                  <a:srgbClr val="444444"/>
                </a:solidFill>
                <a:latin typeface="Calibri"/>
                <a:ea typeface="Calibri"/>
                <a:cs typeface="Calibri"/>
              </a:defRPr>
            </a:lvl1pPr>
            <a:lvl2pPr>
              <a:defRPr sz="1125" b="0">
                <a:solidFill>
                  <a:srgbClr val="444444"/>
                </a:solidFill>
                <a:latin typeface="Calibri"/>
                <a:ea typeface="Calibri"/>
                <a:cs typeface="Calibri"/>
              </a:defRPr>
            </a:lvl2pPr>
            <a:lvl3pPr>
              <a:defRPr sz="1125" b="0">
                <a:solidFill>
                  <a:srgbClr val="444444"/>
                </a:solidFill>
                <a:latin typeface="Calibri"/>
                <a:ea typeface="Calibri"/>
                <a:cs typeface="Calibri"/>
              </a:defRPr>
            </a:lvl3pPr>
            <a:lvl4pPr>
              <a:defRPr sz="1125" b="0">
                <a:solidFill>
                  <a:srgbClr val="444444"/>
                </a:solidFill>
                <a:latin typeface="Calibri"/>
                <a:ea typeface="Calibri"/>
                <a:cs typeface="Calibri"/>
              </a:defRPr>
            </a:lvl4pPr>
            <a:lvl5pPr>
              <a:defRPr sz="1125" b="0">
                <a:solidFill>
                  <a:srgbClr val="444444"/>
                </a:solidFill>
                <a:latin typeface="Calibri"/>
                <a:ea typeface="Calibri"/>
                <a:cs typeface="Calibri"/>
              </a:defRPr>
            </a:lvl5pPr>
            <a:lvl6pPr>
              <a:defRPr sz="1125" b="0">
                <a:solidFill>
                  <a:srgbClr val="444444"/>
                </a:solidFill>
                <a:latin typeface="Calibri"/>
                <a:ea typeface="Calibri"/>
                <a:cs typeface="Calibri"/>
              </a:defRPr>
            </a:lvl6pPr>
            <a:lvl7pPr>
              <a:defRPr sz="1125" b="0">
                <a:solidFill>
                  <a:srgbClr val="444444"/>
                </a:solidFill>
                <a:latin typeface="Calibri"/>
                <a:ea typeface="Calibri"/>
                <a:cs typeface="Calibri"/>
              </a:defRPr>
            </a:lvl7pPr>
            <a:lvl8pPr>
              <a:defRPr sz="1125" b="0">
                <a:solidFill>
                  <a:srgbClr val="444444"/>
                </a:solidFill>
                <a:latin typeface="Calibri"/>
                <a:ea typeface="Calibri"/>
                <a:cs typeface="Calibri"/>
              </a:defRPr>
            </a:lvl8pPr>
            <a:lvl9pPr>
              <a:defRPr sz="1125" b="0">
                <a:solidFill>
                  <a:srgbClr val="444444"/>
                </a:solidFill>
                <a:latin typeface="Calibri"/>
                <a:ea typeface="Calibri"/>
                <a:cs typeface="Calibri"/>
              </a:defRPr>
            </a:lvl9pPr>
          </a:lstStyle>
          <a:p>
            <a:pPr>
              <a:defRPr sz="1125" b="0">
                <a:solidFill>
                  <a:srgbClr val="444444"/>
                </a:solidFill>
                <a:latin typeface="Calibri"/>
                <a:ea typeface="Calibri"/>
                <a:cs typeface="Calibri"/>
              </a:defRPr>
            </a:pPr>
            <a:endParaRPr sz="1125" b="0">
              <a:solidFill>
                <a:srgbClr val="444444"/>
              </a:solidFill>
              <a:latin typeface="Calibri"/>
              <a:ea typeface="Calibri"/>
              <a:cs typeface="Calibri"/>
            </a:endParaRPr>
          </a:p>
        </p:txBody>
      </p:sp>
      <p:graphicFrame>
        <p:nvGraphicFramePr>
          <p:cNvPr id="4" name="Table 3">
            <a:extLst>
              <a:ext uri="{FF2B5EF4-FFF2-40B4-BE49-F238E27FC236}">
                <a16:creationId xmlns:a16="http://schemas.microsoft.com/office/drawing/2014/main" id="{7ED56F6B-DCBE-4E52-BD81-E0C060C91AB8}"/>
              </a:ext>
            </a:extLst>
          </p:cNvPr>
          <p:cNvGraphicFramePr/>
          <p:nvPr/>
        </p:nvGraphicFramePr>
        <p:xfrm>
          <a:off x="476250" y="1714500"/>
          <a:ext cx="11239500" cy="2286000"/>
        </p:xfrm>
        <a:graphic>
          <a:graphicData uri="http://schemas.openxmlformats.org/drawingml/2006/table">
            <a:tbl>
              <a:tblPr/>
              <a:tblGrid>
                <a:gridCol w="4191000">
                  <a:extLst>
                    <a:ext uri="{9D8B030D-6E8A-4147-A177-3AD203B41FA5}">
                      <a16:colId xmlns:a16="http://schemas.microsoft.com/office/drawing/2014/main" val="20000"/>
                    </a:ext>
                  </a:extLst>
                </a:gridCol>
                <a:gridCol w="2381250">
                  <a:extLst>
                    <a:ext uri="{9D8B030D-6E8A-4147-A177-3AD203B41FA5}">
                      <a16:colId xmlns:a16="http://schemas.microsoft.com/office/drawing/2014/main" val="20001"/>
                    </a:ext>
                  </a:extLst>
                </a:gridCol>
                <a:gridCol w="238125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457200">
                <a:tc>
                  <a:txBody>
                    <a:bodyPr/>
                    <a:lstStyle/>
                    <a:p>
                      <a:r>
                        <a:rPr sz="1725" b="1">
                          <a:solidFill>
                            <a:srgbClr val="000000"/>
                          </a:solidFill>
                          <a:latin typeface="Calibri"/>
                          <a:ea typeface="Calibri"/>
                          <a:cs typeface="Calibri"/>
                        </a:rPr>
                        <a:t>Configuration</a:t>
                      </a:r>
                    </a:p>
                  </a:txBody>
                  <a:tcPr>
                    <a:lnL w="9525">
                      <a:solidFill>
                        <a:srgbClr val="BBBBBB"/>
                      </a:solidFill>
                    </a:lnL>
                    <a:lnR w="9525">
                      <a:solidFill>
                        <a:srgbClr val="BBBBBB"/>
                      </a:solidFill>
                    </a:lnR>
                    <a:lnT w="9525">
                      <a:solidFill>
                        <a:srgbClr val="BBBBBB"/>
                      </a:solidFill>
                    </a:lnT>
                    <a:lnB w="9525">
                      <a:solidFill>
                        <a:srgbClr val="BBBBBB"/>
                      </a:solidFill>
                    </a:lnB>
                    <a:solidFill>
                      <a:srgbClr val="D9D9D9"/>
                    </a:solidFill>
                  </a:tcPr>
                </a:tc>
                <a:tc>
                  <a:txBody>
                    <a:bodyPr/>
                    <a:lstStyle/>
                    <a:p>
                      <a:r>
                        <a:rPr sz="1725" b="1">
                          <a:solidFill>
                            <a:srgbClr val="000000"/>
                          </a:solidFill>
                          <a:latin typeface="Calibri"/>
                          <a:ea typeface="Calibri"/>
                          <a:cs typeface="Calibri"/>
                        </a:rPr>
                        <a:t>Previous mass, kg</a:t>
                      </a:r>
                    </a:p>
                  </a:txBody>
                  <a:tcPr>
                    <a:lnL w="9525" cap="flat" cmpd="sng" algn="ctr">
                      <a:solidFill>
                        <a:srgbClr val="BBBBBB"/>
                      </a:solidFill>
                      <a:prstDash val="solid"/>
                      <a:round/>
                      <a:headEnd type="none" w="med" len="med"/>
                      <a:tailEnd type="none" w="med" len="med"/>
                    </a:lnL>
                    <a:lnR w="9525">
                      <a:solidFill>
                        <a:srgbClr val="BBBBBB"/>
                      </a:solidFill>
                    </a:lnR>
                    <a:lnT w="9525">
                      <a:solidFill>
                        <a:srgbClr val="BBBBBB"/>
                      </a:solidFill>
                    </a:lnT>
                    <a:lnB w="9525">
                      <a:solidFill>
                        <a:srgbClr val="BBBBBB"/>
                      </a:solidFill>
                    </a:lnB>
                    <a:solidFill>
                      <a:srgbClr val="D9D9D9"/>
                    </a:solidFill>
                  </a:tcPr>
                </a:tc>
                <a:tc>
                  <a:txBody>
                    <a:bodyPr/>
                    <a:lstStyle/>
                    <a:p>
                      <a:r>
                        <a:rPr sz="1725" b="1">
                          <a:solidFill>
                            <a:srgbClr val="000000"/>
                          </a:solidFill>
                          <a:latin typeface="Calibri"/>
                          <a:ea typeface="Calibri"/>
                          <a:cs typeface="Calibri"/>
                        </a:rPr>
                        <a:t>30 s mass, kg</a:t>
                      </a:r>
                    </a:p>
                  </a:txBody>
                  <a:tcPr>
                    <a:lnL w="9525" cap="flat" cmpd="sng" algn="ctr">
                      <a:solidFill>
                        <a:srgbClr val="BBBBBB"/>
                      </a:solidFill>
                      <a:prstDash val="solid"/>
                      <a:round/>
                      <a:headEnd type="none" w="med" len="med"/>
                      <a:tailEnd type="none" w="med" len="med"/>
                    </a:lnL>
                    <a:lnR w="9525">
                      <a:solidFill>
                        <a:srgbClr val="BBBBBB"/>
                      </a:solidFill>
                    </a:lnR>
                    <a:lnT w="9525">
                      <a:solidFill>
                        <a:srgbClr val="BBBBBB"/>
                      </a:solidFill>
                    </a:lnT>
                    <a:lnB w="9525">
                      <a:solidFill>
                        <a:srgbClr val="BBBBBB"/>
                      </a:solidFill>
                    </a:lnB>
                    <a:solidFill>
                      <a:srgbClr val="D9D9D9"/>
                    </a:solidFill>
                  </a:tcPr>
                </a:tc>
                <a:tc>
                  <a:txBody>
                    <a:bodyPr/>
                    <a:lstStyle/>
                    <a:p>
                      <a:r>
                        <a:rPr sz="1725" b="1">
                          <a:solidFill>
                            <a:srgbClr val="000000"/>
                          </a:solidFill>
                          <a:latin typeface="Calibri"/>
                          <a:ea typeface="Calibri"/>
                          <a:cs typeface="Calibri"/>
                        </a:rPr>
                        <a:t>Change, kg</a:t>
                      </a:r>
                    </a:p>
                  </a:txBody>
                  <a:tcPr>
                    <a:lnL w="9525" cap="flat" cmpd="sng" algn="ctr">
                      <a:solidFill>
                        <a:srgbClr val="BBBBBB"/>
                      </a:solidFill>
                      <a:prstDash val="solid"/>
                      <a:round/>
                      <a:headEnd type="none" w="med" len="med"/>
                      <a:tailEnd type="none" w="med" len="med"/>
                    </a:lnL>
                    <a:lnR w="9525">
                      <a:solidFill>
                        <a:srgbClr val="BBBBBB"/>
                      </a:solidFill>
                    </a:lnR>
                    <a:lnT w="9525">
                      <a:solidFill>
                        <a:srgbClr val="BBBBBB"/>
                      </a:solidFill>
                    </a:lnT>
                    <a:lnB w="9525">
                      <a:solidFill>
                        <a:srgbClr val="BBBBBB"/>
                      </a:solidFill>
                    </a:lnB>
                    <a:solidFill>
                      <a:srgbClr val="D9D9D9"/>
                    </a:solidFill>
                  </a:tcPr>
                </a:tc>
                <a:extLst>
                  <a:ext uri="{0D108BD9-81ED-4DB2-BD59-A6C34878D82A}">
                    <a16:rowId xmlns:a16="http://schemas.microsoft.com/office/drawing/2014/main" val="10000"/>
                  </a:ext>
                </a:extLst>
              </a:tr>
              <a:tr h="457200">
                <a:tc>
                  <a:txBody>
                    <a:bodyPr/>
                    <a:lstStyle/>
                    <a:p>
                      <a:r>
                        <a:rPr sz="1725" b="0">
                          <a:solidFill>
                            <a:srgbClr val="000000"/>
                          </a:solidFill>
                          <a:latin typeface="Calibri"/>
                          <a:ea typeface="Calibri"/>
                          <a:cs typeface="Calibri"/>
                        </a:rPr>
                        <a:t>L+C retrofit</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725" b="0">
                          <a:solidFill>
                            <a:srgbClr val="000000"/>
                          </a:solidFill>
                          <a:latin typeface="Calibri"/>
                          <a:ea typeface="Calibri"/>
                          <a:cs typeface="Calibri"/>
                        </a:rPr>
                        <a:t>397.23</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725" b="0">
                          <a:solidFill>
                            <a:srgbClr val="000000"/>
                          </a:solidFill>
                          <a:latin typeface="Calibri"/>
                          <a:ea typeface="Calibri"/>
                          <a:cs typeface="Calibri"/>
                        </a:rPr>
                        <a:t>397.18</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725" b="0">
                          <a:solidFill>
                            <a:srgbClr val="000000"/>
                          </a:solidFill>
                          <a:latin typeface="Calibri"/>
                          <a:ea typeface="Calibri"/>
                          <a:cs typeface="Calibri"/>
                        </a:rPr>
                        <a:t>−0.05</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extLst>
                  <a:ext uri="{0D108BD9-81ED-4DB2-BD59-A6C34878D82A}">
                    <a16:rowId xmlns:a16="http://schemas.microsoft.com/office/drawing/2014/main" val="10001"/>
                  </a:ext>
                </a:extLst>
              </a:tr>
              <a:tr h="457200">
                <a:tc>
                  <a:txBody>
                    <a:bodyPr/>
                    <a:lstStyle/>
                    <a:p>
                      <a:r>
                        <a:rPr sz="1725" b="0">
                          <a:solidFill>
                            <a:srgbClr val="000000"/>
                          </a:solidFill>
                          <a:latin typeface="Calibri"/>
                          <a:ea typeface="Calibri"/>
                          <a:cs typeface="Calibri"/>
                        </a:rPr>
                        <a:t>L+C clean sheet</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725" b="0">
                          <a:solidFill>
                            <a:srgbClr val="000000"/>
                          </a:solidFill>
                          <a:latin typeface="Calibri"/>
                          <a:ea typeface="Calibri"/>
                          <a:cs typeface="Calibri"/>
                        </a:rPr>
                        <a:t>381.73</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725" b="0">
                          <a:solidFill>
                            <a:srgbClr val="000000"/>
                          </a:solidFill>
                          <a:latin typeface="Calibri"/>
                          <a:ea typeface="Calibri"/>
                          <a:cs typeface="Calibri"/>
                        </a:rPr>
                        <a:t>381.68</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725" b="0">
                          <a:solidFill>
                            <a:srgbClr val="000000"/>
                          </a:solidFill>
                          <a:latin typeface="Calibri"/>
                          <a:ea typeface="Calibri"/>
                          <a:cs typeface="Calibri"/>
                        </a:rPr>
                        <a:t>−0.05</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extLst>
                  <a:ext uri="{0D108BD9-81ED-4DB2-BD59-A6C34878D82A}">
                    <a16:rowId xmlns:a16="http://schemas.microsoft.com/office/drawing/2014/main" val="10002"/>
                  </a:ext>
                </a:extLst>
              </a:tr>
              <a:tr h="457200">
                <a:tc>
                  <a:txBody>
                    <a:bodyPr/>
                    <a:lstStyle/>
                    <a:p>
                      <a:r>
                        <a:rPr sz="1725" b="0">
                          <a:solidFill>
                            <a:srgbClr val="000000"/>
                          </a:solidFill>
                          <a:latin typeface="Calibri"/>
                          <a:ea typeface="Calibri"/>
                          <a:cs typeface="Calibri"/>
                        </a:rPr>
                        <a:t>Piston tiltrotor</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725" b="0">
                          <a:solidFill>
                            <a:srgbClr val="000000"/>
                          </a:solidFill>
                          <a:latin typeface="Calibri"/>
                          <a:ea typeface="Calibri"/>
                          <a:cs typeface="Calibri"/>
                        </a:rPr>
                        <a:t>296.08</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725" b="0">
                          <a:solidFill>
                            <a:srgbClr val="000000"/>
                          </a:solidFill>
                          <a:latin typeface="Calibri"/>
                          <a:ea typeface="Calibri"/>
                          <a:cs typeface="Calibri"/>
                        </a:rPr>
                        <a:t>296.16</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725" b="0">
                          <a:solidFill>
                            <a:srgbClr val="000000"/>
                          </a:solidFill>
                          <a:latin typeface="Calibri"/>
                          <a:ea typeface="Calibri"/>
                          <a:cs typeface="Calibri"/>
                        </a:rPr>
                        <a:t>+0.08</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extLst>
                  <a:ext uri="{0D108BD9-81ED-4DB2-BD59-A6C34878D82A}">
                    <a16:rowId xmlns:a16="http://schemas.microsoft.com/office/drawing/2014/main" val="10003"/>
                  </a:ext>
                </a:extLst>
              </a:tr>
              <a:tr h="457200">
                <a:tc>
                  <a:txBody>
                    <a:bodyPr/>
                    <a:lstStyle/>
                    <a:p>
                      <a:r>
                        <a:rPr sz="1725" b="0">
                          <a:solidFill>
                            <a:srgbClr val="000000"/>
                          </a:solidFill>
                          <a:latin typeface="Calibri"/>
                          <a:ea typeface="Calibri"/>
                          <a:cs typeface="Calibri"/>
                        </a:rPr>
                        <a:t>Turboelectric tiltrotor</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725" b="0">
                          <a:solidFill>
                            <a:srgbClr val="000000"/>
                          </a:solidFill>
                          <a:latin typeface="Calibri"/>
                          <a:ea typeface="Calibri"/>
                          <a:cs typeface="Calibri"/>
                        </a:rPr>
                        <a:t>321.19</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725" b="0">
                          <a:solidFill>
                            <a:srgbClr val="000000"/>
                          </a:solidFill>
                          <a:latin typeface="Calibri"/>
                          <a:ea typeface="Calibri"/>
                          <a:cs typeface="Calibri"/>
                        </a:rPr>
                        <a:t>321.27</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725" b="0">
                          <a:solidFill>
                            <a:srgbClr val="000000"/>
                          </a:solidFill>
                          <a:latin typeface="Calibri"/>
                          <a:ea typeface="Calibri"/>
                          <a:cs typeface="Calibri"/>
                        </a:rPr>
                        <a:t>+0.08</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E96601FA-67CD-4D4E-B9C0-A3FB30DE85DE}"/>
              </a:ext>
            </a:extLst>
          </p:cNvPr>
          <p:cNvSpPr>
            <a:spLocks noGrp="1"/>
          </p:cNvSpPr>
          <p:nvPr/>
        </p:nvSpPr>
        <p:spPr>
          <a:xfrm>
            <a:off x="476250" y="4333875"/>
            <a:ext cx="5334000" cy="333375"/>
          </a:xfrm>
          <a:prstGeom prst="rect">
            <a:avLst/>
          </a:prstGeom>
          <a:noFill/>
          <a:ln w="0">
            <a:noFill/>
            <a:prstDash val="solid"/>
          </a:ln>
        </p:spPr>
        <p:txBody>
          <a:bodyPr lIns="0" tIns="0" rIns="0" bIns="0"/>
          <a:lstStyle>
            <a:defPPr>
              <a:defRPr sz="1800" b="1">
                <a:solidFill>
                  <a:srgbClr val="000000"/>
                </a:solidFill>
                <a:latin typeface="Calibri"/>
                <a:ea typeface="Calibri"/>
                <a:cs typeface="Calibri"/>
              </a:defRPr>
            </a:defPPr>
            <a:lvl1pPr>
              <a:defRPr sz="1800" b="1">
                <a:solidFill>
                  <a:srgbClr val="000000"/>
                </a:solidFill>
                <a:latin typeface="Calibri"/>
                <a:ea typeface="Calibri"/>
                <a:cs typeface="Calibri"/>
              </a:defRPr>
            </a:lvl1pPr>
            <a:lvl2pPr>
              <a:defRPr sz="1800" b="1">
                <a:solidFill>
                  <a:srgbClr val="000000"/>
                </a:solidFill>
                <a:latin typeface="Calibri"/>
                <a:ea typeface="Calibri"/>
                <a:cs typeface="Calibri"/>
              </a:defRPr>
            </a:lvl2pPr>
            <a:lvl3pPr>
              <a:defRPr sz="1800" b="1">
                <a:solidFill>
                  <a:srgbClr val="000000"/>
                </a:solidFill>
                <a:latin typeface="Calibri"/>
                <a:ea typeface="Calibri"/>
                <a:cs typeface="Calibri"/>
              </a:defRPr>
            </a:lvl3pPr>
            <a:lvl4pPr>
              <a:defRPr sz="1800" b="1">
                <a:solidFill>
                  <a:srgbClr val="000000"/>
                </a:solidFill>
                <a:latin typeface="Calibri"/>
                <a:ea typeface="Calibri"/>
                <a:cs typeface="Calibri"/>
              </a:defRPr>
            </a:lvl4pPr>
            <a:lvl5pPr>
              <a:defRPr sz="1800" b="1">
                <a:solidFill>
                  <a:srgbClr val="000000"/>
                </a:solidFill>
                <a:latin typeface="Calibri"/>
                <a:ea typeface="Calibri"/>
                <a:cs typeface="Calibri"/>
              </a:defRPr>
            </a:lvl5pPr>
            <a:lvl6pPr>
              <a:defRPr sz="1800" b="1">
                <a:solidFill>
                  <a:srgbClr val="000000"/>
                </a:solidFill>
                <a:latin typeface="Calibri"/>
                <a:ea typeface="Calibri"/>
                <a:cs typeface="Calibri"/>
              </a:defRPr>
            </a:lvl6pPr>
            <a:lvl7pPr>
              <a:defRPr sz="1800" b="1">
                <a:solidFill>
                  <a:srgbClr val="000000"/>
                </a:solidFill>
                <a:latin typeface="Calibri"/>
                <a:ea typeface="Calibri"/>
                <a:cs typeface="Calibri"/>
              </a:defRPr>
            </a:lvl7pPr>
            <a:lvl8pPr>
              <a:defRPr sz="1800" b="1">
                <a:solidFill>
                  <a:srgbClr val="000000"/>
                </a:solidFill>
                <a:latin typeface="Calibri"/>
                <a:ea typeface="Calibri"/>
                <a:cs typeface="Calibri"/>
              </a:defRPr>
            </a:lvl8pPr>
            <a:lvl9pPr>
              <a:defRPr sz="1800" b="1">
                <a:solidFill>
                  <a:srgbClr val="000000"/>
                </a:solidFill>
                <a:latin typeface="Calibri"/>
                <a:ea typeface="Calibri"/>
                <a:cs typeface="Calibri"/>
              </a:defRPr>
            </a:lvl9pPr>
          </a:lstStyle>
          <a:p>
            <a:pPr>
              <a:defRPr sz="1800" b="1">
                <a:solidFill>
                  <a:srgbClr val="000000"/>
                </a:solidFill>
                <a:latin typeface="Calibri"/>
                <a:ea typeface="Calibri"/>
                <a:cs typeface="Calibri"/>
              </a:defRPr>
            </a:pPr>
            <a:r>
              <a:rPr sz="1800" b="1">
                <a:solidFill>
                  <a:srgbClr val="000000"/>
                </a:solidFill>
                <a:latin typeface="Calibri"/>
                <a:ea typeface="Calibri"/>
                <a:cs typeface="Calibri"/>
              </a:rPr>
              <a:t>Why battery mass stays the same</a:t>
            </a:r>
          </a:p>
        </p:txBody>
      </p:sp>
      <p:sp>
        <p:nvSpPr>
          <p:cNvPr id="6" name="Rectangle 5">
            <a:extLst>
              <a:ext uri="{FF2B5EF4-FFF2-40B4-BE49-F238E27FC236}">
                <a16:creationId xmlns:a16="http://schemas.microsoft.com/office/drawing/2014/main" id="{F8A57D2D-03F4-4D2E-8DA3-82254993142D}"/>
              </a:ext>
            </a:extLst>
          </p:cNvPr>
          <p:cNvSpPr>
            <a:spLocks noGrp="1"/>
          </p:cNvSpPr>
          <p:nvPr/>
        </p:nvSpPr>
        <p:spPr>
          <a:xfrm>
            <a:off x="476250" y="4810125"/>
            <a:ext cx="5334000" cy="952500"/>
          </a:xfrm>
          <a:prstGeom prst="rect">
            <a:avLst/>
          </a:prstGeom>
          <a:noFill/>
          <a:ln w="0">
            <a:noFill/>
            <a:prstDash val="solid"/>
          </a:ln>
        </p:spPr>
        <p:txBody>
          <a:bodyPr lIns="0" tIns="0" rIns="0" bIns="0"/>
          <a:lstStyle>
            <a:defPPr>
              <a:defRPr sz="1725" b="0">
                <a:solidFill>
                  <a:srgbClr val="000000"/>
                </a:solidFill>
                <a:latin typeface="Calibri"/>
                <a:ea typeface="Calibri"/>
                <a:cs typeface="Calibri"/>
              </a:defRPr>
            </a:defPPr>
            <a:lvl1pPr>
              <a:defRPr sz="1725" b="0">
                <a:solidFill>
                  <a:srgbClr val="000000"/>
                </a:solidFill>
                <a:latin typeface="Calibri"/>
                <a:ea typeface="Calibri"/>
                <a:cs typeface="Calibri"/>
              </a:defRPr>
            </a:lvl1pPr>
            <a:lvl2pPr>
              <a:defRPr sz="1725" b="0">
                <a:solidFill>
                  <a:srgbClr val="000000"/>
                </a:solidFill>
                <a:latin typeface="Calibri"/>
                <a:ea typeface="Calibri"/>
                <a:cs typeface="Calibri"/>
              </a:defRPr>
            </a:lvl2pPr>
            <a:lvl3pPr>
              <a:defRPr sz="1725" b="0">
                <a:solidFill>
                  <a:srgbClr val="000000"/>
                </a:solidFill>
                <a:latin typeface="Calibri"/>
                <a:ea typeface="Calibri"/>
                <a:cs typeface="Calibri"/>
              </a:defRPr>
            </a:lvl3pPr>
            <a:lvl4pPr>
              <a:defRPr sz="1725" b="0">
                <a:solidFill>
                  <a:srgbClr val="000000"/>
                </a:solidFill>
                <a:latin typeface="Calibri"/>
                <a:ea typeface="Calibri"/>
                <a:cs typeface="Calibri"/>
              </a:defRPr>
            </a:lvl4pPr>
            <a:lvl5pPr>
              <a:defRPr sz="1725" b="0">
                <a:solidFill>
                  <a:srgbClr val="000000"/>
                </a:solidFill>
                <a:latin typeface="Calibri"/>
                <a:ea typeface="Calibri"/>
                <a:cs typeface="Calibri"/>
              </a:defRPr>
            </a:lvl5pPr>
            <a:lvl6pPr>
              <a:defRPr sz="1725" b="0">
                <a:solidFill>
                  <a:srgbClr val="000000"/>
                </a:solidFill>
                <a:latin typeface="Calibri"/>
                <a:ea typeface="Calibri"/>
                <a:cs typeface="Calibri"/>
              </a:defRPr>
            </a:lvl6pPr>
            <a:lvl7pPr>
              <a:defRPr sz="1725" b="0">
                <a:solidFill>
                  <a:srgbClr val="000000"/>
                </a:solidFill>
                <a:latin typeface="Calibri"/>
                <a:ea typeface="Calibri"/>
                <a:cs typeface="Calibri"/>
              </a:defRPr>
            </a:lvl7pPr>
            <a:lvl8pPr>
              <a:defRPr sz="1725" b="0">
                <a:solidFill>
                  <a:srgbClr val="000000"/>
                </a:solidFill>
                <a:latin typeface="Calibri"/>
                <a:ea typeface="Calibri"/>
                <a:cs typeface="Calibri"/>
              </a:defRPr>
            </a:lvl8pPr>
            <a:lvl9pPr>
              <a:defRPr sz="1725" b="0">
                <a:solidFill>
                  <a:srgbClr val="000000"/>
                </a:solidFill>
                <a:latin typeface="Calibri"/>
                <a:ea typeface="Calibri"/>
                <a:cs typeface="Calibri"/>
              </a:defRPr>
            </a:lvl9pPr>
          </a:lstStyle>
          <a:p>
            <a:pPr>
              <a:defRPr sz="1725" b="0">
                <a:solidFill>
                  <a:srgbClr val="000000"/>
                </a:solidFill>
                <a:latin typeface="Calibri"/>
                <a:ea typeface="Calibri"/>
                <a:cs typeface="Calibri"/>
              </a:defRPr>
            </a:pPr>
            <a:r>
              <a:rPr sz="1725" b="0">
                <a:solidFill>
                  <a:srgbClr val="000000"/>
                </a:solidFill>
                <a:latin typeface="Calibri"/>
                <a:ea typeface="Calibri"/>
                <a:cs typeface="Calibri"/>
              </a:rPr>
              <a:t>Installed cell counts remain 768 / 528. Final SOC falls to 47.8% / 51.1%; retrofit reaches 59.5°C against the 60°C proxy limit.</a:t>
            </a:r>
          </a:p>
        </p:txBody>
      </p:sp>
      <p:sp>
        <p:nvSpPr>
          <p:cNvPr id="7" name="Rectangle 6">
            <a:extLst>
              <a:ext uri="{FF2B5EF4-FFF2-40B4-BE49-F238E27FC236}">
                <a16:creationId xmlns:a16="http://schemas.microsoft.com/office/drawing/2014/main" id="{7DAEBBE4-C46C-4642-81F9-37FFE3198DE3}"/>
              </a:ext>
            </a:extLst>
          </p:cNvPr>
          <p:cNvSpPr>
            <a:spLocks noGrp="1"/>
          </p:cNvSpPr>
          <p:nvPr/>
        </p:nvSpPr>
        <p:spPr>
          <a:xfrm>
            <a:off x="6286500" y="4333875"/>
            <a:ext cx="5334000" cy="333375"/>
          </a:xfrm>
          <a:prstGeom prst="rect">
            <a:avLst/>
          </a:prstGeom>
          <a:noFill/>
          <a:ln w="0">
            <a:noFill/>
            <a:prstDash val="solid"/>
          </a:ln>
        </p:spPr>
        <p:txBody>
          <a:bodyPr lIns="0" tIns="0" rIns="0" bIns="0"/>
          <a:lstStyle>
            <a:defPPr>
              <a:defRPr sz="1725" b="1">
                <a:solidFill>
                  <a:srgbClr val="000000"/>
                </a:solidFill>
                <a:latin typeface="Calibri"/>
                <a:ea typeface="Calibri"/>
                <a:cs typeface="Calibri"/>
              </a:defRPr>
            </a:defPPr>
            <a:lvl1pPr>
              <a:defRPr sz="1725" b="1">
                <a:solidFill>
                  <a:srgbClr val="000000"/>
                </a:solidFill>
                <a:latin typeface="Calibri"/>
                <a:ea typeface="Calibri"/>
                <a:cs typeface="Calibri"/>
              </a:defRPr>
            </a:lvl1pPr>
            <a:lvl2pPr>
              <a:defRPr sz="1725" b="1">
                <a:solidFill>
                  <a:srgbClr val="000000"/>
                </a:solidFill>
                <a:latin typeface="Calibri"/>
                <a:ea typeface="Calibri"/>
                <a:cs typeface="Calibri"/>
              </a:defRPr>
            </a:lvl2pPr>
            <a:lvl3pPr>
              <a:defRPr sz="1725" b="1">
                <a:solidFill>
                  <a:srgbClr val="000000"/>
                </a:solidFill>
                <a:latin typeface="Calibri"/>
                <a:ea typeface="Calibri"/>
                <a:cs typeface="Calibri"/>
              </a:defRPr>
            </a:lvl3pPr>
            <a:lvl4pPr>
              <a:defRPr sz="1725" b="1">
                <a:solidFill>
                  <a:srgbClr val="000000"/>
                </a:solidFill>
                <a:latin typeface="Calibri"/>
                <a:ea typeface="Calibri"/>
                <a:cs typeface="Calibri"/>
              </a:defRPr>
            </a:lvl4pPr>
            <a:lvl5pPr>
              <a:defRPr sz="1725" b="1">
                <a:solidFill>
                  <a:srgbClr val="000000"/>
                </a:solidFill>
                <a:latin typeface="Calibri"/>
                <a:ea typeface="Calibri"/>
                <a:cs typeface="Calibri"/>
              </a:defRPr>
            </a:lvl5pPr>
            <a:lvl6pPr>
              <a:defRPr sz="1725" b="1">
                <a:solidFill>
                  <a:srgbClr val="000000"/>
                </a:solidFill>
                <a:latin typeface="Calibri"/>
                <a:ea typeface="Calibri"/>
                <a:cs typeface="Calibri"/>
              </a:defRPr>
            </a:lvl6pPr>
            <a:lvl7pPr>
              <a:defRPr sz="1725" b="1">
                <a:solidFill>
                  <a:srgbClr val="000000"/>
                </a:solidFill>
                <a:latin typeface="Calibri"/>
                <a:ea typeface="Calibri"/>
                <a:cs typeface="Calibri"/>
              </a:defRPr>
            </a:lvl7pPr>
            <a:lvl8pPr>
              <a:defRPr sz="1725" b="1">
                <a:solidFill>
                  <a:srgbClr val="000000"/>
                </a:solidFill>
                <a:latin typeface="Calibri"/>
                <a:ea typeface="Calibri"/>
                <a:cs typeface="Calibri"/>
              </a:defRPr>
            </a:lvl8pPr>
            <a:lvl9pPr>
              <a:defRPr sz="1725" b="1">
                <a:solidFill>
                  <a:srgbClr val="000000"/>
                </a:solidFill>
                <a:latin typeface="Calibri"/>
                <a:ea typeface="Calibri"/>
                <a:cs typeface="Calibri"/>
              </a:defRPr>
            </a:lvl9pPr>
          </a:lstStyle>
          <a:p>
            <a:pPr>
              <a:defRPr sz="1725" b="1">
                <a:solidFill>
                  <a:srgbClr val="000000"/>
                </a:solidFill>
                <a:latin typeface="Calibri"/>
                <a:ea typeface="Calibri"/>
                <a:cs typeface="Calibri"/>
              </a:defRPr>
            </a:pPr>
            <a:r>
              <a:rPr sz="1725" b="1">
                <a:solidFill>
                  <a:srgbClr val="000000"/>
                </a:solidFill>
                <a:latin typeface="Calibri"/>
                <a:ea typeface="Calibri"/>
                <a:cs typeface="Calibri"/>
              </a:rPr>
              <a:t>Why the small mass change is not a benefit claim</a:t>
            </a:r>
          </a:p>
        </p:txBody>
      </p:sp>
      <p:sp>
        <p:nvSpPr>
          <p:cNvPr id="8" name="Rectangle 7">
            <a:extLst>
              <a:ext uri="{FF2B5EF4-FFF2-40B4-BE49-F238E27FC236}">
                <a16:creationId xmlns:a16="http://schemas.microsoft.com/office/drawing/2014/main" id="{20B85D78-5BEC-4903-8BAA-EEA9CD66369E}"/>
              </a:ext>
            </a:extLst>
          </p:cNvPr>
          <p:cNvSpPr>
            <a:spLocks noGrp="1"/>
          </p:cNvSpPr>
          <p:nvPr/>
        </p:nvSpPr>
        <p:spPr>
          <a:xfrm>
            <a:off x="6286500" y="4810125"/>
            <a:ext cx="5334000" cy="952500"/>
          </a:xfrm>
          <a:prstGeom prst="rect">
            <a:avLst/>
          </a:prstGeom>
          <a:noFill/>
          <a:ln w="0">
            <a:noFill/>
            <a:prstDash val="solid"/>
          </a:ln>
        </p:spPr>
        <p:txBody>
          <a:bodyPr lIns="0" tIns="0" rIns="0" bIns="0"/>
          <a:lstStyle>
            <a:defPPr>
              <a:defRPr sz="1725" b="0">
                <a:solidFill>
                  <a:srgbClr val="000000"/>
                </a:solidFill>
                <a:latin typeface="Calibri"/>
                <a:ea typeface="Calibri"/>
                <a:cs typeface="Calibri"/>
              </a:defRPr>
            </a:defPPr>
            <a:lvl1pPr>
              <a:defRPr sz="1725" b="0">
                <a:solidFill>
                  <a:srgbClr val="000000"/>
                </a:solidFill>
                <a:latin typeface="Calibri"/>
                <a:ea typeface="Calibri"/>
                <a:cs typeface="Calibri"/>
              </a:defRPr>
            </a:lvl1pPr>
            <a:lvl2pPr>
              <a:defRPr sz="1725" b="0">
                <a:solidFill>
                  <a:srgbClr val="000000"/>
                </a:solidFill>
                <a:latin typeface="Calibri"/>
                <a:ea typeface="Calibri"/>
                <a:cs typeface="Calibri"/>
              </a:defRPr>
            </a:lvl2pPr>
            <a:lvl3pPr>
              <a:defRPr sz="1725" b="0">
                <a:solidFill>
                  <a:srgbClr val="000000"/>
                </a:solidFill>
                <a:latin typeface="Calibri"/>
                <a:ea typeface="Calibri"/>
                <a:cs typeface="Calibri"/>
              </a:defRPr>
            </a:lvl3pPr>
            <a:lvl4pPr>
              <a:defRPr sz="1725" b="0">
                <a:solidFill>
                  <a:srgbClr val="000000"/>
                </a:solidFill>
                <a:latin typeface="Calibri"/>
                <a:ea typeface="Calibri"/>
                <a:cs typeface="Calibri"/>
              </a:defRPr>
            </a:lvl4pPr>
            <a:lvl5pPr>
              <a:defRPr sz="1725" b="0">
                <a:solidFill>
                  <a:srgbClr val="000000"/>
                </a:solidFill>
                <a:latin typeface="Calibri"/>
                <a:ea typeface="Calibri"/>
                <a:cs typeface="Calibri"/>
              </a:defRPr>
            </a:lvl5pPr>
            <a:lvl6pPr>
              <a:defRPr sz="1725" b="0">
                <a:solidFill>
                  <a:srgbClr val="000000"/>
                </a:solidFill>
                <a:latin typeface="Calibri"/>
                <a:ea typeface="Calibri"/>
                <a:cs typeface="Calibri"/>
              </a:defRPr>
            </a:lvl6pPr>
            <a:lvl7pPr>
              <a:defRPr sz="1725" b="0">
                <a:solidFill>
                  <a:srgbClr val="000000"/>
                </a:solidFill>
                <a:latin typeface="Calibri"/>
                <a:ea typeface="Calibri"/>
                <a:cs typeface="Calibri"/>
              </a:defRPr>
            </a:lvl7pPr>
            <a:lvl8pPr>
              <a:defRPr sz="1725" b="0">
                <a:solidFill>
                  <a:srgbClr val="000000"/>
                </a:solidFill>
                <a:latin typeface="Calibri"/>
                <a:ea typeface="Calibri"/>
                <a:cs typeface="Calibri"/>
              </a:defRPr>
            </a:lvl8pPr>
            <a:lvl9pPr>
              <a:defRPr sz="1725" b="0">
                <a:solidFill>
                  <a:srgbClr val="000000"/>
                </a:solidFill>
                <a:latin typeface="Calibri"/>
                <a:ea typeface="Calibri"/>
                <a:cs typeface="Calibri"/>
              </a:defRPr>
            </a:lvl9pPr>
          </a:lstStyle>
          <a:p>
            <a:pPr>
              <a:defRPr sz="1725" b="0">
                <a:solidFill>
                  <a:srgbClr val="000000"/>
                </a:solidFill>
                <a:latin typeface="Calibri"/>
                <a:ea typeface="Calibri"/>
                <a:cs typeface="Calibri"/>
              </a:defRPr>
            </a:pPr>
            <a:r>
              <a:rPr sz="1725" b="0">
                <a:solidFill>
                  <a:srgbClr val="000000"/>
                </a:solidFill>
                <a:latin typeface="Calibri"/>
                <a:ea typeface="Calibri"/>
                <a:cs typeface="Calibri"/>
              </a:rPr>
              <a:t>Climb height rises from 30 to 52.5 m. Wingborne climb shortens, and level flight is adjusted to retain 300 minutes airborne.</a:t>
            </a:r>
          </a:p>
        </p:txBody>
      </p:sp>
      <p:sp>
        <p:nvSpPr>
          <p:cNvPr id="9" name="Rectangle 8">
            <a:extLst>
              <a:ext uri="{FF2B5EF4-FFF2-40B4-BE49-F238E27FC236}">
                <a16:creationId xmlns:a16="http://schemas.microsoft.com/office/drawing/2014/main" id="{C0237D66-EBA3-4879-8658-D5E46BAA6901}"/>
              </a:ext>
            </a:extLst>
          </p:cNvPr>
          <p:cNvSpPr>
            <a:spLocks noGrp="1"/>
          </p:cNvSpPr>
          <p:nvPr/>
        </p:nvSpPr>
        <p:spPr>
          <a:xfrm>
            <a:off x="476250" y="6400800"/>
            <a:ext cx="10810875" cy="381000"/>
          </a:xfrm>
          <a:prstGeom prst="rect">
            <a:avLst/>
          </a:prstGeom>
          <a:noFill/>
          <a:ln w="0">
            <a:noFill/>
            <a:prstDash val="solid"/>
          </a:ln>
        </p:spPr>
        <p:txBody>
          <a:bodyPr lIns="0" tIns="0" rIns="0" bIns="0"/>
          <a:lstStyle>
            <a:defPPr>
              <a:defRPr sz="1125" b="0">
                <a:solidFill>
                  <a:srgbClr val="444444"/>
                </a:solidFill>
                <a:latin typeface="Calibri"/>
                <a:ea typeface="Calibri"/>
                <a:cs typeface="Calibri"/>
              </a:defRPr>
            </a:defPPr>
            <a:lvl1pPr>
              <a:defRPr sz="1125" b="0">
                <a:solidFill>
                  <a:srgbClr val="444444"/>
                </a:solidFill>
                <a:latin typeface="Calibri"/>
                <a:ea typeface="Calibri"/>
                <a:cs typeface="Calibri"/>
              </a:defRPr>
            </a:lvl1pPr>
            <a:lvl2pPr>
              <a:defRPr sz="1125" b="0">
                <a:solidFill>
                  <a:srgbClr val="444444"/>
                </a:solidFill>
                <a:latin typeface="Calibri"/>
                <a:ea typeface="Calibri"/>
                <a:cs typeface="Calibri"/>
              </a:defRPr>
            </a:lvl2pPr>
            <a:lvl3pPr>
              <a:defRPr sz="1125" b="0">
                <a:solidFill>
                  <a:srgbClr val="444444"/>
                </a:solidFill>
                <a:latin typeface="Calibri"/>
                <a:ea typeface="Calibri"/>
                <a:cs typeface="Calibri"/>
              </a:defRPr>
            </a:lvl3pPr>
            <a:lvl4pPr>
              <a:defRPr sz="1125" b="0">
                <a:solidFill>
                  <a:srgbClr val="444444"/>
                </a:solidFill>
                <a:latin typeface="Calibri"/>
                <a:ea typeface="Calibri"/>
                <a:cs typeface="Calibri"/>
              </a:defRPr>
            </a:lvl4pPr>
            <a:lvl5pPr>
              <a:defRPr sz="1125" b="0">
                <a:solidFill>
                  <a:srgbClr val="444444"/>
                </a:solidFill>
                <a:latin typeface="Calibri"/>
                <a:ea typeface="Calibri"/>
                <a:cs typeface="Calibri"/>
              </a:defRPr>
            </a:lvl5pPr>
            <a:lvl6pPr>
              <a:defRPr sz="1125" b="0">
                <a:solidFill>
                  <a:srgbClr val="444444"/>
                </a:solidFill>
                <a:latin typeface="Calibri"/>
                <a:ea typeface="Calibri"/>
                <a:cs typeface="Calibri"/>
              </a:defRPr>
            </a:lvl6pPr>
            <a:lvl7pPr>
              <a:defRPr sz="1125" b="0">
                <a:solidFill>
                  <a:srgbClr val="444444"/>
                </a:solidFill>
                <a:latin typeface="Calibri"/>
                <a:ea typeface="Calibri"/>
                <a:cs typeface="Calibri"/>
              </a:defRPr>
            </a:lvl7pPr>
            <a:lvl8pPr>
              <a:defRPr sz="1125" b="0">
                <a:solidFill>
                  <a:srgbClr val="444444"/>
                </a:solidFill>
                <a:latin typeface="Calibri"/>
                <a:ea typeface="Calibri"/>
                <a:cs typeface="Calibri"/>
              </a:defRPr>
            </a:lvl8pPr>
            <a:lvl9pPr>
              <a:defRPr sz="1125" b="0">
                <a:solidFill>
                  <a:srgbClr val="444444"/>
                </a:solidFill>
                <a:latin typeface="Calibri"/>
                <a:ea typeface="Calibri"/>
                <a:cs typeface="Calibri"/>
              </a:defRPr>
            </a:lvl9pPr>
          </a:lstStyle>
          <a:p>
            <a:pPr>
              <a:defRPr sz="1125" b="0">
                <a:solidFill>
                  <a:srgbClr val="444444"/>
                </a:solidFill>
                <a:latin typeface="Calibri"/>
                <a:ea typeface="Calibri"/>
                <a:cs typeface="Calibri"/>
              </a:defRPr>
            </a:pPr>
            <a:r>
              <a:rPr sz="1125" b="0">
                <a:solidFill>
                  <a:srgbClr val="444444"/>
                </a:solidFill>
                <a:latin typeface="Calibri"/>
                <a:ea typeface="Calibri"/>
                <a:cs typeface="Calibri"/>
              </a:rPr>
              <a:t>[S7] Logged vertical30-20261028 campaign, 28 Oct 2026: four controls and four corrected designs, including sizing iterations.</a:t>
            </a:r>
          </a:p>
          <a:p>
            <a:pPr>
              <a:defRPr sz="1125" b="0">
                <a:solidFill>
                  <a:srgbClr val="444444"/>
                </a:solidFill>
                <a:latin typeface="Calibri"/>
                <a:ea typeface="Calibri"/>
                <a:cs typeface="Calibri"/>
              </a:defRPr>
            </a:pPr>
            <a:r>
              <a:rPr sz="1125" b="0">
                <a:solidFill>
                  <a:srgbClr val="444444"/>
                </a:solidFill>
                <a:latin typeface="Calibri"/>
                <a:ea typeface="Calibri"/>
                <a:cs typeface="Calibri"/>
              </a:rPr>
              <a:t>Previous column uses saved slide results. These sub-0.1 kg changes are below conceptual-model accuracy.</a:t>
            </a:r>
          </a:p>
        </p:txBody>
      </p:sp>
      <p:sp>
        <p:nvSpPr>
          <p:cNvPr id="11" name="TextBox 10">
            <a:extLst>
              <a:ext uri="{FF2B5EF4-FFF2-40B4-BE49-F238E27FC236}">
                <a16:creationId xmlns:a16="http://schemas.microsoft.com/office/drawing/2014/main" id="{66269C38-F13D-D044-690C-BA8D73FCB872}"/>
              </a:ext>
            </a:extLst>
          </p:cNvPr>
          <p:cNvSpPr txBox="1"/>
          <p:nvPr/>
        </p:nvSpPr>
        <p:spPr>
          <a:xfrm>
            <a:off x="11671300" y="6527800"/>
            <a:ext cx="355600" cy="153888"/>
          </a:xfrm>
          <a:prstGeom prst="rect">
            <a:avLst/>
          </a:prstGeom>
          <a:noFill/>
        </p:spPr>
        <p:txBody>
          <a:bodyPr vert="horz" lIns="0" tIns="0" rIns="0" bIns="0" rtlCol="0">
            <a:spAutoFit/>
          </a:bodyPr>
          <a:lstStyle/>
          <a:p>
            <a:r>
              <a:rPr lang="en-US" sz="1000">
                <a:solidFill>
                  <a:srgbClr val="000000"/>
                </a:solidFill>
                <a:latin typeface="Calibri" panose="020F0502020204030204" pitchFamily="34" charset="0"/>
              </a:rPr>
              <a:t>18</a:t>
            </a:r>
          </a:p>
        </p:txBody>
      </p:sp>
    </p:spTree>
    <p:extLst>
      <p:ext uri="{BB962C8B-B14F-4D97-AF65-F5344CB8AC3E}">
        <p14:creationId xmlns:p14="http://schemas.microsoft.com/office/powerpoint/2010/main" val="178748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2889F12-C7A7-48C5-8C65-4E83E7A51064}"/>
              </a:ext>
            </a:extLst>
          </p:cNvPr>
          <p:cNvSpPr>
            <a:spLocks noGrp="1"/>
          </p:cNvSpPr>
          <p:nvPr/>
        </p:nvSpPr>
        <p:spPr>
          <a:xfrm>
            <a:off x="838200" y="361950"/>
            <a:ext cx="10896600" cy="495300"/>
          </a:xfrm>
          <a:prstGeom prst="rect">
            <a:avLst/>
          </a:prstGeom>
          <a:noFill/>
          <a:ln w="0">
            <a:noFill/>
            <a:prstDash val="solid"/>
          </a:ln>
        </p:spPr>
        <p:txBody>
          <a:bodyPr lIns="0" tIns="0" rIns="0" bIns="0"/>
          <a:lstStyle>
            <a:defPPr>
              <a:defRPr sz="2400" b="1">
                <a:solidFill>
                  <a:srgbClr val="000000"/>
                </a:solidFill>
                <a:latin typeface="Calibri"/>
                <a:ea typeface="Calibri"/>
                <a:cs typeface="Calibri"/>
              </a:defRPr>
            </a:defPPr>
            <a:lvl1pPr>
              <a:defRPr sz="2400" b="1">
                <a:solidFill>
                  <a:srgbClr val="000000"/>
                </a:solidFill>
                <a:latin typeface="Calibri"/>
                <a:ea typeface="Calibri"/>
                <a:cs typeface="Calibri"/>
              </a:defRPr>
            </a:lvl1pPr>
            <a:lvl2pPr>
              <a:defRPr sz="2400" b="1">
                <a:solidFill>
                  <a:srgbClr val="000000"/>
                </a:solidFill>
                <a:latin typeface="Calibri"/>
                <a:ea typeface="Calibri"/>
                <a:cs typeface="Calibri"/>
              </a:defRPr>
            </a:lvl2pPr>
            <a:lvl3pPr>
              <a:defRPr sz="2400" b="1">
                <a:solidFill>
                  <a:srgbClr val="000000"/>
                </a:solidFill>
                <a:latin typeface="Calibri"/>
                <a:ea typeface="Calibri"/>
                <a:cs typeface="Calibri"/>
              </a:defRPr>
            </a:lvl3pPr>
            <a:lvl4pPr>
              <a:defRPr sz="2400" b="1">
                <a:solidFill>
                  <a:srgbClr val="000000"/>
                </a:solidFill>
                <a:latin typeface="Calibri"/>
                <a:ea typeface="Calibri"/>
                <a:cs typeface="Calibri"/>
              </a:defRPr>
            </a:lvl4pPr>
            <a:lvl5pPr>
              <a:defRPr sz="2400" b="1">
                <a:solidFill>
                  <a:srgbClr val="000000"/>
                </a:solidFill>
                <a:latin typeface="Calibri"/>
                <a:ea typeface="Calibri"/>
                <a:cs typeface="Calibri"/>
              </a:defRPr>
            </a:lvl5pPr>
            <a:lvl6pPr>
              <a:defRPr sz="2400" b="1">
                <a:solidFill>
                  <a:srgbClr val="000000"/>
                </a:solidFill>
                <a:latin typeface="Calibri"/>
                <a:ea typeface="Calibri"/>
                <a:cs typeface="Calibri"/>
              </a:defRPr>
            </a:lvl6pPr>
            <a:lvl7pPr>
              <a:defRPr sz="2400" b="1">
                <a:solidFill>
                  <a:srgbClr val="000000"/>
                </a:solidFill>
                <a:latin typeface="Calibri"/>
                <a:ea typeface="Calibri"/>
                <a:cs typeface="Calibri"/>
              </a:defRPr>
            </a:lvl7pPr>
            <a:lvl8pPr>
              <a:defRPr sz="2400" b="1">
                <a:solidFill>
                  <a:srgbClr val="000000"/>
                </a:solidFill>
                <a:latin typeface="Calibri"/>
                <a:ea typeface="Calibri"/>
                <a:cs typeface="Calibri"/>
              </a:defRPr>
            </a:lvl8pPr>
            <a:lvl9pPr>
              <a:defRPr sz="2400" b="1">
                <a:solidFill>
                  <a:srgbClr val="000000"/>
                </a:solidFill>
                <a:latin typeface="Calibri"/>
                <a:ea typeface="Calibri"/>
                <a:cs typeface="Calibri"/>
              </a:defRPr>
            </a:lvl9pPr>
          </a:lstStyle>
          <a:p>
            <a:pPr>
              <a:defRPr sz="2400" b="1">
                <a:solidFill>
                  <a:srgbClr val="000000"/>
                </a:solidFill>
                <a:latin typeface="Calibri"/>
                <a:ea typeface="Calibri"/>
                <a:cs typeface="Calibri"/>
              </a:defRPr>
            </a:pPr>
            <a:r>
              <a:rPr sz="2400" b="1">
                <a:solidFill>
                  <a:srgbClr val="000000"/>
                </a:solidFill>
                <a:latin typeface="Calibri"/>
                <a:ea typeface="Calibri"/>
                <a:cs typeface="Calibri"/>
              </a:rPr>
              <a:t>Disk Loading and Wing Loading</a:t>
            </a:r>
          </a:p>
        </p:txBody>
      </p:sp>
      <p:sp>
        <p:nvSpPr>
          <p:cNvPr id="2" name="Rectangle 1">
            <a:extLst>
              <a:ext uri="{FF2B5EF4-FFF2-40B4-BE49-F238E27FC236}">
                <a16:creationId xmlns:a16="http://schemas.microsoft.com/office/drawing/2014/main" id="{F26465C7-7A63-4A8E-ABB6-6C712DF1D35B}"/>
              </a:ext>
            </a:extLst>
          </p:cNvPr>
          <p:cNvSpPr>
            <a:spLocks noGrp="1"/>
          </p:cNvSpPr>
          <p:nvPr/>
        </p:nvSpPr>
        <p:spPr>
          <a:xfrm>
            <a:off x="476250" y="895350"/>
            <a:ext cx="11239500" cy="523875"/>
          </a:xfrm>
          <a:prstGeom prst="rect">
            <a:avLst/>
          </a:prstGeom>
          <a:noFill/>
          <a:ln w="0">
            <a:noFill/>
            <a:prstDash val="solid"/>
          </a:ln>
        </p:spPr>
        <p:txBody>
          <a:bodyPr lIns="0" tIns="0" rIns="0" bIns="0"/>
          <a:lstStyle>
            <a:defPPr>
              <a:defRPr sz="1575" b="0">
                <a:solidFill>
                  <a:srgbClr val="444444"/>
                </a:solidFill>
                <a:latin typeface="Calibri"/>
                <a:ea typeface="Calibri"/>
                <a:cs typeface="Calibri"/>
              </a:defRPr>
            </a:defPPr>
            <a:lvl1pPr>
              <a:defRPr sz="1575" b="0">
                <a:solidFill>
                  <a:srgbClr val="444444"/>
                </a:solidFill>
                <a:latin typeface="Calibri"/>
                <a:ea typeface="Calibri"/>
                <a:cs typeface="Calibri"/>
              </a:defRPr>
            </a:lvl1pPr>
            <a:lvl2pPr>
              <a:defRPr sz="1575" b="0">
                <a:solidFill>
                  <a:srgbClr val="444444"/>
                </a:solidFill>
                <a:latin typeface="Calibri"/>
                <a:ea typeface="Calibri"/>
                <a:cs typeface="Calibri"/>
              </a:defRPr>
            </a:lvl2pPr>
            <a:lvl3pPr>
              <a:defRPr sz="1575" b="0">
                <a:solidFill>
                  <a:srgbClr val="444444"/>
                </a:solidFill>
                <a:latin typeface="Calibri"/>
                <a:ea typeface="Calibri"/>
                <a:cs typeface="Calibri"/>
              </a:defRPr>
            </a:lvl3pPr>
            <a:lvl4pPr>
              <a:defRPr sz="1575" b="0">
                <a:solidFill>
                  <a:srgbClr val="444444"/>
                </a:solidFill>
                <a:latin typeface="Calibri"/>
                <a:ea typeface="Calibri"/>
                <a:cs typeface="Calibri"/>
              </a:defRPr>
            </a:lvl4pPr>
            <a:lvl5pPr>
              <a:defRPr sz="1575" b="0">
                <a:solidFill>
                  <a:srgbClr val="444444"/>
                </a:solidFill>
                <a:latin typeface="Calibri"/>
                <a:ea typeface="Calibri"/>
                <a:cs typeface="Calibri"/>
              </a:defRPr>
            </a:lvl5pPr>
            <a:lvl6pPr>
              <a:defRPr sz="1575" b="0">
                <a:solidFill>
                  <a:srgbClr val="444444"/>
                </a:solidFill>
                <a:latin typeface="Calibri"/>
                <a:ea typeface="Calibri"/>
                <a:cs typeface="Calibri"/>
              </a:defRPr>
            </a:lvl6pPr>
            <a:lvl7pPr>
              <a:defRPr sz="1575" b="0">
                <a:solidFill>
                  <a:srgbClr val="444444"/>
                </a:solidFill>
                <a:latin typeface="Calibri"/>
                <a:ea typeface="Calibri"/>
                <a:cs typeface="Calibri"/>
              </a:defRPr>
            </a:lvl7pPr>
            <a:lvl8pPr>
              <a:defRPr sz="1575" b="0">
                <a:solidFill>
                  <a:srgbClr val="444444"/>
                </a:solidFill>
                <a:latin typeface="Calibri"/>
                <a:ea typeface="Calibri"/>
                <a:cs typeface="Calibri"/>
              </a:defRPr>
            </a:lvl8pPr>
            <a:lvl9pPr>
              <a:defRPr sz="1575" b="0">
                <a:solidFill>
                  <a:srgbClr val="444444"/>
                </a:solidFill>
                <a:latin typeface="Calibri"/>
                <a:ea typeface="Calibri"/>
                <a:cs typeface="Calibri"/>
              </a:defRPr>
            </a:lvl9pPr>
          </a:lstStyle>
          <a:p>
            <a:pPr>
              <a:defRPr sz="1575" b="0">
                <a:solidFill>
                  <a:srgbClr val="444444"/>
                </a:solidFill>
                <a:latin typeface="Calibri"/>
                <a:ea typeface="Calibri"/>
                <a:cs typeface="Calibri"/>
              </a:defRPr>
            </a:pPr>
            <a:r>
              <a:rPr sz="1575" b="0">
                <a:solidFill>
                  <a:srgbClr val="444444"/>
                </a:solidFill>
                <a:latin typeface="Calibri"/>
                <a:ea typeface="Calibri"/>
                <a:cs typeface="Calibri"/>
              </a:rPr>
              <a:t>Lower loading changes geometry and power together. Wing mass is not a monotonic function of wing loading.</a:t>
            </a:r>
          </a:p>
        </p:txBody>
      </p:sp>
      <p:sp>
        <p:nvSpPr>
          <p:cNvPr id="3" name="Rectangle 2">
            <a:extLst>
              <a:ext uri="{FF2B5EF4-FFF2-40B4-BE49-F238E27FC236}">
                <a16:creationId xmlns:a16="http://schemas.microsoft.com/office/drawing/2014/main" id="{BF783E84-B340-442D-BE70-14C0F0B84A46}"/>
              </a:ext>
            </a:extLst>
          </p:cNvPr>
          <p:cNvSpPr>
            <a:spLocks noGrp="1"/>
          </p:cNvSpPr>
          <p:nvPr/>
        </p:nvSpPr>
        <p:spPr>
          <a:xfrm>
            <a:off x="11382375" y="6524625"/>
            <a:ext cx="333375" cy="219075"/>
          </a:xfrm>
          <a:prstGeom prst="rect">
            <a:avLst/>
          </a:prstGeom>
          <a:noFill/>
          <a:ln w="0">
            <a:noFill/>
            <a:prstDash val="solid"/>
          </a:ln>
        </p:spPr>
        <p:txBody>
          <a:bodyPr lIns="0" tIns="0" rIns="0" bIns="0"/>
          <a:lstStyle>
            <a:defPPr>
              <a:defRPr sz="1125" b="0">
                <a:solidFill>
                  <a:srgbClr val="444444"/>
                </a:solidFill>
                <a:latin typeface="Calibri"/>
                <a:ea typeface="Calibri"/>
                <a:cs typeface="Calibri"/>
              </a:defRPr>
            </a:defPPr>
            <a:lvl1pPr>
              <a:defRPr sz="1125" b="0">
                <a:solidFill>
                  <a:srgbClr val="444444"/>
                </a:solidFill>
                <a:latin typeface="Calibri"/>
                <a:ea typeface="Calibri"/>
                <a:cs typeface="Calibri"/>
              </a:defRPr>
            </a:lvl1pPr>
            <a:lvl2pPr>
              <a:defRPr sz="1125" b="0">
                <a:solidFill>
                  <a:srgbClr val="444444"/>
                </a:solidFill>
                <a:latin typeface="Calibri"/>
                <a:ea typeface="Calibri"/>
                <a:cs typeface="Calibri"/>
              </a:defRPr>
            </a:lvl2pPr>
            <a:lvl3pPr>
              <a:defRPr sz="1125" b="0">
                <a:solidFill>
                  <a:srgbClr val="444444"/>
                </a:solidFill>
                <a:latin typeface="Calibri"/>
                <a:ea typeface="Calibri"/>
                <a:cs typeface="Calibri"/>
              </a:defRPr>
            </a:lvl3pPr>
            <a:lvl4pPr>
              <a:defRPr sz="1125" b="0">
                <a:solidFill>
                  <a:srgbClr val="444444"/>
                </a:solidFill>
                <a:latin typeface="Calibri"/>
                <a:ea typeface="Calibri"/>
                <a:cs typeface="Calibri"/>
              </a:defRPr>
            </a:lvl4pPr>
            <a:lvl5pPr>
              <a:defRPr sz="1125" b="0">
                <a:solidFill>
                  <a:srgbClr val="444444"/>
                </a:solidFill>
                <a:latin typeface="Calibri"/>
                <a:ea typeface="Calibri"/>
                <a:cs typeface="Calibri"/>
              </a:defRPr>
            </a:lvl5pPr>
            <a:lvl6pPr>
              <a:defRPr sz="1125" b="0">
                <a:solidFill>
                  <a:srgbClr val="444444"/>
                </a:solidFill>
                <a:latin typeface="Calibri"/>
                <a:ea typeface="Calibri"/>
                <a:cs typeface="Calibri"/>
              </a:defRPr>
            </a:lvl6pPr>
            <a:lvl7pPr>
              <a:defRPr sz="1125" b="0">
                <a:solidFill>
                  <a:srgbClr val="444444"/>
                </a:solidFill>
                <a:latin typeface="Calibri"/>
                <a:ea typeface="Calibri"/>
                <a:cs typeface="Calibri"/>
              </a:defRPr>
            </a:lvl7pPr>
            <a:lvl8pPr>
              <a:defRPr sz="1125" b="0">
                <a:solidFill>
                  <a:srgbClr val="444444"/>
                </a:solidFill>
                <a:latin typeface="Calibri"/>
                <a:ea typeface="Calibri"/>
                <a:cs typeface="Calibri"/>
              </a:defRPr>
            </a:lvl8pPr>
            <a:lvl9pPr>
              <a:defRPr sz="1125" b="0">
                <a:solidFill>
                  <a:srgbClr val="444444"/>
                </a:solidFill>
                <a:latin typeface="Calibri"/>
                <a:ea typeface="Calibri"/>
                <a:cs typeface="Calibri"/>
              </a:defRPr>
            </a:lvl9pPr>
          </a:lstStyle>
          <a:p>
            <a:pPr>
              <a:defRPr sz="1125" b="0">
                <a:solidFill>
                  <a:srgbClr val="444444"/>
                </a:solidFill>
                <a:latin typeface="Calibri"/>
                <a:ea typeface="Calibri"/>
                <a:cs typeface="Calibri"/>
              </a:defRPr>
            </a:pPr>
            <a:endParaRPr sz="1125" b="0">
              <a:solidFill>
                <a:srgbClr val="444444"/>
              </a:solidFill>
              <a:latin typeface="Calibri"/>
              <a:ea typeface="Calibri"/>
              <a:cs typeface="Calibri"/>
            </a:endParaRPr>
          </a:p>
        </p:txBody>
      </p:sp>
      <p:sp>
        <p:nvSpPr>
          <p:cNvPr id="4" name="Rectangle 3">
            <a:extLst>
              <a:ext uri="{FF2B5EF4-FFF2-40B4-BE49-F238E27FC236}">
                <a16:creationId xmlns:a16="http://schemas.microsoft.com/office/drawing/2014/main" id="{EABAC610-A606-41C9-A19E-8102230C61E0}"/>
              </a:ext>
            </a:extLst>
          </p:cNvPr>
          <p:cNvSpPr>
            <a:spLocks noGrp="1"/>
          </p:cNvSpPr>
          <p:nvPr/>
        </p:nvSpPr>
        <p:spPr>
          <a:xfrm>
            <a:off x="476250" y="1714500"/>
            <a:ext cx="5334000" cy="333375"/>
          </a:xfrm>
          <a:prstGeom prst="rect">
            <a:avLst/>
          </a:prstGeom>
          <a:noFill/>
          <a:ln w="0">
            <a:noFill/>
            <a:prstDash val="solid"/>
          </a:ln>
        </p:spPr>
        <p:txBody>
          <a:bodyPr lIns="0" tIns="0" rIns="0" bIns="0"/>
          <a:lstStyle>
            <a:defPPr>
              <a:defRPr sz="1875" b="1">
                <a:solidFill>
                  <a:srgbClr val="000000"/>
                </a:solidFill>
                <a:latin typeface="Calibri"/>
                <a:ea typeface="Calibri"/>
                <a:cs typeface="Calibri"/>
              </a:defRPr>
            </a:defPPr>
            <a:lvl1pPr>
              <a:defRPr sz="1875" b="1">
                <a:solidFill>
                  <a:srgbClr val="000000"/>
                </a:solidFill>
                <a:latin typeface="Calibri"/>
                <a:ea typeface="Calibri"/>
                <a:cs typeface="Calibri"/>
              </a:defRPr>
            </a:lvl1pPr>
            <a:lvl2pPr>
              <a:defRPr sz="1875" b="1">
                <a:solidFill>
                  <a:srgbClr val="000000"/>
                </a:solidFill>
                <a:latin typeface="Calibri"/>
                <a:ea typeface="Calibri"/>
                <a:cs typeface="Calibri"/>
              </a:defRPr>
            </a:lvl2pPr>
            <a:lvl3pPr>
              <a:defRPr sz="1875" b="1">
                <a:solidFill>
                  <a:srgbClr val="000000"/>
                </a:solidFill>
                <a:latin typeface="Calibri"/>
                <a:ea typeface="Calibri"/>
                <a:cs typeface="Calibri"/>
              </a:defRPr>
            </a:lvl3pPr>
            <a:lvl4pPr>
              <a:defRPr sz="1875" b="1">
                <a:solidFill>
                  <a:srgbClr val="000000"/>
                </a:solidFill>
                <a:latin typeface="Calibri"/>
                <a:ea typeface="Calibri"/>
                <a:cs typeface="Calibri"/>
              </a:defRPr>
            </a:lvl4pPr>
            <a:lvl5pPr>
              <a:defRPr sz="1875" b="1">
                <a:solidFill>
                  <a:srgbClr val="000000"/>
                </a:solidFill>
                <a:latin typeface="Calibri"/>
                <a:ea typeface="Calibri"/>
                <a:cs typeface="Calibri"/>
              </a:defRPr>
            </a:lvl5pPr>
            <a:lvl6pPr>
              <a:defRPr sz="1875" b="1">
                <a:solidFill>
                  <a:srgbClr val="000000"/>
                </a:solidFill>
                <a:latin typeface="Calibri"/>
                <a:ea typeface="Calibri"/>
                <a:cs typeface="Calibri"/>
              </a:defRPr>
            </a:lvl6pPr>
            <a:lvl7pPr>
              <a:defRPr sz="1875" b="1">
                <a:solidFill>
                  <a:srgbClr val="000000"/>
                </a:solidFill>
                <a:latin typeface="Calibri"/>
                <a:ea typeface="Calibri"/>
                <a:cs typeface="Calibri"/>
              </a:defRPr>
            </a:lvl7pPr>
            <a:lvl8pPr>
              <a:defRPr sz="1875" b="1">
                <a:solidFill>
                  <a:srgbClr val="000000"/>
                </a:solidFill>
                <a:latin typeface="Calibri"/>
                <a:ea typeface="Calibri"/>
                <a:cs typeface="Calibri"/>
              </a:defRPr>
            </a:lvl8pPr>
            <a:lvl9pPr>
              <a:defRPr sz="1875" b="1">
                <a:solidFill>
                  <a:srgbClr val="000000"/>
                </a:solidFill>
                <a:latin typeface="Calibri"/>
                <a:ea typeface="Calibri"/>
                <a:cs typeface="Calibri"/>
              </a:defRPr>
            </a:lvl9pPr>
          </a:lstStyle>
          <a:p>
            <a:pPr>
              <a:defRPr sz="1875" b="1">
                <a:solidFill>
                  <a:srgbClr val="000000"/>
                </a:solidFill>
                <a:latin typeface="Calibri"/>
                <a:ea typeface="Calibri"/>
                <a:cs typeface="Calibri"/>
              </a:defRPr>
            </a:pPr>
            <a:r>
              <a:rPr sz="1875" b="1">
                <a:solidFill>
                  <a:srgbClr val="000000"/>
                </a:solidFill>
                <a:latin typeface="Calibri"/>
                <a:ea typeface="Calibri"/>
                <a:cs typeface="Calibri"/>
              </a:rPr>
              <a:t>DISK LOADING</a:t>
            </a:r>
          </a:p>
        </p:txBody>
      </p:sp>
      <p:sp>
        <p:nvSpPr>
          <p:cNvPr id="5" name="Rectangle 4">
            <a:extLst>
              <a:ext uri="{FF2B5EF4-FFF2-40B4-BE49-F238E27FC236}">
                <a16:creationId xmlns:a16="http://schemas.microsoft.com/office/drawing/2014/main" id="{1882107C-BE95-47D3-AF5C-E167E7623538}"/>
              </a:ext>
            </a:extLst>
          </p:cNvPr>
          <p:cNvSpPr>
            <a:spLocks noGrp="1"/>
          </p:cNvSpPr>
          <p:nvPr/>
        </p:nvSpPr>
        <p:spPr>
          <a:xfrm>
            <a:off x="476250" y="2190750"/>
            <a:ext cx="5334000" cy="428625"/>
          </a:xfrm>
          <a:prstGeom prst="rect">
            <a:avLst/>
          </a:prstGeom>
          <a:noFill/>
          <a:ln w="0">
            <a:noFill/>
            <a:prstDash val="solid"/>
          </a:ln>
        </p:spPr>
        <p:txBody>
          <a:bodyPr lIns="0" tIns="0" rIns="0" bIns="0"/>
          <a:lstStyle>
            <a:defPPr>
              <a:defRPr sz="1950" b="0">
                <a:solidFill>
                  <a:srgbClr val="000000"/>
                </a:solidFill>
                <a:latin typeface="Calibri"/>
                <a:ea typeface="Calibri"/>
                <a:cs typeface="Calibri"/>
              </a:defRPr>
            </a:defPPr>
            <a:lvl1pPr>
              <a:defRPr sz="1950" b="0">
                <a:solidFill>
                  <a:srgbClr val="000000"/>
                </a:solidFill>
                <a:latin typeface="Calibri"/>
                <a:ea typeface="Calibri"/>
                <a:cs typeface="Calibri"/>
              </a:defRPr>
            </a:lvl1pPr>
            <a:lvl2pPr>
              <a:defRPr sz="1950" b="0">
                <a:solidFill>
                  <a:srgbClr val="000000"/>
                </a:solidFill>
                <a:latin typeface="Calibri"/>
                <a:ea typeface="Calibri"/>
                <a:cs typeface="Calibri"/>
              </a:defRPr>
            </a:lvl2pPr>
            <a:lvl3pPr>
              <a:defRPr sz="1950" b="0">
                <a:solidFill>
                  <a:srgbClr val="000000"/>
                </a:solidFill>
                <a:latin typeface="Calibri"/>
                <a:ea typeface="Calibri"/>
                <a:cs typeface="Calibri"/>
              </a:defRPr>
            </a:lvl3pPr>
            <a:lvl4pPr>
              <a:defRPr sz="1950" b="0">
                <a:solidFill>
                  <a:srgbClr val="000000"/>
                </a:solidFill>
                <a:latin typeface="Calibri"/>
                <a:ea typeface="Calibri"/>
                <a:cs typeface="Calibri"/>
              </a:defRPr>
            </a:lvl4pPr>
            <a:lvl5pPr>
              <a:defRPr sz="1950" b="0">
                <a:solidFill>
                  <a:srgbClr val="000000"/>
                </a:solidFill>
                <a:latin typeface="Calibri"/>
                <a:ea typeface="Calibri"/>
                <a:cs typeface="Calibri"/>
              </a:defRPr>
            </a:lvl5pPr>
            <a:lvl6pPr>
              <a:defRPr sz="1950" b="0">
                <a:solidFill>
                  <a:srgbClr val="000000"/>
                </a:solidFill>
                <a:latin typeface="Calibri"/>
                <a:ea typeface="Calibri"/>
                <a:cs typeface="Calibri"/>
              </a:defRPr>
            </a:lvl6pPr>
            <a:lvl7pPr>
              <a:defRPr sz="1950" b="0">
                <a:solidFill>
                  <a:srgbClr val="000000"/>
                </a:solidFill>
                <a:latin typeface="Calibri"/>
                <a:ea typeface="Calibri"/>
                <a:cs typeface="Calibri"/>
              </a:defRPr>
            </a:lvl7pPr>
            <a:lvl8pPr>
              <a:defRPr sz="1950" b="0">
                <a:solidFill>
                  <a:srgbClr val="000000"/>
                </a:solidFill>
                <a:latin typeface="Calibri"/>
                <a:ea typeface="Calibri"/>
                <a:cs typeface="Calibri"/>
              </a:defRPr>
            </a:lvl8pPr>
            <a:lvl9pPr>
              <a:defRPr sz="1950" b="0">
                <a:solidFill>
                  <a:srgbClr val="000000"/>
                </a:solidFill>
                <a:latin typeface="Calibri"/>
                <a:ea typeface="Calibri"/>
                <a:cs typeface="Calibri"/>
              </a:defRPr>
            </a:lvl9pPr>
          </a:lstStyle>
          <a:p>
            <a:pPr>
              <a:defRPr sz="1950" b="0">
                <a:solidFill>
                  <a:srgbClr val="000000"/>
                </a:solidFill>
                <a:latin typeface="Calibri"/>
                <a:ea typeface="Calibri"/>
                <a:cs typeface="Calibri"/>
              </a:defRPr>
            </a:pPr>
            <a:r>
              <a:rPr sz="1950" b="0">
                <a:solidFill>
                  <a:srgbClr val="000000"/>
                </a:solidFill>
                <a:latin typeface="Calibri"/>
                <a:ea typeface="Calibri"/>
                <a:cs typeface="Calibri"/>
              </a:rPr>
              <a:t>DL = gross mass / total lift-disk area</a:t>
            </a:r>
          </a:p>
        </p:txBody>
      </p:sp>
      <p:sp>
        <p:nvSpPr>
          <p:cNvPr id="6" name="Rectangle 5">
            <a:extLst>
              <a:ext uri="{FF2B5EF4-FFF2-40B4-BE49-F238E27FC236}">
                <a16:creationId xmlns:a16="http://schemas.microsoft.com/office/drawing/2014/main" id="{2A35860E-EF3F-4F76-9891-E3C9678F691A}"/>
              </a:ext>
            </a:extLst>
          </p:cNvPr>
          <p:cNvSpPr>
            <a:spLocks noGrp="1"/>
          </p:cNvSpPr>
          <p:nvPr/>
        </p:nvSpPr>
        <p:spPr>
          <a:xfrm>
            <a:off x="476250" y="2809875"/>
            <a:ext cx="5238750" cy="1381125"/>
          </a:xfrm>
          <a:prstGeom prst="rect">
            <a:avLst/>
          </a:prstGeom>
          <a:noFill/>
          <a:ln w="0">
            <a:noFill/>
            <a:prstDash val="solid"/>
          </a:ln>
        </p:spPr>
        <p:txBody>
          <a:bodyPr lIns="0" tIns="0" rIns="0" bIns="0"/>
          <a:lstStyle>
            <a:defPPr>
              <a:defRPr sz="1800" b="0">
                <a:solidFill>
                  <a:srgbClr val="000000"/>
                </a:solidFill>
                <a:latin typeface="Calibri"/>
                <a:ea typeface="Calibri"/>
                <a:cs typeface="Calibri"/>
              </a:defRPr>
            </a:defPPr>
            <a:lvl1pPr>
              <a:defRPr sz="1800" b="0">
                <a:solidFill>
                  <a:srgbClr val="000000"/>
                </a:solidFill>
                <a:latin typeface="Calibri"/>
                <a:ea typeface="Calibri"/>
                <a:cs typeface="Calibri"/>
              </a:defRPr>
            </a:lvl1pPr>
            <a:lvl2pPr>
              <a:defRPr sz="1800" b="0">
                <a:solidFill>
                  <a:srgbClr val="000000"/>
                </a:solidFill>
                <a:latin typeface="Calibri"/>
                <a:ea typeface="Calibri"/>
                <a:cs typeface="Calibri"/>
              </a:defRPr>
            </a:lvl2pPr>
            <a:lvl3pPr>
              <a:defRPr sz="1800" b="0">
                <a:solidFill>
                  <a:srgbClr val="000000"/>
                </a:solidFill>
                <a:latin typeface="Calibri"/>
                <a:ea typeface="Calibri"/>
                <a:cs typeface="Calibri"/>
              </a:defRPr>
            </a:lvl3pPr>
            <a:lvl4pPr>
              <a:defRPr sz="1800" b="0">
                <a:solidFill>
                  <a:srgbClr val="000000"/>
                </a:solidFill>
                <a:latin typeface="Calibri"/>
                <a:ea typeface="Calibri"/>
                <a:cs typeface="Calibri"/>
              </a:defRPr>
            </a:lvl4pPr>
            <a:lvl5pPr>
              <a:defRPr sz="1800" b="0">
                <a:solidFill>
                  <a:srgbClr val="000000"/>
                </a:solidFill>
                <a:latin typeface="Calibri"/>
                <a:ea typeface="Calibri"/>
                <a:cs typeface="Calibri"/>
              </a:defRPr>
            </a:lvl5pPr>
            <a:lvl6pPr>
              <a:defRPr sz="1800" b="0">
                <a:solidFill>
                  <a:srgbClr val="000000"/>
                </a:solidFill>
                <a:latin typeface="Calibri"/>
                <a:ea typeface="Calibri"/>
                <a:cs typeface="Calibri"/>
              </a:defRPr>
            </a:lvl6pPr>
            <a:lvl7pPr>
              <a:defRPr sz="1800" b="0">
                <a:solidFill>
                  <a:srgbClr val="000000"/>
                </a:solidFill>
                <a:latin typeface="Calibri"/>
                <a:ea typeface="Calibri"/>
                <a:cs typeface="Calibri"/>
              </a:defRPr>
            </a:lvl7pPr>
            <a:lvl8pPr>
              <a:defRPr sz="1800" b="0">
                <a:solidFill>
                  <a:srgbClr val="000000"/>
                </a:solidFill>
                <a:latin typeface="Calibri"/>
                <a:ea typeface="Calibri"/>
                <a:cs typeface="Calibri"/>
              </a:defRPr>
            </a:lvl8pPr>
            <a:lvl9pPr>
              <a:defRPr sz="1800" b="0">
                <a:solidFill>
                  <a:srgbClr val="000000"/>
                </a:solidFill>
                <a:latin typeface="Calibri"/>
                <a:ea typeface="Calibri"/>
                <a:cs typeface="Calibri"/>
              </a:defRPr>
            </a:lvl9pPr>
          </a:lstStyle>
          <a:p>
            <a:pPr>
              <a:defRPr sz="1800" b="0">
                <a:solidFill>
                  <a:srgbClr val="000000"/>
                </a:solidFill>
                <a:latin typeface="Calibri"/>
                <a:ea typeface="Calibri"/>
                <a:cs typeface="Calibri"/>
              </a:defRPr>
            </a:pPr>
            <a:r>
              <a:rPr sz="1800" b="0">
                <a:solidFill>
                  <a:srgbClr val="000000"/>
                </a:solidFill>
                <a:latin typeface="Calibri"/>
                <a:ea typeface="Calibri"/>
                <a:cs typeface="Calibri"/>
              </a:rPr>
              <a:t>At fixed mass, lower DL means larger rotors. Ideal hover power falls approximately with √DL, but rotor mass, torque and clearance can become more demanding.</a:t>
            </a:r>
          </a:p>
        </p:txBody>
      </p:sp>
      <p:sp>
        <p:nvSpPr>
          <p:cNvPr id="7" name="Rectangle 6">
            <a:extLst>
              <a:ext uri="{FF2B5EF4-FFF2-40B4-BE49-F238E27FC236}">
                <a16:creationId xmlns:a16="http://schemas.microsoft.com/office/drawing/2014/main" id="{A9CCFF1C-6631-42F5-8922-7EFB244C3CE4}"/>
              </a:ext>
            </a:extLst>
          </p:cNvPr>
          <p:cNvSpPr>
            <a:spLocks noGrp="1"/>
          </p:cNvSpPr>
          <p:nvPr/>
        </p:nvSpPr>
        <p:spPr>
          <a:xfrm>
            <a:off x="6286500" y="1714500"/>
            <a:ext cx="5334000" cy="333375"/>
          </a:xfrm>
          <a:prstGeom prst="rect">
            <a:avLst/>
          </a:prstGeom>
          <a:noFill/>
          <a:ln w="0">
            <a:noFill/>
            <a:prstDash val="solid"/>
          </a:ln>
        </p:spPr>
        <p:txBody>
          <a:bodyPr lIns="0" tIns="0" rIns="0" bIns="0"/>
          <a:lstStyle>
            <a:defPPr>
              <a:defRPr sz="1875" b="1">
                <a:solidFill>
                  <a:srgbClr val="000000"/>
                </a:solidFill>
                <a:latin typeface="Calibri"/>
                <a:ea typeface="Calibri"/>
                <a:cs typeface="Calibri"/>
              </a:defRPr>
            </a:defPPr>
            <a:lvl1pPr>
              <a:defRPr sz="1875" b="1">
                <a:solidFill>
                  <a:srgbClr val="000000"/>
                </a:solidFill>
                <a:latin typeface="Calibri"/>
                <a:ea typeface="Calibri"/>
                <a:cs typeface="Calibri"/>
              </a:defRPr>
            </a:lvl1pPr>
            <a:lvl2pPr>
              <a:defRPr sz="1875" b="1">
                <a:solidFill>
                  <a:srgbClr val="000000"/>
                </a:solidFill>
                <a:latin typeface="Calibri"/>
                <a:ea typeface="Calibri"/>
                <a:cs typeface="Calibri"/>
              </a:defRPr>
            </a:lvl2pPr>
            <a:lvl3pPr>
              <a:defRPr sz="1875" b="1">
                <a:solidFill>
                  <a:srgbClr val="000000"/>
                </a:solidFill>
                <a:latin typeface="Calibri"/>
                <a:ea typeface="Calibri"/>
                <a:cs typeface="Calibri"/>
              </a:defRPr>
            </a:lvl3pPr>
            <a:lvl4pPr>
              <a:defRPr sz="1875" b="1">
                <a:solidFill>
                  <a:srgbClr val="000000"/>
                </a:solidFill>
                <a:latin typeface="Calibri"/>
                <a:ea typeface="Calibri"/>
                <a:cs typeface="Calibri"/>
              </a:defRPr>
            </a:lvl4pPr>
            <a:lvl5pPr>
              <a:defRPr sz="1875" b="1">
                <a:solidFill>
                  <a:srgbClr val="000000"/>
                </a:solidFill>
                <a:latin typeface="Calibri"/>
                <a:ea typeface="Calibri"/>
                <a:cs typeface="Calibri"/>
              </a:defRPr>
            </a:lvl5pPr>
            <a:lvl6pPr>
              <a:defRPr sz="1875" b="1">
                <a:solidFill>
                  <a:srgbClr val="000000"/>
                </a:solidFill>
                <a:latin typeface="Calibri"/>
                <a:ea typeface="Calibri"/>
                <a:cs typeface="Calibri"/>
              </a:defRPr>
            </a:lvl6pPr>
            <a:lvl7pPr>
              <a:defRPr sz="1875" b="1">
                <a:solidFill>
                  <a:srgbClr val="000000"/>
                </a:solidFill>
                <a:latin typeface="Calibri"/>
                <a:ea typeface="Calibri"/>
                <a:cs typeface="Calibri"/>
              </a:defRPr>
            </a:lvl7pPr>
            <a:lvl8pPr>
              <a:defRPr sz="1875" b="1">
                <a:solidFill>
                  <a:srgbClr val="000000"/>
                </a:solidFill>
                <a:latin typeface="Calibri"/>
                <a:ea typeface="Calibri"/>
                <a:cs typeface="Calibri"/>
              </a:defRPr>
            </a:lvl8pPr>
            <a:lvl9pPr>
              <a:defRPr sz="1875" b="1">
                <a:solidFill>
                  <a:srgbClr val="000000"/>
                </a:solidFill>
                <a:latin typeface="Calibri"/>
                <a:ea typeface="Calibri"/>
                <a:cs typeface="Calibri"/>
              </a:defRPr>
            </a:lvl9pPr>
          </a:lstStyle>
          <a:p>
            <a:pPr>
              <a:defRPr sz="1875" b="1">
                <a:solidFill>
                  <a:srgbClr val="000000"/>
                </a:solidFill>
                <a:latin typeface="Calibri"/>
                <a:ea typeface="Calibri"/>
                <a:cs typeface="Calibri"/>
              </a:defRPr>
            </a:pPr>
            <a:r>
              <a:rPr sz="1875" b="1">
                <a:solidFill>
                  <a:srgbClr val="000000"/>
                </a:solidFill>
                <a:latin typeface="Calibri"/>
                <a:ea typeface="Calibri"/>
                <a:cs typeface="Calibri"/>
              </a:rPr>
              <a:t>WING LOADING</a:t>
            </a:r>
          </a:p>
        </p:txBody>
      </p:sp>
      <p:sp>
        <p:nvSpPr>
          <p:cNvPr id="8" name="Rectangle 7">
            <a:extLst>
              <a:ext uri="{FF2B5EF4-FFF2-40B4-BE49-F238E27FC236}">
                <a16:creationId xmlns:a16="http://schemas.microsoft.com/office/drawing/2014/main" id="{9C36EF1A-3E3B-4C52-AE56-CDBB90FC4369}"/>
              </a:ext>
            </a:extLst>
          </p:cNvPr>
          <p:cNvSpPr>
            <a:spLocks noGrp="1"/>
          </p:cNvSpPr>
          <p:nvPr/>
        </p:nvSpPr>
        <p:spPr>
          <a:xfrm>
            <a:off x="6286500" y="2190750"/>
            <a:ext cx="5334000" cy="428625"/>
          </a:xfrm>
          <a:prstGeom prst="rect">
            <a:avLst/>
          </a:prstGeom>
          <a:noFill/>
          <a:ln w="0">
            <a:noFill/>
            <a:prstDash val="solid"/>
          </a:ln>
        </p:spPr>
        <p:txBody>
          <a:bodyPr lIns="0" tIns="0" rIns="0" bIns="0"/>
          <a:lstStyle>
            <a:defPPr>
              <a:defRPr sz="1950" b="0">
                <a:solidFill>
                  <a:srgbClr val="000000"/>
                </a:solidFill>
                <a:latin typeface="Calibri"/>
                <a:ea typeface="Calibri"/>
                <a:cs typeface="Calibri"/>
              </a:defRPr>
            </a:defPPr>
            <a:lvl1pPr>
              <a:defRPr sz="1950" b="0">
                <a:solidFill>
                  <a:srgbClr val="000000"/>
                </a:solidFill>
                <a:latin typeface="Calibri"/>
                <a:ea typeface="Calibri"/>
                <a:cs typeface="Calibri"/>
              </a:defRPr>
            </a:lvl1pPr>
            <a:lvl2pPr>
              <a:defRPr sz="1950" b="0">
                <a:solidFill>
                  <a:srgbClr val="000000"/>
                </a:solidFill>
                <a:latin typeface="Calibri"/>
                <a:ea typeface="Calibri"/>
                <a:cs typeface="Calibri"/>
              </a:defRPr>
            </a:lvl2pPr>
            <a:lvl3pPr>
              <a:defRPr sz="1950" b="0">
                <a:solidFill>
                  <a:srgbClr val="000000"/>
                </a:solidFill>
                <a:latin typeface="Calibri"/>
                <a:ea typeface="Calibri"/>
                <a:cs typeface="Calibri"/>
              </a:defRPr>
            </a:lvl3pPr>
            <a:lvl4pPr>
              <a:defRPr sz="1950" b="0">
                <a:solidFill>
                  <a:srgbClr val="000000"/>
                </a:solidFill>
                <a:latin typeface="Calibri"/>
                <a:ea typeface="Calibri"/>
                <a:cs typeface="Calibri"/>
              </a:defRPr>
            </a:lvl4pPr>
            <a:lvl5pPr>
              <a:defRPr sz="1950" b="0">
                <a:solidFill>
                  <a:srgbClr val="000000"/>
                </a:solidFill>
                <a:latin typeface="Calibri"/>
                <a:ea typeface="Calibri"/>
                <a:cs typeface="Calibri"/>
              </a:defRPr>
            </a:lvl5pPr>
            <a:lvl6pPr>
              <a:defRPr sz="1950" b="0">
                <a:solidFill>
                  <a:srgbClr val="000000"/>
                </a:solidFill>
                <a:latin typeface="Calibri"/>
                <a:ea typeface="Calibri"/>
                <a:cs typeface="Calibri"/>
              </a:defRPr>
            </a:lvl6pPr>
            <a:lvl7pPr>
              <a:defRPr sz="1950" b="0">
                <a:solidFill>
                  <a:srgbClr val="000000"/>
                </a:solidFill>
                <a:latin typeface="Calibri"/>
                <a:ea typeface="Calibri"/>
                <a:cs typeface="Calibri"/>
              </a:defRPr>
            </a:lvl7pPr>
            <a:lvl8pPr>
              <a:defRPr sz="1950" b="0">
                <a:solidFill>
                  <a:srgbClr val="000000"/>
                </a:solidFill>
                <a:latin typeface="Calibri"/>
                <a:ea typeface="Calibri"/>
                <a:cs typeface="Calibri"/>
              </a:defRPr>
            </a:lvl8pPr>
            <a:lvl9pPr>
              <a:defRPr sz="1950" b="0">
                <a:solidFill>
                  <a:srgbClr val="000000"/>
                </a:solidFill>
                <a:latin typeface="Calibri"/>
                <a:ea typeface="Calibri"/>
                <a:cs typeface="Calibri"/>
              </a:defRPr>
            </a:lvl9pPr>
          </a:lstStyle>
          <a:p>
            <a:pPr>
              <a:defRPr sz="1950" b="0">
                <a:solidFill>
                  <a:srgbClr val="000000"/>
                </a:solidFill>
                <a:latin typeface="Calibri"/>
                <a:ea typeface="Calibri"/>
                <a:cs typeface="Calibri"/>
              </a:defRPr>
            </a:pPr>
            <a:r>
              <a:rPr sz="1950" b="0">
                <a:solidFill>
                  <a:srgbClr val="000000"/>
                </a:solidFill>
                <a:latin typeface="Calibri"/>
                <a:ea typeface="Calibri"/>
                <a:cs typeface="Calibri"/>
              </a:rPr>
              <a:t>WL = gross mass / wing area</a:t>
            </a:r>
          </a:p>
        </p:txBody>
      </p:sp>
      <p:sp>
        <p:nvSpPr>
          <p:cNvPr id="9" name="Rectangle 8">
            <a:extLst>
              <a:ext uri="{FF2B5EF4-FFF2-40B4-BE49-F238E27FC236}">
                <a16:creationId xmlns:a16="http://schemas.microsoft.com/office/drawing/2014/main" id="{D8969127-F32F-4E6C-800C-0E2AF753424A}"/>
              </a:ext>
            </a:extLst>
          </p:cNvPr>
          <p:cNvSpPr>
            <a:spLocks noGrp="1"/>
          </p:cNvSpPr>
          <p:nvPr/>
        </p:nvSpPr>
        <p:spPr>
          <a:xfrm>
            <a:off x="6286500" y="2809875"/>
            <a:ext cx="5238750" cy="1381125"/>
          </a:xfrm>
          <a:prstGeom prst="rect">
            <a:avLst/>
          </a:prstGeom>
          <a:noFill/>
          <a:ln w="0">
            <a:noFill/>
            <a:prstDash val="solid"/>
          </a:ln>
        </p:spPr>
        <p:txBody>
          <a:bodyPr lIns="0" tIns="0" rIns="0" bIns="0"/>
          <a:lstStyle>
            <a:defPPr>
              <a:defRPr sz="1800" b="0">
                <a:solidFill>
                  <a:srgbClr val="000000"/>
                </a:solidFill>
                <a:latin typeface="Calibri"/>
                <a:ea typeface="Calibri"/>
                <a:cs typeface="Calibri"/>
              </a:defRPr>
            </a:defPPr>
            <a:lvl1pPr>
              <a:defRPr sz="1800" b="0">
                <a:solidFill>
                  <a:srgbClr val="000000"/>
                </a:solidFill>
                <a:latin typeface="Calibri"/>
                <a:ea typeface="Calibri"/>
                <a:cs typeface="Calibri"/>
              </a:defRPr>
            </a:lvl1pPr>
            <a:lvl2pPr>
              <a:defRPr sz="1800" b="0">
                <a:solidFill>
                  <a:srgbClr val="000000"/>
                </a:solidFill>
                <a:latin typeface="Calibri"/>
                <a:ea typeface="Calibri"/>
                <a:cs typeface="Calibri"/>
              </a:defRPr>
            </a:lvl2pPr>
            <a:lvl3pPr>
              <a:defRPr sz="1800" b="0">
                <a:solidFill>
                  <a:srgbClr val="000000"/>
                </a:solidFill>
                <a:latin typeface="Calibri"/>
                <a:ea typeface="Calibri"/>
                <a:cs typeface="Calibri"/>
              </a:defRPr>
            </a:lvl3pPr>
            <a:lvl4pPr>
              <a:defRPr sz="1800" b="0">
                <a:solidFill>
                  <a:srgbClr val="000000"/>
                </a:solidFill>
                <a:latin typeface="Calibri"/>
                <a:ea typeface="Calibri"/>
                <a:cs typeface="Calibri"/>
              </a:defRPr>
            </a:lvl4pPr>
            <a:lvl5pPr>
              <a:defRPr sz="1800" b="0">
                <a:solidFill>
                  <a:srgbClr val="000000"/>
                </a:solidFill>
                <a:latin typeface="Calibri"/>
                <a:ea typeface="Calibri"/>
                <a:cs typeface="Calibri"/>
              </a:defRPr>
            </a:lvl5pPr>
            <a:lvl6pPr>
              <a:defRPr sz="1800" b="0">
                <a:solidFill>
                  <a:srgbClr val="000000"/>
                </a:solidFill>
                <a:latin typeface="Calibri"/>
                <a:ea typeface="Calibri"/>
                <a:cs typeface="Calibri"/>
              </a:defRPr>
            </a:lvl6pPr>
            <a:lvl7pPr>
              <a:defRPr sz="1800" b="0">
                <a:solidFill>
                  <a:srgbClr val="000000"/>
                </a:solidFill>
                <a:latin typeface="Calibri"/>
                <a:ea typeface="Calibri"/>
                <a:cs typeface="Calibri"/>
              </a:defRPr>
            </a:lvl7pPr>
            <a:lvl8pPr>
              <a:defRPr sz="1800" b="0">
                <a:solidFill>
                  <a:srgbClr val="000000"/>
                </a:solidFill>
                <a:latin typeface="Calibri"/>
                <a:ea typeface="Calibri"/>
                <a:cs typeface="Calibri"/>
              </a:defRPr>
            </a:lvl8pPr>
            <a:lvl9pPr>
              <a:defRPr sz="1800" b="0">
                <a:solidFill>
                  <a:srgbClr val="000000"/>
                </a:solidFill>
                <a:latin typeface="Calibri"/>
                <a:ea typeface="Calibri"/>
                <a:cs typeface="Calibri"/>
              </a:defRPr>
            </a:lvl9pPr>
          </a:lstStyle>
          <a:p>
            <a:pPr>
              <a:defRPr sz="1800" b="0">
                <a:solidFill>
                  <a:srgbClr val="000000"/>
                </a:solidFill>
                <a:latin typeface="Calibri"/>
                <a:ea typeface="Calibri"/>
                <a:cs typeface="Calibri"/>
              </a:defRPr>
            </a:pPr>
            <a:r>
              <a:rPr sz="1800" b="0">
                <a:solidFill>
                  <a:srgbClr val="000000"/>
                </a:solidFill>
                <a:latin typeface="Calibri"/>
                <a:ea typeface="Calibri"/>
                <a:cs typeface="Calibri"/>
              </a:rPr>
              <a:t>At fixed mass, higher WL means a smaller wing and higher stall speed. NDARC wing weight also depends on span, aspect ratio, thickness and design loads.</a:t>
            </a:r>
          </a:p>
        </p:txBody>
      </p:sp>
      <p:sp>
        <p:nvSpPr>
          <p:cNvPr id="10" name="Rectangle 9">
            <a:extLst>
              <a:ext uri="{FF2B5EF4-FFF2-40B4-BE49-F238E27FC236}">
                <a16:creationId xmlns:a16="http://schemas.microsoft.com/office/drawing/2014/main" id="{22240D95-D962-49F2-8701-DA61E716960D}"/>
              </a:ext>
            </a:extLst>
          </p:cNvPr>
          <p:cNvSpPr>
            <a:spLocks noGrp="1"/>
          </p:cNvSpPr>
          <p:nvPr/>
        </p:nvSpPr>
        <p:spPr>
          <a:xfrm>
            <a:off x="476250" y="4457700"/>
            <a:ext cx="11239500" cy="333375"/>
          </a:xfrm>
          <a:prstGeom prst="rect">
            <a:avLst/>
          </a:prstGeom>
          <a:noFill/>
          <a:ln w="0">
            <a:noFill/>
            <a:prstDash val="solid"/>
          </a:ln>
        </p:spPr>
        <p:txBody>
          <a:bodyPr lIns="0" tIns="0" rIns="0" bIns="0"/>
          <a:lstStyle>
            <a:defPPr>
              <a:defRPr sz="1800" b="1">
                <a:solidFill>
                  <a:srgbClr val="000000"/>
                </a:solidFill>
                <a:latin typeface="Calibri"/>
                <a:ea typeface="Calibri"/>
                <a:cs typeface="Calibri"/>
              </a:defRPr>
            </a:defPPr>
            <a:lvl1pPr>
              <a:defRPr sz="1800" b="1">
                <a:solidFill>
                  <a:srgbClr val="000000"/>
                </a:solidFill>
                <a:latin typeface="Calibri"/>
                <a:ea typeface="Calibri"/>
                <a:cs typeface="Calibri"/>
              </a:defRPr>
            </a:lvl1pPr>
            <a:lvl2pPr>
              <a:defRPr sz="1800" b="1">
                <a:solidFill>
                  <a:srgbClr val="000000"/>
                </a:solidFill>
                <a:latin typeface="Calibri"/>
                <a:ea typeface="Calibri"/>
                <a:cs typeface="Calibri"/>
              </a:defRPr>
            </a:lvl2pPr>
            <a:lvl3pPr>
              <a:defRPr sz="1800" b="1">
                <a:solidFill>
                  <a:srgbClr val="000000"/>
                </a:solidFill>
                <a:latin typeface="Calibri"/>
                <a:ea typeface="Calibri"/>
                <a:cs typeface="Calibri"/>
              </a:defRPr>
            </a:lvl3pPr>
            <a:lvl4pPr>
              <a:defRPr sz="1800" b="1">
                <a:solidFill>
                  <a:srgbClr val="000000"/>
                </a:solidFill>
                <a:latin typeface="Calibri"/>
                <a:ea typeface="Calibri"/>
                <a:cs typeface="Calibri"/>
              </a:defRPr>
            </a:lvl4pPr>
            <a:lvl5pPr>
              <a:defRPr sz="1800" b="1">
                <a:solidFill>
                  <a:srgbClr val="000000"/>
                </a:solidFill>
                <a:latin typeface="Calibri"/>
                <a:ea typeface="Calibri"/>
                <a:cs typeface="Calibri"/>
              </a:defRPr>
            </a:lvl5pPr>
            <a:lvl6pPr>
              <a:defRPr sz="1800" b="1">
                <a:solidFill>
                  <a:srgbClr val="000000"/>
                </a:solidFill>
                <a:latin typeface="Calibri"/>
                <a:ea typeface="Calibri"/>
                <a:cs typeface="Calibri"/>
              </a:defRPr>
            </a:lvl6pPr>
            <a:lvl7pPr>
              <a:defRPr sz="1800" b="1">
                <a:solidFill>
                  <a:srgbClr val="000000"/>
                </a:solidFill>
                <a:latin typeface="Calibri"/>
                <a:ea typeface="Calibri"/>
                <a:cs typeface="Calibri"/>
              </a:defRPr>
            </a:lvl7pPr>
            <a:lvl8pPr>
              <a:defRPr sz="1800" b="1">
                <a:solidFill>
                  <a:srgbClr val="000000"/>
                </a:solidFill>
                <a:latin typeface="Calibri"/>
                <a:ea typeface="Calibri"/>
                <a:cs typeface="Calibri"/>
              </a:defRPr>
            </a:lvl8pPr>
            <a:lvl9pPr>
              <a:defRPr sz="1800" b="1">
                <a:solidFill>
                  <a:srgbClr val="000000"/>
                </a:solidFill>
                <a:latin typeface="Calibri"/>
                <a:ea typeface="Calibri"/>
                <a:cs typeface="Calibri"/>
              </a:defRPr>
            </a:lvl9pPr>
          </a:lstStyle>
          <a:p>
            <a:pPr>
              <a:defRPr sz="1800" b="1">
                <a:solidFill>
                  <a:srgbClr val="000000"/>
                </a:solidFill>
                <a:latin typeface="Calibri"/>
                <a:ea typeface="Calibri"/>
                <a:cs typeface="Calibri"/>
              </a:defRPr>
            </a:pPr>
            <a:r>
              <a:rPr sz="1800" b="1">
                <a:solidFill>
                  <a:srgbClr val="000000"/>
                </a:solidFill>
                <a:latin typeface="Calibri"/>
                <a:ea typeface="Calibri"/>
                <a:cs typeface="Calibri"/>
              </a:rPr>
              <a:t>For these studies</a:t>
            </a:r>
          </a:p>
        </p:txBody>
      </p:sp>
      <p:sp>
        <p:nvSpPr>
          <p:cNvPr id="11" name="Rectangle 10">
            <a:extLst>
              <a:ext uri="{FF2B5EF4-FFF2-40B4-BE49-F238E27FC236}">
                <a16:creationId xmlns:a16="http://schemas.microsoft.com/office/drawing/2014/main" id="{9ABC755C-D975-4D64-B7C9-35FA85AEB4A6}"/>
              </a:ext>
            </a:extLst>
          </p:cNvPr>
          <p:cNvSpPr>
            <a:spLocks noGrp="1"/>
          </p:cNvSpPr>
          <p:nvPr/>
        </p:nvSpPr>
        <p:spPr>
          <a:xfrm>
            <a:off x="476250" y="4914900"/>
            <a:ext cx="11239500" cy="723900"/>
          </a:xfrm>
          <a:prstGeom prst="rect">
            <a:avLst/>
          </a:prstGeom>
          <a:noFill/>
          <a:ln w="0">
            <a:noFill/>
            <a:prstDash val="solid"/>
          </a:ln>
        </p:spPr>
        <p:txBody>
          <a:bodyPr lIns="0" tIns="0" rIns="0" bIns="0"/>
          <a:lstStyle>
            <a:defPPr>
              <a:defRPr sz="1800" b="0">
                <a:solidFill>
                  <a:srgbClr val="000000"/>
                </a:solidFill>
                <a:latin typeface="Calibri"/>
                <a:ea typeface="Calibri"/>
                <a:cs typeface="Calibri"/>
              </a:defRPr>
            </a:defPPr>
            <a:lvl1pPr>
              <a:defRPr sz="1800" b="0">
                <a:solidFill>
                  <a:srgbClr val="000000"/>
                </a:solidFill>
                <a:latin typeface="Calibri"/>
                <a:ea typeface="Calibri"/>
                <a:cs typeface="Calibri"/>
              </a:defRPr>
            </a:lvl1pPr>
            <a:lvl2pPr>
              <a:defRPr sz="1800" b="0">
                <a:solidFill>
                  <a:srgbClr val="000000"/>
                </a:solidFill>
                <a:latin typeface="Calibri"/>
                <a:ea typeface="Calibri"/>
                <a:cs typeface="Calibri"/>
              </a:defRPr>
            </a:lvl2pPr>
            <a:lvl3pPr>
              <a:defRPr sz="1800" b="0">
                <a:solidFill>
                  <a:srgbClr val="000000"/>
                </a:solidFill>
                <a:latin typeface="Calibri"/>
                <a:ea typeface="Calibri"/>
                <a:cs typeface="Calibri"/>
              </a:defRPr>
            </a:lvl3pPr>
            <a:lvl4pPr>
              <a:defRPr sz="1800" b="0">
                <a:solidFill>
                  <a:srgbClr val="000000"/>
                </a:solidFill>
                <a:latin typeface="Calibri"/>
                <a:ea typeface="Calibri"/>
                <a:cs typeface="Calibri"/>
              </a:defRPr>
            </a:lvl4pPr>
            <a:lvl5pPr>
              <a:defRPr sz="1800" b="0">
                <a:solidFill>
                  <a:srgbClr val="000000"/>
                </a:solidFill>
                <a:latin typeface="Calibri"/>
                <a:ea typeface="Calibri"/>
                <a:cs typeface="Calibri"/>
              </a:defRPr>
            </a:lvl5pPr>
            <a:lvl6pPr>
              <a:defRPr sz="1800" b="0">
                <a:solidFill>
                  <a:srgbClr val="000000"/>
                </a:solidFill>
                <a:latin typeface="Calibri"/>
                <a:ea typeface="Calibri"/>
                <a:cs typeface="Calibri"/>
              </a:defRPr>
            </a:lvl6pPr>
            <a:lvl7pPr>
              <a:defRPr sz="1800" b="0">
                <a:solidFill>
                  <a:srgbClr val="000000"/>
                </a:solidFill>
                <a:latin typeface="Calibri"/>
                <a:ea typeface="Calibri"/>
                <a:cs typeface="Calibri"/>
              </a:defRPr>
            </a:lvl7pPr>
            <a:lvl8pPr>
              <a:defRPr sz="1800" b="0">
                <a:solidFill>
                  <a:srgbClr val="000000"/>
                </a:solidFill>
                <a:latin typeface="Calibri"/>
                <a:ea typeface="Calibri"/>
                <a:cs typeface="Calibri"/>
              </a:defRPr>
            </a:lvl8pPr>
            <a:lvl9pPr>
              <a:defRPr sz="1800" b="0">
                <a:solidFill>
                  <a:srgbClr val="000000"/>
                </a:solidFill>
                <a:latin typeface="Calibri"/>
                <a:ea typeface="Calibri"/>
                <a:cs typeface="Calibri"/>
              </a:defRPr>
            </a:lvl9pPr>
          </a:lstStyle>
          <a:p>
            <a:pPr>
              <a:defRPr sz="1800" b="0">
                <a:solidFill>
                  <a:srgbClr val="000000"/>
                </a:solidFill>
                <a:latin typeface="Calibri"/>
                <a:ea typeface="Calibri"/>
                <a:cs typeface="Calibri"/>
              </a:defRPr>
            </a:pPr>
            <a:r>
              <a:rPr sz="1800" b="0">
                <a:solidFill>
                  <a:srgbClr val="000000"/>
                </a:solidFill>
                <a:latin typeface="Calibri"/>
                <a:ea typeface="Calibri"/>
                <a:cs typeface="Calibri"/>
              </a:rPr>
              <a:t>L+C holds 7 m span: a smaller area raises aspect ratio. Tiltrotor holds AR = 7: a smaller area also shortens span. These are different structural trades.</a:t>
            </a:r>
          </a:p>
        </p:txBody>
      </p:sp>
      <p:sp>
        <p:nvSpPr>
          <p:cNvPr id="12" name="Rectangle 11">
            <a:extLst>
              <a:ext uri="{FF2B5EF4-FFF2-40B4-BE49-F238E27FC236}">
                <a16:creationId xmlns:a16="http://schemas.microsoft.com/office/drawing/2014/main" id="{E6DA04BC-3859-4A15-8EA0-3A2AECCB044A}"/>
              </a:ext>
            </a:extLst>
          </p:cNvPr>
          <p:cNvSpPr>
            <a:spLocks noGrp="1"/>
          </p:cNvSpPr>
          <p:nvPr/>
        </p:nvSpPr>
        <p:spPr>
          <a:xfrm>
            <a:off x="476250" y="6400800"/>
            <a:ext cx="10810875" cy="381000"/>
          </a:xfrm>
          <a:prstGeom prst="rect">
            <a:avLst/>
          </a:prstGeom>
          <a:noFill/>
          <a:ln w="0">
            <a:noFill/>
            <a:prstDash val="solid"/>
          </a:ln>
        </p:spPr>
        <p:txBody>
          <a:bodyPr lIns="0" tIns="0" rIns="0" bIns="0"/>
          <a:lstStyle>
            <a:defPPr>
              <a:defRPr sz="1125" b="0">
                <a:solidFill>
                  <a:srgbClr val="444444"/>
                </a:solidFill>
                <a:latin typeface="Calibri"/>
                <a:ea typeface="Calibri"/>
                <a:cs typeface="Calibri"/>
              </a:defRPr>
            </a:defPPr>
            <a:lvl1pPr>
              <a:defRPr sz="1125" b="0">
                <a:solidFill>
                  <a:srgbClr val="444444"/>
                </a:solidFill>
                <a:latin typeface="Calibri"/>
                <a:ea typeface="Calibri"/>
                <a:cs typeface="Calibri"/>
              </a:defRPr>
            </a:lvl1pPr>
            <a:lvl2pPr>
              <a:defRPr sz="1125" b="0">
                <a:solidFill>
                  <a:srgbClr val="444444"/>
                </a:solidFill>
                <a:latin typeface="Calibri"/>
                <a:ea typeface="Calibri"/>
                <a:cs typeface="Calibri"/>
              </a:defRPr>
            </a:lvl2pPr>
            <a:lvl3pPr>
              <a:defRPr sz="1125" b="0">
                <a:solidFill>
                  <a:srgbClr val="444444"/>
                </a:solidFill>
                <a:latin typeface="Calibri"/>
                <a:ea typeface="Calibri"/>
                <a:cs typeface="Calibri"/>
              </a:defRPr>
            </a:lvl3pPr>
            <a:lvl4pPr>
              <a:defRPr sz="1125" b="0">
                <a:solidFill>
                  <a:srgbClr val="444444"/>
                </a:solidFill>
                <a:latin typeface="Calibri"/>
                <a:ea typeface="Calibri"/>
                <a:cs typeface="Calibri"/>
              </a:defRPr>
            </a:lvl4pPr>
            <a:lvl5pPr>
              <a:defRPr sz="1125" b="0">
                <a:solidFill>
                  <a:srgbClr val="444444"/>
                </a:solidFill>
                <a:latin typeface="Calibri"/>
                <a:ea typeface="Calibri"/>
                <a:cs typeface="Calibri"/>
              </a:defRPr>
            </a:lvl5pPr>
            <a:lvl6pPr>
              <a:defRPr sz="1125" b="0">
                <a:solidFill>
                  <a:srgbClr val="444444"/>
                </a:solidFill>
                <a:latin typeface="Calibri"/>
                <a:ea typeface="Calibri"/>
                <a:cs typeface="Calibri"/>
              </a:defRPr>
            </a:lvl6pPr>
            <a:lvl7pPr>
              <a:defRPr sz="1125" b="0">
                <a:solidFill>
                  <a:srgbClr val="444444"/>
                </a:solidFill>
                <a:latin typeface="Calibri"/>
                <a:ea typeface="Calibri"/>
                <a:cs typeface="Calibri"/>
              </a:defRPr>
            </a:lvl7pPr>
            <a:lvl8pPr>
              <a:defRPr sz="1125" b="0">
                <a:solidFill>
                  <a:srgbClr val="444444"/>
                </a:solidFill>
                <a:latin typeface="Calibri"/>
                <a:ea typeface="Calibri"/>
                <a:cs typeface="Calibri"/>
              </a:defRPr>
            </a:lvl8pPr>
            <a:lvl9pPr>
              <a:defRPr sz="1125" b="0">
                <a:solidFill>
                  <a:srgbClr val="444444"/>
                </a:solidFill>
                <a:latin typeface="Calibri"/>
                <a:ea typeface="Calibri"/>
                <a:cs typeface="Calibri"/>
              </a:defRPr>
            </a:lvl9pPr>
          </a:lstStyle>
          <a:p>
            <a:pPr>
              <a:defRPr sz="1125" b="0">
                <a:solidFill>
                  <a:srgbClr val="444444"/>
                </a:solidFill>
                <a:latin typeface="Calibri"/>
                <a:ea typeface="Calibri"/>
                <a:cs typeface="Calibri"/>
              </a:defRPr>
            </a:pPr>
            <a:r>
              <a:rPr sz="1125" b="0">
                <a:solidFill>
                  <a:srgbClr val="444444"/>
                </a:solidFill>
                <a:latin typeface="Calibri"/>
                <a:ea typeface="Calibri"/>
                <a:cs typeface="Calibri"/>
              </a:rPr>
              <a:t>[R9] Johnson, NDARC Theory (2022), wing weight models. [S6] NDARC 1.13 weight_model.f90: GetWeightAFDD_Wing / WingTR.</a:t>
            </a:r>
          </a:p>
          <a:p>
            <a:pPr>
              <a:defRPr sz="1125" b="0">
                <a:solidFill>
                  <a:srgbClr val="444444"/>
                </a:solidFill>
                <a:latin typeface="Calibri"/>
                <a:ea typeface="Calibri"/>
                <a:cs typeface="Calibri"/>
              </a:defRPr>
            </a:pPr>
            <a:r>
              <a:rPr sz="1125" b="0">
                <a:solidFill>
                  <a:srgbClr val="444444"/>
                </a:solidFill>
                <a:latin typeface="Calibri"/>
                <a:ea typeface="Calibri"/>
                <a:cs typeface="Calibri"/>
              </a:rPr>
              <a:t>Plots use kg/m². Weight-based loading in N/m² equals the plotted loading multiplied by g.</a:t>
            </a:r>
          </a:p>
        </p:txBody>
      </p:sp>
      <p:sp>
        <p:nvSpPr>
          <p:cNvPr id="14" name="TextBox 13">
            <a:extLst>
              <a:ext uri="{FF2B5EF4-FFF2-40B4-BE49-F238E27FC236}">
                <a16:creationId xmlns:a16="http://schemas.microsoft.com/office/drawing/2014/main" id="{E964E153-5851-CC30-84A3-93B73C5D06B7}"/>
              </a:ext>
            </a:extLst>
          </p:cNvPr>
          <p:cNvSpPr txBox="1"/>
          <p:nvPr/>
        </p:nvSpPr>
        <p:spPr>
          <a:xfrm>
            <a:off x="11671300" y="6527800"/>
            <a:ext cx="355600" cy="153888"/>
          </a:xfrm>
          <a:prstGeom prst="rect">
            <a:avLst/>
          </a:prstGeom>
          <a:noFill/>
        </p:spPr>
        <p:txBody>
          <a:bodyPr vert="horz" lIns="0" tIns="0" rIns="0" bIns="0" rtlCol="0">
            <a:spAutoFit/>
          </a:bodyPr>
          <a:lstStyle/>
          <a:p>
            <a:r>
              <a:rPr lang="en-US" sz="1000">
                <a:solidFill>
                  <a:srgbClr val="000000"/>
                </a:solidFill>
                <a:latin typeface="Calibri" panose="020F0502020204030204" pitchFamily="34" charset="0"/>
              </a:rPr>
              <a:t>19</a:t>
            </a:r>
          </a:p>
        </p:txBody>
      </p:sp>
    </p:spTree>
    <p:extLst>
      <p:ext uri="{BB962C8B-B14F-4D97-AF65-F5344CB8AC3E}">
        <p14:creationId xmlns:p14="http://schemas.microsoft.com/office/powerpoint/2010/main" val="37656857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3F6B478-CF3A-4F49-B5C8-C35A5808DDE9}"/>
              </a:ext>
            </a:extLst>
          </p:cNvPr>
          <p:cNvSpPr>
            <a:spLocks noGrp="1"/>
          </p:cNvSpPr>
          <p:nvPr/>
        </p:nvSpPr>
        <p:spPr>
          <a:xfrm>
            <a:off x="838200" y="361950"/>
            <a:ext cx="10896600" cy="571500"/>
          </a:xfrm>
          <a:prstGeom prst="rect">
            <a:avLst/>
          </a:prstGeom>
          <a:noFill/>
          <a:ln w="0">
            <a:noFill/>
          </a:ln>
        </p:spPr>
        <p:txBody>
          <a:bodyPr/>
          <a:lstStyle>
            <a:defPPr>
              <a:defRPr sz="2775" b="1">
                <a:solidFill>
                  <a:srgbClr val="173344"/>
                </a:solidFill>
                <a:latin typeface="Arial"/>
                <a:ea typeface="Arial"/>
                <a:cs typeface="Arial"/>
              </a:defRPr>
            </a:defPPr>
            <a:lvl1pPr>
              <a:defRPr sz="2775" b="1">
                <a:solidFill>
                  <a:srgbClr val="173344"/>
                </a:solidFill>
                <a:latin typeface="Arial"/>
                <a:ea typeface="Arial"/>
                <a:cs typeface="Arial"/>
              </a:defRPr>
            </a:lvl1pPr>
            <a:lvl2pPr>
              <a:defRPr sz="2775" b="1">
                <a:solidFill>
                  <a:srgbClr val="173344"/>
                </a:solidFill>
                <a:latin typeface="Arial"/>
                <a:ea typeface="Arial"/>
                <a:cs typeface="Arial"/>
              </a:defRPr>
            </a:lvl2pPr>
            <a:lvl3pPr>
              <a:defRPr sz="2775" b="1">
                <a:solidFill>
                  <a:srgbClr val="173344"/>
                </a:solidFill>
                <a:latin typeface="Arial"/>
                <a:ea typeface="Arial"/>
                <a:cs typeface="Arial"/>
              </a:defRPr>
            </a:lvl3pPr>
            <a:lvl4pPr>
              <a:defRPr sz="2775" b="1">
                <a:solidFill>
                  <a:srgbClr val="173344"/>
                </a:solidFill>
                <a:latin typeface="Arial"/>
                <a:ea typeface="Arial"/>
                <a:cs typeface="Arial"/>
              </a:defRPr>
            </a:lvl4pPr>
            <a:lvl5pPr>
              <a:defRPr sz="2775" b="1">
                <a:solidFill>
                  <a:srgbClr val="173344"/>
                </a:solidFill>
                <a:latin typeface="Arial"/>
                <a:ea typeface="Arial"/>
                <a:cs typeface="Arial"/>
              </a:defRPr>
            </a:lvl5pPr>
            <a:lvl6pPr>
              <a:defRPr sz="2775" b="1">
                <a:solidFill>
                  <a:srgbClr val="173344"/>
                </a:solidFill>
                <a:latin typeface="Arial"/>
                <a:ea typeface="Arial"/>
                <a:cs typeface="Arial"/>
              </a:defRPr>
            </a:lvl6pPr>
            <a:lvl7pPr>
              <a:defRPr sz="2775" b="1">
                <a:solidFill>
                  <a:srgbClr val="173344"/>
                </a:solidFill>
                <a:latin typeface="Arial"/>
                <a:ea typeface="Arial"/>
                <a:cs typeface="Arial"/>
              </a:defRPr>
            </a:lvl7pPr>
            <a:lvl8pPr>
              <a:defRPr sz="2775" b="1">
                <a:solidFill>
                  <a:srgbClr val="173344"/>
                </a:solidFill>
                <a:latin typeface="Arial"/>
                <a:ea typeface="Arial"/>
                <a:cs typeface="Arial"/>
              </a:defRPr>
            </a:lvl8pPr>
            <a:lvl9pPr>
              <a:defRPr sz="2775" b="1">
                <a:solidFill>
                  <a:srgbClr val="173344"/>
                </a:solidFill>
                <a:latin typeface="Arial"/>
                <a:ea typeface="Arial"/>
                <a:cs typeface="Arial"/>
              </a:defRPr>
            </a:lvl9pPr>
          </a:lstStyle>
          <a:p>
            <a:pPr>
              <a:defRPr sz="2775" b="1">
                <a:solidFill>
                  <a:srgbClr val="173344"/>
                </a:solidFill>
                <a:latin typeface="Arial"/>
                <a:ea typeface="Arial"/>
                <a:cs typeface="Arial"/>
              </a:defRPr>
            </a:pPr>
            <a:r>
              <a:rPr sz="2400" b="1">
                <a:solidFill>
                  <a:srgbClr val="000000"/>
                </a:solidFill>
                <a:latin typeface="Calibri" panose="020F0502020204030204" pitchFamily="34" charset="0"/>
                <a:ea typeface="Arial"/>
                <a:cs typeface="Arial"/>
              </a:rPr>
              <a:t>Lift + cruise: fixed geometry and loading exploration</a:t>
            </a:r>
          </a:p>
        </p:txBody>
      </p:sp>
      <p:sp>
        <p:nvSpPr>
          <p:cNvPr id="2" name="Rectangle 1">
            <a:extLst>
              <a:ext uri="{FF2B5EF4-FFF2-40B4-BE49-F238E27FC236}">
                <a16:creationId xmlns:a16="http://schemas.microsoft.com/office/drawing/2014/main" id="{FE3C1C15-6C25-4BE9-B892-C0B2D8FA9662}"/>
              </a:ext>
            </a:extLst>
          </p:cNvPr>
          <p:cNvSpPr>
            <a:spLocks noGrp="1"/>
          </p:cNvSpPr>
          <p:nvPr/>
        </p:nvSpPr>
        <p:spPr>
          <a:xfrm>
            <a:off x="476250" y="876300"/>
            <a:ext cx="11239500" cy="523875"/>
          </a:xfrm>
          <a:prstGeom prst="rect">
            <a:avLst/>
          </a:prstGeom>
          <a:noFill/>
          <a:ln w="0">
            <a:noFill/>
          </a:ln>
        </p:spPr>
        <p:txBody>
          <a:bodyPr/>
          <a:lstStyle>
            <a:defPPr>
              <a:defRPr sz="1575" b="0">
                <a:solidFill>
                  <a:srgbClr val="536675"/>
                </a:solidFill>
                <a:latin typeface="Arial"/>
                <a:ea typeface="Arial"/>
                <a:cs typeface="Arial"/>
              </a:defRPr>
            </a:defPPr>
            <a:lvl1pPr>
              <a:defRPr sz="1575" b="0">
                <a:solidFill>
                  <a:srgbClr val="536675"/>
                </a:solidFill>
                <a:latin typeface="Arial"/>
                <a:ea typeface="Arial"/>
                <a:cs typeface="Arial"/>
              </a:defRPr>
            </a:lvl1pPr>
            <a:lvl2pPr>
              <a:defRPr sz="1575" b="0">
                <a:solidFill>
                  <a:srgbClr val="536675"/>
                </a:solidFill>
                <a:latin typeface="Arial"/>
                <a:ea typeface="Arial"/>
                <a:cs typeface="Arial"/>
              </a:defRPr>
            </a:lvl2pPr>
            <a:lvl3pPr>
              <a:defRPr sz="1575" b="0">
                <a:solidFill>
                  <a:srgbClr val="536675"/>
                </a:solidFill>
                <a:latin typeface="Arial"/>
                <a:ea typeface="Arial"/>
                <a:cs typeface="Arial"/>
              </a:defRPr>
            </a:lvl3pPr>
            <a:lvl4pPr>
              <a:defRPr sz="1575" b="0">
                <a:solidFill>
                  <a:srgbClr val="536675"/>
                </a:solidFill>
                <a:latin typeface="Arial"/>
                <a:ea typeface="Arial"/>
                <a:cs typeface="Arial"/>
              </a:defRPr>
            </a:lvl4pPr>
            <a:lvl5pPr>
              <a:defRPr sz="1575" b="0">
                <a:solidFill>
                  <a:srgbClr val="536675"/>
                </a:solidFill>
                <a:latin typeface="Arial"/>
                <a:ea typeface="Arial"/>
                <a:cs typeface="Arial"/>
              </a:defRPr>
            </a:lvl5pPr>
            <a:lvl6pPr>
              <a:defRPr sz="1575" b="0">
                <a:solidFill>
                  <a:srgbClr val="536675"/>
                </a:solidFill>
                <a:latin typeface="Arial"/>
                <a:ea typeface="Arial"/>
                <a:cs typeface="Arial"/>
              </a:defRPr>
            </a:lvl6pPr>
            <a:lvl7pPr>
              <a:defRPr sz="1575" b="0">
                <a:solidFill>
                  <a:srgbClr val="536675"/>
                </a:solidFill>
                <a:latin typeface="Arial"/>
                <a:ea typeface="Arial"/>
                <a:cs typeface="Arial"/>
              </a:defRPr>
            </a:lvl7pPr>
            <a:lvl8pPr>
              <a:defRPr sz="1575" b="0">
                <a:solidFill>
                  <a:srgbClr val="536675"/>
                </a:solidFill>
                <a:latin typeface="Arial"/>
                <a:ea typeface="Arial"/>
                <a:cs typeface="Arial"/>
              </a:defRPr>
            </a:lvl8pPr>
            <a:lvl9pPr>
              <a:defRPr sz="1575" b="0">
                <a:solidFill>
                  <a:srgbClr val="536675"/>
                </a:solidFill>
                <a:latin typeface="Arial"/>
                <a:ea typeface="Arial"/>
                <a:cs typeface="Arial"/>
              </a:defRPr>
            </a:lvl9pPr>
          </a:lstStyle>
          <a:p>
            <a:pPr>
              <a:defRPr sz="1575" b="0">
                <a:solidFill>
                  <a:srgbClr val="536675"/>
                </a:solidFill>
                <a:latin typeface="Arial"/>
                <a:ea typeface="Arial"/>
                <a:cs typeface="Arial"/>
              </a:defRPr>
            </a:pPr>
            <a:r>
              <a:rPr lang="en-US" b="0">
                <a:solidFill>
                  <a:srgbClr val="000000"/>
                </a:solidFill>
                <a:latin typeface="Calibri" panose="020F0502020204030204" pitchFamily="34" charset="0"/>
                <a:ea typeface="Arial"/>
                <a:cs typeface="Arial"/>
              </a:rPr>
              <a:t>Clean-sheet selected point: 381.7 kg after 30 s resize; the low-RPM motor match remains open.</a:t>
            </a:r>
            <a:endParaRPr b="0">
              <a:solidFill>
                <a:srgbClr val="000000"/>
              </a:solidFill>
              <a:latin typeface="Calibri" panose="020F0502020204030204" pitchFamily="34" charset="0"/>
              <a:ea typeface="Arial"/>
              <a:cs typeface="Arial"/>
            </a:endParaRPr>
          </a:p>
        </p:txBody>
      </p:sp>
      <p:sp>
        <p:nvSpPr>
          <p:cNvPr id="3" name="Rectangle 2">
            <a:extLst>
              <a:ext uri="{FF2B5EF4-FFF2-40B4-BE49-F238E27FC236}">
                <a16:creationId xmlns:a16="http://schemas.microsoft.com/office/drawing/2014/main" id="{7FF1D7F0-749F-4957-91B5-75568F9CD490}"/>
              </a:ext>
            </a:extLst>
          </p:cNvPr>
          <p:cNvSpPr>
            <a:spLocks noGrp="1"/>
          </p:cNvSpPr>
          <p:nvPr/>
        </p:nvSpPr>
        <p:spPr>
          <a:xfrm>
            <a:off x="476250" y="6524625"/>
            <a:ext cx="10477500" cy="190500"/>
          </a:xfrm>
          <a:prstGeom prst="rect">
            <a:avLst/>
          </a:prstGeom>
          <a:noFill/>
          <a:ln w="0">
            <a:noFill/>
          </a:ln>
        </p:spPr>
        <p:txBody>
          <a:bodyPr/>
          <a:lstStyle>
            <a:defPPr>
              <a:defRPr sz="975" b="0">
                <a:solidFill>
                  <a:srgbClr val="536675"/>
                </a:solidFill>
                <a:latin typeface="Arial"/>
                <a:ea typeface="Arial"/>
                <a:cs typeface="Arial"/>
              </a:defRPr>
            </a:defPPr>
            <a:lvl1pPr>
              <a:defRPr sz="975" b="0">
                <a:solidFill>
                  <a:srgbClr val="536675"/>
                </a:solidFill>
                <a:latin typeface="Arial"/>
                <a:ea typeface="Arial"/>
                <a:cs typeface="Arial"/>
              </a:defRPr>
            </a:lvl1pPr>
            <a:lvl2pPr>
              <a:defRPr sz="975" b="0">
                <a:solidFill>
                  <a:srgbClr val="536675"/>
                </a:solidFill>
                <a:latin typeface="Arial"/>
                <a:ea typeface="Arial"/>
                <a:cs typeface="Arial"/>
              </a:defRPr>
            </a:lvl2pPr>
            <a:lvl3pPr>
              <a:defRPr sz="975" b="0">
                <a:solidFill>
                  <a:srgbClr val="536675"/>
                </a:solidFill>
                <a:latin typeface="Arial"/>
                <a:ea typeface="Arial"/>
                <a:cs typeface="Arial"/>
              </a:defRPr>
            </a:lvl3pPr>
            <a:lvl4pPr>
              <a:defRPr sz="975" b="0">
                <a:solidFill>
                  <a:srgbClr val="536675"/>
                </a:solidFill>
                <a:latin typeface="Arial"/>
                <a:ea typeface="Arial"/>
                <a:cs typeface="Arial"/>
              </a:defRPr>
            </a:lvl4pPr>
            <a:lvl5pPr>
              <a:defRPr sz="975" b="0">
                <a:solidFill>
                  <a:srgbClr val="536675"/>
                </a:solidFill>
                <a:latin typeface="Arial"/>
                <a:ea typeface="Arial"/>
                <a:cs typeface="Arial"/>
              </a:defRPr>
            </a:lvl5pPr>
            <a:lvl6pPr>
              <a:defRPr sz="975" b="0">
                <a:solidFill>
                  <a:srgbClr val="536675"/>
                </a:solidFill>
                <a:latin typeface="Arial"/>
                <a:ea typeface="Arial"/>
                <a:cs typeface="Arial"/>
              </a:defRPr>
            </a:lvl6pPr>
            <a:lvl7pPr>
              <a:defRPr sz="975" b="0">
                <a:solidFill>
                  <a:srgbClr val="536675"/>
                </a:solidFill>
                <a:latin typeface="Arial"/>
                <a:ea typeface="Arial"/>
                <a:cs typeface="Arial"/>
              </a:defRPr>
            </a:lvl7pPr>
            <a:lvl8pPr>
              <a:defRPr sz="975" b="0">
                <a:solidFill>
                  <a:srgbClr val="536675"/>
                </a:solidFill>
                <a:latin typeface="Arial"/>
                <a:ea typeface="Arial"/>
                <a:cs typeface="Arial"/>
              </a:defRPr>
            </a:lvl8pPr>
            <a:lvl9pPr>
              <a:defRPr sz="975" b="0">
                <a:solidFill>
                  <a:srgbClr val="536675"/>
                </a:solidFill>
                <a:latin typeface="Arial"/>
                <a:ea typeface="Arial"/>
                <a:cs typeface="Arial"/>
              </a:defRPr>
            </a:lvl9pPr>
          </a:lstStyle>
          <a:p>
            <a:pPr>
              <a:defRPr sz="975" b="0">
                <a:solidFill>
                  <a:srgbClr val="536675"/>
                </a:solidFill>
                <a:latin typeface="Arial"/>
                <a:ea typeface="Arial"/>
                <a:cs typeface="Arial"/>
              </a:defRPr>
            </a:pPr>
            <a:endParaRPr sz="975" b="0">
              <a:solidFill>
                <a:srgbClr val="000000"/>
              </a:solidFill>
              <a:latin typeface="Calibri" panose="020F0502020204030204" pitchFamily="34" charset="0"/>
              <a:ea typeface="Arial"/>
              <a:cs typeface="Arial"/>
            </a:endParaRPr>
          </a:p>
        </p:txBody>
      </p:sp>
      <p:sp>
        <p:nvSpPr>
          <p:cNvPr id="4" name="Rectangle 3">
            <a:extLst>
              <a:ext uri="{FF2B5EF4-FFF2-40B4-BE49-F238E27FC236}">
                <a16:creationId xmlns:a16="http://schemas.microsoft.com/office/drawing/2014/main" id="{18D0507C-407E-4406-8655-2BBC0F392F52}"/>
              </a:ext>
            </a:extLst>
          </p:cNvPr>
          <p:cNvSpPr>
            <a:spLocks noGrp="1"/>
          </p:cNvSpPr>
          <p:nvPr/>
        </p:nvSpPr>
        <p:spPr>
          <a:xfrm>
            <a:off x="11334750" y="6496050"/>
            <a:ext cx="381000" cy="228600"/>
          </a:xfrm>
          <a:prstGeom prst="rect">
            <a:avLst/>
          </a:prstGeom>
          <a:noFill/>
          <a:ln w="0">
            <a:noFill/>
          </a:ln>
        </p:spPr>
        <p:txBody>
          <a:bodyPr/>
          <a:lstStyle>
            <a:defPPr>
              <a:defRPr sz="1200" b="0">
                <a:solidFill>
                  <a:srgbClr val="536675"/>
                </a:solidFill>
                <a:latin typeface="Arial"/>
                <a:ea typeface="Arial"/>
                <a:cs typeface="Arial"/>
              </a:defRPr>
            </a:defPPr>
            <a:lvl1pPr>
              <a:defRPr sz="1200" b="0">
                <a:solidFill>
                  <a:srgbClr val="536675"/>
                </a:solidFill>
                <a:latin typeface="Arial"/>
                <a:ea typeface="Arial"/>
                <a:cs typeface="Arial"/>
              </a:defRPr>
            </a:lvl1pPr>
            <a:lvl2pPr>
              <a:defRPr sz="1200" b="0">
                <a:solidFill>
                  <a:srgbClr val="536675"/>
                </a:solidFill>
                <a:latin typeface="Arial"/>
                <a:ea typeface="Arial"/>
                <a:cs typeface="Arial"/>
              </a:defRPr>
            </a:lvl2pPr>
            <a:lvl3pPr>
              <a:defRPr sz="1200" b="0">
                <a:solidFill>
                  <a:srgbClr val="536675"/>
                </a:solidFill>
                <a:latin typeface="Arial"/>
                <a:ea typeface="Arial"/>
                <a:cs typeface="Arial"/>
              </a:defRPr>
            </a:lvl3pPr>
            <a:lvl4pPr>
              <a:defRPr sz="1200" b="0">
                <a:solidFill>
                  <a:srgbClr val="536675"/>
                </a:solidFill>
                <a:latin typeface="Arial"/>
                <a:ea typeface="Arial"/>
                <a:cs typeface="Arial"/>
              </a:defRPr>
            </a:lvl4pPr>
            <a:lvl5pPr>
              <a:defRPr sz="1200" b="0">
                <a:solidFill>
                  <a:srgbClr val="536675"/>
                </a:solidFill>
                <a:latin typeface="Arial"/>
                <a:ea typeface="Arial"/>
                <a:cs typeface="Arial"/>
              </a:defRPr>
            </a:lvl5pPr>
            <a:lvl6pPr>
              <a:defRPr sz="1200" b="0">
                <a:solidFill>
                  <a:srgbClr val="536675"/>
                </a:solidFill>
                <a:latin typeface="Arial"/>
                <a:ea typeface="Arial"/>
                <a:cs typeface="Arial"/>
              </a:defRPr>
            </a:lvl6pPr>
            <a:lvl7pPr>
              <a:defRPr sz="1200" b="0">
                <a:solidFill>
                  <a:srgbClr val="536675"/>
                </a:solidFill>
                <a:latin typeface="Arial"/>
                <a:ea typeface="Arial"/>
                <a:cs typeface="Arial"/>
              </a:defRPr>
            </a:lvl7pPr>
            <a:lvl8pPr>
              <a:defRPr sz="1200" b="0">
                <a:solidFill>
                  <a:srgbClr val="536675"/>
                </a:solidFill>
                <a:latin typeface="Arial"/>
                <a:ea typeface="Arial"/>
                <a:cs typeface="Arial"/>
              </a:defRPr>
            </a:lvl8pPr>
            <a:lvl9pPr>
              <a:defRPr sz="1200" b="0">
                <a:solidFill>
                  <a:srgbClr val="536675"/>
                </a:solidFill>
                <a:latin typeface="Arial"/>
                <a:ea typeface="Arial"/>
                <a:cs typeface="Arial"/>
              </a:defRPr>
            </a:lvl9pPr>
          </a:lstStyle>
          <a:p>
            <a:pPr>
              <a:defRPr sz="1200" b="0">
                <a:solidFill>
                  <a:srgbClr val="536675"/>
                </a:solidFill>
                <a:latin typeface="Arial"/>
                <a:ea typeface="Arial"/>
                <a:cs typeface="Arial"/>
              </a:defRPr>
            </a:pPr>
            <a:endParaRPr sz="1200" b="0">
              <a:solidFill>
                <a:srgbClr val="000000"/>
              </a:solidFill>
              <a:latin typeface="Calibri" panose="020F0502020204030204" pitchFamily="34" charset="0"/>
              <a:ea typeface="Arial"/>
              <a:cs typeface="Arial"/>
            </a:endParaRPr>
          </a:p>
        </p:txBody>
      </p:sp>
      <p:sp>
        <p:nvSpPr>
          <p:cNvPr id="6" name="Rectangle 5">
            <a:extLst>
              <a:ext uri="{FF2B5EF4-FFF2-40B4-BE49-F238E27FC236}">
                <a16:creationId xmlns:a16="http://schemas.microsoft.com/office/drawing/2014/main" id="{31D8C011-89BE-49AC-A459-6A6978A923D9}"/>
              </a:ext>
            </a:extLst>
          </p:cNvPr>
          <p:cNvSpPr>
            <a:spLocks noGrp="1"/>
          </p:cNvSpPr>
          <p:nvPr/>
        </p:nvSpPr>
        <p:spPr>
          <a:xfrm>
            <a:off x="476250" y="6010275"/>
            <a:ext cx="11239500" cy="447675"/>
          </a:xfrm>
          <a:prstGeom prst="rect">
            <a:avLst/>
          </a:prstGeom>
          <a:noFill/>
          <a:ln w="0">
            <a:noFill/>
          </a:ln>
        </p:spPr>
        <p:txBody>
          <a:bodyPr/>
          <a:lstStyle>
            <a:defPPr>
              <a:defRPr sz="1275" b="0">
                <a:solidFill>
                  <a:srgbClr val="536675"/>
                </a:solidFill>
                <a:latin typeface="Arial"/>
                <a:ea typeface="Arial"/>
                <a:cs typeface="Arial"/>
              </a:defRPr>
            </a:defPPr>
            <a:lvl1pPr>
              <a:defRPr sz="1275" b="0">
                <a:solidFill>
                  <a:srgbClr val="536675"/>
                </a:solidFill>
                <a:latin typeface="Arial"/>
                <a:ea typeface="Arial"/>
                <a:cs typeface="Arial"/>
              </a:defRPr>
            </a:lvl1pPr>
            <a:lvl2pPr>
              <a:defRPr sz="1275" b="0">
                <a:solidFill>
                  <a:srgbClr val="536675"/>
                </a:solidFill>
                <a:latin typeface="Arial"/>
                <a:ea typeface="Arial"/>
                <a:cs typeface="Arial"/>
              </a:defRPr>
            </a:lvl2pPr>
            <a:lvl3pPr>
              <a:defRPr sz="1275" b="0">
                <a:solidFill>
                  <a:srgbClr val="536675"/>
                </a:solidFill>
                <a:latin typeface="Arial"/>
                <a:ea typeface="Arial"/>
                <a:cs typeface="Arial"/>
              </a:defRPr>
            </a:lvl3pPr>
            <a:lvl4pPr>
              <a:defRPr sz="1275" b="0">
                <a:solidFill>
                  <a:srgbClr val="536675"/>
                </a:solidFill>
                <a:latin typeface="Arial"/>
                <a:ea typeface="Arial"/>
                <a:cs typeface="Arial"/>
              </a:defRPr>
            </a:lvl4pPr>
            <a:lvl5pPr>
              <a:defRPr sz="1275" b="0">
                <a:solidFill>
                  <a:srgbClr val="536675"/>
                </a:solidFill>
                <a:latin typeface="Arial"/>
                <a:ea typeface="Arial"/>
                <a:cs typeface="Arial"/>
              </a:defRPr>
            </a:lvl5pPr>
            <a:lvl6pPr>
              <a:defRPr sz="1275" b="0">
                <a:solidFill>
                  <a:srgbClr val="536675"/>
                </a:solidFill>
                <a:latin typeface="Arial"/>
                <a:ea typeface="Arial"/>
                <a:cs typeface="Arial"/>
              </a:defRPr>
            </a:lvl6pPr>
            <a:lvl7pPr>
              <a:defRPr sz="1275" b="0">
                <a:solidFill>
                  <a:srgbClr val="536675"/>
                </a:solidFill>
                <a:latin typeface="Arial"/>
                <a:ea typeface="Arial"/>
                <a:cs typeface="Arial"/>
              </a:defRPr>
            </a:lvl7pPr>
            <a:lvl8pPr>
              <a:defRPr sz="1275" b="0">
                <a:solidFill>
                  <a:srgbClr val="536675"/>
                </a:solidFill>
                <a:latin typeface="Arial"/>
                <a:ea typeface="Arial"/>
                <a:cs typeface="Arial"/>
              </a:defRPr>
            </a:lvl8pPr>
            <a:lvl9pPr>
              <a:defRPr sz="1275" b="0">
                <a:solidFill>
                  <a:srgbClr val="536675"/>
                </a:solidFill>
                <a:latin typeface="Arial"/>
                <a:ea typeface="Arial"/>
                <a:cs typeface="Arial"/>
              </a:defRPr>
            </a:lvl9pPr>
          </a:lstStyle>
          <a:p>
            <a:pPr>
              <a:defRPr sz="1275" b="0">
                <a:solidFill>
                  <a:srgbClr val="536675"/>
                </a:solidFill>
                <a:latin typeface="Arial"/>
                <a:ea typeface="Arial"/>
                <a:cs typeface="Arial"/>
              </a:defRPr>
            </a:pPr>
            <a:endParaRPr sz="1275" b="0">
              <a:solidFill>
                <a:srgbClr val="000000"/>
              </a:solidFill>
              <a:latin typeface="Calibri" panose="020F0502020204030204" pitchFamily="34" charset="0"/>
              <a:ea typeface="Arial"/>
              <a:cs typeface="Arial"/>
            </a:endParaRPr>
          </a:p>
        </p:txBody>
      </p:sp>
      <p:sp>
        <p:nvSpPr>
          <p:cNvPr id="8" name="TextBox 7">
            <a:extLst>
              <a:ext uri="{FF2B5EF4-FFF2-40B4-BE49-F238E27FC236}">
                <a16:creationId xmlns:a16="http://schemas.microsoft.com/office/drawing/2014/main" id="{DCA5CA6C-A7E4-5B47-AEA9-7B122CBD6934}"/>
              </a:ext>
            </a:extLst>
          </p:cNvPr>
          <p:cNvSpPr txBox="1"/>
          <p:nvPr/>
        </p:nvSpPr>
        <p:spPr>
          <a:xfrm>
            <a:off x="476250" y="6400800"/>
            <a:ext cx="11074400" cy="323165"/>
          </a:xfrm>
          <a:prstGeom prst="rect">
            <a:avLst/>
          </a:prstGeom>
          <a:noFill/>
        </p:spPr>
        <p:txBody>
          <a:bodyPr vert="horz" lIns="0" tIns="0" rIns="0" bIns="0" rtlCol="0">
            <a:spAutoFit/>
          </a:bodyPr>
          <a:lstStyle/>
          <a:p>
            <a:r>
              <a:rPr lang="en-US" sz="1050">
                <a:solidFill>
                  <a:srgbClr val="000000"/>
                </a:solidFill>
                <a:latin typeface="Calibri" panose="020F0502020204030204" pitchFamily="34" charset="0"/>
              </a:rPr>
              <a:t>[S9] Historical DL/WL grid; [S7] only selected designs resized at 30 s. ○ retained pass; × constraint; □ unresolved; ◇ selected.
Codes: S stall, G clearance, M motor, B battery, P native power/drive, N numerical, O other. Detailed reasons are in the notes.</a:t>
            </a:r>
          </a:p>
        </p:txBody>
      </p:sp>
      <p:pic>
        <p:nvPicPr>
          <p:cNvPr id="10" name="Picture 9">
            <a:extLst>
              <a:ext uri="{FF2B5EF4-FFF2-40B4-BE49-F238E27FC236}">
                <a16:creationId xmlns:a16="http://schemas.microsoft.com/office/drawing/2014/main" id="{E92A5804-7D81-A960-817A-9328BC528CD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476250" y="1422400"/>
            <a:ext cx="11239500" cy="4635500"/>
          </a:xfrm>
          <a:prstGeom prst="rect">
            <a:avLst/>
          </a:prstGeom>
        </p:spPr>
      </p:pic>
      <p:sp>
        <p:nvSpPr>
          <p:cNvPr id="11" name="TextBox 10">
            <a:extLst>
              <a:ext uri="{FF2B5EF4-FFF2-40B4-BE49-F238E27FC236}">
                <a16:creationId xmlns:a16="http://schemas.microsoft.com/office/drawing/2014/main" id="{D25F7C36-AB84-2996-17C1-83A559D26E2B}"/>
              </a:ext>
            </a:extLst>
          </p:cNvPr>
          <p:cNvSpPr txBox="1"/>
          <p:nvPr/>
        </p:nvSpPr>
        <p:spPr>
          <a:xfrm>
            <a:off x="11671300" y="6527800"/>
            <a:ext cx="355600" cy="153888"/>
          </a:xfrm>
          <a:prstGeom prst="rect">
            <a:avLst/>
          </a:prstGeom>
          <a:noFill/>
        </p:spPr>
        <p:txBody>
          <a:bodyPr vert="horz" lIns="0" tIns="0" rIns="0" bIns="0" rtlCol="0">
            <a:spAutoFit/>
          </a:bodyPr>
          <a:lstStyle/>
          <a:p>
            <a:r>
              <a:rPr lang="en-US" sz="1000">
                <a:solidFill>
                  <a:srgbClr val="000000"/>
                </a:solidFill>
                <a:latin typeface="Calibri" panose="020F0502020204030204" pitchFamily="34" charset="0"/>
              </a:rPr>
              <a:t>20</a:t>
            </a:r>
          </a:p>
        </p:txBody>
      </p:sp>
    </p:spTree>
    <p:extLst>
      <p:ext uri="{BB962C8B-B14F-4D97-AF65-F5344CB8AC3E}">
        <p14:creationId xmlns:p14="http://schemas.microsoft.com/office/powerpoint/2010/main" val="596161795"/>
      </p:ext>
    </p:extLst>
  </p:cSld>
  <p:clrMapOvr>
    <a:masterClrMapping/>
  </p:clrMapOvr>
  <p:extLst>
    <p:ext uri="{6950BFC3-D8DA-4A85-94F7-54DA5524770B}">
      <p188:commentRel xmlns:p188="http://schemas.microsoft.com/office/powerpoint/2018/8/main" r:id="rId3"/>
    </p:ext>
  </p:extLs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26230EF-BD0A-43FE-94CE-D1084B3F4D69}"/>
              </a:ext>
            </a:extLst>
          </p:cNvPr>
          <p:cNvSpPr>
            <a:spLocks noGrp="1"/>
          </p:cNvSpPr>
          <p:nvPr/>
        </p:nvSpPr>
        <p:spPr>
          <a:xfrm>
            <a:off x="838200" y="361950"/>
            <a:ext cx="10896600" cy="571500"/>
          </a:xfrm>
          <a:prstGeom prst="rect">
            <a:avLst/>
          </a:prstGeom>
          <a:noFill/>
          <a:ln w="0">
            <a:noFill/>
          </a:ln>
        </p:spPr>
        <p:txBody>
          <a:bodyPr/>
          <a:lstStyle>
            <a:defPPr>
              <a:defRPr sz="2775" b="1">
                <a:solidFill>
                  <a:srgbClr val="173344"/>
                </a:solidFill>
                <a:latin typeface="Arial"/>
                <a:ea typeface="Arial"/>
                <a:cs typeface="Arial"/>
              </a:defRPr>
            </a:defPPr>
            <a:lvl1pPr>
              <a:defRPr sz="2775" b="1">
                <a:solidFill>
                  <a:srgbClr val="173344"/>
                </a:solidFill>
                <a:latin typeface="Arial"/>
                <a:ea typeface="Arial"/>
                <a:cs typeface="Arial"/>
              </a:defRPr>
            </a:lvl1pPr>
            <a:lvl2pPr>
              <a:defRPr sz="2775" b="1">
                <a:solidFill>
                  <a:srgbClr val="173344"/>
                </a:solidFill>
                <a:latin typeface="Arial"/>
                <a:ea typeface="Arial"/>
                <a:cs typeface="Arial"/>
              </a:defRPr>
            </a:lvl2pPr>
            <a:lvl3pPr>
              <a:defRPr sz="2775" b="1">
                <a:solidFill>
                  <a:srgbClr val="173344"/>
                </a:solidFill>
                <a:latin typeface="Arial"/>
                <a:ea typeface="Arial"/>
                <a:cs typeface="Arial"/>
              </a:defRPr>
            </a:lvl3pPr>
            <a:lvl4pPr>
              <a:defRPr sz="2775" b="1">
                <a:solidFill>
                  <a:srgbClr val="173344"/>
                </a:solidFill>
                <a:latin typeface="Arial"/>
                <a:ea typeface="Arial"/>
                <a:cs typeface="Arial"/>
              </a:defRPr>
            </a:lvl4pPr>
            <a:lvl5pPr>
              <a:defRPr sz="2775" b="1">
                <a:solidFill>
                  <a:srgbClr val="173344"/>
                </a:solidFill>
                <a:latin typeface="Arial"/>
                <a:ea typeface="Arial"/>
                <a:cs typeface="Arial"/>
              </a:defRPr>
            </a:lvl5pPr>
            <a:lvl6pPr>
              <a:defRPr sz="2775" b="1">
                <a:solidFill>
                  <a:srgbClr val="173344"/>
                </a:solidFill>
                <a:latin typeface="Arial"/>
                <a:ea typeface="Arial"/>
                <a:cs typeface="Arial"/>
              </a:defRPr>
            </a:lvl6pPr>
            <a:lvl7pPr>
              <a:defRPr sz="2775" b="1">
                <a:solidFill>
                  <a:srgbClr val="173344"/>
                </a:solidFill>
                <a:latin typeface="Arial"/>
                <a:ea typeface="Arial"/>
                <a:cs typeface="Arial"/>
              </a:defRPr>
            </a:lvl7pPr>
            <a:lvl8pPr>
              <a:defRPr sz="2775" b="1">
                <a:solidFill>
                  <a:srgbClr val="173344"/>
                </a:solidFill>
                <a:latin typeface="Arial"/>
                <a:ea typeface="Arial"/>
                <a:cs typeface="Arial"/>
              </a:defRPr>
            </a:lvl8pPr>
            <a:lvl9pPr>
              <a:defRPr sz="2775" b="1">
                <a:solidFill>
                  <a:srgbClr val="173344"/>
                </a:solidFill>
                <a:latin typeface="Arial"/>
                <a:ea typeface="Arial"/>
                <a:cs typeface="Arial"/>
              </a:defRPr>
            </a:lvl9pPr>
          </a:lstStyle>
          <a:p>
            <a:pPr>
              <a:defRPr sz="2775" b="1">
                <a:solidFill>
                  <a:srgbClr val="173344"/>
                </a:solidFill>
                <a:latin typeface="Arial"/>
                <a:ea typeface="Arial"/>
                <a:cs typeface="Arial"/>
              </a:defRPr>
            </a:pPr>
            <a:r>
              <a:rPr sz="2400" b="1">
                <a:solidFill>
                  <a:srgbClr val="000000"/>
                </a:solidFill>
                <a:latin typeface="Calibri" panose="020F0502020204030204" pitchFamily="34" charset="0"/>
                <a:ea typeface="Arial"/>
                <a:cs typeface="Arial"/>
              </a:rPr>
              <a:t>Lift + cruise: mission energy and power</a:t>
            </a:r>
          </a:p>
        </p:txBody>
      </p:sp>
      <p:sp>
        <p:nvSpPr>
          <p:cNvPr id="2" name="Rectangle 1">
            <a:extLst>
              <a:ext uri="{FF2B5EF4-FFF2-40B4-BE49-F238E27FC236}">
                <a16:creationId xmlns:a16="http://schemas.microsoft.com/office/drawing/2014/main" id="{BAAE7324-857B-4EC3-9FA9-C0CE7E00870C}"/>
              </a:ext>
            </a:extLst>
          </p:cNvPr>
          <p:cNvSpPr>
            <a:spLocks noGrp="1"/>
          </p:cNvSpPr>
          <p:nvPr/>
        </p:nvSpPr>
        <p:spPr>
          <a:xfrm>
            <a:off x="476250" y="876300"/>
            <a:ext cx="11239500" cy="523875"/>
          </a:xfrm>
          <a:prstGeom prst="rect">
            <a:avLst/>
          </a:prstGeom>
          <a:noFill/>
          <a:ln w="0">
            <a:noFill/>
          </a:ln>
        </p:spPr>
        <p:txBody>
          <a:bodyPr/>
          <a:lstStyle>
            <a:defPPr>
              <a:defRPr sz="1575" b="0">
                <a:solidFill>
                  <a:srgbClr val="536675"/>
                </a:solidFill>
                <a:latin typeface="Arial"/>
                <a:ea typeface="Arial"/>
                <a:cs typeface="Arial"/>
              </a:defRPr>
            </a:defPPr>
            <a:lvl1pPr>
              <a:defRPr sz="1575" b="0">
                <a:solidFill>
                  <a:srgbClr val="536675"/>
                </a:solidFill>
                <a:latin typeface="Arial"/>
                <a:ea typeface="Arial"/>
                <a:cs typeface="Arial"/>
              </a:defRPr>
            </a:lvl1pPr>
            <a:lvl2pPr>
              <a:defRPr sz="1575" b="0">
                <a:solidFill>
                  <a:srgbClr val="536675"/>
                </a:solidFill>
                <a:latin typeface="Arial"/>
                <a:ea typeface="Arial"/>
                <a:cs typeface="Arial"/>
              </a:defRPr>
            </a:lvl2pPr>
            <a:lvl3pPr>
              <a:defRPr sz="1575" b="0">
                <a:solidFill>
                  <a:srgbClr val="536675"/>
                </a:solidFill>
                <a:latin typeface="Arial"/>
                <a:ea typeface="Arial"/>
                <a:cs typeface="Arial"/>
              </a:defRPr>
            </a:lvl3pPr>
            <a:lvl4pPr>
              <a:defRPr sz="1575" b="0">
                <a:solidFill>
                  <a:srgbClr val="536675"/>
                </a:solidFill>
                <a:latin typeface="Arial"/>
                <a:ea typeface="Arial"/>
                <a:cs typeface="Arial"/>
              </a:defRPr>
            </a:lvl4pPr>
            <a:lvl5pPr>
              <a:defRPr sz="1575" b="0">
                <a:solidFill>
                  <a:srgbClr val="536675"/>
                </a:solidFill>
                <a:latin typeface="Arial"/>
                <a:ea typeface="Arial"/>
                <a:cs typeface="Arial"/>
              </a:defRPr>
            </a:lvl5pPr>
            <a:lvl6pPr>
              <a:defRPr sz="1575" b="0">
                <a:solidFill>
                  <a:srgbClr val="536675"/>
                </a:solidFill>
                <a:latin typeface="Arial"/>
                <a:ea typeface="Arial"/>
                <a:cs typeface="Arial"/>
              </a:defRPr>
            </a:lvl6pPr>
            <a:lvl7pPr>
              <a:defRPr sz="1575" b="0">
                <a:solidFill>
                  <a:srgbClr val="536675"/>
                </a:solidFill>
                <a:latin typeface="Arial"/>
                <a:ea typeface="Arial"/>
                <a:cs typeface="Arial"/>
              </a:defRPr>
            </a:lvl7pPr>
            <a:lvl8pPr>
              <a:defRPr sz="1575" b="0">
                <a:solidFill>
                  <a:srgbClr val="536675"/>
                </a:solidFill>
                <a:latin typeface="Arial"/>
                <a:ea typeface="Arial"/>
                <a:cs typeface="Arial"/>
              </a:defRPr>
            </a:lvl8pPr>
            <a:lvl9pPr>
              <a:defRPr sz="1575" b="0">
                <a:solidFill>
                  <a:srgbClr val="536675"/>
                </a:solidFill>
                <a:latin typeface="Arial"/>
                <a:ea typeface="Arial"/>
                <a:cs typeface="Arial"/>
              </a:defRPr>
            </a:lvl9pPr>
          </a:lstStyle>
          <a:p>
            <a:pPr>
              <a:defRPr sz="1575" b="0">
                <a:solidFill>
                  <a:srgbClr val="536675"/>
                </a:solidFill>
                <a:latin typeface="Arial"/>
                <a:ea typeface="Arial"/>
                <a:cs typeface="Arial"/>
              </a:defRPr>
            </a:pPr>
            <a:r>
              <a:rPr lang="en-US" b="0">
                <a:solidFill>
                  <a:srgbClr val="000000"/>
                </a:solidFill>
                <a:latin typeface="Calibri" panose="020F0502020204030204" pitchFamily="34" charset="0"/>
                <a:ea typeface="Arial"/>
                <a:cs typeface="Arial"/>
              </a:rPr>
              <a:t>Longer vertical climb reduces final SOC; installed cell counts and five-hour endurance are unchanged.</a:t>
            </a:r>
            <a:endParaRPr b="0">
              <a:solidFill>
                <a:srgbClr val="000000"/>
              </a:solidFill>
              <a:latin typeface="Calibri" panose="020F0502020204030204" pitchFamily="34" charset="0"/>
              <a:ea typeface="Arial"/>
              <a:cs typeface="Arial"/>
            </a:endParaRPr>
          </a:p>
        </p:txBody>
      </p:sp>
      <p:sp>
        <p:nvSpPr>
          <p:cNvPr id="3" name="Rectangle 2">
            <a:extLst>
              <a:ext uri="{FF2B5EF4-FFF2-40B4-BE49-F238E27FC236}">
                <a16:creationId xmlns:a16="http://schemas.microsoft.com/office/drawing/2014/main" id="{A581C2E1-87A1-47DA-8C82-89495ACA502A}"/>
              </a:ext>
            </a:extLst>
          </p:cNvPr>
          <p:cNvSpPr>
            <a:spLocks noGrp="1"/>
          </p:cNvSpPr>
          <p:nvPr/>
        </p:nvSpPr>
        <p:spPr>
          <a:xfrm>
            <a:off x="476250" y="6524625"/>
            <a:ext cx="10477500" cy="190500"/>
          </a:xfrm>
          <a:prstGeom prst="rect">
            <a:avLst/>
          </a:prstGeom>
          <a:noFill/>
          <a:ln w="0">
            <a:noFill/>
          </a:ln>
        </p:spPr>
        <p:txBody>
          <a:bodyPr/>
          <a:lstStyle>
            <a:defPPr>
              <a:defRPr sz="975" b="0">
                <a:solidFill>
                  <a:srgbClr val="536675"/>
                </a:solidFill>
                <a:latin typeface="Arial"/>
                <a:ea typeface="Arial"/>
                <a:cs typeface="Arial"/>
              </a:defRPr>
            </a:defPPr>
            <a:lvl1pPr>
              <a:defRPr sz="975" b="0">
                <a:solidFill>
                  <a:srgbClr val="536675"/>
                </a:solidFill>
                <a:latin typeface="Arial"/>
                <a:ea typeface="Arial"/>
                <a:cs typeface="Arial"/>
              </a:defRPr>
            </a:lvl1pPr>
            <a:lvl2pPr>
              <a:defRPr sz="975" b="0">
                <a:solidFill>
                  <a:srgbClr val="536675"/>
                </a:solidFill>
                <a:latin typeface="Arial"/>
                <a:ea typeface="Arial"/>
                <a:cs typeface="Arial"/>
              </a:defRPr>
            </a:lvl2pPr>
            <a:lvl3pPr>
              <a:defRPr sz="975" b="0">
                <a:solidFill>
                  <a:srgbClr val="536675"/>
                </a:solidFill>
                <a:latin typeface="Arial"/>
                <a:ea typeface="Arial"/>
                <a:cs typeface="Arial"/>
              </a:defRPr>
            </a:lvl3pPr>
            <a:lvl4pPr>
              <a:defRPr sz="975" b="0">
                <a:solidFill>
                  <a:srgbClr val="536675"/>
                </a:solidFill>
                <a:latin typeface="Arial"/>
                <a:ea typeface="Arial"/>
                <a:cs typeface="Arial"/>
              </a:defRPr>
            </a:lvl4pPr>
            <a:lvl5pPr>
              <a:defRPr sz="975" b="0">
                <a:solidFill>
                  <a:srgbClr val="536675"/>
                </a:solidFill>
                <a:latin typeface="Arial"/>
                <a:ea typeface="Arial"/>
                <a:cs typeface="Arial"/>
              </a:defRPr>
            </a:lvl5pPr>
            <a:lvl6pPr>
              <a:defRPr sz="975" b="0">
                <a:solidFill>
                  <a:srgbClr val="536675"/>
                </a:solidFill>
                <a:latin typeface="Arial"/>
                <a:ea typeface="Arial"/>
                <a:cs typeface="Arial"/>
              </a:defRPr>
            </a:lvl6pPr>
            <a:lvl7pPr>
              <a:defRPr sz="975" b="0">
                <a:solidFill>
                  <a:srgbClr val="536675"/>
                </a:solidFill>
                <a:latin typeface="Arial"/>
                <a:ea typeface="Arial"/>
                <a:cs typeface="Arial"/>
              </a:defRPr>
            </a:lvl7pPr>
            <a:lvl8pPr>
              <a:defRPr sz="975" b="0">
                <a:solidFill>
                  <a:srgbClr val="536675"/>
                </a:solidFill>
                <a:latin typeface="Arial"/>
                <a:ea typeface="Arial"/>
                <a:cs typeface="Arial"/>
              </a:defRPr>
            </a:lvl8pPr>
            <a:lvl9pPr>
              <a:defRPr sz="975" b="0">
                <a:solidFill>
                  <a:srgbClr val="536675"/>
                </a:solidFill>
                <a:latin typeface="Arial"/>
                <a:ea typeface="Arial"/>
                <a:cs typeface="Arial"/>
              </a:defRPr>
            </a:lvl9pPr>
          </a:lstStyle>
          <a:p>
            <a:pPr>
              <a:defRPr sz="975" b="0">
                <a:solidFill>
                  <a:srgbClr val="536675"/>
                </a:solidFill>
                <a:latin typeface="Arial"/>
                <a:ea typeface="Arial"/>
                <a:cs typeface="Arial"/>
              </a:defRPr>
            </a:pPr>
            <a:endParaRPr sz="975" b="0">
              <a:solidFill>
                <a:srgbClr val="000000"/>
              </a:solidFill>
              <a:latin typeface="Calibri" panose="020F0502020204030204" pitchFamily="34" charset="0"/>
              <a:ea typeface="Arial"/>
              <a:cs typeface="Arial"/>
            </a:endParaRPr>
          </a:p>
        </p:txBody>
      </p:sp>
      <p:sp>
        <p:nvSpPr>
          <p:cNvPr id="4" name="Rectangle 3">
            <a:extLst>
              <a:ext uri="{FF2B5EF4-FFF2-40B4-BE49-F238E27FC236}">
                <a16:creationId xmlns:a16="http://schemas.microsoft.com/office/drawing/2014/main" id="{E3DB0E65-57DE-4CA5-91B2-8A727E67EDA2}"/>
              </a:ext>
            </a:extLst>
          </p:cNvPr>
          <p:cNvSpPr>
            <a:spLocks noGrp="1"/>
          </p:cNvSpPr>
          <p:nvPr/>
        </p:nvSpPr>
        <p:spPr>
          <a:xfrm>
            <a:off x="11334750" y="6496050"/>
            <a:ext cx="381000" cy="228600"/>
          </a:xfrm>
          <a:prstGeom prst="rect">
            <a:avLst/>
          </a:prstGeom>
          <a:noFill/>
          <a:ln w="0">
            <a:noFill/>
          </a:ln>
        </p:spPr>
        <p:txBody>
          <a:bodyPr/>
          <a:lstStyle>
            <a:defPPr>
              <a:defRPr sz="1200" b="0">
                <a:solidFill>
                  <a:srgbClr val="536675"/>
                </a:solidFill>
                <a:latin typeface="Arial"/>
                <a:ea typeface="Arial"/>
                <a:cs typeface="Arial"/>
              </a:defRPr>
            </a:defPPr>
            <a:lvl1pPr>
              <a:defRPr sz="1200" b="0">
                <a:solidFill>
                  <a:srgbClr val="536675"/>
                </a:solidFill>
                <a:latin typeface="Arial"/>
                <a:ea typeface="Arial"/>
                <a:cs typeface="Arial"/>
              </a:defRPr>
            </a:lvl1pPr>
            <a:lvl2pPr>
              <a:defRPr sz="1200" b="0">
                <a:solidFill>
                  <a:srgbClr val="536675"/>
                </a:solidFill>
                <a:latin typeface="Arial"/>
                <a:ea typeface="Arial"/>
                <a:cs typeface="Arial"/>
              </a:defRPr>
            </a:lvl2pPr>
            <a:lvl3pPr>
              <a:defRPr sz="1200" b="0">
                <a:solidFill>
                  <a:srgbClr val="536675"/>
                </a:solidFill>
                <a:latin typeface="Arial"/>
                <a:ea typeface="Arial"/>
                <a:cs typeface="Arial"/>
              </a:defRPr>
            </a:lvl3pPr>
            <a:lvl4pPr>
              <a:defRPr sz="1200" b="0">
                <a:solidFill>
                  <a:srgbClr val="536675"/>
                </a:solidFill>
                <a:latin typeface="Arial"/>
                <a:ea typeface="Arial"/>
                <a:cs typeface="Arial"/>
              </a:defRPr>
            </a:lvl4pPr>
            <a:lvl5pPr>
              <a:defRPr sz="1200" b="0">
                <a:solidFill>
                  <a:srgbClr val="536675"/>
                </a:solidFill>
                <a:latin typeface="Arial"/>
                <a:ea typeface="Arial"/>
                <a:cs typeface="Arial"/>
              </a:defRPr>
            </a:lvl5pPr>
            <a:lvl6pPr>
              <a:defRPr sz="1200" b="0">
                <a:solidFill>
                  <a:srgbClr val="536675"/>
                </a:solidFill>
                <a:latin typeface="Arial"/>
                <a:ea typeface="Arial"/>
                <a:cs typeface="Arial"/>
              </a:defRPr>
            </a:lvl6pPr>
            <a:lvl7pPr>
              <a:defRPr sz="1200" b="0">
                <a:solidFill>
                  <a:srgbClr val="536675"/>
                </a:solidFill>
                <a:latin typeface="Arial"/>
                <a:ea typeface="Arial"/>
                <a:cs typeface="Arial"/>
              </a:defRPr>
            </a:lvl7pPr>
            <a:lvl8pPr>
              <a:defRPr sz="1200" b="0">
                <a:solidFill>
                  <a:srgbClr val="536675"/>
                </a:solidFill>
                <a:latin typeface="Arial"/>
                <a:ea typeface="Arial"/>
                <a:cs typeface="Arial"/>
              </a:defRPr>
            </a:lvl8pPr>
            <a:lvl9pPr>
              <a:defRPr sz="1200" b="0">
                <a:solidFill>
                  <a:srgbClr val="536675"/>
                </a:solidFill>
                <a:latin typeface="Arial"/>
                <a:ea typeface="Arial"/>
                <a:cs typeface="Arial"/>
              </a:defRPr>
            </a:lvl9pPr>
          </a:lstStyle>
          <a:p>
            <a:pPr>
              <a:defRPr sz="1200" b="0">
                <a:solidFill>
                  <a:srgbClr val="536675"/>
                </a:solidFill>
                <a:latin typeface="Arial"/>
                <a:ea typeface="Arial"/>
                <a:cs typeface="Arial"/>
              </a:defRPr>
            </a:pPr>
            <a:endParaRPr sz="1200" b="0">
              <a:solidFill>
                <a:srgbClr val="000000"/>
              </a:solidFill>
              <a:latin typeface="Calibri" panose="020F0502020204030204" pitchFamily="34" charset="0"/>
              <a:ea typeface="Arial"/>
              <a:cs typeface="Arial"/>
            </a:endParaRPr>
          </a:p>
        </p:txBody>
      </p:sp>
      <p:sp>
        <p:nvSpPr>
          <p:cNvPr id="6" name="Rectangle 5">
            <a:extLst>
              <a:ext uri="{FF2B5EF4-FFF2-40B4-BE49-F238E27FC236}">
                <a16:creationId xmlns:a16="http://schemas.microsoft.com/office/drawing/2014/main" id="{5C35C4B2-33F0-41C8-AD55-1AA02A5234D8}"/>
              </a:ext>
            </a:extLst>
          </p:cNvPr>
          <p:cNvSpPr>
            <a:spLocks noGrp="1"/>
          </p:cNvSpPr>
          <p:nvPr/>
        </p:nvSpPr>
        <p:spPr>
          <a:xfrm>
            <a:off x="476250" y="6010275"/>
            <a:ext cx="11239500" cy="447675"/>
          </a:xfrm>
          <a:prstGeom prst="rect">
            <a:avLst/>
          </a:prstGeom>
          <a:noFill/>
          <a:ln w="0">
            <a:noFill/>
          </a:ln>
        </p:spPr>
        <p:txBody>
          <a:bodyPr/>
          <a:lstStyle>
            <a:defPPr>
              <a:defRPr sz="1275" b="0">
                <a:solidFill>
                  <a:srgbClr val="536675"/>
                </a:solidFill>
                <a:latin typeface="Arial"/>
                <a:ea typeface="Arial"/>
                <a:cs typeface="Arial"/>
              </a:defRPr>
            </a:defPPr>
            <a:lvl1pPr>
              <a:defRPr sz="1275" b="0">
                <a:solidFill>
                  <a:srgbClr val="536675"/>
                </a:solidFill>
                <a:latin typeface="Arial"/>
                <a:ea typeface="Arial"/>
                <a:cs typeface="Arial"/>
              </a:defRPr>
            </a:lvl1pPr>
            <a:lvl2pPr>
              <a:defRPr sz="1275" b="0">
                <a:solidFill>
                  <a:srgbClr val="536675"/>
                </a:solidFill>
                <a:latin typeface="Arial"/>
                <a:ea typeface="Arial"/>
                <a:cs typeface="Arial"/>
              </a:defRPr>
            </a:lvl2pPr>
            <a:lvl3pPr>
              <a:defRPr sz="1275" b="0">
                <a:solidFill>
                  <a:srgbClr val="536675"/>
                </a:solidFill>
                <a:latin typeface="Arial"/>
                <a:ea typeface="Arial"/>
                <a:cs typeface="Arial"/>
              </a:defRPr>
            </a:lvl3pPr>
            <a:lvl4pPr>
              <a:defRPr sz="1275" b="0">
                <a:solidFill>
                  <a:srgbClr val="536675"/>
                </a:solidFill>
                <a:latin typeface="Arial"/>
                <a:ea typeface="Arial"/>
                <a:cs typeface="Arial"/>
              </a:defRPr>
            </a:lvl4pPr>
            <a:lvl5pPr>
              <a:defRPr sz="1275" b="0">
                <a:solidFill>
                  <a:srgbClr val="536675"/>
                </a:solidFill>
                <a:latin typeface="Arial"/>
                <a:ea typeface="Arial"/>
                <a:cs typeface="Arial"/>
              </a:defRPr>
            </a:lvl5pPr>
            <a:lvl6pPr>
              <a:defRPr sz="1275" b="0">
                <a:solidFill>
                  <a:srgbClr val="536675"/>
                </a:solidFill>
                <a:latin typeface="Arial"/>
                <a:ea typeface="Arial"/>
                <a:cs typeface="Arial"/>
              </a:defRPr>
            </a:lvl6pPr>
            <a:lvl7pPr>
              <a:defRPr sz="1275" b="0">
                <a:solidFill>
                  <a:srgbClr val="536675"/>
                </a:solidFill>
                <a:latin typeface="Arial"/>
                <a:ea typeface="Arial"/>
                <a:cs typeface="Arial"/>
              </a:defRPr>
            </a:lvl7pPr>
            <a:lvl8pPr>
              <a:defRPr sz="1275" b="0">
                <a:solidFill>
                  <a:srgbClr val="536675"/>
                </a:solidFill>
                <a:latin typeface="Arial"/>
                <a:ea typeface="Arial"/>
                <a:cs typeface="Arial"/>
              </a:defRPr>
            </a:lvl8pPr>
            <a:lvl9pPr>
              <a:defRPr sz="1275" b="0">
                <a:solidFill>
                  <a:srgbClr val="536675"/>
                </a:solidFill>
                <a:latin typeface="Arial"/>
                <a:ea typeface="Arial"/>
                <a:cs typeface="Arial"/>
              </a:defRPr>
            </a:lvl9pPr>
          </a:lstStyle>
          <a:p>
            <a:pPr>
              <a:defRPr sz="1275" b="0">
                <a:solidFill>
                  <a:srgbClr val="536675"/>
                </a:solidFill>
                <a:latin typeface="Arial"/>
                <a:ea typeface="Arial"/>
                <a:cs typeface="Arial"/>
              </a:defRPr>
            </a:pPr>
            <a:endParaRPr sz="1275" b="0">
              <a:solidFill>
                <a:srgbClr val="000000"/>
              </a:solidFill>
              <a:latin typeface="Calibri" panose="020F0502020204030204" pitchFamily="34" charset="0"/>
              <a:ea typeface="Arial"/>
              <a:cs typeface="Arial"/>
            </a:endParaRPr>
          </a:p>
        </p:txBody>
      </p:sp>
      <p:sp>
        <p:nvSpPr>
          <p:cNvPr id="8" name="TextBox 7">
            <a:extLst>
              <a:ext uri="{FF2B5EF4-FFF2-40B4-BE49-F238E27FC236}">
                <a16:creationId xmlns:a16="http://schemas.microsoft.com/office/drawing/2014/main" id="{EA536F50-6396-F002-63D3-679CD42FA23A}"/>
              </a:ext>
            </a:extLst>
          </p:cNvPr>
          <p:cNvSpPr txBox="1"/>
          <p:nvPr/>
        </p:nvSpPr>
        <p:spPr>
          <a:xfrm>
            <a:off x="476250" y="6400800"/>
            <a:ext cx="11074400" cy="323165"/>
          </a:xfrm>
          <a:prstGeom prst="rect">
            <a:avLst/>
          </a:prstGeom>
          <a:noFill/>
        </p:spPr>
        <p:txBody>
          <a:bodyPr vert="horz" lIns="0" tIns="0" rIns="0" bIns="0" rtlCol="0">
            <a:spAutoFit/>
          </a:bodyPr>
          <a:lstStyle/>
          <a:p>
            <a:r>
              <a:rPr lang="en-US" sz="1050">
                <a:solidFill>
                  <a:srgbClr val="000000"/>
                </a:solidFill>
                <a:latin typeface="Calibri" panose="020F0502020204030204" pitchFamily="34" charset="0"/>
              </a:rPr>
              <a:t>[S7] Corrected mission / external cell screen. Initial SOC 95%, SOH 80%, capacity derating 90%; C-rate uses derated effective Ah.
Equal-width segments, not elapsed time. Dashed C limits: 9.5 retrofit / 9.0 clean sheet. Rotor area explains most of the power gap.</a:t>
            </a:r>
          </a:p>
        </p:txBody>
      </p:sp>
      <p:pic>
        <p:nvPicPr>
          <p:cNvPr id="10" name="Picture 9">
            <a:extLst>
              <a:ext uri="{FF2B5EF4-FFF2-40B4-BE49-F238E27FC236}">
                <a16:creationId xmlns:a16="http://schemas.microsoft.com/office/drawing/2014/main" id="{BD7912A4-482A-A67E-8307-72BA1183D0D4}"/>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476250" y="1422400"/>
            <a:ext cx="11239500" cy="4635500"/>
          </a:xfrm>
          <a:prstGeom prst="rect">
            <a:avLst/>
          </a:prstGeom>
        </p:spPr>
      </p:pic>
      <p:sp>
        <p:nvSpPr>
          <p:cNvPr id="11" name="TextBox 10">
            <a:extLst>
              <a:ext uri="{FF2B5EF4-FFF2-40B4-BE49-F238E27FC236}">
                <a16:creationId xmlns:a16="http://schemas.microsoft.com/office/drawing/2014/main" id="{3F415CD5-49D2-A22D-CA01-1C86BD37A1B1}"/>
              </a:ext>
            </a:extLst>
          </p:cNvPr>
          <p:cNvSpPr txBox="1"/>
          <p:nvPr/>
        </p:nvSpPr>
        <p:spPr>
          <a:xfrm>
            <a:off x="11671300" y="6527800"/>
            <a:ext cx="355600" cy="153888"/>
          </a:xfrm>
          <a:prstGeom prst="rect">
            <a:avLst/>
          </a:prstGeom>
          <a:noFill/>
        </p:spPr>
        <p:txBody>
          <a:bodyPr vert="horz" lIns="0" tIns="0" rIns="0" bIns="0" rtlCol="0">
            <a:spAutoFit/>
          </a:bodyPr>
          <a:lstStyle/>
          <a:p>
            <a:r>
              <a:rPr lang="en-US" sz="1000">
                <a:solidFill>
                  <a:srgbClr val="000000"/>
                </a:solidFill>
                <a:latin typeface="Calibri" panose="020F0502020204030204" pitchFamily="34" charset="0"/>
              </a:rPr>
              <a:t>21</a:t>
            </a:r>
          </a:p>
        </p:txBody>
      </p:sp>
    </p:spTree>
    <p:extLst>
      <p:ext uri="{BB962C8B-B14F-4D97-AF65-F5344CB8AC3E}">
        <p14:creationId xmlns:p14="http://schemas.microsoft.com/office/powerpoint/2010/main" val="1417823332"/>
      </p:ext>
    </p:extLst>
  </p:cSld>
  <p:clrMapOvr>
    <a:masterClrMapping/>
  </p:clrMapOvr>
  <p:extLst>
    <p:ext uri="{6950BFC3-D8DA-4A85-94F7-54DA5524770B}">
      <p188:commentRel xmlns:p188="http://schemas.microsoft.com/office/powerpoint/2018/8/main" r:id="rId3"/>
    </p:ext>
  </p:extLs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ABDEAA3-1190-4C97-9676-C9C214985AC8}"/>
              </a:ext>
            </a:extLst>
          </p:cNvPr>
          <p:cNvSpPr>
            <a:spLocks noGrp="1"/>
          </p:cNvSpPr>
          <p:nvPr/>
        </p:nvSpPr>
        <p:spPr>
          <a:xfrm>
            <a:off x="838200" y="361950"/>
            <a:ext cx="10896600" cy="571500"/>
          </a:xfrm>
          <a:prstGeom prst="rect">
            <a:avLst/>
          </a:prstGeom>
          <a:noFill/>
          <a:ln w="0">
            <a:noFill/>
          </a:ln>
        </p:spPr>
        <p:txBody>
          <a:bodyPr/>
          <a:lstStyle>
            <a:defPPr>
              <a:defRPr sz="2775" b="1">
                <a:solidFill>
                  <a:srgbClr val="173344"/>
                </a:solidFill>
                <a:latin typeface="Arial"/>
                <a:ea typeface="Arial"/>
                <a:cs typeface="Arial"/>
              </a:defRPr>
            </a:defPPr>
            <a:lvl1pPr>
              <a:defRPr sz="2775" b="1">
                <a:solidFill>
                  <a:srgbClr val="173344"/>
                </a:solidFill>
                <a:latin typeface="Arial"/>
                <a:ea typeface="Arial"/>
                <a:cs typeface="Arial"/>
              </a:defRPr>
            </a:lvl1pPr>
            <a:lvl2pPr>
              <a:defRPr sz="2775" b="1">
                <a:solidFill>
                  <a:srgbClr val="173344"/>
                </a:solidFill>
                <a:latin typeface="Arial"/>
                <a:ea typeface="Arial"/>
                <a:cs typeface="Arial"/>
              </a:defRPr>
            </a:lvl2pPr>
            <a:lvl3pPr>
              <a:defRPr sz="2775" b="1">
                <a:solidFill>
                  <a:srgbClr val="173344"/>
                </a:solidFill>
                <a:latin typeface="Arial"/>
                <a:ea typeface="Arial"/>
                <a:cs typeface="Arial"/>
              </a:defRPr>
            </a:lvl3pPr>
            <a:lvl4pPr>
              <a:defRPr sz="2775" b="1">
                <a:solidFill>
                  <a:srgbClr val="173344"/>
                </a:solidFill>
                <a:latin typeface="Arial"/>
                <a:ea typeface="Arial"/>
                <a:cs typeface="Arial"/>
              </a:defRPr>
            </a:lvl4pPr>
            <a:lvl5pPr>
              <a:defRPr sz="2775" b="1">
                <a:solidFill>
                  <a:srgbClr val="173344"/>
                </a:solidFill>
                <a:latin typeface="Arial"/>
                <a:ea typeface="Arial"/>
                <a:cs typeface="Arial"/>
              </a:defRPr>
            </a:lvl5pPr>
            <a:lvl6pPr>
              <a:defRPr sz="2775" b="1">
                <a:solidFill>
                  <a:srgbClr val="173344"/>
                </a:solidFill>
                <a:latin typeface="Arial"/>
                <a:ea typeface="Arial"/>
                <a:cs typeface="Arial"/>
              </a:defRPr>
            </a:lvl6pPr>
            <a:lvl7pPr>
              <a:defRPr sz="2775" b="1">
                <a:solidFill>
                  <a:srgbClr val="173344"/>
                </a:solidFill>
                <a:latin typeface="Arial"/>
                <a:ea typeface="Arial"/>
                <a:cs typeface="Arial"/>
              </a:defRPr>
            </a:lvl7pPr>
            <a:lvl8pPr>
              <a:defRPr sz="2775" b="1">
                <a:solidFill>
                  <a:srgbClr val="173344"/>
                </a:solidFill>
                <a:latin typeface="Arial"/>
                <a:ea typeface="Arial"/>
                <a:cs typeface="Arial"/>
              </a:defRPr>
            </a:lvl8pPr>
            <a:lvl9pPr>
              <a:defRPr sz="2775" b="1">
                <a:solidFill>
                  <a:srgbClr val="173344"/>
                </a:solidFill>
                <a:latin typeface="Arial"/>
                <a:ea typeface="Arial"/>
                <a:cs typeface="Arial"/>
              </a:defRPr>
            </a:lvl9pPr>
          </a:lstStyle>
          <a:p>
            <a:pPr>
              <a:defRPr sz="2775" b="1">
                <a:solidFill>
                  <a:srgbClr val="173344"/>
                </a:solidFill>
                <a:latin typeface="Arial"/>
                <a:ea typeface="Arial"/>
                <a:cs typeface="Arial"/>
              </a:defRPr>
            </a:pPr>
            <a:r>
              <a:rPr sz="2400" b="1">
                <a:solidFill>
                  <a:srgbClr val="000000"/>
                </a:solidFill>
                <a:latin typeface="Calibri" panose="020F0502020204030204" pitchFamily="34" charset="0"/>
                <a:ea typeface="Arial"/>
                <a:cs typeface="Arial"/>
              </a:rPr>
              <a:t>L+C cruise speed: fuel flow and operating limits</a:t>
            </a:r>
          </a:p>
        </p:txBody>
      </p:sp>
      <p:sp>
        <p:nvSpPr>
          <p:cNvPr id="2" name="Rectangle 1">
            <a:extLst>
              <a:ext uri="{FF2B5EF4-FFF2-40B4-BE49-F238E27FC236}">
                <a16:creationId xmlns:a16="http://schemas.microsoft.com/office/drawing/2014/main" id="{BE308C48-1076-4C9A-8B6A-57035BD23C0E}"/>
              </a:ext>
            </a:extLst>
          </p:cNvPr>
          <p:cNvSpPr>
            <a:spLocks noGrp="1"/>
          </p:cNvSpPr>
          <p:nvPr/>
        </p:nvSpPr>
        <p:spPr>
          <a:xfrm>
            <a:off x="476250" y="876300"/>
            <a:ext cx="11239500" cy="523875"/>
          </a:xfrm>
          <a:prstGeom prst="rect">
            <a:avLst/>
          </a:prstGeom>
          <a:noFill/>
          <a:ln w="0">
            <a:noFill/>
          </a:ln>
        </p:spPr>
        <p:txBody>
          <a:bodyPr/>
          <a:lstStyle>
            <a:defPPr>
              <a:defRPr sz="1575" b="0">
                <a:solidFill>
                  <a:srgbClr val="536675"/>
                </a:solidFill>
                <a:latin typeface="Arial"/>
                <a:ea typeface="Arial"/>
                <a:cs typeface="Arial"/>
              </a:defRPr>
            </a:defPPr>
            <a:lvl1pPr>
              <a:defRPr sz="1575" b="0">
                <a:solidFill>
                  <a:srgbClr val="536675"/>
                </a:solidFill>
                <a:latin typeface="Arial"/>
                <a:ea typeface="Arial"/>
                <a:cs typeface="Arial"/>
              </a:defRPr>
            </a:lvl1pPr>
            <a:lvl2pPr>
              <a:defRPr sz="1575" b="0">
                <a:solidFill>
                  <a:srgbClr val="536675"/>
                </a:solidFill>
                <a:latin typeface="Arial"/>
                <a:ea typeface="Arial"/>
                <a:cs typeface="Arial"/>
              </a:defRPr>
            </a:lvl2pPr>
            <a:lvl3pPr>
              <a:defRPr sz="1575" b="0">
                <a:solidFill>
                  <a:srgbClr val="536675"/>
                </a:solidFill>
                <a:latin typeface="Arial"/>
                <a:ea typeface="Arial"/>
                <a:cs typeface="Arial"/>
              </a:defRPr>
            </a:lvl3pPr>
            <a:lvl4pPr>
              <a:defRPr sz="1575" b="0">
                <a:solidFill>
                  <a:srgbClr val="536675"/>
                </a:solidFill>
                <a:latin typeface="Arial"/>
                <a:ea typeface="Arial"/>
                <a:cs typeface="Arial"/>
              </a:defRPr>
            </a:lvl4pPr>
            <a:lvl5pPr>
              <a:defRPr sz="1575" b="0">
                <a:solidFill>
                  <a:srgbClr val="536675"/>
                </a:solidFill>
                <a:latin typeface="Arial"/>
                <a:ea typeface="Arial"/>
                <a:cs typeface="Arial"/>
              </a:defRPr>
            </a:lvl5pPr>
            <a:lvl6pPr>
              <a:defRPr sz="1575" b="0">
                <a:solidFill>
                  <a:srgbClr val="536675"/>
                </a:solidFill>
                <a:latin typeface="Arial"/>
                <a:ea typeface="Arial"/>
                <a:cs typeface="Arial"/>
              </a:defRPr>
            </a:lvl6pPr>
            <a:lvl7pPr>
              <a:defRPr sz="1575" b="0">
                <a:solidFill>
                  <a:srgbClr val="536675"/>
                </a:solidFill>
                <a:latin typeface="Arial"/>
                <a:ea typeface="Arial"/>
                <a:cs typeface="Arial"/>
              </a:defRPr>
            </a:lvl7pPr>
            <a:lvl8pPr>
              <a:defRPr sz="1575" b="0">
                <a:solidFill>
                  <a:srgbClr val="536675"/>
                </a:solidFill>
                <a:latin typeface="Arial"/>
                <a:ea typeface="Arial"/>
                <a:cs typeface="Arial"/>
              </a:defRPr>
            </a:lvl8pPr>
            <a:lvl9pPr>
              <a:defRPr sz="1575" b="0">
                <a:solidFill>
                  <a:srgbClr val="536675"/>
                </a:solidFill>
                <a:latin typeface="Arial"/>
                <a:ea typeface="Arial"/>
                <a:cs typeface="Arial"/>
              </a:defRPr>
            </a:lvl9pPr>
          </a:lstStyle>
          <a:p>
            <a:pPr>
              <a:defRPr sz="1575" b="0">
                <a:solidFill>
                  <a:srgbClr val="536675"/>
                </a:solidFill>
                <a:latin typeface="Arial"/>
                <a:ea typeface="Arial"/>
                <a:cs typeface="Arial"/>
              </a:defRPr>
            </a:pPr>
            <a:r>
              <a:rPr lang="en-US" sz="1575" b="0">
                <a:solidFill>
                  <a:srgbClr val="000000"/>
                </a:solidFill>
                <a:latin typeface="Calibri" panose="020F0502020204030204" pitchFamily="34" charset="0"/>
                <a:ea typeface="Arial"/>
                <a:cs typeface="Arial"/>
              </a:rPr>
              <a:t>Historical 17 s design: lowest screened fuel flow occurs</a:t>
            </a:r>
            <a:r>
              <a:rPr sz="1575" b="0">
                <a:solidFill>
                  <a:srgbClr val="000000"/>
                </a:solidFill>
                <a:latin typeface="Calibri" panose="020F0502020204030204" pitchFamily="34" charset="0"/>
                <a:ea typeface="Arial"/>
                <a:cs typeface="Arial"/>
              </a:rPr>
              <a:t> at 145 km/h for both installed designs.</a:t>
            </a:r>
          </a:p>
        </p:txBody>
      </p:sp>
      <p:sp>
        <p:nvSpPr>
          <p:cNvPr id="3" name="Rectangle 2">
            <a:extLst>
              <a:ext uri="{FF2B5EF4-FFF2-40B4-BE49-F238E27FC236}">
                <a16:creationId xmlns:a16="http://schemas.microsoft.com/office/drawing/2014/main" id="{D6DAD6F2-BAE5-435E-B9EA-4615B600BF48}"/>
              </a:ext>
            </a:extLst>
          </p:cNvPr>
          <p:cNvSpPr>
            <a:spLocks noGrp="1"/>
          </p:cNvSpPr>
          <p:nvPr/>
        </p:nvSpPr>
        <p:spPr>
          <a:xfrm>
            <a:off x="476250" y="6524625"/>
            <a:ext cx="10477500" cy="190500"/>
          </a:xfrm>
          <a:prstGeom prst="rect">
            <a:avLst/>
          </a:prstGeom>
          <a:noFill/>
          <a:ln w="0">
            <a:noFill/>
          </a:ln>
        </p:spPr>
        <p:txBody>
          <a:bodyPr/>
          <a:lstStyle>
            <a:defPPr>
              <a:defRPr sz="975" b="0">
                <a:solidFill>
                  <a:srgbClr val="536675"/>
                </a:solidFill>
                <a:latin typeface="Arial"/>
                <a:ea typeface="Arial"/>
                <a:cs typeface="Arial"/>
              </a:defRPr>
            </a:defPPr>
            <a:lvl1pPr>
              <a:defRPr sz="975" b="0">
                <a:solidFill>
                  <a:srgbClr val="536675"/>
                </a:solidFill>
                <a:latin typeface="Arial"/>
                <a:ea typeface="Arial"/>
                <a:cs typeface="Arial"/>
              </a:defRPr>
            </a:lvl1pPr>
            <a:lvl2pPr>
              <a:defRPr sz="975" b="0">
                <a:solidFill>
                  <a:srgbClr val="536675"/>
                </a:solidFill>
                <a:latin typeface="Arial"/>
                <a:ea typeface="Arial"/>
                <a:cs typeface="Arial"/>
              </a:defRPr>
            </a:lvl2pPr>
            <a:lvl3pPr>
              <a:defRPr sz="975" b="0">
                <a:solidFill>
                  <a:srgbClr val="536675"/>
                </a:solidFill>
                <a:latin typeface="Arial"/>
                <a:ea typeface="Arial"/>
                <a:cs typeface="Arial"/>
              </a:defRPr>
            </a:lvl3pPr>
            <a:lvl4pPr>
              <a:defRPr sz="975" b="0">
                <a:solidFill>
                  <a:srgbClr val="536675"/>
                </a:solidFill>
                <a:latin typeface="Arial"/>
                <a:ea typeface="Arial"/>
                <a:cs typeface="Arial"/>
              </a:defRPr>
            </a:lvl4pPr>
            <a:lvl5pPr>
              <a:defRPr sz="975" b="0">
                <a:solidFill>
                  <a:srgbClr val="536675"/>
                </a:solidFill>
                <a:latin typeface="Arial"/>
                <a:ea typeface="Arial"/>
                <a:cs typeface="Arial"/>
              </a:defRPr>
            </a:lvl5pPr>
            <a:lvl6pPr>
              <a:defRPr sz="975" b="0">
                <a:solidFill>
                  <a:srgbClr val="536675"/>
                </a:solidFill>
                <a:latin typeface="Arial"/>
                <a:ea typeface="Arial"/>
                <a:cs typeface="Arial"/>
              </a:defRPr>
            </a:lvl6pPr>
            <a:lvl7pPr>
              <a:defRPr sz="975" b="0">
                <a:solidFill>
                  <a:srgbClr val="536675"/>
                </a:solidFill>
                <a:latin typeface="Arial"/>
                <a:ea typeface="Arial"/>
                <a:cs typeface="Arial"/>
              </a:defRPr>
            </a:lvl7pPr>
            <a:lvl8pPr>
              <a:defRPr sz="975" b="0">
                <a:solidFill>
                  <a:srgbClr val="536675"/>
                </a:solidFill>
                <a:latin typeface="Arial"/>
                <a:ea typeface="Arial"/>
                <a:cs typeface="Arial"/>
              </a:defRPr>
            </a:lvl8pPr>
            <a:lvl9pPr>
              <a:defRPr sz="975" b="0">
                <a:solidFill>
                  <a:srgbClr val="536675"/>
                </a:solidFill>
                <a:latin typeface="Arial"/>
                <a:ea typeface="Arial"/>
                <a:cs typeface="Arial"/>
              </a:defRPr>
            </a:lvl9pPr>
          </a:lstStyle>
          <a:p>
            <a:pPr>
              <a:defRPr sz="975" b="0">
                <a:solidFill>
                  <a:srgbClr val="536675"/>
                </a:solidFill>
                <a:latin typeface="Arial"/>
                <a:ea typeface="Arial"/>
                <a:cs typeface="Arial"/>
              </a:defRPr>
            </a:pPr>
            <a:endParaRPr sz="975" b="0">
              <a:solidFill>
                <a:srgbClr val="000000"/>
              </a:solidFill>
              <a:latin typeface="Calibri" panose="020F0502020204030204" pitchFamily="34" charset="0"/>
              <a:ea typeface="Arial"/>
              <a:cs typeface="Arial"/>
            </a:endParaRPr>
          </a:p>
        </p:txBody>
      </p:sp>
      <p:sp>
        <p:nvSpPr>
          <p:cNvPr id="4" name="Rectangle 3">
            <a:extLst>
              <a:ext uri="{FF2B5EF4-FFF2-40B4-BE49-F238E27FC236}">
                <a16:creationId xmlns:a16="http://schemas.microsoft.com/office/drawing/2014/main" id="{64CE9108-2028-4347-9943-4121AA76349C}"/>
              </a:ext>
            </a:extLst>
          </p:cNvPr>
          <p:cNvSpPr>
            <a:spLocks noGrp="1"/>
          </p:cNvSpPr>
          <p:nvPr/>
        </p:nvSpPr>
        <p:spPr>
          <a:xfrm>
            <a:off x="11334750" y="6496050"/>
            <a:ext cx="381000" cy="228600"/>
          </a:xfrm>
          <a:prstGeom prst="rect">
            <a:avLst/>
          </a:prstGeom>
          <a:noFill/>
          <a:ln w="0">
            <a:noFill/>
          </a:ln>
        </p:spPr>
        <p:txBody>
          <a:bodyPr/>
          <a:lstStyle>
            <a:defPPr>
              <a:defRPr sz="1200" b="0">
                <a:solidFill>
                  <a:srgbClr val="536675"/>
                </a:solidFill>
                <a:latin typeface="Arial"/>
                <a:ea typeface="Arial"/>
                <a:cs typeface="Arial"/>
              </a:defRPr>
            </a:defPPr>
            <a:lvl1pPr>
              <a:defRPr sz="1200" b="0">
                <a:solidFill>
                  <a:srgbClr val="536675"/>
                </a:solidFill>
                <a:latin typeface="Arial"/>
                <a:ea typeface="Arial"/>
                <a:cs typeface="Arial"/>
              </a:defRPr>
            </a:lvl1pPr>
            <a:lvl2pPr>
              <a:defRPr sz="1200" b="0">
                <a:solidFill>
                  <a:srgbClr val="536675"/>
                </a:solidFill>
                <a:latin typeface="Arial"/>
                <a:ea typeface="Arial"/>
                <a:cs typeface="Arial"/>
              </a:defRPr>
            </a:lvl2pPr>
            <a:lvl3pPr>
              <a:defRPr sz="1200" b="0">
                <a:solidFill>
                  <a:srgbClr val="536675"/>
                </a:solidFill>
                <a:latin typeface="Arial"/>
                <a:ea typeface="Arial"/>
                <a:cs typeface="Arial"/>
              </a:defRPr>
            </a:lvl3pPr>
            <a:lvl4pPr>
              <a:defRPr sz="1200" b="0">
                <a:solidFill>
                  <a:srgbClr val="536675"/>
                </a:solidFill>
                <a:latin typeface="Arial"/>
                <a:ea typeface="Arial"/>
                <a:cs typeface="Arial"/>
              </a:defRPr>
            </a:lvl4pPr>
            <a:lvl5pPr>
              <a:defRPr sz="1200" b="0">
                <a:solidFill>
                  <a:srgbClr val="536675"/>
                </a:solidFill>
                <a:latin typeface="Arial"/>
                <a:ea typeface="Arial"/>
                <a:cs typeface="Arial"/>
              </a:defRPr>
            </a:lvl5pPr>
            <a:lvl6pPr>
              <a:defRPr sz="1200" b="0">
                <a:solidFill>
                  <a:srgbClr val="536675"/>
                </a:solidFill>
                <a:latin typeface="Arial"/>
                <a:ea typeface="Arial"/>
                <a:cs typeface="Arial"/>
              </a:defRPr>
            </a:lvl6pPr>
            <a:lvl7pPr>
              <a:defRPr sz="1200" b="0">
                <a:solidFill>
                  <a:srgbClr val="536675"/>
                </a:solidFill>
                <a:latin typeface="Arial"/>
                <a:ea typeface="Arial"/>
                <a:cs typeface="Arial"/>
              </a:defRPr>
            </a:lvl7pPr>
            <a:lvl8pPr>
              <a:defRPr sz="1200" b="0">
                <a:solidFill>
                  <a:srgbClr val="536675"/>
                </a:solidFill>
                <a:latin typeface="Arial"/>
                <a:ea typeface="Arial"/>
                <a:cs typeface="Arial"/>
              </a:defRPr>
            </a:lvl8pPr>
            <a:lvl9pPr>
              <a:defRPr sz="1200" b="0">
                <a:solidFill>
                  <a:srgbClr val="536675"/>
                </a:solidFill>
                <a:latin typeface="Arial"/>
                <a:ea typeface="Arial"/>
                <a:cs typeface="Arial"/>
              </a:defRPr>
            </a:lvl9pPr>
          </a:lstStyle>
          <a:p>
            <a:pPr>
              <a:defRPr sz="1200" b="0">
                <a:solidFill>
                  <a:srgbClr val="536675"/>
                </a:solidFill>
                <a:latin typeface="Arial"/>
                <a:ea typeface="Arial"/>
                <a:cs typeface="Arial"/>
              </a:defRPr>
            </a:pPr>
            <a:endParaRPr sz="1200" b="0">
              <a:solidFill>
                <a:srgbClr val="000000"/>
              </a:solidFill>
              <a:latin typeface="Calibri" panose="020F0502020204030204" pitchFamily="34" charset="0"/>
              <a:ea typeface="Arial"/>
              <a:cs typeface="Arial"/>
            </a:endParaRPr>
          </a:p>
        </p:txBody>
      </p:sp>
      <p:pic>
        <p:nvPicPr>
          <p:cNvPr id="5" name="Picture 4">
            <a:extLst>
              <a:ext uri="{FF2B5EF4-FFF2-40B4-BE49-F238E27FC236}">
                <a16:creationId xmlns:a16="http://schemas.microsoft.com/office/drawing/2014/main" id="{11DA4A19-7DFA-43E6-BD34-CD18F233DA7F}"/>
              </a:ext>
            </a:extLst>
          </p:cNvPr>
          <p:cNvPicPr>
            <a:picLocks noChangeAspect="1"/>
          </p:cNvPicPr>
          <p:nvPr/>
        </p:nvPicPr>
        <p:blipFill>
          <a:blip r:embed="rId3"/>
          <a:stretch/>
        </p:blipFill>
        <p:spPr>
          <a:xfrm>
            <a:off x="720455" y="1562100"/>
            <a:ext cx="6274340" cy="4095750"/>
          </a:xfrm>
          <a:prstGeom prst="rect">
            <a:avLst/>
          </a:prstGeom>
        </p:spPr>
      </p:pic>
      <p:sp>
        <p:nvSpPr>
          <p:cNvPr id="6" name="Rectangle 5">
            <a:extLst>
              <a:ext uri="{FF2B5EF4-FFF2-40B4-BE49-F238E27FC236}">
                <a16:creationId xmlns:a16="http://schemas.microsoft.com/office/drawing/2014/main" id="{7EBEADB5-826C-41C6-AED9-485EBB1D3A97}"/>
              </a:ext>
            </a:extLst>
          </p:cNvPr>
          <p:cNvSpPr>
            <a:spLocks noGrp="1"/>
          </p:cNvSpPr>
          <p:nvPr/>
        </p:nvSpPr>
        <p:spPr>
          <a:xfrm>
            <a:off x="7667625" y="1571625"/>
            <a:ext cx="3905250" cy="333375"/>
          </a:xfrm>
          <a:prstGeom prst="rect">
            <a:avLst/>
          </a:prstGeom>
          <a:noFill/>
          <a:ln w="0">
            <a:noFill/>
          </a:ln>
        </p:spPr>
        <p:txBody>
          <a:bodyPr/>
          <a:lstStyle>
            <a:defPPr>
              <a:defRPr sz="1875" b="1">
                <a:solidFill>
                  <a:srgbClr val="173344"/>
                </a:solidFill>
                <a:latin typeface="Arial"/>
                <a:ea typeface="Arial"/>
                <a:cs typeface="Arial"/>
              </a:defRPr>
            </a:defPPr>
            <a:lvl1pPr>
              <a:defRPr sz="1875" b="1">
                <a:solidFill>
                  <a:srgbClr val="173344"/>
                </a:solidFill>
                <a:latin typeface="Arial"/>
                <a:ea typeface="Arial"/>
                <a:cs typeface="Arial"/>
              </a:defRPr>
            </a:lvl1pPr>
            <a:lvl2pPr>
              <a:defRPr sz="1875" b="1">
                <a:solidFill>
                  <a:srgbClr val="173344"/>
                </a:solidFill>
                <a:latin typeface="Arial"/>
                <a:ea typeface="Arial"/>
                <a:cs typeface="Arial"/>
              </a:defRPr>
            </a:lvl2pPr>
            <a:lvl3pPr>
              <a:defRPr sz="1875" b="1">
                <a:solidFill>
                  <a:srgbClr val="173344"/>
                </a:solidFill>
                <a:latin typeface="Arial"/>
                <a:ea typeface="Arial"/>
                <a:cs typeface="Arial"/>
              </a:defRPr>
            </a:lvl3pPr>
            <a:lvl4pPr>
              <a:defRPr sz="1875" b="1">
                <a:solidFill>
                  <a:srgbClr val="173344"/>
                </a:solidFill>
                <a:latin typeface="Arial"/>
                <a:ea typeface="Arial"/>
                <a:cs typeface="Arial"/>
              </a:defRPr>
            </a:lvl4pPr>
            <a:lvl5pPr>
              <a:defRPr sz="1875" b="1">
                <a:solidFill>
                  <a:srgbClr val="173344"/>
                </a:solidFill>
                <a:latin typeface="Arial"/>
                <a:ea typeface="Arial"/>
                <a:cs typeface="Arial"/>
              </a:defRPr>
            </a:lvl5pPr>
            <a:lvl6pPr>
              <a:defRPr sz="1875" b="1">
                <a:solidFill>
                  <a:srgbClr val="173344"/>
                </a:solidFill>
                <a:latin typeface="Arial"/>
                <a:ea typeface="Arial"/>
                <a:cs typeface="Arial"/>
              </a:defRPr>
            </a:lvl6pPr>
            <a:lvl7pPr>
              <a:defRPr sz="1875" b="1">
                <a:solidFill>
                  <a:srgbClr val="173344"/>
                </a:solidFill>
                <a:latin typeface="Arial"/>
                <a:ea typeface="Arial"/>
                <a:cs typeface="Arial"/>
              </a:defRPr>
            </a:lvl7pPr>
            <a:lvl8pPr>
              <a:defRPr sz="1875" b="1">
                <a:solidFill>
                  <a:srgbClr val="173344"/>
                </a:solidFill>
                <a:latin typeface="Arial"/>
                <a:ea typeface="Arial"/>
                <a:cs typeface="Arial"/>
              </a:defRPr>
            </a:lvl8pPr>
            <a:lvl9pPr>
              <a:defRPr sz="1875" b="1">
                <a:solidFill>
                  <a:srgbClr val="173344"/>
                </a:solidFill>
                <a:latin typeface="Arial"/>
                <a:ea typeface="Arial"/>
                <a:cs typeface="Arial"/>
              </a:defRPr>
            </a:lvl9pPr>
          </a:lstStyle>
          <a:p>
            <a:pPr>
              <a:defRPr sz="1875" b="1">
                <a:solidFill>
                  <a:srgbClr val="173344"/>
                </a:solidFill>
                <a:latin typeface="Arial"/>
                <a:ea typeface="Arial"/>
                <a:cs typeface="Arial"/>
              </a:defRPr>
            </a:pPr>
            <a:r>
              <a:rPr sz="1875" b="1">
                <a:solidFill>
                  <a:srgbClr val="000000"/>
                </a:solidFill>
                <a:latin typeface="Calibri" panose="020F0502020204030204" pitchFamily="34" charset="0"/>
                <a:ea typeface="Arial"/>
                <a:cs typeface="Arial"/>
              </a:rPr>
              <a:t>Stall-margin screen</a:t>
            </a:r>
          </a:p>
        </p:txBody>
      </p:sp>
      <p:sp>
        <p:nvSpPr>
          <p:cNvPr id="7" name="Rectangle 6">
            <a:extLst>
              <a:ext uri="{FF2B5EF4-FFF2-40B4-BE49-F238E27FC236}">
                <a16:creationId xmlns:a16="http://schemas.microsoft.com/office/drawing/2014/main" id="{BFB09687-6BB5-4B65-8130-E3719EF04CDA}"/>
              </a:ext>
            </a:extLst>
          </p:cNvPr>
          <p:cNvSpPr>
            <a:spLocks noGrp="1"/>
          </p:cNvSpPr>
          <p:nvPr/>
        </p:nvSpPr>
        <p:spPr>
          <a:xfrm>
            <a:off x="7667625" y="2028825"/>
            <a:ext cx="3905250" cy="952500"/>
          </a:xfrm>
          <a:prstGeom prst="rect">
            <a:avLst/>
          </a:prstGeom>
          <a:noFill/>
          <a:ln w="0">
            <a:noFill/>
          </a:ln>
        </p:spPr>
        <p:txBody>
          <a:bodyPr/>
          <a:lstStyle>
            <a:defPPr>
              <a:defRPr sz="1575" b="0">
                <a:solidFill>
                  <a:srgbClr val="173344"/>
                </a:solidFill>
                <a:latin typeface="Arial"/>
                <a:ea typeface="Arial"/>
                <a:cs typeface="Arial"/>
              </a:defRPr>
            </a:defPPr>
            <a:lvl1pPr>
              <a:defRPr sz="1575" b="0">
                <a:solidFill>
                  <a:srgbClr val="173344"/>
                </a:solidFill>
                <a:latin typeface="Arial"/>
                <a:ea typeface="Arial"/>
                <a:cs typeface="Arial"/>
              </a:defRPr>
            </a:lvl1pPr>
            <a:lvl2pPr>
              <a:defRPr sz="1575" b="0">
                <a:solidFill>
                  <a:srgbClr val="173344"/>
                </a:solidFill>
                <a:latin typeface="Arial"/>
                <a:ea typeface="Arial"/>
                <a:cs typeface="Arial"/>
              </a:defRPr>
            </a:lvl2pPr>
            <a:lvl3pPr>
              <a:defRPr sz="1575" b="0">
                <a:solidFill>
                  <a:srgbClr val="173344"/>
                </a:solidFill>
                <a:latin typeface="Arial"/>
                <a:ea typeface="Arial"/>
                <a:cs typeface="Arial"/>
              </a:defRPr>
            </a:lvl3pPr>
            <a:lvl4pPr>
              <a:defRPr sz="1575" b="0">
                <a:solidFill>
                  <a:srgbClr val="173344"/>
                </a:solidFill>
                <a:latin typeface="Arial"/>
                <a:ea typeface="Arial"/>
                <a:cs typeface="Arial"/>
              </a:defRPr>
            </a:lvl4pPr>
            <a:lvl5pPr>
              <a:defRPr sz="1575" b="0">
                <a:solidFill>
                  <a:srgbClr val="173344"/>
                </a:solidFill>
                <a:latin typeface="Arial"/>
                <a:ea typeface="Arial"/>
                <a:cs typeface="Arial"/>
              </a:defRPr>
            </a:lvl5pPr>
            <a:lvl6pPr>
              <a:defRPr sz="1575" b="0">
                <a:solidFill>
                  <a:srgbClr val="173344"/>
                </a:solidFill>
                <a:latin typeface="Arial"/>
                <a:ea typeface="Arial"/>
                <a:cs typeface="Arial"/>
              </a:defRPr>
            </a:lvl6pPr>
            <a:lvl7pPr>
              <a:defRPr sz="1575" b="0">
                <a:solidFill>
                  <a:srgbClr val="173344"/>
                </a:solidFill>
                <a:latin typeface="Arial"/>
                <a:ea typeface="Arial"/>
                <a:cs typeface="Arial"/>
              </a:defRPr>
            </a:lvl7pPr>
            <a:lvl8pPr>
              <a:defRPr sz="1575" b="0">
                <a:solidFill>
                  <a:srgbClr val="173344"/>
                </a:solidFill>
                <a:latin typeface="Arial"/>
                <a:ea typeface="Arial"/>
                <a:cs typeface="Arial"/>
              </a:defRPr>
            </a:lvl8pPr>
            <a:lvl9pPr>
              <a:defRPr sz="1575" b="0">
                <a:solidFill>
                  <a:srgbClr val="173344"/>
                </a:solidFill>
                <a:latin typeface="Arial"/>
                <a:ea typeface="Arial"/>
                <a:cs typeface="Arial"/>
              </a:defRPr>
            </a:lvl9pPr>
          </a:lstStyle>
          <a:p>
            <a:pPr>
              <a:defRPr sz="1575" b="0">
                <a:solidFill>
                  <a:srgbClr val="173344"/>
                </a:solidFill>
                <a:latin typeface="Arial"/>
                <a:ea typeface="Arial"/>
                <a:cs typeface="Arial"/>
              </a:defRPr>
            </a:pPr>
            <a:r>
              <a:rPr sz="1575" b="0">
                <a:solidFill>
                  <a:srgbClr val="000000"/>
                </a:solidFill>
                <a:latin typeface="Calibri" panose="020F0502020204030204" pitchFamily="34" charset="0"/>
                <a:ea typeface="Arial"/>
                <a:cs typeface="Arial"/>
              </a:rPr>
              <a:t>CLmax = 1.8, inherited wing model</a:t>
            </a:r>
          </a:p>
          <a:p>
            <a:pPr>
              <a:defRPr sz="1575" b="0">
                <a:solidFill>
                  <a:srgbClr val="173344"/>
                </a:solidFill>
                <a:latin typeface="Arial"/>
                <a:ea typeface="Arial"/>
                <a:cs typeface="Arial"/>
              </a:defRPr>
            </a:pPr>
            <a:r>
              <a:rPr sz="1575" b="0">
                <a:solidFill>
                  <a:srgbClr val="000000"/>
                </a:solidFill>
                <a:latin typeface="Calibri" panose="020F0502020204030204" pitchFamily="34" charset="0"/>
                <a:ea typeface="Arial"/>
                <a:cs typeface="Arial"/>
              </a:rPr>
              <a:t>CL ≤ 1.8 / 1.2² = 1.25</a:t>
            </a:r>
          </a:p>
          <a:p>
            <a:pPr>
              <a:defRPr sz="1575" b="0">
                <a:solidFill>
                  <a:srgbClr val="173344"/>
                </a:solidFill>
                <a:latin typeface="Arial"/>
                <a:ea typeface="Arial"/>
                <a:cs typeface="Arial"/>
              </a:defRPr>
            </a:pPr>
            <a:r>
              <a:rPr sz="1575" b="0">
                <a:solidFill>
                  <a:srgbClr val="000000"/>
                </a:solidFill>
                <a:latin typeface="Calibri" panose="020F0502020204030204" pitchFamily="34" charset="0"/>
                <a:ea typeface="Arial"/>
                <a:cs typeface="Arial"/>
              </a:rPr>
              <a:t>Equivalent to V ≥ 1.2 Vs in level flight</a:t>
            </a:r>
          </a:p>
        </p:txBody>
      </p:sp>
      <p:sp>
        <p:nvSpPr>
          <p:cNvPr id="8" name="Rectangle 7">
            <a:extLst>
              <a:ext uri="{FF2B5EF4-FFF2-40B4-BE49-F238E27FC236}">
                <a16:creationId xmlns:a16="http://schemas.microsoft.com/office/drawing/2014/main" id="{23E4EC70-13D5-40FB-9342-AABCBF378140}"/>
              </a:ext>
            </a:extLst>
          </p:cNvPr>
          <p:cNvSpPr>
            <a:spLocks noGrp="1"/>
          </p:cNvSpPr>
          <p:nvPr/>
        </p:nvSpPr>
        <p:spPr>
          <a:xfrm>
            <a:off x="7667625" y="3095625"/>
            <a:ext cx="3905250" cy="952500"/>
          </a:xfrm>
          <a:prstGeom prst="rect">
            <a:avLst/>
          </a:prstGeom>
          <a:noFill/>
          <a:ln w="0">
            <a:noFill/>
          </a:ln>
        </p:spPr>
        <p:txBody>
          <a:bodyPr/>
          <a:lstStyle>
            <a:defPPr>
              <a:defRPr sz="1575" b="0">
                <a:solidFill>
                  <a:srgbClr val="173344"/>
                </a:solidFill>
                <a:latin typeface="Arial"/>
                <a:ea typeface="Arial"/>
                <a:cs typeface="Arial"/>
              </a:defRPr>
            </a:defPPr>
            <a:lvl1pPr>
              <a:defRPr sz="1575" b="0">
                <a:solidFill>
                  <a:srgbClr val="173344"/>
                </a:solidFill>
                <a:latin typeface="Arial"/>
                <a:ea typeface="Arial"/>
                <a:cs typeface="Arial"/>
              </a:defRPr>
            </a:lvl1pPr>
            <a:lvl2pPr>
              <a:defRPr sz="1575" b="0">
                <a:solidFill>
                  <a:srgbClr val="173344"/>
                </a:solidFill>
                <a:latin typeface="Arial"/>
                <a:ea typeface="Arial"/>
                <a:cs typeface="Arial"/>
              </a:defRPr>
            </a:lvl2pPr>
            <a:lvl3pPr>
              <a:defRPr sz="1575" b="0">
                <a:solidFill>
                  <a:srgbClr val="173344"/>
                </a:solidFill>
                <a:latin typeface="Arial"/>
                <a:ea typeface="Arial"/>
                <a:cs typeface="Arial"/>
              </a:defRPr>
            </a:lvl3pPr>
            <a:lvl4pPr>
              <a:defRPr sz="1575" b="0">
                <a:solidFill>
                  <a:srgbClr val="173344"/>
                </a:solidFill>
                <a:latin typeface="Arial"/>
                <a:ea typeface="Arial"/>
                <a:cs typeface="Arial"/>
              </a:defRPr>
            </a:lvl4pPr>
            <a:lvl5pPr>
              <a:defRPr sz="1575" b="0">
                <a:solidFill>
                  <a:srgbClr val="173344"/>
                </a:solidFill>
                <a:latin typeface="Arial"/>
                <a:ea typeface="Arial"/>
                <a:cs typeface="Arial"/>
              </a:defRPr>
            </a:lvl5pPr>
            <a:lvl6pPr>
              <a:defRPr sz="1575" b="0">
                <a:solidFill>
                  <a:srgbClr val="173344"/>
                </a:solidFill>
                <a:latin typeface="Arial"/>
                <a:ea typeface="Arial"/>
                <a:cs typeface="Arial"/>
              </a:defRPr>
            </a:lvl6pPr>
            <a:lvl7pPr>
              <a:defRPr sz="1575" b="0">
                <a:solidFill>
                  <a:srgbClr val="173344"/>
                </a:solidFill>
                <a:latin typeface="Arial"/>
                <a:ea typeface="Arial"/>
                <a:cs typeface="Arial"/>
              </a:defRPr>
            </a:lvl7pPr>
            <a:lvl8pPr>
              <a:defRPr sz="1575" b="0">
                <a:solidFill>
                  <a:srgbClr val="173344"/>
                </a:solidFill>
                <a:latin typeface="Arial"/>
                <a:ea typeface="Arial"/>
                <a:cs typeface="Arial"/>
              </a:defRPr>
            </a:lvl8pPr>
            <a:lvl9pPr>
              <a:defRPr sz="1575" b="0">
                <a:solidFill>
                  <a:srgbClr val="173344"/>
                </a:solidFill>
                <a:latin typeface="Arial"/>
                <a:ea typeface="Arial"/>
                <a:cs typeface="Arial"/>
              </a:defRPr>
            </a:lvl9pPr>
          </a:lstStyle>
          <a:p>
            <a:pPr>
              <a:defRPr sz="1575" b="0">
                <a:solidFill>
                  <a:srgbClr val="173344"/>
                </a:solidFill>
                <a:latin typeface="Arial"/>
                <a:ea typeface="Arial"/>
                <a:cs typeface="Arial"/>
              </a:defRPr>
            </a:pPr>
            <a:r>
              <a:rPr sz="1575" b="0">
                <a:solidFill>
                  <a:srgbClr val="000000"/>
                </a:solidFill>
                <a:latin typeface="Calibri" panose="020F0502020204030204" pitchFamily="34" charset="0"/>
                <a:ea typeface="Arial"/>
                <a:cs typeface="Arial"/>
              </a:rPr>
              <a:t>Estimated Vs at DGW / 3 km ISA:</a:t>
            </a:r>
          </a:p>
          <a:p>
            <a:pPr>
              <a:defRPr sz="1575" b="0">
                <a:solidFill>
                  <a:srgbClr val="173344"/>
                </a:solidFill>
                <a:latin typeface="Arial"/>
                <a:ea typeface="Arial"/>
                <a:cs typeface="Arial"/>
              </a:defRPr>
            </a:pPr>
            <a:r>
              <a:rPr sz="1575" b="0">
                <a:solidFill>
                  <a:srgbClr val="000000"/>
                </a:solidFill>
                <a:latin typeface="Calibri" panose="020F0502020204030204" pitchFamily="34" charset="0"/>
                <a:ea typeface="Arial"/>
                <a:cs typeface="Arial"/>
              </a:rPr>
              <a:t>Retrofit ≈ 118 km/h</a:t>
            </a:r>
          </a:p>
          <a:p>
            <a:pPr>
              <a:defRPr sz="1575" b="0">
                <a:solidFill>
                  <a:srgbClr val="173344"/>
                </a:solidFill>
                <a:latin typeface="Arial"/>
                <a:ea typeface="Arial"/>
                <a:cs typeface="Arial"/>
              </a:defRPr>
            </a:pPr>
            <a:r>
              <a:rPr sz="1575" b="0">
                <a:solidFill>
                  <a:srgbClr val="000000"/>
                </a:solidFill>
                <a:latin typeface="Calibri" panose="020F0502020204030204" pitchFamily="34" charset="0"/>
                <a:ea typeface="Arial"/>
                <a:cs typeface="Arial"/>
              </a:rPr>
              <a:t>Clean sheet ≈ 119 km/h</a:t>
            </a:r>
          </a:p>
        </p:txBody>
      </p:sp>
      <p:sp>
        <p:nvSpPr>
          <p:cNvPr id="9" name="Rectangle 8">
            <a:extLst>
              <a:ext uri="{FF2B5EF4-FFF2-40B4-BE49-F238E27FC236}">
                <a16:creationId xmlns:a16="http://schemas.microsoft.com/office/drawing/2014/main" id="{EF4787AD-4A16-48E4-AB1D-F2246B1B868E}"/>
              </a:ext>
            </a:extLst>
          </p:cNvPr>
          <p:cNvSpPr>
            <a:spLocks noGrp="1"/>
          </p:cNvSpPr>
          <p:nvPr/>
        </p:nvSpPr>
        <p:spPr>
          <a:xfrm>
            <a:off x="7667625" y="4191000"/>
            <a:ext cx="3905250" cy="1000125"/>
          </a:xfrm>
          <a:prstGeom prst="rect">
            <a:avLst/>
          </a:prstGeom>
          <a:noFill/>
          <a:ln w="0">
            <a:noFill/>
          </a:ln>
        </p:spPr>
        <p:txBody>
          <a:bodyPr/>
          <a:lstStyle>
            <a:defPPr>
              <a:defRPr sz="1575" b="0">
                <a:solidFill>
                  <a:srgbClr val="AD453D"/>
                </a:solidFill>
                <a:latin typeface="Arial"/>
                <a:ea typeface="Arial"/>
                <a:cs typeface="Arial"/>
              </a:defRPr>
            </a:defPPr>
            <a:lvl1pPr>
              <a:defRPr sz="1575" b="0">
                <a:solidFill>
                  <a:srgbClr val="AD453D"/>
                </a:solidFill>
                <a:latin typeface="Arial"/>
                <a:ea typeface="Arial"/>
                <a:cs typeface="Arial"/>
              </a:defRPr>
            </a:lvl1pPr>
            <a:lvl2pPr>
              <a:defRPr sz="1575" b="0">
                <a:solidFill>
                  <a:srgbClr val="AD453D"/>
                </a:solidFill>
                <a:latin typeface="Arial"/>
                <a:ea typeface="Arial"/>
                <a:cs typeface="Arial"/>
              </a:defRPr>
            </a:lvl2pPr>
            <a:lvl3pPr>
              <a:defRPr sz="1575" b="0">
                <a:solidFill>
                  <a:srgbClr val="AD453D"/>
                </a:solidFill>
                <a:latin typeface="Arial"/>
                <a:ea typeface="Arial"/>
                <a:cs typeface="Arial"/>
              </a:defRPr>
            </a:lvl3pPr>
            <a:lvl4pPr>
              <a:defRPr sz="1575" b="0">
                <a:solidFill>
                  <a:srgbClr val="AD453D"/>
                </a:solidFill>
                <a:latin typeface="Arial"/>
                <a:ea typeface="Arial"/>
                <a:cs typeface="Arial"/>
              </a:defRPr>
            </a:lvl4pPr>
            <a:lvl5pPr>
              <a:defRPr sz="1575" b="0">
                <a:solidFill>
                  <a:srgbClr val="AD453D"/>
                </a:solidFill>
                <a:latin typeface="Arial"/>
                <a:ea typeface="Arial"/>
                <a:cs typeface="Arial"/>
              </a:defRPr>
            </a:lvl5pPr>
            <a:lvl6pPr>
              <a:defRPr sz="1575" b="0">
                <a:solidFill>
                  <a:srgbClr val="AD453D"/>
                </a:solidFill>
                <a:latin typeface="Arial"/>
                <a:ea typeface="Arial"/>
                <a:cs typeface="Arial"/>
              </a:defRPr>
            </a:lvl6pPr>
            <a:lvl7pPr>
              <a:defRPr sz="1575" b="0">
                <a:solidFill>
                  <a:srgbClr val="AD453D"/>
                </a:solidFill>
                <a:latin typeface="Arial"/>
                <a:ea typeface="Arial"/>
                <a:cs typeface="Arial"/>
              </a:defRPr>
            </a:lvl7pPr>
            <a:lvl8pPr>
              <a:defRPr sz="1575" b="0">
                <a:solidFill>
                  <a:srgbClr val="AD453D"/>
                </a:solidFill>
                <a:latin typeface="Arial"/>
                <a:ea typeface="Arial"/>
                <a:cs typeface="Arial"/>
              </a:defRPr>
            </a:lvl8pPr>
            <a:lvl9pPr>
              <a:defRPr sz="1575" b="0">
                <a:solidFill>
                  <a:srgbClr val="AD453D"/>
                </a:solidFill>
                <a:latin typeface="Arial"/>
                <a:ea typeface="Arial"/>
                <a:cs typeface="Arial"/>
              </a:defRPr>
            </a:lvl9pPr>
          </a:lstStyle>
          <a:p>
            <a:pPr>
              <a:defRPr sz="1575" b="0">
                <a:solidFill>
                  <a:srgbClr val="AD453D"/>
                </a:solidFill>
                <a:latin typeface="Arial"/>
                <a:ea typeface="Arial"/>
                <a:cs typeface="Arial"/>
              </a:defRPr>
            </a:pPr>
            <a:r>
              <a:rPr sz="1575" b="0">
                <a:solidFill>
                  <a:srgbClr val="000000"/>
                </a:solidFill>
                <a:latin typeface="Calibri" panose="020F0502020204030204" pitchFamily="34" charset="0"/>
                <a:ea typeface="Arial"/>
                <a:cs typeface="Arial"/>
              </a:rPr>
              <a:t>1.2 was an analyst-selected margin.</a:t>
            </a:r>
          </a:p>
          <a:p>
            <a:pPr>
              <a:defRPr sz="1575" b="0">
                <a:solidFill>
                  <a:srgbClr val="AD453D"/>
                </a:solidFill>
                <a:latin typeface="Arial"/>
                <a:ea typeface="Arial"/>
                <a:cs typeface="Arial"/>
              </a:defRPr>
            </a:pPr>
            <a:r>
              <a:rPr sz="1575" b="0">
                <a:solidFill>
                  <a:srgbClr val="000000"/>
                </a:solidFill>
                <a:latin typeface="Calibri" panose="020F0502020204030204" pitchFamily="34" charset="0"/>
                <a:ea typeface="Arial"/>
                <a:cs typeface="Arial"/>
              </a:rPr>
              <a:t>It was not a user requirement or</a:t>
            </a:r>
          </a:p>
          <a:p>
            <a:pPr>
              <a:defRPr sz="1575" b="0">
                <a:solidFill>
                  <a:srgbClr val="AD453D"/>
                </a:solidFill>
                <a:latin typeface="Arial"/>
                <a:ea typeface="Arial"/>
                <a:cs typeface="Arial"/>
              </a:defRPr>
            </a:pPr>
            <a:r>
              <a:rPr sz="1575" b="0">
                <a:solidFill>
                  <a:srgbClr val="000000"/>
                </a:solidFill>
                <a:latin typeface="Calibri" panose="020F0502020204030204" pitchFamily="34" charset="0"/>
                <a:ea typeface="Arial"/>
                <a:cs typeface="Arial"/>
              </a:rPr>
              <a:t>a certified operating-speed limit.</a:t>
            </a:r>
          </a:p>
        </p:txBody>
      </p:sp>
      <p:sp>
        <p:nvSpPr>
          <p:cNvPr id="10" name="Rectangle 9">
            <a:extLst>
              <a:ext uri="{FF2B5EF4-FFF2-40B4-BE49-F238E27FC236}">
                <a16:creationId xmlns:a16="http://schemas.microsoft.com/office/drawing/2014/main" id="{455DEA83-9E61-423C-802E-84F3678D1E53}"/>
              </a:ext>
            </a:extLst>
          </p:cNvPr>
          <p:cNvSpPr>
            <a:spLocks noGrp="1"/>
          </p:cNvSpPr>
          <p:nvPr/>
        </p:nvSpPr>
        <p:spPr>
          <a:xfrm>
            <a:off x="476250" y="6010275"/>
            <a:ext cx="11239500" cy="447675"/>
          </a:xfrm>
          <a:prstGeom prst="rect">
            <a:avLst/>
          </a:prstGeom>
          <a:noFill/>
          <a:ln w="0">
            <a:noFill/>
          </a:ln>
        </p:spPr>
        <p:txBody>
          <a:bodyPr/>
          <a:lstStyle>
            <a:defPPr>
              <a:defRPr sz="1275" b="0">
                <a:solidFill>
                  <a:srgbClr val="536675"/>
                </a:solidFill>
                <a:latin typeface="Arial"/>
                <a:ea typeface="Arial"/>
                <a:cs typeface="Arial"/>
              </a:defRPr>
            </a:defPPr>
            <a:lvl1pPr>
              <a:defRPr sz="1275" b="0">
                <a:solidFill>
                  <a:srgbClr val="536675"/>
                </a:solidFill>
                <a:latin typeface="Arial"/>
                <a:ea typeface="Arial"/>
                <a:cs typeface="Arial"/>
              </a:defRPr>
            </a:lvl1pPr>
            <a:lvl2pPr>
              <a:defRPr sz="1275" b="0">
                <a:solidFill>
                  <a:srgbClr val="536675"/>
                </a:solidFill>
                <a:latin typeface="Arial"/>
                <a:ea typeface="Arial"/>
                <a:cs typeface="Arial"/>
              </a:defRPr>
            </a:lvl2pPr>
            <a:lvl3pPr>
              <a:defRPr sz="1275" b="0">
                <a:solidFill>
                  <a:srgbClr val="536675"/>
                </a:solidFill>
                <a:latin typeface="Arial"/>
                <a:ea typeface="Arial"/>
                <a:cs typeface="Arial"/>
              </a:defRPr>
            </a:lvl3pPr>
            <a:lvl4pPr>
              <a:defRPr sz="1275" b="0">
                <a:solidFill>
                  <a:srgbClr val="536675"/>
                </a:solidFill>
                <a:latin typeface="Arial"/>
                <a:ea typeface="Arial"/>
                <a:cs typeface="Arial"/>
              </a:defRPr>
            </a:lvl4pPr>
            <a:lvl5pPr>
              <a:defRPr sz="1275" b="0">
                <a:solidFill>
                  <a:srgbClr val="536675"/>
                </a:solidFill>
                <a:latin typeface="Arial"/>
                <a:ea typeface="Arial"/>
                <a:cs typeface="Arial"/>
              </a:defRPr>
            </a:lvl5pPr>
            <a:lvl6pPr>
              <a:defRPr sz="1275" b="0">
                <a:solidFill>
                  <a:srgbClr val="536675"/>
                </a:solidFill>
                <a:latin typeface="Arial"/>
                <a:ea typeface="Arial"/>
                <a:cs typeface="Arial"/>
              </a:defRPr>
            </a:lvl6pPr>
            <a:lvl7pPr>
              <a:defRPr sz="1275" b="0">
                <a:solidFill>
                  <a:srgbClr val="536675"/>
                </a:solidFill>
                <a:latin typeface="Arial"/>
                <a:ea typeface="Arial"/>
                <a:cs typeface="Arial"/>
              </a:defRPr>
            </a:lvl7pPr>
            <a:lvl8pPr>
              <a:defRPr sz="1275" b="0">
                <a:solidFill>
                  <a:srgbClr val="536675"/>
                </a:solidFill>
                <a:latin typeface="Arial"/>
                <a:ea typeface="Arial"/>
                <a:cs typeface="Arial"/>
              </a:defRPr>
            </a:lvl8pPr>
            <a:lvl9pPr>
              <a:defRPr sz="1275" b="0">
                <a:solidFill>
                  <a:srgbClr val="536675"/>
                </a:solidFill>
                <a:latin typeface="Arial"/>
                <a:ea typeface="Arial"/>
                <a:cs typeface="Arial"/>
              </a:defRPr>
            </a:lvl9pPr>
          </a:lstStyle>
          <a:p>
            <a:pPr>
              <a:defRPr sz="1275" b="0">
                <a:solidFill>
                  <a:srgbClr val="536675"/>
                </a:solidFill>
                <a:latin typeface="Arial"/>
                <a:ea typeface="Arial"/>
                <a:cs typeface="Arial"/>
              </a:defRPr>
            </a:pPr>
            <a:endParaRPr sz="1275" b="0">
              <a:solidFill>
                <a:srgbClr val="000000"/>
              </a:solidFill>
              <a:latin typeface="Calibri" panose="020F0502020204030204" pitchFamily="34" charset="0"/>
              <a:ea typeface="Arial"/>
              <a:cs typeface="Arial"/>
            </a:endParaRPr>
          </a:p>
        </p:txBody>
      </p:sp>
      <p:sp>
        <p:nvSpPr>
          <p:cNvPr id="12" name="TextBox 11">
            <a:extLst>
              <a:ext uri="{FF2B5EF4-FFF2-40B4-BE49-F238E27FC236}">
                <a16:creationId xmlns:a16="http://schemas.microsoft.com/office/drawing/2014/main" id="{0C17033F-64B4-49FF-F458-3E4F973771B5}"/>
              </a:ext>
            </a:extLst>
          </p:cNvPr>
          <p:cNvSpPr txBox="1"/>
          <p:nvPr/>
        </p:nvSpPr>
        <p:spPr>
          <a:xfrm>
            <a:off x="476250" y="6400800"/>
            <a:ext cx="11074400" cy="161583"/>
          </a:xfrm>
          <a:prstGeom prst="rect">
            <a:avLst/>
          </a:prstGeom>
          <a:noFill/>
        </p:spPr>
        <p:txBody>
          <a:bodyPr vert="horz" lIns="0" tIns="0" rIns="0" bIns="0" rtlCol="0">
            <a:spAutoFit/>
          </a:bodyPr>
          <a:lstStyle/>
          <a:p>
            <a:endParaRPr lang="en-US" sz="1050">
              <a:solidFill>
                <a:srgbClr val="000000"/>
              </a:solidFill>
              <a:latin typeface="Calibri" panose="020F0502020204030204" pitchFamily="34" charset="0"/>
            </a:endParaRPr>
          </a:p>
        </p:txBody>
      </p:sp>
      <p:sp>
        <p:nvSpPr>
          <p:cNvPr id="13" name="TextBox 12">
            <a:extLst>
              <a:ext uri="{FF2B5EF4-FFF2-40B4-BE49-F238E27FC236}">
                <a16:creationId xmlns:a16="http://schemas.microsoft.com/office/drawing/2014/main" id="{73683BF9-80E4-5BC0-66E5-F0B45C17D4E8}"/>
              </a:ext>
            </a:extLst>
          </p:cNvPr>
          <p:cNvSpPr txBox="1"/>
          <p:nvPr/>
        </p:nvSpPr>
        <p:spPr>
          <a:xfrm>
            <a:off x="11671300" y="6527800"/>
            <a:ext cx="355600" cy="153888"/>
          </a:xfrm>
          <a:prstGeom prst="rect">
            <a:avLst/>
          </a:prstGeom>
          <a:noFill/>
        </p:spPr>
        <p:txBody>
          <a:bodyPr vert="horz" lIns="0" tIns="0" rIns="0" bIns="0" rtlCol="0">
            <a:spAutoFit/>
          </a:bodyPr>
          <a:lstStyle/>
          <a:p>
            <a:r>
              <a:rPr lang="en-US" sz="1000">
                <a:solidFill>
                  <a:srgbClr val="000000"/>
                </a:solidFill>
                <a:latin typeface="Calibri" panose="020F0502020204030204" pitchFamily="34" charset="0"/>
              </a:rPr>
              <a:t>22</a:t>
            </a:r>
          </a:p>
        </p:txBody>
      </p:sp>
      <p:sp>
        <p:nvSpPr>
          <p:cNvPr id="14" name="TextBox 13">
            <a:extLst>
              <a:ext uri="{FF2B5EF4-FFF2-40B4-BE49-F238E27FC236}">
                <a16:creationId xmlns:a16="http://schemas.microsoft.com/office/drawing/2014/main" id="{94B344BC-65F6-394E-7C38-FD621E0437B5}"/>
              </a:ext>
            </a:extLst>
          </p:cNvPr>
          <p:cNvSpPr txBox="1"/>
          <p:nvPr/>
        </p:nvSpPr>
        <p:spPr>
          <a:xfrm>
            <a:off x="476250" y="6400800"/>
            <a:ext cx="11074400" cy="369332"/>
          </a:xfrm>
          <a:prstGeom prst="rect">
            <a:avLst/>
          </a:prstGeom>
          <a:noFill/>
        </p:spPr>
        <p:txBody>
          <a:bodyPr vert="horz" lIns="0" tIns="0" rtlCol="0">
            <a:spAutoFit/>
          </a:bodyPr>
          <a:lstStyle/>
          <a:p>
            <a:r>
              <a:rPr lang="en-US" sz="1050">
                <a:solidFill>
                  <a:srgbClr val="000000"/>
                </a:solidFill>
                <a:latin typeface="Calibri" panose="020F0502020204030204" pitchFamily="34" charset="0"/>
              </a:rPr>
              <a:t>[S10] Historical 17.14 s design sweep: circles pass native + stall checks; crosses fail margin. 3 km ISA; CLmax 1.8, V ≥ 1.2Vs.</a:t>
            </a:r>
          </a:p>
          <a:p>
            <a:r>
              <a:rPr lang="en-US" sz="1050">
                <a:solidFill>
                  <a:srgbClr val="000000"/>
                </a:solidFill>
                <a:latin typeface="Calibri" panose="020F0502020204030204" pitchFamily="34" charset="0"/>
              </a:rPr>
              <a:t>[S7] Corrected designs checked at 140 / 160 km/h only. A corrected loiter-speed optimum is not established.</a:t>
            </a:r>
          </a:p>
        </p:txBody>
      </p:sp>
    </p:spTree>
    <p:extLst>
      <p:ext uri="{BB962C8B-B14F-4D97-AF65-F5344CB8AC3E}">
        <p14:creationId xmlns:p14="http://schemas.microsoft.com/office/powerpoint/2010/main" val="20458831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8AEFD0F-BFC5-4CA6-ACDD-8A7060E8BAF2}"/>
              </a:ext>
            </a:extLst>
          </p:cNvPr>
          <p:cNvSpPr>
            <a:spLocks noGrp="1"/>
          </p:cNvSpPr>
          <p:nvPr/>
        </p:nvSpPr>
        <p:spPr>
          <a:xfrm>
            <a:off x="838200" y="361950"/>
            <a:ext cx="10896600" cy="571500"/>
          </a:xfrm>
          <a:prstGeom prst="rect">
            <a:avLst/>
          </a:prstGeom>
          <a:noFill/>
          <a:ln w="0">
            <a:noFill/>
          </a:ln>
        </p:spPr>
        <p:txBody>
          <a:bodyPr/>
          <a:lstStyle>
            <a:defPPr>
              <a:defRPr sz="2775" b="1">
                <a:solidFill>
                  <a:srgbClr val="173344"/>
                </a:solidFill>
                <a:latin typeface="Arial"/>
                <a:ea typeface="Arial"/>
                <a:cs typeface="Arial"/>
              </a:defRPr>
            </a:defPPr>
            <a:lvl1pPr>
              <a:defRPr sz="2775" b="1">
                <a:solidFill>
                  <a:srgbClr val="173344"/>
                </a:solidFill>
                <a:latin typeface="Arial"/>
                <a:ea typeface="Arial"/>
                <a:cs typeface="Arial"/>
              </a:defRPr>
            </a:lvl1pPr>
            <a:lvl2pPr>
              <a:defRPr sz="2775" b="1">
                <a:solidFill>
                  <a:srgbClr val="173344"/>
                </a:solidFill>
                <a:latin typeface="Arial"/>
                <a:ea typeface="Arial"/>
                <a:cs typeface="Arial"/>
              </a:defRPr>
            </a:lvl2pPr>
            <a:lvl3pPr>
              <a:defRPr sz="2775" b="1">
                <a:solidFill>
                  <a:srgbClr val="173344"/>
                </a:solidFill>
                <a:latin typeface="Arial"/>
                <a:ea typeface="Arial"/>
                <a:cs typeface="Arial"/>
              </a:defRPr>
            </a:lvl3pPr>
            <a:lvl4pPr>
              <a:defRPr sz="2775" b="1">
                <a:solidFill>
                  <a:srgbClr val="173344"/>
                </a:solidFill>
                <a:latin typeface="Arial"/>
                <a:ea typeface="Arial"/>
                <a:cs typeface="Arial"/>
              </a:defRPr>
            </a:lvl4pPr>
            <a:lvl5pPr>
              <a:defRPr sz="2775" b="1">
                <a:solidFill>
                  <a:srgbClr val="173344"/>
                </a:solidFill>
                <a:latin typeface="Arial"/>
                <a:ea typeface="Arial"/>
                <a:cs typeface="Arial"/>
              </a:defRPr>
            </a:lvl5pPr>
            <a:lvl6pPr>
              <a:defRPr sz="2775" b="1">
                <a:solidFill>
                  <a:srgbClr val="173344"/>
                </a:solidFill>
                <a:latin typeface="Arial"/>
                <a:ea typeface="Arial"/>
                <a:cs typeface="Arial"/>
              </a:defRPr>
            </a:lvl6pPr>
            <a:lvl7pPr>
              <a:defRPr sz="2775" b="1">
                <a:solidFill>
                  <a:srgbClr val="173344"/>
                </a:solidFill>
                <a:latin typeface="Arial"/>
                <a:ea typeface="Arial"/>
                <a:cs typeface="Arial"/>
              </a:defRPr>
            </a:lvl7pPr>
            <a:lvl8pPr>
              <a:defRPr sz="2775" b="1">
                <a:solidFill>
                  <a:srgbClr val="173344"/>
                </a:solidFill>
                <a:latin typeface="Arial"/>
                <a:ea typeface="Arial"/>
                <a:cs typeface="Arial"/>
              </a:defRPr>
            </a:lvl8pPr>
            <a:lvl9pPr>
              <a:defRPr sz="2775" b="1">
                <a:solidFill>
                  <a:srgbClr val="173344"/>
                </a:solidFill>
                <a:latin typeface="Arial"/>
                <a:ea typeface="Arial"/>
                <a:cs typeface="Arial"/>
              </a:defRPr>
            </a:lvl9pPr>
          </a:lstStyle>
          <a:p>
            <a:pPr>
              <a:defRPr sz="2775" b="1">
                <a:solidFill>
                  <a:srgbClr val="173344"/>
                </a:solidFill>
                <a:latin typeface="Arial"/>
                <a:ea typeface="Arial"/>
                <a:cs typeface="Arial"/>
              </a:defRPr>
            </a:pPr>
            <a:r>
              <a:rPr sz="2400" b="1">
                <a:solidFill>
                  <a:srgbClr val="000000"/>
                </a:solidFill>
                <a:latin typeface="Calibri" panose="020F0502020204030204" pitchFamily="34" charset="0"/>
                <a:ea typeface="Arial"/>
                <a:cs typeface="Arial"/>
              </a:rPr>
              <a:t>L+C candidate limits and installed power</a:t>
            </a:r>
          </a:p>
        </p:txBody>
      </p:sp>
      <p:sp>
        <p:nvSpPr>
          <p:cNvPr id="2" name="Rectangle 1">
            <a:extLst>
              <a:ext uri="{FF2B5EF4-FFF2-40B4-BE49-F238E27FC236}">
                <a16:creationId xmlns:a16="http://schemas.microsoft.com/office/drawing/2014/main" id="{18812072-1854-4D86-BA6D-5316C9B58918}"/>
              </a:ext>
            </a:extLst>
          </p:cNvPr>
          <p:cNvSpPr>
            <a:spLocks noGrp="1"/>
          </p:cNvSpPr>
          <p:nvPr/>
        </p:nvSpPr>
        <p:spPr>
          <a:xfrm>
            <a:off x="476250" y="876300"/>
            <a:ext cx="11239500" cy="523875"/>
          </a:xfrm>
          <a:prstGeom prst="rect">
            <a:avLst/>
          </a:prstGeom>
          <a:noFill/>
          <a:ln w="0">
            <a:noFill/>
          </a:ln>
        </p:spPr>
        <p:txBody>
          <a:bodyPr/>
          <a:lstStyle>
            <a:defPPr>
              <a:defRPr sz="1575" b="0">
                <a:solidFill>
                  <a:srgbClr val="536675"/>
                </a:solidFill>
                <a:latin typeface="Arial"/>
                <a:ea typeface="Arial"/>
                <a:cs typeface="Arial"/>
              </a:defRPr>
            </a:defPPr>
            <a:lvl1pPr>
              <a:defRPr sz="1575" b="0">
                <a:solidFill>
                  <a:srgbClr val="536675"/>
                </a:solidFill>
                <a:latin typeface="Arial"/>
                <a:ea typeface="Arial"/>
                <a:cs typeface="Arial"/>
              </a:defRPr>
            </a:lvl1pPr>
            <a:lvl2pPr>
              <a:defRPr sz="1575" b="0">
                <a:solidFill>
                  <a:srgbClr val="536675"/>
                </a:solidFill>
                <a:latin typeface="Arial"/>
                <a:ea typeface="Arial"/>
                <a:cs typeface="Arial"/>
              </a:defRPr>
            </a:lvl2pPr>
            <a:lvl3pPr>
              <a:defRPr sz="1575" b="0">
                <a:solidFill>
                  <a:srgbClr val="536675"/>
                </a:solidFill>
                <a:latin typeface="Arial"/>
                <a:ea typeface="Arial"/>
                <a:cs typeface="Arial"/>
              </a:defRPr>
            </a:lvl3pPr>
            <a:lvl4pPr>
              <a:defRPr sz="1575" b="0">
                <a:solidFill>
                  <a:srgbClr val="536675"/>
                </a:solidFill>
                <a:latin typeface="Arial"/>
                <a:ea typeface="Arial"/>
                <a:cs typeface="Arial"/>
              </a:defRPr>
            </a:lvl4pPr>
            <a:lvl5pPr>
              <a:defRPr sz="1575" b="0">
                <a:solidFill>
                  <a:srgbClr val="536675"/>
                </a:solidFill>
                <a:latin typeface="Arial"/>
                <a:ea typeface="Arial"/>
                <a:cs typeface="Arial"/>
              </a:defRPr>
            </a:lvl5pPr>
            <a:lvl6pPr>
              <a:defRPr sz="1575" b="0">
                <a:solidFill>
                  <a:srgbClr val="536675"/>
                </a:solidFill>
                <a:latin typeface="Arial"/>
                <a:ea typeface="Arial"/>
                <a:cs typeface="Arial"/>
              </a:defRPr>
            </a:lvl6pPr>
            <a:lvl7pPr>
              <a:defRPr sz="1575" b="0">
                <a:solidFill>
                  <a:srgbClr val="536675"/>
                </a:solidFill>
                <a:latin typeface="Arial"/>
                <a:ea typeface="Arial"/>
                <a:cs typeface="Arial"/>
              </a:defRPr>
            </a:lvl7pPr>
            <a:lvl8pPr>
              <a:defRPr sz="1575" b="0">
                <a:solidFill>
                  <a:srgbClr val="536675"/>
                </a:solidFill>
                <a:latin typeface="Arial"/>
                <a:ea typeface="Arial"/>
                <a:cs typeface="Arial"/>
              </a:defRPr>
            </a:lvl8pPr>
            <a:lvl9pPr>
              <a:defRPr sz="1575" b="0">
                <a:solidFill>
                  <a:srgbClr val="536675"/>
                </a:solidFill>
                <a:latin typeface="Arial"/>
                <a:ea typeface="Arial"/>
                <a:cs typeface="Arial"/>
              </a:defRPr>
            </a:lvl9pPr>
          </a:lstStyle>
          <a:p>
            <a:pPr>
              <a:defRPr sz="1575" b="0">
                <a:solidFill>
                  <a:srgbClr val="536675"/>
                </a:solidFill>
                <a:latin typeface="Arial"/>
                <a:ea typeface="Arial"/>
                <a:cs typeface="Arial"/>
              </a:defRPr>
            </a:pPr>
            <a:r>
              <a:rPr sz="1575" b="0">
                <a:solidFill>
                  <a:srgbClr val="000000"/>
                </a:solidFill>
                <a:latin typeface="Calibri" panose="020F0502020204030204" pitchFamily="34" charset="0"/>
                <a:ea typeface="Arial"/>
                <a:cs typeface="Arial"/>
              </a:rPr>
              <a:t>Cruise performance alone does not establish whole-aircraft feasibility.</a:t>
            </a:r>
          </a:p>
        </p:txBody>
      </p:sp>
      <p:sp>
        <p:nvSpPr>
          <p:cNvPr id="3" name="Rectangle 2">
            <a:extLst>
              <a:ext uri="{FF2B5EF4-FFF2-40B4-BE49-F238E27FC236}">
                <a16:creationId xmlns:a16="http://schemas.microsoft.com/office/drawing/2014/main" id="{36A64C6F-4C9A-49C4-A382-04D443363681}"/>
              </a:ext>
            </a:extLst>
          </p:cNvPr>
          <p:cNvSpPr>
            <a:spLocks noGrp="1"/>
          </p:cNvSpPr>
          <p:nvPr/>
        </p:nvSpPr>
        <p:spPr>
          <a:xfrm>
            <a:off x="476250" y="6524625"/>
            <a:ext cx="10477500" cy="190500"/>
          </a:xfrm>
          <a:prstGeom prst="rect">
            <a:avLst/>
          </a:prstGeom>
          <a:noFill/>
          <a:ln w="0">
            <a:noFill/>
          </a:ln>
        </p:spPr>
        <p:txBody>
          <a:bodyPr/>
          <a:lstStyle>
            <a:defPPr>
              <a:defRPr sz="975" b="0">
                <a:solidFill>
                  <a:srgbClr val="536675"/>
                </a:solidFill>
                <a:latin typeface="Arial"/>
                <a:ea typeface="Arial"/>
                <a:cs typeface="Arial"/>
              </a:defRPr>
            </a:defPPr>
            <a:lvl1pPr>
              <a:defRPr sz="975" b="0">
                <a:solidFill>
                  <a:srgbClr val="536675"/>
                </a:solidFill>
                <a:latin typeface="Arial"/>
                <a:ea typeface="Arial"/>
                <a:cs typeface="Arial"/>
              </a:defRPr>
            </a:lvl1pPr>
            <a:lvl2pPr>
              <a:defRPr sz="975" b="0">
                <a:solidFill>
                  <a:srgbClr val="536675"/>
                </a:solidFill>
                <a:latin typeface="Arial"/>
                <a:ea typeface="Arial"/>
                <a:cs typeface="Arial"/>
              </a:defRPr>
            </a:lvl2pPr>
            <a:lvl3pPr>
              <a:defRPr sz="975" b="0">
                <a:solidFill>
                  <a:srgbClr val="536675"/>
                </a:solidFill>
                <a:latin typeface="Arial"/>
                <a:ea typeface="Arial"/>
                <a:cs typeface="Arial"/>
              </a:defRPr>
            </a:lvl3pPr>
            <a:lvl4pPr>
              <a:defRPr sz="975" b="0">
                <a:solidFill>
                  <a:srgbClr val="536675"/>
                </a:solidFill>
                <a:latin typeface="Arial"/>
                <a:ea typeface="Arial"/>
                <a:cs typeface="Arial"/>
              </a:defRPr>
            </a:lvl4pPr>
            <a:lvl5pPr>
              <a:defRPr sz="975" b="0">
                <a:solidFill>
                  <a:srgbClr val="536675"/>
                </a:solidFill>
                <a:latin typeface="Arial"/>
                <a:ea typeface="Arial"/>
                <a:cs typeface="Arial"/>
              </a:defRPr>
            </a:lvl5pPr>
            <a:lvl6pPr>
              <a:defRPr sz="975" b="0">
                <a:solidFill>
                  <a:srgbClr val="536675"/>
                </a:solidFill>
                <a:latin typeface="Arial"/>
                <a:ea typeface="Arial"/>
                <a:cs typeface="Arial"/>
              </a:defRPr>
            </a:lvl6pPr>
            <a:lvl7pPr>
              <a:defRPr sz="975" b="0">
                <a:solidFill>
                  <a:srgbClr val="536675"/>
                </a:solidFill>
                <a:latin typeface="Arial"/>
                <a:ea typeface="Arial"/>
                <a:cs typeface="Arial"/>
              </a:defRPr>
            </a:lvl7pPr>
            <a:lvl8pPr>
              <a:defRPr sz="975" b="0">
                <a:solidFill>
                  <a:srgbClr val="536675"/>
                </a:solidFill>
                <a:latin typeface="Arial"/>
                <a:ea typeface="Arial"/>
                <a:cs typeface="Arial"/>
              </a:defRPr>
            </a:lvl8pPr>
            <a:lvl9pPr>
              <a:defRPr sz="975" b="0">
                <a:solidFill>
                  <a:srgbClr val="536675"/>
                </a:solidFill>
                <a:latin typeface="Arial"/>
                <a:ea typeface="Arial"/>
                <a:cs typeface="Arial"/>
              </a:defRPr>
            </a:lvl9pPr>
          </a:lstStyle>
          <a:p>
            <a:pPr>
              <a:defRPr sz="975" b="0">
                <a:solidFill>
                  <a:srgbClr val="536675"/>
                </a:solidFill>
                <a:latin typeface="Arial"/>
                <a:ea typeface="Arial"/>
                <a:cs typeface="Arial"/>
              </a:defRPr>
            </a:pPr>
            <a:endParaRPr sz="975" b="0">
              <a:solidFill>
                <a:srgbClr val="000000"/>
              </a:solidFill>
              <a:latin typeface="Calibri" panose="020F0502020204030204" pitchFamily="34" charset="0"/>
              <a:ea typeface="Arial"/>
              <a:cs typeface="Arial"/>
            </a:endParaRPr>
          </a:p>
        </p:txBody>
      </p:sp>
      <p:sp>
        <p:nvSpPr>
          <p:cNvPr id="4" name="Rectangle 3">
            <a:extLst>
              <a:ext uri="{FF2B5EF4-FFF2-40B4-BE49-F238E27FC236}">
                <a16:creationId xmlns:a16="http://schemas.microsoft.com/office/drawing/2014/main" id="{52F8A57A-6ED5-4A01-B4B2-6B75A3B22883}"/>
              </a:ext>
            </a:extLst>
          </p:cNvPr>
          <p:cNvSpPr>
            <a:spLocks noGrp="1"/>
          </p:cNvSpPr>
          <p:nvPr/>
        </p:nvSpPr>
        <p:spPr>
          <a:xfrm>
            <a:off x="11334750" y="6496050"/>
            <a:ext cx="381000" cy="228600"/>
          </a:xfrm>
          <a:prstGeom prst="rect">
            <a:avLst/>
          </a:prstGeom>
          <a:noFill/>
          <a:ln w="0">
            <a:noFill/>
          </a:ln>
        </p:spPr>
        <p:txBody>
          <a:bodyPr/>
          <a:lstStyle>
            <a:defPPr>
              <a:defRPr sz="1200" b="0">
                <a:solidFill>
                  <a:srgbClr val="536675"/>
                </a:solidFill>
                <a:latin typeface="Arial"/>
                <a:ea typeface="Arial"/>
                <a:cs typeface="Arial"/>
              </a:defRPr>
            </a:defPPr>
            <a:lvl1pPr>
              <a:defRPr sz="1200" b="0">
                <a:solidFill>
                  <a:srgbClr val="536675"/>
                </a:solidFill>
                <a:latin typeface="Arial"/>
                <a:ea typeface="Arial"/>
                <a:cs typeface="Arial"/>
              </a:defRPr>
            </a:lvl1pPr>
            <a:lvl2pPr>
              <a:defRPr sz="1200" b="0">
                <a:solidFill>
                  <a:srgbClr val="536675"/>
                </a:solidFill>
                <a:latin typeface="Arial"/>
                <a:ea typeface="Arial"/>
                <a:cs typeface="Arial"/>
              </a:defRPr>
            </a:lvl2pPr>
            <a:lvl3pPr>
              <a:defRPr sz="1200" b="0">
                <a:solidFill>
                  <a:srgbClr val="536675"/>
                </a:solidFill>
                <a:latin typeface="Arial"/>
                <a:ea typeface="Arial"/>
                <a:cs typeface="Arial"/>
              </a:defRPr>
            </a:lvl3pPr>
            <a:lvl4pPr>
              <a:defRPr sz="1200" b="0">
                <a:solidFill>
                  <a:srgbClr val="536675"/>
                </a:solidFill>
                <a:latin typeface="Arial"/>
                <a:ea typeface="Arial"/>
                <a:cs typeface="Arial"/>
              </a:defRPr>
            </a:lvl4pPr>
            <a:lvl5pPr>
              <a:defRPr sz="1200" b="0">
                <a:solidFill>
                  <a:srgbClr val="536675"/>
                </a:solidFill>
                <a:latin typeface="Arial"/>
                <a:ea typeface="Arial"/>
                <a:cs typeface="Arial"/>
              </a:defRPr>
            </a:lvl5pPr>
            <a:lvl6pPr>
              <a:defRPr sz="1200" b="0">
                <a:solidFill>
                  <a:srgbClr val="536675"/>
                </a:solidFill>
                <a:latin typeface="Arial"/>
                <a:ea typeface="Arial"/>
                <a:cs typeface="Arial"/>
              </a:defRPr>
            </a:lvl6pPr>
            <a:lvl7pPr>
              <a:defRPr sz="1200" b="0">
                <a:solidFill>
                  <a:srgbClr val="536675"/>
                </a:solidFill>
                <a:latin typeface="Arial"/>
                <a:ea typeface="Arial"/>
                <a:cs typeface="Arial"/>
              </a:defRPr>
            </a:lvl7pPr>
            <a:lvl8pPr>
              <a:defRPr sz="1200" b="0">
                <a:solidFill>
                  <a:srgbClr val="536675"/>
                </a:solidFill>
                <a:latin typeface="Arial"/>
                <a:ea typeface="Arial"/>
                <a:cs typeface="Arial"/>
              </a:defRPr>
            </a:lvl8pPr>
            <a:lvl9pPr>
              <a:defRPr sz="1200" b="0">
                <a:solidFill>
                  <a:srgbClr val="536675"/>
                </a:solidFill>
                <a:latin typeface="Arial"/>
                <a:ea typeface="Arial"/>
                <a:cs typeface="Arial"/>
              </a:defRPr>
            </a:lvl9pPr>
          </a:lstStyle>
          <a:p>
            <a:pPr>
              <a:defRPr sz="1200" b="0">
                <a:solidFill>
                  <a:srgbClr val="536675"/>
                </a:solidFill>
                <a:latin typeface="Arial"/>
                <a:ea typeface="Arial"/>
                <a:cs typeface="Arial"/>
              </a:defRPr>
            </a:pPr>
            <a:endParaRPr sz="1200" b="0">
              <a:solidFill>
                <a:srgbClr val="000000"/>
              </a:solidFill>
              <a:latin typeface="Calibri" panose="020F0502020204030204" pitchFamily="34" charset="0"/>
              <a:ea typeface="Arial"/>
              <a:cs typeface="Arial"/>
            </a:endParaRPr>
          </a:p>
        </p:txBody>
      </p:sp>
      <p:graphicFrame>
        <p:nvGraphicFramePr>
          <p:cNvPr id="5" name="Table 4">
            <a:extLst>
              <a:ext uri="{FF2B5EF4-FFF2-40B4-BE49-F238E27FC236}">
                <a16:creationId xmlns:a16="http://schemas.microsoft.com/office/drawing/2014/main" id="{04B9E747-127A-405B-B902-D2D7D8449774}"/>
              </a:ext>
            </a:extLst>
          </p:cNvPr>
          <p:cNvGraphicFramePr/>
          <p:nvPr>
            <p:extLst>
              <p:ext uri="{D42A27DB-BD31-4B8C-83A1-F6EECF244321}">
                <p14:modId xmlns:p14="http://schemas.microsoft.com/office/powerpoint/2010/main" val="2476434581"/>
              </p:ext>
            </p:extLst>
          </p:nvPr>
        </p:nvGraphicFramePr>
        <p:xfrm>
          <a:off x="476250" y="1504950"/>
          <a:ext cx="11239500" cy="4095752"/>
        </p:xfrm>
        <a:graphic>
          <a:graphicData uri="http://schemas.openxmlformats.org/drawingml/2006/table">
            <a:tbl>
              <a:tblPr/>
              <a:tblGrid>
                <a:gridCol w="4857750">
                  <a:extLst>
                    <a:ext uri="{9D8B030D-6E8A-4147-A177-3AD203B41FA5}">
                      <a16:colId xmlns:a16="http://schemas.microsoft.com/office/drawing/2014/main" val="20000"/>
                    </a:ext>
                  </a:extLst>
                </a:gridCol>
                <a:gridCol w="3190875">
                  <a:extLst>
                    <a:ext uri="{9D8B030D-6E8A-4147-A177-3AD203B41FA5}">
                      <a16:colId xmlns:a16="http://schemas.microsoft.com/office/drawing/2014/main" val="20001"/>
                    </a:ext>
                  </a:extLst>
                </a:gridCol>
                <a:gridCol w="3190875">
                  <a:extLst>
                    <a:ext uri="{9D8B030D-6E8A-4147-A177-3AD203B41FA5}">
                      <a16:colId xmlns:a16="http://schemas.microsoft.com/office/drawing/2014/main" val="20002"/>
                    </a:ext>
                  </a:extLst>
                </a:gridCol>
              </a:tblGrid>
              <a:tr h="511969">
                <a:tc>
                  <a:txBody>
                    <a:bodyPr/>
                    <a:lstStyle/>
                    <a:p>
                      <a:r>
                        <a:rPr lang="en-US" sz="1425" b="1">
                          <a:solidFill>
                            <a:srgbClr val="000000"/>
                          </a:solidFill>
                          <a:latin typeface="Calibri" panose="020F0502020204030204" pitchFamily="34" charset="0"/>
                          <a:ea typeface="Arial"/>
                          <a:cs typeface="Arial"/>
                        </a:rPr>
                        <a:t>Check</a:t>
                      </a:r>
                      <a:endParaRPr sz="1425" b="1">
                        <a:solidFill>
                          <a:srgbClr val="000000"/>
                        </a:solidFill>
                        <a:latin typeface="Calibri" panose="020F0502020204030204" pitchFamily="34" charset="0"/>
                        <a:ea typeface="Arial"/>
                        <a:cs typeface="Arial"/>
                      </a:endParaRPr>
                    </a:p>
                  </a:txBody>
                  <a:tcPr>
                    <a:lnL w="9525">
                      <a:solidFill>
                        <a:srgbClr val="DCE4E8"/>
                      </a:solidFill>
                    </a:lnL>
                    <a:lnR w="9525">
                      <a:solidFill>
                        <a:srgbClr val="DCE4E8"/>
                      </a:solidFill>
                    </a:lnR>
                    <a:lnT w="9525">
                      <a:solidFill>
                        <a:srgbClr val="DCE4E8"/>
                      </a:solidFill>
                    </a:lnT>
                    <a:lnB w="9525">
                      <a:solidFill>
                        <a:srgbClr val="DCE4E8"/>
                      </a:solidFill>
                    </a:lnB>
                    <a:solidFill>
                      <a:srgbClr val="D9D9D9"/>
                    </a:solidFill>
                  </a:tcPr>
                </a:tc>
                <a:tc>
                  <a:txBody>
                    <a:bodyPr/>
                    <a:lstStyle/>
                    <a:p>
                      <a:r>
                        <a:rPr lang="en-US" sz="1425" b="1">
                          <a:solidFill>
                            <a:srgbClr val="000000"/>
                          </a:solidFill>
                          <a:latin typeface="Calibri" panose="020F0502020204030204" pitchFamily="34" charset="0"/>
                          <a:ea typeface="Arial"/>
                          <a:cs typeface="Arial"/>
                        </a:rPr>
                        <a:t>Retrofit</a:t>
                      </a:r>
                      <a:endParaRPr sz="1425" b="1">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a:solidFill>
                        <a:srgbClr val="DCE4E8"/>
                      </a:solidFill>
                    </a:lnT>
                    <a:lnB w="9525">
                      <a:solidFill>
                        <a:srgbClr val="DCE4E8"/>
                      </a:solidFill>
                    </a:lnB>
                    <a:solidFill>
                      <a:srgbClr val="D9D9D9"/>
                    </a:solidFill>
                  </a:tcPr>
                </a:tc>
                <a:tc>
                  <a:txBody>
                    <a:bodyPr/>
                    <a:lstStyle/>
                    <a:p>
                      <a:r>
                        <a:rPr lang="en-US" sz="1425" b="1">
                          <a:solidFill>
                            <a:srgbClr val="000000"/>
                          </a:solidFill>
                          <a:latin typeface="Calibri" panose="020F0502020204030204" pitchFamily="34" charset="0"/>
                          <a:ea typeface="Arial"/>
                          <a:cs typeface="Arial"/>
                        </a:rPr>
                        <a:t>Clean sheet</a:t>
                      </a:r>
                      <a:endParaRPr sz="1425" b="1">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a:solidFill>
                        <a:srgbClr val="DCE4E8"/>
                      </a:solidFill>
                    </a:lnT>
                    <a:lnB w="9525">
                      <a:solidFill>
                        <a:srgbClr val="DCE4E8"/>
                      </a:solidFill>
                    </a:lnB>
                    <a:solidFill>
                      <a:srgbClr val="D9D9D9"/>
                    </a:solidFill>
                  </a:tcPr>
                </a:tc>
                <a:extLst>
                  <a:ext uri="{0D108BD9-81ED-4DB2-BD59-A6C34878D82A}">
                    <a16:rowId xmlns:a16="http://schemas.microsoft.com/office/drawing/2014/main" val="10000"/>
                  </a:ext>
                </a:extLst>
              </a:tr>
              <a:tr h="511969">
                <a:tc>
                  <a:txBody>
                    <a:bodyPr/>
                    <a:lstStyle/>
                    <a:p>
                      <a:r>
                        <a:rPr lang="en-US" sz="1425" b="0">
                          <a:solidFill>
                            <a:srgbClr val="000000"/>
                          </a:solidFill>
                          <a:latin typeface="Calibri" panose="020F0502020204030204" pitchFamily="34" charset="0"/>
                          <a:ea typeface="Arial"/>
                          <a:cs typeface="Arial"/>
                        </a:rPr>
                        <a:t>Corrected gross mass</a:t>
                      </a:r>
                      <a:endParaRPr sz="1425" b="0">
                        <a:solidFill>
                          <a:srgbClr val="000000"/>
                        </a:solidFill>
                        <a:latin typeface="Calibri" panose="020F0502020204030204" pitchFamily="34" charset="0"/>
                        <a:ea typeface="Arial"/>
                        <a:cs typeface="Arial"/>
                      </a:endParaRP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397.2 kg</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381.7 kg</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extLst>
                  <a:ext uri="{0D108BD9-81ED-4DB2-BD59-A6C34878D82A}">
                    <a16:rowId xmlns:a16="http://schemas.microsoft.com/office/drawing/2014/main" val="10001"/>
                  </a:ext>
                </a:extLst>
              </a:tr>
              <a:tr h="511969">
                <a:tc>
                  <a:txBody>
                    <a:bodyPr/>
                    <a:lstStyle/>
                    <a:p>
                      <a:r>
                        <a:rPr lang="en-US" sz="1425" b="0">
                          <a:solidFill>
                            <a:srgbClr val="000000"/>
                          </a:solidFill>
                          <a:latin typeface="Calibri" panose="020F0502020204030204" pitchFamily="34" charset="0"/>
                          <a:ea typeface="Arial"/>
                          <a:cs typeface="Arial"/>
                        </a:rPr>
                        <a:t>160 km/h engine shaft / limit</a:t>
                      </a:r>
                      <a:endParaRPr sz="1425" b="0">
                        <a:solidFill>
                          <a:srgbClr val="000000"/>
                        </a:solidFill>
                        <a:latin typeface="Calibri" panose="020F0502020204030204" pitchFamily="34" charset="0"/>
                        <a:ea typeface="Arial"/>
                        <a:cs typeface="Arial"/>
                      </a:endParaRP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lang="en-US" sz="1425" b="0">
                          <a:solidFill>
                            <a:srgbClr val="000000"/>
                          </a:solidFill>
                          <a:latin typeface="Calibri" panose="020F0502020204030204" pitchFamily="34" charset="0"/>
                          <a:ea typeface="Arial"/>
                          <a:cs typeface="Arial"/>
                        </a:rPr>
                        <a:t>21.3 / 34.0 kW</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lang="en-US" sz="1425" b="0">
                          <a:solidFill>
                            <a:srgbClr val="000000"/>
                          </a:solidFill>
                          <a:latin typeface="Calibri" panose="020F0502020204030204" pitchFamily="34" charset="0"/>
                          <a:ea typeface="Arial"/>
                          <a:cs typeface="Arial"/>
                        </a:rPr>
                        <a:t>23.1 / 34.0 kW</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extLst>
                  <a:ext uri="{0D108BD9-81ED-4DB2-BD59-A6C34878D82A}">
                    <a16:rowId xmlns:a16="http://schemas.microsoft.com/office/drawing/2014/main" val="10002"/>
                  </a:ext>
                </a:extLst>
              </a:tr>
              <a:tr h="511969">
                <a:tc>
                  <a:txBody>
                    <a:bodyPr/>
                    <a:lstStyle/>
                    <a:p>
                      <a:r>
                        <a:rPr lang="en-US" sz="1425" b="0">
                          <a:solidFill>
                            <a:srgbClr val="000000"/>
                          </a:solidFill>
                          <a:latin typeface="Calibri" panose="020F0502020204030204" pitchFamily="34" charset="0"/>
                          <a:ea typeface="Arial"/>
                          <a:cs typeface="Arial"/>
                        </a:rPr>
                        <a:t>Historical sampled fuel minimum</a:t>
                      </a:r>
                      <a:endParaRPr sz="1425" b="0">
                        <a:solidFill>
                          <a:srgbClr val="000000"/>
                        </a:solidFill>
                        <a:latin typeface="Calibri" panose="020F0502020204030204" pitchFamily="34" charset="0"/>
                        <a:ea typeface="Arial"/>
                        <a:cs typeface="Arial"/>
                      </a:endParaRP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pt-BR" sz="1425" b="0">
                          <a:solidFill>
                            <a:srgbClr val="000000"/>
                          </a:solidFill>
                          <a:latin typeface="Calibri" panose="020F0502020204030204" pitchFamily="34" charset="0"/>
                          <a:ea typeface="Arial"/>
                          <a:cs typeface="Arial"/>
                        </a:rPr>
                        <a:t>145 km/h (17 s design)</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pt-BR" sz="1425" b="0">
                          <a:solidFill>
                            <a:srgbClr val="000000"/>
                          </a:solidFill>
                          <a:latin typeface="Calibri" panose="020F0502020204030204" pitchFamily="34" charset="0"/>
                          <a:ea typeface="Arial"/>
                          <a:cs typeface="Arial"/>
                        </a:rPr>
                        <a:t>145 km/h (17 s design)</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extLst>
                  <a:ext uri="{0D108BD9-81ED-4DB2-BD59-A6C34878D82A}">
                    <a16:rowId xmlns:a16="http://schemas.microsoft.com/office/drawing/2014/main" val="10003"/>
                  </a:ext>
                </a:extLst>
              </a:tr>
              <a:tr h="511969">
                <a:tc>
                  <a:txBody>
                    <a:bodyPr/>
                    <a:lstStyle/>
                    <a:p>
                      <a:r>
                        <a:rPr lang="en-US" sz="1425" b="0">
                          <a:solidFill>
                            <a:srgbClr val="000000"/>
                          </a:solidFill>
                          <a:latin typeface="Calibri" panose="020F0502020204030204" pitchFamily="34" charset="0"/>
                          <a:ea typeface="Arial"/>
                          <a:cs typeface="Arial"/>
                        </a:rPr>
                        <a:t>Peak lift shaft power / motor</a:t>
                      </a:r>
                      <a:endParaRPr sz="1425" b="0">
                        <a:solidFill>
                          <a:srgbClr val="000000"/>
                        </a:solidFill>
                        <a:latin typeface="Calibri" panose="020F0502020204030204" pitchFamily="34" charset="0"/>
                        <a:ea typeface="Arial"/>
                        <a:cs typeface="Arial"/>
                      </a:endParaRP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lang="en-US" sz="1425" b="0">
                          <a:solidFill>
                            <a:srgbClr val="000000"/>
                          </a:solidFill>
                          <a:latin typeface="Calibri" panose="020F0502020204030204" pitchFamily="34" charset="0"/>
                          <a:ea typeface="Arial"/>
                          <a:cs typeface="Arial"/>
                        </a:rPr>
                        <a:t>20.0 kW</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lang="en-US" sz="1425" b="0">
                          <a:solidFill>
                            <a:srgbClr val="000000"/>
                          </a:solidFill>
                          <a:latin typeface="Calibri" panose="020F0502020204030204" pitchFamily="34" charset="0"/>
                          <a:ea typeface="Arial"/>
                          <a:cs typeface="Arial"/>
                        </a:rPr>
                        <a:t>13.3 kW</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extLst>
                  <a:ext uri="{0D108BD9-81ED-4DB2-BD59-A6C34878D82A}">
                    <a16:rowId xmlns:a16="http://schemas.microsoft.com/office/drawing/2014/main" val="10004"/>
                  </a:ext>
                </a:extLst>
              </a:tr>
              <a:tr h="511969">
                <a:tc>
                  <a:txBody>
                    <a:bodyPr/>
                    <a:lstStyle/>
                    <a:p>
                      <a:r>
                        <a:rPr lang="en-US" sz="1425" b="0">
                          <a:solidFill>
                            <a:srgbClr val="000000"/>
                          </a:solidFill>
                          <a:latin typeface="Calibri" panose="020F0502020204030204" pitchFamily="34" charset="0"/>
                          <a:ea typeface="Arial"/>
                          <a:cs typeface="Arial"/>
                        </a:rPr>
                        <a:t>Final main-pack SOC</a:t>
                      </a:r>
                      <a:endParaRPr sz="1425" b="0">
                        <a:solidFill>
                          <a:srgbClr val="000000"/>
                        </a:solidFill>
                        <a:latin typeface="Calibri" panose="020F0502020204030204" pitchFamily="34" charset="0"/>
                        <a:ea typeface="Arial"/>
                        <a:cs typeface="Arial"/>
                      </a:endParaRP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47.8%</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51.1%</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extLst>
                  <a:ext uri="{0D108BD9-81ED-4DB2-BD59-A6C34878D82A}">
                    <a16:rowId xmlns:a16="http://schemas.microsoft.com/office/drawing/2014/main" val="10005"/>
                  </a:ext>
                </a:extLst>
              </a:tr>
              <a:tr h="511969">
                <a:tc>
                  <a:txBody>
                    <a:bodyPr/>
                    <a:lstStyle/>
                    <a:p>
                      <a:r>
                        <a:rPr lang="en-US" sz="1425" b="0">
                          <a:solidFill>
                            <a:srgbClr val="000000"/>
                          </a:solidFill>
                          <a:latin typeface="Calibri" panose="020F0502020204030204" pitchFamily="34" charset="0"/>
                          <a:ea typeface="Arial"/>
                          <a:cs typeface="Arial"/>
                        </a:rPr>
                        <a:t>Minimum loaded cell voltage</a:t>
                      </a:r>
                      <a:endParaRPr sz="1425" b="0">
                        <a:solidFill>
                          <a:srgbClr val="000000"/>
                        </a:solidFill>
                        <a:latin typeface="Calibri" panose="020F0502020204030204" pitchFamily="34" charset="0"/>
                        <a:ea typeface="Arial"/>
                        <a:cs typeface="Arial"/>
                      </a:endParaRP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lang="en-US" sz="1425" b="0">
                          <a:solidFill>
                            <a:srgbClr val="000000"/>
                          </a:solidFill>
                          <a:latin typeface="Calibri" panose="020F0502020204030204" pitchFamily="34" charset="0"/>
                          <a:ea typeface="Arial"/>
                          <a:cs typeface="Arial"/>
                        </a:rPr>
                        <a:t>3.034 V</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lang="en-US" sz="1425" b="0">
                          <a:solidFill>
                            <a:srgbClr val="000000"/>
                          </a:solidFill>
                          <a:latin typeface="Calibri" panose="020F0502020204030204" pitchFamily="34" charset="0"/>
                          <a:ea typeface="Arial"/>
                          <a:cs typeface="Arial"/>
                        </a:rPr>
                        <a:t>3.128 V</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extLst>
                  <a:ext uri="{0D108BD9-81ED-4DB2-BD59-A6C34878D82A}">
                    <a16:rowId xmlns:a16="http://schemas.microsoft.com/office/drawing/2014/main" val="10006"/>
                  </a:ext>
                </a:extLst>
              </a:tr>
              <a:tr h="511969">
                <a:tc>
                  <a:txBody>
                    <a:bodyPr/>
                    <a:lstStyle/>
                    <a:p>
                      <a:r>
                        <a:rPr lang="en-US" sz="1425" b="0">
                          <a:solidFill>
                            <a:srgbClr val="000000"/>
                          </a:solidFill>
                          <a:latin typeface="Calibri" panose="020F0502020204030204" pitchFamily="34" charset="0"/>
                          <a:ea typeface="Arial"/>
                          <a:cs typeface="Arial"/>
                        </a:rPr>
                        <a:t>Current interpretation</a:t>
                      </a:r>
                      <a:endParaRPr sz="1425" b="0">
                        <a:solidFill>
                          <a:srgbClr val="000000"/>
                        </a:solidFill>
                        <a:latin typeface="Calibri" panose="020F0502020204030204" pitchFamily="34" charset="0"/>
                        <a:ea typeface="Arial"/>
                        <a:cs typeface="Arial"/>
                      </a:endParaRP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Retained screens pass</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Low-RPM hardware match open</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extLst>
                  <a:ext uri="{0D108BD9-81ED-4DB2-BD59-A6C34878D82A}">
                    <a16:rowId xmlns:a16="http://schemas.microsoft.com/office/drawing/2014/main" val="10007"/>
                  </a:ext>
                </a:extLst>
              </a:tr>
            </a:tbl>
          </a:graphicData>
        </a:graphic>
      </p:graphicFrame>
      <p:sp>
        <p:nvSpPr>
          <p:cNvPr id="6" name="Rectangle 5">
            <a:extLst>
              <a:ext uri="{FF2B5EF4-FFF2-40B4-BE49-F238E27FC236}">
                <a16:creationId xmlns:a16="http://schemas.microsoft.com/office/drawing/2014/main" id="{D5577958-C32B-4F2C-BB40-090124B2FAD9}"/>
              </a:ext>
            </a:extLst>
          </p:cNvPr>
          <p:cNvSpPr>
            <a:spLocks noGrp="1"/>
          </p:cNvSpPr>
          <p:nvPr/>
        </p:nvSpPr>
        <p:spPr>
          <a:xfrm>
            <a:off x="476250" y="6010275"/>
            <a:ext cx="11239500" cy="447675"/>
          </a:xfrm>
          <a:prstGeom prst="rect">
            <a:avLst/>
          </a:prstGeom>
          <a:noFill/>
          <a:ln w="0">
            <a:noFill/>
          </a:ln>
        </p:spPr>
        <p:txBody>
          <a:bodyPr/>
          <a:lstStyle>
            <a:defPPr>
              <a:defRPr sz="1275" b="0">
                <a:solidFill>
                  <a:srgbClr val="536675"/>
                </a:solidFill>
                <a:latin typeface="Arial"/>
                <a:ea typeface="Arial"/>
                <a:cs typeface="Arial"/>
              </a:defRPr>
            </a:defPPr>
            <a:lvl1pPr>
              <a:defRPr sz="1275" b="0">
                <a:solidFill>
                  <a:srgbClr val="536675"/>
                </a:solidFill>
                <a:latin typeface="Arial"/>
                <a:ea typeface="Arial"/>
                <a:cs typeface="Arial"/>
              </a:defRPr>
            </a:lvl1pPr>
            <a:lvl2pPr>
              <a:defRPr sz="1275" b="0">
                <a:solidFill>
                  <a:srgbClr val="536675"/>
                </a:solidFill>
                <a:latin typeface="Arial"/>
                <a:ea typeface="Arial"/>
                <a:cs typeface="Arial"/>
              </a:defRPr>
            </a:lvl2pPr>
            <a:lvl3pPr>
              <a:defRPr sz="1275" b="0">
                <a:solidFill>
                  <a:srgbClr val="536675"/>
                </a:solidFill>
                <a:latin typeface="Arial"/>
                <a:ea typeface="Arial"/>
                <a:cs typeface="Arial"/>
              </a:defRPr>
            </a:lvl3pPr>
            <a:lvl4pPr>
              <a:defRPr sz="1275" b="0">
                <a:solidFill>
                  <a:srgbClr val="536675"/>
                </a:solidFill>
                <a:latin typeface="Arial"/>
                <a:ea typeface="Arial"/>
                <a:cs typeface="Arial"/>
              </a:defRPr>
            </a:lvl4pPr>
            <a:lvl5pPr>
              <a:defRPr sz="1275" b="0">
                <a:solidFill>
                  <a:srgbClr val="536675"/>
                </a:solidFill>
                <a:latin typeface="Arial"/>
                <a:ea typeface="Arial"/>
                <a:cs typeface="Arial"/>
              </a:defRPr>
            </a:lvl5pPr>
            <a:lvl6pPr>
              <a:defRPr sz="1275" b="0">
                <a:solidFill>
                  <a:srgbClr val="536675"/>
                </a:solidFill>
                <a:latin typeface="Arial"/>
                <a:ea typeface="Arial"/>
                <a:cs typeface="Arial"/>
              </a:defRPr>
            </a:lvl6pPr>
            <a:lvl7pPr>
              <a:defRPr sz="1275" b="0">
                <a:solidFill>
                  <a:srgbClr val="536675"/>
                </a:solidFill>
                <a:latin typeface="Arial"/>
                <a:ea typeface="Arial"/>
                <a:cs typeface="Arial"/>
              </a:defRPr>
            </a:lvl7pPr>
            <a:lvl8pPr>
              <a:defRPr sz="1275" b="0">
                <a:solidFill>
                  <a:srgbClr val="536675"/>
                </a:solidFill>
                <a:latin typeface="Arial"/>
                <a:ea typeface="Arial"/>
                <a:cs typeface="Arial"/>
              </a:defRPr>
            </a:lvl8pPr>
            <a:lvl9pPr>
              <a:defRPr sz="1275" b="0">
                <a:solidFill>
                  <a:srgbClr val="536675"/>
                </a:solidFill>
                <a:latin typeface="Arial"/>
                <a:ea typeface="Arial"/>
                <a:cs typeface="Arial"/>
              </a:defRPr>
            </a:lvl9pPr>
          </a:lstStyle>
          <a:p>
            <a:pPr>
              <a:defRPr sz="1275" b="0">
                <a:solidFill>
                  <a:srgbClr val="536675"/>
                </a:solidFill>
                <a:latin typeface="Arial"/>
                <a:ea typeface="Arial"/>
                <a:cs typeface="Arial"/>
              </a:defRPr>
            </a:pPr>
            <a:endParaRPr sz="1275" b="0">
              <a:solidFill>
                <a:srgbClr val="000000"/>
              </a:solidFill>
              <a:latin typeface="Calibri" panose="020F0502020204030204" pitchFamily="34" charset="0"/>
              <a:ea typeface="Arial"/>
              <a:cs typeface="Arial"/>
            </a:endParaRPr>
          </a:p>
        </p:txBody>
      </p:sp>
      <p:sp>
        <p:nvSpPr>
          <p:cNvPr id="8" name="TextBox 7">
            <a:extLst>
              <a:ext uri="{FF2B5EF4-FFF2-40B4-BE49-F238E27FC236}">
                <a16:creationId xmlns:a16="http://schemas.microsoft.com/office/drawing/2014/main" id="{EEBD5940-EF72-6D8F-9908-B6C5B60FE932}"/>
              </a:ext>
            </a:extLst>
          </p:cNvPr>
          <p:cNvSpPr txBox="1"/>
          <p:nvPr/>
        </p:nvSpPr>
        <p:spPr>
          <a:xfrm>
            <a:off x="476250" y="6400800"/>
            <a:ext cx="11074400" cy="323165"/>
          </a:xfrm>
          <a:prstGeom prst="rect">
            <a:avLst/>
          </a:prstGeom>
          <a:noFill/>
        </p:spPr>
        <p:txBody>
          <a:bodyPr vert="horz" lIns="0" tIns="0" rIns="0" bIns="0" rtlCol="0">
            <a:spAutoFit/>
          </a:bodyPr>
          <a:lstStyle/>
          <a:p>
            <a:r>
              <a:rPr lang="en-US" sz="1050">
                <a:solidFill>
                  <a:srgbClr val="000000"/>
                </a:solidFill>
                <a:latin typeface="Calibri" panose="020F0502020204030204" pitchFamily="34" charset="0"/>
              </a:rPr>
              <a:t>[S7] Corrected 30 s sizing: common cell chemistry proxy, differing power per cell / SOC produces different loaded voltage.
Pack sizing includes current, ≥3.0 V, ≥31% SOC and ≤60°C screens. High remaining SOC does not establish excess power capacity.</a:t>
            </a:r>
          </a:p>
        </p:txBody>
      </p:sp>
      <p:sp>
        <p:nvSpPr>
          <p:cNvPr id="9" name="TextBox 8">
            <a:extLst>
              <a:ext uri="{FF2B5EF4-FFF2-40B4-BE49-F238E27FC236}">
                <a16:creationId xmlns:a16="http://schemas.microsoft.com/office/drawing/2014/main" id="{2322E97B-1E75-5406-BC3D-7C1C0E6AFC83}"/>
              </a:ext>
            </a:extLst>
          </p:cNvPr>
          <p:cNvSpPr txBox="1"/>
          <p:nvPr/>
        </p:nvSpPr>
        <p:spPr>
          <a:xfrm>
            <a:off x="11671300" y="6527800"/>
            <a:ext cx="355600" cy="153888"/>
          </a:xfrm>
          <a:prstGeom prst="rect">
            <a:avLst/>
          </a:prstGeom>
          <a:noFill/>
        </p:spPr>
        <p:txBody>
          <a:bodyPr vert="horz" lIns="0" tIns="0" rIns="0" bIns="0" rtlCol="0">
            <a:spAutoFit/>
          </a:bodyPr>
          <a:lstStyle/>
          <a:p>
            <a:r>
              <a:rPr lang="en-US" sz="1000">
                <a:solidFill>
                  <a:srgbClr val="000000"/>
                </a:solidFill>
                <a:latin typeface="Calibri" panose="020F0502020204030204" pitchFamily="34" charset="0"/>
              </a:rPr>
              <a:t>23</a:t>
            </a:r>
          </a:p>
        </p:txBody>
      </p:sp>
    </p:spTree>
    <p:extLst>
      <p:ext uri="{BB962C8B-B14F-4D97-AF65-F5344CB8AC3E}">
        <p14:creationId xmlns:p14="http://schemas.microsoft.com/office/powerpoint/2010/main" val="51658844"/>
      </p:ext>
    </p:extLst>
  </p:cSld>
  <p:clrMapOvr>
    <a:masterClrMapping/>
  </p:clrMapOvr>
  <p:extLst>
    <p:ext uri="{6950BFC3-D8DA-4A85-94F7-54DA5524770B}">
      <p188:commentRel xmlns:p188="http://schemas.microsoft.com/office/powerpoint/2018/8/main" r:id="rId3"/>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B4F57FE-254D-47E3-BE7F-947647286E8B}"/>
              </a:ext>
            </a:extLst>
          </p:cNvPr>
          <p:cNvSpPr>
            <a:spLocks noGrp="1"/>
          </p:cNvSpPr>
          <p:nvPr/>
        </p:nvSpPr>
        <p:spPr>
          <a:xfrm>
            <a:off x="838200" y="361950"/>
            <a:ext cx="10896600" cy="495300"/>
          </a:xfrm>
          <a:prstGeom prst="rect">
            <a:avLst/>
          </a:prstGeom>
          <a:noFill/>
          <a:ln w="0">
            <a:noFill/>
            <a:prstDash val="solid"/>
          </a:ln>
        </p:spPr>
        <p:txBody>
          <a:bodyPr lIns="0" tIns="0" rIns="0" bIns="0"/>
          <a:lstStyle>
            <a:defPPr>
              <a:defRPr sz="2400" b="1">
                <a:solidFill>
                  <a:srgbClr val="000000"/>
                </a:solidFill>
                <a:latin typeface="Calibri"/>
                <a:ea typeface="Calibri"/>
                <a:cs typeface="Calibri"/>
              </a:defRPr>
            </a:defPPr>
            <a:lvl1pPr>
              <a:defRPr sz="2400" b="1">
                <a:solidFill>
                  <a:srgbClr val="000000"/>
                </a:solidFill>
                <a:latin typeface="Calibri"/>
                <a:ea typeface="Calibri"/>
                <a:cs typeface="Calibri"/>
              </a:defRPr>
            </a:lvl1pPr>
            <a:lvl2pPr>
              <a:defRPr sz="2400" b="1">
                <a:solidFill>
                  <a:srgbClr val="000000"/>
                </a:solidFill>
                <a:latin typeface="Calibri"/>
                <a:ea typeface="Calibri"/>
                <a:cs typeface="Calibri"/>
              </a:defRPr>
            </a:lvl2pPr>
            <a:lvl3pPr>
              <a:defRPr sz="2400" b="1">
                <a:solidFill>
                  <a:srgbClr val="000000"/>
                </a:solidFill>
                <a:latin typeface="Calibri"/>
                <a:ea typeface="Calibri"/>
                <a:cs typeface="Calibri"/>
              </a:defRPr>
            </a:lvl3pPr>
            <a:lvl4pPr>
              <a:defRPr sz="2400" b="1">
                <a:solidFill>
                  <a:srgbClr val="000000"/>
                </a:solidFill>
                <a:latin typeface="Calibri"/>
                <a:ea typeface="Calibri"/>
                <a:cs typeface="Calibri"/>
              </a:defRPr>
            </a:lvl4pPr>
            <a:lvl5pPr>
              <a:defRPr sz="2400" b="1">
                <a:solidFill>
                  <a:srgbClr val="000000"/>
                </a:solidFill>
                <a:latin typeface="Calibri"/>
                <a:ea typeface="Calibri"/>
                <a:cs typeface="Calibri"/>
              </a:defRPr>
            </a:lvl5pPr>
            <a:lvl6pPr>
              <a:defRPr sz="2400" b="1">
                <a:solidFill>
                  <a:srgbClr val="000000"/>
                </a:solidFill>
                <a:latin typeface="Calibri"/>
                <a:ea typeface="Calibri"/>
                <a:cs typeface="Calibri"/>
              </a:defRPr>
            </a:lvl6pPr>
            <a:lvl7pPr>
              <a:defRPr sz="2400" b="1">
                <a:solidFill>
                  <a:srgbClr val="000000"/>
                </a:solidFill>
                <a:latin typeface="Calibri"/>
                <a:ea typeface="Calibri"/>
                <a:cs typeface="Calibri"/>
              </a:defRPr>
            </a:lvl7pPr>
            <a:lvl8pPr>
              <a:defRPr sz="2400" b="1">
                <a:solidFill>
                  <a:srgbClr val="000000"/>
                </a:solidFill>
                <a:latin typeface="Calibri"/>
                <a:ea typeface="Calibri"/>
                <a:cs typeface="Calibri"/>
              </a:defRPr>
            </a:lvl8pPr>
            <a:lvl9pPr>
              <a:defRPr sz="2400" b="1">
                <a:solidFill>
                  <a:srgbClr val="000000"/>
                </a:solidFill>
                <a:latin typeface="Calibri"/>
                <a:ea typeface="Calibri"/>
                <a:cs typeface="Calibri"/>
              </a:defRPr>
            </a:lvl9pPr>
          </a:lstStyle>
          <a:p>
            <a:pPr>
              <a:defRPr sz="2400" b="1">
                <a:solidFill>
                  <a:srgbClr val="000000"/>
                </a:solidFill>
                <a:latin typeface="Calibri"/>
                <a:ea typeface="Calibri"/>
                <a:cs typeface="Calibri"/>
              </a:defRPr>
            </a:pPr>
            <a:r>
              <a:rPr sz="2400" b="1">
                <a:solidFill>
                  <a:srgbClr val="000000"/>
                </a:solidFill>
                <a:latin typeface="Calibri"/>
                <a:ea typeface="Calibri"/>
                <a:cs typeface="Calibri"/>
              </a:rPr>
              <a:t>Motor RPM and Propulsion Hardware</a:t>
            </a:r>
          </a:p>
        </p:txBody>
      </p:sp>
      <p:sp>
        <p:nvSpPr>
          <p:cNvPr id="2" name="Rectangle 1">
            <a:extLst>
              <a:ext uri="{FF2B5EF4-FFF2-40B4-BE49-F238E27FC236}">
                <a16:creationId xmlns:a16="http://schemas.microsoft.com/office/drawing/2014/main" id="{778A0103-0A5A-480A-8150-6ABFF2F0A091}"/>
              </a:ext>
            </a:extLst>
          </p:cNvPr>
          <p:cNvSpPr>
            <a:spLocks noGrp="1"/>
          </p:cNvSpPr>
          <p:nvPr/>
        </p:nvSpPr>
        <p:spPr>
          <a:xfrm>
            <a:off x="476250" y="895350"/>
            <a:ext cx="11239500" cy="523875"/>
          </a:xfrm>
          <a:prstGeom prst="rect">
            <a:avLst/>
          </a:prstGeom>
          <a:noFill/>
          <a:ln w="0">
            <a:noFill/>
            <a:prstDash val="solid"/>
          </a:ln>
        </p:spPr>
        <p:txBody>
          <a:bodyPr lIns="0" tIns="0" rIns="0" bIns="0"/>
          <a:lstStyle>
            <a:defPPr>
              <a:defRPr sz="1575" b="0">
                <a:solidFill>
                  <a:srgbClr val="444444"/>
                </a:solidFill>
                <a:latin typeface="Calibri"/>
                <a:ea typeface="Calibri"/>
                <a:cs typeface="Calibri"/>
              </a:defRPr>
            </a:defPPr>
            <a:lvl1pPr>
              <a:defRPr sz="1575" b="0">
                <a:solidFill>
                  <a:srgbClr val="444444"/>
                </a:solidFill>
                <a:latin typeface="Calibri"/>
                <a:ea typeface="Calibri"/>
                <a:cs typeface="Calibri"/>
              </a:defRPr>
            </a:lvl1pPr>
            <a:lvl2pPr>
              <a:defRPr sz="1575" b="0">
                <a:solidFill>
                  <a:srgbClr val="444444"/>
                </a:solidFill>
                <a:latin typeface="Calibri"/>
                <a:ea typeface="Calibri"/>
                <a:cs typeface="Calibri"/>
              </a:defRPr>
            </a:lvl2pPr>
            <a:lvl3pPr>
              <a:defRPr sz="1575" b="0">
                <a:solidFill>
                  <a:srgbClr val="444444"/>
                </a:solidFill>
                <a:latin typeface="Calibri"/>
                <a:ea typeface="Calibri"/>
                <a:cs typeface="Calibri"/>
              </a:defRPr>
            </a:lvl3pPr>
            <a:lvl4pPr>
              <a:defRPr sz="1575" b="0">
                <a:solidFill>
                  <a:srgbClr val="444444"/>
                </a:solidFill>
                <a:latin typeface="Calibri"/>
                <a:ea typeface="Calibri"/>
                <a:cs typeface="Calibri"/>
              </a:defRPr>
            </a:lvl4pPr>
            <a:lvl5pPr>
              <a:defRPr sz="1575" b="0">
                <a:solidFill>
                  <a:srgbClr val="444444"/>
                </a:solidFill>
                <a:latin typeface="Calibri"/>
                <a:ea typeface="Calibri"/>
                <a:cs typeface="Calibri"/>
              </a:defRPr>
            </a:lvl5pPr>
            <a:lvl6pPr>
              <a:defRPr sz="1575" b="0">
                <a:solidFill>
                  <a:srgbClr val="444444"/>
                </a:solidFill>
                <a:latin typeface="Calibri"/>
                <a:ea typeface="Calibri"/>
                <a:cs typeface="Calibri"/>
              </a:defRPr>
            </a:lvl6pPr>
            <a:lvl7pPr>
              <a:defRPr sz="1575" b="0">
                <a:solidFill>
                  <a:srgbClr val="444444"/>
                </a:solidFill>
                <a:latin typeface="Calibri"/>
                <a:ea typeface="Calibri"/>
                <a:cs typeface="Calibri"/>
              </a:defRPr>
            </a:lvl7pPr>
            <a:lvl8pPr>
              <a:defRPr sz="1575" b="0">
                <a:solidFill>
                  <a:srgbClr val="444444"/>
                </a:solidFill>
                <a:latin typeface="Calibri"/>
                <a:ea typeface="Calibri"/>
                <a:cs typeface="Calibri"/>
              </a:defRPr>
            </a:lvl8pPr>
            <a:lvl9pPr>
              <a:defRPr sz="1575" b="0">
                <a:solidFill>
                  <a:srgbClr val="444444"/>
                </a:solidFill>
                <a:latin typeface="Calibri"/>
                <a:ea typeface="Calibri"/>
                <a:cs typeface="Calibri"/>
              </a:defRPr>
            </a:lvl9pPr>
          </a:lstStyle>
          <a:p>
            <a:pPr>
              <a:defRPr sz="1575" b="0">
                <a:solidFill>
                  <a:srgbClr val="444444"/>
                </a:solidFill>
                <a:latin typeface="Calibri"/>
                <a:ea typeface="Calibri"/>
                <a:cs typeface="Calibri"/>
              </a:defRPr>
            </a:pPr>
            <a:r>
              <a:rPr sz="1575" b="0">
                <a:solidFill>
                  <a:srgbClr val="444444"/>
                </a:solidFill>
                <a:latin typeface="Calibri"/>
                <a:ea typeface="Calibri"/>
                <a:cs typeface="Calibri"/>
              </a:rPr>
              <a:t>The low-RPM clean-sheet motor match and both tiltrotor installations still require supplier evidence.</a:t>
            </a:r>
          </a:p>
        </p:txBody>
      </p:sp>
      <p:sp>
        <p:nvSpPr>
          <p:cNvPr id="3" name="Rectangle 2">
            <a:extLst>
              <a:ext uri="{FF2B5EF4-FFF2-40B4-BE49-F238E27FC236}">
                <a16:creationId xmlns:a16="http://schemas.microsoft.com/office/drawing/2014/main" id="{3515A01E-770A-42F3-B9E3-1374BA8E6FB0}"/>
              </a:ext>
            </a:extLst>
          </p:cNvPr>
          <p:cNvSpPr>
            <a:spLocks noGrp="1"/>
          </p:cNvSpPr>
          <p:nvPr/>
        </p:nvSpPr>
        <p:spPr>
          <a:xfrm>
            <a:off x="11382375" y="6524625"/>
            <a:ext cx="333375" cy="219075"/>
          </a:xfrm>
          <a:prstGeom prst="rect">
            <a:avLst/>
          </a:prstGeom>
          <a:noFill/>
          <a:ln w="0">
            <a:noFill/>
            <a:prstDash val="solid"/>
          </a:ln>
        </p:spPr>
        <p:txBody>
          <a:bodyPr lIns="0" tIns="0" rIns="0" bIns="0"/>
          <a:lstStyle>
            <a:defPPr>
              <a:defRPr sz="1125" b="0">
                <a:solidFill>
                  <a:srgbClr val="444444"/>
                </a:solidFill>
                <a:latin typeface="Calibri"/>
                <a:ea typeface="Calibri"/>
                <a:cs typeface="Calibri"/>
              </a:defRPr>
            </a:defPPr>
            <a:lvl1pPr>
              <a:defRPr sz="1125" b="0">
                <a:solidFill>
                  <a:srgbClr val="444444"/>
                </a:solidFill>
                <a:latin typeface="Calibri"/>
                <a:ea typeface="Calibri"/>
                <a:cs typeface="Calibri"/>
              </a:defRPr>
            </a:lvl1pPr>
            <a:lvl2pPr>
              <a:defRPr sz="1125" b="0">
                <a:solidFill>
                  <a:srgbClr val="444444"/>
                </a:solidFill>
                <a:latin typeface="Calibri"/>
                <a:ea typeface="Calibri"/>
                <a:cs typeface="Calibri"/>
              </a:defRPr>
            </a:lvl2pPr>
            <a:lvl3pPr>
              <a:defRPr sz="1125" b="0">
                <a:solidFill>
                  <a:srgbClr val="444444"/>
                </a:solidFill>
                <a:latin typeface="Calibri"/>
                <a:ea typeface="Calibri"/>
                <a:cs typeface="Calibri"/>
              </a:defRPr>
            </a:lvl3pPr>
            <a:lvl4pPr>
              <a:defRPr sz="1125" b="0">
                <a:solidFill>
                  <a:srgbClr val="444444"/>
                </a:solidFill>
                <a:latin typeface="Calibri"/>
                <a:ea typeface="Calibri"/>
                <a:cs typeface="Calibri"/>
              </a:defRPr>
            </a:lvl4pPr>
            <a:lvl5pPr>
              <a:defRPr sz="1125" b="0">
                <a:solidFill>
                  <a:srgbClr val="444444"/>
                </a:solidFill>
                <a:latin typeface="Calibri"/>
                <a:ea typeface="Calibri"/>
                <a:cs typeface="Calibri"/>
              </a:defRPr>
            </a:lvl5pPr>
            <a:lvl6pPr>
              <a:defRPr sz="1125" b="0">
                <a:solidFill>
                  <a:srgbClr val="444444"/>
                </a:solidFill>
                <a:latin typeface="Calibri"/>
                <a:ea typeface="Calibri"/>
                <a:cs typeface="Calibri"/>
              </a:defRPr>
            </a:lvl6pPr>
            <a:lvl7pPr>
              <a:defRPr sz="1125" b="0">
                <a:solidFill>
                  <a:srgbClr val="444444"/>
                </a:solidFill>
                <a:latin typeface="Calibri"/>
                <a:ea typeface="Calibri"/>
                <a:cs typeface="Calibri"/>
              </a:defRPr>
            </a:lvl7pPr>
            <a:lvl8pPr>
              <a:defRPr sz="1125" b="0">
                <a:solidFill>
                  <a:srgbClr val="444444"/>
                </a:solidFill>
                <a:latin typeface="Calibri"/>
                <a:ea typeface="Calibri"/>
                <a:cs typeface="Calibri"/>
              </a:defRPr>
            </a:lvl8pPr>
            <a:lvl9pPr>
              <a:defRPr sz="1125" b="0">
                <a:solidFill>
                  <a:srgbClr val="444444"/>
                </a:solidFill>
                <a:latin typeface="Calibri"/>
                <a:ea typeface="Calibri"/>
                <a:cs typeface="Calibri"/>
              </a:defRPr>
            </a:lvl9pPr>
          </a:lstStyle>
          <a:p>
            <a:pPr>
              <a:defRPr sz="1125" b="0">
                <a:solidFill>
                  <a:srgbClr val="444444"/>
                </a:solidFill>
                <a:latin typeface="Calibri"/>
                <a:ea typeface="Calibri"/>
                <a:cs typeface="Calibri"/>
              </a:defRPr>
            </a:pPr>
            <a:endParaRPr sz="1125" b="0">
              <a:solidFill>
                <a:srgbClr val="444444"/>
              </a:solidFill>
              <a:latin typeface="Calibri"/>
              <a:ea typeface="Calibri"/>
              <a:cs typeface="Calibri"/>
            </a:endParaRPr>
          </a:p>
        </p:txBody>
      </p:sp>
      <p:graphicFrame>
        <p:nvGraphicFramePr>
          <p:cNvPr id="4" name="Table 3">
            <a:extLst>
              <a:ext uri="{FF2B5EF4-FFF2-40B4-BE49-F238E27FC236}">
                <a16:creationId xmlns:a16="http://schemas.microsoft.com/office/drawing/2014/main" id="{A15157B5-1844-4437-903B-5F1B917EA937}"/>
              </a:ext>
            </a:extLst>
          </p:cNvPr>
          <p:cNvGraphicFramePr/>
          <p:nvPr/>
        </p:nvGraphicFramePr>
        <p:xfrm>
          <a:off x="476250" y="1657350"/>
          <a:ext cx="11239500" cy="2381250"/>
        </p:xfrm>
        <a:graphic>
          <a:graphicData uri="http://schemas.openxmlformats.org/drawingml/2006/table">
            <a:tbl>
              <a:tblPr/>
              <a:tblGrid>
                <a:gridCol w="381000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gridCol w="1428750">
                  <a:extLst>
                    <a:ext uri="{9D8B030D-6E8A-4147-A177-3AD203B41FA5}">
                      <a16:colId xmlns:a16="http://schemas.microsoft.com/office/drawing/2014/main" val="20002"/>
                    </a:ext>
                  </a:extLst>
                </a:gridCol>
                <a:gridCol w="4191000">
                  <a:extLst>
                    <a:ext uri="{9D8B030D-6E8A-4147-A177-3AD203B41FA5}">
                      <a16:colId xmlns:a16="http://schemas.microsoft.com/office/drawing/2014/main" val="20003"/>
                    </a:ext>
                  </a:extLst>
                </a:gridCol>
              </a:tblGrid>
              <a:tr h="476250">
                <a:tc>
                  <a:txBody>
                    <a:bodyPr/>
                    <a:lstStyle/>
                    <a:p>
                      <a:r>
                        <a:rPr sz="1500" b="1">
                          <a:solidFill>
                            <a:srgbClr val="000000"/>
                          </a:solidFill>
                          <a:latin typeface="Calibri"/>
                          <a:ea typeface="Calibri"/>
                          <a:cs typeface="Calibri"/>
                        </a:rPr>
                        <a:t>Clean-sheet lift prop: D = 2.162 m</a:t>
                      </a:r>
                    </a:p>
                  </a:txBody>
                  <a:tcPr>
                    <a:lnL w="9525">
                      <a:solidFill>
                        <a:srgbClr val="BBBBBB"/>
                      </a:solidFill>
                    </a:lnL>
                    <a:lnR w="9525">
                      <a:solidFill>
                        <a:srgbClr val="BBBBBB"/>
                      </a:solidFill>
                    </a:lnR>
                    <a:lnT w="9525">
                      <a:solidFill>
                        <a:srgbClr val="BBBBBB"/>
                      </a:solidFill>
                    </a:lnT>
                    <a:lnB w="9525">
                      <a:solidFill>
                        <a:srgbClr val="BBBBBB"/>
                      </a:solidFill>
                    </a:lnB>
                    <a:solidFill>
                      <a:srgbClr val="D9D9D9"/>
                    </a:solidFill>
                  </a:tcPr>
                </a:tc>
                <a:tc>
                  <a:txBody>
                    <a:bodyPr/>
                    <a:lstStyle/>
                    <a:p>
                      <a:r>
                        <a:rPr sz="1500" b="1">
                          <a:solidFill>
                            <a:srgbClr val="000000"/>
                          </a:solidFill>
                          <a:latin typeface="Calibri"/>
                          <a:ea typeface="Calibri"/>
                          <a:cs typeface="Calibri"/>
                        </a:rPr>
                        <a:t>Tip speed, m/s</a:t>
                      </a:r>
                    </a:p>
                  </a:txBody>
                  <a:tcPr>
                    <a:lnL w="9525" cap="flat" cmpd="sng" algn="ctr">
                      <a:solidFill>
                        <a:srgbClr val="BBBBBB"/>
                      </a:solidFill>
                      <a:prstDash val="solid"/>
                      <a:round/>
                      <a:headEnd type="none" w="med" len="med"/>
                      <a:tailEnd type="none" w="med" len="med"/>
                    </a:lnL>
                    <a:lnR w="9525">
                      <a:solidFill>
                        <a:srgbClr val="BBBBBB"/>
                      </a:solidFill>
                    </a:lnR>
                    <a:lnT w="9525">
                      <a:solidFill>
                        <a:srgbClr val="BBBBBB"/>
                      </a:solidFill>
                    </a:lnT>
                    <a:lnB w="9525">
                      <a:solidFill>
                        <a:srgbClr val="BBBBBB"/>
                      </a:solidFill>
                    </a:lnB>
                    <a:solidFill>
                      <a:srgbClr val="D9D9D9"/>
                    </a:solidFill>
                  </a:tcPr>
                </a:tc>
                <a:tc>
                  <a:txBody>
                    <a:bodyPr/>
                    <a:lstStyle/>
                    <a:p>
                      <a:r>
                        <a:rPr sz="1500" b="1">
                          <a:solidFill>
                            <a:srgbClr val="000000"/>
                          </a:solidFill>
                          <a:latin typeface="Calibri"/>
                          <a:ea typeface="Calibri"/>
                          <a:cs typeface="Calibri"/>
                        </a:rPr>
                        <a:t>RPM</a:t>
                      </a:r>
                    </a:p>
                  </a:txBody>
                  <a:tcPr>
                    <a:lnL w="9525" cap="flat" cmpd="sng" algn="ctr">
                      <a:solidFill>
                        <a:srgbClr val="BBBBBB"/>
                      </a:solidFill>
                      <a:prstDash val="solid"/>
                      <a:round/>
                      <a:headEnd type="none" w="med" len="med"/>
                      <a:tailEnd type="none" w="med" len="med"/>
                    </a:lnL>
                    <a:lnR w="9525">
                      <a:solidFill>
                        <a:srgbClr val="BBBBBB"/>
                      </a:solidFill>
                    </a:lnR>
                    <a:lnT w="9525">
                      <a:solidFill>
                        <a:srgbClr val="BBBBBB"/>
                      </a:solidFill>
                    </a:lnT>
                    <a:lnB w="9525">
                      <a:solidFill>
                        <a:srgbClr val="BBBBBB"/>
                      </a:solidFill>
                    </a:lnB>
                    <a:solidFill>
                      <a:srgbClr val="D9D9D9"/>
                    </a:solidFill>
                  </a:tcPr>
                </a:tc>
                <a:tc>
                  <a:txBody>
                    <a:bodyPr/>
                    <a:lstStyle/>
                    <a:p>
                      <a:r>
                        <a:rPr sz="1500" b="1">
                          <a:solidFill>
                            <a:srgbClr val="000000"/>
                          </a:solidFill>
                          <a:latin typeface="Calibri"/>
                          <a:ea typeface="Calibri"/>
                          <a:cs typeface="Calibri"/>
                        </a:rPr>
                        <a:t>Interpretation</a:t>
                      </a:r>
                    </a:p>
                  </a:txBody>
                  <a:tcPr>
                    <a:lnL w="9525" cap="flat" cmpd="sng" algn="ctr">
                      <a:solidFill>
                        <a:srgbClr val="BBBBBB"/>
                      </a:solidFill>
                      <a:prstDash val="solid"/>
                      <a:round/>
                      <a:headEnd type="none" w="med" len="med"/>
                      <a:tailEnd type="none" w="med" len="med"/>
                    </a:lnL>
                    <a:lnR w="9525">
                      <a:solidFill>
                        <a:srgbClr val="BBBBBB"/>
                      </a:solidFill>
                    </a:lnR>
                    <a:lnT w="9525">
                      <a:solidFill>
                        <a:srgbClr val="BBBBBB"/>
                      </a:solidFill>
                    </a:lnT>
                    <a:lnB w="9525">
                      <a:solidFill>
                        <a:srgbClr val="BBBBBB"/>
                      </a:solidFill>
                    </a:lnB>
                    <a:solidFill>
                      <a:srgbClr val="D9D9D9"/>
                    </a:solidFill>
                  </a:tcPr>
                </a:tc>
                <a:extLst>
                  <a:ext uri="{0D108BD9-81ED-4DB2-BD59-A6C34878D82A}">
                    <a16:rowId xmlns:a16="http://schemas.microsoft.com/office/drawing/2014/main" val="10000"/>
                  </a:ext>
                </a:extLst>
              </a:tr>
              <a:tr h="476250">
                <a:tc>
                  <a:txBody>
                    <a:bodyPr/>
                    <a:lstStyle/>
                    <a:p>
                      <a:r>
                        <a:rPr sz="1500" b="0">
                          <a:solidFill>
                            <a:srgbClr val="000000"/>
                          </a:solidFill>
                          <a:latin typeface="Calibri"/>
                          <a:ea typeface="Calibri"/>
                          <a:cs typeface="Calibri"/>
                        </a:rPr>
                        <a:t>Current corrected design</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500" b="0">
                          <a:solidFill>
                            <a:srgbClr val="000000"/>
                          </a:solidFill>
                          <a:latin typeface="Calibri"/>
                          <a:ea typeface="Calibri"/>
                          <a:cs typeface="Calibri"/>
                        </a:rPr>
                        <a:t>152.4</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500" b="0">
                          <a:solidFill>
                            <a:srgbClr val="000000"/>
                          </a:solidFill>
                          <a:latin typeface="Calibri"/>
                          <a:ea typeface="Calibri"/>
                          <a:cs typeface="Calibri"/>
                        </a:rPr>
                        <a:t>1,347</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500" b="0">
                          <a:solidFill>
                            <a:srgbClr val="000000"/>
                          </a:solidFill>
                          <a:latin typeface="Calibri"/>
                          <a:ea typeface="Calibri"/>
                          <a:cs typeface="Calibri"/>
                        </a:rPr>
                        <a:t>Below published REB30 1,500–4,000 rpm band</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extLst>
                  <a:ext uri="{0D108BD9-81ED-4DB2-BD59-A6C34878D82A}">
                    <a16:rowId xmlns:a16="http://schemas.microsoft.com/office/drawing/2014/main" val="10001"/>
                  </a:ext>
                </a:extLst>
              </a:tr>
              <a:tr h="476250">
                <a:tc>
                  <a:txBody>
                    <a:bodyPr/>
                    <a:lstStyle/>
                    <a:p>
                      <a:r>
                        <a:rPr sz="1500" b="0">
                          <a:solidFill>
                            <a:srgbClr val="000000"/>
                          </a:solidFill>
                          <a:latin typeface="Calibri"/>
                          <a:ea typeface="Calibri"/>
                          <a:cs typeface="Calibri"/>
                        </a:rPr>
                        <a:t>Tip Mach 0.50, sea-level ISA</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500" b="0">
                          <a:solidFill>
                            <a:srgbClr val="000000"/>
                          </a:solidFill>
                          <a:latin typeface="Calibri"/>
                          <a:ea typeface="Calibri"/>
                          <a:cs typeface="Calibri"/>
                        </a:rPr>
                        <a:t>170.2</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500" b="0">
                          <a:solidFill>
                            <a:srgbClr val="000000"/>
                          </a:solidFill>
                          <a:latin typeface="Calibri"/>
                          <a:ea typeface="Calibri"/>
                          <a:cs typeface="Calibri"/>
                        </a:rPr>
                        <a:t>1,503</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500" b="0">
                          <a:solidFill>
                            <a:srgbClr val="000000"/>
                          </a:solidFill>
                          <a:latin typeface="Calibri"/>
                          <a:ea typeface="Calibri"/>
                          <a:cs typeface="Calibri"/>
                        </a:rPr>
                        <a:t>Near published lower speed</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extLst>
                  <a:ext uri="{0D108BD9-81ED-4DB2-BD59-A6C34878D82A}">
                    <a16:rowId xmlns:a16="http://schemas.microsoft.com/office/drawing/2014/main" val="10002"/>
                  </a:ext>
                </a:extLst>
              </a:tr>
              <a:tr h="476250">
                <a:tc>
                  <a:txBody>
                    <a:bodyPr/>
                    <a:lstStyle/>
                    <a:p>
                      <a:r>
                        <a:rPr sz="1500" b="0">
                          <a:solidFill>
                            <a:srgbClr val="000000"/>
                          </a:solidFill>
                          <a:latin typeface="Calibri"/>
                          <a:ea typeface="Calibri"/>
                          <a:cs typeface="Calibri"/>
                        </a:rPr>
                        <a:t>Tip Mach 0.60, sea-level ISA</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500" b="0">
                          <a:solidFill>
                            <a:srgbClr val="000000"/>
                          </a:solidFill>
                          <a:latin typeface="Calibri"/>
                          <a:ea typeface="Calibri"/>
                          <a:cs typeface="Calibri"/>
                        </a:rPr>
                        <a:t>204.2</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500" b="0">
                          <a:solidFill>
                            <a:srgbClr val="000000"/>
                          </a:solidFill>
                          <a:latin typeface="Calibri"/>
                          <a:ea typeface="Calibri"/>
                          <a:cs typeface="Calibri"/>
                        </a:rPr>
                        <a:t>1,804</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500" b="0">
                          <a:solidFill>
                            <a:srgbClr val="000000"/>
                          </a:solidFill>
                          <a:latin typeface="Calibri"/>
                          <a:ea typeface="Calibri"/>
                          <a:cs typeface="Calibri"/>
                        </a:rPr>
                        <a:t>Within current 220 m/s tip-speed screen</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extLst>
                  <a:ext uri="{0D108BD9-81ED-4DB2-BD59-A6C34878D82A}">
                    <a16:rowId xmlns:a16="http://schemas.microsoft.com/office/drawing/2014/main" val="10003"/>
                  </a:ext>
                </a:extLst>
              </a:tr>
              <a:tr h="476250">
                <a:tc>
                  <a:txBody>
                    <a:bodyPr/>
                    <a:lstStyle/>
                    <a:p>
                      <a:r>
                        <a:rPr sz="1500" b="0">
                          <a:solidFill>
                            <a:srgbClr val="000000"/>
                          </a:solidFill>
                          <a:latin typeface="Calibri"/>
                          <a:ea typeface="Calibri"/>
                          <a:cs typeface="Calibri"/>
                        </a:rPr>
                        <a:t>Tip Mach 0.70, sea-level ISA</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500" b="0">
                          <a:solidFill>
                            <a:srgbClr val="000000"/>
                          </a:solidFill>
                          <a:latin typeface="Calibri"/>
                          <a:ea typeface="Calibri"/>
                          <a:cs typeface="Calibri"/>
                        </a:rPr>
                        <a:t>238.2</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500" b="0">
                          <a:solidFill>
                            <a:srgbClr val="000000"/>
                          </a:solidFill>
                          <a:latin typeface="Calibri"/>
                          <a:ea typeface="Calibri"/>
                          <a:cs typeface="Calibri"/>
                        </a:rPr>
                        <a:t>2,104</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500" b="0">
                          <a:solidFill>
                            <a:srgbClr val="000000"/>
                          </a:solidFill>
                          <a:latin typeface="Calibri"/>
                          <a:ea typeface="Calibri"/>
                          <a:cs typeface="Calibri"/>
                        </a:rPr>
                        <a:t>Exceeds current 220 m/s screen</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25E1AEE9-4769-4D56-9A41-3D719136B8A8}"/>
              </a:ext>
            </a:extLst>
          </p:cNvPr>
          <p:cNvSpPr>
            <a:spLocks noGrp="1"/>
          </p:cNvSpPr>
          <p:nvPr/>
        </p:nvSpPr>
        <p:spPr>
          <a:xfrm>
            <a:off x="476250" y="4286250"/>
            <a:ext cx="11239500" cy="666750"/>
          </a:xfrm>
          <a:prstGeom prst="rect">
            <a:avLst/>
          </a:prstGeom>
          <a:noFill/>
          <a:ln w="0">
            <a:noFill/>
            <a:prstDash val="solid"/>
          </a:ln>
        </p:spPr>
        <p:txBody>
          <a:bodyPr lIns="0" tIns="0" rIns="0" bIns="0"/>
          <a:lstStyle>
            <a:defPPr>
              <a:defRPr sz="1800" b="1">
                <a:solidFill>
                  <a:srgbClr val="000000"/>
                </a:solidFill>
                <a:latin typeface="Calibri"/>
                <a:ea typeface="Calibri"/>
                <a:cs typeface="Calibri"/>
              </a:defRPr>
            </a:defPPr>
            <a:lvl1pPr>
              <a:defRPr sz="1800" b="1">
                <a:solidFill>
                  <a:srgbClr val="000000"/>
                </a:solidFill>
                <a:latin typeface="Calibri"/>
                <a:ea typeface="Calibri"/>
                <a:cs typeface="Calibri"/>
              </a:defRPr>
            </a:lvl1pPr>
            <a:lvl2pPr>
              <a:defRPr sz="1800" b="1">
                <a:solidFill>
                  <a:srgbClr val="000000"/>
                </a:solidFill>
                <a:latin typeface="Calibri"/>
                <a:ea typeface="Calibri"/>
                <a:cs typeface="Calibri"/>
              </a:defRPr>
            </a:lvl2pPr>
            <a:lvl3pPr>
              <a:defRPr sz="1800" b="1">
                <a:solidFill>
                  <a:srgbClr val="000000"/>
                </a:solidFill>
                <a:latin typeface="Calibri"/>
                <a:ea typeface="Calibri"/>
                <a:cs typeface="Calibri"/>
              </a:defRPr>
            </a:lvl3pPr>
            <a:lvl4pPr>
              <a:defRPr sz="1800" b="1">
                <a:solidFill>
                  <a:srgbClr val="000000"/>
                </a:solidFill>
                <a:latin typeface="Calibri"/>
                <a:ea typeface="Calibri"/>
                <a:cs typeface="Calibri"/>
              </a:defRPr>
            </a:lvl4pPr>
            <a:lvl5pPr>
              <a:defRPr sz="1800" b="1">
                <a:solidFill>
                  <a:srgbClr val="000000"/>
                </a:solidFill>
                <a:latin typeface="Calibri"/>
                <a:ea typeface="Calibri"/>
                <a:cs typeface="Calibri"/>
              </a:defRPr>
            </a:lvl5pPr>
            <a:lvl6pPr>
              <a:defRPr sz="1800" b="1">
                <a:solidFill>
                  <a:srgbClr val="000000"/>
                </a:solidFill>
                <a:latin typeface="Calibri"/>
                <a:ea typeface="Calibri"/>
                <a:cs typeface="Calibri"/>
              </a:defRPr>
            </a:lvl6pPr>
            <a:lvl7pPr>
              <a:defRPr sz="1800" b="1">
                <a:solidFill>
                  <a:srgbClr val="000000"/>
                </a:solidFill>
                <a:latin typeface="Calibri"/>
                <a:ea typeface="Calibri"/>
                <a:cs typeface="Calibri"/>
              </a:defRPr>
            </a:lvl7pPr>
            <a:lvl8pPr>
              <a:defRPr sz="1800" b="1">
                <a:solidFill>
                  <a:srgbClr val="000000"/>
                </a:solidFill>
                <a:latin typeface="Calibri"/>
                <a:ea typeface="Calibri"/>
                <a:cs typeface="Calibri"/>
              </a:defRPr>
            </a:lvl8pPr>
            <a:lvl9pPr>
              <a:defRPr sz="1800" b="1">
                <a:solidFill>
                  <a:srgbClr val="000000"/>
                </a:solidFill>
                <a:latin typeface="Calibri"/>
                <a:ea typeface="Calibri"/>
                <a:cs typeface="Calibri"/>
              </a:defRPr>
            </a:lvl9pPr>
          </a:lstStyle>
          <a:p>
            <a:pPr>
              <a:defRPr sz="1800" b="1">
                <a:solidFill>
                  <a:srgbClr val="000000"/>
                </a:solidFill>
                <a:latin typeface="Calibri"/>
                <a:ea typeface="Calibri"/>
                <a:cs typeface="Calibri"/>
              </a:defRPr>
            </a:pPr>
            <a:r>
              <a:rPr sz="1800" b="1">
                <a:solidFill>
                  <a:srgbClr val="000000"/>
                </a:solidFill>
                <a:latin typeface="Calibri"/>
                <a:ea typeface="Calibri"/>
                <a:cs typeface="Calibri"/>
              </a:rPr>
              <a:t>Higher RPM is a candidate trade, not an established optimum. Recheck pitch, torque, rotor profile power, noise and the motor efficiency map together.</a:t>
            </a:r>
          </a:p>
        </p:txBody>
      </p:sp>
      <p:sp>
        <p:nvSpPr>
          <p:cNvPr id="6" name="Rectangle 5">
            <a:extLst>
              <a:ext uri="{FF2B5EF4-FFF2-40B4-BE49-F238E27FC236}">
                <a16:creationId xmlns:a16="http://schemas.microsoft.com/office/drawing/2014/main" id="{94DCA3FB-F8EF-479B-B925-74AC8AA04D5F}"/>
              </a:ext>
            </a:extLst>
          </p:cNvPr>
          <p:cNvSpPr>
            <a:spLocks noGrp="1"/>
          </p:cNvSpPr>
          <p:nvPr/>
        </p:nvSpPr>
        <p:spPr>
          <a:xfrm>
            <a:off x="476250" y="5219700"/>
            <a:ext cx="11239500" cy="685800"/>
          </a:xfrm>
          <a:prstGeom prst="rect">
            <a:avLst/>
          </a:prstGeom>
          <a:noFill/>
          <a:ln w="0">
            <a:noFill/>
            <a:prstDash val="solid"/>
          </a:ln>
        </p:spPr>
        <p:txBody>
          <a:bodyPr lIns="0" tIns="0" rIns="0" bIns="0"/>
          <a:lstStyle>
            <a:defPPr>
              <a:defRPr sz="1650" b="0">
                <a:solidFill>
                  <a:srgbClr val="000000"/>
                </a:solidFill>
                <a:latin typeface="Calibri"/>
                <a:ea typeface="Calibri"/>
                <a:cs typeface="Calibri"/>
              </a:defRPr>
            </a:defPPr>
            <a:lvl1pPr>
              <a:defRPr sz="1650" b="0">
                <a:solidFill>
                  <a:srgbClr val="000000"/>
                </a:solidFill>
                <a:latin typeface="Calibri"/>
                <a:ea typeface="Calibri"/>
                <a:cs typeface="Calibri"/>
              </a:defRPr>
            </a:lvl1pPr>
            <a:lvl2pPr>
              <a:defRPr sz="1650" b="0">
                <a:solidFill>
                  <a:srgbClr val="000000"/>
                </a:solidFill>
                <a:latin typeface="Calibri"/>
                <a:ea typeface="Calibri"/>
                <a:cs typeface="Calibri"/>
              </a:defRPr>
            </a:lvl2pPr>
            <a:lvl3pPr>
              <a:defRPr sz="1650" b="0">
                <a:solidFill>
                  <a:srgbClr val="000000"/>
                </a:solidFill>
                <a:latin typeface="Calibri"/>
                <a:ea typeface="Calibri"/>
                <a:cs typeface="Calibri"/>
              </a:defRPr>
            </a:lvl3pPr>
            <a:lvl4pPr>
              <a:defRPr sz="1650" b="0">
                <a:solidFill>
                  <a:srgbClr val="000000"/>
                </a:solidFill>
                <a:latin typeface="Calibri"/>
                <a:ea typeface="Calibri"/>
                <a:cs typeface="Calibri"/>
              </a:defRPr>
            </a:lvl4pPr>
            <a:lvl5pPr>
              <a:defRPr sz="1650" b="0">
                <a:solidFill>
                  <a:srgbClr val="000000"/>
                </a:solidFill>
                <a:latin typeface="Calibri"/>
                <a:ea typeface="Calibri"/>
                <a:cs typeface="Calibri"/>
              </a:defRPr>
            </a:lvl5pPr>
            <a:lvl6pPr>
              <a:defRPr sz="1650" b="0">
                <a:solidFill>
                  <a:srgbClr val="000000"/>
                </a:solidFill>
                <a:latin typeface="Calibri"/>
                <a:ea typeface="Calibri"/>
                <a:cs typeface="Calibri"/>
              </a:defRPr>
            </a:lvl6pPr>
            <a:lvl7pPr>
              <a:defRPr sz="1650" b="0">
                <a:solidFill>
                  <a:srgbClr val="000000"/>
                </a:solidFill>
                <a:latin typeface="Calibri"/>
                <a:ea typeface="Calibri"/>
                <a:cs typeface="Calibri"/>
              </a:defRPr>
            </a:lvl7pPr>
            <a:lvl8pPr>
              <a:defRPr sz="1650" b="0">
                <a:solidFill>
                  <a:srgbClr val="000000"/>
                </a:solidFill>
                <a:latin typeface="Calibri"/>
                <a:ea typeface="Calibri"/>
                <a:cs typeface="Calibri"/>
              </a:defRPr>
            </a:lvl8pPr>
            <a:lvl9pPr>
              <a:defRPr sz="1650" b="0">
                <a:solidFill>
                  <a:srgbClr val="000000"/>
                </a:solidFill>
                <a:latin typeface="Calibri"/>
                <a:ea typeface="Calibri"/>
                <a:cs typeface="Calibri"/>
              </a:defRPr>
            </a:lvl9pPr>
          </a:lstStyle>
          <a:p>
            <a:pPr>
              <a:defRPr sz="1650" b="0">
                <a:solidFill>
                  <a:srgbClr val="000000"/>
                </a:solidFill>
                <a:latin typeface="Calibri"/>
                <a:ea typeface="Calibri"/>
                <a:cs typeface="Calibri"/>
              </a:defRPr>
            </a:pPr>
            <a:r>
              <a:rPr sz="1650" b="0">
                <a:solidFill>
                  <a:srgbClr val="000000"/>
                </a:solidFill>
                <a:latin typeface="Calibri"/>
                <a:ea typeface="Calibri"/>
                <a:cs typeface="Calibri"/>
              </a:rPr>
              <a:t>Piston TR drive allocation: 13.8 kg gearboxes + 3.6 kg shafts + 0.2 kg brake. No matched COTS gearbox has been verified. TE generator / motor / bus installation is also open.</a:t>
            </a:r>
          </a:p>
        </p:txBody>
      </p:sp>
      <p:sp>
        <p:nvSpPr>
          <p:cNvPr id="7" name="Rectangle 6">
            <a:extLst>
              <a:ext uri="{FF2B5EF4-FFF2-40B4-BE49-F238E27FC236}">
                <a16:creationId xmlns:a16="http://schemas.microsoft.com/office/drawing/2014/main" id="{F20125B1-E17B-4771-9593-F9B015816D7B}"/>
              </a:ext>
            </a:extLst>
          </p:cNvPr>
          <p:cNvSpPr>
            <a:spLocks noGrp="1"/>
          </p:cNvSpPr>
          <p:nvPr/>
        </p:nvSpPr>
        <p:spPr>
          <a:xfrm>
            <a:off x="476250" y="6400800"/>
            <a:ext cx="10810875" cy="381000"/>
          </a:xfrm>
          <a:prstGeom prst="rect">
            <a:avLst/>
          </a:prstGeom>
          <a:noFill/>
          <a:ln w="0">
            <a:noFill/>
            <a:prstDash val="solid"/>
          </a:ln>
        </p:spPr>
        <p:txBody>
          <a:bodyPr lIns="0" tIns="0" rIns="0" bIns="0"/>
          <a:lstStyle>
            <a:defPPr>
              <a:defRPr sz="1125" b="0">
                <a:solidFill>
                  <a:srgbClr val="444444"/>
                </a:solidFill>
                <a:latin typeface="Calibri"/>
                <a:ea typeface="Calibri"/>
                <a:cs typeface="Calibri"/>
              </a:defRPr>
            </a:defPPr>
            <a:lvl1pPr>
              <a:defRPr sz="1125" b="0">
                <a:solidFill>
                  <a:srgbClr val="444444"/>
                </a:solidFill>
                <a:latin typeface="Calibri"/>
                <a:ea typeface="Calibri"/>
                <a:cs typeface="Calibri"/>
              </a:defRPr>
            </a:lvl1pPr>
            <a:lvl2pPr>
              <a:defRPr sz="1125" b="0">
                <a:solidFill>
                  <a:srgbClr val="444444"/>
                </a:solidFill>
                <a:latin typeface="Calibri"/>
                <a:ea typeface="Calibri"/>
                <a:cs typeface="Calibri"/>
              </a:defRPr>
            </a:lvl2pPr>
            <a:lvl3pPr>
              <a:defRPr sz="1125" b="0">
                <a:solidFill>
                  <a:srgbClr val="444444"/>
                </a:solidFill>
                <a:latin typeface="Calibri"/>
                <a:ea typeface="Calibri"/>
                <a:cs typeface="Calibri"/>
              </a:defRPr>
            </a:lvl3pPr>
            <a:lvl4pPr>
              <a:defRPr sz="1125" b="0">
                <a:solidFill>
                  <a:srgbClr val="444444"/>
                </a:solidFill>
                <a:latin typeface="Calibri"/>
                <a:ea typeface="Calibri"/>
                <a:cs typeface="Calibri"/>
              </a:defRPr>
            </a:lvl4pPr>
            <a:lvl5pPr>
              <a:defRPr sz="1125" b="0">
                <a:solidFill>
                  <a:srgbClr val="444444"/>
                </a:solidFill>
                <a:latin typeface="Calibri"/>
                <a:ea typeface="Calibri"/>
                <a:cs typeface="Calibri"/>
              </a:defRPr>
            </a:lvl5pPr>
            <a:lvl6pPr>
              <a:defRPr sz="1125" b="0">
                <a:solidFill>
                  <a:srgbClr val="444444"/>
                </a:solidFill>
                <a:latin typeface="Calibri"/>
                <a:ea typeface="Calibri"/>
                <a:cs typeface="Calibri"/>
              </a:defRPr>
            </a:lvl6pPr>
            <a:lvl7pPr>
              <a:defRPr sz="1125" b="0">
                <a:solidFill>
                  <a:srgbClr val="444444"/>
                </a:solidFill>
                <a:latin typeface="Calibri"/>
                <a:ea typeface="Calibri"/>
                <a:cs typeface="Calibri"/>
              </a:defRPr>
            </a:lvl7pPr>
            <a:lvl8pPr>
              <a:defRPr sz="1125" b="0">
                <a:solidFill>
                  <a:srgbClr val="444444"/>
                </a:solidFill>
                <a:latin typeface="Calibri"/>
                <a:ea typeface="Calibri"/>
                <a:cs typeface="Calibri"/>
              </a:defRPr>
            </a:lvl8pPr>
            <a:lvl9pPr>
              <a:defRPr sz="1125" b="0">
                <a:solidFill>
                  <a:srgbClr val="444444"/>
                </a:solidFill>
                <a:latin typeface="Calibri"/>
                <a:ea typeface="Calibri"/>
                <a:cs typeface="Calibri"/>
              </a:defRPr>
            </a:lvl9pPr>
          </a:lstStyle>
          <a:p>
            <a:pPr>
              <a:defRPr sz="1125" b="0">
                <a:solidFill>
                  <a:srgbClr val="444444"/>
                </a:solidFill>
                <a:latin typeface="Calibri"/>
                <a:ea typeface="Calibri"/>
                <a:cs typeface="Calibri"/>
              </a:defRPr>
            </a:pPr>
            <a:r>
              <a:rPr sz="1125" b="0">
                <a:solidFill>
                  <a:srgbClr val="444444"/>
                </a:solidFill>
                <a:latin typeface="Calibri"/>
                <a:ea typeface="Calibri"/>
                <a:cs typeface="Calibri"/>
              </a:rPr>
              <a:t>[R10] MGM COMPRO, REB30 published operating range. [S7] Corrected clean-sheet rotor dimensions. [S1] Piston drive breakdown.</a:t>
            </a:r>
          </a:p>
          <a:p>
            <a:pPr>
              <a:defRPr sz="1125" b="0">
                <a:solidFill>
                  <a:srgbClr val="444444"/>
                </a:solidFill>
                <a:latin typeface="Calibri"/>
                <a:ea typeface="Calibri"/>
                <a:cs typeface="Calibri"/>
              </a:defRPr>
            </a:pPr>
            <a:r>
              <a:rPr sz="1125" b="0">
                <a:solidFill>
                  <a:srgbClr val="444444"/>
                </a:solidFill>
                <a:latin typeface="Calibri"/>
                <a:ea typeface="Calibri"/>
                <a:cs typeface="Calibri"/>
              </a:rPr>
              <a:t>Mach uses rotation-only tip speed and a = 340.3 m/s. Forward flight and atmospheric conditions change local tip Mach.</a:t>
            </a:r>
          </a:p>
        </p:txBody>
      </p:sp>
      <p:sp>
        <p:nvSpPr>
          <p:cNvPr id="9" name="TextBox 8">
            <a:extLst>
              <a:ext uri="{FF2B5EF4-FFF2-40B4-BE49-F238E27FC236}">
                <a16:creationId xmlns:a16="http://schemas.microsoft.com/office/drawing/2014/main" id="{CD4AC1F8-BFA5-EDBF-1A74-2B323DEC96CB}"/>
              </a:ext>
            </a:extLst>
          </p:cNvPr>
          <p:cNvSpPr txBox="1"/>
          <p:nvPr/>
        </p:nvSpPr>
        <p:spPr>
          <a:xfrm>
            <a:off x="11671300" y="6527800"/>
            <a:ext cx="355600" cy="153888"/>
          </a:xfrm>
          <a:prstGeom prst="rect">
            <a:avLst/>
          </a:prstGeom>
          <a:noFill/>
        </p:spPr>
        <p:txBody>
          <a:bodyPr vert="horz" lIns="0" tIns="0" rIns="0" bIns="0" rtlCol="0">
            <a:spAutoFit/>
          </a:bodyPr>
          <a:lstStyle/>
          <a:p>
            <a:r>
              <a:rPr lang="en-US" sz="1000">
                <a:solidFill>
                  <a:srgbClr val="000000"/>
                </a:solidFill>
                <a:latin typeface="Calibri" panose="020F0502020204030204" pitchFamily="34" charset="0"/>
              </a:rPr>
              <a:t>24</a:t>
            </a:r>
          </a:p>
        </p:txBody>
      </p:sp>
    </p:spTree>
    <p:extLst>
      <p:ext uri="{BB962C8B-B14F-4D97-AF65-F5344CB8AC3E}">
        <p14:creationId xmlns:p14="http://schemas.microsoft.com/office/powerpoint/2010/main" val="261047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90DB725-2F36-47FA-85C2-BF37013A58C3}"/>
              </a:ext>
            </a:extLst>
          </p:cNvPr>
          <p:cNvSpPr>
            <a:spLocks noGrp="1"/>
          </p:cNvSpPr>
          <p:nvPr/>
        </p:nvSpPr>
        <p:spPr>
          <a:xfrm>
            <a:off x="838200" y="361950"/>
            <a:ext cx="10896600" cy="571500"/>
          </a:xfrm>
          <a:prstGeom prst="rect">
            <a:avLst/>
          </a:prstGeom>
          <a:noFill/>
          <a:ln w="0">
            <a:noFill/>
          </a:ln>
        </p:spPr>
        <p:txBody>
          <a:bodyPr/>
          <a:lstStyle>
            <a:defPPr>
              <a:defRPr sz="2775" b="1">
                <a:solidFill>
                  <a:srgbClr val="173344"/>
                </a:solidFill>
                <a:latin typeface="Arial"/>
                <a:ea typeface="Arial"/>
                <a:cs typeface="Arial"/>
              </a:defRPr>
            </a:defPPr>
            <a:lvl1pPr>
              <a:defRPr sz="2775" b="1">
                <a:solidFill>
                  <a:srgbClr val="173344"/>
                </a:solidFill>
                <a:latin typeface="Arial"/>
                <a:ea typeface="Arial"/>
                <a:cs typeface="Arial"/>
              </a:defRPr>
            </a:lvl1pPr>
            <a:lvl2pPr>
              <a:defRPr sz="2775" b="1">
                <a:solidFill>
                  <a:srgbClr val="173344"/>
                </a:solidFill>
                <a:latin typeface="Arial"/>
                <a:ea typeface="Arial"/>
                <a:cs typeface="Arial"/>
              </a:defRPr>
            </a:lvl2pPr>
            <a:lvl3pPr>
              <a:defRPr sz="2775" b="1">
                <a:solidFill>
                  <a:srgbClr val="173344"/>
                </a:solidFill>
                <a:latin typeface="Arial"/>
                <a:ea typeface="Arial"/>
                <a:cs typeface="Arial"/>
              </a:defRPr>
            </a:lvl3pPr>
            <a:lvl4pPr>
              <a:defRPr sz="2775" b="1">
                <a:solidFill>
                  <a:srgbClr val="173344"/>
                </a:solidFill>
                <a:latin typeface="Arial"/>
                <a:ea typeface="Arial"/>
                <a:cs typeface="Arial"/>
              </a:defRPr>
            </a:lvl4pPr>
            <a:lvl5pPr>
              <a:defRPr sz="2775" b="1">
                <a:solidFill>
                  <a:srgbClr val="173344"/>
                </a:solidFill>
                <a:latin typeface="Arial"/>
                <a:ea typeface="Arial"/>
                <a:cs typeface="Arial"/>
              </a:defRPr>
            </a:lvl5pPr>
            <a:lvl6pPr>
              <a:defRPr sz="2775" b="1">
                <a:solidFill>
                  <a:srgbClr val="173344"/>
                </a:solidFill>
                <a:latin typeface="Arial"/>
                <a:ea typeface="Arial"/>
                <a:cs typeface="Arial"/>
              </a:defRPr>
            </a:lvl6pPr>
            <a:lvl7pPr>
              <a:defRPr sz="2775" b="1">
                <a:solidFill>
                  <a:srgbClr val="173344"/>
                </a:solidFill>
                <a:latin typeface="Arial"/>
                <a:ea typeface="Arial"/>
                <a:cs typeface="Arial"/>
              </a:defRPr>
            </a:lvl7pPr>
            <a:lvl8pPr>
              <a:defRPr sz="2775" b="1">
                <a:solidFill>
                  <a:srgbClr val="173344"/>
                </a:solidFill>
                <a:latin typeface="Arial"/>
                <a:ea typeface="Arial"/>
                <a:cs typeface="Arial"/>
              </a:defRPr>
            </a:lvl8pPr>
            <a:lvl9pPr>
              <a:defRPr sz="2775" b="1">
                <a:solidFill>
                  <a:srgbClr val="173344"/>
                </a:solidFill>
                <a:latin typeface="Arial"/>
                <a:ea typeface="Arial"/>
                <a:cs typeface="Arial"/>
              </a:defRPr>
            </a:lvl9pPr>
          </a:lstStyle>
          <a:p>
            <a:pPr>
              <a:defRPr sz="2775" b="1">
                <a:solidFill>
                  <a:srgbClr val="173344"/>
                </a:solidFill>
                <a:latin typeface="Arial"/>
                <a:ea typeface="Arial"/>
                <a:cs typeface="Arial"/>
              </a:defRPr>
            </a:pPr>
            <a:r>
              <a:rPr sz="2400" b="1">
                <a:solidFill>
                  <a:srgbClr val="000000"/>
                </a:solidFill>
                <a:latin typeface="Calibri" panose="020F0502020204030204" pitchFamily="34" charset="0"/>
                <a:ea typeface="Arial"/>
                <a:cs typeface="Arial"/>
              </a:rPr>
              <a:t>Tiltrotor: matched engine-only and turboelectric sweeps</a:t>
            </a:r>
          </a:p>
        </p:txBody>
      </p:sp>
      <p:sp>
        <p:nvSpPr>
          <p:cNvPr id="2" name="Rectangle 1">
            <a:extLst>
              <a:ext uri="{FF2B5EF4-FFF2-40B4-BE49-F238E27FC236}">
                <a16:creationId xmlns:a16="http://schemas.microsoft.com/office/drawing/2014/main" id="{984F1B7D-CBBE-4CCA-A8C4-AAC55FB4D598}"/>
              </a:ext>
            </a:extLst>
          </p:cNvPr>
          <p:cNvSpPr>
            <a:spLocks noGrp="1"/>
          </p:cNvSpPr>
          <p:nvPr/>
        </p:nvSpPr>
        <p:spPr>
          <a:xfrm>
            <a:off x="476250" y="876300"/>
            <a:ext cx="11239500" cy="523875"/>
          </a:xfrm>
          <a:prstGeom prst="rect">
            <a:avLst/>
          </a:prstGeom>
          <a:noFill/>
          <a:ln w="0">
            <a:noFill/>
          </a:ln>
        </p:spPr>
        <p:txBody>
          <a:bodyPr/>
          <a:lstStyle>
            <a:defPPr>
              <a:defRPr sz="1575" b="0">
                <a:solidFill>
                  <a:srgbClr val="536675"/>
                </a:solidFill>
                <a:latin typeface="Arial"/>
                <a:ea typeface="Arial"/>
                <a:cs typeface="Arial"/>
              </a:defRPr>
            </a:defPPr>
            <a:lvl1pPr>
              <a:defRPr sz="1575" b="0">
                <a:solidFill>
                  <a:srgbClr val="536675"/>
                </a:solidFill>
                <a:latin typeface="Arial"/>
                <a:ea typeface="Arial"/>
                <a:cs typeface="Arial"/>
              </a:defRPr>
            </a:lvl1pPr>
            <a:lvl2pPr>
              <a:defRPr sz="1575" b="0">
                <a:solidFill>
                  <a:srgbClr val="536675"/>
                </a:solidFill>
                <a:latin typeface="Arial"/>
                <a:ea typeface="Arial"/>
                <a:cs typeface="Arial"/>
              </a:defRPr>
            </a:lvl2pPr>
            <a:lvl3pPr>
              <a:defRPr sz="1575" b="0">
                <a:solidFill>
                  <a:srgbClr val="536675"/>
                </a:solidFill>
                <a:latin typeface="Arial"/>
                <a:ea typeface="Arial"/>
                <a:cs typeface="Arial"/>
              </a:defRPr>
            </a:lvl3pPr>
            <a:lvl4pPr>
              <a:defRPr sz="1575" b="0">
                <a:solidFill>
                  <a:srgbClr val="536675"/>
                </a:solidFill>
                <a:latin typeface="Arial"/>
                <a:ea typeface="Arial"/>
                <a:cs typeface="Arial"/>
              </a:defRPr>
            </a:lvl4pPr>
            <a:lvl5pPr>
              <a:defRPr sz="1575" b="0">
                <a:solidFill>
                  <a:srgbClr val="536675"/>
                </a:solidFill>
                <a:latin typeface="Arial"/>
                <a:ea typeface="Arial"/>
                <a:cs typeface="Arial"/>
              </a:defRPr>
            </a:lvl5pPr>
            <a:lvl6pPr>
              <a:defRPr sz="1575" b="0">
                <a:solidFill>
                  <a:srgbClr val="536675"/>
                </a:solidFill>
                <a:latin typeface="Arial"/>
                <a:ea typeface="Arial"/>
                <a:cs typeface="Arial"/>
              </a:defRPr>
            </a:lvl6pPr>
            <a:lvl7pPr>
              <a:defRPr sz="1575" b="0">
                <a:solidFill>
                  <a:srgbClr val="536675"/>
                </a:solidFill>
                <a:latin typeface="Arial"/>
                <a:ea typeface="Arial"/>
                <a:cs typeface="Arial"/>
              </a:defRPr>
            </a:lvl7pPr>
            <a:lvl8pPr>
              <a:defRPr sz="1575" b="0">
                <a:solidFill>
                  <a:srgbClr val="536675"/>
                </a:solidFill>
                <a:latin typeface="Arial"/>
                <a:ea typeface="Arial"/>
                <a:cs typeface="Arial"/>
              </a:defRPr>
            </a:lvl8pPr>
            <a:lvl9pPr>
              <a:defRPr sz="1575" b="0">
                <a:solidFill>
                  <a:srgbClr val="536675"/>
                </a:solidFill>
                <a:latin typeface="Arial"/>
                <a:ea typeface="Arial"/>
                <a:cs typeface="Arial"/>
              </a:defRPr>
            </a:lvl9pPr>
          </a:lstStyle>
          <a:p>
            <a:pPr>
              <a:defRPr sz="1575" b="0">
                <a:solidFill>
                  <a:srgbClr val="536675"/>
                </a:solidFill>
                <a:latin typeface="Arial"/>
                <a:ea typeface="Arial"/>
                <a:cs typeface="Arial"/>
              </a:defRPr>
            </a:pPr>
            <a:r>
              <a:rPr lang="en-US" b="0">
                <a:solidFill>
                  <a:srgbClr val="000000"/>
                </a:solidFill>
                <a:latin typeface="Calibri" panose="020F0502020204030204" pitchFamily="34" charset="0"/>
                <a:ea typeface="Arial"/>
                <a:cs typeface="Arial"/>
              </a:rPr>
              <a:t>Corrected selected points: 296.2 kg piston and 321.3 kg turboelectric; full grids remain historical.</a:t>
            </a:r>
            <a:endParaRPr b="0">
              <a:solidFill>
                <a:srgbClr val="000000"/>
              </a:solidFill>
              <a:latin typeface="Calibri" panose="020F0502020204030204" pitchFamily="34" charset="0"/>
              <a:ea typeface="Arial"/>
              <a:cs typeface="Arial"/>
            </a:endParaRPr>
          </a:p>
        </p:txBody>
      </p:sp>
      <p:sp>
        <p:nvSpPr>
          <p:cNvPr id="3" name="Rectangle 2">
            <a:extLst>
              <a:ext uri="{FF2B5EF4-FFF2-40B4-BE49-F238E27FC236}">
                <a16:creationId xmlns:a16="http://schemas.microsoft.com/office/drawing/2014/main" id="{B39E1C0D-CDFE-4A37-8108-B63832893036}"/>
              </a:ext>
            </a:extLst>
          </p:cNvPr>
          <p:cNvSpPr>
            <a:spLocks noGrp="1"/>
          </p:cNvSpPr>
          <p:nvPr/>
        </p:nvSpPr>
        <p:spPr>
          <a:xfrm>
            <a:off x="476250" y="6524625"/>
            <a:ext cx="10477500" cy="190500"/>
          </a:xfrm>
          <a:prstGeom prst="rect">
            <a:avLst/>
          </a:prstGeom>
          <a:noFill/>
          <a:ln w="0">
            <a:noFill/>
          </a:ln>
        </p:spPr>
        <p:txBody>
          <a:bodyPr/>
          <a:lstStyle>
            <a:defPPr>
              <a:defRPr sz="975" b="0">
                <a:solidFill>
                  <a:srgbClr val="536675"/>
                </a:solidFill>
                <a:latin typeface="Arial"/>
                <a:ea typeface="Arial"/>
                <a:cs typeface="Arial"/>
              </a:defRPr>
            </a:defPPr>
            <a:lvl1pPr>
              <a:defRPr sz="975" b="0">
                <a:solidFill>
                  <a:srgbClr val="536675"/>
                </a:solidFill>
                <a:latin typeface="Arial"/>
                <a:ea typeface="Arial"/>
                <a:cs typeface="Arial"/>
              </a:defRPr>
            </a:lvl1pPr>
            <a:lvl2pPr>
              <a:defRPr sz="975" b="0">
                <a:solidFill>
                  <a:srgbClr val="536675"/>
                </a:solidFill>
                <a:latin typeface="Arial"/>
                <a:ea typeface="Arial"/>
                <a:cs typeface="Arial"/>
              </a:defRPr>
            </a:lvl2pPr>
            <a:lvl3pPr>
              <a:defRPr sz="975" b="0">
                <a:solidFill>
                  <a:srgbClr val="536675"/>
                </a:solidFill>
                <a:latin typeface="Arial"/>
                <a:ea typeface="Arial"/>
                <a:cs typeface="Arial"/>
              </a:defRPr>
            </a:lvl3pPr>
            <a:lvl4pPr>
              <a:defRPr sz="975" b="0">
                <a:solidFill>
                  <a:srgbClr val="536675"/>
                </a:solidFill>
                <a:latin typeface="Arial"/>
                <a:ea typeface="Arial"/>
                <a:cs typeface="Arial"/>
              </a:defRPr>
            </a:lvl4pPr>
            <a:lvl5pPr>
              <a:defRPr sz="975" b="0">
                <a:solidFill>
                  <a:srgbClr val="536675"/>
                </a:solidFill>
                <a:latin typeface="Arial"/>
                <a:ea typeface="Arial"/>
                <a:cs typeface="Arial"/>
              </a:defRPr>
            </a:lvl5pPr>
            <a:lvl6pPr>
              <a:defRPr sz="975" b="0">
                <a:solidFill>
                  <a:srgbClr val="536675"/>
                </a:solidFill>
                <a:latin typeface="Arial"/>
                <a:ea typeface="Arial"/>
                <a:cs typeface="Arial"/>
              </a:defRPr>
            </a:lvl6pPr>
            <a:lvl7pPr>
              <a:defRPr sz="975" b="0">
                <a:solidFill>
                  <a:srgbClr val="536675"/>
                </a:solidFill>
                <a:latin typeface="Arial"/>
                <a:ea typeface="Arial"/>
                <a:cs typeface="Arial"/>
              </a:defRPr>
            </a:lvl7pPr>
            <a:lvl8pPr>
              <a:defRPr sz="975" b="0">
                <a:solidFill>
                  <a:srgbClr val="536675"/>
                </a:solidFill>
                <a:latin typeface="Arial"/>
                <a:ea typeface="Arial"/>
                <a:cs typeface="Arial"/>
              </a:defRPr>
            </a:lvl8pPr>
            <a:lvl9pPr>
              <a:defRPr sz="975" b="0">
                <a:solidFill>
                  <a:srgbClr val="536675"/>
                </a:solidFill>
                <a:latin typeface="Arial"/>
                <a:ea typeface="Arial"/>
                <a:cs typeface="Arial"/>
              </a:defRPr>
            </a:lvl9pPr>
          </a:lstStyle>
          <a:p>
            <a:pPr>
              <a:defRPr sz="975" b="0">
                <a:solidFill>
                  <a:srgbClr val="536675"/>
                </a:solidFill>
                <a:latin typeface="Arial"/>
                <a:ea typeface="Arial"/>
                <a:cs typeface="Arial"/>
              </a:defRPr>
            </a:pPr>
            <a:endParaRPr sz="975" b="0">
              <a:solidFill>
                <a:srgbClr val="000000"/>
              </a:solidFill>
              <a:latin typeface="Calibri" panose="020F0502020204030204" pitchFamily="34" charset="0"/>
              <a:ea typeface="Arial"/>
              <a:cs typeface="Arial"/>
            </a:endParaRPr>
          </a:p>
        </p:txBody>
      </p:sp>
      <p:sp>
        <p:nvSpPr>
          <p:cNvPr id="4" name="Rectangle 3">
            <a:extLst>
              <a:ext uri="{FF2B5EF4-FFF2-40B4-BE49-F238E27FC236}">
                <a16:creationId xmlns:a16="http://schemas.microsoft.com/office/drawing/2014/main" id="{42A761D6-C6E4-46F8-A8AE-3A79AEA407E0}"/>
              </a:ext>
            </a:extLst>
          </p:cNvPr>
          <p:cNvSpPr>
            <a:spLocks noGrp="1"/>
          </p:cNvSpPr>
          <p:nvPr/>
        </p:nvSpPr>
        <p:spPr>
          <a:xfrm>
            <a:off x="11334750" y="6496050"/>
            <a:ext cx="381000" cy="228600"/>
          </a:xfrm>
          <a:prstGeom prst="rect">
            <a:avLst/>
          </a:prstGeom>
          <a:noFill/>
          <a:ln w="0">
            <a:noFill/>
          </a:ln>
        </p:spPr>
        <p:txBody>
          <a:bodyPr/>
          <a:lstStyle>
            <a:defPPr>
              <a:defRPr sz="1200" b="0">
                <a:solidFill>
                  <a:srgbClr val="536675"/>
                </a:solidFill>
                <a:latin typeface="Arial"/>
                <a:ea typeface="Arial"/>
                <a:cs typeface="Arial"/>
              </a:defRPr>
            </a:defPPr>
            <a:lvl1pPr>
              <a:defRPr sz="1200" b="0">
                <a:solidFill>
                  <a:srgbClr val="536675"/>
                </a:solidFill>
                <a:latin typeface="Arial"/>
                <a:ea typeface="Arial"/>
                <a:cs typeface="Arial"/>
              </a:defRPr>
            </a:lvl1pPr>
            <a:lvl2pPr>
              <a:defRPr sz="1200" b="0">
                <a:solidFill>
                  <a:srgbClr val="536675"/>
                </a:solidFill>
                <a:latin typeface="Arial"/>
                <a:ea typeface="Arial"/>
                <a:cs typeface="Arial"/>
              </a:defRPr>
            </a:lvl2pPr>
            <a:lvl3pPr>
              <a:defRPr sz="1200" b="0">
                <a:solidFill>
                  <a:srgbClr val="536675"/>
                </a:solidFill>
                <a:latin typeface="Arial"/>
                <a:ea typeface="Arial"/>
                <a:cs typeface="Arial"/>
              </a:defRPr>
            </a:lvl3pPr>
            <a:lvl4pPr>
              <a:defRPr sz="1200" b="0">
                <a:solidFill>
                  <a:srgbClr val="536675"/>
                </a:solidFill>
                <a:latin typeface="Arial"/>
                <a:ea typeface="Arial"/>
                <a:cs typeface="Arial"/>
              </a:defRPr>
            </a:lvl4pPr>
            <a:lvl5pPr>
              <a:defRPr sz="1200" b="0">
                <a:solidFill>
                  <a:srgbClr val="536675"/>
                </a:solidFill>
                <a:latin typeface="Arial"/>
                <a:ea typeface="Arial"/>
                <a:cs typeface="Arial"/>
              </a:defRPr>
            </a:lvl5pPr>
            <a:lvl6pPr>
              <a:defRPr sz="1200" b="0">
                <a:solidFill>
                  <a:srgbClr val="536675"/>
                </a:solidFill>
                <a:latin typeface="Arial"/>
                <a:ea typeface="Arial"/>
                <a:cs typeface="Arial"/>
              </a:defRPr>
            </a:lvl6pPr>
            <a:lvl7pPr>
              <a:defRPr sz="1200" b="0">
                <a:solidFill>
                  <a:srgbClr val="536675"/>
                </a:solidFill>
                <a:latin typeface="Arial"/>
                <a:ea typeface="Arial"/>
                <a:cs typeface="Arial"/>
              </a:defRPr>
            </a:lvl7pPr>
            <a:lvl8pPr>
              <a:defRPr sz="1200" b="0">
                <a:solidFill>
                  <a:srgbClr val="536675"/>
                </a:solidFill>
                <a:latin typeface="Arial"/>
                <a:ea typeface="Arial"/>
                <a:cs typeface="Arial"/>
              </a:defRPr>
            </a:lvl8pPr>
            <a:lvl9pPr>
              <a:defRPr sz="1200" b="0">
                <a:solidFill>
                  <a:srgbClr val="536675"/>
                </a:solidFill>
                <a:latin typeface="Arial"/>
                <a:ea typeface="Arial"/>
                <a:cs typeface="Arial"/>
              </a:defRPr>
            </a:lvl9pPr>
          </a:lstStyle>
          <a:p>
            <a:pPr>
              <a:defRPr sz="1200" b="0">
                <a:solidFill>
                  <a:srgbClr val="536675"/>
                </a:solidFill>
                <a:latin typeface="Arial"/>
                <a:ea typeface="Arial"/>
                <a:cs typeface="Arial"/>
              </a:defRPr>
            </a:pPr>
            <a:endParaRPr sz="1200" b="0">
              <a:solidFill>
                <a:srgbClr val="000000"/>
              </a:solidFill>
              <a:latin typeface="Calibri" panose="020F0502020204030204" pitchFamily="34" charset="0"/>
              <a:ea typeface="Arial"/>
              <a:cs typeface="Arial"/>
            </a:endParaRPr>
          </a:p>
        </p:txBody>
      </p:sp>
      <p:sp>
        <p:nvSpPr>
          <p:cNvPr id="6" name="Rectangle 5">
            <a:extLst>
              <a:ext uri="{FF2B5EF4-FFF2-40B4-BE49-F238E27FC236}">
                <a16:creationId xmlns:a16="http://schemas.microsoft.com/office/drawing/2014/main" id="{ACFB4ED1-D8B2-4D07-A177-0BE2C5A3875E}"/>
              </a:ext>
            </a:extLst>
          </p:cNvPr>
          <p:cNvSpPr>
            <a:spLocks noGrp="1"/>
          </p:cNvSpPr>
          <p:nvPr/>
        </p:nvSpPr>
        <p:spPr>
          <a:xfrm>
            <a:off x="476250" y="6010275"/>
            <a:ext cx="11239500" cy="447675"/>
          </a:xfrm>
          <a:prstGeom prst="rect">
            <a:avLst/>
          </a:prstGeom>
          <a:noFill/>
          <a:ln w="0">
            <a:noFill/>
          </a:ln>
        </p:spPr>
        <p:txBody>
          <a:bodyPr/>
          <a:lstStyle>
            <a:defPPr>
              <a:defRPr sz="1275" b="0">
                <a:solidFill>
                  <a:srgbClr val="536675"/>
                </a:solidFill>
                <a:latin typeface="Arial"/>
                <a:ea typeface="Arial"/>
                <a:cs typeface="Arial"/>
              </a:defRPr>
            </a:defPPr>
            <a:lvl1pPr>
              <a:defRPr sz="1275" b="0">
                <a:solidFill>
                  <a:srgbClr val="536675"/>
                </a:solidFill>
                <a:latin typeface="Arial"/>
                <a:ea typeface="Arial"/>
                <a:cs typeface="Arial"/>
              </a:defRPr>
            </a:lvl1pPr>
            <a:lvl2pPr>
              <a:defRPr sz="1275" b="0">
                <a:solidFill>
                  <a:srgbClr val="536675"/>
                </a:solidFill>
                <a:latin typeface="Arial"/>
                <a:ea typeface="Arial"/>
                <a:cs typeface="Arial"/>
              </a:defRPr>
            </a:lvl2pPr>
            <a:lvl3pPr>
              <a:defRPr sz="1275" b="0">
                <a:solidFill>
                  <a:srgbClr val="536675"/>
                </a:solidFill>
                <a:latin typeface="Arial"/>
                <a:ea typeface="Arial"/>
                <a:cs typeface="Arial"/>
              </a:defRPr>
            </a:lvl3pPr>
            <a:lvl4pPr>
              <a:defRPr sz="1275" b="0">
                <a:solidFill>
                  <a:srgbClr val="536675"/>
                </a:solidFill>
                <a:latin typeface="Arial"/>
                <a:ea typeface="Arial"/>
                <a:cs typeface="Arial"/>
              </a:defRPr>
            </a:lvl4pPr>
            <a:lvl5pPr>
              <a:defRPr sz="1275" b="0">
                <a:solidFill>
                  <a:srgbClr val="536675"/>
                </a:solidFill>
                <a:latin typeface="Arial"/>
                <a:ea typeface="Arial"/>
                <a:cs typeface="Arial"/>
              </a:defRPr>
            </a:lvl5pPr>
            <a:lvl6pPr>
              <a:defRPr sz="1275" b="0">
                <a:solidFill>
                  <a:srgbClr val="536675"/>
                </a:solidFill>
                <a:latin typeface="Arial"/>
                <a:ea typeface="Arial"/>
                <a:cs typeface="Arial"/>
              </a:defRPr>
            </a:lvl6pPr>
            <a:lvl7pPr>
              <a:defRPr sz="1275" b="0">
                <a:solidFill>
                  <a:srgbClr val="536675"/>
                </a:solidFill>
                <a:latin typeface="Arial"/>
                <a:ea typeface="Arial"/>
                <a:cs typeface="Arial"/>
              </a:defRPr>
            </a:lvl7pPr>
            <a:lvl8pPr>
              <a:defRPr sz="1275" b="0">
                <a:solidFill>
                  <a:srgbClr val="536675"/>
                </a:solidFill>
                <a:latin typeface="Arial"/>
                <a:ea typeface="Arial"/>
                <a:cs typeface="Arial"/>
              </a:defRPr>
            </a:lvl8pPr>
            <a:lvl9pPr>
              <a:defRPr sz="1275" b="0">
                <a:solidFill>
                  <a:srgbClr val="536675"/>
                </a:solidFill>
                <a:latin typeface="Arial"/>
                <a:ea typeface="Arial"/>
                <a:cs typeface="Arial"/>
              </a:defRPr>
            </a:lvl9pPr>
          </a:lstStyle>
          <a:p>
            <a:pPr>
              <a:defRPr sz="1275" b="0">
                <a:solidFill>
                  <a:srgbClr val="536675"/>
                </a:solidFill>
                <a:latin typeface="Arial"/>
                <a:ea typeface="Arial"/>
                <a:cs typeface="Arial"/>
              </a:defRPr>
            </a:pPr>
            <a:endParaRPr sz="1275" b="0">
              <a:solidFill>
                <a:srgbClr val="000000"/>
              </a:solidFill>
              <a:latin typeface="Calibri" panose="020F0502020204030204" pitchFamily="34" charset="0"/>
              <a:ea typeface="Arial"/>
              <a:cs typeface="Arial"/>
            </a:endParaRPr>
          </a:p>
        </p:txBody>
      </p:sp>
      <p:sp>
        <p:nvSpPr>
          <p:cNvPr id="8" name="TextBox 7">
            <a:extLst>
              <a:ext uri="{FF2B5EF4-FFF2-40B4-BE49-F238E27FC236}">
                <a16:creationId xmlns:a16="http://schemas.microsoft.com/office/drawing/2014/main" id="{DE236723-E31A-37A1-6E54-29E3C9D493A7}"/>
              </a:ext>
            </a:extLst>
          </p:cNvPr>
          <p:cNvSpPr txBox="1"/>
          <p:nvPr/>
        </p:nvSpPr>
        <p:spPr>
          <a:xfrm>
            <a:off x="476250" y="6400800"/>
            <a:ext cx="11074400" cy="323165"/>
          </a:xfrm>
          <a:prstGeom prst="rect">
            <a:avLst/>
          </a:prstGeom>
          <a:noFill/>
        </p:spPr>
        <p:txBody>
          <a:bodyPr vert="horz" lIns="0" tIns="0" rIns="0" bIns="0" rtlCol="0">
            <a:spAutoFit/>
          </a:bodyPr>
          <a:lstStyle/>
          <a:p>
            <a:r>
              <a:rPr lang="en-US" sz="1050">
                <a:solidFill>
                  <a:srgbClr val="000000"/>
                </a:solidFill>
                <a:latin typeface="Calibri" panose="020F0502020204030204" pitchFamily="34" charset="0"/>
              </a:rPr>
              <a:t>[S9] Historical grids; [S7] selected 30 s resizes only. Blue = lower mass, red = higher. ○ pass; × constraint; □ unresolved; ◇ selected.
Codes: S stall, G clearance, M motor, B battery, P power/drive, N numerical, O other. No global or hardware-validated optimum claimed.</a:t>
            </a:r>
          </a:p>
        </p:txBody>
      </p:sp>
      <p:pic>
        <p:nvPicPr>
          <p:cNvPr id="10" name="Picture 9">
            <a:extLst>
              <a:ext uri="{FF2B5EF4-FFF2-40B4-BE49-F238E27FC236}">
                <a16:creationId xmlns:a16="http://schemas.microsoft.com/office/drawing/2014/main" id="{25D9B1B9-A3BC-C60B-8AFB-86170B9DA4F6}"/>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476250" y="1422400"/>
            <a:ext cx="11239500" cy="4635500"/>
          </a:xfrm>
          <a:prstGeom prst="rect">
            <a:avLst/>
          </a:prstGeom>
        </p:spPr>
      </p:pic>
      <p:sp>
        <p:nvSpPr>
          <p:cNvPr id="11" name="TextBox 10">
            <a:extLst>
              <a:ext uri="{FF2B5EF4-FFF2-40B4-BE49-F238E27FC236}">
                <a16:creationId xmlns:a16="http://schemas.microsoft.com/office/drawing/2014/main" id="{DD756985-A22E-530E-B767-826B06F8E7C4}"/>
              </a:ext>
            </a:extLst>
          </p:cNvPr>
          <p:cNvSpPr txBox="1"/>
          <p:nvPr/>
        </p:nvSpPr>
        <p:spPr>
          <a:xfrm>
            <a:off x="11671300" y="6527800"/>
            <a:ext cx="355600" cy="153888"/>
          </a:xfrm>
          <a:prstGeom prst="rect">
            <a:avLst/>
          </a:prstGeom>
          <a:noFill/>
        </p:spPr>
        <p:txBody>
          <a:bodyPr vert="horz" lIns="0" tIns="0" rIns="0" bIns="0" rtlCol="0">
            <a:spAutoFit/>
          </a:bodyPr>
          <a:lstStyle/>
          <a:p>
            <a:r>
              <a:rPr lang="en-US" sz="1000">
                <a:solidFill>
                  <a:srgbClr val="000000"/>
                </a:solidFill>
                <a:latin typeface="Calibri" panose="020F0502020204030204" pitchFamily="34" charset="0"/>
              </a:rPr>
              <a:t>25</a:t>
            </a:r>
          </a:p>
        </p:txBody>
      </p:sp>
    </p:spTree>
    <p:extLst>
      <p:ext uri="{BB962C8B-B14F-4D97-AF65-F5344CB8AC3E}">
        <p14:creationId xmlns:p14="http://schemas.microsoft.com/office/powerpoint/2010/main" val="838439573"/>
      </p:ext>
    </p:extLst>
  </p:cSld>
  <p:clrMapOvr>
    <a:masterClrMapping/>
  </p:clrMapOvr>
  <p:extLst>
    <p:ext uri="{6950BFC3-D8DA-4A85-94F7-54DA5524770B}">
      <p188:commentRel xmlns:p188="http://schemas.microsoft.com/office/powerpoint/2018/8/main" r:id="rId3"/>
    </p:ext>
  </p:extLs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60E8399-0581-425B-A23D-5465AC040647}"/>
              </a:ext>
            </a:extLst>
          </p:cNvPr>
          <p:cNvSpPr>
            <a:spLocks noGrp="1"/>
          </p:cNvSpPr>
          <p:nvPr/>
        </p:nvSpPr>
        <p:spPr>
          <a:xfrm>
            <a:off x="838200" y="361950"/>
            <a:ext cx="10896600" cy="571500"/>
          </a:xfrm>
          <a:prstGeom prst="rect">
            <a:avLst/>
          </a:prstGeom>
          <a:noFill/>
          <a:ln w="0">
            <a:noFill/>
          </a:ln>
        </p:spPr>
        <p:txBody>
          <a:bodyPr/>
          <a:lstStyle>
            <a:defPPr>
              <a:defRPr sz="2775" b="1">
                <a:solidFill>
                  <a:srgbClr val="173344"/>
                </a:solidFill>
                <a:latin typeface="Arial"/>
                <a:ea typeface="Arial"/>
                <a:cs typeface="Arial"/>
              </a:defRPr>
            </a:defPPr>
            <a:lvl1pPr>
              <a:defRPr sz="2775" b="1">
                <a:solidFill>
                  <a:srgbClr val="173344"/>
                </a:solidFill>
                <a:latin typeface="Arial"/>
                <a:ea typeface="Arial"/>
                <a:cs typeface="Arial"/>
              </a:defRPr>
            </a:lvl1pPr>
            <a:lvl2pPr>
              <a:defRPr sz="2775" b="1">
                <a:solidFill>
                  <a:srgbClr val="173344"/>
                </a:solidFill>
                <a:latin typeface="Arial"/>
                <a:ea typeface="Arial"/>
                <a:cs typeface="Arial"/>
              </a:defRPr>
            </a:lvl2pPr>
            <a:lvl3pPr>
              <a:defRPr sz="2775" b="1">
                <a:solidFill>
                  <a:srgbClr val="173344"/>
                </a:solidFill>
                <a:latin typeface="Arial"/>
                <a:ea typeface="Arial"/>
                <a:cs typeface="Arial"/>
              </a:defRPr>
            </a:lvl3pPr>
            <a:lvl4pPr>
              <a:defRPr sz="2775" b="1">
                <a:solidFill>
                  <a:srgbClr val="173344"/>
                </a:solidFill>
                <a:latin typeface="Arial"/>
                <a:ea typeface="Arial"/>
                <a:cs typeface="Arial"/>
              </a:defRPr>
            </a:lvl4pPr>
            <a:lvl5pPr>
              <a:defRPr sz="2775" b="1">
                <a:solidFill>
                  <a:srgbClr val="173344"/>
                </a:solidFill>
                <a:latin typeface="Arial"/>
                <a:ea typeface="Arial"/>
                <a:cs typeface="Arial"/>
              </a:defRPr>
            </a:lvl5pPr>
            <a:lvl6pPr>
              <a:defRPr sz="2775" b="1">
                <a:solidFill>
                  <a:srgbClr val="173344"/>
                </a:solidFill>
                <a:latin typeface="Arial"/>
                <a:ea typeface="Arial"/>
                <a:cs typeface="Arial"/>
              </a:defRPr>
            </a:lvl6pPr>
            <a:lvl7pPr>
              <a:defRPr sz="2775" b="1">
                <a:solidFill>
                  <a:srgbClr val="173344"/>
                </a:solidFill>
                <a:latin typeface="Arial"/>
                <a:ea typeface="Arial"/>
                <a:cs typeface="Arial"/>
              </a:defRPr>
            </a:lvl7pPr>
            <a:lvl8pPr>
              <a:defRPr sz="2775" b="1">
                <a:solidFill>
                  <a:srgbClr val="173344"/>
                </a:solidFill>
                <a:latin typeface="Arial"/>
                <a:ea typeface="Arial"/>
                <a:cs typeface="Arial"/>
              </a:defRPr>
            </a:lvl8pPr>
            <a:lvl9pPr>
              <a:defRPr sz="2775" b="1">
                <a:solidFill>
                  <a:srgbClr val="173344"/>
                </a:solidFill>
                <a:latin typeface="Arial"/>
                <a:ea typeface="Arial"/>
                <a:cs typeface="Arial"/>
              </a:defRPr>
            </a:lvl9pPr>
          </a:lstStyle>
          <a:p>
            <a:pPr>
              <a:defRPr sz="2775" b="1">
                <a:solidFill>
                  <a:srgbClr val="173344"/>
                </a:solidFill>
                <a:latin typeface="Arial"/>
                <a:ea typeface="Arial"/>
                <a:cs typeface="Arial"/>
              </a:defRPr>
            </a:pPr>
            <a:r>
              <a:rPr sz="2400" b="1">
                <a:solidFill>
                  <a:srgbClr val="000000"/>
                </a:solidFill>
                <a:latin typeface="Calibri" panose="020F0502020204030204" pitchFamily="34" charset="0"/>
                <a:ea typeface="Arial"/>
                <a:cs typeface="Arial"/>
              </a:rPr>
              <a:t>Tiltrotor fuel consumption over the same mission</a:t>
            </a:r>
          </a:p>
        </p:txBody>
      </p:sp>
      <p:sp>
        <p:nvSpPr>
          <p:cNvPr id="2" name="Rectangle 1">
            <a:extLst>
              <a:ext uri="{FF2B5EF4-FFF2-40B4-BE49-F238E27FC236}">
                <a16:creationId xmlns:a16="http://schemas.microsoft.com/office/drawing/2014/main" id="{7E6FE6D9-B6ED-4235-91FB-212633A34354}"/>
              </a:ext>
            </a:extLst>
          </p:cNvPr>
          <p:cNvSpPr>
            <a:spLocks noGrp="1"/>
          </p:cNvSpPr>
          <p:nvPr/>
        </p:nvSpPr>
        <p:spPr>
          <a:xfrm>
            <a:off x="476250" y="876300"/>
            <a:ext cx="11239500" cy="523875"/>
          </a:xfrm>
          <a:prstGeom prst="rect">
            <a:avLst/>
          </a:prstGeom>
          <a:noFill/>
          <a:ln w="0">
            <a:noFill/>
          </a:ln>
        </p:spPr>
        <p:txBody>
          <a:bodyPr/>
          <a:lstStyle>
            <a:defPPr>
              <a:defRPr sz="1575" b="0">
                <a:solidFill>
                  <a:srgbClr val="536675"/>
                </a:solidFill>
                <a:latin typeface="Arial"/>
                <a:ea typeface="Arial"/>
                <a:cs typeface="Arial"/>
              </a:defRPr>
            </a:defPPr>
            <a:lvl1pPr>
              <a:defRPr sz="1575" b="0">
                <a:solidFill>
                  <a:srgbClr val="536675"/>
                </a:solidFill>
                <a:latin typeface="Arial"/>
                <a:ea typeface="Arial"/>
                <a:cs typeface="Arial"/>
              </a:defRPr>
            </a:lvl1pPr>
            <a:lvl2pPr>
              <a:defRPr sz="1575" b="0">
                <a:solidFill>
                  <a:srgbClr val="536675"/>
                </a:solidFill>
                <a:latin typeface="Arial"/>
                <a:ea typeface="Arial"/>
                <a:cs typeface="Arial"/>
              </a:defRPr>
            </a:lvl2pPr>
            <a:lvl3pPr>
              <a:defRPr sz="1575" b="0">
                <a:solidFill>
                  <a:srgbClr val="536675"/>
                </a:solidFill>
                <a:latin typeface="Arial"/>
                <a:ea typeface="Arial"/>
                <a:cs typeface="Arial"/>
              </a:defRPr>
            </a:lvl3pPr>
            <a:lvl4pPr>
              <a:defRPr sz="1575" b="0">
                <a:solidFill>
                  <a:srgbClr val="536675"/>
                </a:solidFill>
                <a:latin typeface="Arial"/>
                <a:ea typeface="Arial"/>
                <a:cs typeface="Arial"/>
              </a:defRPr>
            </a:lvl4pPr>
            <a:lvl5pPr>
              <a:defRPr sz="1575" b="0">
                <a:solidFill>
                  <a:srgbClr val="536675"/>
                </a:solidFill>
                <a:latin typeface="Arial"/>
                <a:ea typeface="Arial"/>
                <a:cs typeface="Arial"/>
              </a:defRPr>
            </a:lvl5pPr>
            <a:lvl6pPr>
              <a:defRPr sz="1575" b="0">
                <a:solidFill>
                  <a:srgbClr val="536675"/>
                </a:solidFill>
                <a:latin typeface="Arial"/>
                <a:ea typeface="Arial"/>
                <a:cs typeface="Arial"/>
              </a:defRPr>
            </a:lvl6pPr>
            <a:lvl7pPr>
              <a:defRPr sz="1575" b="0">
                <a:solidFill>
                  <a:srgbClr val="536675"/>
                </a:solidFill>
                <a:latin typeface="Arial"/>
                <a:ea typeface="Arial"/>
                <a:cs typeface="Arial"/>
              </a:defRPr>
            </a:lvl7pPr>
            <a:lvl8pPr>
              <a:defRPr sz="1575" b="0">
                <a:solidFill>
                  <a:srgbClr val="536675"/>
                </a:solidFill>
                <a:latin typeface="Arial"/>
                <a:ea typeface="Arial"/>
                <a:cs typeface="Arial"/>
              </a:defRPr>
            </a:lvl8pPr>
            <a:lvl9pPr>
              <a:defRPr sz="1575" b="0">
                <a:solidFill>
                  <a:srgbClr val="536675"/>
                </a:solidFill>
                <a:latin typeface="Arial"/>
                <a:ea typeface="Arial"/>
                <a:cs typeface="Arial"/>
              </a:defRPr>
            </a:lvl9pPr>
          </a:lstStyle>
          <a:p>
            <a:pPr>
              <a:defRPr sz="1575" b="0">
                <a:solidFill>
                  <a:srgbClr val="536675"/>
                </a:solidFill>
                <a:latin typeface="Arial"/>
                <a:ea typeface="Arial"/>
                <a:cs typeface="Arial"/>
              </a:defRPr>
            </a:pPr>
            <a:r>
              <a:rPr lang="en-US" b="0">
                <a:solidFill>
                  <a:srgbClr val="000000"/>
                </a:solidFill>
                <a:latin typeface="Calibri" panose="020F0502020204030204" pitchFamily="34" charset="0"/>
                <a:ea typeface="Arial"/>
                <a:cs typeface="Arial"/>
              </a:rPr>
              <a:t>Turboelectric starts with 5.8 kg more fuel in the corrected five-hour mission.</a:t>
            </a:r>
            <a:endParaRPr b="0">
              <a:solidFill>
                <a:srgbClr val="000000"/>
              </a:solidFill>
              <a:latin typeface="Calibri" panose="020F0502020204030204" pitchFamily="34" charset="0"/>
              <a:ea typeface="Arial"/>
              <a:cs typeface="Arial"/>
            </a:endParaRPr>
          </a:p>
        </p:txBody>
      </p:sp>
      <p:sp>
        <p:nvSpPr>
          <p:cNvPr id="3" name="Rectangle 2">
            <a:extLst>
              <a:ext uri="{FF2B5EF4-FFF2-40B4-BE49-F238E27FC236}">
                <a16:creationId xmlns:a16="http://schemas.microsoft.com/office/drawing/2014/main" id="{ABAB770F-533D-497F-B21A-E0F4C2085864}"/>
              </a:ext>
            </a:extLst>
          </p:cNvPr>
          <p:cNvSpPr>
            <a:spLocks noGrp="1"/>
          </p:cNvSpPr>
          <p:nvPr/>
        </p:nvSpPr>
        <p:spPr>
          <a:xfrm>
            <a:off x="476250" y="6524625"/>
            <a:ext cx="10477500" cy="190500"/>
          </a:xfrm>
          <a:prstGeom prst="rect">
            <a:avLst/>
          </a:prstGeom>
          <a:noFill/>
          <a:ln w="0">
            <a:noFill/>
          </a:ln>
        </p:spPr>
        <p:txBody>
          <a:bodyPr/>
          <a:lstStyle>
            <a:defPPr>
              <a:defRPr sz="975" b="0">
                <a:solidFill>
                  <a:srgbClr val="536675"/>
                </a:solidFill>
                <a:latin typeface="Arial"/>
                <a:ea typeface="Arial"/>
                <a:cs typeface="Arial"/>
              </a:defRPr>
            </a:defPPr>
            <a:lvl1pPr>
              <a:defRPr sz="975" b="0">
                <a:solidFill>
                  <a:srgbClr val="536675"/>
                </a:solidFill>
                <a:latin typeface="Arial"/>
                <a:ea typeface="Arial"/>
                <a:cs typeface="Arial"/>
              </a:defRPr>
            </a:lvl1pPr>
            <a:lvl2pPr>
              <a:defRPr sz="975" b="0">
                <a:solidFill>
                  <a:srgbClr val="536675"/>
                </a:solidFill>
                <a:latin typeface="Arial"/>
                <a:ea typeface="Arial"/>
                <a:cs typeface="Arial"/>
              </a:defRPr>
            </a:lvl2pPr>
            <a:lvl3pPr>
              <a:defRPr sz="975" b="0">
                <a:solidFill>
                  <a:srgbClr val="536675"/>
                </a:solidFill>
                <a:latin typeface="Arial"/>
                <a:ea typeface="Arial"/>
                <a:cs typeface="Arial"/>
              </a:defRPr>
            </a:lvl3pPr>
            <a:lvl4pPr>
              <a:defRPr sz="975" b="0">
                <a:solidFill>
                  <a:srgbClr val="536675"/>
                </a:solidFill>
                <a:latin typeface="Arial"/>
                <a:ea typeface="Arial"/>
                <a:cs typeface="Arial"/>
              </a:defRPr>
            </a:lvl4pPr>
            <a:lvl5pPr>
              <a:defRPr sz="975" b="0">
                <a:solidFill>
                  <a:srgbClr val="536675"/>
                </a:solidFill>
                <a:latin typeface="Arial"/>
                <a:ea typeface="Arial"/>
                <a:cs typeface="Arial"/>
              </a:defRPr>
            </a:lvl5pPr>
            <a:lvl6pPr>
              <a:defRPr sz="975" b="0">
                <a:solidFill>
                  <a:srgbClr val="536675"/>
                </a:solidFill>
                <a:latin typeface="Arial"/>
                <a:ea typeface="Arial"/>
                <a:cs typeface="Arial"/>
              </a:defRPr>
            </a:lvl6pPr>
            <a:lvl7pPr>
              <a:defRPr sz="975" b="0">
                <a:solidFill>
                  <a:srgbClr val="536675"/>
                </a:solidFill>
                <a:latin typeface="Arial"/>
                <a:ea typeface="Arial"/>
                <a:cs typeface="Arial"/>
              </a:defRPr>
            </a:lvl7pPr>
            <a:lvl8pPr>
              <a:defRPr sz="975" b="0">
                <a:solidFill>
                  <a:srgbClr val="536675"/>
                </a:solidFill>
                <a:latin typeface="Arial"/>
                <a:ea typeface="Arial"/>
                <a:cs typeface="Arial"/>
              </a:defRPr>
            </a:lvl8pPr>
            <a:lvl9pPr>
              <a:defRPr sz="975" b="0">
                <a:solidFill>
                  <a:srgbClr val="536675"/>
                </a:solidFill>
                <a:latin typeface="Arial"/>
                <a:ea typeface="Arial"/>
                <a:cs typeface="Arial"/>
              </a:defRPr>
            </a:lvl9pPr>
          </a:lstStyle>
          <a:p>
            <a:pPr>
              <a:defRPr sz="975" b="0">
                <a:solidFill>
                  <a:srgbClr val="536675"/>
                </a:solidFill>
                <a:latin typeface="Arial"/>
                <a:ea typeface="Arial"/>
                <a:cs typeface="Arial"/>
              </a:defRPr>
            </a:pPr>
            <a:endParaRPr sz="975" b="0">
              <a:solidFill>
                <a:srgbClr val="000000"/>
              </a:solidFill>
              <a:latin typeface="Calibri" panose="020F0502020204030204" pitchFamily="34" charset="0"/>
              <a:ea typeface="Arial"/>
              <a:cs typeface="Arial"/>
            </a:endParaRPr>
          </a:p>
        </p:txBody>
      </p:sp>
      <p:sp>
        <p:nvSpPr>
          <p:cNvPr id="4" name="Rectangle 3">
            <a:extLst>
              <a:ext uri="{FF2B5EF4-FFF2-40B4-BE49-F238E27FC236}">
                <a16:creationId xmlns:a16="http://schemas.microsoft.com/office/drawing/2014/main" id="{E524EE73-41BB-4C72-8BFB-E3BC1685AA7C}"/>
              </a:ext>
            </a:extLst>
          </p:cNvPr>
          <p:cNvSpPr>
            <a:spLocks noGrp="1"/>
          </p:cNvSpPr>
          <p:nvPr/>
        </p:nvSpPr>
        <p:spPr>
          <a:xfrm>
            <a:off x="11334750" y="6496050"/>
            <a:ext cx="381000" cy="228600"/>
          </a:xfrm>
          <a:prstGeom prst="rect">
            <a:avLst/>
          </a:prstGeom>
          <a:noFill/>
          <a:ln w="0">
            <a:noFill/>
          </a:ln>
        </p:spPr>
        <p:txBody>
          <a:bodyPr/>
          <a:lstStyle>
            <a:defPPr>
              <a:defRPr sz="1200" b="0">
                <a:solidFill>
                  <a:srgbClr val="536675"/>
                </a:solidFill>
                <a:latin typeface="Arial"/>
                <a:ea typeface="Arial"/>
                <a:cs typeface="Arial"/>
              </a:defRPr>
            </a:defPPr>
            <a:lvl1pPr>
              <a:defRPr sz="1200" b="0">
                <a:solidFill>
                  <a:srgbClr val="536675"/>
                </a:solidFill>
                <a:latin typeface="Arial"/>
                <a:ea typeface="Arial"/>
                <a:cs typeface="Arial"/>
              </a:defRPr>
            </a:lvl1pPr>
            <a:lvl2pPr>
              <a:defRPr sz="1200" b="0">
                <a:solidFill>
                  <a:srgbClr val="536675"/>
                </a:solidFill>
                <a:latin typeface="Arial"/>
                <a:ea typeface="Arial"/>
                <a:cs typeface="Arial"/>
              </a:defRPr>
            </a:lvl2pPr>
            <a:lvl3pPr>
              <a:defRPr sz="1200" b="0">
                <a:solidFill>
                  <a:srgbClr val="536675"/>
                </a:solidFill>
                <a:latin typeface="Arial"/>
                <a:ea typeface="Arial"/>
                <a:cs typeface="Arial"/>
              </a:defRPr>
            </a:lvl3pPr>
            <a:lvl4pPr>
              <a:defRPr sz="1200" b="0">
                <a:solidFill>
                  <a:srgbClr val="536675"/>
                </a:solidFill>
                <a:latin typeface="Arial"/>
                <a:ea typeface="Arial"/>
                <a:cs typeface="Arial"/>
              </a:defRPr>
            </a:lvl4pPr>
            <a:lvl5pPr>
              <a:defRPr sz="1200" b="0">
                <a:solidFill>
                  <a:srgbClr val="536675"/>
                </a:solidFill>
                <a:latin typeface="Arial"/>
                <a:ea typeface="Arial"/>
                <a:cs typeface="Arial"/>
              </a:defRPr>
            </a:lvl5pPr>
            <a:lvl6pPr>
              <a:defRPr sz="1200" b="0">
                <a:solidFill>
                  <a:srgbClr val="536675"/>
                </a:solidFill>
                <a:latin typeface="Arial"/>
                <a:ea typeface="Arial"/>
                <a:cs typeface="Arial"/>
              </a:defRPr>
            </a:lvl6pPr>
            <a:lvl7pPr>
              <a:defRPr sz="1200" b="0">
                <a:solidFill>
                  <a:srgbClr val="536675"/>
                </a:solidFill>
                <a:latin typeface="Arial"/>
                <a:ea typeface="Arial"/>
                <a:cs typeface="Arial"/>
              </a:defRPr>
            </a:lvl7pPr>
            <a:lvl8pPr>
              <a:defRPr sz="1200" b="0">
                <a:solidFill>
                  <a:srgbClr val="536675"/>
                </a:solidFill>
                <a:latin typeface="Arial"/>
                <a:ea typeface="Arial"/>
                <a:cs typeface="Arial"/>
              </a:defRPr>
            </a:lvl8pPr>
            <a:lvl9pPr>
              <a:defRPr sz="1200" b="0">
                <a:solidFill>
                  <a:srgbClr val="536675"/>
                </a:solidFill>
                <a:latin typeface="Arial"/>
                <a:ea typeface="Arial"/>
                <a:cs typeface="Arial"/>
              </a:defRPr>
            </a:lvl9pPr>
          </a:lstStyle>
          <a:p>
            <a:pPr>
              <a:defRPr sz="1200" b="0">
                <a:solidFill>
                  <a:srgbClr val="536675"/>
                </a:solidFill>
                <a:latin typeface="Arial"/>
                <a:ea typeface="Arial"/>
                <a:cs typeface="Arial"/>
              </a:defRPr>
            </a:pPr>
            <a:endParaRPr sz="1200" b="0">
              <a:solidFill>
                <a:srgbClr val="000000"/>
              </a:solidFill>
              <a:latin typeface="Calibri" panose="020F0502020204030204" pitchFamily="34" charset="0"/>
              <a:ea typeface="Arial"/>
              <a:cs typeface="Arial"/>
            </a:endParaRPr>
          </a:p>
        </p:txBody>
      </p:sp>
      <p:sp>
        <p:nvSpPr>
          <p:cNvPr id="6" name="Rectangle 5">
            <a:extLst>
              <a:ext uri="{FF2B5EF4-FFF2-40B4-BE49-F238E27FC236}">
                <a16:creationId xmlns:a16="http://schemas.microsoft.com/office/drawing/2014/main" id="{86D81605-C3D3-4EFC-89F0-D5E7CDB7DFB2}"/>
              </a:ext>
            </a:extLst>
          </p:cNvPr>
          <p:cNvSpPr>
            <a:spLocks noGrp="1"/>
          </p:cNvSpPr>
          <p:nvPr/>
        </p:nvSpPr>
        <p:spPr>
          <a:xfrm>
            <a:off x="476250" y="6010275"/>
            <a:ext cx="11239500" cy="447675"/>
          </a:xfrm>
          <a:prstGeom prst="rect">
            <a:avLst/>
          </a:prstGeom>
          <a:noFill/>
          <a:ln w="0">
            <a:noFill/>
          </a:ln>
        </p:spPr>
        <p:txBody>
          <a:bodyPr/>
          <a:lstStyle>
            <a:defPPr>
              <a:defRPr sz="1275" b="0">
                <a:solidFill>
                  <a:srgbClr val="536675"/>
                </a:solidFill>
                <a:latin typeface="Arial"/>
                <a:ea typeface="Arial"/>
                <a:cs typeface="Arial"/>
              </a:defRPr>
            </a:defPPr>
            <a:lvl1pPr>
              <a:defRPr sz="1275" b="0">
                <a:solidFill>
                  <a:srgbClr val="536675"/>
                </a:solidFill>
                <a:latin typeface="Arial"/>
                <a:ea typeface="Arial"/>
                <a:cs typeface="Arial"/>
              </a:defRPr>
            </a:lvl1pPr>
            <a:lvl2pPr>
              <a:defRPr sz="1275" b="0">
                <a:solidFill>
                  <a:srgbClr val="536675"/>
                </a:solidFill>
                <a:latin typeface="Arial"/>
                <a:ea typeface="Arial"/>
                <a:cs typeface="Arial"/>
              </a:defRPr>
            </a:lvl2pPr>
            <a:lvl3pPr>
              <a:defRPr sz="1275" b="0">
                <a:solidFill>
                  <a:srgbClr val="536675"/>
                </a:solidFill>
                <a:latin typeface="Arial"/>
                <a:ea typeface="Arial"/>
                <a:cs typeface="Arial"/>
              </a:defRPr>
            </a:lvl3pPr>
            <a:lvl4pPr>
              <a:defRPr sz="1275" b="0">
                <a:solidFill>
                  <a:srgbClr val="536675"/>
                </a:solidFill>
                <a:latin typeface="Arial"/>
                <a:ea typeface="Arial"/>
                <a:cs typeface="Arial"/>
              </a:defRPr>
            </a:lvl4pPr>
            <a:lvl5pPr>
              <a:defRPr sz="1275" b="0">
                <a:solidFill>
                  <a:srgbClr val="536675"/>
                </a:solidFill>
                <a:latin typeface="Arial"/>
                <a:ea typeface="Arial"/>
                <a:cs typeface="Arial"/>
              </a:defRPr>
            </a:lvl5pPr>
            <a:lvl6pPr>
              <a:defRPr sz="1275" b="0">
                <a:solidFill>
                  <a:srgbClr val="536675"/>
                </a:solidFill>
                <a:latin typeface="Arial"/>
                <a:ea typeface="Arial"/>
                <a:cs typeface="Arial"/>
              </a:defRPr>
            </a:lvl6pPr>
            <a:lvl7pPr>
              <a:defRPr sz="1275" b="0">
                <a:solidFill>
                  <a:srgbClr val="536675"/>
                </a:solidFill>
                <a:latin typeface="Arial"/>
                <a:ea typeface="Arial"/>
                <a:cs typeface="Arial"/>
              </a:defRPr>
            </a:lvl7pPr>
            <a:lvl8pPr>
              <a:defRPr sz="1275" b="0">
                <a:solidFill>
                  <a:srgbClr val="536675"/>
                </a:solidFill>
                <a:latin typeface="Arial"/>
                <a:ea typeface="Arial"/>
                <a:cs typeface="Arial"/>
              </a:defRPr>
            </a:lvl8pPr>
            <a:lvl9pPr>
              <a:defRPr sz="1275" b="0">
                <a:solidFill>
                  <a:srgbClr val="536675"/>
                </a:solidFill>
                <a:latin typeface="Arial"/>
                <a:ea typeface="Arial"/>
                <a:cs typeface="Arial"/>
              </a:defRPr>
            </a:lvl9pPr>
          </a:lstStyle>
          <a:p>
            <a:pPr>
              <a:defRPr sz="1275" b="0">
                <a:solidFill>
                  <a:srgbClr val="536675"/>
                </a:solidFill>
                <a:latin typeface="Arial"/>
                <a:ea typeface="Arial"/>
                <a:cs typeface="Arial"/>
              </a:defRPr>
            </a:pPr>
            <a:endParaRPr sz="1275" b="0">
              <a:solidFill>
                <a:srgbClr val="000000"/>
              </a:solidFill>
              <a:latin typeface="Calibri" panose="020F0502020204030204" pitchFamily="34" charset="0"/>
              <a:ea typeface="Arial"/>
              <a:cs typeface="Arial"/>
            </a:endParaRPr>
          </a:p>
        </p:txBody>
      </p:sp>
      <p:sp>
        <p:nvSpPr>
          <p:cNvPr id="8" name="TextBox 7">
            <a:extLst>
              <a:ext uri="{FF2B5EF4-FFF2-40B4-BE49-F238E27FC236}">
                <a16:creationId xmlns:a16="http://schemas.microsoft.com/office/drawing/2014/main" id="{0188E6EA-0C4B-BDAE-92A3-9D6A0A1C0A93}"/>
              </a:ext>
            </a:extLst>
          </p:cNvPr>
          <p:cNvSpPr txBox="1"/>
          <p:nvPr/>
        </p:nvSpPr>
        <p:spPr>
          <a:xfrm>
            <a:off x="476250" y="6400800"/>
            <a:ext cx="11074400" cy="323165"/>
          </a:xfrm>
          <a:prstGeom prst="rect">
            <a:avLst/>
          </a:prstGeom>
          <a:noFill/>
        </p:spPr>
        <p:txBody>
          <a:bodyPr vert="horz" lIns="0" tIns="0" rIns="0" bIns="0" rtlCol="0">
            <a:spAutoFit/>
          </a:bodyPr>
          <a:lstStyle/>
          <a:p>
            <a:r>
              <a:rPr lang="en-US" sz="1050">
                <a:solidFill>
                  <a:srgbClr val="000000"/>
                </a:solidFill>
                <a:latin typeface="Calibri" panose="020F0502020204030204" pitchFamily="34" charset="0"/>
              </a:rPr>
              <a:t>[S7] Corrected mission native fuel at phase starts. Altitude diagram and fuel share phase labels, not a true-time scale.
No additional cruise reserve; 20 min independent avionics backup is included. Generic turbine fuel map / 86% efficiency assumed.</a:t>
            </a:r>
          </a:p>
        </p:txBody>
      </p:sp>
      <p:pic>
        <p:nvPicPr>
          <p:cNvPr id="10" name="Picture 9">
            <a:extLst>
              <a:ext uri="{FF2B5EF4-FFF2-40B4-BE49-F238E27FC236}">
                <a16:creationId xmlns:a16="http://schemas.microsoft.com/office/drawing/2014/main" id="{559EA1D5-A315-19F2-EF7C-C2A5EE9DB348}"/>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476250" y="1422400"/>
            <a:ext cx="11239500" cy="4635500"/>
          </a:xfrm>
          <a:prstGeom prst="rect">
            <a:avLst/>
          </a:prstGeom>
        </p:spPr>
      </p:pic>
      <p:sp>
        <p:nvSpPr>
          <p:cNvPr id="11" name="TextBox 10">
            <a:extLst>
              <a:ext uri="{FF2B5EF4-FFF2-40B4-BE49-F238E27FC236}">
                <a16:creationId xmlns:a16="http://schemas.microsoft.com/office/drawing/2014/main" id="{7D1F8506-1C83-51DB-574B-0C708EF331A7}"/>
              </a:ext>
            </a:extLst>
          </p:cNvPr>
          <p:cNvSpPr txBox="1"/>
          <p:nvPr/>
        </p:nvSpPr>
        <p:spPr>
          <a:xfrm>
            <a:off x="11671300" y="6527800"/>
            <a:ext cx="355600" cy="153888"/>
          </a:xfrm>
          <a:prstGeom prst="rect">
            <a:avLst/>
          </a:prstGeom>
          <a:noFill/>
        </p:spPr>
        <p:txBody>
          <a:bodyPr vert="horz" lIns="0" tIns="0" rIns="0" bIns="0" rtlCol="0">
            <a:spAutoFit/>
          </a:bodyPr>
          <a:lstStyle/>
          <a:p>
            <a:r>
              <a:rPr lang="en-US" sz="1000">
                <a:solidFill>
                  <a:srgbClr val="000000"/>
                </a:solidFill>
                <a:latin typeface="Calibri" panose="020F0502020204030204" pitchFamily="34" charset="0"/>
              </a:rPr>
              <a:t>26</a:t>
            </a:r>
          </a:p>
        </p:txBody>
      </p:sp>
    </p:spTree>
    <p:extLst>
      <p:ext uri="{BB962C8B-B14F-4D97-AF65-F5344CB8AC3E}">
        <p14:creationId xmlns:p14="http://schemas.microsoft.com/office/powerpoint/2010/main" val="1571121373"/>
      </p:ext>
    </p:extLst>
  </p:cSld>
  <p:clrMapOvr>
    <a:masterClrMapping/>
  </p:clrMapOvr>
  <p:extLst>
    <p:ext uri="{6950BFC3-D8DA-4A85-94F7-54DA5524770B}">
      <p188:commentRel xmlns:p188="http://schemas.microsoft.com/office/powerpoint/2018/8/main" r:id="rId3"/>
    </p:ext>
  </p:extLst>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BF95D59-47A9-4C5E-BC25-6475EB5CC1A6}"/>
              </a:ext>
            </a:extLst>
          </p:cNvPr>
          <p:cNvSpPr>
            <a:spLocks noGrp="1"/>
          </p:cNvSpPr>
          <p:nvPr/>
        </p:nvSpPr>
        <p:spPr>
          <a:xfrm>
            <a:off x="838200" y="361950"/>
            <a:ext cx="10896600" cy="571500"/>
          </a:xfrm>
          <a:prstGeom prst="rect">
            <a:avLst/>
          </a:prstGeom>
          <a:noFill/>
          <a:ln w="0">
            <a:noFill/>
          </a:ln>
        </p:spPr>
        <p:txBody>
          <a:bodyPr/>
          <a:lstStyle>
            <a:defPPr>
              <a:defRPr sz="2775" b="1">
                <a:solidFill>
                  <a:srgbClr val="173344"/>
                </a:solidFill>
                <a:latin typeface="Arial"/>
                <a:ea typeface="Arial"/>
                <a:cs typeface="Arial"/>
              </a:defRPr>
            </a:defPPr>
            <a:lvl1pPr>
              <a:defRPr sz="2775" b="1">
                <a:solidFill>
                  <a:srgbClr val="173344"/>
                </a:solidFill>
                <a:latin typeface="Arial"/>
                <a:ea typeface="Arial"/>
                <a:cs typeface="Arial"/>
              </a:defRPr>
            </a:lvl1pPr>
            <a:lvl2pPr>
              <a:defRPr sz="2775" b="1">
                <a:solidFill>
                  <a:srgbClr val="173344"/>
                </a:solidFill>
                <a:latin typeface="Arial"/>
                <a:ea typeface="Arial"/>
                <a:cs typeface="Arial"/>
              </a:defRPr>
            </a:lvl2pPr>
            <a:lvl3pPr>
              <a:defRPr sz="2775" b="1">
                <a:solidFill>
                  <a:srgbClr val="173344"/>
                </a:solidFill>
                <a:latin typeface="Arial"/>
                <a:ea typeface="Arial"/>
                <a:cs typeface="Arial"/>
              </a:defRPr>
            </a:lvl3pPr>
            <a:lvl4pPr>
              <a:defRPr sz="2775" b="1">
                <a:solidFill>
                  <a:srgbClr val="173344"/>
                </a:solidFill>
                <a:latin typeface="Arial"/>
                <a:ea typeface="Arial"/>
                <a:cs typeface="Arial"/>
              </a:defRPr>
            </a:lvl4pPr>
            <a:lvl5pPr>
              <a:defRPr sz="2775" b="1">
                <a:solidFill>
                  <a:srgbClr val="173344"/>
                </a:solidFill>
                <a:latin typeface="Arial"/>
                <a:ea typeface="Arial"/>
                <a:cs typeface="Arial"/>
              </a:defRPr>
            </a:lvl5pPr>
            <a:lvl6pPr>
              <a:defRPr sz="2775" b="1">
                <a:solidFill>
                  <a:srgbClr val="173344"/>
                </a:solidFill>
                <a:latin typeface="Arial"/>
                <a:ea typeface="Arial"/>
                <a:cs typeface="Arial"/>
              </a:defRPr>
            </a:lvl6pPr>
            <a:lvl7pPr>
              <a:defRPr sz="2775" b="1">
                <a:solidFill>
                  <a:srgbClr val="173344"/>
                </a:solidFill>
                <a:latin typeface="Arial"/>
                <a:ea typeface="Arial"/>
                <a:cs typeface="Arial"/>
              </a:defRPr>
            </a:lvl7pPr>
            <a:lvl8pPr>
              <a:defRPr sz="2775" b="1">
                <a:solidFill>
                  <a:srgbClr val="173344"/>
                </a:solidFill>
                <a:latin typeface="Arial"/>
                <a:ea typeface="Arial"/>
                <a:cs typeface="Arial"/>
              </a:defRPr>
            </a:lvl8pPr>
            <a:lvl9pPr>
              <a:defRPr sz="2775" b="1">
                <a:solidFill>
                  <a:srgbClr val="173344"/>
                </a:solidFill>
                <a:latin typeface="Arial"/>
                <a:ea typeface="Arial"/>
                <a:cs typeface="Arial"/>
              </a:defRPr>
            </a:lvl9pPr>
          </a:lstStyle>
          <a:p>
            <a:pPr>
              <a:defRPr sz="2775" b="1">
                <a:solidFill>
                  <a:srgbClr val="173344"/>
                </a:solidFill>
                <a:latin typeface="Arial"/>
                <a:ea typeface="Arial"/>
                <a:cs typeface="Arial"/>
              </a:defRPr>
            </a:pPr>
            <a:r>
              <a:rPr sz="2400" b="1">
                <a:solidFill>
                  <a:srgbClr val="000000"/>
                </a:solidFill>
                <a:latin typeface="Calibri" panose="020F0502020204030204" pitchFamily="34" charset="0"/>
                <a:ea typeface="Arial"/>
                <a:cs typeface="Arial"/>
              </a:rPr>
              <a:t>Tiltrotor cruise: power and fuel-flow evidence</a:t>
            </a:r>
          </a:p>
        </p:txBody>
      </p:sp>
      <p:sp>
        <p:nvSpPr>
          <p:cNvPr id="2" name="Rectangle 1">
            <a:extLst>
              <a:ext uri="{FF2B5EF4-FFF2-40B4-BE49-F238E27FC236}">
                <a16:creationId xmlns:a16="http://schemas.microsoft.com/office/drawing/2014/main" id="{7A86991D-ED08-43CA-87DC-81427A66F19F}"/>
              </a:ext>
            </a:extLst>
          </p:cNvPr>
          <p:cNvSpPr>
            <a:spLocks noGrp="1"/>
          </p:cNvSpPr>
          <p:nvPr/>
        </p:nvSpPr>
        <p:spPr>
          <a:xfrm>
            <a:off x="476250" y="876300"/>
            <a:ext cx="11239500" cy="523875"/>
          </a:xfrm>
          <a:prstGeom prst="rect">
            <a:avLst/>
          </a:prstGeom>
          <a:noFill/>
          <a:ln w="0">
            <a:noFill/>
          </a:ln>
        </p:spPr>
        <p:txBody>
          <a:bodyPr/>
          <a:lstStyle>
            <a:defPPr>
              <a:defRPr sz="1575" b="0">
                <a:solidFill>
                  <a:srgbClr val="536675"/>
                </a:solidFill>
                <a:latin typeface="Arial"/>
                <a:ea typeface="Arial"/>
                <a:cs typeface="Arial"/>
              </a:defRPr>
            </a:defPPr>
            <a:lvl1pPr>
              <a:defRPr sz="1575" b="0">
                <a:solidFill>
                  <a:srgbClr val="536675"/>
                </a:solidFill>
                <a:latin typeface="Arial"/>
                <a:ea typeface="Arial"/>
                <a:cs typeface="Arial"/>
              </a:defRPr>
            </a:lvl1pPr>
            <a:lvl2pPr>
              <a:defRPr sz="1575" b="0">
                <a:solidFill>
                  <a:srgbClr val="536675"/>
                </a:solidFill>
                <a:latin typeface="Arial"/>
                <a:ea typeface="Arial"/>
                <a:cs typeface="Arial"/>
              </a:defRPr>
            </a:lvl2pPr>
            <a:lvl3pPr>
              <a:defRPr sz="1575" b="0">
                <a:solidFill>
                  <a:srgbClr val="536675"/>
                </a:solidFill>
                <a:latin typeface="Arial"/>
                <a:ea typeface="Arial"/>
                <a:cs typeface="Arial"/>
              </a:defRPr>
            </a:lvl3pPr>
            <a:lvl4pPr>
              <a:defRPr sz="1575" b="0">
                <a:solidFill>
                  <a:srgbClr val="536675"/>
                </a:solidFill>
                <a:latin typeface="Arial"/>
                <a:ea typeface="Arial"/>
                <a:cs typeface="Arial"/>
              </a:defRPr>
            </a:lvl4pPr>
            <a:lvl5pPr>
              <a:defRPr sz="1575" b="0">
                <a:solidFill>
                  <a:srgbClr val="536675"/>
                </a:solidFill>
                <a:latin typeface="Arial"/>
                <a:ea typeface="Arial"/>
                <a:cs typeface="Arial"/>
              </a:defRPr>
            </a:lvl5pPr>
            <a:lvl6pPr>
              <a:defRPr sz="1575" b="0">
                <a:solidFill>
                  <a:srgbClr val="536675"/>
                </a:solidFill>
                <a:latin typeface="Arial"/>
                <a:ea typeface="Arial"/>
                <a:cs typeface="Arial"/>
              </a:defRPr>
            </a:lvl6pPr>
            <a:lvl7pPr>
              <a:defRPr sz="1575" b="0">
                <a:solidFill>
                  <a:srgbClr val="536675"/>
                </a:solidFill>
                <a:latin typeface="Arial"/>
                <a:ea typeface="Arial"/>
                <a:cs typeface="Arial"/>
              </a:defRPr>
            </a:lvl7pPr>
            <a:lvl8pPr>
              <a:defRPr sz="1575" b="0">
                <a:solidFill>
                  <a:srgbClr val="536675"/>
                </a:solidFill>
                <a:latin typeface="Arial"/>
                <a:ea typeface="Arial"/>
                <a:cs typeface="Arial"/>
              </a:defRPr>
            </a:lvl8pPr>
            <a:lvl9pPr>
              <a:defRPr sz="1575" b="0">
                <a:solidFill>
                  <a:srgbClr val="536675"/>
                </a:solidFill>
                <a:latin typeface="Arial"/>
                <a:ea typeface="Arial"/>
                <a:cs typeface="Arial"/>
              </a:defRPr>
            </a:lvl9pPr>
          </a:lstStyle>
          <a:p>
            <a:pPr>
              <a:defRPr sz="1575" b="0">
                <a:solidFill>
                  <a:srgbClr val="536675"/>
                </a:solidFill>
                <a:latin typeface="Arial"/>
                <a:ea typeface="Arial"/>
                <a:cs typeface="Arial"/>
              </a:defRPr>
            </a:pPr>
            <a:r>
              <a:rPr lang="en-US" sz="1575" b="0">
                <a:solidFill>
                  <a:srgbClr val="000000"/>
                </a:solidFill>
                <a:latin typeface="Calibri" panose="020F0502020204030204" pitchFamily="34" charset="0"/>
                <a:ea typeface="Arial"/>
                <a:cs typeface="Arial"/>
              </a:rPr>
              <a:t>Historical speed sweep: piston points at</a:t>
            </a:r>
            <a:r>
              <a:rPr sz="1575" b="0">
                <a:solidFill>
                  <a:srgbClr val="000000"/>
                </a:solidFill>
                <a:latin typeface="Calibri" panose="020F0502020204030204" pitchFamily="34" charset="0"/>
                <a:ea typeface="Arial"/>
                <a:cs typeface="Arial"/>
              </a:rPr>
              <a:t> 90–110 km/h fail the power check; 140 km/h is the sampled fuel minimum.</a:t>
            </a:r>
          </a:p>
        </p:txBody>
      </p:sp>
      <p:sp>
        <p:nvSpPr>
          <p:cNvPr id="3" name="Rectangle 2">
            <a:extLst>
              <a:ext uri="{FF2B5EF4-FFF2-40B4-BE49-F238E27FC236}">
                <a16:creationId xmlns:a16="http://schemas.microsoft.com/office/drawing/2014/main" id="{D5F580BA-052D-49E1-8BC1-5419096EEB14}"/>
              </a:ext>
            </a:extLst>
          </p:cNvPr>
          <p:cNvSpPr>
            <a:spLocks noGrp="1"/>
          </p:cNvSpPr>
          <p:nvPr/>
        </p:nvSpPr>
        <p:spPr>
          <a:xfrm>
            <a:off x="476250" y="6524625"/>
            <a:ext cx="10477500" cy="190500"/>
          </a:xfrm>
          <a:prstGeom prst="rect">
            <a:avLst/>
          </a:prstGeom>
          <a:noFill/>
          <a:ln w="0">
            <a:noFill/>
          </a:ln>
        </p:spPr>
        <p:txBody>
          <a:bodyPr/>
          <a:lstStyle>
            <a:defPPr>
              <a:defRPr sz="975" b="0">
                <a:solidFill>
                  <a:srgbClr val="536675"/>
                </a:solidFill>
                <a:latin typeface="Arial"/>
                <a:ea typeface="Arial"/>
                <a:cs typeface="Arial"/>
              </a:defRPr>
            </a:defPPr>
            <a:lvl1pPr>
              <a:defRPr sz="975" b="0">
                <a:solidFill>
                  <a:srgbClr val="536675"/>
                </a:solidFill>
                <a:latin typeface="Arial"/>
                <a:ea typeface="Arial"/>
                <a:cs typeface="Arial"/>
              </a:defRPr>
            </a:lvl1pPr>
            <a:lvl2pPr>
              <a:defRPr sz="975" b="0">
                <a:solidFill>
                  <a:srgbClr val="536675"/>
                </a:solidFill>
                <a:latin typeface="Arial"/>
                <a:ea typeface="Arial"/>
                <a:cs typeface="Arial"/>
              </a:defRPr>
            </a:lvl2pPr>
            <a:lvl3pPr>
              <a:defRPr sz="975" b="0">
                <a:solidFill>
                  <a:srgbClr val="536675"/>
                </a:solidFill>
                <a:latin typeface="Arial"/>
                <a:ea typeface="Arial"/>
                <a:cs typeface="Arial"/>
              </a:defRPr>
            </a:lvl3pPr>
            <a:lvl4pPr>
              <a:defRPr sz="975" b="0">
                <a:solidFill>
                  <a:srgbClr val="536675"/>
                </a:solidFill>
                <a:latin typeface="Arial"/>
                <a:ea typeface="Arial"/>
                <a:cs typeface="Arial"/>
              </a:defRPr>
            </a:lvl4pPr>
            <a:lvl5pPr>
              <a:defRPr sz="975" b="0">
                <a:solidFill>
                  <a:srgbClr val="536675"/>
                </a:solidFill>
                <a:latin typeface="Arial"/>
                <a:ea typeface="Arial"/>
                <a:cs typeface="Arial"/>
              </a:defRPr>
            </a:lvl5pPr>
            <a:lvl6pPr>
              <a:defRPr sz="975" b="0">
                <a:solidFill>
                  <a:srgbClr val="536675"/>
                </a:solidFill>
                <a:latin typeface="Arial"/>
                <a:ea typeface="Arial"/>
                <a:cs typeface="Arial"/>
              </a:defRPr>
            </a:lvl6pPr>
            <a:lvl7pPr>
              <a:defRPr sz="975" b="0">
                <a:solidFill>
                  <a:srgbClr val="536675"/>
                </a:solidFill>
                <a:latin typeface="Arial"/>
                <a:ea typeface="Arial"/>
                <a:cs typeface="Arial"/>
              </a:defRPr>
            </a:lvl7pPr>
            <a:lvl8pPr>
              <a:defRPr sz="975" b="0">
                <a:solidFill>
                  <a:srgbClr val="536675"/>
                </a:solidFill>
                <a:latin typeface="Arial"/>
                <a:ea typeface="Arial"/>
                <a:cs typeface="Arial"/>
              </a:defRPr>
            </a:lvl8pPr>
            <a:lvl9pPr>
              <a:defRPr sz="975" b="0">
                <a:solidFill>
                  <a:srgbClr val="536675"/>
                </a:solidFill>
                <a:latin typeface="Arial"/>
                <a:ea typeface="Arial"/>
                <a:cs typeface="Arial"/>
              </a:defRPr>
            </a:lvl9pPr>
          </a:lstStyle>
          <a:p>
            <a:pPr>
              <a:defRPr sz="975" b="0">
                <a:solidFill>
                  <a:srgbClr val="536675"/>
                </a:solidFill>
                <a:latin typeface="Arial"/>
                <a:ea typeface="Arial"/>
                <a:cs typeface="Arial"/>
              </a:defRPr>
            </a:pPr>
            <a:endParaRPr sz="975" b="0">
              <a:solidFill>
                <a:srgbClr val="000000"/>
              </a:solidFill>
              <a:latin typeface="Calibri" panose="020F0502020204030204" pitchFamily="34" charset="0"/>
              <a:ea typeface="Arial"/>
              <a:cs typeface="Arial"/>
            </a:endParaRPr>
          </a:p>
        </p:txBody>
      </p:sp>
      <p:sp>
        <p:nvSpPr>
          <p:cNvPr id="4" name="Rectangle 3">
            <a:extLst>
              <a:ext uri="{FF2B5EF4-FFF2-40B4-BE49-F238E27FC236}">
                <a16:creationId xmlns:a16="http://schemas.microsoft.com/office/drawing/2014/main" id="{DBB8ED07-258E-4AB0-94D2-A0229A3AC65C}"/>
              </a:ext>
            </a:extLst>
          </p:cNvPr>
          <p:cNvSpPr>
            <a:spLocks noGrp="1"/>
          </p:cNvSpPr>
          <p:nvPr/>
        </p:nvSpPr>
        <p:spPr>
          <a:xfrm>
            <a:off x="11334750" y="6496050"/>
            <a:ext cx="381000" cy="228600"/>
          </a:xfrm>
          <a:prstGeom prst="rect">
            <a:avLst/>
          </a:prstGeom>
          <a:noFill/>
          <a:ln w="0">
            <a:noFill/>
          </a:ln>
        </p:spPr>
        <p:txBody>
          <a:bodyPr/>
          <a:lstStyle>
            <a:defPPr>
              <a:defRPr sz="1200" b="0">
                <a:solidFill>
                  <a:srgbClr val="536675"/>
                </a:solidFill>
                <a:latin typeface="Arial"/>
                <a:ea typeface="Arial"/>
                <a:cs typeface="Arial"/>
              </a:defRPr>
            </a:defPPr>
            <a:lvl1pPr>
              <a:defRPr sz="1200" b="0">
                <a:solidFill>
                  <a:srgbClr val="536675"/>
                </a:solidFill>
                <a:latin typeface="Arial"/>
                <a:ea typeface="Arial"/>
                <a:cs typeface="Arial"/>
              </a:defRPr>
            </a:lvl1pPr>
            <a:lvl2pPr>
              <a:defRPr sz="1200" b="0">
                <a:solidFill>
                  <a:srgbClr val="536675"/>
                </a:solidFill>
                <a:latin typeface="Arial"/>
                <a:ea typeface="Arial"/>
                <a:cs typeface="Arial"/>
              </a:defRPr>
            </a:lvl2pPr>
            <a:lvl3pPr>
              <a:defRPr sz="1200" b="0">
                <a:solidFill>
                  <a:srgbClr val="536675"/>
                </a:solidFill>
                <a:latin typeface="Arial"/>
                <a:ea typeface="Arial"/>
                <a:cs typeface="Arial"/>
              </a:defRPr>
            </a:lvl3pPr>
            <a:lvl4pPr>
              <a:defRPr sz="1200" b="0">
                <a:solidFill>
                  <a:srgbClr val="536675"/>
                </a:solidFill>
                <a:latin typeface="Arial"/>
                <a:ea typeface="Arial"/>
                <a:cs typeface="Arial"/>
              </a:defRPr>
            </a:lvl4pPr>
            <a:lvl5pPr>
              <a:defRPr sz="1200" b="0">
                <a:solidFill>
                  <a:srgbClr val="536675"/>
                </a:solidFill>
                <a:latin typeface="Arial"/>
                <a:ea typeface="Arial"/>
                <a:cs typeface="Arial"/>
              </a:defRPr>
            </a:lvl5pPr>
            <a:lvl6pPr>
              <a:defRPr sz="1200" b="0">
                <a:solidFill>
                  <a:srgbClr val="536675"/>
                </a:solidFill>
                <a:latin typeface="Arial"/>
                <a:ea typeface="Arial"/>
                <a:cs typeface="Arial"/>
              </a:defRPr>
            </a:lvl6pPr>
            <a:lvl7pPr>
              <a:defRPr sz="1200" b="0">
                <a:solidFill>
                  <a:srgbClr val="536675"/>
                </a:solidFill>
                <a:latin typeface="Arial"/>
                <a:ea typeface="Arial"/>
                <a:cs typeface="Arial"/>
              </a:defRPr>
            </a:lvl7pPr>
            <a:lvl8pPr>
              <a:defRPr sz="1200" b="0">
                <a:solidFill>
                  <a:srgbClr val="536675"/>
                </a:solidFill>
                <a:latin typeface="Arial"/>
                <a:ea typeface="Arial"/>
                <a:cs typeface="Arial"/>
              </a:defRPr>
            </a:lvl8pPr>
            <a:lvl9pPr>
              <a:defRPr sz="1200" b="0">
                <a:solidFill>
                  <a:srgbClr val="536675"/>
                </a:solidFill>
                <a:latin typeface="Arial"/>
                <a:ea typeface="Arial"/>
                <a:cs typeface="Arial"/>
              </a:defRPr>
            </a:lvl9pPr>
          </a:lstStyle>
          <a:p>
            <a:pPr>
              <a:defRPr sz="1200" b="0">
                <a:solidFill>
                  <a:srgbClr val="536675"/>
                </a:solidFill>
                <a:latin typeface="Arial"/>
                <a:ea typeface="Arial"/>
                <a:cs typeface="Arial"/>
              </a:defRPr>
            </a:pPr>
            <a:endParaRPr sz="1200" b="0">
              <a:solidFill>
                <a:srgbClr val="000000"/>
              </a:solidFill>
              <a:latin typeface="Calibri" panose="020F0502020204030204" pitchFamily="34" charset="0"/>
              <a:ea typeface="Arial"/>
              <a:cs typeface="Arial"/>
            </a:endParaRPr>
          </a:p>
        </p:txBody>
      </p:sp>
      <p:pic>
        <p:nvPicPr>
          <p:cNvPr id="5" name="Picture 4">
            <a:extLst>
              <a:ext uri="{FF2B5EF4-FFF2-40B4-BE49-F238E27FC236}">
                <a16:creationId xmlns:a16="http://schemas.microsoft.com/office/drawing/2014/main" id="{098E1E6C-9F6B-4C16-A78C-897CC5A9C75A}"/>
              </a:ext>
            </a:extLst>
          </p:cNvPr>
          <p:cNvPicPr>
            <a:picLocks noChangeAspect="1"/>
          </p:cNvPicPr>
          <p:nvPr/>
        </p:nvPicPr>
        <p:blipFill>
          <a:blip r:embed="rId3"/>
          <a:stretch/>
        </p:blipFill>
        <p:spPr>
          <a:xfrm>
            <a:off x="380771" y="1428750"/>
            <a:ext cx="11430458" cy="4362450"/>
          </a:xfrm>
          <a:prstGeom prst="rect">
            <a:avLst/>
          </a:prstGeom>
        </p:spPr>
      </p:pic>
      <p:sp>
        <p:nvSpPr>
          <p:cNvPr id="6" name="Rectangle 5">
            <a:extLst>
              <a:ext uri="{FF2B5EF4-FFF2-40B4-BE49-F238E27FC236}">
                <a16:creationId xmlns:a16="http://schemas.microsoft.com/office/drawing/2014/main" id="{A30017EB-D7A1-4207-9251-332CFFF09D17}"/>
              </a:ext>
            </a:extLst>
          </p:cNvPr>
          <p:cNvSpPr>
            <a:spLocks noGrp="1"/>
          </p:cNvSpPr>
          <p:nvPr/>
        </p:nvSpPr>
        <p:spPr>
          <a:xfrm>
            <a:off x="476250" y="6010275"/>
            <a:ext cx="11239500" cy="447675"/>
          </a:xfrm>
          <a:prstGeom prst="rect">
            <a:avLst/>
          </a:prstGeom>
          <a:noFill/>
          <a:ln w="0">
            <a:noFill/>
          </a:ln>
        </p:spPr>
        <p:txBody>
          <a:bodyPr/>
          <a:lstStyle>
            <a:defPPr>
              <a:defRPr sz="1275" b="0">
                <a:solidFill>
                  <a:srgbClr val="536675"/>
                </a:solidFill>
                <a:latin typeface="Arial"/>
                <a:ea typeface="Arial"/>
                <a:cs typeface="Arial"/>
              </a:defRPr>
            </a:defPPr>
            <a:lvl1pPr>
              <a:defRPr sz="1275" b="0">
                <a:solidFill>
                  <a:srgbClr val="536675"/>
                </a:solidFill>
                <a:latin typeface="Arial"/>
                <a:ea typeface="Arial"/>
                <a:cs typeface="Arial"/>
              </a:defRPr>
            </a:lvl1pPr>
            <a:lvl2pPr>
              <a:defRPr sz="1275" b="0">
                <a:solidFill>
                  <a:srgbClr val="536675"/>
                </a:solidFill>
                <a:latin typeface="Arial"/>
                <a:ea typeface="Arial"/>
                <a:cs typeface="Arial"/>
              </a:defRPr>
            </a:lvl2pPr>
            <a:lvl3pPr>
              <a:defRPr sz="1275" b="0">
                <a:solidFill>
                  <a:srgbClr val="536675"/>
                </a:solidFill>
                <a:latin typeface="Arial"/>
                <a:ea typeface="Arial"/>
                <a:cs typeface="Arial"/>
              </a:defRPr>
            </a:lvl3pPr>
            <a:lvl4pPr>
              <a:defRPr sz="1275" b="0">
                <a:solidFill>
                  <a:srgbClr val="536675"/>
                </a:solidFill>
                <a:latin typeface="Arial"/>
                <a:ea typeface="Arial"/>
                <a:cs typeface="Arial"/>
              </a:defRPr>
            </a:lvl4pPr>
            <a:lvl5pPr>
              <a:defRPr sz="1275" b="0">
                <a:solidFill>
                  <a:srgbClr val="536675"/>
                </a:solidFill>
                <a:latin typeface="Arial"/>
                <a:ea typeface="Arial"/>
                <a:cs typeface="Arial"/>
              </a:defRPr>
            </a:lvl5pPr>
            <a:lvl6pPr>
              <a:defRPr sz="1275" b="0">
                <a:solidFill>
                  <a:srgbClr val="536675"/>
                </a:solidFill>
                <a:latin typeface="Arial"/>
                <a:ea typeface="Arial"/>
                <a:cs typeface="Arial"/>
              </a:defRPr>
            </a:lvl6pPr>
            <a:lvl7pPr>
              <a:defRPr sz="1275" b="0">
                <a:solidFill>
                  <a:srgbClr val="536675"/>
                </a:solidFill>
                <a:latin typeface="Arial"/>
                <a:ea typeface="Arial"/>
                <a:cs typeface="Arial"/>
              </a:defRPr>
            </a:lvl7pPr>
            <a:lvl8pPr>
              <a:defRPr sz="1275" b="0">
                <a:solidFill>
                  <a:srgbClr val="536675"/>
                </a:solidFill>
                <a:latin typeface="Arial"/>
                <a:ea typeface="Arial"/>
                <a:cs typeface="Arial"/>
              </a:defRPr>
            </a:lvl8pPr>
            <a:lvl9pPr>
              <a:defRPr sz="1275" b="0">
                <a:solidFill>
                  <a:srgbClr val="536675"/>
                </a:solidFill>
                <a:latin typeface="Arial"/>
                <a:ea typeface="Arial"/>
                <a:cs typeface="Arial"/>
              </a:defRPr>
            </a:lvl9pPr>
          </a:lstStyle>
          <a:p>
            <a:pPr>
              <a:defRPr sz="1275" b="0">
                <a:solidFill>
                  <a:srgbClr val="536675"/>
                </a:solidFill>
                <a:latin typeface="Arial"/>
                <a:ea typeface="Arial"/>
                <a:cs typeface="Arial"/>
              </a:defRPr>
            </a:pPr>
            <a:endParaRPr sz="1275" b="0">
              <a:solidFill>
                <a:srgbClr val="000000"/>
              </a:solidFill>
              <a:latin typeface="Calibri" panose="020F0502020204030204" pitchFamily="34" charset="0"/>
              <a:ea typeface="Arial"/>
              <a:cs typeface="Arial"/>
            </a:endParaRPr>
          </a:p>
        </p:txBody>
      </p:sp>
      <p:sp>
        <p:nvSpPr>
          <p:cNvPr id="8" name="TextBox 7">
            <a:extLst>
              <a:ext uri="{FF2B5EF4-FFF2-40B4-BE49-F238E27FC236}">
                <a16:creationId xmlns:a16="http://schemas.microsoft.com/office/drawing/2014/main" id="{9AFCB7A4-D532-2E1D-C6CF-56850DCA34D3}"/>
              </a:ext>
            </a:extLst>
          </p:cNvPr>
          <p:cNvSpPr txBox="1"/>
          <p:nvPr/>
        </p:nvSpPr>
        <p:spPr>
          <a:xfrm>
            <a:off x="476250" y="6400800"/>
            <a:ext cx="11074400" cy="161583"/>
          </a:xfrm>
          <a:prstGeom prst="rect">
            <a:avLst/>
          </a:prstGeom>
          <a:noFill/>
        </p:spPr>
        <p:txBody>
          <a:bodyPr vert="horz" lIns="0" tIns="0" rIns="0" bIns="0" rtlCol="0">
            <a:spAutoFit/>
          </a:bodyPr>
          <a:lstStyle/>
          <a:p>
            <a:endParaRPr lang="en-US" sz="1050">
              <a:solidFill>
                <a:srgbClr val="000000"/>
              </a:solidFill>
              <a:latin typeface="Calibri" panose="020F0502020204030204" pitchFamily="34" charset="0"/>
            </a:endParaRPr>
          </a:p>
        </p:txBody>
      </p:sp>
      <p:sp>
        <p:nvSpPr>
          <p:cNvPr id="9" name="TextBox 8">
            <a:extLst>
              <a:ext uri="{FF2B5EF4-FFF2-40B4-BE49-F238E27FC236}">
                <a16:creationId xmlns:a16="http://schemas.microsoft.com/office/drawing/2014/main" id="{582F7BCD-8F07-FA77-523D-1D3E0153EC00}"/>
              </a:ext>
            </a:extLst>
          </p:cNvPr>
          <p:cNvSpPr txBox="1"/>
          <p:nvPr/>
        </p:nvSpPr>
        <p:spPr>
          <a:xfrm>
            <a:off x="11671300" y="6527800"/>
            <a:ext cx="355600" cy="153888"/>
          </a:xfrm>
          <a:prstGeom prst="rect">
            <a:avLst/>
          </a:prstGeom>
          <a:noFill/>
        </p:spPr>
        <p:txBody>
          <a:bodyPr vert="horz" lIns="0" tIns="0" rIns="0" bIns="0" rtlCol="0">
            <a:spAutoFit/>
          </a:bodyPr>
          <a:lstStyle/>
          <a:p>
            <a:r>
              <a:rPr lang="en-US" sz="1000">
                <a:solidFill>
                  <a:srgbClr val="000000"/>
                </a:solidFill>
                <a:latin typeface="Calibri" panose="020F0502020204030204" pitchFamily="34" charset="0"/>
              </a:rPr>
              <a:t>27</a:t>
            </a:r>
          </a:p>
        </p:txBody>
      </p:sp>
      <p:sp>
        <p:nvSpPr>
          <p:cNvPr id="10" name="TextBox 9">
            <a:extLst>
              <a:ext uri="{FF2B5EF4-FFF2-40B4-BE49-F238E27FC236}">
                <a16:creationId xmlns:a16="http://schemas.microsoft.com/office/drawing/2014/main" id="{C87D7F97-A964-243D-1F96-43CFE5F095AC}"/>
              </a:ext>
            </a:extLst>
          </p:cNvPr>
          <p:cNvSpPr txBox="1"/>
          <p:nvPr/>
        </p:nvSpPr>
        <p:spPr>
          <a:xfrm>
            <a:off x="476250" y="6400800"/>
            <a:ext cx="11074400" cy="369332"/>
          </a:xfrm>
          <a:prstGeom prst="rect">
            <a:avLst/>
          </a:prstGeom>
          <a:noFill/>
        </p:spPr>
        <p:txBody>
          <a:bodyPr vert="horz" lIns="0" tIns="0" rtlCol="0">
            <a:spAutoFit/>
          </a:bodyPr>
          <a:lstStyle/>
          <a:p>
            <a:r>
              <a:rPr lang="en-US" sz="1050">
                <a:solidFill>
                  <a:srgbClr val="000000"/>
                </a:solidFill>
                <a:latin typeface="Calibri" panose="020F0502020204030204" pitchFamily="34" charset="0"/>
              </a:rPr>
              <a:t>[S10] Historical cruise sweep: × native power violation; rings pass native + 1.2Vs checks; dashed lines show available power.</a:t>
            </a:r>
          </a:p>
          <a:p>
            <a:r>
              <a:rPr lang="en-US" sz="1050">
                <a:solidFill>
                  <a:srgbClr val="000000"/>
                </a:solidFill>
                <a:latin typeface="Calibri" panose="020F0502020204030204" pitchFamily="34" charset="0"/>
              </a:rPr>
              <a:t>[S7] Corrected selected designs separately checked. Gaps at 90–110 km/h are flagged points, not missing interpolation.</a:t>
            </a:r>
          </a:p>
        </p:txBody>
      </p:sp>
    </p:spTree>
    <p:extLst>
      <p:ext uri="{BB962C8B-B14F-4D97-AF65-F5344CB8AC3E}">
        <p14:creationId xmlns:p14="http://schemas.microsoft.com/office/powerpoint/2010/main" val="1401248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3395EC3-8C07-4AEE-93DF-997361F33D14}"/>
              </a:ext>
            </a:extLst>
          </p:cNvPr>
          <p:cNvSpPr>
            <a:spLocks noGrp="1"/>
          </p:cNvSpPr>
          <p:nvPr/>
        </p:nvSpPr>
        <p:spPr>
          <a:xfrm>
            <a:off x="838200" y="361950"/>
            <a:ext cx="10896600" cy="571500"/>
          </a:xfrm>
          <a:prstGeom prst="rect">
            <a:avLst/>
          </a:prstGeom>
          <a:noFill/>
          <a:ln w="0">
            <a:noFill/>
          </a:ln>
        </p:spPr>
        <p:txBody>
          <a:bodyPr/>
          <a:lstStyle>
            <a:defPPr>
              <a:defRPr sz="2775" b="1">
                <a:solidFill>
                  <a:srgbClr val="173344"/>
                </a:solidFill>
                <a:latin typeface="Arial"/>
                <a:ea typeface="Arial"/>
                <a:cs typeface="Arial"/>
              </a:defRPr>
            </a:defPPr>
            <a:lvl1pPr>
              <a:defRPr sz="2775" b="1">
                <a:solidFill>
                  <a:srgbClr val="173344"/>
                </a:solidFill>
                <a:latin typeface="Arial"/>
                <a:ea typeface="Arial"/>
                <a:cs typeface="Arial"/>
              </a:defRPr>
            </a:lvl1pPr>
            <a:lvl2pPr>
              <a:defRPr sz="2775" b="1">
                <a:solidFill>
                  <a:srgbClr val="173344"/>
                </a:solidFill>
                <a:latin typeface="Arial"/>
                <a:ea typeface="Arial"/>
                <a:cs typeface="Arial"/>
              </a:defRPr>
            </a:lvl2pPr>
            <a:lvl3pPr>
              <a:defRPr sz="2775" b="1">
                <a:solidFill>
                  <a:srgbClr val="173344"/>
                </a:solidFill>
                <a:latin typeface="Arial"/>
                <a:ea typeface="Arial"/>
                <a:cs typeface="Arial"/>
              </a:defRPr>
            </a:lvl3pPr>
            <a:lvl4pPr>
              <a:defRPr sz="2775" b="1">
                <a:solidFill>
                  <a:srgbClr val="173344"/>
                </a:solidFill>
                <a:latin typeface="Arial"/>
                <a:ea typeface="Arial"/>
                <a:cs typeface="Arial"/>
              </a:defRPr>
            </a:lvl4pPr>
            <a:lvl5pPr>
              <a:defRPr sz="2775" b="1">
                <a:solidFill>
                  <a:srgbClr val="173344"/>
                </a:solidFill>
                <a:latin typeface="Arial"/>
                <a:ea typeface="Arial"/>
                <a:cs typeface="Arial"/>
              </a:defRPr>
            </a:lvl5pPr>
            <a:lvl6pPr>
              <a:defRPr sz="2775" b="1">
                <a:solidFill>
                  <a:srgbClr val="173344"/>
                </a:solidFill>
                <a:latin typeface="Arial"/>
                <a:ea typeface="Arial"/>
                <a:cs typeface="Arial"/>
              </a:defRPr>
            </a:lvl6pPr>
            <a:lvl7pPr>
              <a:defRPr sz="2775" b="1">
                <a:solidFill>
                  <a:srgbClr val="173344"/>
                </a:solidFill>
                <a:latin typeface="Arial"/>
                <a:ea typeface="Arial"/>
                <a:cs typeface="Arial"/>
              </a:defRPr>
            </a:lvl7pPr>
            <a:lvl8pPr>
              <a:defRPr sz="2775" b="1">
                <a:solidFill>
                  <a:srgbClr val="173344"/>
                </a:solidFill>
                <a:latin typeface="Arial"/>
                <a:ea typeface="Arial"/>
                <a:cs typeface="Arial"/>
              </a:defRPr>
            </a:lvl8pPr>
            <a:lvl9pPr>
              <a:defRPr sz="2775" b="1">
                <a:solidFill>
                  <a:srgbClr val="173344"/>
                </a:solidFill>
                <a:latin typeface="Arial"/>
                <a:ea typeface="Arial"/>
                <a:cs typeface="Arial"/>
              </a:defRPr>
            </a:lvl9pPr>
          </a:lstStyle>
          <a:p>
            <a:pPr>
              <a:defRPr sz="2775" b="1">
                <a:solidFill>
                  <a:srgbClr val="173344"/>
                </a:solidFill>
                <a:latin typeface="Arial"/>
                <a:ea typeface="Arial"/>
                <a:cs typeface="Arial"/>
              </a:defRPr>
            </a:pPr>
            <a:r>
              <a:rPr sz="2400" b="1" dirty="0">
                <a:solidFill>
                  <a:srgbClr val="000000"/>
                </a:solidFill>
                <a:latin typeface="Calibri" panose="020F0502020204030204" pitchFamily="34" charset="0"/>
                <a:ea typeface="Arial"/>
                <a:cs typeface="Arial"/>
              </a:rPr>
              <a:t>Tiltrotor candidate limits and installed power</a:t>
            </a:r>
          </a:p>
        </p:txBody>
      </p:sp>
      <p:sp>
        <p:nvSpPr>
          <p:cNvPr id="2" name="Rectangle 1">
            <a:extLst>
              <a:ext uri="{FF2B5EF4-FFF2-40B4-BE49-F238E27FC236}">
                <a16:creationId xmlns:a16="http://schemas.microsoft.com/office/drawing/2014/main" id="{BA01FABA-B6FA-4348-A357-EE837A7B1DD5}"/>
              </a:ext>
            </a:extLst>
          </p:cNvPr>
          <p:cNvSpPr>
            <a:spLocks noGrp="1"/>
          </p:cNvSpPr>
          <p:nvPr/>
        </p:nvSpPr>
        <p:spPr>
          <a:xfrm>
            <a:off x="476250" y="876300"/>
            <a:ext cx="11239500" cy="523875"/>
          </a:xfrm>
          <a:prstGeom prst="rect">
            <a:avLst/>
          </a:prstGeom>
          <a:noFill/>
          <a:ln w="0">
            <a:noFill/>
          </a:ln>
        </p:spPr>
        <p:txBody>
          <a:bodyPr/>
          <a:lstStyle>
            <a:defPPr>
              <a:defRPr sz="1575" b="0">
                <a:solidFill>
                  <a:srgbClr val="536675"/>
                </a:solidFill>
                <a:latin typeface="Arial"/>
                <a:ea typeface="Arial"/>
                <a:cs typeface="Arial"/>
              </a:defRPr>
            </a:defPPr>
            <a:lvl1pPr>
              <a:defRPr sz="1575" b="0">
                <a:solidFill>
                  <a:srgbClr val="536675"/>
                </a:solidFill>
                <a:latin typeface="Arial"/>
                <a:ea typeface="Arial"/>
                <a:cs typeface="Arial"/>
              </a:defRPr>
            </a:lvl1pPr>
            <a:lvl2pPr>
              <a:defRPr sz="1575" b="0">
                <a:solidFill>
                  <a:srgbClr val="536675"/>
                </a:solidFill>
                <a:latin typeface="Arial"/>
                <a:ea typeface="Arial"/>
                <a:cs typeface="Arial"/>
              </a:defRPr>
            </a:lvl2pPr>
            <a:lvl3pPr>
              <a:defRPr sz="1575" b="0">
                <a:solidFill>
                  <a:srgbClr val="536675"/>
                </a:solidFill>
                <a:latin typeface="Arial"/>
                <a:ea typeface="Arial"/>
                <a:cs typeface="Arial"/>
              </a:defRPr>
            </a:lvl3pPr>
            <a:lvl4pPr>
              <a:defRPr sz="1575" b="0">
                <a:solidFill>
                  <a:srgbClr val="536675"/>
                </a:solidFill>
                <a:latin typeface="Arial"/>
                <a:ea typeface="Arial"/>
                <a:cs typeface="Arial"/>
              </a:defRPr>
            </a:lvl4pPr>
            <a:lvl5pPr>
              <a:defRPr sz="1575" b="0">
                <a:solidFill>
                  <a:srgbClr val="536675"/>
                </a:solidFill>
                <a:latin typeface="Arial"/>
                <a:ea typeface="Arial"/>
                <a:cs typeface="Arial"/>
              </a:defRPr>
            </a:lvl5pPr>
            <a:lvl6pPr>
              <a:defRPr sz="1575" b="0">
                <a:solidFill>
                  <a:srgbClr val="536675"/>
                </a:solidFill>
                <a:latin typeface="Arial"/>
                <a:ea typeface="Arial"/>
                <a:cs typeface="Arial"/>
              </a:defRPr>
            </a:lvl6pPr>
            <a:lvl7pPr>
              <a:defRPr sz="1575" b="0">
                <a:solidFill>
                  <a:srgbClr val="536675"/>
                </a:solidFill>
                <a:latin typeface="Arial"/>
                <a:ea typeface="Arial"/>
                <a:cs typeface="Arial"/>
              </a:defRPr>
            </a:lvl7pPr>
            <a:lvl8pPr>
              <a:defRPr sz="1575" b="0">
                <a:solidFill>
                  <a:srgbClr val="536675"/>
                </a:solidFill>
                <a:latin typeface="Arial"/>
                <a:ea typeface="Arial"/>
                <a:cs typeface="Arial"/>
              </a:defRPr>
            </a:lvl8pPr>
            <a:lvl9pPr>
              <a:defRPr sz="1575" b="0">
                <a:solidFill>
                  <a:srgbClr val="536675"/>
                </a:solidFill>
                <a:latin typeface="Arial"/>
                <a:ea typeface="Arial"/>
                <a:cs typeface="Arial"/>
              </a:defRPr>
            </a:lvl9pPr>
          </a:lstStyle>
          <a:p>
            <a:pPr>
              <a:defRPr sz="1575" b="0">
                <a:solidFill>
                  <a:srgbClr val="536675"/>
                </a:solidFill>
                <a:latin typeface="Arial"/>
                <a:ea typeface="Arial"/>
                <a:cs typeface="Arial"/>
              </a:defRPr>
            </a:pPr>
            <a:r>
              <a:rPr lang="en-US" b="0">
                <a:solidFill>
                  <a:srgbClr val="000000"/>
                </a:solidFill>
                <a:latin typeface="Calibri" panose="020F0502020204030204" pitchFamily="34" charset="0"/>
                <a:ea typeface="Arial"/>
                <a:cs typeface="Arial"/>
              </a:rPr>
              <a:t>The corrected 160 km/h points pass native checks; neither tiltrotor has a fully matched installation.</a:t>
            </a:r>
            <a:endParaRPr b="0">
              <a:solidFill>
                <a:srgbClr val="000000"/>
              </a:solidFill>
              <a:latin typeface="Calibri" panose="020F0502020204030204" pitchFamily="34" charset="0"/>
              <a:ea typeface="Arial"/>
              <a:cs typeface="Arial"/>
            </a:endParaRPr>
          </a:p>
        </p:txBody>
      </p:sp>
      <p:sp>
        <p:nvSpPr>
          <p:cNvPr id="3" name="Rectangle 2">
            <a:extLst>
              <a:ext uri="{FF2B5EF4-FFF2-40B4-BE49-F238E27FC236}">
                <a16:creationId xmlns:a16="http://schemas.microsoft.com/office/drawing/2014/main" id="{C8C28B89-B750-4701-B304-D9E35342F22E}"/>
              </a:ext>
            </a:extLst>
          </p:cNvPr>
          <p:cNvSpPr>
            <a:spLocks noGrp="1"/>
          </p:cNvSpPr>
          <p:nvPr/>
        </p:nvSpPr>
        <p:spPr>
          <a:xfrm>
            <a:off x="476250" y="6524625"/>
            <a:ext cx="10477500" cy="190500"/>
          </a:xfrm>
          <a:prstGeom prst="rect">
            <a:avLst/>
          </a:prstGeom>
          <a:noFill/>
          <a:ln w="0">
            <a:noFill/>
          </a:ln>
        </p:spPr>
        <p:txBody>
          <a:bodyPr/>
          <a:lstStyle>
            <a:defPPr>
              <a:defRPr sz="975" b="0">
                <a:solidFill>
                  <a:srgbClr val="536675"/>
                </a:solidFill>
                <a:latin typeface="Arial"/>
                <a:ea typeface="Arial"/>
                <a:cs typeface="Arial"/>
              </a:defRPr>
            </a:defPPr>
            <a:lvl1pPr>
              <a:defRPr sz="975" b="0">
                <a:solidFill>
                  <a:srgbClr val="536675"/>
                </a:solidFill>
                <a:latin typeface="Arial"/>
                <a:ea typeface="Arial"/>
                <a:cs typeface="Arial"/>
              </a:defRPr>
            </a:lvl1pPr>
            <a:lvl2pPr>
              <a:defRPr sz="975" b="0">
                <a:solidFill>
                  <a:srgbClr val="536675"/>
                </a:solidFill>
                <a:latin typeface="Arial"/>
                <a:ea typeface="Arial"/>
                <a:cs typeface="Arial"/>
              </a:defRPr>
            </a:lvl2pPr>
            <a:lvl3pPr>
              <a:defRPr sz="975" b="0">
                <a:solidFill>
                  <a:srgbClr val="536675"/>
                </a:solidFill>
                <a:latin typeface="Arial"/>
                <a:ea typeface="Arial"/>
                <a:cs typeface="Arial"/>
              </a:defRPr>
            </a:lvl3pPr>
            <a:lvl4pPr>
              <a:defRPr sz="975" b="0">
                <a:solidFill>
                  <a:srgbClr val="536675"/>
                </a:solidFill>
                <a:latin typeface="Arial"/>
                <a:ea typeface="Arial"/>
                <a:cs typeface="Arial"/>
              </a:defRPr>
            </a:lvl4pPr>
            <a:lvl5pPr>
              <a:defRPr sz="975" b="0">
                <a:solidFill>
                  <a:srgbClr val="536675"/>
                </a:solidFill>
                <a:latin typeface="Arial"/>
                <a:ea typeface="Arial"/>
                <a:cs typeface="Arial"/>
              </a:defRPr>
            </a:lvl5pPr>
            <a:lvl6pPr>
              <a:defRPr sz="975" b="0">
                <a:solidFill>
                  <a:srgbClr val="536675"/>
                </a:solidFill>
                <a:latin typeface="Arial"/>
                <a:ea typeface="Arial"/>
                <a:cs typeface="Arial"/>
              </a:defRPr>
            </a:lvl6pPr>
            <a:lvl7pPr>
              <a:defRPr sz="975" b="0">
                <a:solidFill>
                  <a:srgbClr val="536675"/>
                </a:solidFill>
                <a:latin typeface="Arial"/>
                <a:ea typeface="Arial"/>
                <a:cs typeface="Arial"/>
              </a:defRPr>
            </a:lvl7pPr>
            <a:lvl8pPr>
              <a:defRPr sz="975" b="0">
                <a:solidFill>
                  <a:srgbClr val="536675"/>
                </a:solidFill>
                <a:latin typeface="Arial"/>
                <a:ea typeface="Arial"/>
                <a:cs typeface="Arial"/>
              </a:defRPr>
            </a:lvl8pPr>
            <a:lvl9pPr>
              <a:defRPr sz="975" b="0">
                <a:solidFill>
                  <a:srgbClr val="536675"/>
                </a:solidFill>
                <a:latin typeface="Arial"/>
                <a:ea typeface="Arial"/>
                <a:cs typeface="Arial"/>
              </a:defRPr>
            </a:lvl9pPr>
          </a:lstStyle>
          <a:p>
            <a:pPr>
              <a:defRPr sz="975" b="0">
                <a:solidFill>
                  <a:srgbClr val="536675"/>
                </a:solidFill>
                <a:latin typeface="Arial"/>
                <a:ea typeface="Arial"/>
                <a:cs typeface="Arial"/>
              </a:defRPr>
            </a:pPr>
            <a:endParaRPr sz="975" b="0">
              <a:solidFill>
                <a:srgbClr val="000000"/>
              </a:solidFill>
              <a:latin typeface="Calibri" panose="020F0502020204030204" pitchFamily="34" charset="0"/>
              <a:ea typeface="Arial"/>
              <a:cs typeface="Arial"/>
            </a:endParaRPr>
          </a:p>
        </p:txBody>
      </p:sp>
      <p:sp>
        <p:nvSpPr>
          <p:cNvPr id="4" name="Rectangle 3">
            <a:extLst>
              <a:ext uri="{FF2B5EF4-FFF2-40B4-BE49-F238E27FC236}">
                <a16:creationId xmlns:a16="http://schemas.microsoft.com/office/drawing/2014/main" id="{D60E5D6F-AB08-42F5-A934-73EF0EBBD6A1}"/>
              </a:ext>
            </a:extLst>
          </p:cNvPr>
          <p:cNvSpPr>
            <a:spLocks noGrp="1"/>
          </p:cNvSpPr>
          <p:nvPr/>
        </p:nvSpPr>
        <p:spPr>
          <a:xfrm>
            <a:off x="11334750" y="6496050"/>
            <a:ext cx="381000" cy="228600"/>
          </a:xfrm>
          <a:prstGeom prst="rect">
            <a:avLst/>
          </a:prstGeom>
          <a:noFill/>
          <a:ln w="0">
            <a:noFill/>
          </a:ln>
        </p:spPr>
        <p:txBody>
          <a:bodyPr/>
          <a:lstStyle>
            <a:defPPr>
              <a:defRPr sz="1200" b="0">
                <a:solidFill>
                  <a:srgbClr val="536675"/>
                </a:solidFill>
                <a:latin typeface="Arial"/>
                <a:ea typeface="Arial"/>
                <a:cs typeface="Arial"/>
              </a:defRPr>
            </a:defPPr>
            <a:lvl1pPr>
              <a:defRPr sz="1200" b="0">
                <a:solidFill>
                  <a:srgbClr val="536675"/>
                </a:solidFill>
                <a:latin typeface="Arial"/>
                <a:ea typeface="Arial"/>
                <a:cs typeface="Arial"/>
              </a:defRPr>
            </a:lvl1pPr>
            <a:lvl2pPr>
              <a:defRPr sz="1200" b="0">
                <a:solidFill>
                  <a:srgbClr val="536675"/>
                </a:solidFill>
                <a:latin typeface="Arial"/>
                <a:ea typeface="Arial"/>
                <a:cs typeface="Arial"/>
              </a:defRPr>
            </a:lvl2pPr>
            <a:lvl3pPr>
              <a:defRPr sz="1200" b="0">
                <a:solidFill>
                  <a:srgbClr val="536675"/>
                </a:solidFill>
                <a:latin typeface="Arial"/>
                <a:ea typeface="Arial"/>
                <a:cs typeface="Arial"/>
              </a:defRPr>
            </a:lvl3pPr>
            <a:lvl4pPr>
              <a:defRPr sz="1200" b="0">
                <a:solidFill>
                  <a:srgbClr val="536675"/>
                </a:solidFill>
                <a:latin typeface="Arial"/>
                <a:ea typeface="Arial"/>
                <a:cs typeface="Arial"/>
              </a:defRPr>
            </a:lvl4pPr>
            <a:lvl5pPr>
              <a:defRPr sz="1200" b="0">
                <a:solidFill>
                  <a:srgbClr val="536675"/>
                </a:solidFill>
                <a:latin typeface="Arial"/>
                <a:ea typeface="Arial"/>
                <a:cs typeface="Arial"/>
              </a:defRPr>
            </a:lvl5pPr>
            <a:lvl6pPr>
              <a:defRPr sz="1200" b="0">
                <a:solidFill>
                  <a:srgbClr val="536675"/>
                </a:solidFill>
                <a:latin typeface="Arial"/>
                <a:ea typeface="Arial"/>
                <a:cs typeface="Arial"/>
              </a:defRPr>
            </a:lvl6pPr>
            <a:lvl7pPr>
              <a:defRPr sz="1200" b="0">
                <a:solidFill>
                  <a:srgbClr val="536675"/>
                </a:solidFill>
                <a:latin typeface="Arial"/>
                <a:ea typeface="Arial"/>
                <a:cs typeface="Arial"/>
              </a:defRPr>
            </a:lvl7pPr>
            <a:lvl8pPr>
              <a:defRPr sz="1200" b="0">
                <a:solidFill>
                  <a:srgbClr val="536675"/>
                </a:solidFill>
                <a:latin typeface="Arial"/>
                <a:ea typeface="Arial"/>
                <a:cs typeface="Arial"/>
              </a:defRPr>
            </a:lvl8pPr>
            <a:lvl9pPr>
              <a:defRPr sz="1200" b="0">
                <a:solidFill>
                  <a:srgbClr val="536675"/>
                </a:solidFill>
                <a:latin typeface="Arial"/>
                <a:ea typeface="Arial"/>
                <a:cs typeface="Arial"/>
              </a:defRPr>
            </a:lvl9pPr>
          </a:lstStyle>
          <a:p>
            <a:pPr>
              <a:defRPr sz="1200" b="0">
                <a:solidFill>
                  <a:srgbClr val="536675"/>
                </a:solidFill>
                <a:latin typeface="Arial"/>
                <a:ea typeface="Arial"/>
                <a:cs typeface="Arial"/>
              </a:defRPr>
            </a:pPr>
            <a:endParaRPr sz="1200" b="0">
              <a:solidFill>
                <a:srgbClr val="000000"/>
              </a:solidFill>
              <a:latin typeface="Calibri" panose="020F0502020204030204" pitchFamily="34" charset="0"/>
              <a:ea typeface="Arial"/>
              <a:cs typeface="Arial"/>
            </a:endParaRPr>
          </a:p>
        </p:txBody>
      </p:sp>
      <p:graphicFrame>
        <p:nvGraphicFramePr>
          <p:cNvPr id="5" name="Table 4">
            <a:extLst>
              <a:ext uri="{FF2B5EF4-FFF2-40B4-BE49-F238E27FC236}">
                <a16:creationId xmlns:a16="http://schemas.microsoft.com/office/drawing/2014/main" id="{0198C229-28AA-407F-8889-3C4C4E43DB9E}"/>
              </a:ext>
            </a:extLst>
          </p:cNvPr>
          <p:cNvGraphicFramePr/>
          <p:nvPr>
            <p:extLst>
              <p:ext uri="{D42A27DB-BD31-4B8C-83A1-F6EECF244321}">
                <p14:modId xmlns:p14="http://schemas.microsoft.com/office/powerpoint/2010/main" val="2790676114"/>
              </p:ext>
            </p:extLst>
          </p:nvPr>
        </p:nvGraphicFramePr>
        <p:xfrm>
          <a:off x="476250" y="1504950"/>
          <a:ext cx="11239500" cy="4095747"/>
        </p:xfrm>
        <a:graphic>
          <a:graphicData uri="http://schemas.openxmlformats.org/drawingml/2006/table">
            <a:tbl>
              <a:tblPr/>
              <a:tblGrid>
                <a:gridCol w="4857750">
                  <a:extLst>
                    <a:ext uri="{9D8B030D-6E8A-4147-A177-3AD203B41FA5}">
                      <a16:colId xmlns:a16="http://schemas.microsoft.com/office/drawing/2014/main" val="20000"/>
                    </a:ext>
                  </a:extLst>
                </a:gridCol>
                <a:gridCol w="3190875">
                  <a:extLst>
                    <a:ext uri="{9D8B030D-6E8A-4147-A177-3AD203B41FA5}">
                      <a16:colId xmlns:a16="http://schemas.microsoft.com/office/drawing/2014/main" val="20001"/>
                    </a:ext>
                  </a:extLst>
                </a:gridCol>
                <a:gridCol w="3190875">
                  <a:extLst>
                    <a:ext uri="{9D8B030D-6E8A-4147-A177-3AD203B41FA5}">
                      <a16:colId xmlns:a16="http://schemas.microsoft.com/office/drawing/2014/main" val="20002"/>
                    </a:ext>
                  </a:extLst>
                </a:gridCol>
              </a:tblGrid>
              <a:tr h="455083">
                <a:tc>
                  <a:txBody>
                    <a:bodyPr/>
                    <a:lstStyle/>
                    <a:p>
                      <a:r>
                        <a:rPr sz="1425" b="1">
                          <a:solidFill>
                            <a:srgbClr val="000000"/>
                          </a:solidFill>
                          <a:latin typeface="Calibri" panose="020F0502020204030204" pitchFamily="34" charset="0"/>
                          <a:ea typeface="Arial"/>
                          <a:cs typeface="Arial"/>
                        </a:rPr>
                        <a:t>Check</a:t>
                      </a:r>
                    </a:p>
                  </a:txBody>
                  <a:tcPr>
                    <a:lnL w="9525">
                      <a:solidFill>
                        <a:srgbClr val="DCE4E8"/>
                      </a:solidFill>
                    </a:lnL>
                    <a:lnR w="9525">
                      <a:solidFill>
                        <a:srgbClr val="DCE4E8"/>
                      </a:solidFill>
                    </a:lnR>
                    <a:lnT w="9525">
                      <a:solidFill>
                        <a:srgbClr val="DCE4E8"/>
                      </a:solidFill>
                    </a:lnT>
                    <a:lnB w="9525">
                      <a:solidFill>
                        <a:srgbClr val="DCE4E8"/>
                      </a:solidFill>
                    </a:lnB>
                    <a:solidFill>
                      <a:srgbClr val="D9D9D9"/>
                    </a:solidFill>
                  </a:tcPr>
                </a:tc>
                <a:tc>
                  <a:txBody>
                    <a:bodyPr/>
                    <a:lstStyle/>
                    <a:p>
                      <a:r>
                        <a:rPr sz="1425" b="1">
                          <a:solidFill>
                            <a:srgbClr val="000000"/>
                          </a:solidFill>
                          <a:latin typeface="Calibri" panose="020F0502020204030204" pitchFamily="34" charset="0"/>
                          <a:ea typeface="Arial"/>
                          <a:cs typeface="Arial"/>
                        </a:rPr>
                        <a:t>Piston tiltrotor</a:t>
                      </a:r>
                    </a:p>
                  </a:txBody>
                  <a:tcPr>
                    <a:lnL w="9525" cap="flat" cmpd="sng" algn="ctr">
                      <a:solidFill>
                        <a:srgbClr val="DCE4E8"/>
                      </a:solidFill>
                      <a:prstDash val="solid"/>
                      <a:round/>
                      <a:headEnd type="none" w="med" len="med"/>
                      <a:tailEnd type="none" w="med" len="med"/>
                    </a:lnL>
                    <a:lnR w="9525">
                      <a:solidFill>
                        <a:srgbClr val="DCE4E8"/>
                      </a:solidFill>
                    </a:lnR>
                    <a:lnT w="9525">
                      <a:solidFill>
                        <a:srgbClr val="DCE4E8"/>
                      </a:solidFill>
                    </a:lnT>
                    <a:lnB w="9525">
                      <a:solidFill>
                        <a:srgbClr val="DCE4E8"/>
                      </a:solidFill>
                    </a:lnB>
                    <a:solidFill>
                      <a:srgbClr val="D9D9D9"/>
                    </a:solidFill>
                  </a:tcPr>
                </a:tc>
                <a:tc>
                  <a:txBody>
                    <a:bodyPr/>
                    <a:lstStyle/>
                    <a:p>
                      <a:r>
                        <a:rPr sz="1425" b="1">
                          <a:solidFill>
                            <a:srgbClr val="000000"/>
                          </a:solidFill>
                          <a:latin typeface="Calibri" panose="020F0502020204030204" pitchFamily="34" charset="0"/>
                          <a:ea typeface="Arial"/>
                          <a:cs typeface="Arial"/>
                        </a:rPr>
                        <a:t>Turboelectric tiltrotor</a:t>
                      </a:r>
                    </a:p>
                  </a:txBody>
                  <a:tcPr>
                    <a:lnL w="9525" cap="flat" cmpd="sng" algn="ctr">
                      <a:solidFill>
                        <a:srgbClr val="DCE4E8"/>
                      </a:solidFill>
                      <a:prstDash val="solid"/>
                      <a:round/>
                      <a:headEnd type="none" w="med" len="med"/>
                      <a:tailEnd type="none" w="med" len="med"/>
                    </a:lnL>
                    <a:lnR w="9525">
                      <a:solidFill>
                        <a:srgbClr val="DCE4E8"/>
                      </a:solidFill>
                    </a:lnR>
                    <a:lnT w="9525">
                      <a:solidFill>
                        <a:srgbClr val="DCE4E8"/>
                      </a:solidFill>
                    </a:lnT>
                    <a:lnB w="9525">
                      <a:solidFill>
                        <a:srgbClr val="DCE4E8"/>
                      </a:solidFill>
                    </a:lnB>
                    <a:solidFill>
                      <a:srgbClr val="D9D9D9"/>
                    </a:solidFill>
                  </a:tcPr>
                </a:tc>
                <a:extLst>
                  <a:ext uri="{0D108BD9-81ED-4DB2-BD59-A6C34878D82A}">
                    <a16:rowId xmlns:a16="http://schemas.microsoft.com/office/drawing/2014/main" val="10000"/>
                  </a:ext>
                </a:extLst>
              </a:tr>
              <a:tr h="455083">
                <a:tc>
                  <a:txBody>
                    <a:bodyPr/>
                    <a:lstStyle/>
                    <a:p>
                      <a:r>
                        <a:rPr sz="1425" b="0">
                          <a:solidFill>
                            <a:srgbClr val="000000"/>
                          </a:solidFill>
                          <a:latin typeface="Calibri" panose="020F0502020204030204" pitchFamily="34" charset="0"/>
                          <a:ea typeface="Arial"/>
                          <a:cs typeface="Arial"/>
                        </a:rPr>
                        <a:t>Reported design gross mass</a:t>
                      </a: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296.2 kg</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321.3 kg</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extLst>
                  <a:ext uri="{0D108BD9-81ED-4DB2-BD59-A6C34878D82A}">
                    <a16:rowId xmlns:a16="http://schemas.microsoft.com/office/drawing/2014/main" val="10001"/>
                  </a:ext>
                </a:extLst>
              </a:tr>
              <a:tr h="455083">
                <a:tc>
                  <a:txBody>
                    <a:bodyPr/>
                    <a:lstStyle/>
                    <a:p>
                      <a:r>
                        <a:rPr sz="1425" b="0">
                          <a:solidFill>
                            <a:srgbClr val="000000"/>
                          </a:solidFill>
                          <a:latin typeface="Calibri" panose="020F0502020204030204" pitchFamily="34" charset="0"/>
                          <a:ea typeface="Arial"/>
                          <a:cs typeface="Arial"/>
                        </a:rPr>
                        <a:t>Installed nominal engine rating</a:t>
                      </a: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sz="1425" b="0">
                          <a:solidFill>
                            <a:srgbClr val="000000"/>
                          </a:solidFill>
                          <a:latin typeface="Calibri" panose="020F0502020204030204" pitchFamily="34" charset="0"/>
                          <a:ea typeface="Arial"/>
                          <a:cs typeface="Arial"/>
                        </a:rPr>
                        <a:t>51.7 kW</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sz="1425" b="0">
                          <a:solidFill>
                            <a:srgbClr val="000000"/>
                          </a:solidFill>
                          <a:latin typeface="Calibri" panose="020F0502020204030204" pitchFamily="34" charset="0"/>
                          <a:ea typeface="Arial"/>
                          <a:cs typeface="Arial"/>
                        </a:rPr>
                        <a:t>75.0 kW generic turbine</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extLst>
                  <a:ext uri="{0D108BD9-81ED-4DB2-BD59-A6C34878D82A}">
                    <a16:rowId xmlns:a16="http://schemas.microsoft.com/office/drawing/2014/main" val="10002"/>
                  </a:ext>
                </a:extLst>
              </a:tr>
              <a:tr h="455083">
                <a:tc>
                  <a:txBody>
                    <a:bodyPr/>
                    <a:lstStyle/>
                    <a:p>
                      <a:r>
                        <a:rPr sz="1425" b="0">
                          <a:solidFill>
                            <a:srgbClr val="000000"/>
                          </a:solidFill>
                          <a:latin typeface="Calibri" panose="020F0502020204030204" pitchFamily="34" charset="0"/>
                          <a:ea typeface="Arial"/>
                          <a:cs typeface="Arial"/>
                        </a:rPr>
                        <a:t>160 km/h engine-side power at 3 km</a:t>
                      </a: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sz="1425" b="0">
                          <a:solidFill>
                            <a:srgbClr val="000000"/>
                          </a:solidFill>
                          <a:latin typeface="Calibri" panose="020F0502020204030204" pitchFamily="34" charset="0"/>
                          <a:ea typeface="Arial"/>
                          <a:cs typeface="Arial"/>
                        </a:rPr>
                        <a:t>19.0 / 27.6 kW</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sz="1425" b="0">
                          <a:solidFill>
                            <a:srgbClr val="000000"/>
                          </a:solidFill>
                          <a:latin typeface="Calibri" panose="020F0502020204030204" pitchFamily="34" charset="0"/>
                          <a:ea typeface="Arial"/>
                          <a:cs typeface="Arial"/>
                        </a:rPr>
                        <a:t>22.1 / 43.6 kW</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extLst>
                  <a:ext uri="{0D108BD9-81ED-4DB2-BD59-A6C34878D82A}">
                    <a16:rowId xmlns:a16="http://schemas.microsoft.com/office/drawing/2014/main" val="10003"/>
                  </a:ext>
                </a:extLst>
              </a:tr>
              <a:tr h="455083">
                <a:tc>
                  <a:txBody>
                    <a:bodyPr/>
                    <a:lstStyle/>
                    <a:p>
                      <a:r>
                        <a:rPr lang="en-US" sz="1425" b="0">
                          <a:solidFill>
                            <a:srgbClr val="000000"/>
                          </a:solidFill>
                          <a:latin typeface="Calibri" panose="020F0502020204030204" pitchFamily="34" charset="0"/>
                          <a:ea typeface="Arial"/>
                          <a:cs typeface="Arial"/>
                        </a:rPr>
                        <a:t>Historical sampled fuel-flow minimum</a:t>
                      </a:r>
                      <a:endParaRPr sz="1425" b="0">
                        <a:solidFill>
                          <a:srgbClr val="000000"/>
                        </a:solidFill>
                        <a:latin typeface="Calibri" panose="020F0502020204030204" pitchFamily="34" charset="0"/>
                        <a:ea typeface="Arial"/>
                        <a:cs typeface="Arial"/>
                      </a:endParaRP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sz="1425" b="0">
                          <a:solidFill>
                            <a:srgbClr val="000000"/>
                          </a:solidFill>
                          <a:latin typeface="Calibri" panose="020F0502020204030204" pitchFamily="34" charset="0"/>
                          <a:ea typeface="Arial"/>
                          <a:cs typeface="Arial"/>
                        </a:rPr>
                        <a:t>140 km/h</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sz="1425" b="0">
                          <a:solidFill>
                            <a:srgbClr val="000000"/>
                          </a:solidFill>
                          <a:latin typeface="Calibri" panose="020F0502020204030204" pitchFamily="34" charset="0"/>
                          <a:ea typeface="Arial"/>
                          <a:cs typeface="Arial"/>
                        </a:rPr>
                        <a:t>140 km/h</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extLst>
                  <a:ext uri="{0D108BD9-81ED-4DB2-BD59-A6C34878D82A}">
                    <a16:rowId xmlns:a16="http://schemas.microsoft.com/office/drawing/2014/main" val="10004"/>
                  </a:ext>
                </a:extLst>
              </a:tr>
              <a:tr h="455083">
                <a:tc>
                  <a:txBody>
                    <a:bodyPr/>
                    <a:lstStyle/>
                    <a:p>
                      <a:r>
                        <a:rPr lang="en-US" sz="1425" b="0">
                          <a:solidFill>
                            <a:srgbClr val="000000"/>
                          </a:solidFill>
                          <a:latin typeface="Calibri" panose="020F0502020204030204" pitchFamily="34" charset="0"/>
                          <a:ea typeface="Arial"/>
                          <a:cs typeface="Arial"/>
                        </a:rPr>
                        <a:t>Corrected mission fuel</a:t>
                      </a:r>
                      <a:endParaRPr sz="1425" b="0">
                        <a:solidFill>
                          <a:srgbClr val="000000"/>
                        </a:solidFill>
                        <a:latin typeface="Calibri" panose="020F0502020204030204" pitchFamily="34" charset="0"/>
                        <a:ea typeface="Arial"/>
                        <a:cs typeface="Arial"/>
                      </a:endParaRP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sz="1425" b="0">
                          <a:solidFill>
                            <a:srgbClr val="000000"/>
                          </a:solidFill>
                          <a:latin typeface="Calibri" panose="020F0502020204030204" pitchFamily="34" charset="0"/>
                          <a:ea typeface="Arial"/>
                          <a:cs typeface="Arial"/>
                        </a:rPr>
                        <a:t>38.8 kg</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44.7 kg</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extLst>
                  <a:ext uri="{0D108BD9-81ED-4DB2-BD59-A6C34878D82A}">
                    <a16:rowId xmlns:a16="http://schemas.microsoft.com/office/drawing/2014/main" val="10005"/>
                  </a:ext>
                </a:extLst>
              </a:tr>
              <a:tr h="455083">
                <a:tc>
                  <a:txBody>
                    <a:bodyPr/>
                    <a:lstStyle/>
                    <a:p>
                      <a:r>
                        <a:rPr sz="1425" b="0">
                          <a:solidFill>
                            <a:srgbClr val="000000"/>
                          </a:solidFill>
                          <a:latin typeface="Calibri" panose="020F0502020204030204" pitchFamily="34" charset="0"/>
                          <a:ea typeface="Arial"/>
                          <a:cs typeface="Arial"/>
                        </a:rPr>
                        <a:t>Propulsion battery</a:t>
                      </a: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sz="1425" b="0">
                          <a:solidFill>
                            <a:srgbClr val="000000"/>
                          </a:solidFill>
                          <a:latin typeface="Calibri" panose="020F0502020204030204" pitchFamily="34" charset="0"/>
                          <a:ea typeface="Arial"/>
                          <a:cs typeface="Arial"/>
                        </a:rPr>
                        <a:t>None</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sz="1425" b="0">
                          <a:solidFill>
                            <a:srgbClr val="000000"/>
                          </a:solidFill>
                          <a:latin typeface="Calibri" panose="020F0502020204030204" pitchFamily="34" charset="0"/>
                          <a:ea typeface="Arial"/>
                          <a:cs typeface="Arial"/>
                        </a:rPr>
                        <a:t>None</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extLst>
                  <a:ext uri="{0D108BD9-81ED-4DB2-BD59-A6C34878D82A}">
                    <a16:rowId xmlns:a16="http://schemas.microsoft.com/office/drawing/2014/main" val="10006"/>
                  </a:ext>
                </a:extLst>
              </a:tr>
              <a:tr h="455083">
                <a:tc>
                  <a:txBody>
                    <a:bodyPr/>
                    <a:lstStyle/>
                    <a:p>
                      <a:r>
                        <a:rPr sz="1425" b="0">
                          <a:solidFill>
                            <a:srgbClr val="000000"/>
                          </a:solidFill>
                          <a:latin typeface="Calibri" panose="020F0502020204030204" pitchFamily="34" charset="0"/>
                          <a:ea typeface="Arial"/>
                          <a:cs typeface="Arial"/>
                        </a:rPr>
                        <a:t>Current interpretation</a:t>
                      </a: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sz="1425" b="0">
                          <a:solidFill>
                            <a:srgbClr val="000000"/>
                          </a:solidFill>
                          <a:latin typeface="Calibri" panose="020F0502020204030204" pitchFamily="34" charset="0"/>
                          <a:ea typeface="Arial"/>
                          <a:cs typeface="Arial"/>
                        </a:rPr>
                        <a:t>Retained conceptual screens pass</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sz="1425" b="0">
                          <a:solidFill>
                            <a:srgbClr val="000000"/>
                          </a:solidFill>
                          <a:latin typeface="Calibri" panose="020F0502020204030204" pitchFamily="34" charset="0"/>
                          <a:ea typeface="Arial"/>
                          <a:cs typeface="Arial"/>
                        </a:rPr>
                        <a:t>Equivalent mass / loss model</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extLst>
                  <a:ext uri="{0D108BD9-81ED-4DB2-BD59-A6C34878D82A}">
                    <a16:rowId xmlns:a16="http://schemas.microsoft.com/office/drawing/2014/main" val="10007"/>
                  </a:ext>
                </a:extLst>
              </a:tr>
              <a:tr h="455083">
                <a:tc>
                  <a:txBody>
                    <a:bodyPr/>
                    <a:lstStyle/>
                    <a:p>
                      <a:r>
                        <a:rPr sz="1425" b="0">
                          <a:solidFill>
                            <a:srgbClr val="000000"/>
                          </a:solidFill>
                          <a:latin typeface="Calibri" panose="020F0502020204030204" pitchFamily="34" charset="0"/>
                          <a:ea typeface="Arial"/>
                          <a:cs typeface="Arial"/>
                        </a:rPr>
                        <a:t>Hardware closure</a:t>
                      </a: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sz="1425" b="0">
                          <a:solidFill>
                            <a:srgbClr val="000000"/>
                          </a:solidFill>
                          <a:latin typeface="Calibri" panose="020F0502020204030204" pitchFamily="34" charset="0"/>
                          <a:ea typeface="Arial"/>
                          <a:cs typeface="Arial"/>
                        </a:rPr>
                        <a:t>Gearbox / rotor / installation open</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sz="1425" b="0">
                          <a:solidFill>
                            <a:srgbClr val="000000"/>
                          </a:solidFill>
                          <a:latin typeface="Calibri" panose="020F0502020204030204" pitchFamily="34" charset="0"/>
                          <a:ea typeface="Arial"/>
                          <a:cs typeface="Arial"/>
                        </a:rPr>
                        <a:t>Generator / motor matching open</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extLst>
                  <a:ext uri="{0D108BD9-81ED-4DB2-BD59-A6C34878D82A}">
                    <a16:rowId xmlns:a16="http://schemas.microsoft.com/office/drawing/2014/main" val="10008"/>
                  </a:ext>
                </a:extLst>
              </a:tr>
            </a:tbl>
          </a:graphicData>
        </a:graphic>
      </p:graphicFrame>
      <p:sp>
        <p:nvSpPr>
          <p:cNvPr id="6" name="Rectangle 5">
            <a:extLst>
              <a:ext uri="{FF2B5EF4-FFF2-40B4-BE49-F238E27FC236}">
                <a16:creationId xmlns:a16="http://schemas.microsoft.com/office/drawing/2014/main" id="{F4F7FC87-D355-4A3D-A841-9BA81E5B89FA}"/>
              </a:ext>
            </a:extLst>
          </p:cNvPr>
          <p:cNvSpPr>
            <a:spLocks noGrp="1"/>
          </p:cNvSpPr>
          <p:nvPr/>
        </p:nvSpPr>
        <p:spPr>
          <a:xfrm>
            <a:off x="476250" y="6010275"/>
            <a:ext cx="11239500" cy="447675"/>
          </a:xfrm>
          <a:prstGeom prst="rect">
            <a:avLst/>
          </a:prstGeom>
          <a:noFill/>
          <a:ln w="0">
            <a:noFill/>
          </a:ln>
        </p:spPr>
        <p:txBody>
          <a:bodyPr/>
          <a:lstStyle>
            <a:defPPr>
              <a:defRPr sz="1275" b="0">
                <a:solidFill>
                  <a:srgbClr val="536675"/>
                </a:solidFill>
                <a:latin typeface="Arial"/>
                <a:ea typeface="Arial"/>
                <a:cs typeface="Arial"/>
              </a:defRPr>
            </a:defPPr>
            <a:lvl1pPr>
              <a:defRPr sz="1275" b="0">
                <a:solidFill>
                  <a:srgbClr val="536675"/>
                </a:solidFill>
                <a:latin typeface="Arial"/>
                <a:ea typeface="Arial"/>
                <a:cs typeface="Arial"/>
              </a:defRPr>
            </a:lvl1pPr>
            <a:lvl2pPr>
              <a:defRPr sz="1275" b="0">
                <a:solidFill>
                  <a:srgbClr val="536675"/>
                </a:solidFill>
                <a:latin typeface="Arial"/>
                <a:ea typeface="Arial"/>
                <a:cs typeface="Arial"/>
              </a:defRPr>
            </a:lvl2pPr>
            <a:lvl3pPr>
              <a:defRPr sz="1275" b="0">
                <a:solidFill>
                  <a:srgbClr val="536675"/>
                </a:solidFill>
                <a:latin typeface="Arial"/>
                <a:ea typeface="Arial"/>
                <a:cs typeface="Arial"/>
              </a:defRPr>
            </a:lvl3pPr>
            <a:lvl4pPr>
              <a:defRPr sz="1275" b="0">
                <a:solidFill>
                  <a:srgbClr val="536675"/>
                </a:solidFill>
                <a:latin typeface="Arial"/>
                <a:ea typeface="Arial"/>
                <a:cs typeface="Arial"/>
              </a:defRPr>
            </a:lvl4pPr>
            <a:lvl5pPr>
              <a:defRPr sz="1275" b="0">
                <a:solidFill>
                  <a:srgbClr val="536675"/>
                </a:solidFill>
                <a:latin typeface="Arial"/>
                <a:ea typeface="Arial"/>
                <a:cs typeface="Arial"/>
              </a:defRPr>
            </a:lvl5pPr>
            <a:lvl6pPr>
              <a:defRPr sz="1275" b="0">
                <a:solidFill>
                  <a:srgbClr val="536675"/>
                </a:solidFill>
                <a:latin typeface="Arial"/>
                <a:ea typeface="Arial"/>
                <a:cs typeface="Arial"/>
              </a:defRPr>
            </a:lvl6pPr>
            <a:lvl7pPr>
              <a:defRPr sz="1275" b="0">
                <a:solidFill>
                  <a:srgbClr val="536675"/>
                </a:solidFill>
                <a:latin typeface="Arial"/>
                <a:ea typeface="Arial"/>
                <a:cs typeface="Arial"/>
              </a:defRPr>
            </a:lvl7pPr>
            <a:lvl8pPr>
              <a:defRPr sz="1275" b="0">
                <a:solidFill>
                  <a:srgbClr val="536675"/>
                </a:solidFill>
                <a:latin typeface="Arial"/>
                <a:ea typeface="Arial"/>
                <a:cs typeface="Arial"/>
              </a:defRPr>
            </a:lvl8pPr>
            <a:lvl9pPr>
              <a:defRPr sz="1275" b="0">
                <a:solidFill>
                  <a:srgbClr val="536675"/>
                </a:solidFill>
                <a:latin typeface="Arial"/>
                <a:ea typeface="Arial"/>
                <a:cs typeface="Arial"/>
              </a:defRPr>
            </a:lvl9pPr>
          </a:lstStyle>
          <a:p>
            <a:pPr>
              <a:defRPr sz="1275" b="0">
                <a:solidFill>
                  <a:srgbClr val="536675"/>
                </a:solidFill>
                <a:latin typeface="Arial"/>
                <a:ea typeface="Arial"/>
                <a:cs typeface="Arial"/>
              </a:defRPr>
            </a:pPr>
            <a:endParaRPr sz="1275" b="0">
              <a:solidFill>
                <a:srgbClr val="000000"/>
              </a:solidFill>
              <a:latin typeface="Calibri" panose="020F0502020204030204" pitchFamily="34" charset="0"/>
              <a:ea typeface="Arial"/>
              <a:cs typeface="Arial"/>
            </a:endParaRPr>
          </a:p>
        </p:txBody>
      </p:sp>
      <p:sp>
        <p:nvSpPr>
          <p:cNvPr id="8" name="TextBox 7">
            <a:extLst>
              <a:ext uri="{FF2B5EF4-FFF2-40B4-BE49-F238E27FC236}">
                <a16:creationId xmlns:a16="http://schemas.microsoft.com/office/drawing/2014/main" id="{8B830E00-9A66-8473-F448-4E2F4D66BE8A}"/>
              </a:ext>
            </a:extLst>
          </p:cNvPr>
          <p:cNvSpPr txBox="1"/>
          <p:nvPr/>
        </p:nvSpPr>
        <p:spPr>
          <a:xfrm>
            <a:off x="476250" y="6400800"/>
            <a:ext cx="11074400" cy="323165"/>
          </a:xfrm>
          <a:prstGeom prst="rect">
            <a:avLst/>
          </a:prstGeom>
          <a:noFill/>
        </p:spPr>
        <p:txBody>
          <a:bodyPr vert="horz" lIns="0" tIns="0" rIns="0" bIns="0" rtlCol="0">
            <a:spAutoFit/>
          </a:bodyPr>
          <a:lstStyle/>
          <a:p>
            <a:r>
              <a:rPr lang="en-US" sz="1050">
                <a:solidFill>
                  <a:srgbClr val="000000"/>
                </a:solidFill>
                <a:latin typeface="Calibri" panose="020F0502020204030204" pitchFamily="34" charset="0"/>
              </a:rPr>
              <a:t>[R6–R8] Hirth / Rotron / Turbotech references on main engine slides. [S7] Corrected selected sizing and 160 km/h conditions.
Gearbox mass is a regression estimate. Exact ratio, torque, cooling, altitude and duty matching remain open.</a:t>
            </a:r>
          </a:p>
        </p:txBody>
      </p:sp>
      <p:sp>
        <p:nvSpPr>
          <p:cNvPr id="9" name="TextBox 8">
            <a:extLst>
              <a:ext uri="{FF2B5EF4-FFF2-40B4-BE49-F238E27FC236}">
                <a16:creationId xmlns:a16="http://schemas.microsoft.com/office/drawing/2014/main" id="{7CD9C719-C204-BFAB-4241-4C9B0A60DEF0}"/>
              </a:ext>
            </a:extLst>
          </p:cNvPr>
          <p:cNvSpPr txBox="1"/>
          <p:nvPr/>
        </p:nvSpPr>
        <p:spPr>
          <a:xfrm>
            <a:off x="11671300" y="6527800"/>
            <a:ext cx="355600" cy="153888"/>
          </a:xfrm>
          <a:prstGeom prst="rect">
            <a:avLst/>
          </a:prstGeom>
          <a:noFill/>
        </p:spPr>
        <p:txBody>
          <a:bodyPr vert="horz" lIns="0" tIns="0" rIns="0" bIns="0" rtlCol="0">
            <a:spAutoFit/>
          </a:bodyPr>
          <a:lstStyle/>
          <a:p>
            <a:r>
              <a:rPr lang="en-US" sz="1000">
                <a:solidFill>
                  <a:srgbClr val="000000"/>
                </a:solidFill>
                <a:latin typeface="Calibri" panose="020F0502020204030204" pitchFamily="34" charset="0"/>
              </a:rPr>
              <a:t>28</a:t>
            </a:r>
          </a:p>
        </p:txBody>
      </p:sp>
    </p:spTree>
    <p:extLst>
      <p:ext uri="{BB962C8B-B14F-4D97-AF65-F5344CB8AC3E}">
        <p14:creationId xmlns:p14="http://schemas.microsoft.com/office/powerpoint/2010/main" val="357291"/>
      </p:ext>
    </p:extLst>
  </p:cSld>
  <p:clrMapOvr>
    <a:masterClrMapping/>
  </p:clrMapOvr>
  <p:extLst>
    <p:ext uri="{6950BFC3-D8DA-4A85-94F7-54DA5524770B}">
      <p188:commentRel xmlns:p188="http://schemas.microsoft.com/office/powerpoint/2018/8/main" r:id="rId3"/>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DC4E021-582C-4C84-8562-BD5FF18902E7}"/>
              </a:ext>
            </a:extLst>
          </p:cNvPr>
          <p:cNvSpPr>
            <a:spLocks noGrp="1"/>
          </p:cNvSpPr>
          <p:nvPr/>
        </p:nvSpPr>
        <p:spPr>
          <a:xfrm>
            <a:off x="838200" y="361950"/>
            <a:ext cx="10896600" cy="495300"/>
          </a:xfrm>
          <a:prstGeom prst="rect">
            <a:avLst/>
          </a:prstGeom>
          <a:noFill/>
          <a:ln w="0">
            <a:noFill/>
            <a:prstDash val="solid"/>
          </a:ln>
        </p:spPr>
        <p:txBody>
          <a:bodyPr lIns="0" tIns="0" rIns="0" bIns="0"/>
          <a:lstStyle>
            <a:defPPr>
              <a:defRPr sz="2400" b="1">
                <a:solidFill>
                  <a:srgbClr val="000000"/>
                </a:solidFill>
                <a:latin typeface="Calibri"/>
                <a:ea typeface="Calibri"/>
                <a:cs typeface="Calibri"/>
              </a:defRPr>
            </a:defPPr>
            <a:lvl1pPr>
              <a:defRPr sz="2400" b="1">
                <a:solidFill>
                  <a:srgbClr val="000000"/>
                </a:solidFill>
                <a:latin typeface="Calibri"/>
                <a:ea typeface="Calibri"/>
                <a:cs typeface="Calibri"/>
              </a:defRPr>
            </a:lvl1pPr>
            <a:lvl2pPr>
              <a:defRPr sz="2400" b="1">
                <a:solidFill>
                  <a:srgbClr val="000000"/>
                </a:solidFill>
                <a:latin typeface="Calibri"/>
                <a:ea typeface="Calibri"/>
                <a:cs typeface="Calibri"/>
              </a:defRPr>
            </a:lvl2pPr>
            <a:lvl3pPr>
              <a:defRPr sz="2400" b="1">
                <a:solidFill>
                  <a:srgbClr val="000000"/>
                </a:solidFill>
                <a:latin typeface="Calibri"/>
                <a:ea typeface="Calibri"/>
                <a:cs typeface="Calibri"/>
              </a:defRPr>
            </a:lvl3pPr>
            <a:lvl4pPr>
              <a:defRPr sz="2400" b="1">
                <a:solidFill>
                  <a:srgbClr val="000000"/>
                </a:solidFill>
                <a:latin typeface="Calibri"/>
                <a:ea typeface="Calibri"/>
                <a:cs typeface="Calibri"/>
              </a:defRPr>
            </a:lvl4pPr>
            <a:lvl5pPr>
              <a:defRPr sz="2400" b="1">
                <a:solidFill>
                  <a:srgbClr val="000000"/>
                </a:solidFill>
                <a:latin typeface="Calibri"/>
                <a:ea typeface="Calibri"/>
                <a:cs typeface="Calibri"/>
              </a:defRPr>
            </a:lvl5pPr>
            <a:lvl6pPr>
              <a:defRPr sz="2400" b="1">
                <a:solidFill>
                  <a:srgbClr val="000000"/>
                </a:solidFill>
                <a:latin typeface="Calibri"/>
                <a:ea typeface="Calibri"/>
                <a:cs typeface="Calibri"/>
              </a:defRPr>
            </a:lvl6pPr>
            <a:lvl7pPr>
              <a:defRPr sz="2400" b="1">
                <a:solidFill>
                  <a:srgbClr val="000000"/>
                </a:solidFill>
                <a:latin typeface="Calibri"/>
                <a:ea typeface="Calibri"/>
                <a:cs typeface="Calibri"/>
              </a:defRPr>
            </a:lvl7pPr>
            <a:lvl8pPr>
              <a:defRPr sz="2400" b="1">
                <a:solidFill>
                  <a:srgbClr val="000000"/>
                </a:solidFill>
                <a:latin typeface="Calibri"/>
                <a:ea typeface="Calibri"/>
                <a:cs typeface="Calibri"/>
              </a:defRPr>
            </a:lvl8pPr>
            <a:lvl9pPr>
              <a:defRPr sz="2400" b="1">
                <a:solidFill>
                  <a:srgbClr val="000000"/>
                </a:solidFill>
                <a:latin typeface="Calibri"/>
                <a:ea typeface="Calibri"/>
                <a:cs typeface="Calibri"/>
              </a:defRPr>
            </a:lvl9pPr>
          </a:lstStyle>
          <a:p>
            <a:pPr>
              <a:defRPr sz="2400" b="1">
                <a:solidFill>
                  <a:srgbClr val="000000"/>
                </a:solidFill>
                <a:latin typeface="Calibri"/>
                <a:ea typeface="Calibri"/>
                <a:cs typeface="Calibri"/>
              </a:defRPr>
            </a:pPr>
            <a:r>
              <a:rPr sz="2400" b="1">
                <a:solidFill>
                  <a:srgbClr val="000000"/>
                </a:solidFill>
                <a:latin typeface="Calibri"/>
                <a:ea typeface="Calibri"/>
                <a:cs typeface="Calibri"/>
              </a:rPr>
              <a:t>Mechanical versus Turboelectric Tiltrotor</a:t>
            </a:r>
          </a:p>
        </p:txBody>
      </p:sp>
      <p:sp>
        <p:nvSpPr>
          <p:cNvPr id="2" name="Rectangle 1">
            <a:extLst>
              <a:ext uri="{FF2B5EF4-FFF2-40B4-BE49-F238E27FC236}">
                <a16:creationId xmlns:a16="http://schemas.microsoft.com/office/drawing/2014/main" id="{CDF3DB20-D45B-4277-8A17-3531CB211A96}"/>
              </a:ext>
            </a:extLst>
          </p:cNvPr>
          <p:cNvSpPr>
            <a:spLocks noGrp="1"/>
          </p:cNvSpPr>
          <p:nvPr/>
        </p:nvSpPr>
        <p:spPr>
          <a:xfrm>
            <a:off x="476250" y="895350"/>
            <a:ext cx="11239500" cy="523875"/>
          </a:xfrm>
          <a:prstGeom prst="rect">
            <a:avLst/>
          </a:prstGeom>
          <a:noFill/>
          <a:ln w="0">
            <a:noFill/>
            <a:prstDash val="solid"/>
          </a:ln>
        </p:spPr>
        <p:txBody>
          <a:bodyPr lIns="0" tIns="0" rIns="0" bIns="0"/>
          <a:lstStyle>
            <a:defPPr>
              <a:defRPr sz="1575" b="0">
                <a:solidFill>
                  <a:srgbClr val="444444"/>
                </a:solidFill>
                <a:latin typeface="Calibri"/>
                <a:ea typeface="Calibri"/>
                <a:cs typeface="Calibri"/>
              </a:defRPr>
            </a:defPPr>
            <a:lvl1pPr>
              <a:defRPr sz="1575" b="0">
                <a:solidFill>
                  <a:srgbClr val="444444"/>
                </a:solidFill>
                <a:latin typeface="Calibri"/>
                <a:ea typeface="Calibri"/>
                <a:cs typeface="Calibri"/>
              </a:defRPr>
            </a:lvl1pPr>
            <a:lvl2pPr>
              <a:defRPr sz="1575" b="0">
                <a:solidFill>
                  <a:srgbClr val="444444"/>
                </a:solidFill>
                <a:latin typeface="Calibri"/>
                <a:ea typeface="Calibri"/>
                <a:cs typeface="Calibri"/>
              </a:defRPr>
            </a:lvl2pPr>
            <a:lvl3pPr>
              <a:defRPr sz="1575" b="0">
                <a:solidFill>
                  <a:srgbClr val="444444"/>
                </a:solidFill>
                <a:latin typeface="Calibri"/>
                <a:ea typeface="Calibri"/>
                <a:cs typeface="Calibri"/>
              </a:defRPr>
            </a:lvl3pPr>
            <a:lvl4pPr>
              <a:defRPr sz="1575" b="0">
                <a:solidFill>
                  <a:srgbClr val="444444"/>
                </a:solidFill>
                <a:latin typeface="Calibri"/>
                <a:ea typeface="Calibri"/>
                <a:cs typeface="Calibri"/>
              </a:defRPr>
            </a:lvl4pPr>
            <a:lvl5pPr>
              <a:defRPr sz="1575" b="0">
                <a:solidFill>
                  <a:srgbClr val="444444"/>
                </a:solidFill>
                <a:latin typeface="Calibri"/>
                <a:ea typeface="Calibri"/>
                <a:cs typeface="Calibri"/>
              </a:defRPr>
            </a:lvl5pPr>
            <a:lvl6pPr>
              <a:defRPr sz="1575" b="0">
                <a:solidFill>
                  <a:srgbClr val="444444"/>
                </a:solidFill>
                <a:latin typeface="Calibri"/>
                <a:ea typeface="Calibri"/>
                <a:cs typeface="Calibri"/>
              </a:defRPr>
            </a:lvl6pPr>
            <a:lvl7pPr>
              <a:defRPr sz="1575" b="0">
                <a:solidFill>
                  <a:srgbClr val="444444"/>
                </a:solidFill>
                <a:latin typeface="Calibri"/>
                <a:ea typeface="Calibri"/>
                <a:cs typeface="Calibri"/>
              </a:defRPr>
            </a:lvl7pPr>
            <a:lvl8pPr>
              <a:defRPr sz="1575" b="0">
                <a:solidFill>
                  <a:srgbClr val="444444"/>
                </a:solidFill>
                <a:latin typeface="Calibri"/>
                <a:ea typeface="Calibri"/>
                <a:cs typeface="Calibri"/>
              </a:defRPr>
            </a:lvl8pPr>
            <a:lvl9pPr>
              <a:defRPr sz="1575" b="0">
                <a:solidFill>
                  <a:srgbClr val="444444"/>
                </a:solidFill>
                <a:latin typeface="Calibri"/>
                <a:ea typeface="Calibri"/>
                <a:cs typeface="Calibri"/>
              </a:defRPr>
            </a:lvl9pPr>
          </a:lstStyle>
          <a:p>
            <a:pPr>
              <a:defRPr sz="1575" b="0">
                <a:solidFill>
                  <a:srgbClr val="444444"/>
                </a:solidFill>
                <a:latin typeface="Calibri"/>
                <a:ea typeface="Calibri"/>
                <a:cs typeface="Calibri"/>
              </a:defRPr>
            </a:pPr>
            <a:r>
              <a:rPr sz="1575" b="0">
                <a:solidFill>
                  <a:srgbClr val="444444"/>
                </a:solidFill>
                <a:latin typeface="Calibri"/>
                <a:ea typeface="Calibri"/>
                <a:cs typeface="Calibri"/>
              </a:rPr>
              <a:t>Turboelectric distribution simplifies some mechanical connections but adds conversion losses and electrical hardware.</a:t>
            </a:r>
          </a:p>
        </p:txBody>
      </p:sp>
      <p:sp>
        <p:nvSpPr>
          <p:cNvPr id="3" name="Rectangle 2">
            <a:extLst>
              <a:ext uri="{FF2B5EF4-FFF2-40B4-BE49-F238E27FC236}">
                <a16:creationId xmlns:a16="http://schemas.microsoft.com/office/drawing/2014/main" id="{0817B835-3D33-4F3E-B4CD-7BEA48F1F0F3}"/>
              </a:ext>
            </a:extLst>
          </p:cNvPr>
          <p:cNvSpPr>
            <a:spLocks noGrp="1"/>
          </p:cNvSpPr>
          <p:nvPr/>
        </p:nvSpPr>
        <p:spPr>
          <a:xfrm>
            <a:off x="11382375" y="6524625"/>
            <a:ext cx="333375" cy="219075"/>
          </a:xfrm>
          <a:prstGeom prst="rect">
            <a:avLst/>
          </a:prstGeom>
          <a:noFill/>
          <a:ln w="0">
            <a:noFill/>
            <a:prstDash val="solid"/>
          </a:ln>
        </p:spPr>
        <p:txBody>
          <a:bodyPr lIns="0" tIns="0" rIns="0" bIns="0"/>
          <a:lstStyle>
            <a:defPPr>
              <a:defRPr sz="1125" b="0">
                <a:solidFill>
                  <a:srgbClr val="444444"/>
                </a:solidFill>
                <a:latin typeface="Calibri"/>
                <a:ea typeface="Calibri"/>
                <a:cs typeface="Calibri"/>
              </a:defRPr>
            </a:defPPr>
            <a:lvl1pPr>
              <a:defRPr sz="1125" b="0">
                <a:solidFill>
                  <a:srgbClr val="444444"/>
                </a:solidFill>
                <a:latin typeface="Calibri"/>
                <a:ea typeface="Calibri"/>
                <a:cs typeface="Calibri"/>
              </a:defRPr>
            </a:lvl1pPr>
            <a:lvl2pPr>
              <a:defRPr sz="1125" b="0">
                <a:solidFill>
                  <a:srgbClr val="444444"/>
                </a:solidFill>
                <a:latin typeface="Calibri"/>
                <a:ea typeface="Calibri"/>
                <a:cs typeface="Calibri"/>
              </a:defRPr>
            </a:lvl2pPr>
            <a:lvl3pPr>
              <a:defRPr sz="1125" b="0">
                <a:solidFill>
                  <a:srgbClr val="444444"/>
                </a:solidFill>
                <a:latin typeface="Calibri"/>
                <a:ea typeface="Calibri"/>
                <a:cs typeface="Calibri"/>
              </a:defRPr>
            </a:lvl3pPr>
            <a:lvl4pPr>
              <a:defRPr sz="1125" b="0">
                <a:solidFill>
                  <a:srgbClr val="444444"/>
                </a:solidFill>
                <a:latin typeface="Calibri"/>
                <a:ea typeface="Calibri"/>
                <a:cs typeface="Calibri"/>
              </a:defRPr>
            </a:lvl4pPr>
            <a:lvl5pPr>
              <a:defRPr sz="1125" b="0">
                <a:solidFill>
                  <a:srgbClr val="444444"/>
                </a:solidFill>
                <a:latin typeface="Calibri"/>
                <a:ea typeface="Calibri"/>
                <a:cs typeface="Calibri"/>
              </a:defRPr>
            </a:lvl5pPr>
            <a:lvl6pPr>
              <a:defRPr sz="1125" b="0">
                <a:solidFill>
                  <a:srgbClr val="444444"/>
                </a:solidFill>
                <a:latin typeface="Calibri"/>
                <a:ea typeface="Calibri"/>
                <a:cs typeface="Calibri"/>
              </a:defRPr>
            </a:lvl6pPr>
            <a:lvl7pPr>
              <a:defRPr sz="1125" b="0">
                <a:solidFill>
                  <a:srgbClr val="444444"/>
                </a:solidFill>
                <a:latin typeface="Calibri"/>
                <a:ea typeface="Calibri"/>
                <a:cs typeface="Calibri"/>
              </a:defRPr>
            </a:lvl7pPr>
            <a:lvl8pPr>
              <a:defRPr sz="1125" b="0">
                <a:solidFill>
                  <a:srgbClr val="444444"/>
                </a:solidFill>
                <a:latin typeface="Calibri"/>
                <a:ea typeface="Calibri"/>
                <a:cs typeface="Calibri"/>
              </a:defRPr>
            </a:lvl8pPr>
            <a:lvl9pPr>
              <a:defRPr sz="1125" b="0">
                <a:solidFill>
                  <a:srgbClr val="444444"/>
                </a:solidFill>
                <a:latin typeface="Calibri"/>
                <a:ea typeface="Calibri"/>
                <a:cs typeface="Calibri"/>
              </a:defRPr>
            </a:lvl9pPr>
          </a:lstStyle>
          <a:p>
            <a:pPr>
              <a:defRPr sz="1125" b="0">
                <a:solidFill>
                  <a:srgbClr val="444444"/>
                </a:solidFill>
                <a:latin typeface="Calibri"/>
                <a:ea typeface="Calibri"/>
                <a:cs typeface="Calibri"/>
              </a:defRPr>
            </a:pPr>
            <a:endParaRPr sz="1125" b="0">
              <a:solidFill>
                <a:srgbClr val="444444"/>
              </a:solidFill>
              <a:latin typeface="Calibri"/>
              <a:ea typeface="Calibri"/>
              <a:cs typeface="Calibri"/>
            </a:endParaRPr>
          </a:p>
        </p:txBody>
      </p:sp>
      <p:graphicFrame>
        <p:nvGraphicFramePr>
          <p:cNvPr id="4" name="Table 3">
            <a:extLst>
              <a:ext uri="{FF2B5EF4-FFF2-40B4-BE49-F238E27FC236}">
                <a16:creationId xmlns:a16="http://schemas.microsoft.com/office/drawing/2014/main" id="{6F3BEC9F-C761-4DD0-804A-7EDA9692DDCF}"/>
              </a:ext>
            </a:extLst>
          </p:cNvPr>
          <p:cNvGraphicFramePr/>
          <p:nvPr/>
        </p:nvGraphicFramePr>
        <p:xfrm>
          <a:off x="476250" y="1666875"/>
          <a:ext cx="11239500" cy="3048000"/>
        </p:xfrm>
        <a:graphic>
          <a:graphicData uri="http://schemas.openxmlformats.org/drawingml/2006/table">
            <a:tbl>
              <a:tblPr/>
              <a:tblGrid>
                <a:gridCol w="2571750">
                  <a:extLst>
                    <a:ext uri="{9D8B030D-6E8A-4147-A177-3AD203B41FA5}">
                      <a16:colId xmlns:a16="http://schemas.microsoft.com/office/drawing/2014/main" val="20000"/>
                    </a:ext>
                  </a:extLst>
                </a:gridCol>
                <a:gridCol w="4333875">
                  <a:extLst>
                    <a:ext uri="{9D8B030D-6E8A-4147-A177-3AD203B41FA5}">
                      <a16:colId xmlns:a16="http://schemas.microsoft.com/office/drawing/2014/main" val="20001"/>
                    </a:ext>
                  </a:extLst>
                </a:gridCol>
                <a:gridCol w="4333875">
                  <a:extLst>
                    <a:ext uri="{9D8B030D-6E8A-4147-A177-3AD203B41FA5}">
                      <a16:colId xmlns:a16="http://schemas.microsoft.com/office/drawing/2014/main" val="20002"/>
                    </a:ext>
                  </a:extLst>
                </a:gridCol>
              </a:tblGrid>
              <a:tr h="508000">
                <a:tc>
                  <a:txBody>
                    <a:bodyPr/>
                    <a:lstStyle/>
                    <a:p>
                      <a:r>
                        <a:rPr sz="1650" b="1">
                          <a:solidFill>
                            <a:srgbClr val="000000"/>
                          </a:solidFill>
                          <a:latin typeface="Calibri"/>
                          <a:ea typeface="Calibri"/>
                          <a:cs typeface="Calibri"/>
                        </a:rPr>
                        <a:t>Trade</a:t>
                      </a:r>
                    </a:p>
                  </a:txBody>
                  <a:tcPr>
                    <a:lnL w="9525">
                      <a:solidFill>
                        <a:srgbClr val="BBBBBB"/>
                      </a:solidFill>
                    </a:lnL>
                    <a:lnR w="9525">
                      <a:solidFill>
                        <a:srgbClr val="BBBBBB"/>
                      </a:solidFill>
                    </a:lnR>
                    <a:lnT w="9525">
                      <a:solidFill>
                        <a:srgbClr val="BBBBBB"/>
                      </a:solidFill>
                    </a:lnT>
                    <a:lnB w="9525">
                      <a:solidFill>
                        <a:srgbClr val="BBBBBB"/>
                      </a:solidFill>
                    </a:lnB>
                    <a:solidFill>
                      <a:srgbClr val="D9D9D9"/>
                    </a:solidFill>
                  </a:tcPr>
                </a:tc>
                <a:tc>
                  <a:txBody>
                    <a:bodyPr/>
                    <a:lstStyle/>
                    <a:p>
                      <a:r>
                        <a:rPr sz="1650" b="1">
                          <a:solidFill>
                            <a:srgbClr val="000000"/>
                          </a:solidFill>
                          <a:latin typeface="Calibri"/>
                          <a:ea typeface="Calibri"/>
                          <a:cs typeface="Calibri"/>
                        </a:rPr>
                        <a:t>Mechanical piston tiltrotor</a:t>
                      </a:r>
                    </a:p>
                  </a:txBody>
                  <a:tcPr>
                    <a:lnL w="9525" cap="flat" cmpd="sng" algn="ctr">
                      <a:solidFill>
                        <a:srgbClr val="BBBBBB"/>
                      </a:solidFill>
                      <a:prstDash val="solid"/>
                      <a:round/>
                      <a:headEnd type="none" w="med" len="med"/>
                      <a:tailEnd type="none" w="med" len="med"/>
                    </a:lnL>
                    <a:lnR w="9525">
                      <a:solidFill>
                        <a:srgbClr val="BBBBBB"/>
                      </a:solidFill>
                    </a:lnR>
                    <a:lnT w="9525">
                      <a:solidFill>
                        <a:srgbClr val="BBBBBB"/>
                      </a:solidFill>
                    </a:lnT>
                    <a:lnB w="9525">
                      <a:solidFill>
                        <a:srgbClr val="BBBBBB"/>
                      </a:solidFill>
                    </a:lnB>
                    <a:solidFill>
                      <a:srgbClr val="D9D9D9"/>
                    </a:solidFill>
                  </a:tcPr>
                </a:tc>
                <a:tc>
                  <a:txBody>
                    <a:bodyPr/>
                    <a:lstStyle/>
                    <a:p>
                      <a:r>
                        <a:rPr sz="1650" b="1">
                          <a:solidFill>
                            <a:srgbClr val="000000"/>
                          </a:solidFill>
                          <a:latin typeface="Calibri"/>
                          <a:ea typeface="Calibri"/>
                          <a:cs typeface="Calibri"/>
                        </a:rPr>
                        <a:t>Turboelectric tiltrotor</a:t>
                      </a:r>
                    </a:p>
                  </a:txBody>
                  <a:tcPr>
                    <a:lnL w="9525" cap="flat" cmpd="sng" algn="ctr">
                      <a:solidFill>
                        <a:srgbClr val="BBBBBB"/>
                      </a:solidFill>
                      <a:prstDash val="solid"/>
                      <a:round/>
                      <a:headEnd type="none" w="med" len="med"/>
                      <a:tailEnd type="none" w="med" len="med"/>
                    </a:lnL>
                    <a:lnR w="9525">
                      <a:solidFill>
                        <a:srgbClr val="BBBBBB"/>
                      </a:solidFill>
                    </a:lnR>
                    <a:lnT w="9525">
                      <a:solidFill>
                        <a:srgbClr val="BBBBBB"/>
                      </a:solidFill>
                    </a:lnT>
                    <a:lnB w="9525">
                      <a:solidFill>
                        <a:srgbClr val="BBBBBB"/>
                      </a:solidFill>
                    </a:lnB>
                    <a:solidFill>
                      <a:srgbClr val="D9D9D9"/>
                    </a:solidFill>
                  </a:tcPr>
                </a:tc>
                <a:extLst>
                  <a:ext uri="{0D108BD9-81ED-4DB2-BD59-A6C34878D82A}">
                    <a16:rowId xmlns:a16="http://schemas.microsoft.com/office/drawing/2014/main" val="10000"/>
                  </a:ext>
                </a:extLst>
              </a:tr>
              <a:tr h="508000">
                <a:tc>
                  <a:txBody>
                    <a:bodyPr/>
                    <a:lstStyle/>
                    <a:p>
                      <a:r>
                        <a:rPr sz="1650" b="0">
                          <a:solidFill>
                            <a:srgbClr val="000000"/>
                          </a:solidFill>
                          <a:latin typeface="Calibri"/>
                          <a:ea typeface="Calibri"/>
                          <a:cs typeface="Calibri"/>
                        </a:rPr>
                        <a:t>Power path</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650" b="0">
                          <a:solidFill>
                            <a:srgbClr val="000000"/>
                          </a:solidFill>
                          <a:latin typeface="Calibri"/>
                          <a:ea typeface="Calibri"/>
                          <a:cs typeface="Calibri"/>
                        </a:rPr>
                        <a:t>Engine, gearbox, interconnecting shafts</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650" b="0">
                          <a:solidFill>
                            <a:srgbClr val="000000"/>
                          </a:solidFill>
                          <a:latin typeface="Calibri"/>
                          <a:ea typeface="Calibri"/>
                          <a:cs typeface="Calibri"/>
                        </a:rPr>
                        <a:t>Turbine, generator, inverter, motor</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extLst>
                  <a:ext uri="{0D108BD9-81ED-4DB2-BD59-A6C34878D82A}">
                    <a16:rowId xmlns:a16="http://schemas.microsoft.com/office/drawing/2014/main" val="10001"/>
                  </a:ext>
                </a:extLst>
              </a:tr>
              <a:tr h="508000">
                <a:tc>
                  <a:txBody>
                    <a:bodyPr/>
                    <a:lstStyle/>
                    <a:p>
                      <a:r>
                        <a:rPr sz="1650" b="0">
                          <a:solidFill>
                            <a:srgbClr val="000000"/>
                          </a:solidFill>
                          <a:latin typeface="Calibri"/>
                          <a:ea typeface="Calibri"/>
                          <a:cs typeface="Calibri"/>
                        </a:rPr>
                        <a:t>Potential advantage</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650" b="0">
                          <a:solidFill>
                            <a:srgbClr val="000000"/>
                          </a:solidFill>
                          <a:latin typeface="Calibri"/>
                          <a:ea typeface="Calibri"/>
                          <a:cs typeface="Calibri"/>
                        </a:rPr>
                        <a:t>Fewer conversion stages and lower modeled mass</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650" b="0">
                          <a:solidFill>
                            <a:srgbClr val="000000"/>
                          </a:solidFill>
                          <a:latin typeface="Calibri"/>
                          <a:ea typeface="Calibri"/>
                          <a:cs typeface="Calibri"/>
                        </a:rPr>
                        <a:t>Flexible electrical routing and motor control</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extLst>
                  <a:ext uri="{0D108BD9-81ED-4DB2-BD59-A6C34878D82A}">
                    <a16:rowId xmlns:a16="http://schemas.microsoft.com/office/drawing/2014/main" val="10002"/>
                  </a:ext>
                </a:extLst>
              </a:tr>
              <a:tr h="508000">
                <a:tc>
                  <a:txBody>
                    <a:bodyPr/>
                    <a:lstStyle/>
                    <a:p>
                      <a:r>
                        <a:rPr sz="1650" b="0">
                          <a:solidFill>
                            <a:srgbClr val="000000"/>
                          </a:solidFill>
                          <a:latin typeface="Calibri"/>
                          <a:ea typeface="Calibri"/>
                          <a:cs typeface="Calibri"/>
                        </a:rPr>
                        <a:t>Main installation burden</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650" b="0">
                          <a:solidFill>
                            <a:srgbClr val="000000"/>
                          </a:solidFill>
                          <a:latin typeface="Calibri"/>
                          <a:ea typeface="Calibri"/>
                          <a:cs typeface="Calibri"/>
                        </a:rPr>
                        <a:t>Split gearbox, shafting, tilt joints and lubrication</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650" b="0">
                          <a:solidFill>
                            <a:srgbClr val="000000"/>
                          </a:solidFill>
                          <a:latin typeface="Calibri"/>
                          <a:ea typeface="Calibri"/>
                          <a:cs typeface="Calibri"/>
                        </a:rPr>
                        <a:t>Generator, HV bus, cooling, protection and motors</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extLst>
                  <a:ext uri="{0D108BD9-81ED-4DB2-BD59-A6C34878D82A}">
                    <a16:rowId xmlns:a16="http://schemas.microsoft.com/office/drawing/2014/main" val="10003"/>
                  </a:ext>
                </a:extLst>
              </a:tr>
              <a:tr h="508000">
                <a:tc>
                  <a:txBody>
                    <a:bodyPr/>
                    <a:lstStyle/>
                    <a:p>
                      <a:r>
                        <a:rPr sz="1650" b="0">
                          <a:solidFill>
                            <a:srgbClr val="000000"/>
                          </a:solidFill>
                          <a:latin typeface="Calibri"/>
                          <a:ea typeface="Calibri"/>
                          <a:cs typeface="Calibri"/>
                        </a:rPr>
                        <a:t>Current modeled result, kg</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650" b="0">
                          <a:solidFill>
                            <a:srgbClr val="000000"/>
                          </a:solidFill>
                          <a:latin typeface="Calibri"/>
                          <a:ea typeface="Calibri"/>
                          <a:cs typeface="Calibri"/>
                        </a:rPr>
                        <a:t>296.2 gross / 38.8 fuel</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650" b="0">
                          <a:solidFill>
                            <a:srgbClr val="000000"/>
                          </a:solidFill>
                          <a:latin typeface="Calibri"/>
                          <a:ea typeface="Calibri"/>
                          <a:cs typeface="Calibri"/>
                        </a:rPr>
                        <a:t>321.3 gross / 44.7 fuel</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extLst>
                  <a:ext uri="{0D108BD9-81ED-4DB2-BD59-A6C34878D82A}">
                    <a16:rowId xmlns:a16="http://schemas.microsoft.com/office/drawing/2014/main" val="10004"/>
                  </a:ext>
                </a:extLst>
              </a:tr>
              <a:tr h="508000">
                <a:tc>
                  <a:txBody>
                    <a:bodyPr/>
                    <a:lstStyle/>
                    <a:p>
                      <a:r>
                        <a:rPr sz="1650" b="0">
                          <a:solidFill>
                            <a:srgbClr val="000000"/>
                          </a:solidFill>
                          <a:latin typeface="Calibri"/>
                          <a:ea typeface="Calibri"/>
                          <a:cs typeface="Calibri"/>
                        </a:rPr>
                        <a:t>Failure support in current model</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650" b="0">
                          <a:solidFill>
                            <a:srgbClr val="000000"/>
                          </a:solidFill>
                          <a:latin typeface="Calibri"/>
                          <a:ea typeface="Calibri"/>
                          <a:cs typeface="Calibri"/>
                        </a:rPr>
                        <a:t>Independent avionics battery; glide landing</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650" b="0">
                          <a:solidFill>
                            <a:srgbClr val="000000"/>
                          </a:solidFill>
                          <a:latin typeface="Calibri"/>
                          <a:ea typeface="Calibri"/>
                          <a:cs typeface="Calibri"/>
                        </a:rPr>
                        <a:t>Independent avionics battery; no propulsion buffer</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extLst>
                  <a:ext uri="{0D108BD9-81ED-4DB2-BD59-A6C34878D82A}">
                    <a16:rowId xmlns:a16="http://schemas.microsoft.com/office/drawing/2014/main" val="10005"/>
                  </a:ext>
                </a:extLst>
              </a:tr>
            </a:tbl>
          </a:graphicData>
        </a:graphic>
      </p:graphicFrame>
      <p:sp>
        <p:nvSpPr>
          <p:cNvPr id="5" name="Rectangle 4">
            <a:extLst>
              <a:ext uri="{FF2B5EF4-FFF2-40B4-BE49-F238E27FC236}">
                <a16:creationId xmlns:a16="http://schemas.microsoft.com/office/drawing/2014/main" id="{7FA502EE-6264-48AF-B674-65BC83558A43}"/>
              </a:ext>
            </a:extLst>
          </p:cNvPr>
          <p:cNvSpPr>
            <a:spLocks noGrp="1"/>
          </p:cNvSpPr>
          <p:nvPr/>
        </p:nvSpPr>
        <p:spPr>
          <a:xfrm>
            <a:off x="476250" y="5095875"/>
            <a:ext cx="11239500" cy="619125"/>
          </a:xfrm>
          <a:prstGeom prst="rect">
            <a:avLst/>
          </a:prstGeom>
          <a:noFill/>
          <a:ln w="0">
            <a:noFill/>
            <a:prstDash val="solid"/>
          </a:ln>
        </p:spPr>
        <p:txBody>
          <a:bodyPr lIns="0" tIns="0" rIns="0" bIns="0"/>
          <a:lstStyle>
            <a:defPPr>
              <a:defRPr sz="1800" b="1">
                <a:solidFill>
                  <a:srgbClr val="000000"/>
                </a:solidFill>
                <a:latin typeface="Calibri"/>
                <a:ea typeface="Calibri"/>
                <a:cs typeface="Calibri"/>
              </a:defRPr>
            </a:defPPr>
            <a:lvl1pPr>
              <a:defRPr sz="1800" b="1">
                <a:solidFill>
                  <a:srgbClr val="000000"/>
                </a:solidFill>
                <a:latin typeface="Calibri"/>
                <a:ea typeface="Calibri"/>
                <a:cs typeface="Calibri"/>
              </a:defRPr>
            </a:lvl1pPr>
            <a:lvl2pPr>
              <a:defRPr sz="1800" b="1">
                <a:solidFill>
                  <a:srgbClr val="000000"/>
                </a:solidFill>
                <a:latin typeface="Calibri"/>
                <a:ea typeface="Calibri"/>
                <a:cs typeface="Calibri"/>
              </a:defRPr>
            </a:lvl2pPr>
            <a:lvl3pPr>
              <a:defRPr sz="1800" b="1">
                <a:solidFill>
                  <a:srgbClr val="000000"/>
                </a:solidFill>
                <a:latin typeface="Calibri"/>
                <a:ea typeface="Calibri"/>
                <a:cs typeface="Calibri"/>
              </a:defRPr>
            </a:lvl3pPr>
            <a:lvl4pPr>
              <a:defRPr sz="1800" b="1">
                <a:solidFill>
                  <a:srgbClr val="000000"/>
                </a:solidFill>
                <a:latin typeface="Calibri"/>
                <a:ea typeface="Calibri"/>
                <a:cs typeface="Calibri"/>
              </a:defRPr>
            </a:lvl4pPr>
            <a:lvl5pPr>
              <a:defRPr sz="1800" b="1">
                <a:solidFill>
                  <a:srgbClr val="000000"/>
                </a:solidFill>
                <a:latin typeface="Calibri"/>
                <a:ea typeface="Calibri"/>
                <a:cs typeface="Calibri"/>
              </a:defRPr>
            </a:lvl5pPr>
            <a:lvl6pPr>
              <a:defRPr sz="1800" b="1">
                <a:solidFill>
                  <a:srgbClr val="000000"/>
                </a:solidFill>
                <a:latin typeface="Calibri"/>
                <a:ea typeface="Calibri"/>
                <a:cs typeface="Calibri"/>
              </a:defRPr>
            </a:lvl6pPr>
            <a:lvl7pPr>
              <a:defRPr sz="1800" b="1">
                <a:solidFill>
                  <a:srgbClr val="000000"/>
                </a:solidFill>
                <a:latin typeface="Calibri"/>
                <a:ea typeface="Calibri"/>
                <a:cs typeface="Calibri"/>
              </a:defRPr>
            </a:lvl7pPr>
            <a:lvl8pPr>
              <a:defRPr sz="1800" b="1">
                <a:solidFill>
                  <a:srgbClr val="000000"/>
                </a:solidFill>
                <a:latin typeface="Calibri"/>
                <a:ea typeface="Calibri"/>
                <a:cs typeface="Calibri"/>
              </a:defRPr>
            </a:lvl8pPr>
            <a:lvl9pPr>
              <a:defRPr sz="1800" b="1">
                <a:solidFill>
                  <a:srgbClr val="000000"/>
                </a:solidFill>
                <a:latin typeface="Calibri"/>
                <a:ea typeface="Calibri"/>
                <a:cs typeface="Calibri"/>
              </a:defRPr>
            </a:lvl9pPr>
          </a:lstStyle>
          <a:p>
            <a:pPr>
              <a:defRPr sz="1800" b="1">
                <a:solidFill>
                  <a:srgbClr val="000000"/>
                </a:solidFill>
                <a:latin typeface="Calibri"/>
                <a:ea typeface="Calibri"/>
                <a:cs typeface="Calibri"/>
              </a:defRPr>
            </a:pPr>
            <a:r>
              <a:rPr sz="1800" b="1">
                <a:solidFill>
                  <a:srgbClr val="000000"/>
                </a:solidFill>
                <a:latin typeface="Calibri"/>
                <a:ea typeface="Calibri"/>
                <a:cs typeface="Calibri"/>
              </a:rPr>
              <a:t>These results compare different assumed engines and installations. They do not isolate the efficiency of electrical versus mechanical transmission.</a:t>
            </a:r>
          </a:p>
        </p:txBody>
      </p:sp>
      <p:sp>
        <p:nvSpPr>
          <p:cNvPr id="6" name="Rectangle 5">
            <a:extLst>
              <a:ext uri="{FF2B5EF4-FFF2-40B4-BE49-F238E27FC236}">
                <a16:creationId xmlns:a16="http://schemas.microsoft.com/office/drawing/2014/main" id="{90040515-B7A8-489C-9DEE-4831A32E848C}"/>
              </a:ext>
            </a:extLst>
          </p:cNvPr>
          <p:cNvSpPr>
            <a:spLocks noGrp="1"/>
          </p:cNvSpPr>
          <p:nvPr/>
        </p:nvSpPr>
        <p:spPr>
          <a:xfrm>
            <a:off x="476250" y="6400800"/>
            <a:ext cx="10810875" cy="381000"/>
          </a:xfrm>
          <a:prstGeom prst="rect">
            <a:avLst/>
          </a:prstGeom>
          <a:noFill/>
          <a:ln w="0">
            <a:noFill/>
            <a:prstDash val="solid"/>
          </a:ln>
        </p:spPr>
        <p:txBody>
          <a:bodyPr lIns="0" tIns="0" rIns="0" bIns="0"/>
          <a:lstStyle>
            <a:defPPr>
              <a:defRPr sz="1125" b="0">
                <a:solidFill>
                  <a:srgbClr val="444444"/>
                </a:solidFill>
                <a:latin typeface="Calibri"/>
                <a:ea typeface="Calibri"/>
                <a:cs typeface="Calibri"/>
              </a:defRPr>
            </a:defPPr>
            <a:lvl1pPr>
              <a:defRPr sz="1125" b="0">
                <a:solidFill>
                  <a:srgbClr val="444444"/>
                </a:solidFill>
                <a:latin typeface="Calibri"/>
                <a:ea typeface="Calibri"/>
                <a:cs typeface="Calibri"/>
              </a:defRPr>
            </a:lvl1pPr>
            <a:lvl2pPr>
              <a:defRPr sz="1125" b="0">
                <a:solidFill>
                  <a:srgbClr val="444444"/>
                </a:solidFill>
                <a:latin typeface="Calibri"/>
                <a:ea typeface="Calibri"/>
                <a:cs typeface="Calibri"/>
              </a:defRPr>
            </a:lvl2pPr>
            <a:lvl3pPr>
              <a:defRPr sz="1125" b="0">
                <a:solidFill>
                  <a:srgbClr val="444444"/>
                </a:solidFill>
                <a:latin typeface="Calibri"/>
                <a:ea typeface="Calibri"/>
                <a:cs typeface="Calibri"/>
              </a:defRPr>
            </a:lvl3pPr>
            <a:lvl4pPr>
              <a:defRPr sz="1125" b="0">
                <a:solidFill>
                  <a:srgbClr val="444444"/>
                </a:solidFill>
                <a:latin typeface="Calibri"/>
                <a:ea typeface="Calibri"/>
                <a:cs typeface="Calibri"/>
              </a:defRPr>
            </a:lvl4pPr>
            <a:lvl5pPr>
              <a:defRPr sz="1125" b="0">
                <a:solidFill>
                  <a:srgbClr val="444444"/>
                </a:solidFill>
                <a:latin typeface="Calibri"/>
                <a:ea typeface="Calibri"/>
                <a:cs typeface="Calibri"/>
              </a:defRPr>
            </a:lvl5pPr>
            <a:lvl6pPr>
              <a:defRPr sz="1125" b="0">
                <a:solidFill>
                  <a:srgbClr val="444444"/>
                </a:solidFill>
                <a:latin typeface="Calibri"/>
                <a:ea typeface="Calibri"/>
                <a:cs typeface="Calibri"/>
              </a:defRPr>
            </a:lvl6pPr>
            <a:lvl7pPr>
              <a:defRPr sz="1125" b="0">
                <a:solidFill>
                  <a:srgbClr val="444444"/>
                </a:solidFill>
                <a:latin typeface="Calibri"/>
                <a:ea typeface="Calibri"/>
                <a:cs typeface="Calibri"/>
              </a:defRPr>
            </a:lvl7pPr>
            <a:lvl8pPr>
              <a:defRPr sz="1125" b="0">
                <a:solidFill>
                  <a:srgbClr val="444444"/>
                </a:solidFill>
                <a:latin typeface="Calibri"/>
                <a:ea typeface="Calibri"/>
                <a:cs typeface="Calibri"/>
              </a:defRPr>
            </a:lvl8pPr>
            <a:lvl9pPr>
              <a:defRPr sz="1125" b="0">
                <a:solidFill>
                  <a:srgbClr val="444444"/>
                </a:solidFill>
                <a:latin typeface="Calibri"/>
                <a:ea typeface="Calibri"/>
                <a:cs typeface="Calibri"/>
              </a:defRPr>
            </a:lvl9pPr>
          </a:lstStyle>
          <a:p>
            <a:pPr>
              <a:defRPr sz="1125" b="0">
                <a:solidFill>
                  <a:srgbClr val="444444"/>
                </a:solidFill>
                <a:latin typeface="Calibri"/>
                <a:ea typeface="Calibri"/>
                <a:cs typeface="Calibri"/>
              </a:defRPr>
            </a:pPr>
            <a:r>
              <a:rPr sz="1125" b="0">
                <a:solidFill>
                  <a:srgbClr val="444444"/>
                </a:solidFill>
                <a:latin typeface="Calibri"/>
                <a:ea typeface="Calibri"/>
                <a:cs typeface="Calibri"/>
              </a:rPr>
              <a:t>[R5] Bowman et al. (2018), propulsion architectures. [R1] Silva et al. (2018), Fig. 7 / §VII: NASA L+C includes an emergency battery.</a:t>
            </a:r>
          </a:p>
          <a:p>
            <a:pPr>
              <a:defRPr sz="1125" b="0">
                <a:solidFill>
                  <a:srgbClr val="444444"/>
                </a:solidFill>
                <a:latin typeface="Calibri"/>
                <a:ea typeface="Calibri"/>
                <a:cs typeface="Calibri"/>
              </a:defRPr>
            </a:pPr>
            <a:r>
              <a:rPr sz="1125" b="0">
                <a:solidFill>
                  <a:srgbClr val="444444"/>
                </a:solidFill>
                <a:latin typeface="Calibri"/>
                <a:ea typeface="Calibri"/>
                <a:cs typeface="Calibri"/>
              </a:rPr>
              <a:t>[S7] Corrected UAV sizing. Central-source failure, transient DC-bus stability and 12 m/s control capability remain unverified.</a:t>
            </a:r>
          </a:p>
        </p:txBody>
      </p:sp>
      <p:sp>
        <p:nvSpPr>
          <p:cNvPr id="8" name="TextBox 7">
            <a:extLst>
              <a:ext uri="{FF2B5EF4-FFF2-40B4-BE49-F238E27FC236}">
                <a16:creationId xmlns:a16="http://schemas.microsoft.com/office/drawing/2014/main" id="{BCF5BFA1-439E-0993-37B6-1B75289D572F}"/>
              </a:ext>
            </a:extLst>
          </p:cNvPr>
          <p:cNvSpPr txBox="1"/>
          <p:nvPr/>
        </p:nvSpPr>
        <p:spPr>
          <a:xfrm>
            <a:off x="11671300" y="6527800"/>
            <a:ext cx="355600" cy="153888"/>
          </a:xfrm>
          <a:prstGeom prst="rect">
            <a:avLst/>
          </a:prstGeom>
          <a:noFill/>
        </p:spPr>
        <p:txBody>
          <a:bodyPr vert="horz" lIns="0" tIns="0" rIns="0" bIns="0" rtlCol="0">
            <a:spAutoFit/>
          </a:bodyPr>
          <a:lstStyle/>
          <a:p>
            <a:r>
              <a:rPr lang="en-US" sz="1000">
                <a:solidFill>
                  <a:srgbClr val="000000"/>
                </a:solidFill>
                <a:latin typeface="Calibri" panose="020F0502020204030204" pitchFamily="34" charset="0"/>
              </a:rPr>
              <a:t>29</a:t>
            </a:r>
          </a:p>
        </p:txBody>
      </p:sp>
    </p:spTree>
    <p:extLst>
      <p:ext uri="{BB962C8B-B14F-4D97-AF65-F5344CB8AC3E}">
        <p14:creationId xmlns:p14="http://schemas.microsoft.com/office/powerpoint/2010/main" val="31927846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B76EECC-86EF-4952-9422-78F803B9EE7F}"/>
              </a:ext>
            </a:extLst>
          </p:cNvPr>
          <p:cNvSpPr>
            <a:spLocks noGrp="1"/>
          </p:cNvSpPr>
          <p:nvPr/>
        </p:nvSpPr>
        <p:spPr>
          <a:xfrm>
            <a:off x="838200" y="361950"/>
            <a:ext cx="10896600" cy="571500"/>
          </a:xfrm>
          <a:prstGeom prst="rect">
            <a:avLst/>
          </a:prstGeom>
          <a:noFill/>
          <a:ln w="0">
            <a:noFill/>
          </a:ln>
        </p:spPr>
        <p:txBody>
          <a:bodyPr/>
          <a:lstStyle>
            <a:defPPr>
              <a:defRPr sz="2775" b="1">
                <a:solidFill>
                  <a:srgbClr val="173344"/>
                </a:solidFill>
                <a:latin typeface="Arial"/>
                <a:ea typeface="Arial"/>
                <a:cs typeface="Arial"/>
              </a:defRPr>
            </a:defPPr>
            <a:lvl1pPr>
              <a:defRPr sz="2775" b="1">
                <a:solidFill>
                  <a:srgbClr val="173344"/>
                </a:solidFill>
                <a:latin typeface="Arial"/>
                <a:ea typeface="Arial"/>
                <a:cs typeface="Arial"/>
              </a:defRPr>
            </a:lvl1pPr>
            <a:lvl2pPr>
              <a:defRPr sz="2775" b="1">
                <a:solidFill>
                  <a:srgbClr val="173344"/>
                </a:solidFill>
                <a:latin typeface="Arial"/>
                <a:ea typeface="Arial"/>
                <a:cs typeface="Arial"/>
              </a:defRPr>
            </a:lvl2pPr>
            <a:lvl3pPr>
              <a:defRPr sz="2775" b="1">
                <a:solidFill>
                  <a:srgbClr val="173344"/>
                </a:solidFill>
                <a:latin typeface="Arial"/>
                <a:ea typeface="Arial"/>
                <a:cs typeface="Arial"/>
              </a:defRPr>
            </a:lvl3pPr>
            <a:lvl4pPr>
              <a:defRPr sz="2775" b="1">
                <a:solidFill>
                  <a:srgbClr val="173344"/>
                </a:solidFill>
                <a:latin typeface="Arial"/>
                <a:ea typeface="Arial"/>
                <a:cs typeface="Arial"/>
              </a:defRPr>
            </a:lvl4pPr>
            <a:lvl5pPr>
              <a:defRPr sz="2775" b="1">
                <a:solidFill>
                  <a:srgbClr val="173344"/>
                </a:solidFill>
                <a:latin typeface="Arial"/>
                <a:ea typeface="Arial"/>
                <a:cs typeface="Arial"/>
              </a:defRPr>
            </a:lvl5pPr>
            <a:lvl6pPr>
              <a:defRPr sz="2775" b="1">
                <a:solidFill>
                  <a:srgbClr val="173344"/>
                </a:solidFill>
                <a:latin typeface="Arial"/>
                <a:ea typeface="Arial"/>
                <a:cs typeface="Arial"/>
              </a:defRPr>
            </a:lvl6pPr>
            <a:lvl7pPr>
              <a:defRPr sz="2775" b="1">
                <a:solidFill>
                  <a:srgbClr val="173344"/>
                </a:solidFill>
                <a:latin typeface="Arial"/>
                <a:ea typeface="Arial"/>
                <a:cs typeface="Arial"/>
              </a:defRPr>
            </a:lvl7pPr>
            <a:lvl8pPr>
              <a:defRPr sz="2775" b="1">
                <a:solidFill>
                  <a:srgbClr val="173344"/>
                </a:solidFill>
                <a:latin typeface="Arial"/>
                <a:ea typeface="Arial"/>
                <a:cs typeface="Arial"/>
              </a:defRPr>
            </a:lvl8pPr>
            <a:lvl9pPr>
              <a:defRPr sz="2775" b="1">
                <a:solidFill>
                  <a:srgbClr val="173344"/>
                </a:solidFill>
                <a:latin typeface="Arial"/>
                <a:ea typeface="Arial"/>
                <a:cs typeface="Arial"/>
              </a:defRPr>
            </a:lvl9pPr>
          </a:lstStyle>
          <a:p>
            <a:pPr>
              <a:defRPr sz="2775" b="1">
                <a:solidFill>
                  <a:srgbClr val="173344"/>
                </a:solidFill>
                <a:latin typeface="Arial"/>
                <a:ea typeface="Arial"/>
                <a:cs typeface="Arial"/>
              </a:defRPr>
            </a:pPr>
            <a:r>
              <a:rPr sz="2400" b="1">
                <a:solidFill>
                  <a:srgbClr val="000000"/>
                </a:solidFill>
                <a:latin typeface="Calibri" panose="020F0502020204030204" pitchFamily="34" charset="0"/>
                <a:ea typeface="Arial"/>
                <a:cs typeface="Arial"/>
              </a:rPr>
              <a:t>Component comparison: structure and propulsion</a:t>
            </a:r>
          </a:p>
        </p:txBody>
      </p:sp>
      <p:sp>
        <p:nvSpPr>
          <p:cNvPr id="2" name="Rectangle 1">
            <a:extLst>
              <a:ext uri="{FF2B5EF4-FFF2-40B4-BE49-F238E27FC236}">
                <a16:creationId xmlns:a16="http://schemas.microsoft.com/office/drawing/2014/main" id="{D68BBD32-CB0D-4CCE-A70B-B75A3AE0C53B}"/>
              </a:ext>
            </a:extLst>
          </p:cNvPr>
          <p:cNvSpPr>
            <a:spLocks noGrp="1"/>
          </p:cNvSpPr>
          <p:nvPr/>
        </p:nvSpPr>
        <p:spPr>
          <a:xfrm>
            <a:off x="476250" y="876300"/>
            <a:ext cx="11239500" cy="523875"/>
          </a:xfrm>
          <a:prstGeom prst="rect">
            <a:avLst/>
          </a:prstGeom>
          <a:noFill/>
          <a:ln w="0">
            <a:noFill/>
          </a:ln>
        </p:spPr>
        <p:txBody>
          <a:bodyPr/>
          <a:lstStyle>
            <a:defPPr>
              <a:defRPr sz="1575" b="0">
                <a:solidFill>
                  <a:srgbClr val="536675"/>
                </a:solidFill>
                <a:latin typeface="Arial"/>
                <a:ea typeface="Arial"/>
                <a:cs typeface="Arial"/>
              </a:defRPr>
            </a:defPPr>
            <a:lvl1pPr>
              <a:defRPr sz="1575" b="0">
                <a:solidFill>
                  <a:srgbClr val="536675"/>
                </a:solidFill>
                <a:latin typeface="Arial"/>
                <a:ea typeface="Arial"/>
                <a:cs typeface="Arial"/>
              </a:defRPr>
            </a:lvl1pPr>
            <a:lvl2pPr>
              <a:defRPr sz="1575" b="0">
                <a:solidFill>
                  <a:srgbClr val="536675"/>
                </a:solidFill>
                <a:latin typeface="Arial"/>
                <a:ea typeface="Arial"/>
                <a:cs typeface="Arial"/>
              </a:defRPr>
            </a:lvl2pPr>
            <a:lvl3pPr>
              <a:defRPr sz="1575" b="0">
                <a:solidFill>
                  <a:srgbClr val="536675"/>
                </a:solidFill>
                <a:latin typeface="Arial"/>
                <a:ea typeface="Arial"/>
                <a:cs typeface="Arial"/>
              </a:defRPr>
            </a:lvl3pPr>
            <a:lvl4pPr>
              <a:defRPr sz="1575" b="0">
                <a:solidFill>
                  <a:srgbClr val="536675"/>
                </a:solidFill>
                <a:latin typeface="Arial"/>
                <a:ea typeface="Arial"/>
                <a:cs typeface="Arial"/>
              </a:defRPr>
            </a:lvl4pPr>
            <a:lvl5pPr>
              <a:defRPr sz="1575" b="0">
                <a:solidFill>
                  <a:srgbClr val="536675"/>
                </a:solidFill>
                <a:latin typeface="Arial"/>
                <a:ea typeface="Arial"/>
                <a:cs typeface="Arial"/>
              </a:defRPr>
            </a:lvl5pPr>
            <a:lvl6pPr>
              <a:defRPr sz="1575" b="0">
                <a:solidFill>
                  <a:srgbClr val="536675"/>
                </a:solidFill>
                <a:latin typeface="Arial"/>
                <a:ea typeface="Arial"/>
                <a:cs typeface="Arial"/>
              </a:defRPr>
            </a:lvl6pPr>
            <a:lvl7pPr>
              <a:defRPr sz="1575" b="0">
                <a:solidFill>
                  <a:srgbClr val="536675"/>
                </a:solidFill>
                <a:latin typeface="Arial"/>
                <a:ea typeface="Arial"/>
                <a:cs typeface="Arial"/>
              </a:defRPr>
            </a:lvl7pPr>
            <a:lvl8pPr>
              <a:defRPr sz="1575" b="0">
                <a:solidFill>
                  <a:srgbClr val="536675"/>
                </a:solidFill>
                <a:latin typeface="Arial"/>
                <a:ea typeface="Arial"/>
                <a:cs typeface="Arial"/>
              </a:defRPr>
            </a:lvl8pPr>
            <a:lvl9pPr>
              <a:defRPr sz="1575" b="0">
                <a:solidFill>
                  <a:srgbClr val="536675"/>
                </a:solidFill>
                <a:latin typeface="Arial"/>
                <a:ea typeface="Arial"/>
                <a:cs typeface="Arial"/>
              </a:defRPr>
            </a:lvl9pPr>
          </a:lstStyle>
          <a:p>
            <a:pPr>
              <a:defRPr sz="1575" b="0">
                <a:solidFill>
                  <a:srgbClr val="536675"/>
                </a:solidFill>
                <a:latin typeface="Arial"/>
                <a:ea typeface="Arial"/>
                <a:cs typeface="Arial"/>
              </a:defRPr>
            </a:pPr>
            <a:r>
              <a:rPr sz="1575" b="0">
                <a:solidFill>
                  <a:srgbClr val="000000"/>
                </a:solidFill>
                <a:latin typeface="Calibri" panose="020F0502020204030204" pitchFamily="34" charset="0"/>
                <a:ea typeface="Arial"/>
                <a:cs typeface="Arial"/>
              </a:rPr>
              <a:t>Fuel hardware is included; propulsion suballocations and structural boundaries remain provisional.</a:t>
            </a:r>
          </a:p>
        </p:txBody>
      </p:sp>
      <p:sp>
        <p:nvSpPr>
          <p:cNvPr id="3" name="Rectangle 2">
            <a:extLst>
              <a:ext uri="{FF2B5EF4-FFF2-40B4-BE49-F238E27FC236}">
                <a16:creationId xmlns:a16="http://schemas.microsoft.com/office/drawing/2014/main" id="{9F0CE528-1C1C-4C4E-862F-D900BCB0EDAE}"/>
              </a:ext>
            </a:extLst>
          </p:cNvPr>
          <p:cNvSpPr>
            <a:spLocks noGrp="1"/>
          </p:cNvSpPr>
          <p:nvPr/>
        </p:nvSpPr>
        <p:spPr>
          <a:xfrm>
            <a:off x="476250" y="6524625"/>
            <a:ext cx="10477500" cy="190500"/>
          </a:xfrm>
          <a:prstGeom prst="rect">
            <a:avLst/>
          </a:prstGeom>
          <a:noFill/>
          <a:ln w="0">
            <a:noFill/>
          </a:ln>
        </p:spPr>
        <p:txBody>
          <a:bodyPr/>
          <a:lstStyle>
            <a:defPPr>
              <a:defRPr sz="975" b="0">
                <a:solidFill>
                  <a:srgbClr val="536675"/>
                </a:solidFill>
                <a:latin typeface="Arial"/>
                <a:ea typeface="Arial"/>
                <a:cs typeface="Arial"/>
              </a:defRPr>
            </a:defPPr>
            <a:lvl1pPr>
              <a:defRPr sz="975" b="0">
                <a:solidFill>
                  <a:srgbClr val="536675"/>
                </a:solidFill>
                <a:latin typeface="Arial"/>
                <a:ea typeface="Arial"/>
                <a:cs typeface="Arial"/>
              </a:defRPr>
            </a:lvl1pPr>
            <a:lvl2pPr>
              <a:defRPr sz="975" b="0">
                <a:solidFill>
                  <a:srgbClr val="536675"/>
                </a:solidFill>
                <a:latin typeface="Arial"/>
                <a:ea typeface="Arial"/>
                <a:cs typeface="Arial"/>
              </a:defRPr>
            </a:lvl2pPr>
            <a:lvl3pPr>
              <a:defRPr sz="975" b="0">
                <a:solidFill>
                  <a:srgbClr val="536675"/>
                </a:solidFill>
                <a:latin typeface="Arial"/>
                <a:ea typeface="Arial"/>
                <a:cs typeface="Arial"/>
              </a:defRPr>
            </a:lvl3pPr>
            <a:lvl4pPr>
              <a:defRPr sz="975" b="0">
                <a:solidFill>
                  <a:srgbClr val="536675"/>
                </a:solidFill>
                <a:latin typeface="Arial"/>
                <a:ea typeface="Arial"/>
                <a:cs typeface="Arial"/>
              </a:defRPr>
            </a:lvl4pPr>
            <a:lvl5pPr>
              <a:defRPr sz="975" b="0">
                <a:solidFill>
                  <a:srgbClr val="536675"/>
                </a:solidFill>
                <a:latin typeface="Arial"/>
                <a:ea typeface="Arial"/>
                <a:cs typeface="Arial"/>
              </a:defRPr>
            </a:lvl5pPr>
            <a:lvl6pPr>
              <a:defRPr sz="975" b="0">
                <a:solidFill>
                  <a:srgbClr val="536675"/>
                </a:solidFill>
                <a:latin typeface="Arial"/>
                <a:ea typeface="Arial"/>
                <a:cs typeface="Arial"/>
              </a:defRPr>
            </a:lvl6pPr>
            <a:lvl7pPr>
              <a:defRPr sz="975" b="0">
                <a:solidFill>
                  <a:srgbClr val="536675"/>
                </a:solidFill>
                <a:latin typeface="Arial"/>
                <a:ea typeface="Arial"/>
                <a:cs typeface="Arial"/>
              </a:defRPr>
            </a:lvl7pPr>
            <a:lvl8pPr>
              <a:defRPr sz="975" b="0">
                <a:solidFill>
                  <a:srgbClr val="536675"/>
                </a:solidFill>
                <a:latin typeface="Arial"/>
                <a:ea typeface="Arial"/>
                <a:cs typeface="Arial"/>
              </a:defRPr>
            </a:lvl8pPr>
            <a:lvl9pPr>
              <a:defRPr sz="975" b="0">
                <a:solidFill>
                  <a:srgbClr val="536675"/>
                </a:solidFill>
                <a:latin typeface="Arial"/>
                <a:ea typeface="Arial"/>
                <a:cs typeface="Arial"/>
              </a:defRPr>
            </a:lvl9pPr>
          </a:lstStyle>
          <a:p>
            <a:pPr>
              <a:defRPr sz="975" b="0">
                <a:solidFill>
                  <a:srgbClr val="536675"/>
                </a:solidFill>
                <a:latin typeface="Arial"/>
                <a:ea typeface="Arial"/>
                <a:cs typeface="Arial"/>
              </a:defRPr>
            </a:pPr>
            <a:endParaRPr sz="975" b="0">
              <a:solidFill>
                <a:srgbClr val="000000"/>
              </a:solidFill>
              <a:latin typeface="Calibri" panose="020F0502020204030204" pitchFamily="34" charset="0"/>
              <a:ea typeface="Arial"/>
              <a:cs typeface="Arial"/>
            </a:endParaRPr>
          </a:p>
        </p:txBody>
      </p:sp>
      <p:sp>
        <p:nvSpPr>
          <p:cNvPr id="4" name="Rectangle 3">
            <a:extLst>
              <a:ext uri="{FF2B5EF4-FFF2-40B4-BE49-F238E27FC236}">
                <a16:creationId xmlns:a16="http://schemas.microsoft.com/office/drawing/2014/main" id="{004F8930-3E34-4A34-89EC-263243D93E2B}"/>
              </a:ext>
            </a:extLst>
          </p:cNvPr>
          <p:cNvSpPr>
            <a:spLocks noGrp="1"/>
          </p:cNvSpPr>
          <p:nvPr/>
        </p:nvSpPr>
        <p:spPr>
          <a:xfrm>
            <a:off x="11334750" y="6496050"/>
            <a:ext cx="381000" cy="228600"/>
          </a:xfrm>
          <a:prstGeom prst="rect">
            <a:avLst/>
          </a:prstGeom>
          <a:noFill/>
          <a:ln w="0">
            <a:noFill/>
          </a:ln>
        </p:spPr>
        <p:txBody>
          <a:bodyPr/>
          <a:lstStyle>
            <a:defPPr>
              <a:defRPr sz="1200" b="0">
                <a:solidFill>
                  <a:srgbClr val="536675"/>
                </a:solidFill>
                <a:latin typeface="Arial"/>
                <a:ea typeface="Arial"/>
                <a:cs typeface="Arial"/>
              </a:defRPr>
            </a:defPPr>
            <a:lvl1pPr>
              <a:defRPr sz="1200" b="0">
                <a:solidFill>
                  <a:srgbClr val="536675"/>
                </a:solidFill>
                <a:latin typeface="Arial"/>
                <a:ea typeface="Arial"/>
                <a:cs typeface="Arial"/>
              </a:defRPr>
            </a:lvl1pPr>
            <a:lvl2pPr>
              <a:defRPr sz="1200" b="0">
                <a:solidFill>
                  <a:srgbClr val="536675"/>
                </a:solidFill>
                <a:latin typeface="Arial"/>
                <a:ea typeface="Arial"/>
                <a:cs typeface="Arial"/>
              </a:defRPr>
            </a:lvl2pPr>
            <a:lvl3pPr>
              <a:defRPr sz="1200" b="0">
                <a:solidFill>
                  <a:srgbClr val="536675"/>
                </a:solidFill>
                <a:latin typeface="Arial"/>
                <a:ea typeface="Arial"/>
                <a:cs typeface="Arial"/>
              </a:defRPr>
            </a:lvl3pPr>
            <a:lvl4pPr>
              <a:defRPr sz="1200" b="0">
                <a:solidFill>
                  <a:srgbClr val="536675"/>
                </a:solidFill>
                <a:latin typeface="Arial"/>
                <a:ea typeface="Arial"/>
                <a:cs typeface="Arial"/>
              </a:defRPr>
            </a:lvl4pPr>
            <a:lvl5pPr>
              <a:defRPr sz="1200" b="0">
                <a:solidFill>
                  <a:srgbClr val="536675"/>
                </a:solidFill>
                <a:latin typeface="Arial"/>
                <a:ea typeface="Arial"/>
                <a:cs typeface="Arial"/>
              </a:defRPr>
            </a:lvl5pPr>
            <a:lvl6pPr>
              <a:defRPr sz="1200" b="0">
                <a:solidFill>
                  <a:srgbClr val="536675"/>
                </a:solidFill>
                <a:latin typeface="Arial"/>
                <a:ea typeface="Arial"/>
                <a:cs typeface="Arial"/>
              </a:defRPr>
            </a:lvl6pPr>
            <a:lvl7pPr>
              <a:defRPr sz="1200" b="0">
                <a:solidFill>
                  <a:srgbClr val="536675"/>
                </a:solidFill>
                <a:latin typeface="Arial"/>
                <a:ea typeface="Arial"/>
                <a:cs typeface="Arial"/>
              </a:defRPr>
            </a:lvl7pPr>
            <a:lvl8pPr>
              <a:defRPr sz="1200" b="0">
                <a:solidFill>
                  <a:srgbClr val="536675"/>
                </a:solidFill>
                <a:latin typeface="Arial"/>
                <a:ea typeface="Arial"/>
                <a:cs typeface="Arial"/>
              </a:defRPr>
            </a:lvl8pPr>
            <a:lvl9pPr>
              <a:defRPr sz="1200" b="0">
                <a:solidFill>
                  <a:srgbClr val="536675"/>
                </a:solidFill>
                <a:latin typeface="Arial"/>
                <a:ea typeface="Arial"/>
                <a:cs typeface="Arial"/>
              </a:defRPr>
            </a:lvl9pPr>
          </a:lstStyle>
          <a:p>
            <a:pPr>
              <a:defRPr sz="1200" b="0">
                <a:solidFill>
                  <a:srgbClr val="536675"/>
                </a:solidFill>
                <a:latin typeface="Arial"/>
                <a:ea typeface="Arial"/>
                <a:cs typeface="Arial"/>
              </a:defRPr>
            </a:pPr>
            <a:endParaRPr sz="1200" b="0">
              <a:solidFill>
                <a:srgbClr val="000000"/>
              </a:solidFill>
              <a:latin typeface="Calibri" panose="020F0502020204030204" pitchFamily="34" charset="0"/>
              <a:ea typeface="Arial"/>
              <a:cs typeface="Arial"/>
            </a:endParaRPr>
          </a:p>
        </p:txBody>
      </p:sp>
      <p:graphicFrame>
        <p:nvGraphicFramePr>
          <p:cNvPr id="5" name="Table 4">
            <a:extLst>
              <a:ext uri="{FF2B5EF4-FFF2-40B4-BE49-F238E27FC236}">
                <a16:creationId xmlns:a16="http://schemas.microsoft.com/office/drawing/2014/main" id="{662F2D9F-1D3A-4C42-943B-17D2FEFC207A}"/>
              </a:ext>
            </a:extLst>
          </p:cNvPr>
          <p:cNvGraphicFramePr/>
          <p:nvPr>
            <p:extLst>
              <p:ext uri="{D42A27DB-BD31-4B8C-83A1-F6EECF244321}">
                <p14:modId xmlns:p14="http://schemas.microsoft.com/office/powerpoint/2010/main" val="2666175548"/>
              </p:ext>
            </p:extLst>
          </p:nvPr>
        </p:nvGraphicFramePr>
        <p:xfrm>
          <a:off x="381000" y="1524000"/>
          <a:ext cx="11430000" cy="3667122"/>
        </p:xfrm>
        <a:graphic>
          <a:graphicData uri="http://schemas.openxmlformats.org/drawingml/2006/table">
            <a:tbl>
              <a:tblPr/>
              <a:tblGrid>
                <a:gridCol w="314325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gridCol w="1619250">
                  <a:extLst>
                    <a:ext uri="{9D8B030D-6E8A-4147-A177-3AD203B41FA5}">
                      <a16:colId xmlns:a16="http://schemas.microsoft.com/office/drawing/2014/main" val="20002"/>
                    </a:ext>
                  </a:extLst>
                </a:gridCol>
                <a:gridCol w="1619250">
                  <a:extLst>
                    <a:ext uri="{9D8B030D-6E8A-4147-A177-3AD203B41FA5}">
                      <a16:colId xmlns:a16="http://schemas.microsoft.com/office/drawing/2014/main" val="20003"/>
                    </a:ext>
                  </a:extLst>
                </a:gridCol>
                <a:gridCol w="1619250">
                  <a:extLst>
                    <a:ext uri="{9D8B030D-6E8A-4147-A177-3AD203B41FA5}">
                      <a16:colId xmlns:a16="http://schemas.microsoft.com/office/drawing/2014/main" val="20004"/>
                    </a:ext>
                  </a:extLst>
                </a:gridCol>
                <a:gridCol w="1619250">
                  <a:extLst>
                    <a:ext uri="{9D8B030D-6E8A-4147-A177-3AD203B41FA5}">
                      <a16:colId xmlns:a16="http://schemas.microsoft.com/office/drawing/2014/main" val="20005"/>
                    </a:ext>
                  </a:extLst>
                </a:gridCol>
              </a:tblGrid>
              <a:tr h="407458">
                <a:tc>
                  <a:txBody>
                    <a:bodyPr/>
                    <a:lstStyle/>
                    <a:p>
                      <a:r>
                        <a:rPr lang="en-US" sz="1425" b="1">
                          <a:solidFill>
                            <a:srgbClr val="000000"/>
                          </a:solidFill>
                          <a:latin typeface="Calibri" panose="020F0502020204030204" pitchFamily="34" charset="0"/>
                          <a:ea typeface="Arial"/>
                          <a:cs typeface="Arial"/>
                        </a:rPr>
                        <a:t>Component / kg</a:t>
                      </a:r>
                      <a:endParaRPr sz="1425" b="1">
                        <a:solidFill>
                          <a:srgbClr val="000000"/>
                        </a:solidFill>
                        <a:latin typeface="Calibri" panose="020F0502020204030204" pitchFamily="34" charset="0"/>
                        <a:ea typeface="Arial"/>
                        <a:cs typeface="Arial"/>
                      </a:endParaRPr>
                    </a:p>
                  </a:txBody>
                  <a:tcPr>
                    <a:lnL w="9525">
                      <a:solidFill>
                        <a:srgbClr val="DCE4E8"/>
                      </a:solidFill>
                    </a:lnL>
                    <a:lnR w="9525">
                      <a:solidFill>
                        <a:srgbClr val="DCE4E8"/>
                      </a:solidFill>
                    </a:lnR>
                    <a:lnT w="9525">
                      <a:solidFill>
                        <a:srgbClr val="DCE4E8"/>
                      </a:solidFill>
                    </a:lnT>
                    <a:lnB w="9525">
                      <a:solidFill>
                        <a:srgbClr val="DCE4E8"/>
                      </a:solidFill>
                    </a:lnB>
                    <a:solidFill>
                      <a:srgbClr val="D9D9D9"/>
                    </a:solidFill>
                  </a:tcPr>
                </a:tc>
                <a:tc>
                  <a:txBody>
                    <a:bodyPr/>
                    <a:lstStyle/>
                    <a:p>
                      <a:r>
                        <a:rPr lang="en-US" sz="1425" b="1">
                          <a:solidFill>
                            <a:srgbClr val="000000"/>
                          </a:solidFill>
                          <a:latin typeface="Calibri" panose="020F0502020204030204" pitchFamily="34" charset="0"/>
                          <a:ea typeface="Arial"/>
                          <a:cs typeface="Arial"/>
                        </a:rPr>
                        <a:t>Baseline</a:t>
                      </a:r>
                      <a:endParaRPr sz="1425" b="1">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a:solidFill>
                        <a:srgbClr val="DCE4E8"/>
                      </a:solidFill>
                    </a:lnT>
                    <a:lnB w="9525">
                      <a:solidFill>
                        <a:srgbClr val="DCE4E8"/>
                      </a:solidFill>
                    </a:lnB>
                    <a:solidFill>
                      <a:srgbClr val="D9D9D9"/>
                    </a:solidFill>
                  </a:tcPr>
                </a:tc>
                <a:tc>
                  <a:txBody>
                    <a:bodyPr/>
                    <a:lstStyle/>
                    <a:p>
                      <a:r>
                        <a:rPr lang="en-US" sz="1425" b="1">
                          <a:solidFill>
                            <a:srgbClr val="000000"/>
                          </a:solidFill>
                          <a:latin typeface="Calibri" panose="020F0502020204030204" pitchFamily="34" charset="0"/>
                          <a:ea typeface="Arial"/>
                          <a:cs typeface="Arial"/>
                        </a:rPr>
                        <a:t>L+C retrofit</a:t>
                      </a:r>
                      <a:endParaRPr sz="1425" b="1">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a:solidFill>
                        <a:srgbClr val="DCE4E8"/>
                      </a:solidFill>
                    </a:lnT>
                    <a:lnB w="9525">
                      <a:solidFill>
                        <a:srgbClr val="DCE4E8"/>
                      </a:solidFill>
                    </a:lnB>
                    <a:solidFill>
                      <a:srgbClr val="D9D9D9"/>
                    </a:solidFill>
                  </a:tcPr>
                </a:tc>
                <a:tc>
                  <a:txBody>
                    <a:bodyPr/>
                    <a:lstStyle/>
                    <a:p>
                      <a:r>
                        <a:rPr lang="en-US" sz="1425" b="1">
                          <a:solidFill>
                            <a:srgbClr val="000000"/>
                          </a:solidFill>
                          <a:latin typeface="Calibri" panose="020F0502020204030204" pitchFamily="34" charset="0"/>
                          <a:ea typeface="Arial"/>
                          <a:cs typeface="Arial"/>
                        </a:rPr>
                        <a:t>L+C clean</a:t>
                      </a:r>
                      <a:endParaRPr sz="1425" b="1">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a:solidFill>
                        <a:srgbClr val="DCE4E8"/>
                      </a:solidFill>
                    </a:lnT>
                    <a:lnB w="9525">
                      <a:solidFill>
                        <a:srgbClr val="DCE4E8"/>
                      </a:solidFill>
                    </a:lnB>
                    <a:solidFill>
                      <a:srgbClr val="D9D9D9"/>
                    </a:solidFill>
                  </a:tcPr>
                </a:tc>
                <a:tc>
                  <a:txBody>
                    <a:bodyPr/>
                    <a:lstStyle/>
                    <a:p>
                      <a:r>
                        <a:rPr lang="en-US" sz="1425" b="1">
                          <a:solidFill>
                            <a:srgbClr val="000000"/>
                          </a:solidFill>
                          <a:latin typeface="Calibri" panose="020F0502020204030204" pitchFamily="34" charset="0"/>
                          <a:ea typeface="Arial"/>
                          <a:cs typeface="Arial"/>
                        </a:rPr>
                        <a:t>Piston TR</a:t>
                      </a:r>
                      <a:endParaRPr sz="1425" b="1">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a:solidFill>
                        <a:srgbClr val="DCE4E8"/>
                      </a:solidFill>
                    </a:lnT>
                    <a:lnB w="9525">
                      <a:solidFill>
                        <a:srgbClr val="DCE4E8"/>
                      </a:solidFill>
                    </a:lnB>
                    <a:solidFill>
                      <a:srgbClr val="D9D9D9"/>
                    </a:solidFill>
                  </a:tcPr>
                </a:tc>
                <a:tc>
                  <a:txBody>
                    <a:bodyPr/>
                    <a:lstStyle/>
                    <a:p>
                      <a:r>
                        <a:rPr lang="en-US" sz="1425" b="1">
                          <a:solidFill>
                            <a:srgbClr val="000000"/>
                          </a:solidFill>
                          <a:latin typeface="Calibri" panose="020F0502020204030204" pitchFamily="34" charset="0"/>
                          <a:ea typeface="Arial"/>
                          <a:cs typeface="Arial"/>
                        </a:rPr>
                        <a:t>Turboelectric</a:t>
                      </a:r>
                      <a:endParaRPr sz="1425" b="1">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a:solidFill>
                        <a:srgbClr val="DCE4E8"/>
                      </a:solidFill>
                    </a:lnT>
                    <a:lnB w="9525">
                      <a:solidFill>
                        <a:srgbClr val="DCE4E8"/>
                      </a:solidFill>
                    </a:lnB>
                    <a:solidFill>
                      <a:srgbClr val="D9D9D9"/>
                    </a:solidFill>
                  </a:tcPr>
                </a:tc>
                <a:extLst>
                  <a:ext uri="{0D108BD9-81ED-4DB2-BD59-A6C34878D82A}">
                    <a16:rowId xmlns:a16="http://schemas.microsoft.com/office/drawing/2014/main" val="10000"/>
                  </a:ext>
                </a:extLst>
              </a:tr>
              <a:tr h="407458">
                <a:tc>
                  <a:txBody>
                    <a:bodyPr/>
                    <a:lstStyle/>
                    <a:p>
                      <a:r>
                        <a:rPr lang="en-US" sz="1425" b="0">
                          <a:solidFill>
                            <a:srgbClr val="000000"/>
                          </a:solidFill>
                          <a:latin typeface="Calibri" panose="020F0502020204030204" pitchFamily="34" charset="0"/>
                          <a:ea typeface="Arial"/>
                          <a:cs typeface="Arial"/>
                        </a:rPr>
                        <a:t>Airframe structure¹</a:t>
                      </a:r>
                      <a:endParaRPr sz="1425" b="0">
                        <a:solidFill>
                          <a:srgbClr val="000000"/>
                        </a:solidFill>
                        <a:latin typeface="Calibri" panose="020F0502020204030204" pitchFamily="34" charset="0"/>
                        <a:ea typeface="Arial"/>
                        <a:cs typeface="Arial"/>
                      </a:endParaRP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69.20</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96.87</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93.72</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85.74</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96.57</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extLst>
                  <a:ext uri="{0D108BD9-81ED-4DB2-BD59-A6C34878D82A}">
                    <a16:rowId xmlns:a16="http://schemas.microsoft.com/office/drawing/2014/main" val="10001"/>
                  </a:ext>
                </a:extLst>
              </a:tr>
              <a:tr h="407458">
                <a:tc>
                  <a:txBody>
                    <a:bodyPr/>
                    <a:lstStyle/>
                    <a:p>
                      <a:r>
                        <a:rPr lang="en-US" sz="1425" b="0">
                          <a:solidFill>
                            <a:srgbClr val="000000"/>
                          </a:solidFill>
                          <a:latin typeface="Calibri" panose="020F0502020204030204" pitchFamily="34" charset="0"/>
                          <a:ea typeface="Arial"/>
                          <a:cs typeface="Arial"/>
                        </a:rPr>
                        <a:t>Rotor / propeller group</a:t>
                      </a:r>
                      <a:endParaRPr sz="1425" b="0">
                        <a:solidFill>
                          <a:srgbClr val="000000"/>
                        </a:solidFill>
                        <a:latin typeface="Calibri" panose="020F0502020204030204" pitchFamily="34" charset="0"/>
                        <a:ea typeface="Arial"/>
                        <a:cs typeface="Arial"/>
                      </a:endParaRP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lang="en-US" sz="1425" b="0">
                          <a:solidFill>
                            <a:srgbClr val="000000"/>
                          </a:solidFill>
                          <a:latin typeface="Calibri" panose="020F0502020204030204" pitchFamily="34" charset="0"/>
                          <a:ea typeface="Arial"/>
                          <a:cs typeface="Arial"/>
                        </a:rPr>
                        <a:t>In propulsion</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lang="en-US" sz="1425" b="0">
                          <a:solidFill>
                            <a:srgbClr val="000000"/>
                          </a:solidFill>
                          <a:latin typeface="Calibri" panose="020F0502020204030204" pitchFamily="34" charset="0"/>
                          <a:ea typeface="Arial"/>
                          <a:cs typeface="Arial"/>
                        </a:rPr>
                        <a:t>8.94</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lang="en-US" sz="1425" b="0">
                          <a:solidFill>
                            <a:srgbClr val="000000"/>
                          </a:solidFill>
                          <a:latin typeface="Calibri" panose="020F0502020204030204" pitchFamily="34" charset="0"/>
                          <a:ea typeface="Arial"/>
                          <a:cs typeface="Arial"/>
                        </a:rPr>
                        <a:t>19.26</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lang="en-US" sz="1425" b="0">
                          <a:solidFill>
                            <a:srgbClr val="000000"/>
                          </a:solidFill>
                          <a:latin typeface="Calibri" panose="020F0502020204030204" pitchFamily="34" charset="0"/>
                          <a:ea typeface="Arial"/>
                          <a:cs typeface="Arial"/>
                        </a:rPr>
                        <a:t>19.50</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lang="en-US" sz="1425" b="0">
                          <a:solidFill>
                            <a:srgbClr val="000000"/>
                          </a:solidFill>
                          <a:latin typeface="Calibri" panose="020F0502020204030204" pitchFamily="34" charset="0"/>
                          <a:ea typeface="Arial"/>
                          <a:cs typeface="Arial"/>
                        </a:rPr>
                        <a:t>16.17</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extLst>
                  <a:ext uri="{0D108BD9-81ED-4DB2-BD59-A6C34878D82A}">
                    <a16:rowId xmlns:a16="http://schemas.microsoft.com/office/drawing/2014/main" val="10002"/>
                  </a:ext>
                </a:extLst>
              </a:tr>
              <a:tr h="407458">
                <a:tc>
                  <a:txBody>
                    <a:bodyPr/>
                    <a:lstStyle/>
                    <a:p>
                      <a:r>
                        <a:rPr lang="en-US" sz="1425" b="0">
                          <a:solidFill>
                            <a:srgbClr val="000000"/>
                          </a:solidFill>
                          <a:latin typeface="Calibri" panose="020F0502020204030204" pitchFamily="34" charset="0"/>
                          <a:ea typeface="Arial"/>
                          <a:cs typeface="Arial"/>
                        </a:rPr>
                        <a:t>Landing gear</a:t>
                      </a:r>
                      <a:endParaRPr sz="1425" b="0">
                        <a:solidFill>
                          <a:srgbClr val="000000"/>
                        </a:solidFill>
                        <a:latin typeface="Calibri" panose="020F0502020204030204" pitchFamily="34" charset="0"/>
                        <a:ea typeface="Arial"/>
                        <a:cs typeface="Arial"/>
                      </a:endParaRP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11.50</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9.93</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9.54</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7.40</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8.03</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extLst>
                  <a:ext uri="{0D108BD9-81ED-4DB2-BD59-A6C34878D82A}">
                    <a16:rowId xmlns:a16="http://schemas.microsoft.com/office/drawing/2014/main" val="10003"/>
                  </a:ext>
                </a:extLst>
              </a:tr>
              <a:tr h="407458">
                <a:tc>
                  <a:txBody>
                    <a:bodyPr/>
                    <a:lstStyle/>
                    <a:p>
                      <a:r>
                        <a:rPr lang="en-US" sz="1425" b="0">
                          <a:solidFill>
                            <a:srgbClr val="000000"/>
                          </a:solidFill>
                          <a:latin typeface="Calibri" panose="020F0502020204030204" pitchFamily="34" charset="0"/>
                          <a:ea typeface="Arial"/>
                          <a:cs typeface="Arial"/>
                        </a:rPr>
                        <a:t>Engine package²</a:t>
                      </a:r>
                      <a:endParaRPr sz="1425" b="0">
                        <a:solidFill>
                          <a:srgbClr val="000000"/>
                        </a:solidFill>
                        <a:latin typeface="Calibri" panose="020F0502020204030204" pitchFamily="34" charset="0"/>
                        <a:ea typeface="Arial"/>
                        <a:cs typeface="Arial"/>
                      </a:endParaRP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lang="en-US" sz="1425" b="0">
                          <a:solidFill>
                            <a:srgbClr val="000000"/>
                          </a:solidFill>
                          <a:latin typeface="Calibri" panose="020F0502020204030204" pitchFamily="34" charset="0"/>
                          <a:ea typeface="Arial"/>
                          <a:cs typeface="Arial"/>
                        </a:rPr>
                        <a:t>In horiz. 43.50</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lang="en-US" sz="1425" b="0">
                          <a:solidFill>
                            <a:srgbClr val="000000"/>
                          </a:solidFill>
                          <a:latin typeface="Calibri" panose="020F0502020204030204" pitchFamily="34" charset="0"/>
                          <a:ea typeface="Arial"/>
                          <a:cs typeface="Arial"/>
                        </a:rPr>
                        <a:t>41.00</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lang="en-US" sz="1425" b="0">
                          <a:solidFill>
                            <a:srgbClr val="000000"/>
                          </a:solidFill>
                          <a:latin typeface="Calibri" panose="020F0502020204030204" pitchFamily="34" charset="0"/>
                          <a:ea typeface="Arial"/>
                          <a:cs typeface="Arial"/>
                        </a:rPr>
                        <a:t>41.00</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lang="en-US" sz="1425" b="0">
                          <a:solidFill>
                            <a:srgbClr val="000000"/>
                          </a:solidFill>
                          <a:latin typeface="Calibri" panose="020F0502020204030204" pitchFamily="34" charset="0"/>
                          <a:ea typeface="Arial"/>
                          <a:cs typeface="Arial"/>
                        </a:rPr>
                        <a:t>46.00</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lang="en-US" sz="1425" b="0">
                          <a:solidFill>
                            <a:srgbClr val="000000"/>
                          </a:solidFill>
                          <a:latin typeface="Calibri" panose="020F0502020204030204" pitchFamily="34" charset="0"/>
                          <a:ea typeface="Arial"/>
                          <a:cs typeface="Arial"/>
                        </a:rPr>
                        <a:t>37.50</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extLst>
                  <a:ext uri="{0D108BD9-81ED-4DB2-BD59-A6C34878D82A}">
                    <a16:rowId xmlns:a16="http://schemas.microsoft.com/office/drawing/2014/main" val="10004"/>
                  </a:ext>
                </a:extLst>
              </a:tr>
              <a:tr h="407458">
                <a:tc>
                  <a:txBody>
                    <a:bodyPr/>
                    <a:lstStyle/>
                    <a:p>
                      <a:r>
                        <a:rPr lang="en-US" sz="1425" b="0">
                          <a:solidFill>
                            <a:srgbClr val="000000"/>
                          </a:solidFill>
                          <a:latin typeface="Calibri" panose="020F0502020204030204" pitchFamily="34" charset="0"/>
                          <a:ea typeface="Arial"/>
                          <a:cs typeface="Arial"/>
                        </a:rPr>
                        <a:t>Motor + inverter / electric drive</a:t>
                      </a:r>
                      <a:endParaRPr sz="1425" b="0">
                        <a:solidFill>
                          <a:srgbClr val="000000"/>
                        </a:solidFill>
                        <a:latin typeface="Calibri" panose="020F0502020204030204" pitchFamily="34" charset="0"/>
                        <a:ea typeface="Arial"/>
                        <a:cs typeface="Arial"/>
                      </a:endParaRP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In vertical 70</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38.60</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38.60</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0.00</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35.00</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extLst>
                  <a:ext uri="{0D108BD9-81ED-4DB2-BD59-A6C34878D82A}">
                    <a16:rowId xmlns:a16="http://schemas.microsoft.com/office/drawing/2014/main" val="10005"/>
                  </a:ext>
                </a:extLst>
              </a:tr>
              <a:tr h="407458">
                <a:tc>
                  <a:txBody>
                    <a:bodyPr/>
                    <a:lstStyle/>
                    <a:p>
                      <a:r>
                        <a:rPr lang="en-US" sz="1425" b="0">
                          <a:solidFill>
                            <a:srgbClr val="000000"/>
                          </a:solidFill>
                          <a:latin typeface="Calibri" panose="020F0502020204030204" pitchFamily="34" charset="0"/>
                          <a:ea typeface="Arial"/>
                          <a:cs typeface="Arial"/>
                        </a:rPr>
                        <a:t>Main lift battery</a:t>
                      </a:r>
                      <a:endParaRPr sz="1425" b="0">
                        <a:solidFill>
                          <a:srgbClr val="000000"/>
                        </a:solidFill>
                        <a:latin typeface="Calibri" panose="020F0502020204030204" pitchFamily="34" charset="0"/>
                        <a:ea typeface="Arial"/>
                        <a:cs typeface="Arial"/>
                      </a:endParaRP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lang="en-US" sz="1425" b="0">
                          <a:solidFill>
                            <a:srgbClr val="000000"/>
                          </a:solidFill>
                          <a:latin typeface="Calibri" panose="020F0502020204030204" pitchFamily="34" charset="0"/>
                          <a:ea typeface="Arial"/>
                          <a:cs typeface="Arial"/>
                        </a:rPr>
                        <a:t>In vertical 70</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lang="en-US" sz="1425" b="0">
                          <a:solidFill>
                            <a:srgbClr val="000000"/>
                          </a:solidFill>
                          <a:latin typeface="Calibri" panose="020F0502020204030204" pitchFamily="34" charset="0"/>
                          <a:ea typeface="Arial"/>
                          <a:cs typeface="Arial"/>
                        </a:rPr>
                        <a:t>73.73</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lang="en-US" sz="1425" b="0">
                          <a:solidFill>
                            <a:srgbClr val="000000"/>
                          </a:solidFill>
                          <a:latin typeface="Calibri" panose="020F0502020204030204" pitchFamily="34" charset="0"/>
                          <a:ea typeface="Arial"/>
                          <a:cs typeface="Arial"/>
                        </a:rPr>
                        <a:t>50.69</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lang="en-US" sz="1425" b="0">
                          <a:solidFill>
                            <a:srgbClr val="000000"/>
                          </a:solidFill>
                          <a:latin typeface="Calibri" panose="020F0502020204030204" pitchFamily="34" charset="0"/>
                          <a:ea typeface="Arial"/>
                          <a:cs typeface="Arial"/>
                        </a:rPr>
                        <a:t>0.00</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lang="en-US" sz="1425" b="0">
                          <a:solidFill>
                            <a:srgbClr val="000000"/>
                          </a:solidFill>
                          <a:latin typeface="Calibri" panose="020F0502020204030204" pitchFamily="34" charset="0"/>
                          <a:ea typeface="Arial"/>
                          <a:cs typeface="Arial"/>
                        </a:rPr>
                        <a:t>0.00</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extLst>
                  <a:ext uri="{0D108BD9-81ED-4DB2-BD59-A6C34878D82A}">
                    <a16:rowId xmlns:a16="http://schemas.microsoft.com/office/drawing/2014/main" val="10006"/>
                  </a:ext>
                </a:extLst>
              </a:tr>
              <a:tr h="407458">
                <a:tc>
                  <a:txBody>
                    <a:bodyPr/>
                    <a:lstStyle/>
                    <a:p>
                      <a:r>
                        <a:rPr lang="en-US" sz="1425" b="0">
                          <a:solidFill>
                            <a:srgbClr val="000000"/>
                          </a:solidFill>
                          <a:latin typeface="Calibri" panose="020F0502020204030204" pitchFamily="34" charset="0"/>
                          <a:ea typeface="Arial"/>
                          <a:cs typeface="Arial"/>
                        </a:rPr>
                        <a:t>Liquid-fuel tank + plumbing</a:t>
                      </a:r>
                      <a:endParaRPr sz="1425" b="0">
                        <a:solidFill>
                          <a:srgbClr val="000000"/>
                        </a:solidFill>
                        <a:latin typeface="Calibri" panose="020F0502020204030204" pitchFamily="34" charset="0"/>
                        <a:ea typeface="Arial"/>
                        <a:cs typeface="Arial"/>
                      </a:endParaRP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5.295</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4.71</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4.97</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5.82</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6.70</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extLst>
                  <a:ext uri="{0D108BD9-81ED-4DB2-BD59-A6C34878D82A}">
                    <a16:rowId xmlns:a16="http://schemas.microsoft.com/office/drawing/2014/main" val="10007"/>
                  </a:ext>
                </a:extLst>
              </a:tr>
              <a:tr h="407458">
                <a:tc>
                  <a:txBody>
                    <a:bodyPr/>
                    <a:lstStyle/>
                    <a:p>
                      <a:r>
                        <a:rPr lang="en-US" sz="1425" b="0">
                          <a:solidFill>
                            <a:srgbClr val="000000"/>
                          </a:solidFill>
                          <a:latin typeface="Calibri" panose="020F0502020204030204" pitchFamily="34" charset="0"/>
                          <a:ea typeface="Arial"/>
                          <a:cs typeface="Arial"/>
                        </a:rPr>
                        <a:t>Mechanical drive³</a:t>
                      </a:r>
                      <a:endParaRPr sz="1425" b="0">
                        <a:solidFill>
                          <a:srgbClr val="000000"/>
                        </a:solidFill>
                        <a:latin typeface="Calibri" panose="020F0502020204030204" pitchFamily="34" charset="0"/>
                        <a:ea typeface="Arial"/>
                        <a:cs typeface="Arial"/>
                      </a:endParaRP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lang="en-US" sz="1425" b="0">
                          <a:solidFill>
                            <a:srgbClr val="000000"/>
                          </a:solidFill>
                          <a:latin typeface="Calibri" panose="020F0502020204030204" pitchFamily="34" charset="0"/>
                          <a:ea typeface="Arial"/>
                          <a:cs typeface="Arial"/>
                        </a:rPr>
                        <a:t>In propulsion</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lang="en-US" sz="1425" b="0">
                          <a:solidFill>
                            <a:srgbClr val="000000"/>
                          </a:solidFill>
                          <a:latin typeface="Calibri" panose="020F0502020204030204" pitchFamily="34" charset="0"/>
                          <a:ea typeface="Arial"/>
                          <a:cs typeface="Arial"/>
                        </a:rPr>
                        <a:t>3.36</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lang="en-US" sz="1425" b="0">
                          <a:solidFill>
                            <a:srgbClr val="000000"/>
                          </a:solidFill>
                          <a:latin typeface="Calibri" panose="020F0502020204030204" pitchFamily="34" charset="0"/>
                          <a:ea typeface="Arial"/>
                          <a:cs typeface="Arial"/>
                        </a:rPr>
                        <a:t>3.36</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lang="en-US" sz="1425" b="0">
                          <a:solidFill>
                            <a:srgbClr val="000000"/>
                          </a:solidFill>
                          <a:latin typeface="Calibri" panose="020F0502020204030204" pitchFamily="34" charset="0"/>
                          <a:ea typeface="Arial"/>
                          <a:cs typeface="Arial"/>
                        </a:rPr>
                        <a:t>17.58</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lang="en-US" sz="1425" b="0">
                          <a:solidFill>
                            <a:srgbClr val="000000"/>
                          </a:solidFill>
                          <a:latin typeface="Calibri" panose="020F0502020204030204" pitchFamily="34" charset="0"/>
                          <a:ea typeface="Arial"/>
                          <a:cs typeface="Arial"/>
                        </a:rPr>
                        <a:t>In elec. drive</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extLst>
                  <a:ext uri="{0D108BD9-81ED-4DB2-BD59-A6C34878D82A}">
                    <a16:rowId xmlns:a16="http://schemas.microsoft.com/office/drawing/2014/main" val="10008"/>
                  </a:ext>
                </a:extLst>
              </a:tr>
            </a:tbl>
          </a:graphicData>
        </a:graphic>
      </p:graphicFrame>
      <p:sp>
        <p:nvSpPr>
          <p:cNvPr id="6" name="Rectangle 5">
            <a:extLst>
              <a:ext uri="{FF2B5EF4-FFF2-40B4-BE49-F238E27FC236}">
                <a16:creationId xmlns:a16="http://schemas.microsoft.com/office/drawing/2014/main" id="{FD1D6C94-E612-432C-9D5A-94CBDFE0E112}"/>
              </a:ext>
            </a:extLst>
          </p:cNvPr>
          <p:cNvSpPr>
            <a:spLocks noGrp="1"/>
          </p:cNvSpPr>
          <p:nvPr/>
        </p:nvSpPr>
        <p:spPr>
          <a:xfrm>
            <a:off x="476250" y="5286375"/>
            <a:ext cx="11239500" cy="704850"/>
          </a:xfrm>
          <a:prstGeom prst="rect">
            <a:avLst/>
          </a:prstGeom>
          <a:noFill/>
          <a:ln w="0">
            <a:noFill/>
          </a:ln>
        </p:spPr>
        <p:txBody>
          <a:bodyPr/>
          <a:lstStyle>
            <a:defPPr>
              <a:defRPr sz="1350" b="0">
                <a:solidFill>
                  <a:srgbClr val="173344"/>
                </a:solidFill>
                <a:latin typeface="Arial"/>
                <a:ea typeface="Arial"/>
                <a:cs typeface="Arial"/>
              </a:defRPr>
            </a:defPPr>
            <a:lvl1pPr>
              <a:defRPr sz="1350" b="0">
                <a:solidFill>
                  <a:srgbClr val="173344"/>
                </a:solidFill>
                <a:latin typeface="Arial"/>
                <a:ea typeface="Arial"/>
                <a:cs typeface="Arial"/>
              </a:defRPr>
            </a:lvl1pPr>
            <a:lvl2pPr>
              <a:defRPr sz="1350" b="0">
                <a:solidFill>
                  <a:srgbClr val="173344"/>
                </a:solidFill>
                <a:latin typeface="Arial"/>
                <a:ea typeface="Arial"/>
                <a:cs typeface="Arial"/>
              </a:defRPr>
            </a:lvl2pPr>
            <a:lvl3pPr>
              <a:defRPr sz="1350" b="0">
                <a:solidFill>
                  <a:srgbClr val="173344"/>
                </a:solidFill>
                <a:latin typeface="Arial"/>
                <a:ea typeface="Arial"/>
                <a:cs typeface="Arial"/>
              </a:defRPr>
            </a:lvl3pPr>
            <a:lvl4pPr>
              <a:defRPr sz="1350" b="0">
                <a:solidFill>
                  <a:srgbClr val="173344"/>
                </a:solidFill>
                <a:latin typeface="Arial"/>
                <a:ea typeface="Arial"/>
                <a:cs typeface="Arial"/>
              </a:defRPr>
            </a:lvl4pPr>
            <a:lvl5pPr>
              <a:defRPr sz="1350" b="0">
                <a:solidFill>
                  <a:srgbClr val="173344"/>
                </a:solidFill>
                <a:latin typeface="Arial"/>
                <a:ea typeface="Arial"/>
                <a:cs typeface="Arial"/>
              </a:defRPr>
            </a:lvl5pPr>
            <a:lvl6pPr>
              <a:defRPr sz="1350" b="0">
                <a:solidFill>
                  <a:srgbClr val="173344"/>
                </a:solidFill>
                <a:latin typeface="Arial"/>
                <a:ea typeface="Arial"/>
                <a:cs typeface="Arial"/>
              </a:defRPr>
            </a:lvl6pPr>
            <a:lvl7pPr>
              <a:defRPr sz="1350" b="0">
                <a:solidFill>
                  <a:srgbClr val="173344"/>
                </a:solidFill>
                <a:latin typeface="Arial"/>
                <a:ea typeface="Arial"/>
                <a:cs typeface="Arial"/>
              </a:defRPr>
            </a:lvl7pPr>
            <a:lvl8pPr>
              <a:defRPr sz="1350" b="0">
                <a:solidFill>
                  <a:srgbClr val="173344"/>
                </a:solidFill>
                <a:latin typeface="Arial"/>
                <a:ea typeface="Arial"/>
                <a:cs typeface="Arial"/>
              </a:defRPr>
            </a:lvl8pPr>
            <a:lvl9pPr>
              <a:defRPr sz="1350" b="0">
                <a:solidFill>
                  <a:srgbClr val="173344"/>
                </a:solidFill>
                <a:latin typeface="Arial"/>
                <a:ea typeface="Arial"/>
                <a:cs typeface="Arial"/>
              </a:defRPr>
            </a:lvl9pPr>
          </a:lstStyle>
          <a:p>
            <a:pPr>
              <a:defRPr sz="1350" b="0">
                <a:solidFill>
                  <a:srgbClr val="173344"/>
                </a:solidFill>
                <a:latin typeface="Arial"/>
                <a:ea typeface="Arial"/>
                <a:cs typeface="Arial"/>
              </a:defRPr>
            </a:pPr>
            <a:r>
              <a:rPr sz="1350" b="0">
                <a:solidFill>
                  <a:srgbClr val="000000"/>
                </a:solidFill>
                <a:latin typeface="Calibri" panose="020F0502020204030204" pitchFamily="34" charset="0"/>
                <a:ea typeface="Arial"/>
                <a:cs typeface="Arial"/>
              </a:rPr>
              <a:t>¹ Model structure = wing + tail + fuselage; baseline boundary needs confirmation.</a:t>
            </a:r>
          </a:p>
          <a:p>
            <a:pPr>
              <a:defRPr sz="1350" b="0">
                <a:solidFill>
                  <a:srgbClr val="173344"/>
                </a:solidFill>
                <a:latin typeface="Arial"/>
                <a:ea typeface="Arial"/>
                <a:cs typeface="Arial"/>
              </a:defRPr>
            </a:pPr>
            <a:r>
              <a:rPr sz="1350" b="0">
                <a:solidFill>
                  <a:srgbClr val="000000"/>
                </a:solidFill>
                <a:latin typeface="Calibri" panose="020F0502020204030204" pitchFamily="34" charset="0"/>
                <a:ea typeface="Arial"/>
                <a:cs typeface="Arial"/>
              </a:rPr>
              <a:t>² Engine-package and drive allocations can overlap: rows are comparisons, not a sum.</a:t>
            </a:r>
          </a:p>
          <a:p>
            <a:pPr>
              <a:defRPr sz="1350" b="0">
                <a:solidFill>
                  <a:srgbClr val="173344"/>
                </a:solidFill>
                <a:latin typeface="Arial"/>
                <a:ea typeface="Arial"/>
                <a:cs typeface="Arial"/>
              </a:defRPr>
            </a:pPr>
            <a:r>
              <a:rPr sz="1350" b="0">
                <a:solidFill>
                  <a:srgbClr val="000000"/>
                </a:solidFill>
                <a:latin typeface="Calibri" panose="020F0502020204030204" pitchFamily="34" charset="0"/>
                <a:ea typeface="Arial"/>
                <a:cs typeface="Arial"/>
              </a:rPr>
              <a:t>³ Tiltrotor propulsion serves both flight modes; no duplicated vertical/cruise allocation.</a:t>
            </a:r>
          </a:p>
        </p:txBody>
      </p:sp>
      <p:sp>
        <p:nvSpPr>
          <p:cNvPr id="7" name="Rectangle 6">
            <a:extLst>
              <a:ext uri="{FF2B5EF4-FFF2-40B4-BE49-F238E27FC236}">
                <a16:creationId xmlns:a16="http://schemas.microsoft.com/office/drawing/2014/main" id="{99753AA6-856C-4B68-807C-4AE85AF4A505}"/>
              </a:ext>
            </a:extLst>
          </p:cNvPr>
          <p:cNvSpPr>
            <a:spLocks noGrp="1"/>
          </p:cNvSpPr>
          <p:nvPr/>
        </p:nvSpPr>
        <p:spPr>
          <a:xfrm>
            <a:off x="476250" y="6010275"/>
            <a:ext cx="11239500" cy="447675"/>
          </a:xfrm>
          <a:prstGeom prst="rect">
            <a:avLst/>
          </a:prstGeom>
          <a:noFill/>
          <a:ln w="0">
            <a:noFill/>
          </a:ln>
        </p:spPr>
        <p:txBody>
          <a:bodyPr/>
          <a:lstStyle>
            <a:defPPr>
              <a:defRPr sz="1275" b="0">
                <a:solidFill>
                  <a:srgbClr val="536675"/>
                </a:solidFill>
                <a:latin typeface="Arial"/>
                <a:ea typeface="Arial"/>
                <a:cs typeface="Arial"/>
              </a:defRPr>
            </a:defPPr>
            <a:lvl1pPr>
              <a:defRPr sz="1275" b="0">
                <a:solidFill>
                  <a:srgbClr val="536675"/>
                </a:solidFill>
                <a:latin typeface="Arial"/>
                <a:ea typeface="Arial"/>
                <a:cs typeface="Arial"/>
              </a:defRPr>
            </a:lvl1pPr>
            <a:lvl2pPr>
              <a:defRPr sz="1275" b="0">
                <a:solidFill>
                  <a:srgbClr val="536675"/>
                </a:solidFill>
                <a:latin typeface="Arial"/>
                <a:ea typeface="Arial"/>
                <a:cs typeface="Arial"/>
              </a:defRPr>
            </a:lvl2pPr>
            <a:lvl3pPr>
              <a:defRPr sz="1275" b="0">
                <a:solidFill>
                  <a:srgbClr val="536675"/>
                </a:solidFill>
                <a:latin typeface="Arial"/>
                <a:ea typeface="Arial"/>
                <a:cs typeface="Arial"/>
              </a:defRPr>
            </a:lvl3pPr>
            <a:lvl4pPr>
              <a:defRPr sz="1275" b="0">
                <a:solidFill>
                  <a:srgbClr val="536675"/>
                </a:solidFill>
                <a:latin typeface="Arial"/>
                <a:ea typeface="Arial"/>
                <a:cs typeface="Arial"/>
              </a:defRPr>
            </a:lvl4pPr>
            <a:lvl5pPr>
              <a:defRPr sz="1275" b="0">
                <a:solidFill>
                  <a:srgbClr val="536675"/>
                </a:solidFill>
                <a:latin typeface="Arial"/>
                <a:ea typeface="Arial"/>
                <a:cs typeface="Arial"/>
              </a:defRPr>
            </a:lvl5pPr>
            <a:lvl6pPr>
              <a:defRPr sz="1275" b="0">
                <a:solidFill>
                  <a:srgbClr val="536675"/>
                </a:solidFill>
                <a:latin typeface="Arial"/>
                <a:ea typeface="Arial"/>
                <a:cs typeface="Arial"/>
              </a:defRPr>
            </a:lvl6pPr>
            <a:lvl7pPr>
              <a:defRPr sz="1275" b="0">
                <a:solidFill>
                  <a:srgbClr val="536675"/>
                </a:solidFill>
                <a:latin typeface="Arial"/>
                <a:ea typeface="Arial"/>
                <a:cs typeface="Arial"/>
              </a:defRPr>
            </a:lvl7pPr>
            <a:lvl8pPr>
              <a:defRPr sz="1275" b="0">
                <a:solidFill>
                  <a:srgbClr val="536675"/>
                </a:solidFill>
                <a:latin typeface="Arial"/>
                <a:ea typeface="Arial"/>
                <a:cs typeface="Arial"/>
              </a:defRPr>
            </a:lvl8pPr>
            <a:lvl9pPr>
              <a:defRPr sz="1275" b="0">
                <a:solidFill>
                  <a:srgbClr val="536675"/>
                </a:solidFill>
                <a:latin typeface="Arial"/>
                <a:ea typeface="Arial"/>
                <a:cs typeface="Arial"/>
              </a:defRPr>
            </a:lvl9pPr>
          </a:lstStyle>
          <a:p>
            <a:pPr>
              <a:defRPr sz="1275" b="0">
                <a:solidFill>
                  <a:srgbClr val="536675"/>
                </a:solidFill>
                <a:latin typeface="Arial"/>
                <a:ea typeface="Arial"/>
                <a:cs typeface="Arial"/>
              </a:defRPr>
            </a:pPr>
            <a:endParaRPr sz="1275" b="0">
              <a:solidFill>
                <a:srgbClr val="000000"/>
              </a:solidFill>
              <a:latin typeface="Calibri" panose="020F0502020204030204" pitchFamily="34" charset="0"/>
              <a:ea typeface="Arial"/>
              <a:cs typeface="Arial"/>
            </a:endParaRPr>
          </a:p>
        </p:txBody>
      </p:sp>
      <p:sp>
        <p:nvSpPr>
          <p:cNvPr id="9" name="TextBox 8">
            <a:extLst>
              <a:ext uri="{FF2B5EF4-FFF2-40B4-BE49-F238E27FC236}">
                <a16:creationId xmlns:a16="http://schemas.microsoft.com/office/drawing/2014/main" id="{0CDB2EA5-3C61-6AB1-4B57-F3BF5FF9A91B}"/>
              </a:ext>
            </a:extLst>
          </p:cNvPr>
          <p:cNvSpPr txBox="1"/>
          <p:nvPr/>
        </p:nvSpPr>
        <p:spPr>
          <a:xfrm>
            <a:off x="476250" y="6400800"/>
            <a:ext cx="11074400" cy="323165"/>
          </a:xfrm>
          <a:prstGeom prst="rect">
            <a:avLst/>
          </a:prstGeom>
          <a:noFill/>
        </p:spPr>
        <p:txBody>
          <a:bodyPr vert="horz" lIns="0" tIns="0" rIns="0" bIns="0" rtlCol="0">
            <a:spAutoFit/>
          </a:bodyPr>
          <a:lstStyle/>
          <a:p>
            <a:r>
              <a:rPr lang="en-US" sz="1050">
                <a:solidFill>
                  <a:srgbClr val="000000"/>
                </a:solidFill>
                <a:latin typeface="Calibri" panose="020F0502020204030204" pitchFamily="34" charset="0"/>
              </a:rPr>
              <a:t>[S7] Corrected native groups with the same Rev C bookkeeping. [U1] Baseline component ledger.
L+C prop/fan installation appears in horizontal propulsion on the pie; engine / drive subrows are not a summable ledger.</a:t>
            </a:r>
          </a:p>
        </p:txBody>
      </p:sp>
      <p:sp>
        <p:nvSpPr>
          <p:cNvPr id="10" name="TextBox 9">
            <a:extLst>
              <a:ext uri="{FF2B5EF4-FFF2-40B4-BE49-F238E27FC236}">
                <a16:creationId xmlns:a16="http://schemas.microsoft.com/office/drawing/2014/main" id="{6843C454-43BB-BC55-E540-DC409715A13D}"/>
              </a:ext>
            </a:extLst>
          </p:cNvPr>
          <p:cNvSpPr txBox="1"/>
          <p:nvPr/>
        </p:nvSpPr>
        <p:spPr>
          <a:xfrm>
            <a:off x="11671300" y="6527800"/>
            <a:ext cx="355600" cy="153888"/>
          </a:xfrm>
          <a:prstGeom prst="rect">
            <a:avLst/>
          </a:prstGeom>
          <a:noFill/>
        </p:spPr>
        <p:txBody>
          <a:bodyPr vert="horz" lIns="0" tIns="0" rIns="0" bIns="0" rtlCol="0">
            <a:spAutoFit/>
          </a:bodyPr>
          <a:lstStyle/>
          <a:p>
            <a:r>
              <a:rPr lang="en-US" sz="1000">
                <a:solidFill>
                  <a:srgbClr val="000000"/>
                </a:solidFill>
                <a:latin typeface="Calibri" panose="020F0502020204030204" pitchFamily="34" charset="0"/>
              </a:rPr>
              <a:t>30</a:t>
            </a:r>
          </a:p>
        </p:txBody>
      </p:sp>
    </p:spTree>
    <p:extLst>
      <p:ext uri="{BB962C8B-B14F-4D97-AF65-F5344CB8AC3E}">
        <p14:creationId xmlns:p14="http://schemas.microsoft.com/office/powerpoint/2010/main" val="19146321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3669C39-659D-41D0-879D-8D63802A4E34}"/>
              </a:ext>
            </a:extLst>
          </p:cNvPr>
          <p:cNvSpPr>
            <a:spLocks noGrp="1"/>
          </p:cNvSpPr>
          <p:nvPr/>
        </p:nvSpPr>
        <p:spPr>
          <a:xfrm>
            <a:off x="838200" y="361950"/>
            <a:ext cx="10896600" cy="571500"/>
          </a:xfrm>
          <a:prstGeom prst="rect">
            <a:avLst/>
          </a:prstGeom>
          <a:noFill/>
          <a:ln w="0">
            <a:noFill/>
          </a:ln>
        </p:spPr>
        <p:txBody>
          <a:bodyPr/>
          <a:lstStyle>
            <a:defPPr>
              <a:defRPr sz="2775" b="1">
                <a:solidFill>
                  <a:srgbClr val="173344"/>
                </a:solidFill>
                <a:latin typeface="Arial"/>
                <a:ea typeface="Arial"/>
                <a:cs typeface="Arial"/>
              </a:defRPr>
            </a:defPPr>
            <a:lvl1pPr>
              <a:defRPr sz="2775" b="1">
                <a:solidFill>
                  <a:srgbClr val="173344"/>
                </a:solidFill>
                <a:latin typeface="Arial"/>
                <a:ea typeface="Arial"/>
                <a:cs typeface="Arial"/>
              </a:defRPr>
            </a:lvl1pPr>
            <a:lvl2pPr>
              <a:defRPr sz="2775" b="1">
                <a:solidFill>
                  <a:srgbClr val="173344"/>
                </a:solidFill>
                <a:latin typeface="Arial"/>
                <a:ea typeface="Arial"/>
                <a:cs typeface="Arial"/>
              </a:defRPr>
            </a:lvl2pPr>
            <a:lvl3pPr>
              <a:defRPr sz="2775" b="1">
                <a:solidFill>
                  <a:srgbClr val="173344"/>
                </a:solidFill>
                <a:latin typeface="Arial"/>
                <a:ea typeface="Arial"/>
                <a:cs typeface="Arial"/>
              </a:defRPr>
            </a:lvl3pPr>
            <a:lvl4pPr>
              <a:defRPr sz="2775" b="1">
                <a:solidFill>
                  <a:srgbClr val="173344"/>
                </a:solidFill>
                <a:latin typeface="Arial"/>
                <a:ea typeface="Arial"/>
                <a:cs typeface="Arial"/>
              </a:defRPr>
            </a:lvl4pPr>
            <a:lvl5pPr>
              <a:defRPr sz="2775" b="1">
                <a:solidFill>
                  <a:srgbClr val="173344"/>
                </a:solidFill>
                <a:latin typeface="Arial"/>
                <a:ea typeface="Arial"/>
                <a:cs typeface="Arial"/>
              </a:defRPr>
            </a:lvl5pPr>
            <a:lvl6pPr>
              <a:defRPr sz="2775" b="1">
                <a:solidFill>
                  <a:srgbClr val="173344"/>
                </a:solidFill>
                <a:latin typeface="Arial"/>
                <a:ea typeface="Arial"/>
                <a:cs typeface="Arial"/>
              </a:defRPr>
            </a:lvl6pPr>
            <a:lvl7pPr>
              <a:defRPr sz="2775" b="1">
                <a:solidFill>
                  <a:srgbClr val="173344"/>
                </a:solidFill>
                <a:latin typeface="Arial"/>
                <a:ea typeface="Arial"/>
                <a:cs typeface="Arial"/>
              </a:defRPr>
            </a:lvl7pPr>
            <a:lvl8pPr>
              <a:defRPr sz="2775" b="1">
                <a:solidFill>
                  <a:srgbClr val="173344"/>
                </a:solidFill>
                <a:latin typeface="Arial"/>
                <a:ea typeface="Arial"/>
                <a:cs typeface="Arial"/>
              </a:defRPr>
            </a:lvl8pPr>
            <a:lvl9pPr>
              <a:defRPr sz="2775" b="1">
                <a:solidFill>
                  <a:srgbClr val="173344"/>
                </a:solidFill>
                <a:latin typeface="Arial"/>
                <a:ea typeface="Arial"/>
                <a:cs typeface="Arial"/>
              </a:defRPr>
            </a:lvl9pPr>
          </a:lstStyle>
          <a:p>
            <a:pPr>
              <a:defRPr sz="2775" b="1">
                <a:solidFill>
                  <a:srgbClr val="173344"/>
                </a:solidFill>
                <a:latin typeface="Arial"/>
                <a:ea typeface="Arial"/>
                <a:cs typeface="Arial"/>
              </a:defRPr>
            </a:pPr>
            <a:r>
              <a:rPr sz="2400" b="1">
                <a:solidFill>
                  <a:srgbClr val="000000"/>
                </a:solidFill>
                <a:latin typeface="Calibri" panose="020F0502020204030204" pitchFamily="34" charset="0"/>
                <a:ea typeface="Arial"/>
                <a:cs typeface="Arial"/>
              </a:rPr>
              <a:t>Equipment and integration versus model allowances</a:t>
            </a:r>
          </a:p>
        </p:txBody>
      </p:sp>
      <p:sp>
        <p:nvSpPr>
          <p:cNvPr id="2" name="Rectangle 1">
            <a:extLst>
              <a:ext uri="{FF2B5EF4-FFF2-40B4-BE49-F238E27FC236}">
                <a16:creationId xmlns:a16="http://schemas.microsoft.com/office/drawing/2014/main" id="{1A2A2BE3-6CCF-4746-BA50-5219E7BBF009}"/>
              </a:ext>
            </a:extLst>
          </p:cNvPr>
          <p:cNvSpPr>
            <a:spLocks noGrp="1"/>
          </p:cNvSpPr>
          <p:nvPr/>
        </p:nvSpPr>
        <p:spPr>
          <a:xfrm>
            <a:off x="476250" y="876300"/>
            <a:ext cx="11239500" cy="523875"/>
          </a:xfrm>
          <a:prstGeom prst="rect">
            <a:avLst/>
          </a:prstGeom>
          <a:noFill/>
          <a:ln w="0">
            <a:noFill/>
          </a:ln>
        </p:spPr>
        <p:txBody>
          <a:bodyPr/>
          <a:lstStyle>
            <a:defPPr>
              <a:defRPr sz="1575" b="0">
                <a:solidFill>
                  <a:srgbClr val="536675"/>
                </a:solidFill>
                <a:latin typeface="Arial"/>
                <a:ea typeface="Arial"/>
                <a:cs typeface="Arial"/>
              </a:defRPr>
            </a:defPPr>
            <a:lvl1pPr>
              <a:defRPr sz="1575" b="0">
                <a:solidFill>
                  <a:srgbClr val="536675"/>
                </a:solidFill>
                <a:latin typeface="Arial"/>
                <a:ea typeface="Arial"/>
                <a:cs typeface="Arial"/>
              </a:defRPr>
            </a:lvl1pPr>
            <a:lvl2pPr>
              <a:defRPr sz="1575" b="0">
                <a:solidFill>
                  <a:srgbClr val="536675"/>
                </a:solidFill>
                <a:latin typeface="Arial"/>
                <a:ea typeface="Arial"/>
                <a:cs typeface="Arial"/>
              </a:defRPr>
            </a:lvl2pPr>
            <a:lvl3pPr>
              <a:defRPr sz="1575" b="0">
                <a:solidFill>
                  <a:srgbClr val="536675"/>
                </a:solidFill>
                <a:latin typeface="Arial"/>
                <a:ea typeface="Arial"/>
                <a:cs typeface="Arial"/>
              </a:defRPr>
            </a:lvl3pPr>
            <a:lvl4pPr>
              <a:defRPr sz="1575" b="0">
                <a:solidFill>
                  <a:srgbClr val="536675"/>
                </a:solidFill>
                <a:latin typeface="Arial"/>
                <a:ea typeface="Arial"/>
                <a:cs typeface="Arial"/>
              </a:defRPr>
            </a:lvl4pPr>
            <a:lvl5pPr>
              <a:defRPr sz="1575" b="0">
                <a:solidFill>
                  <a:srgbClr val="536675"/>
                </a:solidFill>
                <a:latin typeface="Arial"/>
                <a:ea typeface="Arial"/>
                <a:cs typeface="Arial"/>
              </a:defRPr>
            </a:lvl5pPr>
            <a:lvl6pPr>
              <a:defRPr sz="1575" b="0">
                <a:solidFill>
                  <a:srgbClr val="536675"/>
                </a:solidFill>
                <a:latin typeface="Arial"/>
                <a:ea typeface="Arial"/>
                <a:cs typeface="Arial"/>
              </a:defRPr>
            </a:lvl6pPr>
            <a:lvl7pPr>
              <a:defRPr sz="1575" b="0">
                <a:solidFill>
                  <a:srgbClr val="536675"/>
                </a:solidFill>
                <a:latin typeface="Arial"/>
                <a:ea typeface="Arial"/>
                <a:cs typeface="Arial"/>
              </a:defRPr>
            </a:lvl7pPr>
            <a:lvl8pPr>
              <a:defRPr sz="1575" b="0">
                <a:solidFill>
                  <a:srgbClr val="536675"/>
                </a:solidFill>
                <a:latin typeface="Arial"/>
                <a:ea typeface="Arial"/>
                <a:cs typeface="Arial"/>
              </a:defRPr>
            </a:lvl8pPr>
            <a:lvl9pPr>
              <a:defRPr sz="1575" b="0">
                <a:solidFill>
                  <a:srgbClr val="536675"/>
                </a:solidFill>
                <a:latin typeface="Arial"/>
                <a:ea typeface="Arial"/>
                <a:cs typeface="Arial"/>
              </a:defRPr>
            </a:lvl9pPr>
          </a:lstStyle>
          <a:p>
            <a:pPr>
              <a:defRPr sz="1575" b="0">
                <a:solidFill>
                  <a:srgbClr val="536675"/>
                </a:solidFill>
                <a:latin typeface="Arial"/>
                <a:ea typeface="Arial"/>
                <a:cs typeface="Arial"/>
              </a:defRPr>
            </a:pPr>
            <a:r>
              <a:rPr sz="1575" b="0">
                <a:solidFill>
                  <a:srgbClr val="000000"/>
                </a:solidFill>
                <a:latin typeface="Calibri" panose="020F0502020204030204" pitchFamily="34" charset="0"/>
                <a:ea typeface="Arial"/>
                <a:cs typeface="Arial"/>
              </a:rPr>
              <a:t>Even crediting all vibration and contingency leaves a </a:t>
            </a:r>
            <a:r>
              <a:rPr lang="en-US" sz="1575" b="0">
                <a:solidFill>
                  <a:srgbClr val="000000"/>
                </a:solidFill>
                <a:latin typeface="Calibri" panose="020F0502020204030204" pitchFamily="34" charset="0"/>
                <a:ea typeface="Arial"/>
                <a:cs typeface="Arial"/>
              </a:rPr>
              <a:t>29.6–35.2 kg</a:t>
            </a:r>
            <a:r>
              <a:rPr sz="1575" b="0">
                <a:solidFill>
                  <a:srgbClr val="000000"/>
                </a:solidFill>
                <a:latin typeface="Calibri" panose="020F0502020204030204" pitchFamily="34" charset="0"/>
                <a:ea typeface="Arial"/>
                <a:cs typeface="Arial"/>
              </a:rPr>
              <a:t> gap to the baseline group.</a:t>
            </a:r>
          </a:p>
        </p:txBody>
      </p:sp>
      <p:sp>
        <p:nvSpPr>
          <p:cNvPr id="3" name="Rectangle 2">
            <a:extLst>
              <a:ext uri="{FF2B5EF4-FFF2-40B4-BE49-F238E27FC236}">
                <a16:creationId xmlns:a16="http://schemas.microsoft.com/office/drawing/2014/main" id="{39D89D4D-9B7F-4B95-A42F-9E15573DBBCD}"/>
              </a:ext>
            </a:extLst>
          </p:cNvPr>
          <p:cNvSpPr>
            <a:spLocks noGrp="1"/>
          </p:cNvSpPr>
          <p:nvPr/>
        </p:nvSpPr>
        <p:spPr>
          <a:xfrm>
            <a:off x="476250" y="6524625"/>
            <a:ext cx="10477500" cy="190500"/>
          </a:xfrm>
          <a:prstGeom prst="rect">
            <a:avLst/>
          </a:prstGeom>
          <a:noFill/>
          <a:ln w="0">
            <a:noFill/>
          </a:ln>
        </p:spPr>
        <p:txBody>
          <a:bodyPr/>
          <a:lstStyle>
            <a:defPPr>
              <a:defRPr sz="975" b="0">
                <a:solidFill>
                  <a:srgbClr val="536675"/>
                </a:solidFill>
                <a:latin typeface="Arial"/>
                <a:ea typeface="Arial"/>
                <a:cs typeface="Arial"/>
              </a:defRPr>
            </a:defPPr>
            <a:lvl1pPr>
              <a:defRPr sz="975" b="0">
                <a:solidFill>
                  <a:srgbClr val="536675"/>
                </a:solidFill>
                <a:latin typeface="Arial"/>
                <a:ea typeface="Arial"/>
                <a:cs typeface="Arial"/>
              </a:defRPr>
            </a:lvl1pPr>
            <a:lvl2pPr>
              <a:defRPr sz="975" b="0">
                <a:solidFill>
                  <a:srgbClr val="536675"/>
                </a:solidFill>
                <a:latin typeface="Arial"/>
                <a:ea typeface="Arial"/>
                <a:cs typeface="Arial"/>
              </a:defRPr>
            </a:lvl2pPr>
            <a:lvl3pPr>
              <a:defRPr sz="975" b="0">
                <a:solidFill>
                  <a:srgbClr val="536675"/>
                </a:solidFill>
                <a:latin typeface="Arial"/>
                <a:ea typeface="Arial"/>
                <a:cs typeface="Arial"/>
              </a:defRPr>
            </a:lvl3pPr>
            <a:lvl4pPr>
              <a:defRPr sz="975" b="0">
                <a:solidFill>
                  <a:srgbClr val="536675"/>
                </a:solidFill>
                <a:latin typeface="Arial"/>
                <a:ea typeface="Arial"/>
                <a:cs typeface="Arial"/>
              </a:defRPr>
            </a:lvl4pPr>
            <a:lvl5pPr>
              <a:defRPr sz="975" b="0">
                <a:solidFill>
                  <a:srgbClr val="536675"/>
                </a:solidFill>
                <a:latin typeface="Arial"/>
                <a:ea typeface="Arial"/>
                <a:cs typeface="Arial"/>
              </a:defRPr>
            </a:lvl5pPr>
            <a:lvl6pPr>
              <a:defRPr sz="975" b="0">
                <a:solidFill>
                  <a:srgbClr val="536675"/>
                </a:solidFill>
                <a:latin typeface="Arial"/>
                <a:ea typeface="Arial"/>
                <a:cs typeface="Arial"/>
              </a:defRPr>
            </a:lvl6pPr>
            <a:lvl7pPr>
              <a:defRPr sz="975" b="0">
                <a:solidFill>
                  <a:srgbClr val="536675"/>
                </a:solidFill>
                <a:latin typeface="Arial"/>
                <a:ea typeface="Arial"/>
                <a:cs typeface="Arial"/>
              </a:defRPr>
            </a:lvl7pPr>
            <a:lvl8pPr>
              <a:defRPr sz="975" b="0">
                <a:solidFill>
                  <a:srgbClr val="536675"/>
                </a:solidFill>
                <a:latin typeface="Arial"/>
                <a:ea typeface="Arial"/>
                <a:cs typeface="Arial"/>
              </a:defRPr>
            </a:lvl8pPr>
            <a:lvl9pPr>
              <a:defRPr sz="975" b="0">
                <a:solidFill>
                  <a:srgbClr val="536675"/>
                </a:solidFill>
                <a:latin typeface="Arial"/>
                <a:ea typeface="Arial"/>
                <a:cs typeface="Arial"/>
              </a:defRPr>
            </a:lvl9pPr>
          </a:lstStyle>
          <a:p>
            <a:pPr>
              <a:defRPr sz="975" b="0">
                <a:solidFill>
                  <a:srgbClr val="536675"/>
                </a:solidFill>
                <a:latin typeface="Arial"/>
                <a:ea typeface="Arial"/>
                <a:cs typeface="Arial"/>
              </a:defRPr>
            </a:pPr>
            <a:endParaRPr sz="975" b="0">
              <a:solidFill>
                <a:srgbClr val="000000"/>
              </a:solidFill>
              <a:latin typeface="Calibri" panose="020F0502020204030204" pitchFamily="34" charset="0"/>
              <a:ea typeface="Arial"/>
              <a:cs typeface="Arial"/>
            </a:endParaRPr>
          </a:p>
        </p:txBody>
      </p:sp>
      <p:sp>
        <p:nvSpPr>
          <p:cNvPr id="4" name="Rectangle 3">
            <a:extLst>
              <a:ext uri="{FF2B5EF4-FFF2-40B4-BE49-F238E27FC236}">
                <a16:creationId xmlns:a16="http://schemas.microsoft.com/office/drawing/2014/main" id="{F0B2F339-6275-4DE8-9FCE-E5673D9FA4E4}"/>
              </a:ext>
            </a:extLst>
          </p:cNvPr>
          <p:cNvSpPr>
            <a:spLocks noGrp="1"/>
          </p:cNvSpPr>
          <p:nvPr/>
        </p:nvSpPr>
        <p:spPr>
          <a:xfrm>
            <a:off x="11334750" y="6496050"/>
            <a:ext cx="381000" cy="228600"/>
          </a:xfrm>
          <a:prstGeom prst="rect">
            <a:avLst/>
          </a:prstGeom>
          <a:noFill/>
          <a:ln w="0">
            <a:noFill/>
          </a:ln>
        </p:spPr>
        <p:txBody>
          <a:bodyPr/>
          <a:lstStyle>
            <a:defPPr>
              <a:defRPr sz="1200" b="0">
                <a:solidFill>
                  <a:srgbClr val="536675"/>
                </a:solidFill>
                <a:latin typeface="Arial"/>
                <a:ea typeface="Arial"/>
                <a:cs typeface="Arial"/>
              </a:defRPr>
            </a:defPPr>
            <a:lvl1pPr>
              <a:defRPr sz="1200" b="0">
                <a:solidFill>
                  <a:srgbClr val="536675"/>
                </a:solidFill>
                <a:latin typeface="Arial"/>
                <a:ea typeface="Arial"/>
                <a:cs typeface="Arial"/>
              </a:defRPr>
            </a:lvl1pPr>
            <a:lvl2pPr>
              <a:defRPr sz="1200" b="0">
                <a:solidFill>
                  <a:srgbClr val="536675"/>
                </a:solidFill>
                <a:latin typeface="Arial"/>
                <a:ea typeface="Arial"/>
                <a:cs typeface="Arial"/>
              </a:defRPr>
            </a:lvl2pPr>
            <a:lvl3pPr>
              <a:defRPr sz="1200" b="0">
                <a:solidFill>
                  <a:srgbClr val="536675"/>
                </a:solidFill>
                <a:latin typeface="Arial"/>
                <a:ea typeface="Arial"/>
                <a:cs typeface="Arial"/>
              </a:defRPr>
            </a:lvl3pPr>
            <a:lvl4pPr>
              <a:defRPr sz="1200" b="0">
                <a:solidFill>
                  <a:srgbClr val="536675"/>
                </a:solidFill>
                <a:latin typeface="Arial"/>
                <a:ea typeface="Arial"/>
                <a:cs typeface="Arial"/>
              </a:defRPr>
            </a:lvl4pPr>
            <a:lvl5pPr>
              <a:defRPr sz="1200" b="0">
                <a:solidFill>
                  <a:srgbClr val="536675"/>
                </a:solidFill>
                <a:latin typeface="Arial"/>
                <a:ea typeface="Arial"/>
                <a:cs typeface="Arial"/>
              </a:defRPr>
            </a:lvl5pPr>
            <a:lvl6pPr>
              <a:defRPr sz="1200" b="0">
                <a:solidFill>
                  <a:srgbClr val="536675"/>
                </a:solidFill>
                <a:latin typeface="Arial"/>
                <a:ea typeface="Arial"/>
                <a:cs typeface="Arial"/>
              </a:defRPr>
            </a:lvl6pPr>
            <a:lvl7pPr>
              <a:defRPr sz="1200" b="0">
                <a:solidFill>
                  <a:srgbClr val="536675"/>
                </a:solidFill>
                <a:latin typeface="Arial"/>
                <a:ea typeface="Arial"/>
                <a:cs typeface="Arial"/>
              </a:defRPr>
            </a:lvl7pPr>
            <a:lvl8pPr>
              <a:defRPr sz="1200" b="0">
                <a:solidFill>
                  <a:srgbClr val="536675"/>
                </a:solidFill>
                <a:latin typeface="Arial"/>
                <a:ea typeface="Arial"/>
                <a:cs typeface="Arial"/>
              </a:defRPr>
            </a:lvl8pPr>
            <a:lvl9pPr>
              <a:defRPr sz="1200" b="0">
                <a:solidFill>
                  <a:srgbClr val="536675"/>
                </a:solidFill>
                <a:latin typeface="Arial"/>
                <a:ea typeface="Arial"/>
                <a:cs typeface="Arial"/>
              </a:defRPr>
            </a:lvl9pPr>
          </a:lstStyle>
          <a:p>
            <a:pPr>
              <a:defRPr sz="1200" b="0">
                <a:solidFill>
                  <a:srgbClr val="536675"/>
                </a:solidFill>
                <a:latin typeface="Arial"/>
                <a:ea typeface="Arial"/>
                <a:cs typeface="Arial"/>
              </a:defRPr>
            </a:pPr>
            <a:endParaRPr sz="1200" b="0">
              <a:solidFill>
                <a:srgbClr val="000000"/>
              </a:solidFill>
              <a:latin typeface="Calibri" panose="020F0502020204030204" pitchFamily="34" charset="0"/>
              <a:ea typeface="Arial"/>
              <a:cs typeface="Arial"/>
            </a:endParaRPr>
          </a:p>
        </p:txBody>
      </p:sp>
      <p:graphicFrame>
        <p:nvGraphicFramePr>
          <p:cNvPr id="5" name="Table 4">
            <a:extLst>
              <a:ext uri="{FF2B5EF4-FFF2-40B4-BE49-F238E27FC236}">
                <a16:creationId xmlns:a16="http://schemas.microsoft.com/office/drawing/2014/main" id="{3B37CED1-DA74-402E-AFA5-1569D644D530}"/>
              </a:ext>
            </a:extLst>
          </p:cNvPr>
          <p:cNvGraphicFramePr/>
          <p:nvPr>
            <p:extLst>
              <p:ext uri="{D42A27DB-BD31-4B8C-83A1-F6EECF244321}">
                <p14:modId xmlns:p14="http://schemas.microsoft.com/office/powerpoint/2010/main" val="3715883739"/>
              </p:ext>
            </p:extLst>
          </p:nvPr>
        </p:nvGraphicFramePr>
        <p:xfrm>
          <a:off x="381000" y="1524000"/>
          <a:ext cx="11430000" cy="3333752"/>
        </p:xfrm>
        <a:graphic>
          <a:graphicData uri="http://schemas.openxmlformats.org/drawingml/2006/table">
            <a:tbl>
              <a:tblPr/>
              <a:tblGrid>
                <a:gridCol w="314325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gridCol w="1619250">
                  <a:extLst>
                    <a:ext uri="{9D8B030D-6E8A-4147-A177-3AD203B41FA5}">
                      <a16:colId xmlns:a16="http://schemas.microsoft.com/office/drawing/2014/main" val="20002"/>
                    </a:ext>
                  </a:extLst>
                </a:gridCol>
                <a:gridCol w="1619250">
                  <a:extLst>
                    <a:ext uri="{9D8B030D-6E8A-4147-A177-3AD203B41FA5}">
                      <a16:colId xmlns:a16="http://schemas.microsoft.com/office/drawing/2014/main" val="20003"/>
                    </a:ext>
                  </a:extLst>
                </a:gridCol>
                <a:gridCol w="1619250">
                  <a:extLst>
                    <a:ext uri="{9D8B030D-6E8A-4147-A177-3AD203B41FA5}">
                      <a16:colId xmlns:a16="http://schemas.microsoft.com/office/drawing/2014/main" val="20004"/>
                    </a:ext>
                  </a:extLst>
                </a:gridCol>
                <a:gridCol w="1619250">
                  <a:extLst>
                    <a:ext uri="{9D8B030D-6E8A-4147-A177-3AD203B41FA5}">
                      <a16:colId xmlns:a16="http://schemas.microsoft.com/office/drawing/2014/main" val="20005"/>
                    </a:ext>
                  </a:extLst>
                </a:gridCol>
              </a:tblGrid>
              <a:tr h="416719">
                <a:tc>
                  <a:txBody>
                    <a:bodyPr/>
                    <a:lstStyle/>
                    <a:p>
                      <a:r>
                        <a:rPr lang="en-US" sz="1425" b="1">
                          <a:solidFill>
                            <a:srgbClr val="000000"/>
                          </a:solidFill>
                          <a:latin typeface="Calibri" panose="020F0502020204030204" pitchFamily="34" charset="0"/>
                          <a:ea typeface="Arial"/>
                          <a:cs typeface="Arial"/>
                        </a:rPr>
                        <a:t>Compared allocation / kg</a:t>
                      </a:r>
                      <a:endParaRPr sz="1425" b="1">
                        <a:solidFill>
                          <a:srgbClr val="000000"/>
                        </a:solidFill>
                        <a:latin typeface="Calibri" panose="020F0502020204030204" pitchFamily="34" charset="0"/>
                        <a:ea typeface="Arial"/>
                        <a:cs typeface="Arial"/>
                      </a:endParaRPr>
                    </a:p>
                  </a:txBody>
                  <a:tcPr>
                    <a:lnL w="9525">
                      <a:solidFill>
                        <a:srgbClr val="DCE4E8"/>
                      </a:solidFill>
                    </a:lnL>
                    <a:lnR w="9525">
                      <a:solidFill>
                        <a:srgbClr val="DCE4E8"/>
                      </a:solidFill>
                    </a:lnR>
                    <a:lnT w="9525">
                      <a:solidFill>
                        <a:srgbClr val="DCE4E8"/>
                      </a:solidFill>
                    </a:lnT>
                    <a:lnB w="9525">
                      <a:solidFill>
                        <a:srgbClr val="DCE4E8"/>
                      </a:solidFill>
                    </a:lnB>
                    <a:solidFill>
                      <a:srgbClr val="D9D9D9"/>
                    </a:solidFill>
                  </a:tcPr>
                </a:tc>
                <a:tc>
                  <a:txBody>
                    <a:bodyPr/>
                    <a:lstStyle/>
                    <a:p>
                      <a:r>
                        <a:rPr lang="en-US" sz="1425" b="1">
                          <a:solidFill>
                            <a:srgbClr val="000000"/>
                          </a:solidFill>
                          <a:latin typeface="Calibri" panose="020F0502020204030204" pitchFamily="34" charset="0"/>
                          <a:ea typeface="Arial"/>
                          <a:cs typeface="Arial"/>
                        </a:rPr>
                        <a:t>Baseline</a:t>
                      </a:r>
                      <a:endParaRPr sz="1425" b="1">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a:solidFill>
                        <a:srgbClr val="DCE4E8"/>
                      </a:solidFill>
                    </a:lnT>
                    <a:lnB w="9525">
                      <a:solidFill>
                        <a:srgbClr val="DCE4E8"/>
                      </a:solidFill>
                    </a:lnB>
                    <a:solidFill>
                      <a:srgbClr val="D9D9D9"/>
                    </a:solidFill>
                  </a:tcPr>
                </a:tc>
                <a:tc>
                  <a:txBody>
                    <a:bodyPr/>
                    <a:lstStyle/>
                    <a:p>
                      <a:r>
                        <a:rPr lang="en-US" sz="1425" b="1">
                          <a:solidFill>
                            <a:srgbClr val="000000"/>
                          </a:solidFill>
                          <a:latin typeface="Calibri" panose="020F0502020204030204" pitchFamily="34" charset="0"/>
                          <a:ea typeface="Arial"/>
                          <a:cs typeface="Arial"/>
                        </a:rPr>
                        <a:t>L+C retrofit</a:t>
                      </a:r>
                      <a:endParaRPr sz="1425" b="1">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a:solidFill>
                        <a:srgbClr val="DCE4E8"/>
                      </a:solidFill>
                    </a:lnT>
                    <a:lnB w="9525">
                      <a:solidFill>
                        <a:srgbClr val="DCE4E8"/>
                      </a:solidFill>
                    </a:lnB>
                    <a:solidFill>
                      <a:srgbClr val="D9D9D9"/>
                    </a:solidFill>
                  </a:tcPr>
                </a:tc>
                <a:tc>
                  <a:txBody>
                    <a:bodyPr/>
                    <a:lstStyle/>
                    <a:p>
                      <a:r>
                        <a:rPr lang="en-US" sz="1425" b="1">
                          <a:solidFill>
                            <a:srgbClr val="000000"/>
                          </a:solidFill>
                          <a:latin typeface="Calibri" panose="020F0502020204030204" pitchFamily="34" charset="0"/>
                          <a:ea typeface="Arial"/>
                          <a:cs typeface="Arial"/>
                        </a:rPr>
                        <a:t>L+C clean</a:t>
                      </a:r>
                      <a:endParaRPr sz="1425" b="1">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a:solidFill>
                        <a:srgbClr val="DCE4E8"/>
                      </a:solidFill>
                    </a:lnT>
                    <a:lnB w="9525">
                      <a:solidFill>
                        <a:srgbClr val="DCE4E8"/>
                      </a:solidFill>
                    </a:lnB>
                    <a:solidFill>
                      <a:srgbClr val="D9D9D9"/>
                    </a:solidFill>
                  </a:tcPr>
                </a:tc>
                <a:tc>
                  <a:txBody>
                    <a:bodyPr/>
                    <a:lstStyle/>
                    <a:p>
                      <a:r>
                        <a:rPr lang="en-US" sz="1425" b="1">
                          <a:solidFill>
                            <a:srgbClr val="000000"/>
                          </a:solidFill>
                          <a:latin typeface="Calibri" panose="020F0502020204030204" pitchFamily="34" charset="0"/>
                          <a:ea typeface="Arial"/>
                          <a:cs typeface="Arial"/>
                        </a:rPr>
                        <a:t>Piston TR</a:t>
                      </a:r>
                      <a:endParaRPr sz="1425" b="1">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a:solidFill>
                        <a:srgbClr val="DCE4E8"/>
                      </a:solidFill>
                    </a:lnT>
                    <a:lnB w="9525">
                      <a:solidFill>
                        <a:srgbClr val="DCE4E8"/>
                      </a:solidFill>
                    </a:lnB>
                    <a:solidFill>
                      <a:srgbClr val="D9D9D9"/>
                    </a:solidFill>
                  </a:tcPr>
                </a:tc>
                <a:tc>
                  <a:txBody>
                    <a:bodyPr/>
                    <a:lstStyle/>
                    <a:p>
                      <a:r>
                        <a:rPr lang="en-US" sz="1425" b="1">
                          <a:solidFill>
                            <a:srgbClr val="000000"/>
                          </a:solidFill>
                          <a:latin typeface="Calibri" panose="020F0502020204030204" pitchFamily="34" charset="0"/>
                          <a:ea typeface="Arial"/>
                          <a:cs typeface="Arial"/>
                        </a:rPr>
                        <a:t>Turboelectric</a:t>
                      </a:r>
                      <a:endParaRPr sz="1425" b="1">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a:solidFill>
                        <a:srgbClr val="DCE4E8"/>
                      </a:solidFill>
                    </a:lnT>
                    <a:lnB w="9525">
                      <a:solidFill>
                        <a:srgbClr val="DCE4E8"/>
                      </a:solidFill>
                    </a:lnB>
                    <a:solidFill>
                      <a:srgbClr val="D9D9D9"/>
                    </a:solidFill>
                  </a:tcPr>
                </a:tc>
                <a:extLst>
                  <a:ext uri="{0D108BD9-81ED-4DB2-BD59-A6C34878D82A}">
                    <a16:rowId xmlns:a16="http://schemas.microsoft.com/office/drawing/2014/main" val="10000"/>
                  </a:ext>
                </a:extLst>
              </a:tr>
              <a:tr h="416719">
                <a:tc>
                  <a:txBody>
                    <a:bodyPr/>
                    <a:lstStyle/>
                    <a:p>
                      <a:r>
                        <a:rPr lang="en-US" sz="1425" b="0">
                          <a:solidFill>
                            <a:srgbClr val="000000"/>
                          </a:solidFill>
                          <a:latin typeface="Calibri" panose="020F0502020204030204" pitchFamily="34" charset="0"/>
                          <a:ea typeface="Arial"/>
                          <a:cs typeface="Arial"/>
                        </a:rPr>
                        <a:t>Avionics + datalink + electronics</a:t>
                      </a:r>
                      <a:endParaRPr sz="1425" b="0">
                        <a:solidFill>
                          <a:srgbClr val="000000"/>
                        </a:solidFill>
                        <a:latin typeface="Calibri" panose="020F0502020204030204" pitchFamily="34" charset="0"/>
                        <a:ea typeface="Arial"/>
                        <a:cs typeface="Arial"/>
                      </a:endParaRP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47.50</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6.00</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6.00</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6.00</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6.00</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extLst>
                  <a:ext uri="{0D108BD9-81ED-4DB2-BD59-A6C34878D82A}">
                    <a16:rowId xmlns:a16="http://schemas.microsoft.com/office/drawing/2014/main" val="10001"/>
                  </a:ext>
                </a:extLst>
              </a:tr>
              <a:tr h="416719">
                <a:tc>
                  <a:txBody>
                    <a:bodyPr/>
                    <a:lstStyle/>
                    <a:p>
                      <a:r>
                        <a:rPr lang="en-US" sz="1425" b="0">
                          <a:solidFill>
                            <a:srgbClr val="000000"/>
                          </a:solidFill>
                          <a:latin typeface="Calibri" panose="020F0502020204030204" pitchFamily="34" charset="0"/>
                          <a:ea typeface="Arial"/>
                          <a:cs typeface="Arial"/>
                        </a:rPr>
                        <a:t>Paint / sealant / integration</a:t>
                      </a:r>
                      <a:endParaRPr sz="1425" b="0">
                        <a:solidFill>
                          <a:srgbClr val="000000"/>
                        </a:solidFill>
                        <a:latin typeface="Calibri" panose="020F0502020204030204" pitchFamily="34" charset="0"/>
                        <a:ea typeface="Arial"/>
                        <a:cs typeface="Arial"/>
                      </a:endParaRP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lang="en-US" sz="1425" b="0">
                          <a:solidFill>
                            <a:srgbClr val="000000"/>
                          </a:solidFill>
                          <a:latin typeface="Calibri" panose="020F0502020204030204" pitchFamily="34" charset="0"/>
                          <a:ea typeface="Arial"/>
                          <a:cs typeface="Arial"/>
                        </a:rPr>
                        <a:t>11.50</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lang="en-US" sz="1425" b="0">
                          <a:solidFill>
                            <a:srgbClr val="000000"/>
                          </a:solidFill>
                          <a:latin typeface="Calibri" panose="020F0502020204030204" pitchFamily="34" charset="0"/>
                          <a:ea typeface="Arial"/>
                          <a:cs typeface="Arial"/>
                        </a:rPr>
                        <a:t>Not isolated</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lang="en-US" sz="1425" b="0">
                          <a:solidFill>
                            <a:srgbClr val="000000"/>
                          </a:solidFill>
                          <a:latin typeface="Calibri" panose="020F0502020204030204" pitchFamily="34" charset="0"/>
                          <a:ea typeface="Arial"/>
                          <a:cs typeface="Arial"/>
                        </a:rPr>
                        <a:t>Not isolated</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lang="en-US" sz="1425" b="0">
                          <a:solidFill>
                            <a:srgbClr val="000000"/>
                          </a:solidFill>
                          <a:latin typeface="Calibri" panose="020F0502020204030204" pitchFamily="34" charset="0"/>
                          <a:ea typeface="Arial"/>
                          <a:cs typeface="Arial"/>
                        </a:rPr>
                        <a:t>Not isolated</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lang="en-US" sz="1425" b="0">
                          <a:solidFill>
                            <a:srgbClr val="000000"/>
                          </a:solidFill>
                          <a:latin typeface="Calibri" panose="020F0502020204030204" pitchFamily="34" charset="0"/>
                          <a:ea typeface="Arial"/>
                          <a:cs typeface="Arial"/>
                        </a:rPr>
                        <a:t>Not isolated</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extLst>
                  <a:ext uri="{0D108BD9-81ED-4DB2-BD59-A6C34878D82A}">
                    <a16:rowId xmlns:a16="http://schemas.microsoft.com/office/drawing/2014/main" val="10002"/>
                  </a:ext>
                </a:extLst>
              </a:tr>
              <a:tr h="416719">
                <a:tc>
                  <a:txBody>
                    <a:bodyPr/>
                    <a:lstStyle/>
                    <a:p>
                      <a:r>
                        <a:rPr lang="en-US" sz="1425" b="0">
                          <a:solidFill>
                            <a:srgbClr val="000000"/>
                          </a:solidFill>
                          <a:latin typeface="Calibri" panose="020F0502020204030204" pitchFamily="34" charset="0"/>
                          <a:ea typeface="Arial"/>
                          <a:cs typeface="Arial"/>
                        </a:rPr>
                        <a:t>Generic furnishings / equipment</a:t>
                      </a:r>
                      <a:endParaRPr sz="1425" b="0">
                        <a:solidFill>
                          <a:srgbClr val="000000"/>
                        </a:solidFill>
                        <a:latin typeface="Calibri" panose="020F0502020204030204" pitchFamily="34" charset="0"/>
                        <a:ea typeface="Arial"/>
                        <a:cs typeface="Arial"/>
                      </a:endParaRP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Not isolated</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0.00</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0.00</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2.00</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2.00</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extLst>
                  <a:ext uri="{0D108BD9-81ED-4DB2-BD59-A6C34878D82A}">
                    <a16:rowId xmlns:a16="http://schemas.microsoft.com/office/drawing/2014/main" val="10003"/>
                  </a:ext>
                </a:extLst>
              </a:tr>
              <a:tr h="416719">
                <a:tc>
                  <a:txBody>
                    <a:bodyPr/>
                    <a:lstStyle/>
                    <a:p>
                      <a:r>
                        <a:rPr lang="en-US" sz="1425" b="0">
                          <a:solidFill>
                            <a:srgbClr val="000000"/>
                          </a:solidFill>
                          <a:latin typeface="Calibri" panose="020F0502020204030204" pitchFamily="34" charset="0"/>
                          <a:ea typeface="Arial"/>
                          <a:cs typeface="Arial"/>
                        </a:rPr>
                        <a:t>Vibration allowance (2% WE)</a:t>
                      </a:r>
                      <a:endParaRPr sz="1425" b="0">
                        <a:solidFill>
                          <a:srgbClr val="000000"/>
                        </a:solidFill>
                        <a:latin typeface="Calibri" panose="020F0502020204030204" pitchFamily="34" charset="0"/>
                        <a:ea typeface="Arial"/>
                        <a:cs typeface="Arial"/>
                      </a:endParaRP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lang="en-US" sz="1425" b="0">
                          <a:solidFill>
                            <a:srgbClr val="000000"/>
                          </a:solidFill>
                          <a:latin typeface="Calibri" panose="020F0502020204030204" pitchFamily="34" charset="0"/>
                          <a:ea typeface="Arial"/>
                          <a:cs typeface="Arial"/>
                        </a:rPr>
                        <a:t>Not isolated</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lang="en-US" sz="1425" b="0">
                          <a:solidFill>
                            <a:srgbClr val="000000"/>
                          </a:solidFill>
                          <a:latin typeface="Calibri" panose="020F0502020204030204" pitchFamily="34" charset="0"/>
                          <a:ea typeface="Arial"/>
                          <a:cs typeface="Arial"/>
                        </a:rPr>
                        <a:t>6.69</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lang="en-US" sz="1425" b="0">
                          <a:solidFill>
                            <a:srgbClr val="000000"/>
                          </a:solidFill>
                          <a:latin typeface="Calibri" panose="020F0502020204030204" pitchFamily="34" charset="0"/>
                          <a:ea typeface="Arial"/>
                          <a:cs typeface="Arial"/>
                        </a:rPr>
                        <a:t>6.35</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lang="en-US" sz="1425" b="0">
                          <a:solidFill>
                            <a:srgbClr val="000000"/>
                          </a:solidFill>
                          <a:latin typeface="Calibri" panose="020F0502020204030204" pitchFamily="34" charset="0"/>
                          <a:ea typeface="Arial"/>
                          <a:cs typeface="Arial"/>
                        </a:rPr>
                        <a:t>4.53</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lang="en-US" sz="1425" b="0">
                          <a:solidFill>
                            <a:srgbClr val="000000"/>
                          </a:solidFill>
                          <a:latin typeface="Calibri" panose="020F0502020204030204" pitchFamily="34" charset="0"/>
                          <a:ea typeface="Arial"/>
                          <a:cs typeface="Arial"/>
                        </a:rPr>
                        <a:t>4.91</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extLst>
                  <a:ext uri="{0D108BD9-81ED-4DB2-BD59-A6C34878D82A}">
                    <a16:rowId xmlns:a16="http://schemas.microsoft.com/office/drawing/2014/main" val="10004"/>
                  </a:ext>
                </a:extLst>
              </a:tr>
              <a:tr h="416719">
                <a:tc>
                  <a:txBody>
                    <a:bodyPr/>
                    <a:lstStyle/>
                    <a:p>
                      <a:r>
                        <a:rPr lang="en-US" sz="1425" b="0">
                          <a:solidFill>
                            <a:srgbClr val="000000"/>
                          </a:solidFill>
                          <a:latin typeface="Calibri" panose="020F0502020204030204" pitchFamily="34" charset="0"/>
                          <a:ea typeface="Arial"/>
                          <a:cs typeface="Arial"/>
                        </a:rPr>
                        <a:t>Contingency allowance (5% WE)</a:t>
                      </a:r>
                      <a:endParaRPr sz="1425" b="0">
                        <a:solidFill>
                          <a:srgbClr val="000000"/>
                        </a:solidFill>
                        <a:latin typeface="Calibri" panose="020F0502020204030204" pitchFamily="34" charset="0"/>
                        <a:ea typeface="Arial"/>
                        <a:cs typeface="Arial"/>
                      </a:endParaRP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Not isolated</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16.74</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15.88</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11.32</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12.28</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extLst>
                  <a:ext uri="{0D108BD9-81ED-4DB2-BD59-A6C34878D82A}">
                    <a16:rowId xmlns:a16="http://schemas.microsoft.com/office/drawing/2014/main" val="10005"/>
                  </a:ext>
                </a:extLst>
              </a:tr>
              <a:tr h="416719">
                <a:tc>
                  <a:txBody>
                    <a:bodyPr/>
                    <a:lstStyle/>
                    <a:p>
                      <a:r>
                        <a:rPr lang="en-US" sz="1425" b="0">
                          <a:solidFill>
                            <a:srgbClr val="000000"/>
                          </a:solidFill>
                          <a:latin typeface="Calibri" panose="020F0502020204030204" pitchFamily="34" charset="0"/>
                          <a:ea typeface="Arial"/>
                          <a:cs typeface="Arial"/>
                        </a:rPr>
                        <a:t>Combined comparison subtotal</a:t>
                      </a:r>
                      <a:endParaRPr sz="1425" b="0">
                        <a:solidFill>
                          <a:srgbClr val="000000"/>
                        </a:solidFill>
                        <a:latin typeface="Calibri" panose="020F0502020204030204" pitchFamily="34" charset="0"/>
                        <a:ea typeface="Arial"/>
                        <a:cs typeface="Arial"/>
                      </a:endParaRP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lang="en-US" sz="1425" b="0">
                          <a:solidFill>
                            <a:srgbClr val="000000"/>
                          </a:solidFill>
                          <a:latin typeface="Calibri" panose="020F0502020204030204" pitchFamily="34" charset="0"/>
                          <a:ea typeface="Arial"/>
                          <a:cs typeface="Arial"/>
                        </a:rPr>
                        <a:t>59.00</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lang="en-US" sz="1425" b="0">
                          <a:solidFill>
                            <a:srgbClr val="000000"/>
                          </a:solidFill>
                          <a:latin typeface="Calibri" panose="020F0502020204030204" pitchFamily="34" charset="0"/>
                          <a:ea typeface="Arial"/>
                          <a:cs typeface="Arial"/>
                        </a:rPr>
                        <a:t>29.43</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lang="en-US" sz="1425" b="0">
                          <a:solidFill>
                            <a:srgbClr val="000000"/>
                          </a:solidFill>
                          <a:latin typeface="Calibri" panose="020F0502020204030204" pitchFamily="34" charset="0"/>
                          <a:ea typeface="Arial"/>
                          <a:cs typeface="Arial"/>
                        </a:rPr>
                        <a:t>28.23</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lang="en-US" sz="1425" b="0">
                          <a:solidFill>
                            <a:srgbClr val="000000"/>
                          </a:solidFill>
                          <a:latin typeface="Calibri" panose="020F0502020204030204" pitchFamily="34" charset="0"/>
                          <a:ea typeface="Arial"/>
                          <a:cs typeface="Arial"/>
                        </a:rPr>
                        <a:t>23.84</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lang="en-US" sz="1425" b="0">
                          <a:solidFill>
                            <a:srgbClr val="000000"/>
                          </a:solidFill>
                          <a:latin typeface="Calibri" panose="020F0502020204030204" pitchFamily="34" charset="0"/>
                          <a:ea typeface="Arial"/>
                          <a:cs typeface="Arial"/>
                        </a:rPr>
                        <a:t>25.19</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extLst>
                  <a:ext uri="{0D108BD9-81ED-4DB2-BD59-A6C34878D82A}">
                    <a16:rowId xmlns:a16="http://schemas.microsoft.com/office/drawing/2014/main" val="10006"/>
                  </a:ext>
                </a:extLst>
              </a:tr>
              <a:tr h="416719">
                <a:tc>
                  <a:txBody>
                    <a:bodyPr/>
                    <a:lstStyle/>
                    <a:p>
                      <a:r>
                        <a:rPr lang="en-US" sz="1425" b="0">
                          <a:solidFill>
                            <a:srgbClr val="000000"/>
                          </a:solidFill>
                          <a:latin typeface="Calibri" panose="020F0502020204030204" pitchFamily="34" charset="0"/>
                          <a:ea typeface="Arial"/>
                          <a:cs typeface="Arial"/>
                        </a:rPr>
                        <a:t>Gap, using all allowances</a:t>
                      </a:r>
                      <a:endParaRPr sz="1425" b="0">
                        <a:solidFill>
                          <a:srgbClr val="000000"/>
                        </a:solidFill>
                        <a:latin typeface="Calibri" panose="020F0502020204030204" pitchFamily="34" charset="0"/>
                        <a:ea typeface="Arial"/>
                        <a:cs typeface="Arial"/>
                      </a:endParaRP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29.57</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30.77</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35.16</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33.81</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extLst>
                  <a:ext uri="{0D108BD9-81ED-4DB2-BD59-A6C34878D82A}">
                    <a16:rowId xmlns:a16="http://schemas.microsoft.com/office/drawing/2014/main" val="10007"/>
                  </a:ext>
                </a:extLst>
              </a:tr>
            </a:tbl>
          </a:graphicData>
        </a:graphic>
      </p:graphicFrame>
      <p:sp>
        <p:nvSpPr>
          <p:cNvPr id="6" name="Rectangle 5">
            <a:extLst>
              <a:ext uri="{FF2B5EF4-FFF2-40B4-BE49-F238E27FC236}">
                <a16:creationId xmlns:a16="http://schemas.microsoft.com/office/drawing/2014/main" id="{FE322DFA-3AEF-41C1-8EC5-D8F18DDEFE7E}"/>
              </a:ext>
            </a:extLst>
          </p:cNvPr>
          <p:cNvSpPr>
            <a:spLocks noGrp="1"/>
          </p:cNvSpPr>
          <p:nvPr/>
        </p:nvSpPr>
        <p:spPr>
          <a:xfrm>
            <a:off x="476250" y="5000625"/>
            <a:ext cx="11239500" cy="762000"/>
          </a:xfrm>
          <a:prstGeom prst="rect">
            <a:avLst/>
          </a:prstGeom>
          <a:noFill/>
          <a:ln w="0">
            <a:noFill/>
          </a:ln>
        </p:spPr>
        <p:txBody>
          <a:bodyPr/>
          <a:lstStyle>
            <a:defPPr>
              <a:defRPr sz="1500" b="0">
                <a:solidFill>
                  <a:srgbClr val="173344"/>
                </a:solidFill>
                <a:latin typeface="Arial"/>
                <a:ea typeface="Arial"/>
                <a:cs typeface="Arial"/>
              </a:defRPr>
            </a:defPPr>
            <a:lvl1pPr>
              <a:defRPr sz="1500" b="0">
                <a:solidFill>
                  <a:srgbClr val="173344"/>
                </a:solidFill>
                <a:latin typeface="Arial"/>
                <a:ea typeface="Arial"/>
                <a:cs typeface="Arial"/>
              </a:defRPr>
            </a:lvl1pPr>
            <a:lvl2pPr>
              <a:defRPr sz="1500" b="0">
                <a:solidFill>
                  <a:srgbClr val="173344"/>
                </a:solidFill>
                <a:latin typeface="Arial"/>
                <a:ea typeface="Arial"/>
                <a:cs typeface="Arial"/>
              </a:defRPr>
            </a:lvl2pPr>
            <a:lvl3pPr>
              <a:defRPr sz="1500" b="0">
                <a:solidFill>
                  <a:srgbClr val="173344"/>
                </a:solidFill>
                <a:latin typeface="Arial"/>
                <a:ea typeface="Arial"/>
                <a:cs typeface="Arial"/>
              </a:defRPr>
            </a:lvl3pPr>
            <a:lvl4pPr>
              <a:defRPr sz="1500" b="0">
                <a:solidFill>
                  <a:srgbClr val="173344"/>
                </a:solidFill>
                <a:latin typeface="Arial"/>
                <a:ea typeface="Arial"/>
                <a:cs typeface="Arial"/>
              </a:defRPr>
            </a:lvl4pPr>
            <a:lvl5pPr>
              <a:defRPr sz="1500" b="0">
                <a:solidFill>
                  <a:srgbClr val="173344"/>
                </a:solidFill>
                <a:latin typeface="Arial"/>
                <a:ea typeface="Arial"/>
                <a:cs typeface="Arial"/>
              </a:defRPr>
            </a:lvl5pPr>
            <a:lvl6pPr>
              <a:defRPr sz="1500" b="0">
                <a:solidFill>
                  <a:srgbClr val="173344"/>
                </a:solidFill>
                <a:latin typeface="Arial"/>
                <a:ea typeface="Arial"/>
                <a:cs typeface="Arial"/>
              </a:defRPr>
            </a:lvl6pPr>
            <a:lvl7pPr>
              <a:defRPr sz="1500" b="0">
                <a:solidFill>
                  <a:srgbClr val="173344"/>
                </a:solidFill>
                <a:latin typeface="Arial"/>
                <a:ea typeface="Arial"/>
                <a:cs typeface="Arial"/>
              </a:defRPr>
            </a:lvl7pPr>
            <a:lvl8pPr>
              <a:defRPr sz="1500" b="0">
                <a:solidFill>
                  <a:srgbClr val="173344"/>
                </a:solidFill>
                <a:latin typeface="Arial"/>
                <a:ea typeface="Arial"/>
                <a:cs typeface="Arial"/>
              </a:defRPr>
            </a:lvl8pPr>
            <a:lvl9pPr>
              <a:defRPr sz="1500" b="0">
                <a:solidFill>
                  <a:srgbClr val="173344"/>
                </a:solidFill>
                <a:latin typeface="Arial"/>
                <a:ea typeface="Arial"/>
                <a:cs typeface="Arial"/>
              </a:defRPr>
            </a:lvl9pPr>
          </a:lstStyle>
          <a:p>
            <a:pPr>
              <a:defRPr sz="1500" b="0">
                <a:solidFill>
                  <a:srgbClr val="173344"/>
                </a:solidFill>
                <a:latin typeface="Arial"/>
                <a:ea typeface="Arial"/>
                <a:cs typeface="Arial"/>
              </a:defRPr>
            </a:pPr>
            <a:r>
              <a:rPr sz="1500" b="0">
                <a:solidFill>
                  <a:srgbClr val="000000"/>
                </a:solidFill>
                <a:latin typeface="Calibri" panose="020F0502020204030204" pitchFamily="34" charset="0"/>
                <a:ea typeface="Arial"/>
                <a:cs typeface="Arial"/>
              </a:rPr>
              <a:t>Baseline 47.50 = avionics 7.23 + datalink 16.64 + electronics 23.63 kg.</a:t>
            </a:r>
          </a:p>
          <a:p>
            <a:pPr>
              <a:defRPr sz="1500" b="0">
                <a:solidFill>
                  <a:srgbClr val="173344"/>
                </a:solidFill>
                <a:latin typeface="Arial"/>
                <a:ea typeface="Arial"/>
                <a:cs typeface="Arial"/>
              </a:defRPr>
            </a:pPr>
            <a:r>
              <a:rPr sz="1500" b="0">
                <a:solidFill>
                  <a:srgbClr val="000000"/>
                </a:solidFill>
                <a:latin typeface="Calibri" panose="020F0502020204030204" pitchFamily="34" charset="0"/>
                <a:ea typeface="Arial"/>
                <a:cs typeface="Arial"/>
              </a:rPr>
              <a:t>Model 6.00 = general electrical 4.00 + instruments 2.00 kg.</a:t>
            </a:r>
          </a:p>
          <a:p>
            <a:pPr>
              <a:defRPr sz="1500" b="0">
                <a:solidFill>
                  <a:srgbClr val="173344"/>
                </a:solidFill>
                <a:latin typeface="Arial"/>
                <a:ea typeface="Arial"/>
                <a:cs typeface="Arial"/>
              </a:defRPr>
            </a:pPr>
            <a:r>
              <a:rPr sz="1500" b="0">
                <a:solidFill>
                  <a:srgbClr val="000000"/>
                </a:solidFill>
                <a:latin typeface="Calibri" panose="020F0502020204030204" pitchFamily="34" charset="0"/>
                <a:ea typeface="Arial"/>
                <a:cs typeface="Arial"/>
              </a:rPr>
              <a:t>Subtotal credits every kg of vibration + contingency only as a generous coverage test.</a:t>
            </a:r>
          </a:p>
        </p:txBody>
      </p:sp>
      <p:sp>
        <p:nvSpPr>
          <p:cNvPr id="7" name="Rectangle 6">
            <a:extLst>
              <a:ext uri="{FF2B5EF4-FFF2-40B4-BE49-F238E27FC236}">
                <a16:creationId xmlns:a16="http://schemas.microsoft.com/office/drawing/2014/main" id="{76B9E56C-A192-4E83-92E1-0C6AF27575E4}"/>
              </a:ext>
            </a:extLst>
          </p:cNvPr>
          <p:cNvSpPr>
            <a:spLocks noGrp="1"/>
          </p:cNvSpPr>
          <p:nvPr/>
        </p:nvSpPr>
        <p:spPr>
          <a:xfrm>
            <a:off x="476250" y="6010275"/>
            <a:ext cx="11239500" cy="447675"/>
          </a:xfrm>
          <a:prstGeom prst="rect">
            <a:avLst/>
          </a:prstGeom>
          <a:noFill/>
          <a:ln w="0">
            <a:noFill/>
          </a:ln>
        </p:spPr>
        <p:txBody>
          <a:bodyPr/>
          <a:lstStyle>
            <a:defPPr>
              <a:defRPr sz="1275" b="0">
                <a:solidFill>
                  <a:srgbClr val="536675"/>
                </a:solidFill>
                <a:latin typeface="Arial"/>
                <a:ea typeface="Arial"/>
                <a:cs typeface="Arial"/>
              </a:defRPr>
            </a:defPPr>
            <a:lvl1pPr>
              <a:defRPr sz="1275" b="0">
                <a:solidFill>
                  <a:srgbClr val="536675"/>
                </a:solidFill>
                <a:latin typeface="Arial"/>
                <a:ea typeface="Arial"/>
                <a:cs typeface="Arial"/>
              </a:defRPr>
            </a:lvl1pPr>
            <a:lvl2pPr>
              <a:defRPr sz="1275" b="0">
                <a:solidFill>
                  <a:srgbClr val="536675"/>
                </a:solidFill>
                <a:latin typeface="Arial"/>
                <a:ea typeface="Arial"/>
                <a:cs typeface="Arial"/>
              </a:defRPr>
            </a:lvl2pPr>
            <a:lvl3pPr>
              <a:defRPr sz="1275" b="0">
                <a:solidFill>
                  <a:srgbClr val="536675"/>
                </a:solidFill>
                <a:latin typeface="Arial"/>
                <a:ea typeface="Arial"/>
                <a:cs typeface="Arial"/>
              </a:defRPr>
            </a:lvl3pPr>
            <a:lvl4pPr>
              <a:defRPr sz="1275" b="0">
                <a:solidFill>
                  <a:srgbClr val="536675"/>
                </a:solidFill>
                <a:latin typeface="Arial"/>
                <a:ea typeface="Arial"/>
                <a:cs typeface="Arial"/>
              </a:defRPr>
            </a:lvl4pPr>
            <a:lvl5pPr>
              <a:defRPr sz="1275" b="0">
                <a:solidFill>
                  <a:srgbClr val="536675"/>
                </a:solidFill>
                <a:latin typeface="Arial"/>
                <a:ea typeface="Arial"/>
                <a:cs typeface="Arial"/>
              </a:defRPr>
            </a:lvl5pPr>
            <a:lvl6pPr>
              <a:defRPr sz="1275" b="0">
                <a:solidFill>
                  <a:srgbClr val="536675"/>
                </a:solidFill>
                <a:latin typeface="Arial"/>
                <a:ea typeface="Arial"/>
                <a:cs typeface="Arial"/>
              </a:defRPr>
            </a:lvl6pPr>
            <a:lvl7pPr>
              <a:defRPr sz="1275" b="0">
                <a:solidFill>
                  <a:srgbClr val="536675"/>
                </a:solidFill>
                <a:latin typeface="Arial"/>
                <a:ea typeface="Arial"/>
                <a:cs typeface="Arial"/>
              </a:defRPr>
            </a:lvl7pPr>
            <a:lvl8pPr>
              <a:defRPr sz="1275" b="0">
                <a:solidFill>
                  <a:srgbClr val="536675"/>
                </a:solidFill>
                <a:latin typeface="Arial"/>
                <a:ea typeface="Arial"/>
                <a:cs typeface="Arial"/>
              </a:defRPr>
            </a:lvl8pPr>
            <a:lvl9pPr>
              <a:defRPr sz="1275" b="0">
                <a:solidFill>
                  <a:srgbClr val="536675"/>
                </a:solidFill>
                <a:latin typeface="Arial"/>
                <a:ea typeface="Arial"/>
                <a:cs typeface="Arial"/>
              </a:defRPr>
            </a:lvl9pPr>
          </a:lstStyle>
          <a:p>
            <a:pPr>
              <a:defRPr sz="1275" b="0">
                <a:solidFill>
                  <a:srgbClr val="536675"/>
                </a:solidFill>
                <a:latin typeface="Arial"/>
                <a:ea typeface="Arial"/>
                <a:cs typeface="Arial"/>
              </a:defRPr>
            </a:pPr>
            <a:endParaRPr sz="1275" b="0">
              <a:solidFill>
                <a:srgbClr val="000000"/>
              </a:solidFill>
              <a:latin typeface="Calibri" panose="020F0502020204030204" pitchFamily="34" charset="0"/>
              <a:ea typeface="Arial"/>
              <a:cs typeface="Arial"/>
            </a:endParaRPr>
          </a:p>
        </p:txBody>
      </p:sp>
      <p:sp>
        <p:nvSpPr>
          <p:cNvPr id="9" name="TextBox 8">
            <a:extLst>
              <a:ext uri="{FF2B5EF4-FFF2-40B4-BE49-F238E27FC236}">
                <a16:creationId xmlns:a16="http://schemas.microsoft.com/office/drawing/2014/main" id="{F5462072-F7EE-9777-44E0-580F4B3D4618}"/>
              </a:ext>
            </a:extLst>
          </p:cNvPr>
          <p:cNvSpPr txBox="1"/>
          <p:nvPr/>
        </p:nvSpPr>
        <p:spPr>
          <a:xfrm>
            <a:off x="476250" y="6400800"/>
            <a:ext cx="11074400" cy="323165"/>
          </a:xfrm>
          <a:prstGeom prst="rect">
            <a:avLst/>
          </a:prstGeom>
          <a:noFill/>
        </p:spPr>
        <p:txBody>
          <a:bodyPr vert="horz" lIns="0" tIns="0" rIns="0" bIns="0" rtlCol="0">
            <a:spAutoFit/>
          </a:bodyPr>
          <a:lstStyle/>
          <a:p>
            <a:r>
              <a:rPr lang="en-US" sz="1050">
                <a:solidFill>
                  <a:srgbClr val="000000"/>
                </a:solidFill>
                <a:latin typeface="Calibri" panose="020F0502020204030204" pitchFamily="34" charset="0"/>
              </a:rPr>
              <a:t>[S7] Corrected native vibration / contingency allocations. [U1] User avionics, datalink, electronics and integration weights.
The generous allowance-credit test does not prove equipment is included. Backup battery, generator and controls remain separate.</a:t>
            </a:r>
          </a:p>
        </p:txBody>
      </p:sp>
      <p:sp>
        <p:nvSpPr>
          <p:cNvPr id="10" name="TextBox 9">
            <a:extLst>
              <a:ext uri="{FF2B5EF4-FFF2-40B4-BE49-F238E27FC236}">
                <a16:creationId xmlns:a16="http://schemas.microsoft.com/office/drawing/2014/main" id="{4F94C419-361F-7DCF-BDFE-FA327CFB7D91}"/>
              </a:ext>
            </a:extLst>
          </p:cNvPr>
          <p:cNvSpPr txBox="1"/>
          <p:nvPr/>
        </p:nvSpPr>
        <p:spPr>
          <a:xfrm>
            <a:off x="11671300" y="6527800"/>
            <a:ext cx="355600" cy="153888"/>
          </a:xfrm>
          <a:prstGeom prst="rect">
            <a:avLst/>
          </a:prstGeom>
          <a:noFill/>
        </p:spPr>
        <p:txBody>
          <a:bodyPr vert="horz" lIns="0" tIns="0" rIns="0" bIns="0" rtlCol="0">
            <a:spAutoFit/>
          </a:bodyPr>
          <a:lstStyle/>
          <a:p>
            <a:r>
              <a:rPr lang="en-US" sz="1000">
                <a:solidFill>
                  <a:srgbClr val="000000"/>
                </a:solidFill>
                <a:latin typeface="Calibri" panose="020F0502020204030204" pitchFamily="34" charset="0"/>
              </a:rPr>
              <a:t>31</a:t>
            </a:r>
          </a:p>
        </p:txBody>
      </p:sp>
    </p:spTree>
    <p:extLst>
      <p:ext uri="{BB962C8B-B14F-4D97-AF65-F5344CB8AC3E}">
        <p14:creationId xmlns:p14="http://schemas.microsoft.com/office/powerpoint/2010/main" val="15279707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BAA9379-D7A4-4090-9ED4-3C4F82E2A3E6}"/>
              </a:ext>
            </a:extLst>
          </p:cNvPr>
          <p:cNvSpPr>
            <a:spLocks noGrp="1"/>
          </p:cNvSpPr>
          <p:nvPr/>
        </p:nvSpPr>
        <p:spPr>
          <a:xfrm>
            <a:off x="838200" y="361950"/>
            <a:ext cx="10896600" cy="571500"/>
          </a:xfrm>
          <a:prstGeom prst="rect">
            <a:avLst/>
          </a:prstGeom>
          <a:noFill/>
          <a:ln w="0">
            <a:noFill/>
          </a:ln>
        </p:spPr>
        <p:txBody>
          <a:bodyPr/>
          <a:lstStyle>
            <a:defPPr>
              <a:defRPr sz="2775" b="1">
                <a:solidFill>
                  <a:srgbClr val="173344"/>
                </a:solidFill>
                <a:latin typeface="Arial"/>
                <a:ea typeface="Arial"/>
                <a:cs typeface="Arial"/>
              </a:defRPr>
            </a:defPPr>
            <a:lvl1pPr>
              <a:defRPr sz="2775" b="1">
                <a:solidFill>
                  <a:srgbClr val="173344"/>
                </a:solidFill>
                <a:latin typeface="Arial"/>
                <a:ea typeface="Arial"/>
                <a:cs typeface="Arial"/>
              </a:defRPr>
            </a:lvl1pPr>
            <a:lvl2pPr>
              <a:defRPr sz="2775" b="1">
                <a:solidFill>
                  <a:srgbClr val="173344"/>
                </a:solidFill>
                <a:latin typeface="Arial"/>
                <a:ea typeface="Arial"/>
                <a:cs typeface="Arial"/>
              </a:defRPr>
            </a:lvl2pPr>
            <a:lvl3pPr>
              <a:defRPr sz="2775" b="1">
                <a:solidFill>
                  <a:srgbClr val="173344"/>
                </a:solidFill>
                <a:latin typeface="Arial"/>
                <a:ea typeface="Arial"/>
                <a:cs typeface="Arial"/>
              </a:defRPr>
            </a:lvl3pPr>
            <a:lvl4pPr>
              <a:defRPr sz="2775" b="1">
                <a:solidFill>
                  <a:srgbClr val="173344"/>
                </a:solidFill>
                <a:latin typeface="Arial"/>
                <a:ea typeface="Arial"/>
                <a:cs typeface="Arial"/>
              </a:defRPr>
            </a:lvl4pPr>
            <a:lvl5pPr>
              <a:defRPr sz="2775" b="1">
                <a:solidFill>
                  <a:srgbClr val="173344"/>
                </a:solidFill>
                <a:latin typeface="Arial"/>
                <a:ea typeface="Arial"/>
                <a:cs typeface="Arial"/>
              </a:defRPr>
            </a:lvl5pPr>
            <a:lvl6pPr>
              <a:defRPr sz="2775" b="1">
                <a:solidFill>
                  <a:srgbClr val="173344"/>
                </a:solidFill>
                <a:latin typeface="Arial"/>
                <a:ea typeface="Arial"/>
                <a:cs typeface="Arial"/>
              </a:defRPr>
            </a:lvl6pPr>
            <a:lvl7pPr>
              <a:defRPr sz="2775" b="1">
                <a:solidFill>
                  <a:srgbClr val="173344"/>
                </a:solidFill>
                <a:latin typeface="Arial"/>
                <a:ea typeface="Arial"/>
                <a:cs typeface="Arial"/>
              </a:defRPr>
            </a:lvl7pPr>
            <a:lvl8pPr>
              <a:defRPr sz="2775" b="1">
                <a:solidFill>
                  <a:srgbClr val="173344"/>
                </a:solidFill>
                <a:latin typeface="Arial"/>
                <a:ea typeface="Arial"/>
                <a:cs typeface="Arial"/>
              </a:defRPr>
            </a:lvl8pPr>
            <a:lvl9pPr>
              <a:defRPr sz="2775" b="1">
                <a:solidFill>
                  <a:srgbClr val="173344"/>
                </a:solidFill>
                <a:latin typeface="Arial"/>
                <a:ea typeface="Arial"/>
                <a:cs typeface="Arial"/>
              </a:defRPr>
            </a:lvl9pPr>
          </a:lstStyle>
          <a:p>
            <a:pPr>
              <a:defRPr sz="2775" b="1">
                <a:solidFill>
                  <a:srgbClr val="173344"/>
                </a:solidFill>
                <a:latin typeface="Arial"/>
                <a:ea typeface="Arial"/>
                <a:cs typeface="Arial"/>
              </a:defRPr>
            </a:pPr>
            <a:r>
              <a:rPr sz="2400" b="1">
                <a:solidFill>
                  <a:srgbClr val="000000"/>
                </a:solidFill>
                <a:latin typeface="Calibri" panose="020F0502020204030204" pitchFamily="34" charset="0"/>
                <a:ea typeface="Arial"/>
                <a:cs typeface="Arial"/>
              </a:rPr>
              <a:t>Appendix: transit and loiter time accounting</a:t>
            </a:r>
          </a:p>
        </p:txBody>
      </p:sp>
      <p:sp>
        <p:nvSpPr>
          <p:cNvPr id="2" name="Rectangle 1">
            <a:extLst>
              <a:ext uri="{FF2B5EF4-FFF2-40B4-BE49-F238E27FC236}">
                <a16:creationId xmlns:a16="http://schemas.microsoft.com/office/drawing/2014/main" id="{4EA4D2BF-9016-465D-B331-50581E76D902}"/>
              </a:ext>
            </a:extLst>
          </p:cNvPr>
          <p:cNvSpPr>
            <a:spLocks noGrp="1"/>
          </p:cNvSpPr>
          <p:nvPr/>
        </p:nvSpPr>
        <p:spPr>
          <a:xfrm>
            <a:off x="476250" y="876300"/>
            <a:ext cx="11239500" cy="523875"/>
          </a:xfrm>
          <a:prstGeom prst="rect">
            <a:avLst/>
          </a:prstGeom>
          <a:noFill/>
          <a:ln w="0">
            <a:noFill/>
          </a:ln>
        </p:spPr>
        <p:txBody>
          <a:bodyPr/>
          <a:lstStyle>
            <a:defPPr>
              <a:defRPr sz="1575" b="0">
                <a:solidFill>
                  <a:srgbClr val="536675"/>
                </a:solidFill>
                <a:latin typeface="Arial"/>
                <a:ea typeface="Arial"/>
                <a:cs typeface="Arial"/>
              </a:defRPr>
            </a:defPPr>
            <a:lvl1pPr>
              <a:defRPr sz="1575" b="0">
                <a:solidFill>
                  <a:srgbClr val="536675"/>
                </a:solidFill>
                <a:latin typeface="Arial"/>
                <a:ea typeface="Arial"/>
                <a:cs typeface="Arial"/>
              </a:defRPr>
            </a:lvl1pPr>
            <a:lvl2pPr>
              <a:defRPr sz="1575" b="0">
                <a:solidFill>
                  <a:srgbClr val="536675"/>
                </a:solidFill>
                <a:latin typeface="Arial"/>
                <a:ea typeface="Arial"/>
                <a:cs typeface="Arial"/>
              </a:defRPr>
            </a:lvl2pPr>
            <a:lvl3pPr>
              <a:defRPr sz="1575" b="0">
                <a:solidFill>
                  <a:srgbClr val="536675"/>
                </a:solidFill>
                <a:latin typeface="Arial"/>
                <a:ea typeface="Arial"/>
                <a:cs typeface="Arial"/>
              </a:defRPr>
            </a:lvl3pPr>
            <a:lvl4pPr>
              <a:defRPr sz="1575" b="0">
                <a:solidFill>
                  <a:srgbClr val="536675"/>
                </a:solidFill>
                <a:latin typeface="Arial"/>
                <a:ea typeface="Arial"/>
                <a:cs typeface="Arial"/>
              </a:defRPr>
            </a:lvl4pPr>
            <a:lvl5pPr>
              <a:defRPr sz="1575" b="0">
                <a:solidFill>
                  <a:srgbClr val="536675"/>
                </a:solidFill>
                <a:latin typeface="Arial"/>
                <a:ea typeface="Arial"/>
                <a:cs typeface="Arial"/>
              </a:defRPr>
            </a:lvl5pPr>
            <a:lvl6pPr>
              <a:defRPr sz="1575" b="0">
                <a:solidFill>
                  <a:srgbClr val="536675"/>
                </a:solidFill>
                <a:latin typeface="Arial"/>
                <a:ea typeface="Arial"/>
                <a:cs typeface="Arial"/>
              </a:defRPr>
            </a:lvl6pPr>
            <a:lvl7pPr>
              <a:defRPr sz="1575" b="0">
                <a:solidFill>
                  <a:srgbClr val="536675"/>
                </a:solidFill>
                <a:latin typeface="Arial"/>
                <a:ea typeface="Arial"/>
                <a:cs typeface="Arial"/>
              </a:defRPr>
            </a:lvl7pPr>
            <a:lvl8pPr>
              <a:defRPr sz="1575" b="0">
                <a:solidFill>
                  <a:srgbClr val="536675"/>
                </a:solidFill>
                <a:latin typeface="Arial"/>
                <a:ea typeface="Arial"/>
                <a:cs typeface="Arial"/>
              </a:defRPr>
            </a:lvl8pPr>
            <a:lvl9pPr>
              <a:defRPr sz="1575" b="0">
                <a:solidFill>
                  <a:srgbClr val="536675"/>
                </a:solidFill>
                <a:latin typeface="Arial"/>
                <a:ea typeface="Arial"/>
                <a:cs typeface="Arial"/>
              </a:defRPr>
            </a:lvl9pPr>
          </a:lstStyle>
          <a:p>
            <a:pPr>
              <a:defRPr sz="1575" b="0">
                <a:solidFill>
                  <a:srgbClr val="536675"/>
                </a:solidFill>
                <a:latin typeface="Arial"/>
                <a:ea typeface="Arial"/>
                <a:cs typeface="Arial"/>
              </a:defRPr>
            </a:pPr>
            <a:r>
              <a:rPr sz="1575" b="0">
                <a:solidFill>
                  <a:srgbClr val="000000"/>
                </a:solidFill>
                <a:latin typeface="Calibri" panose="020F0502020204030204" pitchFamily="34" charset="0"/>
                <a:ea typeface="Arial"/>
                <a:cs typeface="Arial"/>
              </a:rPr>
              <a:t>80 km legs at 160 km/h take 60 min total; that mission still needs a sizing rerun.</a:t>
            </a:r>
          </a:p>
        </p:txBody>
      </p:sp>
      <p:sp>
        <p:nvSpPr>
          <p:cNvPr id="3" name="Rectangle 2">
            <a:extLst>
              <a:ext uri="{FF2B5EF4-FFF2-40B4-BE49-F238E27FC236}">
                <a16:creationId xmlns:a16="http://schemas.microsoft.com/office/drawing/2014/main" id="{3765A72F-5ADC-4614-B291-BBF48BBDB4D4}"/>
              </a:ext>
            </a:extLst>
          </p:cNvPr>
          <p:cNvSpPr>
            <a:spLocks noGrp="1"/>
          </p:cNvSpPr>
          <p:nvPr/>
        </p:nvSpPr>
        <p:spPr>
          <a:xfrm>
            <a:off x="476250" y="6524625"/>
            <a:ext cx="10477500" cy="190500"/>
          </a:xfrm>
          <a:prstGeom prst="rect">
            <a:avLst/>
          </a:prstGeom>
          <a:noFill/>
          <a:ln w="0">
            <a:noFill/>
          </a:ln>
        </p:spPr>
        <p:txBody>
          <a:bodyPr/>
          <a:lstStyle>
            <a:defPPr>
              <a:defRPr sz="975" b="0">
                <a:solidFill>
                  <a:srgbClr val="536675"/>
                </a:solidFill>
                <a:latin typeface="Arial"/>
                <a:ea typeface="Arial"/>
                <a:cs typeface="Arial"/>
              </a:defRPr>
            </a:defPPr>
            <a:lvl1pPr>
              <a:defRPr sz="975" b="0">
                <a:solidFill>
                  <a:srgbClr val="536675"/>
                </a:solidFill>
                <a:latin typeface="Arial"/>
                <a:ea typeface="Arial"/>
                <a:cs typeface="Arial"/>
              </a:defRPr>
            </a:lvl1pPr>
            <a:lvl2pPr>
              <a:defRPr sz="975" b="0">
                <a:solidFill>
                  <a:srgbClr val="536675"/>
                </a:solidFill>
                <a:latin typeface="Arial"/>
                <a:ea typeface="Arial"/>
                <a:cs typeface="Arial"/>
              </a:defRPr>
            </a:lvl2pPr>
            <a:lvl3pPr>
              <a:defRPr sz="975" b="0">
                <a:solidFill>
                  <a:srgbClr val="536675"/>
                </a:solidFill>
                <a:latin typeface="Arial"/>
                <a:ea typeface="Arial"/>
                <a:cs typeface="Arial"/>
              </a:defRPr>
            </a:lvl3pPr>
            <a:lvl4pPr>
              <a:defRPr sz="975" b="0">
                <a:solidFill>
                  <a:srgbClr val="536675"/>
                </a:solidFill>
                <a:latin typeface="Arial"/>
                <a:ea typeface="Arial"/>
                <a:cs typeface="Arial"/>
              </a:defRPr>
            </a:lvl4pPr>
            <a:lvl5pPr>
              <a:defRPr sz="975" b="0">
                <a:solidFill>
                  <a:srgbClr val="536675"/>
                </a:solidFill>
                <a:latin typeface="Arial"/>
                <a:ea typeface="Arial"/>
                <a:cs typeface="Arial"/>
              </a:defRPr>
            </a:lvl5pPr>
            <a:lvl6pPr>
              <a:defRPr sz="975" b="0">
                <a:solidFill>
                  <a:srgbClr val="536675"/>
                </a:solidFill>
                <a:latin typeface="Arial"/>
                <a:ea typeface="Arial"/>
                <a:cs typeface="Arial"/>
              </a:defRPr>
            </a:lvl6pPr>
            <a:lvl7pPr>
              <a:defRPr sz="975" b="0">
                <a:solidFill>
                  <a:srgbClr val="536675"/>
                </a:solidFill>
                <a:latin typeface="Arial"/>
                <a:ea typeface="Arial"/>
                <a:cs typeface="Arial"/>
              </a:defRPr>
            </a:lvl7pPr>
            <a:lvl8pPr>
              <a:defRPr sz="975" b="0">
                <a:solidFill>
                  <a:srgbClr val="536675"/>
                </a:solidFill>
                <a:latin typeface="Arial"/>
                <a:ea typeface="Arial"/>
                <a:cs typeface="Arial"/>
              </a:defRPr>
            </a:lvl8pPr>
            <a:lvl9pPr>
              <a:defRPr sz="975" b="0">
                <a:solidFill>
                  <a:srgbClr val="536675"/>
                </a:solidFill>
                <a:latin typeface="Arial"/>
                <a:ea typeface="Arial"/>
                <a:cs typeface="Arial"/>
              </a:defRPr>
            </a:lvl9pPr>
          </a:lstStyle>
          <a:p>
            <a:pPr>
              <a:defRPr sz="975" b="0">
                <a:solidFill>
                  <a:srgbClr val="536675"/>
                </a:solidFill>
                <a:latin typeface="Arial"/>
                <a:ea typeface="Arial"/>
                <a:cs typeface="Arial"/>
              </a:defRPr>
            </a:pPr>
            <a:endParaRPr sz="975" b="0">
              <a:solidFill>
                <a:srgbClr val="000000"/>
              </a:solidFill>
              <a:latin typeface="Calibri" panose="020F0502020204030204" pitchFamily="34" charset="0"/>
              <a:ea typeface="Arial"/>
              <a:cs typeface="Arial"/>
            </a:endParaRPr>
          </a:p>
        </p:txBody>
      </p:sp>
      <p:sp>
        <p:nvSpPr>
          <p:cNvPr id="4" name="Rectangle 3">
            <a:extLst>
              <a:ext uri="{FF2B5EF4-FFF2-40B4-BE49-F238E27FC236}">
                <a16:creationId xmlns:a16="http://schemas.microsoft.com/office/drawing/2014/main" id="{5B08AD6D-D06A-498C-9175-B5A329A9491F}"/>
              </a:ext>
            </a:extLst>
          </p:cNvPr>
          <p:cNvSpPr>
            <a:spLocks noGrp="1"/>
          </p:cNvSpPr>
          <p:nvPr/>
        </p:nvSpPr>
        <p:spPr>
          <a:xfrm>
            <a:off x="11334750" y="6496050"/>
            <a:ext cx="381000" cy="228600"/>
          </a:xfrm>
          <a:prstGeom prst="rect">
            <a:avLst/>
          </a:prstGeom>
          <a:noFill/>
          <a:ln w="0">
            <a:noFill/>
          </a:ln>
        </p:spPr>
        <p:txBody>
          <a:bodyPr/>
          <a:lstStyle>
            <a:defPPr>
              <a:defRPr sz="1200" b="0">
                <a:solidFill>
                  <a:srgbClr val="536675"/>
                </a:solidFill>
                <a:latin typeface="Arial"/>
                <a:ea typeface="Arial"/>
                <a:cs typeface="Arial"/>
              </a:defRPr>
            </a:defPPr>
            <a:lvl1pPr>
              <a:defRPr sz="1200" b="0">
                <a:solidFill>
                  <a:srgbClr val="536675"/>
                </a:solidFill>
                <a:latin typeface="Arial"/>
                <a:ea typeface="Arial"/>
                <a:cs typeface="Arial"/>
              </a:defRPr>
            </a:lvl1pPr>
            <a:lvl2pPr>
              <a:defRPr sz="1200" b="0">
                <a:solidFill>
                  <a:srgbClr val="536675"/>
                </a:solidFill>
                <a:latin typeface="Arial"/>
                <a:ea typeface="Arial"/>
                <a:cs typeface="Arial"/>
              </a:defRPr>
            </a:lvl2pPr>
            <a:lvl3pPr>
              <a:defRPr sz="1200" b="0">
                <a:solidFill>
                  <a:srgbClr val="536675"/>
                </a:solidFill>
                <a:latin typeface="Arial"/>
                <a:ea typeface="Arial"/>
                <a:cs typeface="Arial"/>
              </a:defRPr>
            </a:lvl3pPr>
            <a:lvl4pPr>
              <a:defRPr sz="1200" b="0">
                <a:solidFill>
                  <a:srgbClr val="536675"/>
                </a:solidFill>
                <a:latin typeface="Arial"/>
                <a:ea typeface="Arial"/>
                <a:cs typeface="Arial"/>
              </a:defRPr>
            </a:lvl4pPr>
            <a:lvl5pPr>
              <a:defRPr sz="1200" b="0">
                <a:solidFill>
                  <a:srgbClr val="536675"/>
                </a:solidFill>
                <a:latin typeface="Arial"/>
                <a:ea typeface="Arial"/>
                <a:cs typeface="Arial"/>
              </a:defRPr>
            </a:lvl5pPr>
            <a:lvl6pPr>
              <a:defRPr sz="1200" b="0">
                <a:solidFill>
                  <a:srgbClr val="536675"/>
                </a:solidFill>
                <a:latin typeface="Arial"/>
                <a:ea typeface="Arial"/>
                <a:cs typeface="Arial"/>
              </a:defRPr>
            </a:lvl6pPr>
            <a:lvl7pPr>
              <a:defRPr sz="1200" b="0">
                <a:solidFill>
                  <a:srgbClr val="536675"/>
                </a:solidFill>
                <a:latin typeface="Arial"/>
                <a:ea typeface="Arial"/>
                <a:cs typeface="Arial"/>
              </a:defRPr>
            </a:lvl7pPr>
            <a:lvl8pPr>
              <a:defRPr sz="1200" b="0">
                <a:solidFill>
                  <a:srgbClr val="536675"/>
                </a:solidFill>
                <a:latin typeface="Arial"/>
                <a:ea typeface="Arial"/>
                <a:cs typeface="Arial"/>
              </a:defRPr>
            </a:lvl8pPr>
            <a:lvl9pPr>
              <a:defRPr sz="1200" b="0">
                <a:solidFill>
                  <a:srgbClr val="536675"/>
                </a:solidFill>
                <a:latin typeface="Arial"/>
                <a:ea typeface="Arial"/>
                <a:cs typeface="Arial"/>
              </a:defRPr>
            </a:lvl9pPr>
          </a:lstStyle>
          <a:p>
            <a:pPr>
              <a:defRPr sz="1200" b="0">
                <a:solidFill>
                  <a:srgbClr val="536675"/>
                </a:solidFill>
                <a:latin typeface="Arial"/>
                <a:ea typeface="Arial"/>
                <a:cs typeface="Arial"/>
              </a:defRPr>
            </a:pPr>
            <a:endParaRPr sz="1200" b="0">
              <a:solidFill>
                <a:srgbClr val="000000"/>
              </a:solidFill>
              <a:latin typeface="Calibri" panose="020F0502020204030204" pitchFamily="34" charset="0"/>
              <a:ea typeface="Arial"/>
              <a:cs typeface="Arial"/>
            </a:endParaRPr>
          </a:p>
        </p:txBody>
      </p:sp>
      <p:graphicFrame>
        <p:nvGraphicFramePr>
          <p:cNvPr id="5" name="Table 4">
            <a:extLst>
              <a:ext uri="{FF2B5EF4-FFF2-40B4-BE49-F238E27FC236}">
                <a16:creationId xmlns:a16="http://schemas.microsoft.com/office/drawing/2014/main" id="{2B99D84E-4C98-4B14-A610-E5E420DF2EB8}"/>
              </a:ext>
            </a:extLst>
          </p:cNvPr>
          <p:cNvGraphicFramePr/>
          <p:nvPr>
            <p:extLst>
              <p:ext uri="{D42A27DB-BD31-4B8C-83A1-F6EECF244321}">
                <p14:modId xmlns:p14="http://schemas.microsoft.com/office/powerpoint/2010/main" val="1211672524"/>
              </p:ext>
            </p:extLst>
          </p:nvPr>
        </p:nvGraphicFramePr>
        <p:xfrm>
          <a:off x="476250" y="1571625"/>
          <a:ext cx="11239500" cy="2333624"/>
        </p:xfrm>
        <a:graphic>
          <a:graphicData uri="http://schemas.openxmlformats.org/drawingml/2006/table">
            <a:tbl>
              <a:tblPr/>
              <a:tblGrid>
                <a:gridCol w="5334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3619500">
                  <a:extLst>
                    <a:ext uri="{9D8B030D-6E8A-4147-A177-3AD203B41FA5}">
                      <a16:colId xmlns:a16="http://schemas.microsoft.com/office/drawing/2014/main" val="20002"/>
                    </a:ext>
                  </a:extLst>
                </a:gridCol>
              </a:tblGrid>
              <a:tr h="583406">
                <a:tc>
                  <a:txBody>
                    <a:bodyPr/>
                    <a:lstStyle/>
                    <a:p>
                      <a:r>
                        <a:rPr sz="1425" b="1">
                          <a:solidFill>
                            <a:srgbClr val="000000"/>
                          </a:solidFill>
                          <a:latin typeface="Calibri" panose="020F0502020204030204" pitchFamily="34" charset="0"/>
                          <a:ea typeface="Arial"/>
                          <a:cs typeface="Arial"/>
                        </a:rPr>
                        <a:t>Mission interpretation</a:t>
                      </a:r>
                    </a:p>
                  </a:txBody>
                  <a:tcPr>
                    <a:lnL w="9525">
                      <a:solidFill>
                        <a:srgbClr val="DCE4E8"/>
                      </a:solidFill>
                    </a:lnL>
                    <a:lnR w="9525">
                      <a:solidFill>
                        <a:srgbClr val="DCE4E8"/>
                      </a:solidFill>
                    </a:lnR>
                    <a:lnT w="9525">
                      <a:solidFill>
                        <a:srgbClr val="DCE4E8"/>
                      </a:solidFill>
                    </a:lnT>
                    <a:lnB w="9525">
                      <a:solidFill>
                        <a:srgbClr val="DCE4E8"/>
                      </a:solidFill>
                    </a:lnB>
                    <a:solidFill>
                      <a:srgbClr val="D9D9D9"/>
                    </a:solidFill>
                  </a:tcPr>
                </a:tc>
                <a:tc>
                  <a:txBody>
                    <a:bodyPr/>
                    <a:lstStyle/>
                    <a:p>
                      <a:r>
                        <a:rPr sz="1425" b="1">
                          <a:solidFill>
                            <a:srgbClr val="000000"/>
                          </a:solidFill>
                          <a:latin typeface="Calibri" panose="020F0502020204030204" pitchFamily="34" charset="0"/>
                          <a:ea typeface="Arial"/>
                          <a:cs typeface="Arial"/>
                        </a:rPr>
                        <a:t>Transit time</a:t>
                      </a:r>
                    </a:p>
                  </a:txBody>
                  <a:tcPr>
                    <a:lnL w="9525" cap="flat" cmpd="sng" algn="ctr">
                      <a:solidFill>
                        <a:srgbClr val="DCE4E8"/>
                      </a:solidFill>
                      <a:prstDash val="solid"/>
                      <a:round/>
                      <a:headEnd type="none" w="med" len="med"/>
                      <a:tailEnd type="none" w="med" len="med"/>
                    </a:lnL>
                    <a:lnR w="9525">
                      <a:solidFill>
                        <a:srgbClr val="DCE4E8"/>
                      </a:solidFill>
                    </a:lnR>
                    <a:lnT w="9525">
                      <a:solidFill>
                        <a:srgbClr val="DCE4E8"/>
                      </a:solidFill>
                    </a:lnT>
                    <a:lnB w="9525">
                      <a:solidFill>
                        <a:srgbClr val="DCE4E8"/>
                      </a:solidFill>
                    </a:lnB>
                    <a:solidFill>
                      <a:srgbClr val="D9D9D9"/>
                    </a:solidFill>
                  </a:tcPr>
                </a:tc>
                <a:tc>
                  <a:txBody>
                    <a:bodyPr/>
                    <a:lstStyle/>
                    <a:p>
                      <a:r>
                        <a:rPr sz="1425" b="1">
                          <a:solidFill>
                            <a:srgbClr val="000000"/>
                          </a:solidFill>
                          <a:latin typeface="Calibri" panose="020F0502020204030204" pitchFamily="34" charset="0"/>
                          <a:ea typeface="Arial"/>
                          <a:cs typeface="Arial"/>
                        </a:rPr>
                        <a:t>Remaining level-flight loiter</a:t>
                      </a:r>
                    </a:p>
                  </a:txBody>
                  <a:tcPr>
                    <a:lnL w="9525" cap="flat" cmpd="sng" algn="ctr">
                      <a:solidFill>
                        <a:srgbClr val="DCE4E8"/>
                      </a:solidFill>
                      <a:prstDash val="solid"/>
                      <a:round/>
                      <a:headEnd type="none" w="med" len="med"/>
                      <a:tailEnd type="none" w="med" len="med"/>
                    </a:lnL>
                    <a:lnR w="9525">
                      <a:solidFill>
                        <a:srgbClr val="DCE4E8"/>
                      </a:solidFill>
                    </a:lnR>
                    <a:lnT w="9525">
                      <a:solidFill>
                        <a:srgbClr val="DCE4E8"/>
                      </a:solidFill>
                    </a:lnT>
                    <a:lnB w="9525">
                      <a:solidFill>
                        <a:srgbClr val="DCE4E8"/>
                      </a:solidFill>
                    </a:lnB>
                    <a:solidFill>
                      <a:srgbClr val="D9D9D9"/>
                    </a:solidFill>
                  </a:tcPr>
                </a:tc>
                <a:extLst>
                  <a:ext uri="{0D108BD9-81ED-4DB2-BD59-A6C34878D82A}">
                    <a16:rowId xmlns:a16="http://schemas.microsoft.com/office/drawing/2014/main" val="10000"/>
                  </a:ext>
                </a:extLst>
              </a:tr>
              <a:tr h="583406">
                <a:tc>
                  <a:txBody>
                    <a:bodyPr/>
                    <a:lstStyle/>
                    <a:p>
                      <a:r>
                        <a:rPr lang="en-US" sz="1425" b="0">
                          <a:solidFill>
                            <a:srgbClr val="000000"/>
                          </a:solidFill>
                          <a:latin typeface="Calibri" panose="020F0502020204030204" pitchFamily="34" charset="0"/>
                          <a:ea typeface="Arial"/>
                          <a:cs typeface="Arial"/>
                        </a:rPr>
                        <a:t>Corrected tiltrotor</a:t>
                      </a:r>
                      <a:r>
                        <a:rPr sz="1425" b="0">
                          <a:solidFill>
                            <a:srgbClr val="000000"/>
                          </a:solidFill>
                          <a:latin typeface="Calibri" panose="020F0502020204030204" pitchFamily="34" charset="0"/>
                          <a:ea typeface="Arial"/>
                          <a:cs typeface="Arial"/>
                        </a:rPr>
                        <a:t>: 70 + 70 km at 140 km/h</a:t>
                      </a: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sz="1425" b="0">
                          <a:solidFill>
                            <a:srgbClr val="000000"/>
                          </a:solidFill>
                          <a:latin typeface="Calibri" panose="020F0502020204030204" pitchFamily="34" charset="0"/>
                          <a:ea typeface="Arial"/>
                          <a:cs typeface="Arial"/>
                        </a:rPr>
                        <a:t>60.00 min</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187.60</a:t>
                      </a:r>
                      <a:r>
                        <a:rPr sz="1425" b="0">
                          <a:solidFill>
                            <a:srgbClr val="000000"/>
                          </a:solidFill>
                          <a:latin typeface="Calibri" panose="020F0502020204030204" pitchFamily="34" charset="0"/>
                          <a:ea typeface="Arial"/>
                          <a:cs typeface="Arial"/>
                        </a:rPr>
                        <a:t> min</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extLst>
                  <a:ext uri="{0D108BD9-81ED-4DB2-BD59-A6C34878D82A}">
                    <a16:rowId xmlns:a16="http://schemas.microsoft.com/office/drawing/2014/main" val="10001"/>
                  </a:ext>
                </a:extLst>
              </a:tr>
              <a:tr h="583406">
                <a:tc>
                  <a:txBody>
                    <a:bodyPr/>
                    <a:lstStyle/>
                    <a:p>
                      <a:r>
                        <a:rPr sz="1425" b="0">
                          <a:solidFill>
                            <a:srgbClr val="000000"/>
                          </a:solidFill>
                          <a:latin typeface="Calibri" panose="020F0502020204030204" pitchFamily="34" charset="0"/>
                          <a:ea typeface="Arial"/>
                          <a:cs typeface="Arial"/>
                        </a:rPr>
                        <a:t>Target: 80 + 80 km at 140 km/h</a:t>
                      </a: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sz="1425" b="0">
                          <a:solidFill>
                            <a:srgbClr val="000000"/>
                          </a:solidFill>
                          <a:latin typeface="Calibri" panose="020F0502020204030204" pitchFamily="34" charset="0"/>
                          <a:ea typeface="Arial"/>
                          <a:cs typeface="Arial"/>
                        </a:rPr>
                        <a:t>68.57 min</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lang="en-US" sz="1425" b="0">
                          <a:solidFill>
                            <a:srgbClr val="000000"/>
                          </a:solidFill>
                          <a:latin typeface="Calibri" panose="020F0502020204030204" pitchFamily="34" charset="0"/>
                          <a:ea typeface="Arial"/>
                          <a:cs typeface="Arial"/>
                        </a:rPr>
                        <a:t>179.03</a:t>
                      </a:r>
                      <a:r>
                        <a:rPr sz="1425" b="0">
                          <a:solidFill>
                            <a:srgbClr val="000000"/>
                          </a:solidFill>
                          <a:latin typeface="Calibri" panose="020F0502020204030204" pitchFamily="34" charset="0"/>
                          <a:ea typeface="Arial"/>
                          <a:cs typeface="Arial"/>
                        </a:rPr>
                        <a:t> min</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extLst>
                  <a:ext uri="{0D108BD9-81ED-4DB2-BD59-A6C34878D82A}">
                    <a16:rowId xmlns:a16="http://schemas.microsoft.com/office/drawing/2014/main" val="10002"/>
                  </a:ext>
                </a:extLst>
              </a:tr>
              <a:tr h="583406">
                <a:tc>
                  <a:txBody>
                    <a:bodyPr/>
                    <a:lstStyle/>
                    <a:p>
                      <a:r>
                        <a:rPr sz="1425" b="0">
                          <a:solidFill>
                            <a:srgbClr val="000000"/>
                          </a:solidFill>
                          <a:latin typeface="Calibri" panose="020F0502020204030204" pitchFamily="34" charset="0"/>
                          <a:ea typeface="Arial"/>
                          <a:cs typeface="Arial"/>
                        </a:rPr>
                        <a:t>Target: 80 + 80 km at 160 km/h</a:t>
                      </a: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sz="1425" b="0">
                          <a:solidFill>
                            <a:srgbClr val="000000"/>
                          </a:solidFill>
                          <a:latin typeface="Calibri" panose="020F0502020204030204" pitchFamily="34" charset="0"/>
                          <a:ea typeface="Arial"/>
                          <a:cs typeface="Arial"/>
                        </a:rPr>
                        <a:t>60.00 min</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lang="en-US" sz="1425" b="0">
                          <a:solidFill>
                            <a:srgbClr val="000000"/>
                          </a:solidFill>
                          <a:latin typeface="Calibri" panose="020F0502020204030204" pitchFamily="34" charset="0"/>
                          <a:ea typeface="Arial"/>
                          <a:cs typeface="Arial"/>
                        </a:rPr>
                        <a:t>187.60</a:t>
                      </a:r>
                      <a:r>
                        <a:rPr sz="1425" b="0">
                          <a:solidFill>
                            <a:srgbClr val="000000"/>
                          </a:solidFill>
                          <a:latin typeface="Calibri" panose="020F0502020204030204" pitchFamily="34" charset="0"/>
                          <a:ea typeface="Arial"/>
                          <a:cs typeface="Arial"/>
                        </a:rPr>
                        <a:t> min</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extLst>
                  <a:ext uri="{0D108BD9-81ED-4DB2-BD59-A6C34878D82A}">
                    <a16:rowId xmlns:a16="http://schemas.microsoft.com/office/drawing/2014/main" val="10003"/>
                  </a:ext>
                </a:extLst>
              </a:tr>
            </a:tbl>
          </a:graphicData>
        </a:graphic>
      </p:graphicFrame>
      <p:sp>
        <p:nvSpPr>
          <p:cNvPr id="6" name="Rectangle 5">
            <a:extLst>
              <a:ext uri="{FF2B5EF4-FFF2-40B4-BE49-F238E27FC236}">
                <a16:creationId xmlns:a16="http://schemas.microsoft.com/office/drawing/2014/main" id="{D6D580B0-D00E-4665-925C-CB4BCEE80F61}"/>
              </a:ext>
            </a:extLst>
          </p:cNvPr>
          <p:cNvSpPr>
            <a:spLocks noGrp="1"/>
          </p:cNvSpPr>
          <p:nvPr/>
        </p:nvSpPr>
        <p:spPr>
          <a:xfrm>
            <a:off x="523875" y="4210050"/>
            <a:ext cx="11049000" cy="714375"/>
          </a:xfrm>
          <a:prstGeom prst="rect">
            <a:avLst/>
          </a:prstGeom>
          <a:noFill/>
          <a:ln w="0">
            <a:noFill/>
          </a:ln>
        </p:spPr>
        <p:txBody>
          <a:bodyPr/>
          <a:lstStyle>
            <a:defPPr>
              <a:defRPr sz="2025" b="1">
                <a:solidFill>
                  <a:srgbClr val="173344"/>
                </a:solidFill>
                <a:latin typeface="Arial"/>
                <a:ea typeface="Arial"/>
                <a:cs typeface="Arial"/>
              </a:defRPr>
            </a:defPPr>
            <a:lvl1pPr>
              <a:defRPr sz="2025" b="1">
                <a:solidFill>
                  <a:srgbClr val="173344"/>
                </a:solidFill>
                <a:latin typeface="Arial"/>
                <a:ea typeface="Arial"/>
                <a:cs typeface="Arial"/>
              </a:defRPr>
            </a:lvl1pPr>
            <a:lvl2pPr>
              <a:defRPr sz="2025" b="1">
                <a:solidFill>
                  <a:srgbClr val="173344"/>
                </a:solidFill>
                <a:latin typeface="Arial"/>
                <a:ea typeface="Arial"/>
                <a:cs typeface="Arial"/>
              </a:defRPr>
            </a:lvl2pPr>
            <a:lvl3pPr>
              <a:defRPr sz="2025" b="1">
                <a:solidFill>
                  <a:srgbClr val="173344"/>
                </a:solidFill>
                <a:latin typeface="Arial"/>
                <a:ea typeface="Arial"/>
                <a:cs typeface="Arial"/>
              </a:defRPr>
            </a:lvl3pPr>
            <a:lvl4pPr>
              <a:defRPr sz="2025" b="1">
                <a:solidFill>
                  <a:srgbClr val="173344"/>
                </a:solidFill>
                <a:latin typeface="Arial"/>
                <a:ea typeface="Arial"/>
                <a:cs typeface="Arial"/>
              </a:defRPr>
            </a:lvl4pPr>
            <a:lvl5pPr>
              <a:defRPr sz="2025" b="1">
                <a:solidFill>
                  <a:srgbClr val="173344"/>
                </a:solidFill>
                <a:latin typeface="Arial"/>
                <a:ea typeface="Arial"/>
                <a:cs typeface="Arial"/>
              </a:defRPr>
            </a:lvl5pPr>
            <a:lvl6pPr>
              <a:defRPr sz="2025" b="1">
                <a:solidFill>
                  <a:srgbClr val="173344"/>
                </a:solidFill>
                <a:latin typeface="Arial"/>
                <a:ea typeface="Arial"/>
                <a:cs typeface="Arial"/>
              </a:defRPr>
            </a:lvl6pPr>
            <a:lvl7pPr>
              <a:defRPr sz="2025" b="1">
                <a:solidFill>
                  <a:srgbClr val="173344"/>
                </a:solidFill>
                <a:latin typeface="Arial"/>
                <a:ea typeface="Arial"/>
                <a:cs typeface="Arial"/>
              </a:defRPr>
            </a:lvl7pPr>
            <a:lvl8pPr>
              <a:defRPr sz="2025" b="1">
                <a:solidFill>
                  <a:srgbClr val="173344"/>
                </a:solidFill>
                <a:latin typeface="Arial"/>
                <a:ea typeface="Arial"/>
                <a:cs typeface="Arial"/>
              </a:defRPr>
            </a:lvl8pPr>
            <a:lvl9pPr>
              <a:defRPr sz="2025" b="1">
                <a:solidFill>
                  <a:srgbClr val="173344"/>
                </a:solidFill>
                <a:latin typeface="Arial"/>
                <a:ea typeface="Arial"/>
                <a:cs typeface="Arial"/>
              </a:defRPr>
            </a:lvl9pPr>
          </a:lstStyle>
          <a:p>
            <a:pPr>
              <a:defRPr sz="2025" b="1">
                <a:solidFill>
                  <a:srgbClr val="173344"/>
                </a:solidFill>
                <a:latin typeface="Arial"/>
                <a:ea typeface="Arial"/>
                <a:cs typeface="Arial"/>
              </a:defRPr>
            </a:pPr>
            <a:r>
              <a:rPr sz="2025" b="1">
                <a:solidFill>
                  <a:srgbClr val="000000"/>
                </a:solidFill>
                <a:latin typeface="Calibri" panose="020F0502020204030204" pitchFamily="34" charset="0"/>
                <a:ea typeface="Arial"/>
                <a:cs typeface="Arial"/>
              </a:rPr>
              <a:t>300.00 min airborne − </a:t>
            </a:r>
            <a:r>
              <a:rPr lang="en-US" sz="2025" b="1">
                <a:solidFill>
                  <a:srgbClr val="000000"/>
                </a:solidFill>
                <a:latin typeface="Calibri" panose="020F0502020204030204" pitchFamily="34" charset="0"/>
                <a:ea typeface="Arial"/>
                <a:cs typeface="Arial"/>
              </a:rPr>
              <a:t>52.40</a:t>
            </a:r>
            <a:r>
              <a:rPr sz="2025" b="1">
                <a:solidFill>
                  <a:srgbClr val="000000"/>
                </a:solidFill>
                <a:latin typeface="Calibri" panose="020F0502020204030204" pitchFamily="34" charset="0"/>
                <a:ea typeface="Arial"/>
                <a:cs typeface="Arial"/>
              </a:rPr>
              <a:t> min climb / descent / conversion</a:t>
            </a:r>
          </a:p>
          <a:p>
            <a:pPr>
              <a:defRPr sz="2025" b="1">
                <a:solidFill>
                  <a:srgbClr val="173344"/>
                </a:solidFill>
                <a:latin typeface="Arial"/>
                <a:ea typeface="Arial"/>
                <a:cs typeface="Arial"/>
              </a:defRPr>
            </a:pPr>
            <a:r>
              <a:rPr sz="2025" b="1">
                <a:solidFill>
                  <a:srgbClr val="000000"/>
                </a:solidFill>
                <a:latin typeface="Calibri" panose="020F0502020204030204" pitchFamily="34" charset="0"/>
                <a:ea typeface="Arial"/>
                <a:cs typeface="Arial"/>
              </a:rPr>
              <a:t>= </a:t>
            </a:r>
            <a:r>
              <a:rPr lang="en-US" sz="2025" b="1">
                <a:solidFill>
                  <a:srgbClr val="000000"/>
                </a:solidFill>
                <a:latin typeface="Calibri" panose="020F0502020204030204" pitchFamily="34" charset="0"/>
                <a:ea typeface="Arial"/>
                <a:cs typeface="Arial"/>
              </a:rPr>
              <a:t>247.60</a:t>
            </a:r>
            <a:r>
              <a:rPr sz="2025" b="1">
                <a:solidFill>
                  <a:srgbClr val="000000"/>
                </a:solidFill>
                <a:latin typeface="Calibri" panose="020F0502020204030204" pitchFamily="34" charset="0"/>
                <a:ea typeface="Arial"/>
                <a:cs typeface="Arial"/>
              </a:rPr>
              <a:t> min available for transit and loiter.</a:t>
            </a:r>
          </a:p>
        </p:txBody>
      </p:sp>
      <p:sp>
        <p:nvSpPr>
          <p:cNvPr id="7" name="Rectangle 6">
            <a:extLst>
              <a:ext uri="{FF2B5EF4-FFF2-40B4-BE49-F238E27FC236}">
                <a16:creationId xmlns:a16="http://schemas.microsoft.com/office/drawing/2014/main" id="{344F3823-A165-423A-82E3-93C49FD8EE3A}"/>
              </a:ext>
            </a:extLst>
          </p:cNvPr>
          <p:cNvSpPr>
            <a:spLocks noGrp="1"/>
          </p:cNvSpPr>
          <p:nvPr/>
        </p:nvSpPr>
        <p:spPr>
          <a:xfrm>
            <a:off x="523875" y="5143500"/>
            <a:ext cx="11049000" cy="619125"/>
          </a:xfrm>
          <a:prstGeom prst="rect">
            <a:avLst/>
          </a:prstGeom>
          <a:noFill/>
          <a:ln w="0">
            <a:noFill/>
          </a:ln>
        </p:spPr>
        <p:txBody>
          <a:bodyPr/>
          <a:lstStyle>
            <a:defPPr>
              <a:defRPr sz="1725" b="0">
                <a:solidFill>
                  <a:srgbClr val="173344"/>
                </a:solidFill>
                <a:latin typeface="Arial"/>
                <a:ea typeface="Arial"/>
                <a:cs typeface="Arial"/>
              </a:defRPr>
            </a:defPPr>
            <a:lvl1pPr>
              <a:defRPr sz="1725" b="0">
                <a:solidFill>
                  <a:srgbClr val="173344"/>
                </a:solidFill>
                <a:latin typeface="Arial"/>
                <a:ea typeface="Arial"/>
                <a:cs typeface="Arial"/>
              </a:defRPr>
            </a:lvl1pPr>
            <a:lvl2pPr>
              <a:defRPr sz="1725" b="0">
                <a:solidFill>
                  <a:srgbClr val="173344"/>
                </a:solidFill>
                <a:latin typeface="Arial"/>
                <a:ea typeface="Arial"/>
                <a:cs typeface="Arial"/>
              </a:defRPr>
            </a:lvl2pPr>
            <a:lvl3pPr>
              <a:defRPr sz="1725" b="0">
                <a:solidFill>
                  <a:srgbClr val="173344"/>
                </a:solidFill>
                <a:latin typeface="Arial"/>
                <a:ea typeface="Arial"/>
                <a:cs typeface="Arial"/>
              </a:defRPr>
            </a:lvl3pPr>
            <a:lvl4pPr>
              <a:defRPr sz="1725" b="0">
                <a:solidFill>
                  <a:srgbClr val="173344"/>
                </a:solidFill>
                <a:latin typeface="Arial"/>
                <a:ea typeface="Arial"/>
                <a:cs typeface="Arial"/>
              </a:defRPr>
            </a:lvl4pPr>
            <a:lvl5pPr>
              <a:defRPr sz="1725" b="0">
                <a:solidFill>
                  <a:srgbClr val="173344"/>
                </a:solidFill>
                <a:latin typeface="Arial"/>
                <a:ea typeface="Arial"/>
                <a:cs typeface="Arial"/>
              </a:defRPr>
            </a:lvl5pPr>
            <a:lvl6pPr>
              <a:defRPr sz="1725" b="0">
                <a:solidFill>
                  <a:srgbClr val="173344"/>
                </a:solidFill>
                <a:latin typeface="Arial"/>
                <a:ea typeface="Arial"/>
                <a:cs typeface="Arial"/>
              </a:defRPr>
            </a:lvl6pPr>
            <a:lvl7pPr>
              <a:defRPr sz="1725" b="0">
                <a:solidFill>
                  <a:srgbClr val="173344"/>
                </a:solidFill>
                <a:latin typeface="Arial"/>
                <a:ea typeface="Arial"/>
                <a:cs typeface="Arial"/>
              </a:defRPr>
            </a:lvl7pPr>
            <a:lvl8pPr>
              <a:defRPr sz="1725" b="0">
                <a:solidFill>
                  <a:srgbClr val="173344"/>
                </a:solidFill>
                <a:latin typeface="Arial"/>
                <a:ea typeface="Arial"/>
                <a:cs typeface="Arial"/>
              </a:defRPr>
            </a:lvl8pPr>
            <a:lvl9pPr>
              <a:defRPr sz="1725" b="0">
                <a:solidFill>
                  <a:srgbClr val="173344"/>
                </a:solidFill>
                <a:latin typeface="Arial"/>
                <a:ea typeface="Arial"/>
                <a:cs typeface="Arial"/>
              </a:defRPr>
            </a:lvl9pPr>
          </a:lstStyle>
          <a:p>
            <a:pPr>
              <a:defRPr sz="1725" b="0">
                <a:solidFill>
                  <a:srgbClr val="173344"/>
                </a:solidFill>
                <a:latin typeface="Arial"/>
                <a:ea typeface="Arial"/>
                <a:cs typeface="Arial"/>
              </a:defRPr>
            </a:pPr>
            <a:r>
              <a:rPr sz="1725" b="0">
                <a:solidFill>
                  <a:srgbClr val="000000"/>
                </a:solidFill>
                <a:latin typeface="Calibri" panose="020F0502020204030204" pitchFamily="34" charset="0"/>
                <a:ea typeface="Arial"/>
                <a:cs typeface="Arial"/>
              </a:rPr>
              <a:t>Avionics backup: 20 min at 1.55 kW after normal use.</a:t>
            </a:r>
          </a:p>
          <a:p>
            <a:pPr>
              <a:defRPr sz="1725" b="0">
                <a:solidFill>
                  <a:srgbClr val="173344"/>
                </a:solidFill>
                <a:latin typeface="Arial"/>
                <a:ea typeface="Arial"/>
                <a:cs typeface="Arial"/>
              </a:defRPr>
            </a:pPr>
            <a:r>
              <a:rPr sz="1725" b="0">
                <a:solidFill>
                  <a:srgbClr val="000000"/>
                </a:solidFill>
                <a:latin typeface="Calibri" panose="020F0502020204030204" pitchFamily="34" charset="0"/>
                <a:ea typeface="Arial"/>
                <a:cs typeface="Arial"/>
              </a:rPr>
              <a:t>Additional cruise reserve: separate requirement, absent from these sizing cases.</a:t>
            </a:r>
          </a:p>
        </p:txBody>
      </p:sp>
      <p:sp>
        <p:nvSpPr>
          <p:cNvPr id="8" name="Rectangle 7">
            <a:extLst>
              <a:ext uri="{FF2B5EF4-FFF2-40B4-BE49-F238E27FC236}">
                <a16:creationId xmlns:a16="http://schemas.microsoft.com/office/drawing/2014/main" id="{23FDEF4B-827B-4D4A-B1DE-3AD7BBF8AED4}"/>
              </a:ext>
            </a:extLst>
          </p:cNvPr>
          <p:cNvSpPr>
            <a:spLocks noGrp="1"/>
          </p:cNvSpPr>
          <p:nvPr/>
        </p:nvSpPr>
        <p:spPr>
          <a:xfrm>
            <a:off x="476250" y="6010275"/>
            <a:ext cx="11239500" cy="447675"/>
          </a:xfrm>
          <a:prstGeom prst="rect">
            <a:avLst/>
          </a:prstGeom>
          <a:noFill/>
          <a:ln w="0">
            <a:noFill/>
          </a:ln>
        </p:spPr>
        <p:txBody>
          <a:bodyPr/>
          <a:lstStyle>
            <a:defPPr>
              <a:defRPr sz="1275" b="0">
                <a:solidFill>
                  <a:srgbClr val="536675"/>
                </a:solidFill>
                <a:latin typeface="Arial"/>
                <a:ea typeface="Arial"/>
                <a:cs typeface="Arial"/>
              </a:defRPr>
            </a:defPPr>
            <a:lvl1pPr>
              <a:defRPr sz="1275" b="0">
                <a:solidFill>
                  <a:srgbClr val="536675"/>
                </a:solidFill>
                <a:latin typeface="Arial"/>
                <a:ea typeface="Arial"/>
                <a:cs typeface="Arial"/>
              </a:defRPr>
            </a:lvl1pPr>
            <a:lvl2pPr>
              <a:defRPr sz="1275" b="0">
                <a:solidFill>
                  <a:srgbClr val="536675"/>
                </a:solidFill>
                <a:latin typeface="Arial"/>
                <a:ea typeface="Arial"/>
                <a:cs typeface="Arial"/>
              </a:defRPr>
            </a:lvl2pPr>
            <a:lvl3pPr>
              <a:defRPr sz="1275" b="0">
                <a:solidFill>
                  <a:srgbClr val="536675"/>
                </a:solidFill>
                <a:latin typeface="Arial"/>
                <a:ea typeface="Arial"/>
                <a:cs typeface="Arial"/>
              </a:defRPr>
            </a:lvl3pPr>
            <a:lvl4pPr>
              <a:defRPr sz="1275" b="0">
                <a:solidFill>
                  <a:srgbClr val="536675"/>
                </a:solidFill>
                <a:latin typeface="Arial"/>
                <a:ea typeface="Arial"/>
                <a:cs typeface="Arial"/>
              </a:defRPr>
            </a:lvl4pPr>
            <a:lvl5pPr>
              <a:defRPr sz="1275" b="0">
                <a:solidFill>
                  <a:srgbClr val="536675"/>
                </a:solidFill>
                <a:latin typeface="Arial"/>
                <a:ea typeface="Arial"/>
                <a:cs typeface="Arial"/>
              </a:defRPr>
            </a:lvl5pPr>
            <a:lvl6pPr>
              <a:defRPr sz="1275" b="0">
                <a:solidFill>
                  <a:srgbClr val="536675"/>
                </a:solidFill>
                <a:latin typeface="Arial"/>
                <a:ea typeface="Arial"/>
                <a:cs typeface="Arial"/>
              </a:defRPr>
            </a:lvl6pPr>
            <a:lvl7pPr>
              <a:defRPr sz="1275" b="0">
                <a:solidFill>
                  <a:srgbClr val="536675"/>
                </a:solidFill>
                <a:latin typeface="Arial"/>
                <a:ea typeface="Arial"/>
                <a:cs typeface="Arial"/>
              </a:defRPr>
            </a:lvl7pPr>
            <a:lvl8pPr>
              <a:defRPr sz="1275" b="0">
                <a:solidFill>
                  <a:srgbClr val="536675"/>
                </a:solidFill>
                <a:latin typeface="Arial"/>
                <a:ea typeface="Arial"/>
                <a:cs typeface="Arial"/>
              </a:defRPr>
            </a:lvl8pPr>
            <a:lvl9pPr>
              <a:defRPr sz="1275" b="0">
                <a:solidFill>
                  <a:srgbClr val="536675"/>
                </a:solidFill>
                <a:latin typeface="Arial"/>
                <a:ea typeface="Arial"/>
                <a:cs typeface="Arial"/>
              </a:defRPr>
            </a:lvl9pPr>
          </a:lstStyle>
          <a:p>
            <a:pPr>
              <a:defRPr sz="1275" b="0">
                <a:solidFill>
                  <a:srgbClr val="536675"/>
                </a:solidFill>
                <a:latin typeface="Arial"/>
                <a:ea typeface="Arial"/>
                <a:cs typeface="Arial"/>
              </a:defRPr>
            </a:pPr>
            <a:endParaRPr sz="1275" b="0">
              <a:solidFill>
                <a:srgbClr val="000000"/>
              </a:solidFill>
              <a:latin typeface="Calibri" panose="020F0502020204030204" pitchFamily="34" charset="0"/>
              <a:ea typeface="Arial"/>
              <a:cs typeface="Arial"/>
            </a:endParaRPr>
          </a:p>
        </p:txBody>
      </p:sp>
      <p:sp>
        <p:nvSpPr>
          <p:cNvPr id="10" name="TextBox 9">
            <a:extLst>
              <a:ext uri="{FF2B5EF4-FFF2-40B4-BE49-F238E27FC236}">
                <a16:creationId xmlns:a16="http://schemas.microsoft.com/office/drawing/2014/main" id="{A038632F-74DE-DF5F-9BF9-87F57BC8A62F}"/>
              </a:ext>
            </a:extLst>
          </p:cNvPr>
          <p:cNvSpPr txBox="1"/>
          <p:nvPr/>
        </p:nvSpPr>
        <p:spPr>
          <a:xfrm>
            <a:off x="476250" y="6400800"/>
            <a:ext cx="11074400" cy="323165"/>
          </a:xfrm>
          <a:prstGeom prst="rect">
            <a:avLst/>
          </a:prstGeom>
          <a:noFill/>
        </p:spPr>
        <p:txBody>
          <a:bodyPr vert="horz" lIns="0" tIns="0" rIns="0" bIns="0" rtlCol="0">
            <a:spAutoFit/>
          </a:bodyPr>
          <a:lstStyle/>
          <a:p>
            <a:r>
              <a:rPr lang="en-US" sz="1050">
                <a:solidFill>
                  <a:srgbClr val="000000"/>
                </a:solidFill>
                <a:latin typeface="Calibri" panose="020F0502020204030204" pitchFamily="34" charset="0"/>
              </a:rPr>
              <a:t>[S7] Arithmetic uses corrected 30 s climb: 247.604 min level flight. Two 30 min transits leave 187.604 min loiter.
80 km mission interpretations are time accounting only; speed-dependent mission fuel and mass require a rerun.</a:t>
            </a:r>
          </a:p>
        </p:txBody>
      </p:sp>
      <p:sp>
        <p:nvSpPr>
          <p:cNvPr id="11" name="TextBox 10">
            <a:extLst>
              <a:ext uri="{FF2B5EF4-FFF2-40B4-BE49-F238E27FC236}">
                <a16:creationId xmlns:a16="http://schemas.microsoft.com/office/drawing/2014/main" id="{94279FFC-3DEA-14AF-0DE1-7BE5566AD158}"/>
              </a:ext>
            </a:extLst>
          </p:cNvPr>
          <p:cNvSpPr txBox="1"/>
          <p:nvPr/>
        </p:nvSpPr>
        <p:spPr>
          <a:xfrm>
            <a:off x="11671300" y="6527800"/>
            <a:ext cx="355600" cy="153888"/>
          </a:xfrm>
          <a:prstGeom prst="rect">
            <a:avLst/>
          </a:prstGeom>
          <a:noFill/>
        </p:spPr>
        <p:txBody>
          <a:bodyPr vert="horz" lIns="0" tIns="0" rIns="0" bIns="0" rtlCol="0">
            <a:spAutoFit/>
          </a:bodyPr>
          <a:lstStyle/>
          <a:p>
            <a:r>
              <a:rPr lang="en-US" sz="1000">
                <a:solidFill>
                  <a:srgbClr val="000000"/>
                </a:solidFill>
                <a:latin typeface="Calibri" panose="020F0502020204030204" pitchFamily="34" charset="0"/>
              </a:rPr>
              <a:t>32</a:t>
            </a:r>
          </a:p>
        </p:txBody>
      </p:sp>
    </p:spTree>
    <p:extLst>
      <p:ext uri="{BB962C8B-B14F-4D97-AF65-F5344CB8AC3E}">
        <p14:creationId xmlns:p14="http://schemas.microsoft.com/office/powerpoint/2010/main" val="11338294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9BF688C-6BCD-428A-B95F-B11A6D3E8531}"/>
              </a:ext>
            </a:extLst>
          </p:cNvPr>
          <p:cNvSpPr>
            <a:spLocks noGrp="1"/>
          </p:cNvSpPr>
          <p:nvPr/>
        </p:nvSpPr>
        <p:spPr>
          <a:xfrm>
            <a:off x="838200" y="361950"/>
            <a:ext cx="10896600" cy="571500"/>
          </a:xfrm>
          <a:prstGeom prst="rect">
            <a:avLst/>
          </a:prstGeom>
          <a:noFill/>
          <a:ln w="0">
            <a:noFill/>
          </a:ln>
        </p:spPr>
        <p:txBody>
          <a:bodyPr/>
          <a:lstStyle>
            <a:defPPr>
              <a:defRPr sz="2775" b="1">
                <a:solidFill>
                  <a:srgbClr val="173344"/>
                </a:solidFill>
                <a:latin typeface="Arial"/>
                <a:ea typeface="Arial"/>
                <a:cs typeface="Arial"/>
              </a:defRPr>
            </a:defPPr>
            <a:lvl1pPr>
              <a:defRPr sz="2775" b="1">
                <a:solidFill>
                  <a:srgbClr val="173344"/>
                </a:solidFill>
                <a:latin typeface="Arial"/>
                <a:ea typeface="Arial"/>
                <a:cs typeface="Arial"/>
              </a:defRPr>
            </a:lvl1pPr>
            <a:lvl2pPr>
              <a:defRPr sz="2775" b="1">
                <a:solidFill>
                  <a:srgbClr val="173344"/>
                </a:solidFill>
                <a:latin typeface="Arial"/>
                <a:ea typeface="Arial"/>
                <a:cs typeface="Arial"/>
              </a:defRPr>
            </a:lvl2pPr>
            <a:lvl3pPr>
              <a:defRPr sz="2775" b="1">
                <a:solidFill>
                  <a:srgbClr val="173344"/>
                </a:solidFill>
                <a:latin typeface="Arial"/>
                <a:ea typeface="Arial"/>
                <a:cs typeface="Arial"/>
              </a:defRPr>
            </a:lvl3pPr>
            <a:lvl4pPr>
              <a:defRPr sz="2775" b="1">
                <a:solidFill>
                  <a:srgbClr val="173344"/>
                </a:solidFill>
                <a:latin typeface="Arial"/>
                <a:ea typeface="Arial"/>
                <a:cs typeface="Arial"/>
              </a:defRPr>
            </a:lvl4pPr>
            <a:lvl5pPr>
              <a:defRPr sz="2775" b="1">
                <a:solidFill>
                  <a:srgbClr val="173344"/>
                </a:solidFill>
                <a:latin typeface="Arial"/>
                <a:ea typeface="Arial"/>
                <a:cs typeface="Arial"/>
              </a:defRPr>
            </a:lvl5pPr>
            <a:lvl6pPr>
              <a:defRPr sz="2775" b="1">
                <a:solidFill>
                  <a:srgbClr val="173344"/>
                </a:solidFill>
                <a:latin typeface="Arial"/>
                <a:ea typeface="Arial"/>
                <a:cs typeface="Arial"/>
              </a:defRPr>
            </a:lvl6pPr>
            <a:lvl7pPr>
              <a:defRPr sz="2775" b="1">
                <a:solidFill>
                  <a:srgbClr val="173344"/>
                </a:solidFill>
                <a:latin typeface="Arial"/>
                <a:ea typeface="Arial"/>
                <a:cs typeface="Arial"/>
              </a:defRPr>
            </a:lvl7pPr>
            <a:lvl8pPr>
              <a:defRPr sz="2775" b="1">
                <a:solidFill>
                  <a:srgbClr val="173344"/>
                </a:solidFill>
                <a:latin typeface="Arial"/>
                <a:ea typeface="Arial"/>
                <a:cs typeface="Arial"/>
              </a:defRPr>
            </a:lvl8pPr>
            <a:lvl9pPr>
              <a:defRPr sz="2775" b="1">
                <a:solidFill>
                  <a:srgbClr val="173344"/>
                </a:solidFill>
                <a:latin typeface="Arial"/>
                <a:ea typeface="Arial"/>
                <a:cs typeface="Arial"/>
              </a:defRPr>
            </a:lvl9pPr>
          </a:lstStyle>
          <a:p>
            <a:pPr>
              <a:defRPr sz="2775" b="1">
                <a:solidFill>
                  <a:srgbClr val="173344"/>
                </a:solidFill>
                <a:latin typeface="Arial"/>
                <a:ea typeface="Arial"/>
                <a:cs typeface="Arial"/>
              </a:defRPr>
            </a:pPr>
            <a:r>
              <a:rPr sz="2400" b="1">
                <a:solidFill>
                  <a:srgbClr val="000000"/>
                </a:solidFill>
                <a:latin typeface="Calibri" panose="020F0502020204030204" pitchFamily="34" charset="0"/>
                <a:ea typeface="Arial"/>
                <a:cs typeface="Arial"/>
              </a:rPr>
              <a:t>Appendix: mass accounting and comparison limits</a:t>
            </a:r>
          </a:p>
        </p:txBody>
      </p:sp>
      <p:sp>
        <p:nvSpPr>
          <p:cNvPr id="2" name="Rectangle 1">
            <a:extLst>
              <a:ext uri="{FF2B5EF4-FFF2-40B4-BE49-F238E27FC236}">
                <a16:creationId xmlns:a16="http://schemas.microsoft.com/office/drawing/2014/main" id="{881A22E0-8832-450C-8422-1107B2723E3D}"/>
              </a:ext>
            </a:extLst>
          </p:cNvPr>
          <p:cNvSpPr>
            <a:spLocks noGrp="1"/>
          </p:cNvSpPr>
          <p:nvPr/>
        </p:nvSpPr>
        <p:spPr>
          <a:xfrm>
            <a:off x="476250" y="876300"/>
            <a:ext cx="11239500" cy="523875"/>
          </a:xfrm>
          <a:prstGeom prst="rect">
            <a:avLst/>
          </a:prstGeom>
          <a:noFill/>
          <a:ln w="0">
            <a:noFill/>
          </a:ln>
        </p:spPr>
        <p:txBody>
          <a:bodyPr/>
          <a:lstStyle>
            <a:defPPr>
              <a:defRPr sz="1575" b="0">
                <a:solidFill>
                  <a:srgbClr val="536675"/>
                </a:solidFill>
                <a:latin typeface="Arial"/>
                <a:ea typeface="Arial"/>
                <a:cs typeface="Arial"/>
              </a:defRPr>
            </a:defPPr>
            <a:lvl1pPr>
              <a:defRPr sz="1575" b="0">
                <a:solidFill>
                  <a:srgbClr val="536675"/>
                </a:solidFill>
                <a:latin typeface="Arial"/>
                <a:ea typeface="Arial"/>
                <a:cs typeface="Arial"/>
              </a:defRPr>
            </a:lvl1pPr>
            <a:lvl2pPr>
              <a:defRPr sz="1575" b="0">
                <a:solidFill>
                  <a:srgbClr val="536675"/>
                </a:solidFill>
                <a:latin typeface="Arial"/>
                <a:ea typeface="Arial"/>
                <a:cs typeface="Arial"/>
              </a:defRPr>
            </a:lvl2pPr>
            <a:lvl3pPr>
              <a:defRPr sz="1575" b="0">
                <a:solidFill>
                  <a:srgbClr val="536675"/>
                </a:solidFill>
                <a:latin typeface="Arial"/>
                <a:ea typeface="Arial"/>
                <a:cs typeface="Arial"/>
              </a:defRPr>
            </a:lvl3pPr>
            <a:lvl4pPr>
              <a:defRPr sz="1575" b="0">
                <a:solidFill>
                  <a:srgbClr val="536675"/>
                </a:solidFill>
                <a:latin typeface="Arial"/>
                <a:ea typeface="Arial"/>
                <a:cs typeface="Arial"/>
              </a:defRPr>
            </a:lvl4pPr>
            <a:lvl5pPr>
              <a:defRPr sz="1575" b="0">
                <a:solidFill>
                  <a:srgbClr val="536675"/>
                </a:solidFill>
                <a:latin typeface="Arial"/>
                <a:ea typeface="Arial"/>
                <a:cs typeface="Arial"/>
              </a:defRPr>
            </a:lvl5pPr>
            <a:lvl6pPr>
              <a:defRPr sz="1575" b="0">
                <a:solidFill>
                  <a:srgbClr val="536675"/>
                </a:solidFill>
                <a:latin typeface="Arial"/>
                <a:ea typeface="Arial"/>
                <a:cs typeface="Arial"/>
              </a:defRPr>
            </a:lvl6pPr>
            <a:lvl7pPr>
              <a:defRPr sz="1575" b="0">
                <a:solidFill>
                  <a:srgbClr val="536675"/>
                </a:solidFill>
                <a:latin typeface="Arial"/>
                <a:ea typeface="Arial"/>
                <a:cs typeface="Arial"/>
              </a:defRPr>
            </a:lvl7pPr>
            <a:lvl8pPr>
              <a:defRPr sz="1575" b="0">
                <a:solidFill>
                  <a:srgbClr val="536675"/>
                </a:solidFill>
                <a:latin typeface="Arial"/>
                <a:ea typeface="Arial"/>
                <a:cs typeface="Arial"/>
              </a:defRPr>
            </a:lvl8pPr>
            <a:lvl9pPr>
              <a:defRPr sz="1575" b="0">
                <a:solidFill>
                  <a:srgbClr val="536675"/>
                </a:solidFill>
                <a:latin typeface="Arial"/>
                <a:ea typeface="Arial"/>
                <a:cs typeface="Arial"/>
              </a:defRPr>
            </a:lvl9pPr>
          </a:lstStyle>
          <a:p>
            <a:pPr>
              <a:defRPr sz="1575" b="0">
                <a:solidFill>
                  <a:srgbClr val="536675"/>
                </a:solidFill>
                <a:latin typeface="Arial"/>
                <a:ea typeface="Arial"/>
                <a:cs typeface="Arial"/>
              </a:defRPr>
            </a:pPr>
            <a:r>
              <a:rPr sz="1575" b="0">
                <a:solidFill>
                  <a:srgbClr val="000000"/>
                </a:solidFill>
                <a:latin typeface="Calibri" panose="020F0502020204030204" pitchFamily="34" charset="0"/>
                <a:ea typeface="Arial"/>
                <a:cs typeface="Arial"/>
              </a:rPr>
              <a:t>Baseline component arithmetic closes; model equipment and mission boundaries still differ.</a:t>
            </a:r>
          </a:p>
        </p:txBody>
      </p:sp>
      <p:sp>
        <p:nvSpPr>
          <p:cNvPr id="3" name="Rectangle 2">
            <a:extLst>
              <a:ext uri="{FF2B5EF4-FFF2-40B4-BE49-F238E27FC236}">
                <a16:creationId xmlns:a16="http://schemas.microsoft.com/office/drawing/2014/main" id="{B92FC8EA-DE7A-4050-B436-36C8AD06C24A}"/>
              </a:ext>
            </a:extLst>
          </p:cNvPr>
          <p:cNvSpPr>
            <a:spLocks noGrp="1"/>
          </p:cNvSpPr>
          <p:nvPr/>
        </p:nvSpPr>
        <p:spPr>
          <a:xfrm>
            <a:off x="476250" y="6524625"/>
            <a:ext cx="10477500" cy="190500"/>
          </a:xfrm>
          <a:prstGeom prst="rect">
            <a:avLst/>
          </a:prstGeom>
          <a:noFill/>
          <a:ln w="0">
            <a:noFill/>
          </a:ln>
        </p:spPr>
        <p:txBody>
          <a:bodyPr/>
          <a:lstStyle>
            <a:defPPr>
              <a:defRPr sz="975" b="0">
                <a:solidFill>
                  <a:srgbClr val="536675"/>
                </a:solidFill>
                <a:latin typeface="Arial"/>
                <a:ea typeface="Arial"/>
                <a:cs typeface="Arial"/>
              </a:defRPr>
            </a:defPPr>
            <a:lvl1pPr>
              <a:defRPr sz="975" b="0">
                <a:solidFill>
                  <a:srgbClr val="536675"/>
                </a:solidFill>
                <a:latin typeface="Arial"/>
                <a:ea typeface="Arial"/>
                <a:cs typeface="Arial"/>
              </a:defRPr>
            </a:lvl1pPr>
            <a:lvl2pPr>
              <a:defRPr sz="975" b="0">
                <a:solidFill>
                  <a:srgbClr val="536675"/>
                </a:solidFill>
                <a:latin typeface="Arial"/>
                <a:ea typeface="Arial"/>
                <a:cs typeface="Arial"/>
              </a:defRPr>
            </a:lvl2pPr>
            <a:lvl3pPr>
              <a:defRPr sz="975" b="0">
                <a:solidFill>
                  <a:srgbClr val="536675"/>
                </a:solidFill>
                <a:latin typeface="Arial"/>
                <a:ea typeface="Arial"/>
                <a:cs typeface="Arial"/>
              </a:defRPr>
            </a:lvl3pPr>
            <a:lvl4pPr>
              <a:defRPr sz="975" b="0">
                <a:solidFill>
                  <a:srgbClr val="536675"/>
                </a:solidFill>
                <a:latin typeface="Arial"/>
                <a:ea typeface="Arial"/>
                <a:cs typeface="Arial"/>
              </a:defRPr>
            </a:lvl4pPr>
            <a:lvl5pPr>
              <a:defRPr sz="975" b="0">
                <a:solidFill>
                  <a:srgbClr val="536675"/>
                </a:solidFill>
                <a:latin typeface="Arial"/>
                <a:ea typeface="Arial"/>
                <a:cs typeface="Arial"/>
              </a:defRPr>
            </a:lvl5pPr>
            <a:lvl6pPr>
              <a:defRPr sz="975" b="0">
                <a:solidFill>
                  <a:srgbClr val="536675"/>
                </a:solidFill>
                <a:latin typeface="Arial"/>
                <a:ea typeface="Arial"/>
                <a:cs typeface="Arial"/>
              </a:defRPr>
            </a:lvl6pPr>
            <a:lvl7pPr>
              <a:defRPr sz="975" b="0">
                <a:solidFill>
                  <a:srgbClr val="536675"/>
                </a:solidFill>
                <a:latin typeface="Arial"/>
                <a:ea typeface="Arial"/>
                <a:cs typeface="Arial"/>
              </a:defRPr>
            </a:lvl7pPr>
            <a:lvl8pPr>
              <a:defRPr sz="975" b="0">
                <a:solidFill>
                  <a:srgbClr val="536675"/>
                </a:solidFill>
                <a:latin typeface="Arial"/>
                <a:ea typeface="Arial"/>
                <a:cs typeface="Arial"/>
              </a:defRPr>
            </a:lvl8pPr>
            <a:lvl9pPr>
              <a:defRPr sz="975" b="0">
                <a:solidFill>
                  <a:srgbClr val="536675"/>
                </a:solidFill>
                <a:latin typeface="Arial"/>
                <a:ea typeface="Arial"/>
                <a:cs typeface="Arial"/>
              </a:defRPr>
            </a:lvl9pPr>
          </a:lstStyle>
          <a:p>
            <a:pPr>
              <a:defRPr sz="975" b="0">
                <a:solidFill>
                  <a:srgbClr val="536675"/>
                </a:solidFill>
                <a:latin typeface="Arial"/>
                <a:ea typeface="Arial"/>
                <a:cs typeface="Arial"/>
              </a:defRPr>
            </a:pPr>
            <a:endParaRPr sz="975" b="0">
              <a:solidFill>
                <a:srgbClr val="000000"/>
              </a:solidFill>
              <a:latin typeface="Calibri" panose="020F0502020204030204" pitchFamily="34" charset="0"/>
              <a:ea typeface="Arial"/>
              <a:cs typeface="Arial"/>
            </a:endParaRPr>
          </a:p>
        </p:txBody>
      </p:sp>
      <p:sp>
        <p:nvSpPr>
          <p:cNvPr id="4" name="Rectangle 3">
            <a:extLst>
              <a:ext uri="{FF2B5EF4-FFF2-40B4-BE49-F238E27FC236}">
                <a16:creationId xmlns:a16="http://schemas.microsoft.com/office/drawing/2014/main" id="{F91FBABD-179B-49D2-949E-17A42FBD3DBD}"/>
              </a:ext>
            </a:extLst>
          </p:cNvPr>
          <p:cNvSpPr>
            <a:spLocks noGrp="1"/>
          </p:cNvSpPr>
          <p:nvPr/>
        </p:nvSpPr>
        <p:spPr>
          <a:xfrm>
            <a:off x="11334750" y="6496050"/>
            <a:ext cx="381000" cy="228600"/>
          </a:xfrm>
          <a:prstGeom prst="rect">
            <a:avLst/>
          </a:prstGeom>
          <a:noFill/>
          <a:ln w="0">
            <a:noFill/>
          </a:ln>
        </p:spPr>
        <p:txBody>
          <a:bodyPr/>
          <a:lstStyle>
            <a:defPPr>
              <a:defRPr sz="1200" b="0">
                <a:solidFill>
                  <a:srgbClr val="536675"/>
                </a:solidFill>
                <a:latin typeface="Arial"/>
                <a:ea typeface="Arial"/>
                <a:cs typeface="Arial"/>
              </a:defRPr>
            </a:defPPr>
            <a:lvl1pPr>
              <a:defRPr sz="1200" b="0">
                <a:solidFill>
                  <a:srgbClr val="536675"/>
                </a:solidFill>
                <a:latin typeface="Arial"/>
                <a:ea typeface="Arial"/>
                <a:cs typeface="Arial"/>
              </a:defRPr>
            </a:lvl1pPr>
            <a:lvl2pPr>
              <a:defRPr sz="1200" b="0">
                <a:solidFill>
                  <a:srgbClr val="536675"/>
                </a:solidFill>
                <a:latin typeface="Arial"/>
                <a:ea typeface="Arial"/>
                <a:cs typeface="Arial"/>
              </a:defRPr>
            </a:lvl2pPr>
            <a:lvl3pPr>
              <a:defRPr sz="1200" b="0">
                <a:solidFill>
                  <a:srgbClr val="536675"/>
                </a:solidFill>
                <a:latin typeface="Arial"/>
                <a:ea typeface="Arial"/>
                <a:cs typeface="Arial"/>
              </a:defRPr>
            </a:lvl3pPr>
            <a:lvl4pPr>
              <a:defRPr sz="1200" b="0">
                <a:solidFill>
                  <a:srgbClr val="536675"/>
                </a:solidFill>
                <a:latin typeface="Arial"/>
                <a:ea typeface="Arial"/>
                <a:cs typeface="Arial"/>
              </a:defRPr>
            </a:lvl4pPr>
            <a:lvl5pPr>
              <a:defRPr sz="1200" b="0">
                <a:solidFill>
                  <a:srgbClr val="536675"/>
                </a:solidFill>
                <a:latin typeface="Arial"/>
                <a:ea typeface="Arial"/>
                <a:cs typeface="Arial"/>
              </a:defRPr>
            </a:lvl5pPr>
            <a:lvl6pPr>
              <a:defRPr sz="1200" b="0">
                <a:solidFill>
                  <a:srgbClr val="536675"/>
                </a:solidFill>
                <a:latin typeface="Arial"/>
                <a:ea typeface="Arial"/>
                <a:cs typeface="Arial"/>
              </a:defRPr>
            </a:lvl6pPr>
            <a:lvl7pPr>
              <a:defRPr sz="1200" b="0">
                <a:solidFill>
                  <a:srgbClr val="536675"/>
                </a:solidFill>
                <a:latin typeface="Arial"/>
                <a:ea typeface="Arial"/>
                <a:cs typeface="Arial"/>
              </a:defRPr>
            </a:lvl7pPr>
            <a:lvl8pPr>
              <a:defRPr sz="1200" b="0">
                <a:solidFill>
                  <a:srgbClr val="536675"/>
                </a:solidFill>
                <a:latin typeface="Arial"/>
                <a:ea typeface="Arial"/>
                <a:cs typeface="Arial"/>
              </a:defRPr>
            </a:lvl8pPr>
            <a:lvl9pPr>
              <a:defRPr sz="1200" b="0">
                <a:solidFill>
                  <a:srgbClr val="536675"/>
                </a:solidFill>
                <a:latin typeface="Arial"/>
                <a:ea typeface="Arial"/>
                <a:cs typeface="Arial"/>
              </a:defRPr>
            </a:lvl9pPr>
          </a:lstStyle>
          <a:p>
            <a:pPr>
              <a:defRPr sz="1200" b="0">
                <a:solidFill>
                  <a:srgbClr val="536675"/>
                </a:solidFill>
                <a:latin typeface="Arial"/>
                <a:ea typeface="Arial"/>
                <a:cs typeface="Arial"/>
              </a:defRPr>
            </a:pPr>
            <a:endParaRPr sz="1200" b="0">
              <a:solidFill>
                <a:srgbClr val="000000"/>
              </a:solidFill>
              <a:latin typeface="Calibri" panose="020F0502020204030204" pitchFamily="34" charset="0"/>
              <a:ea typeface="Arial"/>
              <a:cs typeface="Arial"/>
            </a:endParaRPr>
          </a:p>
        </p:txBody>
      </p:sp>
      <p:graphicFrame>
        <p:nvGraphicFramePr>
          <p:cNvPr id="5" name="Table 4">
            <a:extLst>
              <a:ext uri="{FF2B5EF4-FFF2-40B4-BE49-F238E27FC236}">
                <a16:creationId xmlns:a16="http://schemas.microsoft.com/office/drawing/2014/main" id="{1922A831-3BAF-40D1-90DB-282B6D4618E8}"/>
              </a:ext>
            </a:extLst>
          </p:cNvPr>
          <p:cNvGraphicFramePr/>
          <p:nvPr>
            <p:extLst>
              <p:ext uri="{D42A27DB-BD31-4B8C-83A1-F6EECF244321}">
                <p14:modId xmlns:p14="http://schemas.microsoft.com/office/powerpoint/2010/main" val="83149013"/>
              </p:ext>
            </p:extLst>
          </p:nvPr>
        </p:nvGraphicFramePr>
        <p:xfrm>
          <a:off x="476250" y="1524000"/>
          <a:ext cx="11239500" cy="3667128"/>
        </p:xfrm>
        <a:graphic>
          <a:graphicData uri="http://schemas.openxmlformats.org/drawingml/2006/table">
            <a:tbl>
              <a:tblPr/>
              <a:tblGrid>
                <a:gridCol w="3810000">
                  <a:extLst>
                    <a:ext uri="{9D8B030D-6E8A-4147-A177-3AD203B41FA5}">
                      <a16:colId xmlns:a16="http://schemas.microsoft.com/office/drawing/2014/main" val="20000"/>
                    </a:ext>
                  </a:extLst>
                </a:gridCol>
                <a:gridCol w="2476500">
                  <a:extLst>
                    <a:ext uri="{9D8B030D-6E8A-4147-A177-3AD203B41FA5}">
                      <a16:colId xmlns:a16="http://schemas.microsoft.com/office/drawing/2014/main" val="20001"/>
                    </a:ext>
                  </a:extLst>
                </a:gridCol>
                <a:gridCol w="4953000">
                  <a:extLst>
                    <a:ext uri="{9D8B030D-6E8A-4147-A177-3AD203B41FA5}">
                      <a16:colId xmlns:a16="http://schemas.microsoft.com/office/drawing/2014/main" val="20002"/>
                    </a:ext>
                  </a:extLst>
                </a:gridCol>
              </a:tblGrid>
              <a:tr h="458391">
                <a:tc>
                  <a:txBody>
                    <a:bodyPr/>
                    <a:lstStyle/>
                    <a:p>
                      <a:r>
                        <a:rPr sz="1425" b="1">
                          <a:solidFill>
                            <a:srgbClr val="000000"/>
                          </a:solidFill>
                          <a:latin typeface="Calibri" panose="020F0502020204030204" pitchFamily="34" charset="0"/>
                          <a:ea typeface="Arial"/>
                          <a:cs typeface="Arial"/>
                        </a:rPr>
                        <a:t>Quantity / kg</a:t>
                      </a:r>
                    </a:p>
                  </a:txBody>
                  <a:tcPr>
                    <a:lnL w="9525">
                      <a:solidFill>
                        <a:srgbClr val="DCE4E8"/>
                      </a:solidFill>
                    </a:lnL>
                    <a:lnR w="9525">
                      <a:solidFill>
                        <a:srgbClr val="DCE4E8"/>
                      </a:solidFill>
                    </a:lnR>
                    <a:lnT w="9525">
                      <a:solidFill>
                        <a:srgbClr val="DCE4E8"/>
                      </a:solidFill>
                    </a:lnT>
                    <a:lnB w="9525">
                      <a:solidFill>
                        <a:srgbClr val="DCE4E8"/>
                      </a:solidFill>
                    </a:lnB>
                    <a:solidFill>
                      <a:srgbClr val="D9D9D9"/>
                    </a:solidFill>
                  </a:tcPr>
                </a:tc>
                <a:tc>
                  <a:txBody>
                    <a:bodyPr/>
                    <a:lstStyle/>
                    <a:p>
                      <a:r>
                        <a:rPr sz="1425" b="1">
                          <a:solidFill>
                            <a:srgbClr val="000000"/>
                          </a:solidFill>
                          <a:latin typeface="Calibri" panose="020F0502020204030204" pitchFamily="34" charset="0"/>
                          <a:ea typeface="Arial"/>
                          <a:cs typeface="Arial"/>
                        </a:rPr>
                        <a:t>Revised baseline</a:t>
                      </a:r>
                    </a:p>
                  </a:txBody>
                  <a:tcPr>
                    <a:lnL w="9525" cap="flat" cmpd="sng" algn="ctr">
                      <a:solidFill>
                        <a:srgbClr val="DCE4E8"/>
                      </a:solidFill>
                      <a:prstDash val="solid"/>
                      <a:round/>
                      <a:headEnd type="none" w="med" len="med"/>
                      <a:tailEnd type="none" w="med" len="med"/>
                    </a:lnL>
                    <a:lnR w="9525">
                      <a:solidFill>
                        <a:srgbClr val="DCE4E8"/>
                      </a:solidFill>
                    </a:lnR>
                    <a:lnT w="9525">
                      <a:solidFill>
                        <a:srgbClr val="DCE4E8"/>
                      </a:solidFill>
                    </a:lnT>
                    <a:lnB w="9525">
                      <a:solidFill>
                        <a:srgbClr val="DCE4E8"/>
                      </a:solidFill>
                    </a:lnB>
                    <a:solidFill>
                      <a:srgbClr val="D9D9D9"/>
                    </a:solidFill>
                  </a:tcPr>
                </a:tc>
                <a:tc>
                  <a:txBody>
                    <a:bodyPr/>
                    <a:lstStyle/>
                    <a:p>
                      <a:r>
                        <a:rPr sz="1425" b="1">
                          <a:solidFill>
                            <a:srgbClr val="000000"/>
                          </a:solidFill>
                          <a:latin typeface="Calibri" panose="020F0502020204030204" pitchFamily="34" charset="0"/>
                          <a:ea typeface="Arial"/>
                          <a:cs typeface="Arial"/>
                        </a:rPr>
                        <a:t>Model comparison</a:t>
                      </a:r>
                    </a:p>
                  </a:txBody>
                  <a:tcPr>
                    <a:lnL w="9525" cap="flat" cmpd="sng" algn="ctr">
                      <a:solidFill>
                        <a:srgbClr val="DCE4E8"/>
                      </a:solidFill>
                      <a:prstDash val="solid"/>
                      <a:round/>
                      <a:headEnd type="none" w="med" len="med"/>
                      <a:tailEnd type="none" w="med" len="med"/>
                    </a:lnL>
                    <a:lnR w="9525">
                      <a:solidFill>
                        <a:srgbClr val="DCE4E8"/>
                      </a:solidFill>
                    </a:lnR>
                    <a:lnT w="9525">
                      <a:solidFill>
                        <a:srgbClr val="DCE4E8"/>
                      </a:solidFill>
                    </a:lnT>
                    <a:lnB w="9525">
                      <a:solidFill>
                        <a:srgbClr val="DCE4E8"/>
                      </a:solidFill>
                    </a:lnB>
                    <a:solidFill>
                      <a:srgbClr val="D9D9D9"/>
                    </a:solidFill>
                  </a:tcPr>
                </a:tc>
                <a:extLst>
                  <a:ext uri="{0D108BD9-81ED-4DB2-BD59-A6C34878D82A}">
                    <a16:rowId xmlns:a16="http://schemas.microsoft.com/office/drawing/2014/main" val="10000"/>
                  </a:ext>
                </a:extLst>
              </a:tr>
              <a:tr h="458391">
                <a:tc>
                  <a:txBody>
                    <a:bodyPr/>
                    <a:lstStyle/>
                    <a:p>
                      <a:r>
                        <a:rPr sz="1425" b="0">
                          <a:solidFill>
                            <a:srgbClr val="000000"/>
                          </a:solidFill>
                          <a:latin typeface="Calibri" panose="020F0502020204030204" pitchFamily="34" charset="0"/>
                          <a:ea typeface="Arial"/>
                          <a:cs typeface="Arial"/>
                        </a:rPr>
                        <a:t>Component subtotal</a:t>
                      </a: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sz="1425" b="0">
                          <a:solidFill>
                            <a:srgbClr val="000000"/>
                          </a:solidFill>
                          <a:latin typeface="Calibri" panose="020F0502020204030204" pitchFamily="34" charset="0"/>
                          <a:ea typeface="Arial"/>
                          <a:cs typeface="Arial"/>
                        </a:rPr>
                        <a:t>268.42</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sz="1425" b="0">
                          <a:solidFill>
                            <a:srgbClr val="000000"/>
                          </a:solidFill>
                          <a:latin typeface="Calibri" panose="020F0502020204030204" pitchFamily="34" charset="0"/>
                          <a:ea typeface="Arial"/>
                          <a:cs typeface="Arial"/>
                        </a:rPr>
                        <a:t>Native empty-weight groups include model allowances</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extLst>
                  <a:ext uri="{0D108BD9-81ED-4DB2-BD59-A6C34878D82A}">
                    <a16:rowId xmlns:a16="http://schemas.microsoft.com/office/drawing/2014/main" val="10001"/>
                  </a:ext>
                </a:extLst>
              </a:tr>
              <a:tr h="458391">
                <a:tc>
                  <a:txBody>
                    <a:bodyPr/>
                    <a:lstStyle/>
                    <a:p>
                      <a:r>
                        <a:rPr sz="1425" b="0">
                          <a:solidFill>
                            <a:srgbClr val="000000"/>
                          </a:solidFill>
                          <a:latin typeface="Calibri" panose="020F0502020204030204" pitchFamily="34" charset="0"/>
                          <a:ea typeface="Arial"/>
                          <a:cs typeface="Arial"/>
                        </a:rPr>
                        <a:t>Payload</a:t>
                      </a: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sz="1425" b="0">
                          <a:solidFill>
                            <a:srgbClr val="000000"/>
                          </a:solidFill>
                          <a:latin typeface="Calibri" panose="020F0502020204030204" pitchFamily="34" charset="0"/>
                          <a:ea typeface="Arial"/>
                          <a:cs typeface="Arial"/>
                        </a:rPr>
                        <a:t>30.00</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sz="1425" b="0">
                          <a:solidFill>
                            <a:srgbClr val="000000"/>
                          </a:solidFill>
                          <a:latin typeface="Calibri" panose="020F0502020204030204" pitchFamily="34" charset="0"/>
                          <a:ea typeface="Arial"/>
                          <a:cs typeface="Arial"/>
                        </a:rPr>
                        <a:t>30.00 in all four designs</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extLst>
                  <a:ext uri="{0D108BD9-81ED-4DB2-BD59-A6C34878D82A}">
                    <a16:rowId xmlns:a16="http://schemas.microsoft.com/office/drawing/2014/main" val="10002"/>
                  </a:ext>
                </a:extLst>
              </a:tr>
              <a:tr h="458391">
                <a:tc>
                  <a:txBody>
                    <a:bodyPr/>
                    <a:lstStyle/>
                    <a:p>
                      <a:r>
                        <a:rPr sz="1425" b="0">
                          <a:solidFill>
                            <a:srgbClr val="000000"/>
                          </a:solidFill>
                          <a:latin typeface="Calibri" panose="020F0502020204030204" pitchFamily="34" charset="0"/>
                          <a:ea typeface="Arial"/>
                          <a:cs typeface="Arial"/>
                        </a:rPr>
                        <a:t>Components + payload</a:t>
                      </a: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sz="1425" b="0">
                          <a:solidFill>
                            <a:srgbClr val="000000"/>
                          </a:solidFill>
                          <a:latin typeface="Calibri" panose="020F0502020204030204" pitchFamily="34" charset="0"/>
                          <a:ea typeface="Arial"/>
                          <a:cs typeface="Arial"/>
                        </a:rPr>
                        <a:t>298.42</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sz="1425" b="0">
                          <a:solidFill>
                            <a:srgbClr val="000000"/>
                          </a:solidFill>
                          <a:latin typeface="Calibri" panose="020F0502020204030204" pitchFamily="34" charset="0"/>
                          <a:ea typeface="Arial"/>
                          <a:cs typeface="Arial"/>
                        </a:rPr>
                        <a:t>Not yet matched to same equipment inventory</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extLst>
                  <a:ext uri="{0D108BD9-81ED-4DB2-BD59-A6C34878D82A}">
                    <a16:rowId xmlns:a16="http://schemas.microsoft.com/office/drawing/2014/main" val="10003"/>
                  </a:ext>
                </a:extLst>
              </a:tr>
              <a:tr h="458391">
                <a:tc>
                  <a:txBody>
                    <a:bodyPr/>
                    <a:lstStyle/>
                    <a:p>
                      <a:r>
                        <a:rPr sz="1425" b="0">
                          <a:solidFill>
                            <a:srgbClr val="000000"/>
                          </a:solidFill>
                          <a:latin typeface="Calibri" panose="020F0502020204030204" pitchFamily="34" charset="0"/>
                          <a:ea typeface="Arial"/>
                          <a:cs typeface="Arial"/>
                        </a:rPr>
                        <a:t>Initial usable fuel</a:t>
                      </a: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sz="1425" b="0">
                          <a:solidFill>
                            <a:srgbClr val="000000"/>
                          </a:solidFill>
                          <a:latin typeface="Calibri" panose="020F0502020204030204" pitchFamily="34" charset="0"/>
                          <a:ea typeface="Arial"/>
                          <a:cs typeface="Arial"/>
                        </a:rPr>
                        <a:t>37.00</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sz="1425" b="0">
                          <a:solidFill>
                            <a:srgbClr val="000000"/>
                          </a:solidFill>
                          <a:latin typeface="Calibri" panose="020F0502020204030204" pitchFamily="34" charset="0"/>
                          <a:ea typeface="Arial"/>
                          <a:cs typeface="Arial"/>
                        </a:rPr>
                        <a:t>Sized for saved mission</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extLst>
                  <a:ext uri="{0D108BD9-81ED-4DB2-BD59-A6C34878D82A}">
                    <a16:rowId xmlns:a16="http://schemas.microsoft.com/office/drawing/2014/main" val="10004"/>
                  </a:ext>
                </a:extLst>
              </a:tr>
              <a:tr h="458391">
                <a:tc>
                  <a:txBody>
                    <a:bodyPr/>
                    <a:lstStyle/>
                    <a:p>
                      <a:r>
                        <a:rPr sz="1425" b="0">
                          <a:solidFill>
                            <a:srgbClr val="000000"/>
                          </a:solidFill>
                          <a:latin typeface="Calibri" panose="020F0502020204030204" pitchFamily="34" charset="0"/>
                          <a:ea typeface="Arial"/>
                          <a:cs typeface="Arial"/>
                        </a:rPr>
                        <a:t>Ground fuel burn</a:t>
                      </a: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sz="1425" b="0">
                          <a:solidFill>
                            <a:srgbClr val="000000"/>
                          </a:solidFill>
                          <a:latin typeface="Calibri" panose="020F0502020204030204" pitchFamily="34" charset="0"/>
                          <a:ea typeface="Arial"/>
                          <a:cs typeface="Arial"/>
                        </a:rPr>
                        <a:t>2.00 over 20 min</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sz="1425" b="0">
                          <a:solidFill>
                            <a:srgbClr val="000000"/>
                          </a:solidFill>
                          <a:latin typeface="Calibri" panose="020F0502020204030204" pitchFamily="34" charset="0"/>
                          <a:ea typeface="Arial"/>
                          <a:cs typeface="Arial"/>
                        </a:rPr>
                        <a:t>Saved mission has 60 s ground operation</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extLst>
                  <a:ext uri="{0D108BD9-81ED-4DB2-BD59-A6C34878D82A}">
                    <a16:rowId xmlns:a16="http://schemas.microsoft.com/office/drawing/2014/main" val="10005"/>
                  </a:ext>
                </a:extLst>
              </a:tr>
              <a:tr h="458391">
                <a:tc>
                  <a:txBody>
                    <a:bodyPr/>
                    <a:lstStyle/>
                    <a:p>
                      <a:r>
                        <a:rPr sz="1425" b="0">
                          <a:solidFill>
                            <a:srgbClr val="000000"/>
                          </a:solidFill>
                          <a:latin typeface="Calibri" panose="020F0502020204030204" pitchFamily="34" charset="0"/>
                          <a:ea typeface="Arial"/>
                          <a:cs typeface="Arial"/>
                        </a:rPr>
                        <a:t>Takeoff mass from revised ledger</a:t>
                      </a: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sz="1425" b="0">
                          <a:solidFill>
                            <a:srgbClr val="000000"/>
                          </a:solidFill>
                          <a:latin typeface="Calibri" panose="020F0502020204030204" pitchFamily="34" charset="0"/>
                          <a:ea typeface="Arial"/>
                          <a:cs typeface="Arial"/>
                        </a:rPr>
                        <a:t>333.42</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sz="1425" b="0">
                          <a:solidFill>
                            <a:srgbClr val="000000"/>
                          </a:solidFill>
                          <a:latin typeface="Calibri" panose="020F0502020204030204" pitchFamily="34" charset="0"/>
                          <a:ea typeface="Arial"/>
                          <a:cs typeface="Arial"/>
                        </a:rPr>
                        <a:t>Model design gross masses are </a:t>
                      </a:r>
                      <a:r>
                        <a:rPr lang="en-US" sz="1425" b="0">
                          <a:solidFill>
                            <a:srgbClr val="000000"/>
                          </a:solidFill>
                          <a:latin typeface="Calibri" panose="020F0502020204030204" pitchFamily="34" charset="0"/>
                          <a:ea typeface="Arial"/>
                          <a:cs typeface="Arial"/>
                        </a:rPr>
                        <a:t>corrected 30-second results</a:t>
                      </a:r>
                      <a:endParaRPr sz="1425" b="0">
                        <a:solidFill>
                          <a:srgbClr val="000000"/>
                        </a:solidFill>
                        <a:latin typeface="Calibri" panose="020F0502020204030204" pitchFamily="34" charset="0"/>
                        <a:ea typeface="Arial"/>
                        <a:cs typeface="Arial"/>
                      </a:endParaRP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extLst>
                  <a:ext uri="{0D108BD9-81ED-4DB2-BD59-A6C34878D82A}">
                    <a16:rowId xmlns:a16="http://schemas.microsoft.com/office/drawing/2014/main" val="10006"/>
                  </a:ext>
                </a:extLst>
              </a:tr>
              <a:tr h="458391">
                <a:tc>
                  <a:txBody>
                    <a:bodyPr/>
                    <a:lstStyle/>
                    <a:p>
                      <a:r>
                        <a:rPr sz="1425" b="0">
                          <a:solidFill>
                            <a:srgbClr val="000000"/>
                          </a:solidFill>
                          <a:latin typeface="Calibri" panose="020F0502020204030204" pitchFamily="34" charset="0"/>
                          <a:ea typeface="Arial"/>
                          <a:cs typeface="Arial"/>
                        </a:rPr>
                        <a:t>Earlier basic / takeoff definitions</a:t>
                      </a: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sz="1425" b="0">
                          <a:solidFill>
                            <a:srgbClr val="000000"/>
                          </a:solidFill>
                          <a:latin typeface="Calibri" panose="020F0502020204030204" pitchFamily="34" charset="0"/>
                          <a:ea typeface="Arial"/>
                          <a:cs typeface="Arial"/>
                        </a:rPr>
                        <a:t>305.00 / 340.00</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sz="1425" b="0">
                          <a:solidFill>
                            <a:srgbClr val="000000"/>
                          </a:solidFill>
                          <a:latin typeface="Calibri" panose="020F0502020204030204" pitchFamily="34" charset="0"/>
                          <a:ea typeface="Arial"/>
                          <a:cs typeface="Arial"/>
                        </a:rPr>
                        <a:t>6.58 kg difference remains unallocated</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extLst>
                  <a:ext uri="{0D108BD9-81ED-4DB2-BD59-A6C34878D82A}">
                    <a16:rowId xmlns:a16="http://schemas.microsoft.com/office/drawing/2014/main" val="10007"/>
                  </a:ext>
                </a:extLst>
              </a:tr>
            </a:tbl>
          </a:graphicData>
        </a:graphic>
      </p:graphicFrame>
      <p:sp>
        <p:nvSpPr>
          <p:cNvPr id="6" name="Rectangle 5">
            <a:extLst>
              <a:ext uri="{FF2B5EF4-FFF2-40B4-BE49-F238E27FC236}">
                <a16:creationId xmlns:a16="http://schemas.microsoft.com/office/drawing/2014/main" id="{6969B386-8A26-48D2-8D16-05BFA6E0EDE2}"/>
              </a:ext>
            </a:extLst>
          </p:cNvPr>
          <p:cNvSpPr>
            <a:spLocks noGrp="1"/>
          </p:cNvSpPr>
          <p:nvPr/>
        </p:nvSpPr>
        <p:spPr>
          <a:xfrm>
            <a:off x="523875" y="5381625"/>
            <a:ext cx="11144250" cy="571500"/>
          </a:xfrm>
          <a:prstGeom prst="rect">
            <a:avLst/>
          </a:prstGeom>
          <a:noFill/>
          <a:ln w="0">
            <a:noFill/>
          </a:ln>
        </p:spPr>
        <p:txBody>
          <a:bodyPr/>
          <a:lstStyle>
            <a:defPPr>
              <a:defRPr sz="1650" b="0">
                <a:solidFill>
                  <a:srgbClr val="173344"/>
                </a:solidFill>
                <a:latin typeface="Arial"/>
                <a:ea typeface="Arial"/>
                <a:cs typeface="Arial"/>
              </a:defRPr>
            </a:defPPr>
            <a:lvl1pPr>
              <a:defRPr sz="1650" b="0">
                <a:solidFill>
                  <a:srgbClr val="173344"/>
                </a:solidFill>
                <a:latin typeface="Arial"/>
                <a:ea typeface="Arial"/>
                <a:cs typeface="Arial"/>
              </a:defRPr>
            </a:lvl1pPr>
            <a:lvl2pPr>
              <a:defRPr sz="1650" b="0">
                <a:solidFill>
                  <a:srgbClr val="173344"/>
                </a:solidFill>
                <a:latin typeface="Arial"/>
                <a:ea typeface="Arial"/>
                <a:cs typeface="Arial"/>
              </a:defRPr>
            </a:lvl2pPr>
            <a:lvl3pPr>
              <a:defRPr sz="1650" b="0">
                <a:solidFill>
                  <a:srgbClr val="173344"/>
                </a:solidFill>
                <a:latin typeface="Arial"/>
                <a:ea typeface="Arial"/>
                <a:cs typeface="Arial"/>
              </a:defRPr>
            </a:lvl3pPr>
            <a:lvl4pPr>
              <a:defRPr sz="1650" b="0">
                <a:solidFill>
                  <a:srgbClr val="173344"/>
                </a:solidFill>
                <a:latin typeface="Arial"/>
                <a:ea typeface="Arial"/>
                <a:cs typeface="Arial"/>
              </a:defRPr>
            </a:lvl4pPr>
            <a:lvl5pPr>
              <a:defRPr sz="1650" b="0">
                <a:solidFill>
                  <a:srgbClr val="173344"/>
                </a:solidFill>
                <a:latin typeface="Arial"/>
                <a:ea typeface="Arial"/>
                <a:cs typeface="Arial"/>
              </a:defRPr>
            </a:lvl5pPr>
            <a:lvl6pPr>
              <a:defRPr sz="1650" b="0">
                <a:solidFill>
                  <a:srgbClr val="173344"/>
                </a:solidFill>
                <a:latin typeface="Arial"/>
                <a:ea typeface="Arial"/>
                <a:cs typeface="Arial"/>
              </a:defRPr>
            </a:lvl6pPr>
            <a:lvl7pPr>
              <a:defRPr sz="1650" b="0">
                <a:solidFill>
                  <a:srgbClr val="173344"/>
                </a:solidFill>
                <a:latin typeface="Arial"/>
                <a:ea typeface="Arial"/>
                <a:cs typeface="Arial"/>
              </a:defRPr>
            </a:lvl7pPr>
            <a:lvl8pPr>
              <a:defRPr sz="1650" b="0">
                <a:solidFill>
                  <a:srgbClr val="173344"/>
                </a:solidFill>
                <a:latin typeface="Arial"/>
                <a:ea typeface="Arial"/>
                <a:cs typeface="Arial"/>
              </a:defRPr>
            </a:lvl8pPr>
            <a:lvl9pPr>
              <a:defRPr sz="1650" b="0">
                <a:solidFill>
                  <a:srgbClr val="173344"/>
                </a:solidFill>
                <a:latin typeface="Arial"/>
                <a:ea typeface="Arial"/>
                <a:cs typeface="Arial"/>
              </a:defRPr>
            </a:lvl9pPr>
          </a:lstStyle>
          <a:p>
            <a:pPr>
              <a:defRPr sz="1650" b="0">
                <a:solidFill>
                  <a:srgbClr val="173344"/>
                </a:solidFill>
                <a:latin typeface="Arial"/>
                <a:ea typeface="Arial"/>
                <a:cs typeface="Arial"/>
              </a:defRPr>
            </a:pPr>
            <a:r>
              <a:rPr sz="1650" b="0">
                <a:solidFill>
                  <a:srgbClr val="000000"/>
                </a:solidFill>
                <a:latin typeface="Calibri" panose="020F0502020204030204" pitchFamily="34" charset="0"/>
                <a:ea typeface="Arial"/>
                <a:cs typeface="Arial"/>
              </a:rPr>
              <a:t>Baseline battery / motor split is unknown within the 70 kg vertical-propulsion group.</a:t>
            </a:r>
          </a:p>
          <a:p>
            <a:pPr>
              <a:defRPr sz="1650" b="0">
                <a:solidFill>
                  <a:srgbClr val="173344"/>
                </a:solidFill>
                <a:latin typeface="Arial"/>
                <a:ea typeface="Arial"/>
                <a:cs typeface="Arial"/>
              </a:defRPr>
            </a:pPr>
            <a:r>
              <a:rPr sz="1650" b="0">
                <a:solidFill>
                  <a:srgbClr val="000000"/>
                </a:solidFill>
                <a:latin typeface="Calibri" panose="020F0502020204030204" pitchFamily="34" charset="0"/>
                <a:ea typeface="Arial"/>
                <a:cs typeface="Arial"/>
              </a:rPr>
              <a:t>A common equipment inventory and ground-run mission must precede a new sizing comparison.</a:t>
            </a:r>
          </a:p>
        </p:txBody>
      </p:sp>
      <p:sp>
        <p:nvSpPr>
          <p:cNvPr id="7" name="Rectangle 6">
            <a:extLst>
              <a:ext uri="{FF2B5EF4-FFF2-40B4-BE49-F238E27FC236}">
                <a16:creationId xmlns:a16="http://schemas.microsoft.com/office/drawing/2014/main" id="{CF052154-1D18-4596-A220-9982D8177875}"/>
              </a:ext>
            </a:extLst>
          </p:cNvPr>
          <p:cNvSpPr>
            <a:spLocks noGrp="1"/>
          </p:cNvSpPr>
          <p:nvPr/>
        </p:nvSpPr>
        <p:spPr>
          <a:xfrm>
            <a:off x="476250" y="6010275"/>
            <a:ext cx="11239500" cy="447675"/>
          </a:xfrm>
          <a:prstGeom prst="rect">
            <a:avLst/>
          </a:prstGeom>
          <a:noFill/>
          <a:ln w="0">
            <a:noFill/>
          </a:ln>
        </p:spPr>
        <p:txBody>
          <a:bodyPr/>
          <a:lstStyle>
            <a:defPPr>
              <a:defRPr sz="1275" b="0">
                <a:solidFill>
                  <a:srgbClr val="536675"/>
                </a:solidFill>
                <a:latin typeface="Arial"/>
                <a:ea typeface="Arial"/>
                <a:cs typeface="Arial"/>
              </a:defRPr>
            </a:defPPr>
            <a:lvl1pPr>
              <a:defRPr sz="1275" b="0">
                <a:solidFill>
                  <a:srgbClr val="536675"/>
                </a:solidFill>
                <a:latin typeface="Arial"/>
                <a:ea typeface="Arial"/>
                <a:cs typeface="Arial"/>
              </a:defRPr>
            </a:lvl1pPr>
            <a:lvl2pPr>
              <a:defRPr sz="1275" b="0">
                <a:solidFill>
                  <a:srgbClr val="536675"/>
                </a:solidFill>
                <a:latin typeface="Arial"/>
                <a:ea typeface="Arial"/>
                <a:cs typeface="Arial"/>
              </a:defRPr>
            </a:lvl2pPr>
            <a:lvl3pPr>
              <a:defRPr sz="1275" b="0">
                <a:solidFill>
                  <a:srgbClr val="536675"/>
                </a:solidFill>
                <a:latin typeface="Arial"/>
                <a:ea typeface="Arial"/>
                <a:cs typeface="Arial"/>
              </a:defRPr>
            </a:lvl3pPr>
            <a:lvl4pPr>
              <a:defRPr sz="1275" b="0">
                <a:solidFill>
                  <a:srgbClr val="536675"/>
                </a:solidFill>
                <a:latin typeface="Arial"/>
                <a:ea typeface="Arial"/>
                <a:cs typeface="Arial"/>
              </a:defRPr>
            </a:lvl4pPr>
            <a:lvl5pPr>
              <a:defRPr sz="1275" b="0">
                <a:solidFill>
                  <a:srgbClr val="536675"/>
                </a:solidFill>
                <a:latin typeface="Arial"/>
                <a:ea typeface="Arial"/>
                <a:cs typeface="Arial"/>
              </a:defRPr>
            </a:lvl5pPr>
            <a:lvl6pPr>
              <a:defRPr sz="1275" b="0">
                <a:solidFill>
                  <a:srgbClr val="536675"/>
                </a:solidFill>
                <a:latin typeface="Arial"/>
                <a:ea typeface="Arial"/>
                <a:cs typeface="Arial"/>
              </a:defRPr>
            </a:lvl6pPr>
            <a:lvl7pPr>
              <a:defRPr sz="1275" b="0">
                <a:solidFill>
                  <a:srgbClr val="536675"/>
                </a:solidFill>
                <a:latin typeface="Arial"/>
                <a:ea typeface="Arial"/>
                <a:cs typeface="Arial"/>
              </a:defRPr>
            </a:lvl7pPr>
            <a:lvl8pPr>
              <a:defRPr sz="1275" b="0">
                <a:solidFill>
                  <a:srgbClr val="536675"/>
                </a:solidFill>
                <a:latin typeface="Arial"/>
                <a:ea typeface="Arial"/>
                <a:cs typeface="Arial"/>
              </a:defRPr>
            </a:lvl8pPr>
            <a:lvl9pPr>
              <a:defRPr sz="1275" b="0">
                <a:solidFill>
                  <a:srgbClr val="536675"/>
                </a:solidFill>
                <a:latin typeface="Arial"/>
                <a:ea typeface="Arial"/>
                <a:cs typeface="Arial"/>
              </a:defRPr>
            </a:lvl9pPr>
          </a:lstStyle>
          <a:p>
            <a:pPr>
              <a:defRPr sz="1275" b="0">
                <a:solidFill>
                  <a:srgbClr val="536675"/>
                </a:solidFill>
                <a:latin typeface="Arial"/>
                <a:ea typeface="Arial"/>
                <a:cs typeface="Arial"/>
              </a:defRPr>
            </a:pPr>
            <a:endParaRPr sz="1275" b="0">
              <a:solidFill>
                <a:srgbClr val="000000"/>
              </a:solidFill>
              <a:latin typeface="Calibri" panose="020F0502020204030204" pitchFamily="34" charset="0"/>
              <a:ea typeface="Arial"/>
              <a:cs typeface="Arial"/>
            </a:endParaRPr>
          </a:p>
        </p:txBody>
      </p:sp>
      <p:sp>
        <p:nvSpPr>
          <p:cNvPr id="9" name="TextBox 8">
            <a:extLst>
              <a:ext uri="{FF2B5EF4-FFF2-40B4-BE49-F238E27FC236}">
                <a16:creationId xmlns:a16="http://schemas.microsoft.com/office/drawing/2014/main" id="{D6934F1E-1DD1-624A-9AB9-173F5E241234}"/>
              </a:ext>
            </a:extLst>
          </p:cNvPr>
          <p:cNvSpPr txBox="1"/>
          <p:nvPr/>
        </p:nvSpPr>
        <p:spPr>
          <a:xfrm>
            <a:off x="476250" y="6400800"/>
            <a:ext cx="11074400" cy="323165"/>
          </a:xfrm>
          <a:prstGeom prst="rect">
            <a:avLst/>
          </a:prstGeom>
          <a:noFill/>
        </p:spPr>
        <p:txBody>
          <a:bodyPr vert="horz" lIns="0" tIns="0" rIns="0" bIns="0" rtlCol="0">
            <a:spAutoFit/>
          </a:bodyPr>
          <a:lstStyle/>
          <a:p>
            <a:r>
              <a:rPr lang="en-US" sz="1050">
                <a:solidFill>
                  <a:srgbClr val="000000"/>
                </a:solidFill>
                <a:latin typeface="Calibri" panose="020F0502020204030204" pitchFamily="34" charset="0"/>
              </a:rPr>
              <a:t>[U1] Revised baseline intake, 27 Oct 2026. [S7] Corrected UAV results use 60 s ground operation, not baseline 20 min.
The 2 kg is confirmed ground burn, not an inferred landing reserve. Main baseline battery submasses remain unconfirmed.</a:t>
            </a:r>
          </a:p>
        </p:txBody>
      </p:sp>
      <p:sp>
        <p:nvSpPr>
          <p:cNvPr id="10" name="TextBox 9">
            <a:extLst>
              <a:ext uri="{FF2B5EF4-FFF2-40B4-BE49-F238E27FC236}">
                <a16:creationId xmlns:a16="http://schemas.microsoft.com/office/drawing/2014/main" id="{625D023C-01A9-EF4F-B982-3AC02495448F}"/>
              </a:ext>
            </a:extLst>
          </p:cNvPr>
          <p:cNvSpPr txBox="1"/>
          <p:nvPr/>
        </p:nvSpPr>
        <p:spPr>
          <a:xfrm>
            <a:off x="11671300" y="6527800"/>
            <a:ext cx="355600" cy="153888"/>
          </a:xfrm>
          <a:prstGeom prst="rect">
            <a:avLst/>
          </a:prstGeom>
          <a:noFill/>
        </p:spPr>
        <p:txBody>
          <a:bodyPr vert="horz" lIns="0" tIns="0" rIns="0" bIns="0" rtlCol="0">
            <a:spAutoFit/>
          </a:bodyPr>
          <a:lstStyle/>
          <a:p>
            <a:r>
              <a:rPr lang="en-US" sz="1000">
                <a:solidFill>
                  <a:srgbClr val="000000"/>
                </a:solidFill>
                <a:latin typeface="Calibri" panose="020F0502020204030204" pitchFamily="34" charset="0"/>
              </a:rPr>
              <a:t>33</a:t>
            </a:r>
          </a:p>
        </p:txBody>
      </p:sp>
    </p:spTree>
    <p:extLst>
      <p:ext uri="{BB962C8B-B14F-4D97-AF65-F5344CB8AC3E}">
        <p14:creationId xmlns:p14="http://schemas.microsoft.com/office/powerpoint/2010/main" val="19356496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FA9E10E-1F07-4922-882B-FEB89681BB9B}"/>
              </a:ext>
            </a:extLst>
          </p:cNvPr>
          <p:cNvSpPr>
            <a:spLocks noGrp="1"/>
          </p:cNvSpPr>
          <p:nvPr/>
        </p:nvSpPr>
        <p:spPr>
          <a:xfrm>
            <a:off x="838200" y="361950"/>
            <a:ext cx="10896600" cy="571500"/>
          </a:xfrm>
          <a:prstGeom prst="rect">
            <a:avLst/>
          </a:prstGeom>
          <a:noFill/>
          <a:ln w="0">
            <a:noFill/>
          </a:ln>
        </p:spPr>
        <p:txBody>
          <a:bodyPr/>
          <a:lstStyle>
            <a:defPPr>
              <a:defRPr sz="2775" b="1">
                <a:solidFill>
                  <a:srgbClr val="173344"/>
                </a:solidFill>
                <a:latin typeface="Arial"/>
                <a:ea typeface="Arial"/>
                <a:cs typeface="Arial"/>
              </a:defRPr>
            </a:defPPr>
            <a:lvl1pPr>
              <a:defRPr sz="2775" b="1">
                <a:solidFill>
                  <a:srgbClr val="173344"/>
                </a:solidFill>
                <a:latin typeface="Arial"/>
                <a:ea typeface="Arial"/>
                <a:cs typeface="Arial"/>
              </a:defRPr>
            </a:lvl1pPr>
            <a:lvl2pPr>
              <a:defRPr sz="2775" b="1">
                <a:solidFill>
                  <a:srgbClr val="173344"/>
                </a:solidFill>
                <a:latin typeface="Arial"/>
                <a:ea typeface="Arial"/>
                <a:cs typeface="Arial"/>
              </a:defRPr>
            </a:lvl2pPr>
            <a:lvl3pPr>
              <a:defRPr sz="2775" b="1">
                <a:solidFill>
                  <a:srgbClr val="173344"/>
                </a:solidFill>
                <a:latin typeface="Arial"/>
                <a:ea typeface="Arial"/>
                <a:cs typeface="Arial"/>
              </a:defRPr>
            </a:lvl3pPr>
            <a:lvl4pPr>
              <a:defRPr sz="2775" b="1">
                <a:solidFill>
                  <a:srgbClr val="173344"/>
                </a:solidFill>
                <a:latin typeface="Arial"/>
                <a:ea typeface="Arial"/>
                <a:cs typeface="Arial"/>
              </a:defRPr>
            </a:lvl4pPr>
            <a:lvl5pPr>
              <a:defRPr sz="2775" b="1">
                <a:solidFill>
                  <a:srgbClr val="173344"/>
                </a:solidFill>
                <a:latin typeface="Arial"/>
                <a:ea typeface="Arial"/>
                <a:cs typeface="Arial"/>
              </a:defRPr>
            </a:lvl5pPr>
            <a:lvl6pPr>
              <a:defRPr sz="2775" b="1">
                <a:solidFill>
                  <a:srgbClr val="173344"/>
                </a:solidFill>
                <a:latin typeface="Arial"/>
                <a:ea typeface="Arial"/>
                <a:cs typeface="Arial"/>
              </a:defRPr>
            </a:lvl6pPr>
            <a:lvl7pPr>
              <a:defRPr sz="2775" b="1">
                <a:solidFill>
                  <a:srgbClr val="173344"/>
                </a:solidFill>
                <a:latin typeface="Arial"/>
                <a:ea typeface="Arial"/>
                <a:cs typeface="Arial"/>
              </a:defRPr>
            </a:lvl7pPr>
            <a:lvl8pPr>
              <a:defRPr sz="2775" b="1">
                <a:solidFill>
                  <a:srgbClr val="173344"/>
                </a:solidFill>
                <a:latin typeface="Arial"/>
                <a:ea typeface="Arial"/>
                <a:cs typeface="Arial"/>
              </a:defRPr>
            </a:lvl8pPr>
            <a:lvl9pPr>
              <a:defRPr sz="2775" b="1">
                <a:solidFill>
                  <a:srgbClr val="173344"/>
                </a:solidFill>
                <a:latin typeface="Arial"/>
                <a:ea typeface="Arial"/>
                <a:cs typeface="Arial"/>
              </a:defRPr>
            </a:lvl9pPr>
          </a:lstStyle>
          <a:p>
            <a:pPr>
              <a:defRPr sz="2775" b="1">
                <a:solidFill>
                  <a:srgbClr val="173344"/>
                </a:solidFill>
                <a:latin typeface="Arial"/>
                <a:ea typeface="Arial"/>
                <a:cs typeface="Arial"/>
              </a:defRPr>
            </a:pPr>
            <a:r>
              <a:rPr sz="2400" b="1">
                <a:solidFill>
                  <a:srgbClr val="000000"/>
                </a:solidFill>
                <a:latin typeface="Calibri" panose="020F0502020204030204" pitchFamily="34" charset="0"/>
                <a:ea typeface="Arial"/>
                <a:cs typeface="Arial"/>
              </a:rPr>
              <a:t>Appendix: sweep definition and hardware evidence</a:t>
            </a:r>
          </a:p>
        </p:txBody>
      </p:sp>
      <p:sp>
        <p:nvSpPr>
          <p:cNvPr id="2" name="Rectangle 1">
            <a:extLst>
              <a:ext uri="{FF2B5EF4-FFF2-40B4-BE49-F238E27FC236}">
                <a16:creationId xmlns:a16="http://schemas.microsoft.com/office/drawing/2014/main" id="{904FA6AC-9CBD-4BEF-82D4-D398A7AD3567}"/>
              </a:ext>
            </a:extLst>
          </p:cNvPr>
          <p:cNvSpPr>
            <a:spLocks noGrp="1"/>
          </p:cNvSpPr>
          <p:nvPr/>
        </p:nvSpPr>
        <p:spPr>
          <a:xfrm>
            <a:off x="476250" y="876300"/>
            <a:ext cx="11239500" cy="523875"/>
          </a:xfrm>
          <a:prstGeom prst="rect">
            <a:avLst/>
          </a:prstGeom>
          <a:noFill/>
          <a:ln w="0">
            <a:noFill/>
          </a:ln>
        </p:spPr>
        <p:txBody>
          <a:bodyPr/>
          <a:lstStyle>
            <a:defPPr>
              <a:defRPr sz="1575" b="0">
                <a:solidFill>
                  <a:srgbClr val="536675"/>
                </a:solidFill>
                <a:latin typeface="Arial"/>
                <a:ea typeface="Arial"/>
                <a:cs typeface="Arial"/>
              </a:defRPr>
            </a:defPPr>
            <a:lvl1pPr>
              <a:defRPr sz="1575" b="0">
                <a:solidFill>
                  <a:srgbClr val="536675"/>
                </a:solidFill>
                <a:latin typeface="Arial"/>
                <a:ea typeface="Arial"/>
                <a:cs typeface="Arial"/>
              </a:defRPr>
            </a:lvl1pPr>
            <a:lvl2pPr>
              <a:defRPr sz="1575" b="0">
                <a:solidFill>
                  <a:srgbClr val="536675"/>
                </a:solidFill>
                <a:latin typeface="Arial"/>
                <a:ea typeface="Arial"/>
                <a:cs typeface="Arial"/>
              </a:defRPr>
            </a:lvl2pPr>
            <a:lvl3pPr>
              <a:defRPr sz="1575" b="0">
                <a:solidFill>
                  <a:srgbClr val="536675"/>
                </a:solidFill>
                <a:latin typeface="Arial"/>
                <a:ea typeface="Arial"/>
                <a:cs typeface="Arial"/>
              </a:defRPr>
            </a:lvl3pPr>
            <a:lvl4pPr>
              <a:defRPr sz="1575" b="0">
                <a:solidFill>
                  <a:srgbClr val="536675"/>
                </a:solidFill>
                <a:latin typeface="Arial"/>
                <a:ea typeface="Arial"/>
                <a:cs typeface="Arial"/>
              </a:defRPr>
            </a:lvl4pPr>
            <a:lvl5pPr>
              <a:defRPr sz="1575" b="0">
                <a:solidFill>
                  <a:srgbClr val="536675"/>
                </a:solidFill>
                <a:latin typeface="Arial"/>
                <a:ea typeface="Arial"/>
                <a:cs typeface="Arial"/>
              </a:defRPr>
            </a:lvl5pPr>
            <a:lvl6pPr>
              <a:defRPr sz="1575" b="0">
                <a:solidFill>
                  <a:srgbClr val="536675"/>
                </a:solidFill>
                <a:latin typeface="Arial"/>
                <a:ea typeface="Arial"/>
                <a:cs typeface="Arial"/>
              </a:defRPr>
            </a:lvl6pPr>
            <a:lvl7pPr>
              <a:defRPr sz="1575" b="0">
                <a:solidFill>
                  <a:srgbClr val="536675"/>
                </a:solidFill>
                <a:latin typeface="Arial"/>
                <a:ea typeface="Arial"/>
                <a:cs typeface="Arial"/>
              </a:defRPr>
            </a:lvl7pPr>
            <a:lvl8pPr>
              <a:defRPr sz="1575" b="0">
                <a:solidFill>
                  <a:srgbClr val="536675"/>
                </a:solidFill>
                <a:latin typeface="Arial"/>
                <a:ea typeface="Arial"/>
                <a:cs typeface="Arial"/>
              </a:defRPr>
            </a:lvl8pPr>
            <a:lvl9pPr>
              <a:defRPr sz="1575" b="0">
                <a:solidFill>
                  <a:srgbClr val="536675"/>
                </a:solidFill>
                <a:latin typeface="Arial"/>
                <a:ea typeface="Arial"/>
                <a:cs typeface="Arial"/>
              </a:defRPr>
            </a:lvl9pPr>
          </a:lstStyle>
          <a:p>
            <a:pPr>
              <a:defRPr sz="1575" b="0">
                <a:solidFill>
                  <a:srgbClr val="536675"/>
                </a:solidFill>
                <a:latin typeface="Arial"/>
                <a:ea typeface="Arial"/>
                <a:cs typeface="Arial"/>
              </a:defRPr>
            </a:pPr>
            <a:r>
              <a:rPr sz="1575" b="0">
                <a:solidFill>
                  <a:srgbClr val="000000"/>
                </a:solidFill>
                <a:latin typeface="Calibri" panose="020F0502020204030204" pitchFamily="34" charset="0"/>
                <a:ea typeface="Arial"/>
                <a:cs typeface="Arial"/>
              </a:rPr>
              <a:t>Exact sampled settings and supplier limits define the scope of each comparison.</a:t>
            </a:r>
          </a:p>
        </p:txBody>
      </p:sp>
      <p:sp>
        <p:nvSpPr>
          <p:cNvPr id="3" name="Rectangle 2">
            <a:extLst>
              <a:ext uri="{FF2B5EF4-FFF2-40B4-BE49-F238E27FC236}">
                <a16:creationId xmlns:a16="http://schemas.microsoft.com/office/drawing/2014/main" id="{74982F51-7754-48EB-8CDD-1973CFCF459F}"/>
              </a:ext>
            </a:extLst>
          </p:cNvPr>
          <p:cNvSpPr>
            <a:spLocks noGrp="1"/>
          </p:cNvSpPr>
          <p:nvPr/>
        </p:nvSpPr>
        <p:spPr>
          <a:xfrm>
            <a:off x="476250" y="6524625"/>
            <a:ext cx="10477500" cy="190500"/>
          </a:xfrm>
          <a:prstGeom prst="rect">
            <a:avLst/>
          </a:prstGeom>
          <a:noFill/>
          <a:ln w="0">
            <a:noFill/>
          </a:ln>
        </p:spPr>
        <p:txBody>
          <a:bodyPr/>
          <a:lstStyle>
            <a:defPPr>
              <a:defRPr sz="975" b="0">
                <a:solidFill>
                  <a:srgbClr val="536675"/>
                </a:solidFill>
                <a:latin typeface="Arial"/>
                <a:ea typeface="Arial"/>
                <a:cs typeface="Arial"/>
              </a:defRPr>
            </a:defPPr>
            <a:lvl1pPr>
              <a:defRPr sz="975" b="0">
                <a:solidFill>
                  <a:srgbClr val="536675"/>
                </a:solidFill>
                <a:latin typeface="Arial"/>
                <a:ea typeface="Arial"/>
                <a:cs typeface="Arial"/>
              </a:defRPr>
            </a:lvl1pPr>
            <a:lvl2pPr>
              <a:defRPr sz="975" b="0">
                <a:solidFill>
                  <a:srgbClr val="536675"/>
                </a:solidFill>
                <a:latin typeface="Arial"/>
                <a:ea typeface="Arial"/>
                <a:cs typeface="Arial"/>
              </a:defRPr>
            </a:lvl2pPr>
            <a:lvl3pPr>
              <a:defRPr sz="975" b="0">
                <a:solidFill>
                  <a:srgbClr val="536675"/>
                </a:solidFill>
                <a:latin typeface="Arial"/>
                <a:ea typeface="Arial"/>
                <a:cs typeface="Arial"/>
              </a:defRPr>
            </a:lvl3pPr>
            <a:lvl4pPr>
              <a:defRPr sz="975" b="0">
                <a:solidFill>
                  <a:srgbClr val="536675"/>
                </a:solidFill>
                <a:latin typeface="Arial"/>
                <a:ea typeface="Arial"/>
                <a:cs typeface="Arial"/>
              </a:defRPr>
            </a:lvl4pPr>
            <a:lvl5pPr>
              <a:defRPr sz="975" b="0">
                <a:solidFill>
                  <a:srgbClr val="536675"/>
                </a:solidFill>
                <a:latin typeface="Arial"/>
                <a:ea typeface="Arial"/>
                <a:cs typeface="Arial"/>
              </a:defRPr>
            </a:lvl5pPr>
            <a:lvl6pPr>
              <a:defRPr sz="975" b="0">
                <a:solidFill>
                  <a:srgbClr val="536675"/>
                </a:solidFill>
                <a:latin typeface="Arial"/>
                <a:ea typeface="Arial"/>
                <a:cs typeface="Arial"/>
              </a:defRPr>
            </a:lvl6pPr>
            <a:lvl7pPr>
              <a:defRPr sz="975" b="0">
                <a:solidFill>
                  <a:srgbClr val="536675"/>
                </a:solidFill>
                <a:latin typeface="Arial"/>
                <a:ea typeface="Arial"/>
                <a:cs typeface="Arial"/>
              </a:defRPr>
            </a:lvl7pPr>
            <a:lvl8pPr>
              <a:defRPr sz="975" b="0">
                <a:solidFill>
                  <a:srgbClr val="536675"/>
                </a:solidFill>
                <a:latin typeface="Arial"/>
                <a:ea typeface="Arial"/>
                <a:cs typeface="Arial"/>
              </a:defRPr>
            </a:lvl8pPr>
            <a:lvl9pPr>
              <a:defRPr sz="975" b="0">
                <a:solidFill>
                  <a:srgbClr val="536675"/>
                </a:solidFill>
                <a:latin typeface="Arial"/>
                <a:ea typeface="Arial"/>
                <a:cs typeface="Arial"/>
              </a:defRPr>
            </a:lvl9pPr>
          </a:lstStyle>
          <a:p>
            <a:pPr>
              <a:defRPr sz="975" b="0">
                <a:solidFill>
                  <a:srgbClr val="536675"/>
                </a:solidFill>
                <a:latin typeface="Arial"/>
                <a:ea typeface="Arial"/>
                <a:cs typeface="Arial"/>
              </a:defRPr>
            </a:pPr>
            <a:endParaRPr sz="975" b="0">
              <a:solidFill>
                <a:srgbClr val="000000"/>
              </a:solidFill>
              <a:latin typeface="Calibri" panose="020F0502020204030204" pitchFamily="34" charset="0"/>
              <a:ea typeface="Arial"/>
              <a:cs typeface="Arial"/>
            </a:endParaRPr>
          </a:p>
        </p:txBody>
      </p:sp>
      <p:sp>
        <p:nvSpPr>
          <p:cNvPr id="4" name="Rectangle 3">
            <a:extLst>
              <a:ext uri="{FF2B5EF4-FFF2-40B4-BE49-F238E27FC236}">
                <a16:creationId xmlns:a16="http://schemas.microsoft.com/office/drawing/2014/main" id="{E33F9351-2355-43AE-8996-9EEA4ACF430B}"/>
              </a:ext>
            </a:extLst>
          </p:cNvPr>
          <p:cNvSpPr>
            <a:spLocks noGrp="1"/>
          </p:cNvSpPr>
          <p:nvPr/>
        </p:nvSpPr>
        <p:spPr>
          <a:xfrm>
            <a:off x="11334750" y="6496050"/>
            <a:ext cx="381000" cy="228600"/>
          </a:xfrm>
          <a:prstGeom prst="rect">
            <a:avLst/>
          </a:prstGeom>
          <a:noFill/>
          <a:ln w="0">
            <a:noFill/>
          </a:ln>
        </p:spPr>
        <p:txBody>
          <a:bodyPr/>
          <a:lstStyle>
            <a:defPPr>
              <a:defRPr sz="1200" b="0">
                <a:solidFill>
                  <a:srgbClr val="536675"/>
                </a:solidFill>
                <a:latin typeface="Arial"/>
                <a:ea typeface="Arial"/>
                <a:cs typeface="Arial"/>
              </a:defRPr>
            </a:defPPr>
            <a:lvl1pPr>
              <a:defRPr sz="1200" b="0">
                <a:solidFill>
                  <a:srgbClr val="536675"/>
                </a:solidFill>
                <a:latin typeface="Arial"/>
                <a:ea typeface="Arial"/>
                <a:cs typeface="Arial"/>
              </a:defRPr>
            </a:lvl1pPr>
            <a:lvl2pPr>
              <a:defRPr sz="1200" b="0">
                <a:solidFill>
                  <a:srgbClr val="536675"/>
                </a:solidFill>
                <a:latin typeface="Arial"/>
                <a:ea typeface="Arial"/>
                <a:cs typeface="Arial"/>
              </a:defRPr>
            </a:lvl2pPr>
            <a:lvl3pPr>
              <a:defRPr sz="1200" b="0">
                <a:solidFill>
                  <a:srgbClr val="536675"/>
                </a:solidFill>
                <a:latin typeface="Arial"/>
                <a:ea typeface="Arial"/>
                <a:cs typeface="Arial"/>
              </a:defRPr>
            </a:lvl3pPr>
            <a:lvl4pPr>
              <a:defRPr sz="1200" b="0">
                <a:solidFill>
                  <a:srgbClr val="536675"/>
                </a:solidFill>
                <a:latin typeface="Arial"/>
                <a:ea typeface="Arial"/>
                <a:cs typeface="Arial"/>
              </a:defRPr>
            </a:lvl4pPr>
            <a:lvl5pPr>
              <a:defRPr sz="1200" b="0">
                <a:solidFill>
                  <a:srgbClr val="536675"/>
                </a:solidFill>
                <a:latin typeface="Arial"/>
                <a:ea typeface="Arial"/>
                <a:cs typeface="Arial"/>
              </a:defRPr>
            </a:lvl5pPr>
            <a:lvl6pPr>
              <a:defRPr sz="1200" b="0">
                <a:solidFill>
                  <a:srgbClr val="536675"/>
                </a:solidFill>
                <a:latin typeface="Arial"/>
                <a:ea typeface="Arial"/>
                <a:cs typeface="Arial"/>
              </a:defRPr>
            </a:lvl6pPr>
            <a:lvl7pPr>
              <a:defRPr sz="1200" b="0">
                <a:solidFill>
                  <a:srgbClr val="536675"/>
                </a:solidFill>
                <a:latin typeface="Arial"/>
                <a:ea typeface="Arial"/>
                <a:cs typeface="Arial"/>
              </a:defRPr>
            </a:lvl7pPr>
            <a:lvl8pPr>
              <a:defRPr sz="1200" b="0">
                <a:solidFill>
                  <a:srgbClr val="536675"/>
                </a:solidFill>
                <a:latin typeface="Arial"/>
                <a:ea typeface="Arial"/>
                <a:cs typeface="Arial"/>
              </a:defRPr>
            </a:lvl8pPr>
            <a:lvl9pPr>
              <a:defRPr sz="1200" b="0">
                <a:solidFill>
                  <a:srgbClr val="536675"/>
                </a:solidFill>
                <a:latin typeface="Arial"/>
                <a:ea typeface="Arial"/>
                <a:cs typeface="Arial"/>
              </a:defRPr>
            </a:lvl9pPr>
          </a:lstStyle>
          <a:p>
            <a:pPr>
              <a:defRPr sz="1200" b="0">
                <a:solidFill>
                  <a:srgbClr val="536675"/>
                </a:solidFill>
                <a:latin typeface="Arial"/>
                <a:ea typeface="Arial"/>
                <a:cs typeface="Arial"/>
              </a:defRPr>
            </a:pPr>
            <a:endParaRPr sz="1200" b="0">
              <a:solidFill>
                <a:srgbClr val="000000"/>
              </a:solidFill>
              <a:latin typeface="Calibri" panose="020F0502020204030204" pitchFamily="34" charset="0"/>
              <a:ea typeface="Arial"/>
              <a:cs typeface="Arial"/>
            </a:endParaRPr>
          </a:p>
        </p:txBody>
      </p:sp>
      <p:graphicFrame>
        <p:nvGraphicFramePr>
          <p:cNvPr id="5" name="Table 4">
            <a:extLst>
              <a:ext uri="{FF2B5EF4-FFF2-40B4-BE49-F238E27FC236}">
                <a16:creationId xmlns:a16="http://schemas.microsoft.com/office/drawing/2014/main" id="{2AB4312A-AB29-408B-A0FD-4CB3E1D4885A}"/>
              </a:ext>
            </a:extLst>
          </p:cNvPr>
          <p:cNvGraphicFramePr/>
          <p:nvPr>
            <p:extLst>
              <p:ext uri="{D42A27DB-BD31-4B8C-83A1-F6EECF244321}">
                <p14:modId xmlns:p14="http://schemas.microsoft.com/office/powerpoint/2010/main" val="2770161882"/>
              </p:ext>
            </p:extLst>
          </p:nvPr>
        </p:nvGraphicFramePr>
        <p:xfrm>
          <a:off x="476250" y="1524000"/>
          <a:ext cx="11239500" cy="3095625"/>
        </p:xfrm>
        <a:graphic>
          <a:graphicData uri="http://schemas.openxmlformats.org/drawingml/2006/table">
            <a:tbl>
              <a:tblPr/>
              <a:tblGrid>
                <a:gridCol w="295275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3714750">
                  <a:extLst>
                    <a:ext uri="{9D8B030D-6E8A-4147-A177-3AD203B41FA5}">
                      <a16:colId xmlns:a16="http://schemas.microsoft.com/office/drawing/2014/main" val="20002"/>
                    </a:ext>
                  </a:extLst>
                </a:gridCol>
              </a:tblGrid>
              <a:tr h="619125">
                <a:tc>
                  <a:txBody>
                    <a:bodyPr/>
                    <a:lstStyle/>
                    <a:p>
                      <a:r>
                        <a:rPr sz="1425" b="1">
                          <a:solidFill>
                            <a:srgbClr val="000000"/>
                          </a:solidFill>
                          <a:latin typeface="Calibri" panose="020F0502020204030204" pitchFamily="34" charset="0"/>
                          <a:ea typeface="Arial"/>
                          <a:cs typeface="Arial"/>
                        </a:rPr>
                        <a:t>Study</a:t>
                      </a:r>
                    </a:p>
                  </a:txBody>
                  <a:tcPr>
                    <a:lnL w="9525">
                      <a:solidFill>
                        <a:srgbClr val="DCE4E8"/>
                      </a:solidFill>
                    </a:lnL>
                    <a:lnR w="9525">
                      <a:solidFill>
                        <a:srgbClr val="DCE4E8"/>
                      </a:solidFill>
                    </a:lnR>
                    <a:lnT w="9525">
                      <a:solidFill>
                        <a:srgbClr val="DCE4E8"/>
                      </a:solidFill>
                    </a:lnT>
                    <a:lnB w="9525">
                      <a:solidFill>
                        <a:srgbClr val="DCE4E8"/>
                      </a:solidFill>
                    </a:lnB>
                    <a:solidFill>
                      <a:srgbClr val="D9D9D9"/>
                    </a:solidFill>
                  </a:tcPr>
                </a:tc>
                <a:tc>
                  <a:txBody>
                    <a:bodyPr/>
                    <a:lstStyle/>
                    <a:p>
                      <a:r>
                        <a:rPr sz="1425" b="1">
                          <a:solidFill>
                            <a:srgbClr val="000000"/>
                          </a:solidFill>
                          <a:latin typeface="Calibri" panose="020F0502020204030204" pitchFamily="34" charset="0"/>
                          <a:ea typeface="Arial"/>
                          <a:cs typeface="Arial"/>
                        </a:rPr>
                        <a:t>Sampled settings</a:t>
                      </a:r>
                    </a:p>
                  </a:txBody>
                  <a:tcPr>
                    <a:lnL w="9525" cap="flat" cmpd="sng" algn="ctr">
                      <a:solidFill>
                        <a:srgbClr val="DCE4E8"/>
                      </a:solidFill>
                      <a:prstDash val="solid"/>
                      <a:round/>
                      <a:headEnd type="none" w="med" len="med"/>
                      <a:tailEnd type="none" w="med" len="med"/>
                    </a:lnL>
                    <a:lnR w="9525">
                      <a:solidFill>
                        <a:srgbClr val="DCE4E8"/>
                      </a:solidFill>
                    </a:lnR>
                    <a:lnT w="9525">
                      <a:solidFill>
                        <a:srgbClr val="DCE4E8"/>
                      </a:solidFill>
                    </a:lnT>
                    <a:lnB w="9525">
                      <a:solidFill>
                        <a:srgbClr val="DCE4E8"/>
                      </a:solidFill>
                    </a:lnB>
                    <a:solidFill>
                      <a:srgbClr val="D9D9D9"/>
                    </a:solidFill>
                  </a:tcPr>
                </a:tc>
                <a:tc>
                  <a:txBody>
                    <a:bodyPr/>
                    <a:lstStyle/>
                    <a:p>
                      <a:r>
                        <a:rPr sz="1425" b="1">
                          <a:solidFill>
                            <a:srgbClr val="000000"/>
                          </a:solidFill>
                          <a:latin typeface="Calibri" panose="020F0502020204030204" pitchFamily="34" charset="0"/>
                          <a:ea typeface="Arial"/>
                          <a:cs typeface="Arial"/>
                        </a:rPr>
                        <a:t>Interpretation</a:t>
                      </a:r>
                    </a:p>
                  </a:txBody>
                  <a:tcPr>
                    <a:lnL w="9525" cap="flat" cmpd="sng" algn="ctr">
                      <a:solidFill>
                        <a:srgbClr val="DCE4E8"/>
                      </a:solidFill>
                      <a:prstDash val="solid"/>
                      <a:round/>
                      <a:headEnd type="none" w="med" len="med"/>
                      <a:tailEnd type="none" w="med" len="med"/>
                    </a:lnL>
                    <a:lnR w="9525">
                      <a:solidFill>
                        <a:srgbClr val="DCE4E8"/>
                      </a:solidFill>
                    </a:lnR>
                    <a:lnT w="9525">
                      <a:solidFill>
                        <a:srgbClr val="DCE4E8"/>
                      </a:solidFill>
                    </a:lnT>
                    <a:lnB w="9525">
                      <a:solidFill>
                        <a:srgbClr val="DCE4E8"/>
                      </a:solidFill>
                    </a:lnB>
                    <a:solidFill>
                      <a:srgbClr val="D9D9D9"/>
                    </a:solidFill>
                  </a:tcPr>
                </a:tc>
                <a:extLst>
                  <a:ext uri="{0D108BD9-81ED-4DB2-BD59-A6C34878D82A}">
                    <a16:rowId xmlns:a16="http://schemas.microsoft.com/office/drawing/2014/main" val="10000"/>
                  </a:ext>
                </a:extLst>
              </a:tr>
              <a:tr h="619125">
                <a:tc>
                  <a:txBody>
                    <a:bodyPr/>
                    <a:lstStyle/>
                    <a:p>
                      <a:r>
                        <a:rPr sz="1425" b="0">
                          <a:solidFill>
                            <a:srgbClr val="000000"/>
                          </a:solidFill>
                          <a:latin typeface="Calibri" panose="020F0502020204030204" pitchFamily="34" charset="0"/>
                          <a:ea typeface="Arial"/>
                          <a:cs typeface="Arial"/>
                        </a:rPr>
                        <a:t>Earlier L+C coarse grid</a:t>
                      </a: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sz="1425" b="0">
                          <a:solidFill>
                            <a:srgbClr val="000000"/>
                          </a:solidFill>
                          <a:latin typeface="Calibri" panose="020F0502020204030204" pitchFamily="34" charset="0"/>
                          <a:ea typeface="Arial"/>
                          <a:cs typeface="Arial"/>
                        </a:rPr>
                        <a:t>DL: 15,22,30,40,55,70</a:t>
                      </a:r>
                    </a:p>
                    <a:p>
                      <a:r>
                        <a:rPr sz="1425" b="0">
                          <a:solidFill>
                            <a:srgbClr val="000000"/>
                          </a:solidFill>
                          <a:latin typeface="Calibri" panose="020F0502020204030204" pitchFamily="34" charset="0"/>
                          <a:ea typeface="Arial"/>
                          <a:cs typeface="Arial"/>
                        </a:rPr>
                        <a:t>WL: 60,85,110,135,160</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sz="1425" b="0">
                          <a:solidFill>
                            <a:srgbClr val="000000"/>
                          </a:solidFill>
                          <a:latin typeface="Calibri" panose="020F0502020204030204" pitchFamily="34" charset="0"/>
                          <a:ea typeface="Arial"/>
                          <a:cs typeface="Arial"/>
                        </a:rPr>
                        <a:t>Local refinements near DL26 / WL97</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extLst>
                  <a:ext uri="{0D108BD9-81ED-4DB2-BD59-A6C34878D82A}">
                    <a16:rowId xmlns:a16="http://schemas.microsoft.com/office/drawing/2014/main" val="10001"/>
                  </a:ext>
                </a:extLst>
              </a:tr>
              <a:tr h="619125">
                <a:tc>
                  <a:txBody>
                    <a:bodyPr/>
                    <a:lstStyle/>
                    <a:p>
                      <a:r>
                        <a:rPr lang="en-US" sz="1425" b="0">
                          <a:solidFill>
                            <a:srgbClr val="000000"/>
                          </a:solidFill>
                          <a:latin typeface="Calibri" panose="020F0502020204030204" pitchFamily="34" charset="0"/>
                          <a:ea typeface="Arial"/>
                          <a:cs typeface="Arial"/>
                        </a:rPr>
                        <a:t>Lower-energy L+C coarse grid</a:t>
                      </a:r>
                      <a:endParaRPr sz="1425" b="0">
                        <a:solidFill>
                          <a:srgbClr val="000000"/>
                        </a:solidFill>
                        <a:latin typeface="Calibri" panose="020F0502020204030204" pitchFamily="34" charset="0"/>
                        <a:ea typeface="Arial"/>
                        <a:cs typeface="Arial"/>
                      </a:endParaRP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sz="1425" b="0">
                          <a:solidFill>
                            <a:srgbClr val="000000"/>
                          </a:solidFill>
                          <a:latin typeface="Calibri" panose="020F0502020204030204" pitchFamily="34" charset="0"/>
                          <a:ea typeface="Arial"/>
                          <a:cs typeface="Arial"/>
                        </a:rPr>
                        <a:t>DL: 18,22,26,30,34,38</a:t>
                      </a:r>
                    </a:p>
                    <a:p>
                      <a:r>
                        <a:rPr sz="1425" b="0">
                          <a:solidFill>
                            <a:srgbClr val="000000"/>
                          </a:solidFill>
                          <a:latin typeface="Calibri" panose="020F0502020204030204" pitchFamily="34" charset="0"/>
                          <a:ea typeface="Arial"/>
                          <a:cs typeface="Arial"/>
                        </a:rPr>
                        <a:t>WL: 65,75,85,95,105</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sz="1425" b="0">
                          <a:solidFill>
                            <a:srgbClr val="000000"/>
                          </a:solidFill>
                          <a:latin typeface="Calibri" panose="020F0502020204030204" pitchFamily="34" charset="0"/>
                          <a:ea typeface="Arial"/>
                          <a:cs typeface="Arial"/>
                        </a:rPr>
                        <a:t>Additional local and repeat cases; no full pass</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extLst>
                  <a:ext uri="{0D108BD9-81ED-4DB2-BD59-A6C34878D82A}">
                    <a16:rowId xmlns:a16="http://schemas.microsoft.com/office/drawing/2014/main" val="10002"/>
                  </a:ext>
                </a:extLst>
              </a:tr>
              <a:tr h="619125">
                <a:tc>
                  <a:txBody>
                    <a:bodyPr/>
                    <a:lstStyle/>
                    <a:p>
                      <a:r>
                        <a:rPr sz="1425" b="0">
                          <a:solidFill>
                            <a:srgbClr val="000000"/>
                          </a:solidFill>
                          <a:latin typeface="Calibri" panose="020F0502020204030204" pitchFamily="34" charset="0"/>
                          <a:ea typeface="Arial"/>
                          <a:cs typeface="Arial"/>
                        </a:rPr>
                        <a:t>Tiltrotor selected comparison</a:t>
                      </a: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sz="1425" b="0">
                          <a:solidFill>
                            <a:srgbClr val="000000"/>
                          </a:solidFill>
                          <a:latin typeface="Calibri" panose="020F0502020204030204" pitchFamily="34" charset="0"/>
                          <a:ea typeface="Arial"/>
                          <a:cs typeface="Arial"/>
                        </a:rPr>
                        <a:t>42 points per architecture</a:t>
                      </a:r>
                    </a:p>
                    <a:p>
                      <a:r>
                        <a:rPr sz="1425" b="0">
                          <a:solidFill>
                            <a:srgbClr val="000000"/>
                          </a:solidFill>
                          <a:latin typeface="Calibri" panose="020F0502020204030204" pitchFamily="34" charset="0"/>
                          <a:ea typeface="Arial"/>
                          <a:cs typeface="Arial"/>
                        </a:rPr>
                        <a:t>Exact pairs in companion results.json</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tc>
                  <a:txBody>
                    <a:bodyPr/>
                    <a:lstStyle/>
                    <a:p>
                      <a:r>
                        <a:rPr sz="1425" b="0">
                          <a:solidFill>
                            <a:srgbClr val="000000"/>
                          </a:solidFill>
                          <a:latin typeface="Calibri" panose="020F0502020204030204" pitchFamily="34" charset="0"/>
                          <a:ea typeface="Arial"/>
                          <a:cs typeface="Arial"/>
                        </a:rPr>
                        <a:t>Same mass/loss assumptions within each map</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3F3F3"/>
                    </a:solidFill>
                  </a:tcPr>
                </a:tc>
                <a:extLst>
                  <a:ext uri="{0D108BD9-81ED-4DB2-BD59-A6C34878D82A}">
                    <a16:rowId xmlns:a16="http://schemas.microsoft.com/office/drawing/2014/main" val="10003"/>
                  </a:ext>
                </a:extLst>
              </a:tr>
              <a:tr h="619125">
                <a:tc>
                  <a:txBody>
                    <a:bodyPr/>
                    <a:lstStyle/>
                    <a:p>
                      <a:r>
                        <a:rPr lang="en-US" sz="1425" b="0">
                          <a:solidFill>
                            <a:srgbClr val="000000"/>
                          </a:solidFill>
                          <a:latin typeface="Calibri" panose="020F0502020204030204" pitchFamily="34" charset="0"/>
                          <a:ea typeface="Arial"/>
                          <a:cs typeface="Arial"/>
                        </a:rPr>
                        <a:t>Historical L+C speed probes</a:t>
                      </a:r>
                      <a:endParaRPr sz="1425" b="0">
                        <a:solidFill>
                          <a:srgbClr val="000000"/>
                        </a:solidFill>
                        <a:latin typeface="Calibri" panose="020F0502020204030204" pitchFamily="34" charset="0"/>
                        <a:ea typeface="Arial"/>
                        <a:cs typeface="Arial"/>
                      </a:endParaRPr>
                    </a:p>
                  </a:txBody>
                  <a:tcPr>
                    <a:lnL w="9525">
                      <a:solidFill>
                        <a:srgbClr val="DCE4E8"/>
                      </a:solidFill>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sz="1425" b="0">
                          <a:solidFill>
                            <a:srgbClr val="000000"/>
                          </a:solidFill>
                          <a:latin typeface="Calibri" panose="020F0502020204030204" pitchFamily="34" charset="0"/>
                          <a:ea typeface="Arial"/>
                          <a:cs typeface="Arial"/>
                        </a:rPr>
                        <a:t>90–160 km/h, 5 km/h intervals</a:t>
                      </a:r>
                    </a:p>
                    <a:p>
                      <a:r>
                        <a:rPr sz="1425" b="0">
                          <a:solidFill>
                            <a:srgbClr val="000000"/>
                          </a:solidFill>
                          <a:latin typeface="Calibri" panose="020F0502020204030204" pitchFamily="34" charset="0"/>
                          <a:ea typeface="Arial"/>
                          <a:cs typeface="Arial"/>
                        </a:rPr>
                        <a:t>4 installed designs at 3 km</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tc>
                  <a:txBody>
                    <a:bodyPr/>
                    <a:lstStyle/>
                    <a:p>
                      <a:r>
                        <a:rPr sz="1425" b="0">
                          <a:solidFill>
                            <a:srgbClr val="000000"/>
                          </a:solidFill>
                          <a:latin typeface="Calibri" panose="020F0502020204030204" pitchFamily="34" charset="0"/>
                          <a:ea typeface="Arial"/>
                          <a:cs typeface="Arial"/>
                        </a:rPr>
                        <a:t>60 conditions; source mission unchanged</a:t>
                      </a:r>
                    </a:p>
                  </a:txBody>
                  <a:tcPr>
                    <a:lnL w="9525" cap="flat" cmpd="sng" algn="ctr">
                      <a:solidFill>
                        <a:srgbClr val="DCE4E8"/>
                      </a:solidFill>
                      <a:prstDash val="solid"/>
                      <a:round/>
                      <a:headEnd type="none" w="med" len="med"/>
                      <a:tailEnd type="none" w="med" len="med"/>
                    </a:lnL>
                    <a:lnR w="9525">
                      <a:solidFill>
                        <a:srgbClr val="DCE4E8"/>
                      </a:solidFill>
                    </a:lnR>
                    <a:lnT w="9525" cap="flat" cmpd="sng" algn="ctr">
                      <a:solidFill>
                        <a:srgbClr val="DCE4E8"/>
                      </a:solidFill>
                      <a:prstDash val="solid"/>
                      <a:round/>
                      <a:headEnd type="none" w="med" len="med"/>
                      <a:tailEnd type="none" w="med" len="med"/>
                    </a:lnT>
                    <a:lnB w="9525">
                      <a:solidFill>
                        <a:srgbClr val="DCE4E8"/>
                      </a:solidFill>
                    </a:lnB>
                    <a:solidFill>
                      <a:srgbClr val="FFFFFF"/>
                    </a:solidFill>
                  </a:tcPr>
                </a:tc>
                <a:extLst>
                  <a:ext uri="{0D108BD9-81ED-4DB2-BD59-A6C34878D82A}">
                    <a16:rowId xmlns:a16="http://schemas.microsoft.com/office/drawing/2014/main" val="10004"/>
                  </a:ext>
                </a:extLst>
              </a:tr>
            </a:tbl>
          </a:graphicData>
        </a:graphic>
      </p:graphicFrame>
      <p:sp>
        <p:nvSpPr>
          <p:cNvPr id="6" name="Rectangle 5">
            <a:extLst>
              <a:ext uri="{FF2B5EF4-FFF2-40B4-BE49-F238E27FC236}">
                <a16:creationId xmlns:a16="http://schemas.microsoft.com/office/drawing/2014/main" id="{0F5EA341-30A0-45C7-90F4-ECB7F9E1366F}"/>
              </a:ext>
            </a:extLst>
          </p:cNvPr>
          <p:cNvSpPr>
            <a:spLocks noGrp="1"/>
          </p:cNvSpPr>
          <p:nvPr/>
        </p:nvSpPr>
        <p:spPr>
          <a:xfrm>
            <a:off x="523875" y="4953000"/>
            <a:ext cx="11144250" cy="857250"/>
          </a:xfrm>
          <a:prstGeom prst="rect">
            <a:avLst/>
          </a:prstGeom>
          <a:noFill/>
          <a:ln w="0">
            <a:noFill/>
          </a:ln>
        </p:spPr>
        <p:txBody>
          <a:bodyPr/>
          <a:lstStyle>
            <a:defPPr>
              <a:defRPr sz="1725" b="0">
                <a:solidFill>
                  <a:srgbClr val="173344"/>
                </a:solidFill>
                <a:latin typeface="Arial"/>
                <a:ea typeface="Arial"/>
                <a:cs typeface="Arial"/>
              </a:defRPr>
            </a:defPPr>
            <a:lvl1pPr>
              <a:defRPr sz="1725" b="0">
                <a:solidFill>
                  <a:srgbClr val="173344"/>
                </a:solidFill>
                <a:latin typeface="Arial"/>
                <a:ea typeface="Arial"/>
                <a:cs typeface="Arial"/>
              </a:defRPr>
            </a:lvl1pPr>
            <a:lvl2pPr>
              <a:defRPr sz="1725" b="0">
                <a:solidFill>
                  <a:srgbClr val="173344"/>
                </a:solidFill>
                <a:latin typeface="Arial"/>
                <a:ea typeface="Arial"/>
                <a:cs typeface="Arial"/>
              </a:defRPr>
            </a:lvl2pPr>
            <a:lvl3pPr>
              <a:defRPr sz="1725" b="0">
                <a:solidFill>
                  <a:srgbClr val="173344"/>
                </a:solidFill>
                <a:latin typeface="Arial"/>
                <a:ea typeface="Arial"/>
                <a:cs typeface="Arial"/>
              </a:defRPr>
            </a:lvl3pPr>
            <a:lvl4pPr>
              <a:defRPr sz="1725" b="0">
                <a:solidFill>
                  <a:srgbClr val="173344"/>
                </a:solidFill>
                <a:latin typeface="Arial"/>
                <a:ea typeface="Arial"/>
                <a:cs typeface="Arial"/>
              </a:defRPr>
            </a:lvl4pPr>
            <a:lvl5pPr>
              <a:defRPr sz="1725" b="0">
                <a:solidFill>
                  <a:srgbClr val="173344"/>
                </a:solidFill>
                <a:latin typeface="Arial"/>
                <a:ea typeface="Arial"/>
                <a:cs typeface="Arial"/>
              </a:defRPr>
            </a:lvl5pPr>
            <a:lvl6pPr>
              <a:defRPr sz="1725" b="0">
                <a:solidFill>
                  <a:srgbClr val="173344"/>
                </a:solidFill>
                <a:latin typeface="Arial"/>
                <a:ea typeface="Arial"/>
                <a:cs typeface="Arial"/>
              </a:defRPr>
            </a:lvl6pPr>
            <a:lvl7pPr>
              <a:defRPr sz="1725" b="0">
                <a:solidFill>
                  <a:srgbClr val="173344"/>
                </a:solidFill>
                <a:latin typeface="Arial"/>
                <a:ea typeface="Arial"/>
                <a:cs typeface="Arial"/>
              </a:defRPr>
            </a:lvl7pPr>
            <a:lvl8pPr>
              <a:defRPr sz="1725" b="0">
                <a:solidFill>
                  <a:srgbClr val="173344"/>
                </a:solidFill>
                <a:latin typeface="Arial"/>
                <a:ea typeface="Arial"/>
                <a:cs typeface="Arial"/>
              </a:defRPr>
            </a:lvl8pPr>
            <a:lvl9pPr>
              <a:defRPr sz="1725" b="0">
                <a:solidFill>
                  <a:srgbClr val="173344"/>
                </a:solidFill>
                <a:latin typeface="Arial"/>
                <a:ea typeface="Arial"/>
                <a:cs typeface="Arial"/>
              </a:defRPr>
            </a:lvl9pPr>
          </a:lstStyle>
          <a:p>
            <a:pPr>
              <a:defRPr sz="1725" b="0">
                <a:solidFill>
                  <a:srgbClr val="173344"/>
                </a:solidFill>
                <a:latin typeface="Arial"/>
                <a:ea typeface="Arial"/>
                <a:cs typeface="Arial"/>
              </a:defRPr>
            </a:pPr>
            <a:r>
              <a:rPr sz="1725" b="0">
                <a:solidFill>
                  <a:srgbClr val="000000"/>
                </a:solidFill>
                <a:latin typeface="Calibri" panose="020F0502020204030204" pitchFamily="34" charset="0"/>
                <a:ea typeface="Arial"/>
                <a:cs typeface="Arial"/>
              </a:rPr>
              <a:t>Supplier confirmation needed: motor torque/RPM envelope, peak duration, cooling,</a:t>
            </a:r>
          </a:p>
          <a:p>
            <a:pPr>
              <a:defRPr sz="1725" b="0">
                <a:solidFill>
                  <a:srgbClr val="173344"/>
                </a:solidFill>
                <a:latin typeface="Arial"/>
                <a:ea typeface="Arial"/>
                <a:cs typeface="Arial"/>
              </a:defRPr>
            </a:pPr>
            <a:r>
              <a:rPr sz="1725" b="0">
                <a:solidFill>
                  <a:srgbClr val="000000"/>
                </a:solidFill>
                <a:latin typeface="Calibri" panose="020F0502020204030204" pitchFamily="34" charset="0"/>
                <a:ea typeface="Arial"/>
                <a:cs typeface="Arial"/>
              </a:rPr>
              <a:t>gearbox ratio and mass, generator efficiency, battery loaded voltage and installation mass.</a:t>
            </a:r>
          </a:p>
        </p:txBody>
      </p:sp>
      <p:sp>
        <p:nvSpPr>
          <p:cNvPr id="7" name="Rectangle 6">
            <a:extLst>
              <a:ext uri="{FF2B5EF4-FFF2-40B4-BE49-F238E27FC236}">
                <a16:creationId xmlns:a16="http://schemas.microsoft.com/office/drawing/2014/main" id="{03590092-D24C-478C-A0A1-2093921F2B3E}"/>
              </a:ext>
            </a:extLst>
          </p:cNvPr>
          <p:cNvSpPr>
            <a:spLocks noGrp="1"/>
          </p:cNvSpPr>
          <p:nvPr/>
        </p:nvSpPr>
        <p:spPr>
          <a:xfrm>
            <a:off x="476250" y="6010275"/>
            <a:ext cx="11239500" cy="447675"/>
          </a:xfrm>
          <a:prstGeom prst="rect">
            <a:avLst/>
          </a:prstGeom>
          <a:noFill/>
          <a:ln w="0">
            <a:noFill/>
          </a:ln>
        </p:spPr>
        <p:txBody>
          <a:bodyPr/>
          <a:lstStyle>
            <a:defPPr>
              <a:defRPr sz="1275" b="0">
                <a:solidFill>
                  <a:srgbClr val="536675"/>
                </a:solidFill>
                <a:latin typeface="Arial"/>
                <a:ea typeface="Arial"/>
                <a:cs typeface="Arial"/>
              </a:defRPr>
            </a:defPPr>
            <a:lvl1pPr>
              <a:defRPr sz="1275" b="0">
                <a:solidFill>
                  <a:srgbClr val="536675"/>
                </a:solidFill>
                <a:latin typeface="Arial"/>
                <a:ea typeface="Arial"/>
                <a:cs typeface="Arial"/>
              </a:defRPr>
            </a:lvl1pPr>
            <a:lvl2pPr>
              <a:defRPr sz="1275" b="0">
                <a:solidFill>
                  <a:srgbClr val="536675"/>
                </a:solidFill>
                <a:latin typeface="Arial"/>
                <a:ea typeface="Arial"/>
                <a:cs typeface="Arial"/>
              </a:defRPr>
            </a:lvl2pPr>
            <a:lvl3pPr>
              <a:defRPr sz="1275" b="0">
                <a:solidFill>
                  <a:srgbClr val="536675"/>
                </a:solidFill>
                <a:latin typeface="Arial"/>
                <a:ea typeface="Arial"/>
                <a:cs typeface="Arial"/>
              </a:defRPr>
            </a:lvl3pPr>
            <a:lvl4pPr>
              <a:defRPr sz="1275" b="0">
                <a:solidFill>
                  <a:srgbClr val="536675"/>
                </a:solidFill>
                <a:latin typeface="Arial"/>
                <a:ea typeface="Arial"/>
                <a:cs typeface="Arial"/>
              </a:defRPr>
            </a:lvl4pPr>
            <a:lvl5pPr>
              <a:defRPr sz="1275" b="0">
                <a:solidFill>
                  <a:srgbClr val="536675"/>
                </a:solidFill>
                <a:latin typeface="Arial"/>
                <a:ea typeface="Arial"/>
                <a:cs typeface="Arial"/>
              </a:defRPr>
            </a:lvl5pPr>
            <a:lvl6pPr>
              <a:defRPr sz="1275" b="0">
                <a:solidFill>
                  <a:srgbClr val="536675"/>
                </a:solidFill>
                <a:latin typeface="Arial"/>
                <a:ea typeface="Arial"/>
                <a:cs typeface="Arial"/>
              </a:defRPr>
            </a:lvl6pPr>
            <a:lvl7pPr>
              <a:defRPr sz="1275" b="0">
                <a:solidFill>
                  <a:srgbClr val="536675"/>
                </a:solidFill>
                <a:latin typeface="Arial"/>
                <a:ea typeface="Arial"/>
                <a:cs typeface="Arial"/>
              </a:defRPr>
            </a:lvl7pPr>
            <a:lvl8pPr>
              <a:defRPr sz="1275" b="0">
                <a:solidFill>
                  <a:srgbClr val="536675"/>
                </a:solidFill>
                <a:latin typeface="Arial"/>
                <a:ea typeface="Arial"/>
                <a:cs typeface="Arial"/>
              </a:defRPr>
            </a:lvl8pPr>
            <a:lvl9pPr>
              <a:defRPr sz="1275" b="0">
                <a:solidFill>
                  <a:srgbClr val="536675"/>
                </a:solidFill>
                <a:latin typeface="Arial"/>
                <a:ea typeface="Arial"/>
                <a:cs typeface="Arial"/>
              </a:defRPr>
            </a:lvl9pPr>
          </a:lstStyle>
          <a:p>
            <a:pPr>
              <a:defRPr sz="1275" b="0">
                <a:solidFill>
                  <a:srgbClr val="536675"/>
                </a:solidFill>
                <a:latin typeface="Arial"/>
                <a:ea typeface="Arial"/>
                <a:cs typeface="Arial"/>
              </a:defRPr>
            </a:pPr>
            <a:endParaRPr sz="1275" b="0">
              <a:solidFill>
                <a:srgbClr val="000000"/>
              </a:solidFill>
              <a:latin typeface="Calibri" panose="020F0502020204030204" pitchFamily="34" charset="0"/>
              <a:ea typeface="Arial"/>
              <a:cs typeface="Arial"/>
            </a:endParaRPr>
          </a:p>
        </p:txBody>
      </p:sp>
      <p:sp>
        <p:nvSpPr>
          <p:cNvPr id="9" name="TextBox 8">
            <a:extLst>
              <a:ext uri="{FF2B5EF4-FFF2-40B4-BE49-F238E27FC236}">
                <a16:creationId xmlns:a16="http://schemas.microsoft.com/office/drawing/2014/main" id="{490DFC8A-BBBC-D9DD-45C7-99B203C76A50}"/>
              </a:ext>
            </a:extLst>
          </p:cNvPr>
          <p:cNvSpPr txBox="1"/>
          <p:nvPr/>
        </p:nvSpPr>
        <p:spPr>
          <a:xfrm>
            <a:off x="476250" y="6400800"/>
            <a:ext cx="11074400" cy="323165"/>
          </a:xfrm>
          <a:prstGeom prst="rect">
            <a:avLst/>
          </a:prstGeom>
          <a:noFill/>
        </p:spPr>
        <p:txBody>
          <a:bodyPr vert="horz" lIns="0" tIns="0" rIns="0" bIns="0" rtlCol="0">
            <a:spAutoFit/>
          </a:bodyPr>
          <a:lstStyle/>
          <a:p>
            <a:r>
              <a:rPr lang="en-US" sz="1050">
                <a:solidFill>
                  <a:srgbClr val="000000"/>
                </a:solidFill>
                <a:latin typeface="Calibri" panose="020F0502020204030204" pitchFamily="34" charset="0"/>
              </a:rPr>
              <a:t>[S9] Original sampled pairs and run IDs in source JSON / central logs. [S7] 30 s campaign resizes selected points only.
Keep historical grid / speed sweeps separate from corrected selected designs and from lower-energy sensitivity cases.</a:t>
            </a:r>
          </a:p>
        </p:txBody>
      </p:sp>
      <p:sp>
        <p:nvSpPr>
          <p:cNvPr id="10" name="TextBox 9">
            <a:extLst>
              <a:ext uri="{FF2B5EF4-FFF2-40B4-BE49-F238E27FC236}">
                <a16:creationId xmlns:a16="http://schemas.microsoft.com/office/drawing/2014/main" id="{93EDF486-13E2-1851-9208-70EA89A643CF}"/>
              </a:ext>
            </a:extLst>
          </p:cNvPr>
          <p:cNvSpPr txBox="1"/>
          <p:nvPr/>
        </p:nvSpPr>
        <p:spPr>
          <a:xfrm>
            <a:off x="11671300" y="6527800"/>
            <a:ext cx="355600" cy="153888"/>
          </a:xfrm>
          <a:prstGeom prst="rect">
            <a:avLst/>
          </a:prstGeom>
          <a:noFill/>
        </p:spPr>
        <p:txBody>
          <a:bodyPr vert="horz" lIns="0" tIns="0" rIns="0" bIns="0" rtlCol="0">
            <a:spAutoFit/>
          </a:bodyPr>
          <a:lstStyle/>
          <a:p>
            <a:r>
              <a:rPr lang="en-US" sz="1000">
                <a:solidFill>
                  <a:srgbClr val="000000"/>
                </a:solidFill>
                <a:latin typeface="Calibri" panose="020F0502020204030204" pitchFamily="34" charset="0"/>
              </a:rPr>
              <a:t>34</a:t>
            </a:r>
          </a:p>
        </p:txBody>
      </p:sp>
    </p:spTree>
    <p:extLst>
      <p:ext uri="{BB962C8B-B14F-4D97-AF65-F5344CB8AC3E}">
        <p14:creationId xmlns:p14="http://schemas.microsoft.com/office/powerpoint/2010/main" val="2262119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F51F4EE-4280-4018-A7B2-6A701255E351}"/>
              </a:ext>
            </a:extLst>
          </p:cNvPr>
          <p:cNvSpPr>
            <a:spLocks noGrp="1"/>
          </p:cNvSpPr>
          <p:nvPr/>
        </p:nvSpPr>
        <p:spPr>
          <a:xfrm>
            <a:off x="838200" y="361950"/>
            <a:ext cx="10896600" cy="495300"/>
          </a:xfrm>
          <a:prstGeom prst="rect">
            <a:avLst/>
          </a:prstGeom>
          <a:noFill/>
          <a:ln w="0">
            <a:noFill/>
            <a:prstDash val="solid"/>
          </a:ln>
        </p:spPr>
        <p:txBody>
          <a:bodyPr lIns="0" tIns="0" rIns="0" bIns="0"/>
          <a:lstStyle>
            <a:defPPr>
              <a:defRPr sz="2400" b="1">
                <a:solidFill>
                  <a:srgbClr val="000000"/>
                </a:solidFill>
                <a:latin typeface="Calibri"/>
                <a:ea typeface="Calibri"/>
                <a:cs typeface="Calibri"/>
              </a:defRPr>
            </a:defPPr>
            <a:lvl1pPr>
              <a:defRPr sz="2400" b="1">
                <a:solidFill>
                  <a:srgbClr val="000000"/>
                </a:solidFill>
                <a:latin typeface="Calibri"/>
                <a:ea typeface="Calibri"/>
                <a:cs typeface="Calibri"/>
              </a:defRPr>
            </a:lvl1pPr>
            <a:lvl2pPr>
              <a:defRPr sz="2400" b="1">
                <a:solidFill>
                  <a:srgbClr val="000000"/>
                </a:solidFill>
                <a:latin typeface="Calibri"/>
                <a:ea typeface="Calibri"/>
                <a:cs typeface="Calibri"/>
              </a:defRPr>
            </a:lvl2pPr>
            <a:lvl3pPr>
              <a:defRPr sz="2400" b="1">
                <a:solidFill>
                  <a:srgbClr val="000000"/>
                </a:solidFill>
                <a:latin typeface="Calibri"/>
                <a:ea typeface="Calibri"/>
                <a:cs typeface="Calibri"/>
              </a:defRPr>
            </a:lvl3pPr>
            <a:lvl4pPr>
              <a:defRPr sz="2400" b="1">
                <a:solidFill>
                  <a:srgbClr val="000000"/>
                </a:solidFill>
                <a:latin typeface="Calibri"/>
                <a:ea typeface="Calibri"/>
                <a:cs typeface="Calibri"/>
              </a:defRPr>
            </a:lvl4pPr>
            <a:lvl5pPr>
              <a:defRPr sz="2400" b="1">
                <a:solidFill>
                  <a:srgbClr val="000000"/>
                </a:solidFill>
                <a:latin typeface="Calibri"/>
                <a:ea typeface="Calibri"/>
                <a:cs typeface="Calibri"/>
              </a:defRPr>
            </a:lvl5pPr>
            <a:lvl6pPr>
              <a:defRPr sz="2400" b="1">
                <a:solidFill>
                  <a:srgbClr val="000000"/>
                </a:solidFill>
                <a:latin typeface="Calibri"/>
                <a:ea typeface="Calibri"/>
                <a:cs typeface="Calibri"/>
              </a:defRPr>
            </a:lvl6pPr>
            <a:lvl7pPr>
              <a:defRPr sz="2400" b="1">
                <a:solidFill>
                  <a:srgbClr val="000000"/>
                </a:solidFill>
                <a:latin typeface="Calibri"/>
                <a:ea typeface="Calibri"/>
                <a:cs typeface="Calibri"/>
              </a:defRPr>
            </a:lvl7pPr>
            <a:lvl8pPr>
              <a:defRPr sz="2400" b="1">
                <a:solidFill>
                  <a:srgbClr val="000000"/>
                </a:solidFill>
                <a:latin typeface="Calibri"/>
                <a:ea typeface="Calibri"/>
                <a:cs typeface="Calibri"/>
              </a:defRPr>
            </a:lvl8pPr>
            <a:lvl9pPr>
              <a:defRPr sz="2400" b="1">
                <a:solidFill>
                  <a:srgbClr val="000000"/>
                </a:solidFill>
                <a:latin typeface="Calibri"/>
                <a:ea typeface="Calibri"/>
                <a:cs typeface="Calibri"/>
              </a:defRPr>
            </a:lvl9pPr>
          </a:lstStyle>
          <a:p>
            <a:pPr>
              <a:defRPr sz="2400" b="1">
                <a:solidFill>
                  <a:srgbClr val="000000"/>
                </a:solidFill>
                <a:latin typeface="Calibri"/>
                <a:ea typeface="Calibri"/>
                <a:cs typeface="Calibri"/>
              </a:defRPr>
            </a:pPr>
            <a:r>
              <a:rPr sz="2400" b="1">
                <a:solidFill>
                  <a:srgbClr val="000000"/>
                </a:solidFill>
                <a:latin typeface="Calibri"/>
                <a:ea typeface="Calibri"/>
                <a:cs typeface="Calibri"/>
              </a:rPr>
              <a:t>Gentler Climb: Benefit and Tradeoffs</a:t>
            </a:r>
          </a:p>
        </p:txBody>
      </p:sp>
      <p:sp>
        <p:nvSpPr>
          <p:cNvPr id="2" name="Rectangle 1">
            <a:extLst>
              <a:ext uri="{FF2B5EF4-FFF2-40B4-BE49-F238E27FC236}">
                <a16:creationId xmlns:a16="http://schemas.microsoft.com/office/drawing/2014/main" id="{76003222-668E-41BB-889D-370CAE092D9E}"/>
              </a:ext>
            </a:extLst>
          </p:cNvPr>
          <p:cNvSpPr>
            <a:spLocks noGrp="1"/>
          </p:cNvSpPr>
          <p:nvPr/>
        </p:nvSpPr>
        <p:spPr>
          <a:xfrm>
            <a:off x="476250" y="895350"/>
            <a:ext cx="11239500" cy="523875"/>
          </a:xfrm>
          <a:prstGeom prst="rect">
            <a:avLst/>
          </a:prstGeom>
          <a:noFill/>
          <a:ln w="0">
            <a:noFill/>
            <a:prstDash val="solid"/>
          </a:ln>
        </p:spPr>
        <p:txBody>
          <a:bodyPr lIns="0" tIns="0" rIns="0" bIns="0"/>
          <a:lstStyle>
            <a:defPPr>
              <a:defRPr sz="1575" b="0">
                <a:solidFill>
                  <a:srgbClr val="444444"/>
                </a:solidFill>
                <a:latin typeface="Calibri"/>
                <a:ea typeface="Calibri"/>
                <a:cs typeface="Calibri"/>
              </a:defRPr>
            </a:defPPr>
            <a:lvl1pPr>
              <a:defRPr sz="1575" b="0">
                <a:solidFill>
                  <a:srgbClr val="444444"/>
                </a:solidFill>
                <a:latin typeface="Calibri"/>
                <a:ea typeface="Calibri"/>
                <a:cs typeface="Calibri"/>
              </a:defRPr>
            </a:lvl1pPr>
            <a:lvl2pPr>
              <a:defRPr sz="1575" b="0">
                <a:solidFill>
                  <a:srgbClr val="444444"/>
                </a:solidFill>
                <a:latin typeface="Calibri"/>
                <a:ea typeface="Calibri"/>
                <a:cs typeface="Calibri"/>
              </a:defRPr>
            </a:lvl2pPr>
            <a:lvl3pPr>
              <a:defRPr sz="1575" b="0">
                <a:solidFill>
                  <a:srgbClr val="444444"/>
                </a:solidFill>
                <a:latin typeface="Calibri"/>
                <a:ea typeface="Calibri"/>
                <a:cs typeface="Calibri"/>
              </a:defRPr>
            </a:lvl3pPr>
            <a:lvl4pPr>
              <a:defRPr sz="1575" b="0">
                <a:solidFill>
                  <a:srgbClr val="444444"/>
                </a:solidFill>
                <a:latin typeface="Calibri"/>
                <a:ea typeface="Calibri"/>
                <a:cs typeface="Calibri"/>
              </a:defRPr>
            </a:lvl4pPr>
            <a:lvl5pPr>
              <a:defRPr sz="1575" b="0">
                <a:solidFill>
                  <a:srgbClr val="444444"/>
                </a:solidFill>
                <a:latin typeface="Calibri"/>
                <a:ea typeface="Calibri"/>
                <a:cs typeface="Calibri"/>
              </a:defRPr>
            </a:lvl5pPr>
            <a:lvl6pPr>
              <a:defRPr sz="1575" b="0">
                <a:solidFill>
                  <a:srgbClr val="444444"/>
                </a:solidFill>
                <a:latin typeface="Calibri"/>
                <a:ea typeface="Calibri"/>
                <a:cs typeface="Calibri"/>
              </a:defRPr>
            </a:lvl6pPr>
            <a:lvl7pPr>
              <a:defRPr sz="1575" b="0">
                <a:solidFill>
                  <a:srgbClr val="444444"/>
                </a:solidFill>
                <a:latin typeface="Calibri"/>
                <a:ea typeface="Calibri"/>
                <a:cs typeface="Calibri"/>
              </a:defRPr>
            </a:lvl7pPr>
            <a:lvl8pPr>
              <a:defRPr sz="1575" b="0">
                <a:solidFill>
                  <a:srgbClr val="444444"/>
                </a:solidFill>
                <a:latin typeface="Calibri"/>
                <a:ea typeface="Calibri"/>
                <a:cs typeface="Calibri"/>
              </a:defRPr>
            </a:lvl8pPr>
            <a:lvl9pPr>
              <a:defRPr sz="1575" b="0">
                <a:solidFill>
                  <a:srgbClr val="444444"/>
                </a:solidFill>
                <a:latin typeface="Calibri"/>
                <a:ea typeface="Calibri"/>
                <a:cs typeface="Calibri"/>
              </a:defRPr>
            </a:lvl9pPr>
          </a:lstStyle>
          <a:p>
            <a:pPr>
              <a:defRPr sz="1575" b="0">
                <a:solidFill>
                  <a:srgbClr val="444444"/>
                </a:solidFill>
                <a:latin typeface="Calibri"/>
                <a:ea typeface="Calibri"/>
                <a:cs typeface="Calibri"/>
              </a:defRPr>
            </a:pPr>
            <a:r>
              <a:rPr sz="1575" b="0">
                <a:solidFill>
                  <a:srgbClr val="444444"/>
                </a:solidFill>
                <a:latin typeface="Calibri"/>
                <a:ea typeface="Calibri"/>
                <a:cs typeface="Calibri"/>
              </a:rPr>
              <a:t>The historical study supports lower peak power. Its large mass reduction came from combined mission changes.</a:t>
            </a:r>
          </a:p>
        </p:txBody>
      </p:sp>
      <p:sp>
        <p:nvSpPr>
          <p:cNvPr id="3" name="Rectangle 2">
            <a:extLst>
              <a:ext uri="{FF2B5EF4-FFF2-40B4-BE49-F238E27FC236}">
                <a16:creationId xmlns:a16="http://schemas.microsoft.com/office/drawing/2014/main" id="{125EDD6B-7641-47C7-B74C-21C3CC9D1507}"/>
              </a:ext>
            </a:extLst>
          </p:cNvPr>
          <p:cNvSpPr>
            <a:spLocks noGrp="1"/>
          </p:cNvSpPr>
          <p:nvPr/>
        </p:nvSpPr>
        <p:spPr>
          <a:xfrm>
            <a:off x="11382375" y="6524625"/>
            <a:ext cx="333375" cy="219075"/>
          </a:xfrm>
          <a:prstGeom prst="rect">
            <a:avLst/>
          </a:prstGeom>
          <a:noFill/>
          <a:ln w="0">
            <a:noFill/>
            <a:prstDash val="solid"/>
          </a:ln>
        </p:spPr>
        <p:txBody>
          <a:bodyPr lIns="0" tIns="0" rIns="0" bIns="0"/>
          <a:lstStyle>
            <a:defPPr>
              <a:defRPr sz="1125" b="0">
                <a:solidFill>
                  <a:srgbClr val="444444"/>
                </a:solidFill>
                <a:latin typeface="Calibri"/>
                <a:ea typeface="Calibri"/>
                <a:cs typeface="Calibri"/>
              </a:defRPr>
            </a:defPPr>
            <a:lvl1pPr>
              <a:defRPr sz="1125" b="0">
                <a:solidFill>
                  <a:srgbClr val="444444"/>
                </a:solidFill>
                <a:latin typeface="Calibri"/>
                <a:ea typeface="Calibri"/>
                <a:cs typeface="Calibri"/>
              </a:defRPr>
            </a:lvl1pPr>
            <a:lvl2pPr>
              <a:defRPr sz="1125" b="0">
                <a:solidFill>
                  <a:srgbClr val="444444"/>
                </a:solidFill>
                <a:latin typeface="Calibri"/>
                <a:ea typeface="Calibri"/>
                <a:cs typeface="Calibri"/>
              </a:defRPr>
            </a:lvl2pPr>
            <a:lvl3pPr>
              <a:defRPr sz="1125" b="0">
                <a:solidFill>
                  <a:srgbClr val="444444"/>
                </a:solidFill>
                <a:latin typeface="Calibri"/>
                <a:ea typeface="Calibri"/>
                <a:cs typeface="Calibri"/>
              </a:defRPr>
            </a:lvl3pPr>
            <a:lvl4pPr>
              <a:defRPr sz="1125" b="0">
                <a:solidFill>
                  <a:srgbClr val="444444"/>
                </a:solidFill>
                <a:latin typeface="Calibri"/>
                <a:ea typeface="Calibri"/>
                <a:cs typeface="Calibri"/>
              </a:defRPr>
            </a:lvl4pPr>
            <a:lvl5pPr>
              <a:defRPr sz="1125" b="0">
                <a:solidFill>
                  <a:srgbClr val="444444"/>
                </a:solidFill>
                <a:latin typeface="Calibri"/>
                <a:ea typeface="Calibri"/>
                <a:cs typeface="Calibri"/>
              </a:defRPr>
            </a:lvl5pPr>
            <a:lvl6pPr>
              <a:defRPr sz="1125" b="0">
                <a:solidFill>
                  <a:srgbClr val="444444"/>
                </a:solidFill>
                <a:latin typeface="Calibri"/>
                <a:ea typeface="Calibri"/>
                <a:cs typeface="Calibri"/>
              </a:defRPr>
            </a:lvl6pPr>
            <a:lvl7pPr>
              <a:defRPr sz="1125" b="0">
                <a:solidFill>
                  <a:srgbClr val="444444"/>
                </a:solidFill>
                <a:latin typeface="Calibri"/>
                <a:ea typeface="Calibri"/>
                <a:cs typeface="Calibri"/>
              </a:defRPr>
            </a:lvl7pPr>
            <a:lvl8pPr>
              <a:defRPr sz="1125" b="0">
                <a:solidFill>
                  <a:srgbClr val="444444"/>
                </a:solidFill>
                <a:latin typeface="Calibri"/>
                <a:ea typeface="Calibri"/>
                <a:cs typeface="Calibri"/>
              </a:defRPr>
            </a:lvl8pPr>
            <a:lvl9pPr>
              <a:defRPr sz="1125" b="0">
                <a:solidFill>
                  <a:srgbClr val="444444"/>
                </a:solidFill>
                <a:latin typeface="Calibri"/>
                <a:ea typeface="Calibri"/>
                <a:cs typeface="Calibri"/>
              </a:defRPr>
            </a:lvl9pPr>
          </a:lstStyle>
          <a:p>
            <a:pPr>
              <a:defRPr sz="1125" b="0">
                <a:solidFill>
                  <a:srgbClr val="444444"/>
                </a:solidFill>
                <a:latin typeface="Calibri"/>
                <a:ea typeface="Calibri"/>
                <a:cs typeface="Calibri"/>
              </a:defRPr>
            </a:pPr>
            <a:endParaRPr sz="1125" b="0">
              <a:solidFill>
                <a:srgbClr val="444444"/>
              </a:solidFill>
              <a:latin typeface="Calibri"/>
              <a:ea typeface="Calibri"/>
              <a:cs typeface="Calibri"/>
            </a:endParaRPr>
          </a:p>
        </p:txBody>
      </p:sp>
      <p:graphicFrame>
        <p:nvGraphicFramePr>
          <p:cNvPr id="4" name="Table 3">
            <a:extLst>
              <a:ext uri="{FF2B5EF4-FFF2-40B4-BE49-F238E27FC236}">
                <a16:creationId xmlns:a16="http://schemas.microsoft.com/office/drawing/2014/main" id="{ADE1565A-3C28-4809-A8FB-C0281AAEA466}"/>
              </a:ext>
            </a:extLst>
          </p:cNvPr>
          <p:cNvGraphicFramePr/>
          <p:nvPr/>
        </p:nvGraphicFramePr>
        <p:xfrm>
          <a:off x="476250" y="1676400"/>
          <a:ext cx="11239500" cy="2286000"/>
        </p:xfrm>
        <a:graphic>
          <a:graphicData uri="http://schemas.openxmlformats.org/drawingml/2006/table">
            <a:tbl>
              <a:tblPr/>
              <a:tblGrid>
                <a:gridCol w="5715000">
                  <a:extLst>
                    <a:ext uri="{9D8B030D-6E8A-4147-A177-3AD203B41FA5}">
                      <a16:colId xmlns:a16="http://schemas.microsoft.com/office/drawing/2014/main" val="20000"/>
                    </a:ext>
                  </a:extLst>
                </a:gridCol>
                <a:gridCol w="2762250">
                  <a:extLst>
                    <a:ext uri="{9D8B030D-6E8A-4147-A177-3AD203B41FA5}">
                      <a16:colId xmlns:a16="http://schemas.microsoft.com/office/drawing/2014/main" val="20001"/>
                    </a:ext>
                  </a:extLst>
                </a:gridCol>
                <a:gridCol w="2762250">
                  <a:extLst>
                    <a:ext uri="{9D8B030D-6E8A-4147-A177-3AD203B41FA5}">
                      <a16:colId xmlns:a16="http://schemas.microsoft.com/office/drawing/2014/main" val="20002"/>
                    </a:ext>
                  </a:extLst>
                </a:gridCol>
              </a:tblGrid>
              <a:tr h="457200">
                <a:tc>
                  <a:txBody>
                    <a:bodyPr/>
                    <a:lstStyle/>
                    <a:p>
                      <a:r>
                        <a:rPr sz="1650" b="1">
                          <a:solidFill>
                            <a:srgbClr val="000000"/>
                          </a:solidFill>
                          <a:latin typeface="Calibri"/>
                          <a:ea typeface="Calibri"/>
                          <a:cs typeface="Calibri"/>
                        </a:rPr>
                        <a:t>Historical fixed-geometry comparison [S8]</a:t>
                      </a:r>
                    </a:p>
                  </a:txBody>
                  <a:tcPr>
                    <a:lnL w="9525">
                      <a:solidFill>
                        <a:srgbClr val="BBBBBB"/>
                      </a:solidFill>
                    </a:lnL>
                    <a:lnR w="9525">
                      <a:solidFill>
                        <a:srgbClr val="BBBBBB"/>
                      </a:solidFill>
                    </a:lnR>
                    <a:lnT w="9525">
                      <a:solidFill>
                        <a:srgbClr val="BBBBBB"/>
                      </a:solidFill>
                    </a:lnT>
                    <a:lnB w="9525">
                      <a:solidFill>
                        <a:srgbClr val="BBBBBB"/>
                      </a:solidFill>
                    </a:lnB>
                    <a:solidFill>
                      <a:srgbClr val="D9D9D9"/>
                    </a:solidFill>
                  </a:tcPr>
                </a:tc>
                <a:tc>
                  <a:txBody>
                    <a:bodyPr/>
                    <a:lstStyle/>
                    <a:p>
                      <a:r>
                        <a:rPr sz="1650" b="1">
                          <a:solidFill>
                            <a:srgbClr val="000000"/>
                          </a:solidFill>
                          <a:latin typeface="Calibri"/>
                          <a:ea typeface="Calibri"/>
                          <a:cs typeface="Calibri"/>
                        </a:rPr>
                        <a:t>Earlier mission</a:t>
                      </a:r>
                    </a:p>
                  </a:txBody>
                  <a:tcPr>
                    <a:lnL w="9525" cap="flat" cmpd="sng" algn="ctr">
                      <a:solidFill>
                        <a:srgbClr val="BBBBBB"/>
                      </a:solidFill>
                      <a:prstDash val="solid"/>
                      <a:round/>
                      <a:headEnd type="none" w="med" len="med"/>
                      <a:tailEnd type="none" w="med" len="med"/>
                    </a:lnL>
                    <a:lnR w="9525">
                      <a:solidFill>
                        <a:srgbClr val="BBBBBB"/>
                      </a:solidFill>
                    </a:lnR>
                    <a:lnT w="9525">
                      <a:solidFill>
                        <a:srgbClr val="BBBBBB"/>
                      </a:solidFill>
                    </a:lnT>
                    <a:lnB w="9525">
                      <a:solidFill>
                        <a:srgbClr val="BBBBBB"/>
                      </a:solidFill>
                    </a:lnB>
                    <a:solidFill>
                      <a:srgbClr val="D9D9D9"/>
                    </a:solidFill>
                  </a:tcPr>
                </a:tc>
                <a:tc>
                  <a:txBody>
                    <a:bodyPr/>
                    <a:lstStyle/>
                    <a:p>
                      <a:r>
                        <a:rPr sz="1650" b="1">
                          <a:solidFill>
                            <a:srgbClr val="000000"/>
                          </a:solidFill>
                          <a:latin typeface="Calibri"/>
                          <a:ea typeface="Calibri"/>
                          <a:cs typeface="Calibri"/>
                        </a:rPr>
                        <a:t>Rate-tuned mission</a:t>
                      </a:r>
                    </a:p>
                  </a:txBody>
                  <a:tcPr>
                    <a:lnL w="9525" cap="flat" cmpd="sng" algn="ctr">
                      <a:solidFill>
                        <a:srgbClr val="BBBBBB"/>
                      </a:solidFill>
                      <a:prstDash val="solid"/>
                      <a:round/>
                      <a:headEnd type="none" w="med" len="med"/>
                      <a:tailEnd type="none" w="med" len="med"/>
                    </a:lnL>
                    <a:lnR w="9525">
                      <a:solidFill>
                        <a:srgbClr val="BBBBBB"/>
                      </a:solidFill>
                    </a:lnR>
                    <a:lnT w="9525">
                      <a:solidFill>
                        <a:srgbClr val="BBBBBB"/>
                      </a:solidFill>
                    </a:lnT>
                    <a:lnB w="9525">
                      <a:solidFill>
                        <a:srgbClr val="BBBBBB"/>
                      </a:solidFill>
                    </a:lnB>
                    <a:solidFill>
                      <a:srgbClr val="D9D9D9"/>
                    </a:solidFill>
                  </a:tcPr>
                </a:tc>
                <a:extLst>
                  <a:ext uri="{0D108BD9-81ED-4DB2-BD59-A6C34878D82A}">
                    <a16:rowId xmlns:a16="http://schemas.microsoft.com/office/drawing/2014/main" val="10000"/>
                  </a:ext>
                </a:extLst>
              </a:tr>
              <a:tr h="457200">
                <a:tc>
                  <a:txBody>
                    <a:bodyPr/>
                    <a:lstStyle/>
                    <a:p>
                      <a:r>
                        <a:rPr sz="1650" b="0">
                          <a:solidFill>
                            <a:srgbClr val="000000"/>
                          </a:solidFill>
                          <a:latin typeface="Calibri"/>
                          <a:ea typeface="Calibri"/>
                          <a:cs typeface="Calibri"/>
                        </a:rPr>
                        <a:t>Gross mass / main lift battery, kg</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650" b="0">
                          <a:solidFill>
                            <a:srgbClr val="000000"/>
                          </a:solidFill>
                          <a:latin typeface="Calibri"/>
                          <a:ea typeface="Calibri"/>
                          <a:cs typeface="Calibri"/>
                        </a:rPr>
                        <a:t>464.2 / 115.2</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650" b="0">
                          <a:solidFill>
                            <a:srgbClr val="000000"/>
                          </a:solidFill>
                          <a:latin typeface="Calibri"/>
                          <a:ea typeface="Calibri"/>
                          <a:cs typeface="Calibri"/>
                        </a:rPr>
                        <a:t>401.8 / 73.7</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extLst>
                  <a:ext uri="{0D108BD9-81ED-4DB2-BD59-A6C34878D82A}">
                    <a16:rowId xmlns:a16="http://schemas.microsoft.com/office/drawing/2014/main" val="10001"/>
                  </a:ext>
                </a:extLst>
              </a:tr>
              <a:tr h="457200">
                <a:tc>
                  <a:txBody>
                    <a:bodyPr/>
                    <a:lstStyle/>
                    <a:p>
                      <a:r>
                        <a:rPr sz="1650" b="0">
                          <a:solidFill>
                            <a:srgbClr val="000000"/>
                          </a:solidFill>
                          <a:latin typeface="Calibri"/>
                          <a:ea typeface="Calibri"/>
                          <a:cs typeface="Calibri"/>
                        </a:rPr>
                        <a:t>Vertical climb / descent, m/s</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650" b="0">
                          <a:solidFill>
                            <a:srgbClr val="000000"/>
                          </a:solidFill>
                          <a:latin typeface="Calibri"/>
                          <a:ea typeface="Calibri"/>
                          <a:cs typeface="Calibri"/>
                        </a:rPr>
                        <a:t>1.0 / 0.5</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650" b="0">
                          <a:solidFill>
                            <a:srgbClr val="000000"/>
                          </a:solidFill>
                          <a:latin typeface="Calibri"/>
                          <a:ea typeface="Calibri"/>
                          <a:cs typeface="Calibri"/>
                        </a:rPr>
                        <a:t>1.75 / 2.0</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extLst>
                  <a:ext uri="{0D108BD9-81ED-4DB2-BD59-A6C34878D82A}">
                    <a16:rowId xmlns:a16="http://schemas.microsoft.com/office/drawing/2014/main" val="10002"/>
                  </a:ext>
                </a:extLst>
              </a:tr>
              <a:tr h="457200">
                <a:tc>
                  <a:txBody>
                    <a:bodyPr/>
                    <a:lstStyle/>
                    <a:p>
                      <a:r>
                        <a:rPr sz="1650" b="0">
                          <a:solidFill>
                            <a:srgbClr val="000000"/>
                          </a:solidFill>
                          <a:latin typeface="Calibri"/>
                          <a:ea typeface="Calibri"/>
                          <a:cs typeface="Calibri"/>
                        </a:rPr>
                        <a:t>Wingborne climb / descent, m/s</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650" b="0">
                          <a:solidFill>
                            <a:srgbClr val="000000"/>
                          </a:solidFill>
                          <a:latin typeface="Calibri"/>
                          <a:ea typeface="Calibri"/>
                          <a:cs typeface="Calibri"/>
                        </a:rPr>
                        <a:t>2.0 / 2.0</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650" b="0">
                          <a:solidFill>
                            <a:srgbClr val="000000"/>
                          </a:solidFill>
                          <a:latin typeface="Calibri"/>
                          <a:ea typeface="Calibri"/>
                          <a:cs typeface="Calibri"/>
                        </a:rPr>
                        <a:t>2.0 / 2.0</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extLst>
                  <a:ext uri="{0D108BD9-81ED-4DB2-BD59-A6C34878D82A}">
                    <a16:rowId xmlns:a16="http://schemas.microsoft.com/office/drawing/2014/main" val="10003"/>
                  </a:ext>
                </a:extLst>
              </a:tr>
              <a:tr h="457200">
                <a:tc>
                  <a:txBody>
                    <a:bodyPr/>
                    <a:lstStyle/>
                    <a:p>
                      <a:r>
                        <a:rPr sz="1650" b="0">
                          <a:solidFill>
                            <a:srgbClr val="000000"/>
                          </a:solidFill>
                          <a:latin typeface="Calibri"/>
                          <a:ea typeface="Calibri"/>
                          <a:cs typeface="Calibri"/>
                        </a:rPr>
                        <a:t>Screening result</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650" b="0">
                          <a:solidFill>
                            <a:srgbClr val="000000"/>
                          </a:solidFill>
                          <a:latin typeface="Calibri"/>
                          <a:ea typeface="Calibri"/>
                          <a:cs typeface="Calibri"/>
                        </a:rPr>
                        <a:t>Stall and motor-margin failures</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650" b="0">
                          <a:solidFill>
                            <a:srgbClr val="000000"/>
                          </a:solidFill>
                          <a:latin typeface="Calibri"/>
                          <a:ea typeface="Calibri"/>
                          <a:cs typeface="Calibri"/>
                        </a:rPr>
                        <a:t>Retained screens passed</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CE5A2847-7A4F-4DAE-B9FD-F95EDFCAFFE8}"/>
              </a:ext>
            </a:extLst>
          </p:cNvPr>
          <p:cNvSpPr>
            <a:spLocks noGrp="1"/>
          </p:cNvSpPr>
          <p:nvPr/>
        </p:nvSpPr>
        <p:spPr>
          <a:xfrm>
            <a:off x="476250" y="4248150"/>
            <a:ext cx="5286375" cy="333375"/>
          </a:xfrm>
          <a:prstGeom prst="rect">
            <a:avLst/>
          </a:prstGeom>
          <a:noFill/>
          <a:ln w="0">
            <a:noFill/>
            <a:prstDash val="solid"/>
          </a:ln>
        </p:spPr>
        <p:txBody>
          <a:bodyPr lIns="0" tIns="0" rIns="0" bIns="0"/>
          <a:lstStyle>
            <a:defPPr>
              <a:defRPr sz="1875" b="1">
                <a:solidFill>
                  <a:srgbClr val="000000"/>
                </a:solidFill>
                <a:latin typeface="Calibri"/>
                <a:ea typeface="Calibri"/>
                <a:cs typeface="Calibri"/>
              </a:defRPr>
            </a:defPPr>
            <a:lvl1pPr>
              <a:defRPr sz="1875" b="1">
                <a:solidFill>
                  <a:srgbClr val="000000"/>
                </a:solidFill>
                <a:latin typeface="Calibri"/>
                <a:ea typeface="Calibri"/>
                <a:cs typeface="Calibri"/>
              </a:defRPr>
            </a:lvl1pPr>
            <a:lvl2pPr>
              <a:defRPr sz="1875" b="1">
                <a:solidFill>
                  <a:srgbClr val="000000"/>
                </a:solidFill>
                <a:latin typeface="Calibri"/>
                <a:ea typeface="Calibri"/>
                <a:cs typeface="Calibri"/>
              </a:defRPr>
            </a:lvl2pPr>
            <a:lvl3pPr>
              <a:defRPr sz="1875" b="1">
                <a:solidFill>
                  <a:srgbClr val="000000"/>
                </a:solidFill>
                <a:latin typeface="Calibri"/>
                <a:ea typeface="Calibri"/>
                <a:cs typeface="Calibri"/>
              </a:defRPr>
            </a:lvl3pPr>
            <a:lvl4pPr>
              <a:defRPr sz="1875" b="1">
                <a:solidFill>
                  <a:srgbClr val="000000"/>
                </a:solidFill>
                <a:latin typeface="Calibri"/>
                <a:ea typeface="Calibri"/>
                <a:cs typeface="Calibri"/>
              </a:defRPr>
            </a:lvl4pPr>
            <a:lvl5pPr>
              <a:defRPr sz="1875" b="1">
                <a:solidFill>
                  <a:srgbClr val="000000"/>
                </a:solidFill>
                <a:latin typeface="Calibri"/>
                <a:ea typeface="Calibri"/>
                <a:cs typeface="Calibri"/>
              </a:defRPr>
            </a:lvl5pPr>
            <a:lvl6pPr>
              <a:defRPr sz="1875" b="1">
                <a:solidFill>
                  <a:srgbClr val="000000"/>
                </a:solidFill>
                <a:latin typeface="Calibri"/>
                <a:ea typeface="Calibri"/>
                <a:cs typeface="Calibri"/>
              </a:defRPr>
            </a:lvl6pPr>
            <a:lvl7pPr>
              <a:defRPr sz="1875" b="1">
                <a:solidFill>
                  <a:srgbClr val="000000"/>
                </a:solidFill>
                <a:latin typeface="Calibri"/>
                <a:ea typeface="Calibri"/>
                <a:cs typeface="Calibri"/>
              </a:defRPr>
            </a:lvl7pPr>
            <a:lvl8pPr>
              <a:defRPr sz="1875" b="1">
                <a:solidFill>
                  <a:srgbClr val="000000"/>
                </a:solidFill>
                <a:latin typeface="Calibri"/>
                <a:ea typeface="Calibri"/>
                <a:cs typeface="Calibri"/>
              </a:defRPr>
            </a:lvl8pPr>
            <a:lvl9pPr>
              <a:defRPr sz="1875" b="1">
                <a:solidFill>
                  <a:srgbClr val="000000"/>
                </a:solidFill>
                <a:latin typeface="Calibri"/>
                <a:ea typeface="Calibri"/>
                <a:cs typeface="Calibri"/>
              </a:defRPr>
            </a:lvl9pPr>
          </a:lstStyle>
          <a:p>
            <a:pPr>
              <a:defRPr sz="1875" b="1">
                <a:solidFill>
                  <a:srgbClr val="000000"/>
                </a:solidFill>
                <a:latin typeface="Calibri"/>
                <a:ea typeface="Calibri"/>
                <a:cs typeface="Calibri"/>
              </a:defRPr>
            </a:pPr>
            <a:r>
              <a:rPr sz="1875" b="1">
                <a:solidFill>
                  <a:srgbClr val="000000"/>
                </a:solidFill>
                <a:latin typeface="Calibri"/>
                <a:ea typeface="Calibri"/>
                <a:cs typeface="Calibri"/>
              </a:rPr>
              <a:t>Benefit</a:t>
            </a:r>
          </a:p>
        </p:txBody>
      </p:sp>
      <p:sp>
        <p:nvSpPr>
          <p:cNvPr id="6" name="Rectangle 5">
            <a:extLst>
              <a:ext uri="{FF2B5EF4-FFF2-40B4-BE49-F238E27FC236}">
                <a16:creationId xmlns:a16="http://schemas.microsoft.com/office/drawing/2014/main" id="{72C91583-EB25-4779-8B39-7993D2DBFF95}"/>
              </a:ext>
            </a:extLst>
          </p:cNvPr>
          <p:cNvSpPr>
            <a:spLocks noGrp="1"/>
          </p:cNvSpPr>
          <p:nvPr/>
        </p:nvSpPr>
        <p:spPr>
          <a:xfrm>
            <a:off x="476250" y="4695825"/>
            <a:ext cx="5286375" cy="971550"/>
          </a:xfrm>
          <a:prstGeom prst="rect">
            <a:avLst/>
          </a:prstGeom>
          <a:noFill/>
          <a:ln w="0">
            <a:noFill/>
            <a:prstDash val="solid"/>
          </a:ln>
        </p:spPr>
        <p:txBody>
          <a:bodyPr lIns="0" tIns="0" rIns="0" bIns="0"/>
          <a:lstStyle>
            <a:defPPr>
              <a:defRPr sz="1725" b="0">
                <a:solidFill>
                  <a:srgbClr val="000000"/>
                </a:solidFill>
                <a:latin typeface="Calibri"/>
                <a:ea typeface="Calibri"/>
                <a:cs typeface="Calibri"/>
              </a:defRPr>
            </a:defPPr>
            <a:lvl1pPr>
              <a:defRPr sz="1725" b="0">
                <a:solidFill>
                  <a:srgbClr val="000000"/>
                </a:solidFill>
                <a:latin typeface="Calibri"/>
                <a:ea typeface="Calibri"/>
                <a:cs typeface="Calibri"/>
              </a:defRPr>
            </a:lvl1pPr>
            <a:lvl2pPr>
              <a:defRPr sz="1725" b="0">
                <a:solidFill>
                  <a:srgbClr val="000000"/>
                </a:solidFill>
                <a:latin typeface="Calibri"/>
                <a:ea typeface="Calibri"/>
                <a:cs typeface="Calibri"/>
              </a:defRPr>
            </a:lvl2pPr>
            <a:lvl3pPr>
              <a:defRPr sz="1725" b="0">
                <a:solidFill>
                  <a:srgbClr val="000000"/>
                </a:solidFill>
                <a:latin typeface="Calibri"/>
                <a:ea typeface="Calibri"/>
                <a:cs typeface="Calibri"/>
              </a:defRPr>
            </a:lvl3pPr>
            <a:lvl4pPr>
              <a:defRPr sz="1725" b="0">
                <a:solidFill>
                  <a:srgbClr val="000000"/>
                </a:solidFill>
                <a:latin typeface="Calibri"/>
                <a:ea typeface="Calibri"/>
                <a:cs typeface="Calibri"/>
              </a:defRPr>
            </a:lvl4pPr>
            <a:lvl5pPr>
              <a:defRPr sz="1725" b="0">
                <a:solidFill>
                  <a:srgbClr val="000000"/>
                </a:solidFill>
                <a:latin typeface="Calibri"/>
                <a:ea typeface="Calibri"/>
                <a:cs typeface="Calibri"/>
              </a:defRPr>
            </a:lvl5pPr>
            <a:lvl6pPr>
              <a:defRPr sz="1725" b="0">
                <a:solidFill>
                  <a:srgbClr val="000000"/>
                </a:solidFill>
                <a:latin typeface="Calibri"/>
                <a:ea typeface="Calibri"/>
                <a:cs typeface="Calibri"/>
              </a:defRPr>
            </a:lvl6pPr>
            <a:lvl7pPr>
              <a:defRPr sz="1725" b="0">
                <a:solidFill>
                  <a:srgbClr val="000000"/>
                </a:solidFill>
                <a:latin typeface="Calibri"/>
                <a:ea typeface="Calibri"/>
                <a:cs typeface="Calibri"/>
              </a:defRPr>
            </a:lvl7pPr>
            <a:lvl8pPr>
              <a:defRPr sz="1725" b="0">
                <a:solidFill>
                  <a:srgbClr val="000000"/>
                </a:solidFill>
                <a:latin typeface="Calibri"/>
                <a:ea typeface="Calibri"/>
                <a:cs typeface="Calibri"/>
              </a:defRPr>
            </a:lvl8pPr>
            <a:lvl9pPr>
              <a:defRPr sz="1725" b="0">
                <a:solidFill>
                  <a:srgbClr val="000000"/>
                </a:solidFill>
                <a:latin typeface="Calibri"/>
                <a:ea typeface="Calibri"/>
                <a:cs typeface="Calibri"/>
              </a:defRPr>
            </a:lvl9pPr>
          </a:lstStyle>
          <a:p>
            <a:pPr>
              <a:defRPr sz="1725" b="0">
                <a:solidFill>
                  <a:srgbClr val="000000"/>
                </a:solidFill>
                <a:latin typeface="Calibri"/>
                <a:ea typeface="Calibri"/>
                <a:cs typeface="Calibri"/>
              </a:defRPr>
            </a:pPr>
            <a:r>
              <a:rPr sz="1725" b="0">
                <a:solidFill>
                  <a:srgbClr val="000000"/>
                </a:solidFill>
                <a:latin typeface="Calibri"/>
                <a:ea typeface="Calibri"/>
                <a:cs typeface="Calibri"/>
              </a:rPr>
              <a:t>Less demanding wingborne climb reduces peak engine demand: 38.0 → 32.4 → 27.0 kW at 3 → 2 → 1 m/s in the matched historical sweep.</a:t>
            </a:r>
          </a:p>
        </p:txBody>
      </p:sp>
      <p:sp>
        <p:nvSpPr>
          <p:cNvPr id="7" name="Rectangle 6">
            <a:extLst>
              <a:ext uri="{FF2B5EF4-FFF2-40B4-BE49-F238E27FC236}">
                <a16:creationId xmlns:a16="http://schemas.microsoft.com/office/drawing/2014/main" id="{D06B7215-67B6-49EF-B42C-979B3E93168F}"/>
              </a:ext>
            </a:extLst>
          </p:cNvPr>
          <p:cNvSpPr>
            <a:spLocks noGrp="1"/>
          </p:cNvSpPr>
          <p:nvPr/>
        </p:nvSpPr>
        <p:spPr>
          <a:xfrm>
            <a:off x="6286500" y="4248150"/>
            <a:ext cx="5286375" cy="333375"/>
          </a:xfrm>
          <a:prstGeom prst="rect">
            <a:avLst/>
          </a:prstGeom>
          <a:noFill/>
          <a:ln w="0">
            <a:noFill/>
            <a:prstDash val="solid"/>
          </a:ln>
        </p:spPr>
        <p:txBody>
          <a:bodyPr lIns="0" tIns="0" rIns="0" bIns="0"/>
          <a:lstStyle>
            <a:defPPr>
              <a:defRPr sz="1875" b="1">
                <a:solidFill>
                  <a:srgbClr val="000000"/>
                </a:solidFill>
                <a:latin typeface="Calibri"/>
                <a:ea typeface="Calibri"/>
                <a:cs typeface="Calibri"/>
              </a:defRPr>
            </a:defPPr>
            <a:lvl1pPr>
              <a:defRPr sz="1875" b="1">
                <a:solidFill>
                  <a:srgbClr val="000000"/>
                </a:solidFill>
                <a:latin typeface="Calibri"/>
                <a:ea typeface="Calibri"/>
                <a:cs typeface="Calibri"/>
              </a:defRPr>
            </a:lvl1pPr>
            <a:lvl2pPr>
              <a:defRPr sz="1875" b="1">
                <a:solidFill>
                  <a:srgbClr val="000000"/>
                </a:solidFill>
                <a:latin typeface="Calibri"/>
                <a:ea typeface="Calibri"/>
                <a:cs typeface="Calibri"/>
              </a:defRPr>
            </a:lvl2pPr>
            <a:lvl3pPr>
              <a:defRPr sz="1875" b="1">
                <a:solidFill>
                  <a:srgbClr val="000000"/>
                </a:solidFill>
                <a:latin typeface="Calibri"/>
                <a:ea typeface="Calibri"/>
                <a:cs typeface="Calibri"/>
              </a:defRPr>
            </a:lvl3pPr>
            <a:lvl4pPr>
              <a:defRPr sz="1875" b="1">
                <a:solidFill>
                  <a:srgbClr val="000000"/>
                </a:solidFill>
                <a:latin typeface="Calibri"/>
                <a:ea typeface="Calibri"/>
                <a:cs typeface="Calibri"/>
              </a:defRPr>
            </a:lvl4pPr>
            <a:lvl5pPr>
              <a:defRPr sz="1875" b="1">
                <a:solidFill>
                  <a:srgbClr val="000000"/>
                </a:solidFill>
                <a:latin typeface="Calibri"/>
                <a:ea typeface="Calibri"/>
                <a:cs typeface="Calibri"/>
              </a:defRPr>
            </a:lvl5pPr>
            <a:lvl6pPr>
              <a:defRPr sz="1875" b="1">
                <a:solidFill>
                  <a:srgbClr val="000000"/>
                </a:solidFill>
                <a:latin typeface="Calibri"/>
                <a:ea typeface="Calibri"/>
                <a:cs typeface="Calibri"/>
              </a:defRPr>
            </a:lvl6pPr>
            <a:lvl7pPr>
              <a:defRPr sz="1875" b="1">
                <a:solidFill>
                  <a:srgbClr val="000000"/>
                </a:solidFill>
                <a:latin typeface="Calibri"/>
                <a:ea typeface="Calibri"/>
                <a:cs typeface="Calibri"/>
              </a:defRPr>
            </a:lvl7pPr>
            <a:lvl8pPr>
              <a:defRPr sz="1875" b="1">
                <a:solidFill>
                  <a:srgbClr val="000000"/>
                </a:solidFill>
                <a:latin typeface="Calibri"/>
                <a:ea typeface="Calibri"/>
                <a:cs typeface="Calibri"/>
              </a:defRPr>
            </a:lvl8pPr>
            <a:lvl9pPr>
              <a:defRPr sz="1875" b="1">
                <a:solidFill>
                  <a:srgbClr val="000000"/>
                </a:solidFill>
                <a:latin typeface="Calibri"/>
                <a:ea typeface="Calibri"/>
                <a:cs typeface="Calibri"/>
              </a:defRPr>
            </a:lvl9pPr>
          </a:lstStyle>
          <a:p>
            <a:pPr>
              <a:defRPr sz="1875" b="1">
                <a:solidFill>
                  <a:srgbClr val="000000"/>
                </a:solidFill>
                <a:latin typeface="Calibri"/>
                <a:ea typeface="Calibri"/>
                <a:cs typeface="Calibri"/>
              </a:defRPr>
            </a:pPr>
            <a:r>
              <a:rPr sz="1875" b="1">
                <a:solidFill>
                  <a:srgbClr val="000000"/>
                </a:solidFill>
                <a:latin typeface="Calibri"/>
                <a:ea typeface="Calibri"/>
                <a:cs typeface="Calibri"/>
              </a:rPr>
              <a:t>Tradeoff and interpretation</a:t>
            </a:r>
          </a:p>
        </p:txBody>
      </p:sp>
      <p:sp>
        <p:nvSpPr>
          <p:cNvPr id="8" name="Rectangle 7">
            <a:extLst>
              <a:ext uri="{FF2B5EF4-FFF2-40B4-BE49-F238E27FC236}">
                <a16:creationId xmlns:a16="http://schemas.microsoft.com/office/drawing/2014/main" id="{E4CBB9C8-7807-4576-8BBE-22F83DEB1E29}"/>
              </a:ext>
            </a:extLst>
          </p:cNvPr>
          <p:cNvSpPr>
            <a:spLocks noGrp="1"/>
          </p:cNvSpPr>
          <p:nvPr/>
        </p:nvSpPr>
        <p:spPr>
          <a:xfrm>
            <a:off x="6286500" y="4695825"/>
            <a:ext cx="5286375" cy="971550"/>
          </a:xfrm>
          <a:prstGeom prst="rect">
            <a:avLst/>
          </a:prstGeom>
          <a:noFill/>
          <a:ln w="0">
            <a:noFill/>
            <a:prstDash val="solid"/>
          </a:ln>
        </p:spPr>
        <p:txBody>
          <a:bodyPr lIns="0" tIns="0" rIns="0" bIns="0"/>
          <a:lstStyle>
            <a:defPPr>
              <a:defRPr sz="1725" b="0">
                <a:solidFill>
                  <a:srgbClr val="000000"/>
                </a:solidFill>
                <a:latin typeface="Calibri"/>
                <a:ea typeface="Calibri"/>
                <a:cs typeface="Calibri"/>
              </a:defRPr>
            </a:defPPr>
            <a:lvl1pPr>
              <a:defRPr sz="1725" b="0">
                <a:solidFill>
                  <a:srgbClr val="000000"/>
                </a:solidFill>
                <a:latin typeface="Calibri"/>
                <a:ea typeface="Calibri"/>
                <a:cs typeface="Calibri"/>
              </a:defRPr>
            </a:lvl1pPr>
            <a:lvl2pPr>
              <a:defRPr sz="1725" b="0">
                <a:solidFill>
                  <a:srgbClr val="000000"/>
                </a:solidFill>
                <a:latin typeface="Calibri"/>
                <a:ea typeface="Calibri"/>
                <a:cs typeface="Calibri"/>
              </a:defRPr>
            </a:lvl2pPr>
            <a:lvl3pPr>
              <a:defRPr sz="1725" b="0">
                <a:solidFill>
                  <a:srgbClr val="000000"/>
                </a:solidFill>
                <a:latin typeface="Calibri"/>
                <a:ea typeface="Calibri"/>
                <a:cs typeface="Calibri"/>
              </a:defRPr>
            </a:lvl3pPr>
            <a:lvl4pPr>
              <a:defRPr sz="1725" b="0">
                <a:solidFill>
                  <a:srgbClr val="000000"/>
                </a:solidFill>
                <a:latin typeface="Calibri"/>
                <a:ea typeface="Calibri"/>
                <a:cs typeface="Calibri"/>
              </a:defRPr>
            </a:lvl4pPr>
            <a:lvl5pPr>
              <a:defRPr sz="1725" b="0">
                <a:solidFill>
                  <a:srgbClr val="000000"/>
                </a:solidFill>
                <a:latin typeface="Calibri"/>
                <a:ea typeface="Calibri"/>
                <a:cs typeface="Calibri"/>
              </a:defRPr>
            </a:lvl5pPr>
            <a:lvl6pPr>
              <a:defRPr sz="1725" b="0">
                <a:solidFill>
                  <a:srgbClr val="000000"/>
                </a:solidFill>
                <a:latin typeface="Calibri"/>
                <a:ea typeface="Calibri"/>
                <a:cs typeface="Calibri"/>
              </a:defRPr>
            </a:lvl6pPr>
            <a:lvl7pPr>
              <a:defRPr sz="1725" b="0">
                <a:solidFill>
                  <a:srgbClr val="000000"/>
                </a:solidFill>
                <a:latin typeface="Calibri"/>
                <a:ea typeface="Calibri"/>
                <a:cs typeface="Calibri"/>
              </a:defRPr>
            </a:lvl7pPr>
            <a:lvl8pPr>
              <a:defRPr sz="1725" b="0">
                <a:solidFill>
                  <a:srgbClr val="000000"/>
                </a:solidFill>
                <a:latin typeface="Calibri"/>
                <a:ea typeface="Calibri"/>
                <a:cs typeface="Calibri"/>
              </a:defRPr>
            </a:lvl8pPr>
            <a:lvl9pPr>
              <a:defRPr sz="1725" b="0">
                <a:solidFill>
                  <a:srgbClr val="000000"/>
                </a:solidFill>
                <a:latin typeface="Calibri"/>
                <a:ea typeface="Calibri"/>
                <a:cs typeface="Calibri"/>
              </a:defRPr>
            </a:lvl9pPr>
          </a:lstStyle>
          <a:p>
            <a:pPr>
              <a:defRPr sz="1725" b="0">
                <a:solidFill>
                  <a:srgbClr val="000000"/>
                </a:solidFill>
                <a:latin typeface="Calibri"/>
                <a:ea typeface="Calibri"/>
                <a:cs typeface="Calibri"/>
              </a:defRPr>
            </a:pPr>
            <a:r>
              <a:rPr sz="1725" b="0">
                <a:solidFill>
                  <a:srgbClr val="000000"/>
                </a:solidFill>
                <a:latin typeface="Calibri"/>
                <a:ea typeface="Calibri"/>
                <a:cs typeface="Calibri"/>
              </a:rPr>
              <a:t>Slower climb takes longer and reduces loiter time. In that matched sweep, mass stayed ≈464.2 kg. The 62.4 kg reduction above also shortened VTOL exposure.</a:t>
            </a:r>
          </a:p>
        </p:txBody>
      </p:sp>
      <p:sp>
        <p:nvSpPr>
          <p:cNvPr id="9" name="Rectangle 8">
            <a:extLst>
              <a:ext uri="{FF2B5EF4-FFF2-40B4-BE49-F238E27FC236}">
                <a16:creationId xmlns:a16="http://schemas.microsoft.com/office/drawing/2014/main" id="{7A618D39-7323-4069-8F31-8061CC4046B3}"/>
              </a:ext>
            </a:extLst>
          </p:cNvPr>
          <p:cNvSpPr>
            <a:spLocks noGrp="1"/>
          </p:cNvSpPr>
          <p:nvPr/>
        </p:nvSpPr>
        <p:spPr>
          <a:xfrm>
            <a:off x="476250" y="6400800"/>
            <a:ext cx="10810875" cy="381000"/>
          </a:xfrm>
          <a:prstGeom prst="rect">
            <a:avLst/>
          </a:prstGeom>
          <a:noFill/>
          <a:ln w="0">
            <a:noFill/>
            <a:prstDash val="solid"/>
          </a:ln>
        </p:spPr>
        <p:txBody>
          <a:bodyPr lIns="0" tIns="0" rIns="0" bIns="0"/>
          <a:lstStyle>
            <a:defPPr>
              <a:defRPr sz="1125" b="0">
                <a:solidFill>
                  <a:srgbClr val="444444"/>
                </a:solidFill>
                <a:latin typeface="Calibri"/>
                <a:ea typeface="Calibri"/>
                <a:cs typeface="Calibri"/>
              </a:defRPr>
            </a:defPPr>
            <a:lvl1pPr>
              <a:defRPr sz="1125" b="0">
                <a:solidFill>
                  <a:srgbClr val="444444"/>
                </a:solidFill>
                <a:latin typeface="Calibri"/>
                <a:ea typeface="Calibri"/>
                <a:cs typeface="Calibri"/>
              </a:defRPr>
            </a:lvl1pPr>
            <a:lvl2pPr>
              <a:defRPr sz="1125" b="0">
                <a:solidFill>
                  <a:srgbClr val="444444"/>
                </a:solidFill>
                <a:latin typeface="Calibri"/>
                <a:ea typeface="Calibri"/>
                <a:cs typeface="Calibri"/>
              </a:defRPr>
            </a:lvl2pPr>
            <a:lvl3pPr>
              <a:defRPr sz="1125" b="0">
                <a:solidFill>
                  <a:srgbClr val="444444"/>
                </a:solidFill>
                <a:latin typeface="Calibri"/>
                <a:ea typeface="Calibri"/>
                <a:cs typeface="Calibri"/>
              </a:defRPr>
            </a:lvl3pPr>
            <a:lvl4pPr>
              <a:defRPr sz="1125" b="0">
                <a:solidFill>
                  <a:srgbClr val="444444"/>
                </a:solidFill>
                <a:latin typeface="Calibri"/>
                <a:ea typeface="Calibri"/>
                <a:cs typeface="Calibri"/>
              </a:defRPr>
            </a:lvl4pPr>
            <a:lvl5pPr>
              <a:defRPr sz="1125" b="0">
                <a:solidFill>
                  <a:srgbClr val="444444"/>
                </a:solidFill>
                <a:latin typeface="Calibri"/>
                <a:ea typeface="Calibri"/>
                <a:cs typeface="Calibri"/>
              </a:defRPr>
            </a:lvl5pPr>
            <a:lvl6pPr>
              <a:defRPr sz="1125" b="0">
                <a:solidFill>
                  <a:srgbClr val="444444"/>
                </a:solidFill>
                <a:latin typeface="Calibri"/>
                <a:ea typeface="Calibri"/>
                <a:cs typeface="Calibri"/>
              </a:defRPr>
            </a:lvl6pPr>
            <a:lvl7pPr>
              <a:defRPr sz="1125" b="0">
                <a:solidFill>
                  <a:srgbClr val="444444"/>
                </a:solidFill>
                <a:latin typeface="Calibri"/>
                <a:ea typeface="Calibri"/>
                <a:cs typeface="Calibri"/>
              </a:defRPr>
            </a:lvl7pPr>
            <a:lvl8pPr>
              <a:defRPr sz="1125" b="0">
                <a:solidFill>
                  <a:srgbClr val="444444"/>
                </a:solidFill>
                <a:latin typeface="Calibri"/>
                <a:ea typeface="Calibri"/>
                <a:cs typeface="Calibri"/>
              </a:defRPr>
            </a:lvl8pPr>
            <a:lvl9pPr>
              <a:defRPr sz="1125" b="0">
                <a:solidFill>
                  <a:srgbClr val="444444"/>
                </a:solidFill>
                <a:latin typeface="Calibri"/>
                <a:ea typeface="Calibri"/>
                <a:cs typeface="Calibri"/>
              </a:defRPr>
            </a:lvl9pPr>
          </a:lstStyle>
          <a:p>
            <a:pPr>
              <a:defRPr sz="1125" b="0">
                <a:solidFill>
                  <a:srgbClr val="444444"/>
                </a:solidFill>
                <a:latin typeface="Calibri"/>
                <a:ea typeface="Calibri"/>
                <a:cs typeface="Calibri"/>
              </a:defRPr>
            </a:pPr>
            <a:r>
              <a:rPr sz="1125" b="0">
                <a:solidFill>
                  <a:srgbClr val="444444"/>
                </a:solidFill>
                <a:latin typeface="Calibri"/>
                <a:ea typeface="Calibri"/>
                <a:cs typeface="Calibri"/>
              </a:rPr>
              <a:t>[S8] Rate-tuning campaign, 21 Oct 2026, fixed 7 m span / 4.2 m² wing / 1.5 m rotors, five hours, no added cruise reserve.</a:t>
            </a:r>
          </a:p>
          <a:p>
            <a:pPr>
              <a:defRPr sz="1125" b="0">
                <a:solidFill>
                  <a:srgbClr val="444444"/>
                </a:solidFill>
                <a:latin typeface="Calibri"/>
                <a:ea typeface="Calibri"/>
                <a:cs typeface="Calibri"/>
              </a:defRPr>
            </a:pPr>
            <a:r>
              <a:rPr sz="1125" b="0">
                <a:solidFill>
                  <a:srgbClr val="444444"/>
                </a:solidFill>
                <a:latin typeface="Calibri"/>
                <a:ea typeface="Calibri"/>
                <a:cs typeface="Calibri"/>
              </a:rPr>
              <a:t>Historical 30 m climb-height cases, not the corrected 30-second mission. Combined changes do not isolate a climb-rate mass benefit.</a:t>
            </a:r>
          </a:p>
        </p:txBody>
      </p:sp>
      <p:sp>
        <p:nvSpPr>
          <p:cNvPr id="11" name="TextBox 10">
            <a:extLst>
              <a:ext uri="{FF2B5EF4-FFF2-40B4-BE49-F238E27FC236}">
                <a16:creationId xmlns:a16="http://schemas.microsoft.com/office/drawing/2014/main" id="{5721240E-A72D-D47A-5872-16B5B4E72DD7}"/>
              </a:ext>
            </a:extLst>
          </p:cNvPr>
          <p:cNvSpPr txBox="1"/>
          <p:nvPr/>
        </p:nvSpPr>
        <p:spPr>
          <a:xfrm>
            <a:off x="11671300" y="6527800"/>
            <a:ext cx="355600" cy="153888"/>
          </a:xfrm>
          <a:prstGeom prst="rect">
            <a:avLst/>
          </a:prstGeom>
          <a:noFill/>
        </p:spPr>
        <p:txBody>
          <a:bodyPr vert="horz" lIns="0" tIns="0" rIns="0" bIns="0" rtlCol="0">
            <a:spAutoFit/>
          </a:bodyPr>
          <a:lstStyle/>
          <a:p>
            <a:r>
              <a:rPr lang="en-US" sz="1000">
                <a:solidFill>
                  <a:srgbClr val="000000"/>
                </a:solidFill>
                <a:latin typeface="Calibri" panose="020F0502020204030204" pitchFamily="34" charset="0"/>
              </a:rPr>
              <a:t>35</a:t>
            </a:r>
          </a:p>
        </p:txBody>
      </p:sp>
    </p:spTree>
    <p:extLst>
      <p:ext uri="{BB962C8B-B14F-4D97-AF65-F5344CB8AC3E}">
        <p14:creationId xmlns:p14="http://schemas.microsoft.com/office/powerpoint/2010/main" val="12140743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94BD553-481C-45C2-8FBC-7A888B865202}"/>
              </a:ext>
            </a:extLst>
          </p:cNvPr>
          <p:cNvSpPr>
            <a:spLocks noGrp="1"/>
          </p:cNvSpPr>
          <p:nvPr/>
        </p:nvSpPr>
        <p:spPr>
          <a:xfrm>
            <a:off x="838200" y="361950"/>
            <a:ext cx="10896600" cy="495300"/>
          </a:xfrm>
          <a:prstGeom prst="rect">
            <a:avLst/>
          </a:prstGeom>
          <a:noFill/>
          <a:ln w="0">
            <a:noFill/>
            <a:prstDash val="solid"/>
          </a:ln>
        </p:spPr>
        <p:txBody>
          <a:bodyPr lIns="0" tIns="0" rIns="0" bIns="0"/>
          <a:lstStyle>
            <a:defPPr>
              <a:defRPr sz="2400" b="1">
                <a:solidFill>
                  <a:srgbClr val="000000"/>
                </a:solidFill>
                <a:latin typeface="Calibri"/>
                <a:ea typeface="Calibri"/>
                <a:cs typeface="Calibri"/>
              </a:defRPr>
            </a:defPPr>
            <a:lvl1pPr>
              <a:defRPr sz="2400" b="1">
                <a:solidFill>
                  <a:srgbClr val="000000"/>
                </a:solidFill>
                <a:latin typeface="Calibri"/>
                <a:ea typeface="Calibri"/>
                <a:cs typeface="Calibri"/>
              </a:defRPr>
            </a:lvl1pPr>
            <a:lvl2pPr>
              <a:defRPr sz="2400" b="1">
                <a:solidFill>
                  <a:srgbClr val="000000"/>
                </a:solidFill>
                <a:latin typeface="Calibri"/>
                <a:ea typeface="Calibri"/>
                <a:cs typeface="Calibri"/>
              </a:defRPr>
            </a:lvl2pPr>
            <a:lvl3pPr>
              <a:defRPr sz="2400" b="1">
                <a:solidFill>
                  <a:srgbClr val="000000"/>
                </a:solidFill>
                <a:latin typeface="Calibri"/>
                <a:ea typeface="Calibri"/>
                <a:cs typeface="Calibri"/>
              </a:defRPr>
            </a:lvl3pPr>
            <a:lvl4pPr>
              <a:defRPr sz="2400" b="1">
                <a:solidFill>
                  <a:srgbClr val="000000"/>
                </a:solidFill>
                <a:latin typeface="Calibri"/>
                <a:ea typeface="Calibri"/>
                <a:cs typeface="Calibri"/>
              </a:defRPr>
            </a:lvl4pPr>
            <a:lvl5pPr>
              <a:defRPr sz="2400" b="1">
                <a:solidFill>
                  <a:srgbClr val="000000"/>
                </a:solidFill>
                <a:latin typeface="Calibri"/>
                <a:ea typeface="Calibri"/>
                <a:cs typeface="Calibri"/>
              </a:defRPr>
            </a:lvl5pPr>
            <a:lvl6pPr>
              <a:defRPr sz="2400" b="1">
                <a:solidFill>
                  <a:srgbClr val="000000"/>
                </a:solidFill>
                <a:latin typeface="Calibri"/>
                <a:ea typeface="Calibri"/>
                <a:cs typeface="Calibri"/>
              </a:defRPr>
            </a:lvl6pPr>
            <a:lvl7pPr>
              <a:defRPr sz="2400" b="1">
                <a:solidFill>
                  <a:srgbClr val="000000"/>
                </a:solidFill>
                <a:latin typeface="Calibri"/>
                <a:ea typeface="Calibri"/>
                <a:cs typeface="Calibri"/>
              </a:defRPr>
            </a:lvl7pPr>
            <a:lvl8pPr>
              <a:defRPr sz="2400" b="1">
                <a:solidFill>
                  <a:srgbClr val="000000"/>
                </a:solidFill>
                <a:latin typeface="Calibri"/>
                <a:ea typeface="Calibri"/>
                <a:cs typeface="Calibri"/>
              </a:defRPr>
            </a:lvl8pPr>
            <a:lvl9pPr>
              <a:defRPr sz="2400" b="1">
                <a:solidFill>
                  <a:srgbClr val="000000"/>
                </a:solidFill>
                <a:latin typeface="Calibri"/>
                <a:ea typeface="Calibri"/>
                <a:cs typeface="Calibri"/>
              </a:defRPr>
            </a:lvl9pPr>
          </a:lstStyle>
          <a:p>
            <a:pPr>
              <a:defRPr sz="2400" b="1">
                <a:solidFill>
                  <a:srgbClr val="000000"/>
                </a:solidFill>
                <a:latin typeface="Calibri"/>
                <a:ea typeface="Calibri"/>
                <a:cs typeface="Calibri"/>
              </a:defRPr>
            </a:pPr>
            <a:r>
              <a:rPr sz="2400" b="1">
                <a:solidFill>
                  <a:srgbClr val="000000"/>
                </a:solidFill>
                <a:latin typeface="Calibri"/>
                <a:ea typeface="Calibri"/>
                <a:cs typeface="Calibri"/>
              </a:rPr>
              <a:t>NASA Lift + Cruise: Further Diagnostic Attempts</a:t>
            </a:r>
          </a:p>
        </p:txBody>
      </p:sp>
      <p:sp>
        <p:nvSpPr>
          <p:cNvPr id="2" name="Rectangle 1">
            <a:extLst>
              <a:ext uri="{FF2B5EF4-FFF2-40B4-BE49-F238E27FC236}">
                <a16:creationId xmlns:a16="http://schemas.microsoft.com/office/drawing/2014/main" id="{8575E440-A736-4B95-8CF5-27EA7EDEAE99}"/>
              </a:ext>
            </a:extLst>
          </p:cNvPr>
          <p:cNvSpPr>
            <a:spLocks noGrp="1"/>
          </p:cNvSpPr>
          <p:nvPr/>
        </p:nvSpPr>
        <p:spPr>
          <a:xfrm>
            <a:off x="476250" y="895350"/>
            <a:ext cx="11239500" cy="523875"/>
          </a:xfrm>
          <a:prstGeom prst="rect">
            <a:avLst/>
          </a:prstGeom>
          <a:noFill/>
          <a:ln w="0">
            <a:noFill/>
            <a:prstDash val="solid"/>
          </a:ln>
        </p:spPr>
        <p:txBody>
          <a:bodyPr lIns="0" tIns="0" rIns="0" bIns="0"/>
          <a:lstStyle>
            <a:defPPr>
              <a:defRPr sz="1575" b="0">
                <a:solidFill>
                  <a:srgbClr val="444444"/>
                </a:solidFill>
                <a:latin typeface="Calibri"/>
                <a:ea typeface="Calibri"/>
                <a:cs typeface="Calibri"/>
              </a:defRPr>
            </a:defPPr>
            <a:lvl1pPr>
              <a:defRPr sz="1575" b="0">
                <a:solidFill>
                  <a:srgbClr val="444444"/>
                </a:solidFill>
                <a:latin typeface="Calibri"/>
                <a:ea typeface="Calibri"/>
                <a:cs typeface="Calibri"/>
              </a:defRPr>
            </a:lvl1pPr>
            <a:lvl2pPr>
              <a:defRPr sz="1575" b="0">
                <a:solidFill>
                  <a:srgbClr val="444444"/>
                </a:solidFill>
                <a:latin typeface="Calibri"/>
                <a:ea typeface="Calibri"/>
                <a:cs typeface="Calibri"/>
              </a:defRPr>
            </a:lvl2pPr>
            <a:lvl3pPr>
              <a:defRPr sz="1575" b="0">
                <a:solidFill>
                  <a:srgbClr val="444444"/>
                </a:solidFill>
                <a:latin typeface="Calibri"/>
                <a:ea typeface="Calibri"/>
                <a:cs typeface="Calibri"/>
              </a:defRPr>
            </a:lvl3pPr>
            <a:lvl4pPr>
              <a:defRPr sz="1575" b="0">
                <a:solidFill>
                  <a:srgbClr val="444444"/>
                </a:solidFill>
                <a:latin typeface="Calibri"/>
                <a:ea typeface="Calibri"/>
                <a:cs typeface="Calibri"/>
              </a:defRPr>
            </a:lvl4pPr>
            <a:lvl5pPr>
              <a:defRPr sz="1575" b="0">
                <a:solidFill>
                  <a:srgbClr val="444444"/>
                </a:solidFill>
                <a:latin typeface="Calibri"/>
                <a:ea typeface="Calibri"/>
                <a:cs typeface="Calibri"/>
              </a:defRPr>
            </a:lvl5pPr>
            <a:lvl6pPr>
              <a:defRPr sz="1575" b="0">
                <a:solidFill>
                  <a:srgbClr val="444444"/>
                </a:solidFill>
                <a:latin typeface="Calibri"/>
                <a:ea typeface="Calibri"/>
                <a:cs typeface="Calibri"/>
              </a:defRPr>
            </a:lvl6pPr>
            <a:lvl7pPr>
              <a:defRPr sz="1575" b="0">
                <a:solidFill>
                  <a:srgbClr val="444444"/>
                </a:solidFill>
                <a:latin typeface="Calibri"/>
                <a:ea typeface="Calibri"/>
                <a:cs typeface="Calibri"/>
              </a:defRPr>
            </a:lvl7pPr>
            <a:lvl8pPr>
              <a:defRPr sz="1575" b="0">
                <a:solidFill>
                  <a:srgbClr val="444444"/>
                </a:solidFill>
                <a:latin typeface="Calibri"/>
                <a:ea typeface="Calibri"/>
                <a:cs typeface="Calibri"/>
              </a:defRPr>
            </a:lvl8pPr>
            <a:lvl9pPr>
              <a:defRPr sz="1575" b="0">
                <a:solidFill>
                  <a:srgbClr val="444444"/>
                </a:solidFill>
                <a:latin typeface="Calibri"/>
                <a:ea typeface="Calibri"/>
                <a:cs typeface="Calibri"/>
              </a:defRPr>
            </a:lvl9pPr>
          </a:lstStyle>
          <a:p>
            <a:pPr>
              <a:defRPr sz="1575" b="0">
                <a:solidFill>
                  <a:srgbClr val="444444"/>
                </a:solidFill>
                <a:latin typeface="Calibri"/>
                <a:ea typeface="Calibri"/>
                <a:cs typeface="Calibri"/>
              </a:defRPr>
            </a:pPr>
            <a:r>
              <a:rPr sz="1575" b="0">
                <a:solidFill>
                  <a:srgbClr val="444444"/>
                </a:solidFill>
                <a:latin typeface="Calibri"/>
                <a:ea typeface="Calibri"/>
                <a:cs typeface="Calibri"/>
              </a:rPr>
              <a:t>New attempts improve numerical progress, but neither aircraft yet reproduces the published benchmark.</a:t>
            </a:r>
          </a:p>
        </p:txBody>
      </p:sp>
      <p:sp>
        <p:nvSpPr>
          <p:cNvPr id="3" name="Rectangle 2">
            <a:extLst>
              <a:ext uri="{FF2B5EF4-FFF2-40B4-BE49-F238E27FC236}">
                <a16:creationId xmlns:a16="http://schemas.microsoft.com/office/drawing/2014/main" id="{992D6339-49A5-448A-87CA-55B3B7ACB677}"/>
              </a:ext>
            </a:extLst>
          </p:cNvPr>
          <p:cNvSpPr>
            <a:spLocks noGrp="1"/>
          </p:cNvSpPr>
          <p:nvPr/>
        </p:nvSpPr>
        <p:spPr>
          <a:xfrm>
            <a:off x="11382375" y="6524625"/>
            <a:ext cx="333375" cy="219075"/>
          </a:xfrm>
          <a:prstGeom prst="rect">
            <a:avLst/>
          </a:prstGeom>
          <a:noFill/>
          <a:ln w="0">
            <a:noFill/>
            <a:prstDash val="solid"/>
          </a:ln>
        </p:spPr>
        <p:txBody>
          <a:bodyPr lIns="0" tIns="0" rIns="0" bIns="0"/>
          <a:lstStyle>
            <a:defPPr>
              <a:defRPr sz="1125" b="0">
                <a:solidFill>
                  <a:srgbClr val="444444"/>
                </a:solidFill>
                <a:latin typeface="Calibri"/>
                <a:ea typeface="Calibri"/>
                <a:cs typeface="Calibri"/>
              </a:defRPr>
            </a:defPPr>
            <a:lvl1pPr>
              <a:defRPr sz="1125" b="0">
                <a:solidFill>
                  <a:srgbClr val="444444"/>
                </a:solidFill>
                <a:latin typeface="Calibri"/>
                <a:ea typeface="Calibri"/>
                <a:cs typeface="Calibri"/>
              </a:defRPr>
            </a:lvl1pPr>
            <a:lvl2pPr>
              <a:defRPr sz="1125" b="0">
                <a:solidFill>
                  <a:srgbClr val="444444"/>
                </a:solidFill>
                <a:latin typeface="Calibri"/>
                <a:ea typeface="Calibri"/>
                <a:cs typeface="Calibri"/>
              </a:defRPr>
            </a:lvl2pPr>
            <a:lvl3pPr>
              <a:defRPr sz="1125" b="0">
                <a:solidFill>
                  <a:srgbClr val="444444"/>
                </a:solidFill>
                <a:latin typeface="Calibri"/>
                <a:ea typeface="Calibri"/>
                <a:cs typeface="Calibri"/>
              </a:defRPr>
            </a:lvl3pPr>
            <a:lvl4pPr>
              <a:defRPr sz="1125" b="0">
                <a:solidFill>
                  <a:srgbClr val="444444"/>
                </a:solidFill>
                <a:latin typeface="Calibri"/>
                <a:ea typeface="Calibri"/>
                <a:cs typeface="Calibri"/>
              </a:defRPr>
            </a:lvl4pPr>
            <a:lvl5pPr>
              <a:defRPr sz="1125" b="0">
                <a:solidFill>
                  <a:srgbClr val="444444"/>
                </a:solidFill>
                <a:latin typeface="Calibri"/>
                <a:ea typeface="Calibri"/>
                <a:cs typeface="Calibri"/>
              </a:defRPr>
            </a:lvl5pPr>
            <a:lvl6pPr>
              <a:defRPr sz="1125" b="0">
                <a:solidFill>
                  <a:srgbClr val="444444"/>
                </a:solidFill>
                <a:latin typeface="Calibri"/>
                <a:ea typeface="Calibri"/>
                <a:cs typeface="Calibri"/>
              </a:defRPr>
            </a:lvl6pPr>
            <a:lvl7pPr>
              <a:defRPr sz="1125" b="0">
                <a:solidFill>
                  <a:srgbClr val="444444"/>
                </a:solidFill>
                <a:latin typeface="Calibri"/>
                <a:ea typeface="Calibri"/>
                <a:cs typeface="Calibri"/>
              </a:defRPr>
            </a:lvl7pPr>
            <a:lvl8pPr>
              <a:defRPr sz="1125" b="0">
                <a:solidFill>
                  <a:srgbClr val="444444"/>
                </a:solidFill>
                <a:latin typeface="Calibri"/>
                <a:ea typeface="Calibri"/>
                <a:cs typeface="Calibri"/>
              </a:defRPr>
            </a:lvl8pPr>
            <a:lvl9pPr>
              <a:defRPr sz="1125" b="0">
                <a:solidFill>
                  <a:srgbClr val="444444"/>
                </a:solidFill>
                <a:latin typeface="Calibri"/>
                <a:ea typeface="Calibri"/>
                <a:cs typeface="Calibri"/>
              </a:defRPr>
            </a:lvl9pPr>
          </a:lstStyle>
          <a:p>
            <a:pPr>
              <a:defRPr sz="1125" b="0">
                <a:solidFill>
                  <a:srgbClr val="444444"/>
                </a:solidFill>
                <a:latin typeface="Calibri"/>
                <a:ea typeface="Calibri"/>
                <a:cs typeface="Calibri"/>
              </a:defRPr>
            </a:pPr>
            <a:r>
              <a:rPr lang="en-US" sz="1125" b="0">
                <a:solidFill>
                  <a:srgbClr val="444444"/>
                </a:solidFill>
                <a:latin typeface="Calibri"/>
                <a:ea typeface="Calibri"/>
                <a:cs typeface="Calibri"/>
              </a:rPr>
              <a:t>36</a:t>
            </a:r>
            <a:endParaRPr sz="1125" b="0">
              <a:solidFill>
                <a:srgbClr val="444444"/>
              </a:solidFill>
              <a:latin typeface="Calibri"/>
              <a:ea typeface="Calibri"/>
              <a:cs typeface="Calibri"/>
            </a:endParaRPr>
          </a:p>
        </p:txBody>
      </p:sp>
      <p:graphicFrame>
        <p:nvGraphicFramePr>
          <p:cNvPr id="4" name="Table 3">
            <a:extLst>
              <a:ext uri="{FF2B5EF4-FFF2-40B4-BE49-F238E27FC236}">
                <a16:creationId xmlns:a16="http://schemas.microsoft.com/office/drawing/2014/main" id="{4E902553-6812-4BDB-AA5F-296003F0F5BA}"/>
              </a:ext>
            </a:extLst>
          </p:cNvPr>
          <p:cNvGraphicFramePr/>
          <p:nvPr/>
        </p:nvGraphicFramePr>
        <p:xfrm>
          <a:off x="476250" y="1666875"/>
          <a:ext cx="11239500" cy="2190750"/>
        </p:xfrm>
        <a:graphic>
          <a:graphicData uri="http://schemas.openxmlformats.org/drawingml/2006/table">
            <a:tbl>
              <a:tblPr/>
              <a:tblGrid>
                <a:gridCol w="4000500">
                  <a:extLst>
                    <a:ext uri="{9D8B030D-6E8A-4147-A177-3AD203B41FA5}">
                      <a16:colId xmlns:a16="http://schemas.microsoft.com/office/drawing/2014/main" val="20000"/>
                    </a:ext>
                  </a:extLst>
                </a:gridCol>
                <a:gridCol w="2714625">
                  <a:extLst>
                    <a:ext uri="{9D8B030D-6E8A-4147-A177-3AD203B41FA5}">
                      <a16:colId xmlns:a16="http://schemas.microsoft.com/office/drawing/2014/main" val="20001"/>
                    </a:ext>
                  </a:extLst>
                </a:gridCol>
                <a:gridCol w="1381125">
                  <a:extLst>
                    <a:ext uri="{9D8B030D-6E8A-4147-A177-3AD203B41FA5}">
                      <a16:colId xmlns:a16="http://schemas.microsoft.com/office/drawing/2014/main" val="20002"/>
                    </a:ext>
                  </a:extLst>
                </a:gridCol>
                <a:gridCol w="3143250">
                  <a:extLst>
                    <a:ext uri="{9D8B030D-6E8A-4147-A177-3AD203B41FA5}">
                      <a16:colId xmlns:a16="http://schemas.microsoft.com/office/drawing/2014/main" val="20003"/>
                    </a:ext>
                  </a:extLst>
                </a:gridCol>
              </a:tblGrid>
              <a:tr h="547688">
                <a:tc>
                  <a:txBody>
                    <a:bodyPr/>
                    <a:lstStyle/>
                    <a:p>
                      <a:r>
                        <a:rPr sz="1575" b="1">
                          <a:solidFill>
                            <a:srgbClr val="000000"/>
                          </a:solidFill>
                          <a:latin typeface="Calibri"/>
                          <a:ea typeface="Calibri"/>
                          <a:cs typeface="Calibri"/>
                        </a:rPr>
                        <a:t>Diagnostic [S11]</a:t>
                      </a:r>
                    </a:p>
                  </a:txBody>
                  <a:tcPr>
                    <a:lnL w="9525">
                      <a:solidFill>
                        <a:srgbClr val="BBBBBB"/>
                      </a:solidFill>
                    </a:lnL>
                    <a:lnR w="9525">
                      <a:solidFill>
                        <a:srgbClr val="BBBBBB"/>
                      </a:solidFill>
                    </a:lnR>
                    <a:lnT w="9525">
                      <a:solidFill>
                        <a:srgbClr val="BBBBBB"/>
                      </a:solidFill>
                    </a:lnT>
                    <a:lnB w="9525">
                      <a:solidFill>
                        <a:srgbClr val="BBBBBB"/>
                      </a:solidFill>
                    </a:lnB>
                    <a:solidFill>
                      <a:srgbClr val="D9D9D9"/>
                    </a:solidFill>
                  </a:tcPr>
                </a:tc>
                <a:tc>
                  <a:txBody>
                    <a:bodyPr/>
                    <a:lstStyle/>
                    <a:p>
                      <a:r>
                        <a:rPr sz="1575" b="1">
                          <a:solidFill>
                            <a:srgbClr val="000000"/>
                          </a:solidFill>
                          <a:latin typeface="Calibri"/>
                          <a:ea typeface="Calibri"/>
                          <a:cs typeface="Calibri"/>
                        </a:rPr>
                        <a:t>Paper / run DGW, lb</a:t>
                      </a:r>
                    </a:p>
                  </a:txBody>
                  <a:tcPr>
                    <a:lnL w="9525" cap="flat" cmpd="sng" algn="ctr">
                      <a:solidFill>
                        <a:srgbClr val="BBBBBB"/>
                      </a:solidFill>
                      <a:prstDash val="solid"/>
                      <a:round/>
                      <a:headEnd type="none" w="med" len="med"/>
                      <a:tailEnd type="none" w="med" len="med"/>
                    </a:lnL>
                    <a:lnR w="9525">
                      <a:solidFill>
                        <a:srgbClr val="BBBBBB"/>
                      </a:solidFill>
                    </a:lnR>
                    <a:lnT w="9525">
                      <a:solidFill>
                        <a:srgbClr val="BBBBBB"/>
                      </a:solidFill>
                    </a:lnT>
                    <a:lnB w="9525">
                      <a:solidFill>
                        <a:srgbClr val="BBBBBB"/>
                      </a:solidFill>
                    </a:lnB>
                    <a:solidFill>
                      <a:srgbClr val="D9D9D9"/>
                    </a:solidFill>
                  </a:tcPr>
                </a:tc>
                <a:tc>
                  <a:txBody>
                    <a:bodyPr/>
                    <a:lstStyle/>
                    <a:p>
                      <a:r>
                        <a:rPr sz="1575" b="1">
                          <a:solidFill>
                            <a:srgbClr val="000000"/>
                          </a:solidFill>
                          <a:latin typeface="Calibri"/>
                          <a:ea typeface="Calibri"/>
                          <a:cs typeface="Calibri"/>
                        </a:rPr>
                        <a:t>Difference</a:t>
                      </a:r>
                    </a:p>
                  </a:txBody>
                  <a:tcPr>
                    <a:lnL w="9525" cap="flat" cmpd="sng" algn="ctr">
                      <a:solidFill>
                        <a:srgbClr val="BBBBBB"/>
                      </a:solidFill>
                      <a:prstDash val="solid"/>
                      <a:round/>
                      <a:headEnd type="none" w="med" len="med"/>
                      <a:tailEnd type="none" w="med" len="med"/>
                    </a:lnL>
                    <a:lnR w="9525">
                      <a:solidFill>
                        <a:srgbClr val="BBBBBB"/>
                      </a:solidFill>
                    </a:lnR>
                    <a:lnT w="9525">
                      <a:solidFill>
                        <a:srgbClr val="BBBBBB"/>
                      </a:solidFill>
                    </a:lnT>
                    <a:lnB w="9525">
                      <a:solidFill>
                        <a:srgbClr val="BBBBBB"/>
                      </a:solidFill>
                    </a:lnB>
                    <a:solidFill>
                      <a:srgbClr val="D9D9D9"/>
                    </a:solidFill>
                  </a:tcPr>
                </a:tc>
                <a:tc>
                  <a:txBody>
                    <a:bodyPr/>
                    <a:lstStyle/>
                    <a:p>
                      <a:r>
                        <a:rPr sz="1575" b="1">
                          <a:solidFill>
                            <a:srgbClr val="000000"/>
                          </a:solidFill>
                          <a:latin typeface="Calibri"/>
                          <a:ea typeface="Calibri"/>
                          <a:cs typeface="Calibri"/>
                        </a:rPr>
                        <a:t>Outcome</a:t>
                      </a:r>
                    </a:p>
                  </a:txBody>
                  <a:tcPr>
                    <a:lnL w="9525" cap="flat" cmpd="sng" algn="ctr">
                      <a:solidFill>
                        <a:srgbClr val="BBBBBB"/>
                      </a:solidFill>
                      <a:prstDash val="solid"/>
                      <a:round/>
                      <a:headEnd type="none" w="med" len="med"/>
                      <a:tailEnd type="none" w="med" len="med"/>
                    </a:lnL>
                    <a:lnR w="9525">
                      <a:solidFill>
                        <a:srgbClr val="BBBBBB"/>
                      </a:solidFill>
                    </a:lnR>
                    <a:lnT w="9525">
                      <a:solidFill>
                        <a:srgbClr val="BBBBBB"/>
                      </a:solidFill>
                    </a:lnT>
                    <a:lnB w="9525">
                      <a:solidFill>
                        <a:srgbClr val="BBBBBB"/>
                      </a:solidFill>
                    </a:lnB>
                    <a:solidFill>
                      <a:srgbClr val="D9D9D9"/>
                    </a:solidFill>
                  </a:tcPr>
                </a:tc>
                <a:extLst>
                  <a:ext uri="{0D108BD9-81ED-4DB2-BD59-A6C34878D82A}">
                    <a16:rowId xmlns:a16="http://schemas.microsoft.com/office/drawing/2014/main" val="10000"/>
                  </a:ext>
                </a:extLst>
              </a:tr>
              <a:tr h="547688">
                <a:tc>
                  <a:txBody>
                    <a:bodyPr/>
                    <a:lstStyle/>
                    <a:p>
                      <a:r>
                        <a:rPr sz="1575" b="0">
                          <a:solidFill>
                            <a:srgbClr val="000000"/>
                          </a:solidFill>
                          <a:latin typeface="Calibri"/>
                          <a:ea typeface="Calibri"/>
                          <a:cs typeface="Calibri"/>
                        </a:rPr>
                        <a:t>Electric: fixed 112 kt mission input</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575" b="0">
                          <a:solidFill>
                            <a:srgbClr val="000000"/>
                          </a:solidFill>
                          <a:latin typeface="Calibri"/>
                          <a:ea typeface="Calibri"/>
                          <a:cs typeface="Calibri"/>
                        </a:rPr>
                        <a:t>8,210 / 9,160.6</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575" b="0">
                          <a:solidFill>
                            <a:srgbClr val="000000"/>
                          </a:solidFill>
                          <a:latin typeface="Calibri"/>
                          <a:ea typeface="Calibri"/>
                          <a:cs typeface="Calibri"/>
                        </a:rPr>
                        <a:t>+11.6%</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575" b="0">
                          <a:solidFill>
                            <a:srgbClr val="000000"/>
                          </a:solidFill>
                          <a:latin typeface="Calibri"/>
                          <a:ea typeface="Calibri"/>
                          <a:cs typeface="Calibri"/>
                        </a:rPr>
                        <a:t>Converged; original optimum task changed</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extLst>
                  <a:ext uri="{0D108BD9-81ED-4DB2-BD59-A6C34878D82A}">
                    <a16:rowId xmlns:a16="http://schemas.microsoft.com/office/drawing/2014/main" val="10001"/>
                  </a:ext>
                </a:extLst>
              </a:tr>
              <a:tr h="547688">
                <a:tc>
                  <a:txBody>
                    <a:bodyPr/>
                    <a:lstStyle/>
                    <a:p>
                      <a:r>
                        <a:rPr sz="1575" b="0">
                          <a:solidFill>
                            <a:srgbClr val="000000"/>
                          </a:solidFill>
                          <a:latin typeface="Calibri"/>
                          <a:ea typeface="Calibri"/>
                          <a:cs typeface="Calibri"/>
                        </a:rPr>
                        <a:t>TE: damped, speed optimized</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575" b="0">
                          <a:solidFill>
                            <a:srgbClr val="000000"/>
                          </a:solidFill>
                          <a:latin typeface="Calibri"/>
                          <a:ea typeface="Calibri"/>
                          <a:cs typeface="Calibri"/>
                        </a:rPr>
                        <a:t>6,013 / no result</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575" b="0">
                          <a:solidFill>
                            <a:srgbClr val="000000"/>
                          </a:solidFill>
                          <a:latin typeface="Calibri"/>
                          <a:ea typeface="Calibri"/>
                          <a:cs typeface="Calibri"/>
                        </a:rPr>
                        <a:t>—</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tc>
                  <a:txBody>
                    <a:bodyPr/>
                    <a:lstStyle/>
                    <a:p>
                      <a:r>
                        <a:rPr sz="1575" b="0">
                          <a:solidFill>
                            <a:srgbClr val="000000"/>
                          </a:solidFill>
                          <a:latin typeface="Calibri"/>
                          <a:ea typeface="Calibri"/>
                          <a:cs typeface="Calibri"/>
                        </a:rPr>
                        <a:t>180 s timeout</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FFFFF"/>
                    </a:solidFill>
                  </a:tcPr>
                </a:tc>
                <a:extLst>
                  <a:ext uri="{0D108BD9-81ED-4DB2-BD59-A6C34878D82A}">
                    <a16:rowId xmlns:a16="http://schemas.microsoft.com/office/drawing/2014/main" val="10002"/>
                  </a:ext>
                </a:extLst>
              </a:tr>
              <a:tr h="547688">
                <a:tc>
                  <a:txBody>
                    <a:bodyPr/>
                    <a:lstStyle/>
                    <a:p>
                      <a:r>
                        <a:rPr sz="1575" b="0">
                          <a:solidFill>
                            <a:srgbClr val="000000"/>
                          </a:solidFill>
                          <a:latin typeface="Calibri"/>
                          <a:ea typeface="Calibri"/>
                          <a:cs typeface="Calibri"/>
                        </a:rPr>
                        <a:t>TE: fixed 122 kt mission input</a:t>
                      </a:r>
                    </a:p>
                  </a:txBody>
                  <a:tcPr>
                    <a:lnL w="9525">
                      <a:solidFill>
                        <a:srgbClr val="BBBBBB"/>
                      </a:solidFill>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575" b="0">
                          <a:solidFill>
                            <a:srgbClr val="000000"/>
                          </a:solidFill>
                          <a:latin typeface="Calibri"/>
                          <a:ea typeface="Calibri"/>
                          <a:cs typeface="Calibri"/>
                        </a:rPr>
                        <a:t>6,013 / 6,625.0</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575" b="0">
                          <a:solidFill>
                            <a:srgbClr val="000000"/>
                          </a:solidFill>
                          <a:latin typeface="Calibri"/>
                          <a:ea typeface="Calibri"/>
                          <a:cs typeface="Calibri"/>
                        </a:rPr>
                        <a:t>+10.2%</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tc>
                  <a:txBody>
                    <a:bodyPr/>
                    <a:lstStyle/>
                    <a:p>
                      <a:r>
                        <a:rPr sz="1575" b="0">
                          <a:solidFill>
                            <a:srgbClr val="000000"/>
                          </a:solidFill>
                          <a:latin typeface="Calibri"/>
                          <a:ea typeface="Calibri"/>
                          <a:cs typeface="Calibri"/>
                        </a:rPr>
                        <a:t>Converged; power / energy flags remain</a:t>
                      </a:r>
                    </a:p>
                  </a:txBody>
                  <a:tcPr>
                    <a:lnL w="9525" cap="flat" cmpd="sng" algn="ctr">
                      <a:solidFill>
                        <a:srgbClr val="BBBBBB"/>
                      </a:solidFill>
                      <a:prstDash val="solid"/>
                      <a:round/>
                      <a:headEnd type="none" w="med" len="med"/>
                      <a:tailEnd type="none" w="med" len="med"/>
                    </a:lnL>
                    <a:lnR w="9525">
                      <a:solidFill>
                        <a:srgbClr val="BBBBBB"/>
                      </a:solidFill>
                    </a:lnR>
                    <a:lnT w="9525" cap="flat" cmpd="sng" algn="ctr">
                      <a:solidFill>
                        <a:srgbClr val="BBBBBB"/>
                      </a:solidFill>
                      <a:prstDash val="solid"/>
                      <a:round/>
                      <a:headEnd type="none" w="med" len="med"/>
                      <a:tailEnd type="none" w="med" len="med"/>
                    </a:lnT>
                    <a:lnB w="9525">
                      <a:solidFill>
                        <a:srgbClr val="BBBBBB"/>
                      </a:solidFill>
                    </a:lnB>
                    <a:solidFill>
                      <a:srgbClr val="F3F3F3"/>
                    </a:solidFill>
                  </a:tcPr>
                </a:tc>
                <a:extLst>
                  <a:ext uri="{0D108BD9-81ED-4DB2-BD59-A6C34878D82A}">
                    <a16:rowId xmlns:a16="http://schemas.microsoft.com/office/drawing/2014/main" val="10003"/>
                  </a:ext>
                </a:extLst>
              </a:tr>
            </a:tbl>
          </a:graphicData>
        </a:graphic>
      </p:graphicFrame>
      <p:sp>
        <p:nvSpPr>
          <p:cNvPr id="5" name="Rectangle 4">
            <a:extLst>
              <a:ext uri="{FF2B5EF4-FFF2-40B4-BE49-F238E27FC236}">
                <a16:creationId xmlns:a16="http://schemas.microsoft.com/office/drawing/2014/main" id="{552279FC-AA18-4EE5-AF20-DE7497BD19C6}"/>
              </a:ext>
            </a:extLst>
          </p:cNvPr>
          <p:cNvSpPr>
            <a:spLocks noGrp="1"/>
          </p:cNvSpPr>
          <p:nvPr/>
        </p:nvSpPr>
        <p:spPr>
          <a:xfrm>
            <a:off x="476250" y="4238625"/>
            <a:ext cx="5334000" cy="333375"/>
          </a:xfrm>
          <a:prstGeom prst="rect">
            <a:avLst/>
          </a:prstGeom>
          <a:noFill/>
          <a:ln w="0">
            <a:noFill/>
            <a:prstDash val="solid"/>
          </a:ln>
        </p:spPr>
        <p:txBody>
          <a:bodyPr lIns="0" tIns="0" rIns="0" bIns="0"/>
          <a:lstStyle>
            <a:defPPr>
              <a:defRPr sz="1800" b="1">
                <a:solidFill>
                  <a:srgbClr val="000000"/>
                </a:solidFill>
                <a:latin typeface="Calibri"/>
                <a:ea typeface="Calibri"/>
                <a:cs typeface="Calibri"/>
              </a:defRPr>
            </a:defPPr>
            <a:lvl1pPr>
              <a:defRPr sz="1800" b="1">
                <a:solidFill>
                  <a:srgbClr val="000000"/>
                </a:solidFill>
                <a:latin typeface="Calibri"/>
                <a:ea typeface="Calibri"/>
                <a:cs typeface="Calibri"/>
              </a:defRPr>
            </a:lvl1pPr>
            <a:lvl2pPr>
              <a:defRPr sz="1800" b="1">
                <a:solidFill>
                  <a:srgbClr val="000000"/>
                </a:solidFill>
                <a:latin typeface="Calibri"/>
                <a:ea typeface="Calibri"/>
                <a:cs typeface="Calibri"/>
              </a:defRPr>
            </a:lvl2pPr>
            <a:lvl3pPr>
              <a:defRPr sz="1800" b="1">
                <a:solidFill>
                  <a:srgbClr val="000000"/>
                </a:solidFill>
                <a:latin typeface="Calibri"/>
                <a:ea typeface="Calibri"/>
                <a:cs typeface="Calibri"/>
              </a:defRPr>
            </a:lvl3pPr>
            <a:lvl4pPr>
              <a:defRPr sz="1800" b="1">
                <a:solidFill>
                  <a:srgbClr val="000000"/>
                </a:solidFill>
                <a:latin typeface="Calibri"/>
                <a:ea typeface="Calibri"/>
                <a:cs typeface="Calibri"/>
              </a:defRPr>
            </a:lvl4pPr>
            <a:lvl5pPr>
              <a:defRPr sz="1800" b="1">
                <a:solidFill>
                  <a:srgbClr val="000000"/>
                </a:solidFill>
                <a:latin typeface="Calibri"/>
                <a:ea typeface="Calibri"/>
                <a:cs typeface="Calibri"/>
              </a:defRPr>
            </a:lvl5pPr>
            <a:lvl6pPr>
              <a:defRPr sz="1800" b="1">
                <a:solidFill>
                  <a:srgbClr val="000000"/>
                </a:solidFill>
                <a:latin typeface="Calibri"/>
                <a:ea typeface="Calibri"/>
                <a:cs typeface="Calibri"/>
              </a:defRPr>
            </a:lvl6pPr>
            <a:lvl7pPr>
              <a:defRPr sz="1800" b="1">
                <a:solidFill>
                  <a:srgbClr val="000000"/>
                </a:solidFill>
                <a:latin typeface="Calibri"/>
                <a:ea typeface="Calibri"/>
                <a:cs typeface="Calibri"/>
              </a:defRPr>
            </a:lvl7pPr>
            <a:lvl8pPr>
              <a:defRPr sz="1800" b="1">
                <a:solidFill>
                  <a:srgbClr val="000000"/>
                </a:solidFill>
                <a:latin typeface="Calibri"/>
                <a:ea typeface="Calibri"/>
                <a:cs typeface="Calibri"/>
              </a:defRPr>
            </a:lvl8pPr>
            <a:lvl9pPr>
              <a:defRPr sz="1800" b="1">
                <a:solidFill>
                  <a:srgbClr val="000000"/>
                </a:solidFill>
                <a:latin typeface="Calibri"/>
                <a:ea typeface="Calibri"/>
                <a:cs typeface="Calibri"/>
              </a:defRPr>
            </a:lvl9pPr>
          </a:lstStyle>
          <a:p>
            <a:pPr>
              <a:defRPr sz="1800" b="1">
                <a:solidFill>
                  <a:srgbClr val="000000"/>
                </a:solidFill>
                <a:latin typeface="Calibri"/>
                <a:ea typeface="Calibri"/>
                <a:cs typeface="Calibri"/>
              </a:defRPr>
            </a:pPr>
            <a:r>
              <a:rPr sz="1800" b="1">
                <a:solidFill>
                  <a:srgbClr val="000000"/>
                </a:solidFill>
                <a:latin typeface="Calibri"/>
                <a:ea typeface="Calibri"/>
                <a:cs typeface="Calibri"/>
              </a:rPr>
              <a:t>What the literature clarified</a:t>
            </a:r>
          </a:p>
        </p:txBody>
      </p:sp>
      <p:sp>
        <p:nvSpPr>
          <p:cNvPr id="6" name="Rectangle 5">
            <a:extLst>
              <a:ext uri="{FF2B5EF4-FFF2-40B4-BE49-F238E27FC236}">
                <a16:creationId xmlns:a16="http://schemas.microsoft.com/office/drawing/2014/main" id="{B1372CFA-9E25-4BA0-978A-825C9F7EE5C7}"/>
              </a:ext>
            </a:extLst>
          </p:cNvPr>
          <p:cNvSpPr>
            <a:spLocks noGrp="1"/>
          </p:cNvSpPr>
          <p:nvPr/>
        </p:nvSpPr>
        <p:spPr>
          <a:xfrm>
            <a:off x="476250" y="4714875"/>
            <a:ext cx="5334000" cy="1095375"/>
          </a:xfrm>
          <a:prstGeom prst="rect">
            <a:avLst/>
          </a:prstGeom>
          <a:noFill/>
          <a:ln w="0">
            <a:noFill/>
            <a:prstDash val="solid"/>
          </a:ln>
        </p:spPr>
        <p:txBody>
          <a:bodyPr lIns="0" tIns="0" rIns="0" bIns="0"/>
          <a:lstStyle>
            <a:defPPr>
              <a:defRPr sz="1725" b="0">
                <a:solidFill>
                  <a:srgbClr val="000000"/>
                </a:solidFill>
                <a:latin typeface="Calibri"/>
                <a:ea typeface="Calibri"/>
                <a:cs typeface="Calibri"/>
              </a:defRPr>
            </a:defPPr>
            <a:lvl1pPr>
              <a:defRPr sz="1725" b="0">
                <a:solidFill>
                  <a:srgbClr val="000000"/>
                </a:solidFill>
                <a:latin typeface="Calibri"/>
                <a:ea typeface="Calibri"/>
                <a:cs typeface="Calibri"/>
              </a:defRPr>
            </a:lvl1pPr>
            <a:lvl2pPr>
              <a:defRPr sz="1725" b="0">
                <a:solidFill>
                  <a:srgbClr val="000000"/>
                </a:solidFill>
                <a:latin typeface="Calibri"/>
                <a:ea typeface="Calibri"/>
                <a:cs typeface="Calibri"/>
              </a:defRPr>
            </a:lvl2pPr>
            <a:lvl3pPr>
              <a:defRPr sz="1725" b="0">
                <a:solidFill>
                  <a:srgbClr val="000000"/>
                </a:solidFill>
                <a:latin typeface="Calibri"/>
                <a:ea typeface="Calibri"/>
                <a:cs typeface="Calibri"/>
              </a:defRPr>
            </a:lvl3pPr>
            <a:lvl4pPr>
              <a:defRPr sz="1725" b="0">
                <a:solidFill>
                  <a:srgbClr val="000000"/>
                </a:solidFill>
                <a:latin typeface="Calibri"/>
                <a:ea typeface="Calibri"/>
                <a:cs typeface="Calibri"/>
              </a:defRPr>
            </a:lvl4pPr>
            <a:lvl5pPr>
              <a:defRPr sz="1725" b="0">
                <a:solidFill>
                  <a:srgbClr val="000000"/>
                </a:solidFill>
                <a:latin typeface="Calibri"/>
                <a:ea typeface="Calibri"/>
                <a:cs typeface="Calibri"/>
              </a:defRPr>
            </a:lvl5pPr>
            <a:lvl6pPr>
              <a:defRPr sz="1725" b="0">
                <a:solidFill>
                  <a:srgbClr val="000000"/>
                </a:solidFill>
                <a:latin typeface="Calibri"/>
                <a:ea typeface="Calibri"/>
                <a:cs typeface="Calibri"/>
              </a:defRPr>
            </a:lvl6pPr>
            <a:lvl7pPr>
              <a:defRPr sz="1725" b="0">
                <a:solidFill>
                  <a:srgbClr val="000000"/>
                </a:solidFill>
                <a:latin typeface="Calibri"/>
                <a:ea typeface="Calibri"/>
                <a:cs typeface="Calibri"/>
              </a:defRPr>
            </a:lvl7pPr>
            <a:lvl8pPr>
              <a:defRPr sz="1725" b="0">
                <a:solidFill>
                  <a:srgbClr val="000000"/>
                </a:solidFill>
                <a:latin typeface="Calibri"/>
                <a:ea typeface="Calibri"/>
                <a:cs typeface="Calibri"/>
              </a:defRPr>
            </a:lvl8pPr>
            <a:lvl9pPr>
              <a:defRPr sz="1725" b="0">
                <a:solidFill>
                  <a:srgbClr val="000000"/>
                </a:solidFill>
                <a:latin typeface="Calibri"/>
                <a:ea typeface="Calibri"/>
                <a:cs typeface="Calibri"/>
              </a:defRPr>
            </a:lvl9pPr>
          </a:lstStyle>
          <a:p>
            <a:pPr>
              <a:defRPr sz="1725" b="0">
                <a:solidFill>
                  <a:srgbClr val="000000"/>
                </a:solidFill>
                <a:latin typeface="Calibri"/>
                <a:ea typeface="Calibri"/>
                <a:cs typeface="Calibri"/>
              </a:defRPr>
            </a:pPr>
            <a:r>
              <a:rPr sz="1725" b="0">
                <a:solidFill>
                  <a:srgbClr val="000000"/>
                </a:solidFill>
                <a:latin typeface="Calibri"/>
                <a:ea typeface="Calibri"/>
                <a:cs typeface="Calibri"/>
              </a:rPr>
              <a:t>NASA TE L+C includes a battery/bus, generator-current trim and an emergency mission. It differs from the battery-free propulsion surrogate used for our TE tiltrotor.</a:t>
            </a:r>
          </a:p>
        </p:txBody>
      </p:sp>
      <p:sp>
        <p:nvSpPr>
          <p:cNvPr id="7" name="Rectangle 6">
            <a:extLst>
              <a:ext uri="{FF2B5EF4-FFF2-40B4-BE49-F238E27FC236}">
                <a16:creationId xmlns:a16="http://schemas.microsoft.com/office/drawing/2014/main" id="{68593703-24ED-41D6-8A64-5DFA94ADC070}"/>
              </a:ext>
            </a:extLst>
          </p:cNvPr>
          <p:cNvSpPr>
            <a:spLocks noGrp="1"/>
          </p:cNvSpPr>
          <p:nvPr/>
        </p:nvSpPr>
        <p:spPr>
          <a:xfrm>
            <a:off x="6286500" y="4238625"/>
            <a:ext cx="5334000" cy="333375"/>
          </a:xfrm>
          <a:prstGeom prst="rect">
            <a:avLst/>
          </a:prstGeom>
          <a:noFill/>
          <a:ln w="0">
            <a:noFill/>
            <a:prstDash val="solid"/>
          </a:ln>
        </p:spPr>
        <p:txBody>
          <a:bodyPr lIns="0" tIns="0" rIns="0" bIns="0"/>
          <a:lstStyle>
            <a:defPPr>
              <a:defRPr sz="1800" b="1">
                <a:solidFill>
                  <a:srgbClr val="000000"/>
                </a:solidFill>
                <a:latin typeface="Calibri"/>
                <a:ea typeface="Calibri"/>
                <a:cs typeface="Calibri"/>
              </a:defRPr>
            </a:defPPr>
            <a:lvl1pPr>
              <a:defRPr sz="1800" b="1">
                <a:solidFill>
                  <a:srgbClr val="000000"/>
                </a:solidFill>
                <a:latin typeface="Calibri"/>
                <a:ea typeface="Calibri"/>
                <a:cs typeface="Calibri"/>
              </a:defRPr>
            </a:lvl1pPr>
            <a:lvl2pPr>
              <a:defRPr sz="1800" b="1">
                <a:solidFill>
                  <a:srgbClr val="000000"/>
                </a:solidFill>
                <a:latin typeface="Calibri"/>
                <a:ea typeface="Calibri"/>
                <a:cs typeface="Calibri"/>
              </a:defRPr>
            </a:lvl2pPr>
            <a:lvl3pPr>
              <a:defRPr sz="1800" b="1">
                <a:solidFill>
                  <a:srgbClr val="000000"/>
                </a:solidFill>
                <a:latin typeface="Calibri"/>
                <a:ea typeface="Calibri"/>
                <a:cs typeface="Calibri"/>
              </a:defRPr>
            </a:lvl3pPr>
            <a:lvl4pPr>
              <a:defRPr sz="1800" b="1">
                <a:solidFill>
                  <a:srgbClr val="000000"/>
                </a:solidFill>
                <a:latin typeface="Calibri"/>
                <a:ea typeface="Calibri"/>
                <a:cs typeface="Calibri"/>
              </a:defRPr>
            </a:lvl4pPr>
            <a:lvl5pPr>
              <a:defRPr sz="1800" b="1">
                <a:solidFill>
                  <a:srgbClr val="000000"/>
                </a:solidFill>
                <a:latin typeface="Calibri"/>
                <a:ea typeface="Calibri"/>
                <a:cs typeface="Calibri"/>
              </a:defRPr>
            </a:lvl5pPr>
            <a:lvl6pPr>
              <a:defRPr sz="1800" b="1">
                <a:solidFill>
                  <a:srgbClr val="000000"/>
                </a:solidFill>
                <a:latin typeface="Calibri"/>
                <a:ea typeface="Calibri"/>
                <a:cs typeface="Calibri"/>
              </a:defRPr>
            </a:lvl6pPr>
            <a:lvl7pPr>
              <a:defRPr sz="1800" b="1">
                <a:solidFill>
                  <a:srgbClr val="000000"/>
                </a:solidFill>
                <a:latin typeface="Calibri"/>
                <a:ea typeface="Calibri"/>
                <a:cs typeface="Calibri"/>
              </a:defRPr>
            </a:lvl7pPr>
            <a:lvl8pPr>
              <a:defRPr sz="1800" b="1">
                <a:solidFill>
                  <a:srgbClr val="000000"/>
                </a:solidFill>
                <a:latin typeface="Calibri"/>
                <a:ea typeface="Calibri"/>
                <a:cs typeface="Calibri"/>
              </a:defRPr>
            </a:lvl8pPr>
            <a:lvl9pPr>
              <a:defRPr sz="1800" b="1">
                <a:solidFill>
                  <a:srgbClr val="000000"/>
                </a:solidFill>
                <a:latin typeface="Calibri"/>
                <a:ea typeface="Calibri"/>
                <a:cs typeface="Calibri"/>
              </a:defRPr>
            </a:lvl9pPr>
          </a:lstStyle>
          <a:p>
            <a:pPr>
              <a:defRPr sz="1800" b="1">
                <a:solidFill>
                  <a:srgbClr val="000000"/>
                </a:solidFill>
                <a:latin typeface="Calibri"/>
                <a:ea typeface="Calibri"/>
                <a:cs typeface="Calibri"/>
              </a:defRPr>
            </a:pPr>
            <a:r>
              <a:rPr sz="1800" b="1">
                <a:solidFill>
                  <a:srgbClr val="000000"/>
                </a:solidFill>
                <a:latin typeface="Calibri"/>
                <a:ea typeface="Calibri"/>
                <a:cs typeface="Calibri"/>
              </a:rPr>
              <a:t>What remains unresolved</a:t>
            </a:r>
          </a:p>
        </p:txBody>
      </p:sp>
      <p:sp>
        <p:nvSpPr>
          <p:cNvPr id="8" name="Rectangle 7">
            <a:extLst>
              <a:ext uri="{FF2B5EF4-FFF2-40B4-BE49-F238E27FC236}">
                <a16:creationId xmlns:a16="http://schemas.microsoft.com/office/drawing/2014/main" id="{48823161-C681-4F9A-9AE5-721C2B24208B}"/>
              </a:ext>
            </a:extLst>
          </p:cNvPr>
          <p:cNvSpPr>
            <a:spLocks noGrp="1"/>
          </p:cNvSpPr>
          <p:nvPr/>
        </p:nvSpPr>
        <p:spPr>
          <a:xfrm>
            <a:off x="6286500" y="4714875"/>
            <a:ext cx="5334000" cy="1095375"/>
          </a:xfrm>
          <a:prstGeom prst="rect">
            <a:avLst/>
          </a:prstGeom>
          <a:noFill/>
          <a:ln w="0">
            <a:noFill/>
            <a:prstDash val="solid"/>
          </a:ln>
        </p:spPr>
        <p:txBody>
          <a:bodyPr lIns="0" tIns="0" rIns="0" bIns="0"/>
          <a:lstStyle>
            <a:defPPr>
              <a:defRPr sz="1725" b="0">
                <a:solidFill>
                  <a:srgbClr val="000000"/>
                </a:solidFill>
                <a:latin typeface="Calibri"/>
                <a:ea typeface="Calibri"/>
                <a:cs typeface="Calibri"/>
              </a:defRPr>
            </a:defPPr>
            <a:lvl1pPr>
              <a:defRPr sz="1725" b="0">
                <a:solidFill>
                  <a:srgbClr val="000000"/>
                </a:solidFill>
                <a:latin typeface="Calibri"/>
                <a:ea typeface="Calibri"/>
                <a:cs typeface="Calibri"/>
              </a:defRPr>
            </a:lvl1pPr>
            <a:lvl2pPr>
              <a:defRPr sz="1725" b="0">
                <a:solidFill>
                  <a:srgbClr val="000000"/>
                </a:solidFill>
                <a:latin typeface="Calibri"/>
                <a:ea typeface="Calibri"/>
                <a:cs typeface="Calibri"/>
              </a:defRPr>
            </a:lvl2pPr>
            <a:lvl3pPr>
              <a:defRPr sz="1725" b="0">
                <a:solidFill>
                  <a:srgbClr val="000000"/>
                </a:solidFill>
                <a:latin typeface="Calibri"/>
                <a:ea typeface="Calibri"/>
                <a:cs typeface="Calibri"/>
              </a:defRPr>
            </a:lvl3pPr>
            <a:lvl4pPr>
              <a:defRPr sz="1725" b="0">
                <a:solidFill>
                  <a:srgbClr val="000000"/>
                </a:solidFill>
                <a:latin typeface="Calibri"/>
                <a:ea typeface="Calibri"/>
                <a:cs typeface="Calibri"/>
              </a:defRPr>
            </a:lvl4pPr>
            <a:lvl5pPr>
              <a:defRPr sz="1725" b="0">
                <a:solidFill>
                  <a:srgbClr val="000000"/>
                </a:solidFill>
                <a:latin typeface="Calibri"/>
                <a:ea typeface="Calibri"/>
                <a:cs typeface="Calibri"/>
              </a:defRPr>
            </a:lvl5pPr>
            <a:lvl6pPr>
              <a:defRPr sz="1725" b="0">
                <a:solidFill>
                  <a:srgbClr val="000000"/>
                </a:solidFill>
                <a:latin typeface="Calibri"/>
                <a:ea typeface="Calibri"/>
                <a:cs typeface="Calibri"/>
              </a:defRPr>
            </a:lvl6pPr>
            <a:lvl7pPr>
              <a:defRPr sz="1725" b="0">
                <a:solidFill>
                  <a:srgbClr val="000000"/>
                </a:solidFill>
                <a:latin typeface="Calibri"/>
                <a:ea typeface="Calibri"/>
                <a:cs typeface="Calibri"/>
              </a:defRPr>
            </a:lvl7pPr>
            <a:lvl8pPr>
              <a:defRPr sz="1725" b="0">
                <a:solidFill>
                  <a:srgbClr val="000000"/>
                </a:solidFill>
                <a:latin typeface="Calibri"/>
                <a:ea typeface="Calibri"/>
                <a:cs typeface="Calibri"/>
              </a:defRPr>
            </a:lvl8pPr>
            <a:lvl9pPr>
              <a:defRPr sz="1725" b="0">
                <a:solidFill>
                  <a:srgbClr val="000000"/>
                </a:solidFill>
                <a:latin typeface="Calibri"/>
                <a:ea typeface="Calibri"/>
                <a:cs typeface="Calibri"/>
              </a:defRPr>
            </a:lvl9pPr>
          </a:lstStyle>
          <a:p>
            <a:pPr>
              <a:defRPr sz="1725" b="0">
                <a:solidFill>
                  <a:srgbClr val="000000"/>
                </a:solidFill>
                <a:latin typeface="Calibri"/>
                <a:ea typeface="Calibri"/>
                <a:cs typeface="Calibri"/>
              </a:defRPr>
            </a:pPr>
            <a:r>
              <a:rPr sz="1725" b="0">
                <a:solidFill>
                  <a:srgbClr val="000000"/>
                </a:solidFill>
                <a:latin typeface="Calibri"/>
                <a:ea typeface="Calibri"/>
                <a:cs typeface="Calibri"/>
              </a:rPr>
              <a:t>Electric mission energy is still +17.0%; TE is +47.6%. Fixing speed changes the problem and does not establish the cause of the original discrepancy.</a:t>
            </a:r>
          </a:p>
        </p:txBody>
      </p:sp>
      <p:sp>
        <p:nvSpPr>
          <p:cNvPr id="9" name="Rectangle 8">
            <a:extLst>
              <a:ext uri="{FF2B5EF4-FFF2-40B4-BE49-F238E27FC236}">
                <a16:creationId xmlns:a16="http://schemas.microsoft.com/office/drawing/2014/main" id="{9153C7FA-DA19-496A-93D8-E6E5EF903B84}"/>
              </a:ext>
            </a:extLst>
          </p:cNvPr>
          <p:cNvSpPr>
            <a:spLocks noGrp="1"/>
          </p:cNvSpPr>
          <p:nvPr/>
        </p:nvSpPr>
        <p:spPr>
          <a:xfrm>
            <a:off x="476250" y="6400800"/>
            <a:ext cx="10810875" cy="381000"/>
          </a:xfrm>
          <a:prstGeom prst="rect">
            <a:avLst/>
          </a:prstGeom>
          <a:noFill/>
          <a:ln w="0">
            <a:noFill/>
            <a:prstDash val="solid"/>
          </a:ln>
        </p:spPr>
        <p:txBody>
          <a:bodyPr lIns="0" tIns="0" rIns="0" bIns="0"/>
          <a:lstStyle>
            <a:defPPr>
              <a:defRPr sz="1125" b="0">
                <a:solidFill>
                  <a:srgbClr val="444444"/>
                </a:solidFill>
                <a:latin typeface="Calibri"/>
                <a:ea typeface="Calibri"/>
                <a:cs typeface="Calibri"/>
              </a:defRPr>
            </a:defPPr>
            <a:lvl1pPr>
              <a:defRPr sz="1125" b="0">
                <a:solidFill>
                  <a:srgbClr val="444444"/>
                </a:solidFill>
                <a:latin typeface="Calibri"/>
                <a:ea typeface="Calibri"/>
                <a:cs typeface="Calibri"/>
              </a:defRPr>
            </a:lvl1pPr>
            <a:lvl2pPr>
              <a:defRPr sz="1125" b="0">
                <a:solidFill>
                  <a:srgbClr val="444444"/>
                </a:solidFill>
                <a:latin typeface="Calibri"/>
                <a:ea typeface="Calibri"/>
                <a:cs typeface="Calibri"/>
              </a:defRPr>
            </a:lvl2pPr>
            <a:lvl3pPr>
              <a:defRPr sz="1125" b="0">
                <a:solidFill>
                  <a:srgbClr val="444444"/>
                </a:solidFill>
                <a:latin typeface="Calibri"/>
                <a:ea typeface="Calibri"/>
                <a:cs typeface="Calibri"/>
              </a:defRPr>
            </a:lvl3pPr>
            <a:lvl4pPr>
              <a:defRPr sz="1125" b="0">
                <a:solidFill>
                  <a:srgbClr val="444444"/>
                </a:solidFill>
                <a:latin typeface="Calibri"/>
                <a:ea typeface="Calibri"/>
                <a:cs typeface="Calibri"/>
              </a:defRPr>
            </a:lvl4pPr>
            <a:lvl5pPr>
              <a:defRPr sz="1125" b="0">
                <a:solidFill>
                  <a:srgbClr val="444444"/>
                </a:solidFill>
                <a:latin typeface="Calibri"/>
                <a:ea typeface="Calibri"/>
                <a:cs typeface="Calibri"/>
              </a:defRPr>
            </a:lvl5pPr>
            <a:lvl6pPr>
              <a:defRPr sz="1125" b="0">
                <a:solidFill>
                  <a:srgbClr val="444444"/>
                </a:solidFill>
                <a:latin typeface="Calibri"/>
                <a:ea typeface="Calibri"/>
                <a:cs typeface="Calibri"/>
              </a:defRPr>
            </a:lvl6pPr>
            <a:lvl7pPr>
              <a:defRPr sz="1125" b="0">
                <a:solidFill>
                  <a:srgbClr val="444444"/>
                </a:solidFill>
                <a:latin typeface="Calibri"/>
                <a:ea typeface="Calibri"/>
                <a:cs typeface="Calibri"/>
              </a:defRPr>
            </a:lvl7pPr>
            <a:lvl8pPr>
              <a:defRPr sz="1125" b="0">
                <a:solidFill>
                  <a:srgbClr val="444444"/>
                </a:solidFill>
                <a:latin typeface="Calibri"/>
                <a:ea typeface="Calibri"/>
                <a:cs typeface="Calibri"/>
              </a:defRPr>
            </a:lvl8pPr>
            <a:lvl9pPr>
              <a:defRPr sz="1125" b="0">
                <a:solidFill>
                  <a:srgbClr val="444444"/>
                </a:solidFill>
                <a:latin typeface="Calibri"/>
                <a:ea typeface="Calibri"/>
                <a:cs typeface="Calibri"/>
              </a:defRPr>
            </a:lvl9pPr>
          </a:lstStyle>
          <a:p>
            <a:pPr>
              <a:defRPr sz="1125" b="0">
                <a:solidFill>
                  <a:srgbClr val="444444"/>
                </a:solidFill>
                <a:latin typeface="Calibri"/>
                <a:ea typeface="Calibri"/>
                <a:cs typeface="Calibri"/>
              </a:defRPr>
            </a:pPr>
            <a:r>
              <a:rPr sz="1125" b="0">
                <a:solidFill>
                  <a:srgbClr val="444444"/>
                </a:solidFill>
                <a:latin typeface="Calibri"/>
                <a:ea typeface="Calibri"/>
                <a:cs typeface="Calibri"/>
              </a:rPr>
              <a:t>[R1] Silva et al. (2018), §V.C, Table 2, §VII and Table 3. [S11] Logged nasa-retry-20261028 campaigns, 28 Oct 2026.</a:t>
            </a:r>
          </a:p>
          <a:p>
            <a:pPr>
              <a:defRPr sz="1125" b="0">
                <a:solidFill>
                  <a:srgbClr val="444444"/>
                </a:solidFill>
                <a:latin typeface="Calibri"/>
                <a:ea typeface="Calibri"/>
                <a:cs typeface="Calibri"/>
              </a:defRPr>
            </a:pPr>
            <a:r>
              <a:rPr sz="1125" b="0">
                <a:solidFill>
                  <a:srgbClr val="444444"/>
                </a:solidFill>
                <a:latin typeface="Calibri"/>
                <a:ea typeface="Calibri"/>
                <a:cs typeface="Calibri"/>
              </a:rPr>
              <a:t>No weight coefficients fitted. Restricted jobs still omit the unsupported maximum-speed condition. Unresolved cases remain labeled.</a:t>
            </a:r>
          </a:p>
        </p:txBody>
      </p:sp>
    </p:spTree>
    <p:extLst>
      <p:ext uri="{BB962C8B-B14F-4D97-AF65-F5344CB8AC3E}">
        <p14:creationId xmlns:p14="http://schemas.microsoft.com/office/powerpoint/2010/main" val="7747939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E656C12-21A7-44F9-9FBF-20C01AEAF892}"/>
              </a:ext>
            </a:extLst>
          </p:cNvPr>
          <p:cNvSpPr>
            <a:spLocks noGrp="1"/>
          </p:cNvSpPr>
          <p:nvPr/>
        </p:nvSpPr>
        <p:spPr>
          <a:xfrm>
            <a:off x="838200" y="361950"/>
            <a:ext cx="10896600" cy="571500"/>
          </a:xfrm>
          <a:prstGeom prst="rect">
            <a:avLst/>
          </a:prstGeom>
          <a:noFill/>
          <a:ln w="0">
            <a:noFill/>
          </a:ln>
        </p:spPr>
        <p:txBody>
          <a:bodyPr/>
          <a:lstStyle>
            <a:defPPr>
              <a:defRPr sz="2775" b="1">
                <a:solidFill>
                  <a:srgbClr val="173344"/>
                </a:solidFill>
                <a:latin typeface="Arial"/>
                <a:ea typeface="Arial"/>
                <a:cs typeface="Arial"/>
              </a:defRPr>
            </a:defPPr>
            <a:lvl1pPr>
              <a:defRPr sz="2775" b="1">
                <a:solidFill>
                  <a:srgbClr val="173344"/>
                </a:solidFill>
                <a:latin typeface="Arial"/>
                <a:ea typeface="Arial"/>
                <a:cs typeface="Arial"/>
              </a:defRPr>
            </a:lvl1pPr>
            <a:lvl2pPr>
              <a:defRPr sz="2775" b="1">
                <a:solidFill>
                  <a:srgbClr val="173344"/>
                </a:solidFill>
                <a:latin typeface="Arial"/>
                <a:ea typeface="Arial"/>
                <a:cs typeface="Arial"/>
              </a:defRPr>
            </a:lvl2pPr>
            <a:lvl3pPr>
              <a:defRPr sz="2775" b="1">
                <a:solidFill>
                  <a:srgbClr val="173344"/>
                </a:solidFill>
                <a:latin typeface="Arial"/>
                <a:ea typeface="Arial"/>
                <a:cs typeface="Arial"/>
              </a:defRPr>
            </a:lvl3pPr>
            <a:lvl4pPr>
              <a:defRPr sz="2775" b="1">
                <a:solidFill>
                  <a:srgbClr val="173344"/>
                </a:solidFill>
                <a:latin typeface="Arial"/>
                <a:ea typeface="Arial"/>
                <a:cs typeface="Arial"/>
              </a:defRPr>
            </a:lvl4pPr>
            <a:lvl5pPr>
              <a:defRPr sz="2775" b="1">
                <a:solidFill>
                  <a:srgbClr val="173344"/>
                </a:solidFill>
                <a:latin typeface="Arial"/>
                <a:ea typeface="Arial"/>
                <a:cs typeface="Arial"/>
              </a:defRPr>
            </a:lvl5pPr>
            <a:lvl6pPr>
              <a:defRPr sz="2775" b="1">
                <a:solidFill>
                  <a:srgbClr val="173344"/>
                </a:solidFill>
                <a:latin typeface="Arial"/>
                <a:ea typeface="Arial"/>
                <a:cs typeface="Arial"/>
              </a:defRPr>
            </a:lvl6pPr>
            <a:lvl7pPr>
              <a:defRPr sz="2775" b="1">
                <a:solidFill>
                  <a:srgbClr val="173344"/>
                </a:solidFill>
                <a:latin typeface="Arial"/>
                <a:ea typeface="Arial"/>
                <a:cs typeface="Arial"/>
              </a:defRPr>
            </a:lvl7pPr>
            <a:lvl8pPr>
              <a:defRPr sz="2775" b="1">
                <a:solidFill>
                  <a:srgbClr val="173344"/>
                </a:solidFill>
                <a:latin typeface="Arial"/>
                <a:ea typeface="Arial"/>
                <a:cs typeface="Arial"/>
              </a:defRPr>
            </a:lvl8pPr>
            <a:lvl9pPr>
              <a:defRPr sz="2775" b="1">
                <a:solidFill>
                  <a:srgbClr val="173344"/>
                </a:solidFill>
                <a:latin typeface="Arial"/>
                <a:ea typeface="Arial"/>
                <a:cs typeface="Arial"/>
              </a:defRPr>
            </a:lvl9pPr>
          </a:lstStyle>
          <a:p>
            <a:pPr>
              <a:defRPr sz="2775" b="1">
                <a:solidFill>
                  <a:srgbClr val="173344"/>
                </a:solidFill>
                <a:latin typeface="Arial"/>
                <a:ea typeface="Arial"/>
                <a:cs typeface="Arial"/>
              </a:defRPr>
            </a:pPr>
            <a:r>
              <a:rPr sz="2400" b="1">
                <a:solidFill>
                  <a:srgbClr val="000000"/>
                </a:solidFill>
                <a:latin typeface="Calibri" panose="020F0502020204030204" pitchFamily="34" charset="0"/>
                <a:ea typeface="Arial"/>
                <a:cs typeface="Arial"/>
              </a:rPr>
              <a:t>Appendix: references and next validation steps</a:t>
            </a:r>
          </a:p>
        </p:txBody>
      </p:sp>
      <p:sp>
        <p:nvSpPr>
          <p:cNvPr id="2" name="Rectangle 1">
            <a:extLst>
              <a:ext uri="{FF2B5EF4-FFF2-40B4-BE49-F238E27FC236}">
                <a16:creationId xmlns:a16="http://schemas.microsoft.com/office/drawing/2014/main" id="{3535DBEA-2C7B-4E66-AD82-9187F1D19C53}"/>
              </a:ext>
            </a:extLst>
          </p:cNvPr>
          <p:cNvSpPr>
            <a:spLocks noGrp="1"/>
          </p:cNvSpPr>
          <p:nvPr/>
        </p:nvSpPr>
        <p:spPr>
          <a:xfrm>
            <a:off x="476250" y="876300"/>
            <a:ext cx="11239500" cy="523875"/>
          </a:xfrm>
          <a:prstGeom prst="rect">
            <a:avLst/>
          </a:prstGeom>
          <a:noFill/>
          <a:ln w="0">
            <a:noFill/>
          </a:ln>
        </p:spPr>
        <p:txBody>
          <a:bodyPr/>
          <a:lstStyle>
            <a:defPPr>
              <a:defRPr sz="1575" b="0">
                <a:solidFill>
                  <a:srgbClr val="536675"/>
                </a:solidFill>
                <a:latin typeface="Arial"/>
                <a:ea typeface="Arial"/>
                <a:cs typeface="Arial"/>
              </a:defRPr>
            </a:defPPr>
            <a:lvl1pPr>
              <a:defRPr sz="1575" b="0">
                <a:solidFill>
                  <a:srgbClr val="536675"/>
                </a:solidFill>
                <a:latin typeface="Arial"/>
                <a:ea typeface="Arial"/>
                <a:cs typeface="Arial"/>
              </a:defRPr>
            </a:lvl1pPr>
            <a:lvl2pPr>
              <a:defRPr sz="1575" b="0">
                <a:solidFill>
                  <a:srgbClr val="536675"/>
                </a:solidFill>
                <a:latin typeface="Arial"/>
                <a:ea typeface="Arial"/>
                <a:cs typeface="Arial"/>
              </a:defRPr>
            </a:lvl2pPr>
            <a:lvl3pPr>
              <a:defRPr sz="1575" b="0">
                <a:solidFill>
                  <a:srgbClr val="536675"/>
                </a:solidFill>
                <a:latin typeface="Arial"/>
                <a:ea typeface="Arial"/>
                <a:cs typeface="Arial"/>
              </a:defRPr>
            </a:lvl3pPr>
            <a:lvl4pPr>
              <a:defRPr sz="1575" b="0">
                <a:solidFill>
                  <a:srgbClr val="536675"/>
                </a:solidFill>
                <a:latin typeface="Arial"/>
                <a:ea typeface="Arial"/>
                <a:cs typeface="Arial"/>
              </a:defRPr>
            </a:lvl4pPr>
            <a:lvl5pPr>
              <a:defRPr sz="1575" b="0">
                <a:solidFill>
                  <a:srgbClr val="536675"/>
                </a:solidFill>
                <a:latin typeface="Arial"/>
                <a:ea typeface="Arial"/>
                <a:cs typeface="Arial"/>
              </a:defRPr>
            </a:lvl5pPr>
            <a:lvl6pPr>
              <a:defRPr sz="1575" b="0">
                <a:solidFill>
                  <a:srgbClr val="536675"/>
                </a:solidFill>
                <a:latin typeface="Arial"/>
                <a:ea typeface="Arial"/>
                <a:cs typeface="Arial"/>
              </a:defRPr>
            </a:lvl6pPr>
            <a:lvl7pPr>
              <a:defRPr sz="1575" b="0">
                <a:solidFill>
                  <a:srgbClr val="536675"/>
                </a:solidFill>
                <a:latin typeface="Arial"/>
                <a:ea typeface="Arial"/>
                <a:cs typeface="Arial"/>
              </a:defRPr>
            </a:lvl7pPr>
            <a:lvl8pPr>
              <a:defRPr sz="1575" b="0">
                <a:solidFill>
                  <a:srgbClr val="536675"/>
                </a:solidFill>
                <a:latin typeface="Arial"/>
                <a:ea typeface="Arial"/>
                <a:cs typeface="Arial"/>
              </a:defRPr>
            </a:lvl8pPr>
            <a:lvl9pPr>
              <a:defRPr sz="1575" b="0">
                <a:solidFill>
                  <a:srgbClr val="536675"/>
                </a:solidFill>
                <a:latin typeface="Arial"/>
                <a:ea typeface="Arial"/>
                <a:cs typeface="Arial"/>
              </a:defRPr>
            </a:lvl9pPr>
          </a:lstStyle>
          <a:p>
            <a:pPr>
              <a:defRPr sz="1575" b="0">
                <a:solidFill>
                  <a:srgbClr val="536675"/>
                </a:solidFill>
                <a:latin typeface="Arial"/>
                <a:ea typeface="Arial"/>
                <a:cs typeface="Arial"/>
              </a:defRPr>
            </a:pPr>
            <a:r>
              <a:rPr sz="1575" b="0">
                <a:solidFill>
                  <a:srgbClr val="000000"/>
                </a:solidFill>
                <a:latin typeface="Calibri" panose="020F0502020204030204" pitchFamily="34" charset="0"/>
                <a:ea typeface="Arial"/>
                <a:cs typeface="Arial"/>
              </a:rPr>
              <a:t>NASA benchmarks support numerical checks; UAV component validation is still needed.</a:t>
            </a:r>
          </a:p>
        </p:txBody>
      </p:sp>
      <p:sp>
        <p:nvSpPr>
          <p:cNvPr id="3" name="Rectangle 2">
            <a:extLst>
              <a:ext uri="{FF2B5EF4-FFF2-40B4-BE49-F238E27FC236}">
                <a16:creationId xmlns:a16="http://schemas.microsoft.com/office/drawing/2014/main" id="{C7B28837-436E-464A-BCD7-2AF074FD0096}"/>
              </a:ext>
            </a:extLst>
          </p:cNvPr>
          <p:cNvSpPr>
            <a:spLocks noGrp="1"/>
          </p:cNvSpPr>
          <p:nvPr/>
        </p:nvSpPr>
        <p:spPr>
          <a:xfrm>
            <a:off x="476250" y="6524625"/>
            <a:ext cx="10477500" cy="190500"/>
          </a:xfrm>
          <a:prstGeom prst="rect">
            <a:avLst/>
          </a:prstGeom>
          <a:noFill/>
          <a:ln w="0">
            <a:noFill/>
          </a:ln>
        </p:spPr>
        <p:txBody>
          <a:bodyPr/>
          <a:lstStyle>
            <a:defPPr>
              <a:defRPr sz="975" b="0">
                <a:solidFill>
                  <a:srgbClr val="536675"/>
                </a:solidFill>
                <a:latin typeface="Arial"/>
                <a:ea typeface="Arial"/>
                <a:cs typeface="Arial"/>
              </a:defRPr>
            </a:defPPr>
            <a:lvl1pPr>
              <a:defRPr sz="975" b="0">
                <a:solidFill>
                  <a:srgbClr val="536675"/>
                </a:solidFill>
                <a:latin typeface="Arial"/>
                <a:ea typeface="Arial"/>
                <a:cs typeface="Arial"/>
              </a:defRPr>
            </a:lvl1pPr>
            <a:lvl2pPr>
              <a:defRPr sz="975" b="0">
                <a:solidFill>
                  <a:srgbClr val="536675"/>
                </a:solidFill>
                <a:latin typeface="Arial"/>
                <a:ea typeface="Arial"/>
                <a:cs typeface="Arial"/>
              </a:defRPr>
            </a:lvl2pPr>
            <a:lvl3pPr>
              <a:defRPr sz="975" b="0">
                <a:solidFill>
                  <a:srgbClr val="536675"/>
                </a:solidFill>
                <a:latin typeface="Arial"/>
                <a:ea typeface="Arial"/>
                <a:cs typeface="Arial"/>
              </a:defRPr>
            </a:lvl3pPr>
            <a:lvl4pPr>
              <a:defRPr sz="975" b="0">
                <a:solidFill>
                  <a:srgbClr val="536675"/>
                </a:solidFill>
                <a:latin typeface="Arial"/>
                <a:ea typeface="Arial"/>
                <a:cs typeface="Arial"/>
              </a:defRPr>
            </a:lvl4pPr>
            <a:lvl5pPr>
              <a:defRPr sz="975" b="0">
                <a:solidFill>
                  <a:srgbClr val="536675"/>
                </a:solidFill>
                <a:latin typeface="Arial"/>
                <a:ea typeface="Arial"/>
                <a:cs typeface="Arial"/>
              </a:defRPr>
            </a:lvl5pPr>
            <a:lvl6pPr>
              <a:defRPr sz="975" b="0">
                <a:solidFill>
                  <a:srgbClr val="536675"/>
                </a:solidFill>
                <a:latin typeface="Arial"/>
                <a:ea typeface="Arial"/>
                <a:cs typeface="Arial"/>
              </a:defRPr>
            </a:lvl6pPr>
            <a:lvl7pPr>
              <a:defRPr sz="975" b="0">
                <a:solidFill>
                  <a:srgbClr val="536675"/>
                </a:solidFill>
                <a:latin typeface="Arial"/>
                <a:ea typeface="Arial"/>
                <a:cs typeface="Arial"/>
              </a:defRPr>
            </a:lvl7pPr>
            <a:lvl8pPr>
              <a:defRPr sz="975" b="0">
                <a:solidFill>
                  <a:srgbClr val="536675"/>
                </a:solidFill>
                <a:latin typeface="Arial"/>
                <a:ea typeface="Arial"/>
                <a:cs typeface="Arial"/>
              </a:defRPr>
            </a:lvl8pPr>
            <a:lvl9pPr>
              <a:defRPr sz="975" b="0">
                <a:solidFill>
                  <a:srgbClr val="536675"/>
                </a:solidFill>
                <a:latin typeface="Arial"/>
                <a:ea typeface="Arial"/>
                <a:cs typeface="Arial"/>
              </a:defRPr>
            </a:lvl9pPr>
          </a:lstStyle>
          <a:p>
            <a:pPr>
              <a:defRPr sz="975" b="0">
                <a:solidFill>
                  <a:srgbClr val="536675"/>
                </a:solidFill>
                <a:latin typeface="Arial"/>
                <a:ea typeface="Arial"/>
                <a:cs typeface="Arial"/>
              </a:defRPr>
            </a:pPr>
            <a:endParaRPr sz="975" b="0">
              <a:solidFill>
                <a:srgbClr val="000000"/>
              </a:solidFill>
              <a:latin typeface="Calibri" panose="020F0502020204030204" pitchFamily="34" charset="0"/>
              <a:ea typeface="Arial"/>
              <a:cs typeface="Arial"/>
            </a:endParaRPr>
          </a:p>
        </p:txBody>
      </p:sp>
      <p:sp>
        <p:nvSpPr>
          <p:cNvPr id="4" name="Rectangle 3">
            <a:extLst>
              <a:ext uri="{FF2B5EF4-FFF2-40B4-BE49-F238E27FC236}">
                <a16:creationId xmlns:a16="http://schemas.microsoft.com/office/drawing/2014/main" id="{5F86ACA0-0809-4510-863F-5D733816E6E3}"/>
              </a:ext>
            </a:extLst>
          </p:cNvPr>
          <p:cNvSpPr>
            <a:spLocks noGrp="1"/>
          </p:cNvSpPr>
          <p:nvPr/>
        </p:nvSpPr>
        <p:spPr>
          <a:xfrm>
            <a:off x="11334750" y="6496050"/>
            <a:ext cx="381000" cy="228600"/>
          </a:xfrm>
          <a:prstGeom prst="rect">
            <a:avLst/>
          </a:prstGeom>
          <a:noFill/>
          <a:ln w="0">
            <a:noFill/>
          </a:ln>
        </p:spPr>
        <p:txBody>
          <a:bodyPr/>
          <a:lstStyle>
            <a:defPPr>
              <a:defRPr sz="1200" b="0">
                <a:solidFill>
                  <a:srgbClr val="536675"/>
                </a:solidFill>
                <a:latin typeface="Arial"/>
                <a:ea typeface="Arial"/>
                <a:cs typeface="Arial"/>
              </a:defRPr>
            </a:defPPr>
            <a:lvl1pPr>
              <a:defRPr sz="1200" b="0">
                <a:solidFill>
                  <a:srgbClr val="536675"/>
                </a:solidFill>
                <a:latin typeface="Arial"/>
                <a:ea typeface="Arial"/>
                <a:cs typeface="Arial"/>
              </a:defRPr>
            </a:lvl1pPr>
            <a:lvl2pPr>
              <a:defRPr sz="1200" b="0">
                <a:solidFill>
                  <a:srgbClr val="536675"/>
                </a:solidFill>
                <a:latin typeface="Arial"/>
                <a:ea typeface="Arial"/>
                <a:cs typeface="Arial"/>
              </a:defRPr>
            </a:lvl2pPr>
            <a:lvl3pPr>
              <a:defRPr sz="1200" b="0">
                <a:solidFill>
                  <a:srgbClr val="536675"/>
                </a:solidFill>
                <a:latin typeface="Arial"/>
                <a:ea typeface="Arial"/>
                <a:cs typeface="Arial"/>
              </a:defRPr>
            </a:lvl3pPr>
            <a:lvl4pPr>
              <a:defRPr sz="1200" b="0">
                <a:solidFill>
                  <a:srgbClr val="536675"/>
                </a:solidFill>
                <a:latin typeface="Arial"/>
                <a:ea typeface="Arial"/>
                <a:cs typeface="Arial"/>
              </a:defRPr>
            </a:lvl4pPr>
            <a:lvl5pPr>
              <a:defRPr sz="1200" b="0">
                <a:solidFill>
                  <a:srgbClr val="536675"/>
                </a:solidFill>
                <a:latin typeface="Arial"/>
                <a:ea typeface="Arial"/>
                <a:cs typeface="Arial"/>
              </a:defRPr>
            </a:lvl5pPr>
            <a:lvl6pPr>
              <a:defRPr sz="1200" b="0">
                <a:solidFill>
                  <a:srgbClr val="536675"/>
                </a:solidFill>
                <a:latin typeface="Arial"/>
                <a:ea typeface="Arial"/>
                <a:cs typeface="Arial"/>
              </a:defRPr>
            </a:lvl6pPr>
            <a:lvl7pPr>
              <a:defRPr sz="1200" b="0">
                <a:solidFill>
                  <a:srgbClr val="536675"/>
                </a:solidFill>
                <a:latin typeface="Arial"/>
                <a:ea typeface="Arial"/>
                <a:cs typeface="Arial"/>
              </a:defRPr>
            </a:lvl7pPr>
            <a:lvl8pPr>
              <a:defRPr sz="1200" b="0">
                <a:solidFill>
                  <a:srgbClr val="536675"/>
                </a:solidFill>
                <a:latin typeface="Arial"/>
                <a:ea typeface="Arial"/>
                <a:cs typeface="Arial"/>
              </a:defRPr>
            </a:lvl8pPr>
            <a:lvl9pPr>
              <a:defRPr sz="1200" b="0">
                <a:solidFill>
                  <a:srgbClr val="536675"/>
                </a:solidFill>
                <a:latin typeface="Arial"/>
                <a:ea typeface="Arial"/>
                <a:cs typeface="Arial"/>
              </a:defRPr>
            </a:lvl9pPr>
          </a:lstStyle>
          <a:p>
            <a:pPr>
              <a:defRPr sz="1200" b="0">
                <a:solidFill>
                  <a:srgbClr val="536675"/>
                </a:solidFill>
                <a:latin typeface="Arial"/>
                <a:ea typeface="Arial"/>
                <a:cs typeface="Arial"/>
              </a:defRPr>
            </a:pPr>
            <a:endParaRPr sz="1200" b="0">
              <a:solidFill>
                <a:srgbClr val="000000"/>
              </a:solidFill>
              <a:latin typeface="Calibri" panose="020F0502020204030204" pitchFamily="34" charset="0"/>
              <a:ea typeface="Arial"/>
              <a:cs typeface="Arial"/>
            </a:endParaRPr>
          </a:p>
        </p:txBody>
      </p:sp>
      <p:sp>
        <p:nvSpPr>
          <p:cNvPr id="5" name="Rectangle 4">
            <a:extLst>
              <a:ext uri="{FF2B5EF4-FFF2-40B4-BE49-F238E27FC236}">
                <a16:creationId xmlns:a16="http://schemas.microsoft.com/office/drawing/2014/main" id="{3629D614-5444-415F-9FC9-5E4DE59202F7}"/>
              </a:ext>
            </a:extLst>
          </p:cNvPr>
          <p:cNvSpPr>
            <a:spLocks noGrp="1"/>
          </p:cNvSpPr>
          <p:nvPr/>
        </p:nvSpPr>
        <p:spPr>
          <a:xfrm>
            <a:off x="476250" y="1552575"/>
            <a:ext cx="3429000" cy="323850"/>
          </a:xfrm>
          <a:prstGeom prst="rect">
            <a:avLst/>
          </a:prstGeom>
          <a:noFill/>
          <a:ln w="0">
            <a:noFill/>
          </a:ln>
        </p:spPr>
        <p:txBody>
          <a:bodyPr/>
          <a:lstStyle>
            <a:defPPr>
              <a:defRPr sz="1800" b="1">
                <a:solidFill>
                  <a:srgbClr val="173344"/>
                </a:solidFill>
                <a:latin typeface="Arial"/>
                <a:ea typeface="Arial"/>
                <a:cs typeface="Arial"/>
              </a:defRPr>
            </a:defPPr>
            <a:lvl1pPr>
              <a:defRPr sz="1800" b="1">
                <a:solidFill>
                  <a:srgbClr val="173344"/>
                </a:solidFill>
                <a:latin typeface="Arial"/>
                <a:ea typeface="Arial"/>
                <a:cs typeface="Arial"/>
              </a:defRPr>
            </a:lvl1pPr>
            <a:lvl2pPr>
              <a:defRPr sz="1800" b="1">
                <a:solidFill>
                  <a:srgbClr val="173344"/>
                </a:solidFill>
                <a:latin typeface="Arial"/>
                <a:ea typeface="Arial"/>
                <a:cs typeface="Arial"/>
              </a:defRPr>
            </a:lvl2pPr>
            <a:lvl3pPr>
              <a:defRPr sz="1800" b="1">
                <a:solidFill>
                  <a:srgbClr val="173344"/>
                </a:solidFill>
                <a:latin typeface="Arial"/>
                <a:ea typeface="Arial"/>
                <a:cs typeface="Arial"/>
              </a:defRPr>
            </a:lvl3pPr>
            <a:lvl4pPr>
              <a:defRPr sz="1800" b="1">
                <a:solidFill>
                  <a:srgbClr val="173344"/>
                </a:solidFill>
                <a:latin typeface="Arial"/>
                <a:ea typeface="Arial"/>
                <a:cs typeface="Arial"/>
              </a:defRPr>
            </a:lvl4pPr>
            <a:lvl5pPr>
              <a:defRPr sz="1800" b="1">
                <a:solidFill>
                  <a:srgbClr val="173344"/>
                </a:solidFill>
                <a:latin typeface="Arial"/>
                <a:ea typeface="Arial"/>
                <a:cs typeface="Arial"/>
              </a:defRPr>
            </a:lvl5pPr>
            <a:lvl6pPr>
              <a:defRPr sz="1800" b="1">
                <a:solidFill>
                  <a:srgbClr val="173344"/>
                </a:solidFill>
                <a:latin typeface="Arial"/>
                <a:ea typeface="Arial"/>
                <a:cs typeface="Arial"/>
              </a:defRPr>
            </a:lvl6pPr>
            <a:lvl7pPr>
              <a:defRPr sz="1800" b="1">
                <a:solidFill>
                  <a:srgbClr val="173344"/>
                </a:solidFill>
                <a:latin typeface="Arial"/>
                <a:ea typeface="Arial"/>
                <a:cs typeface="Arial"/>
              </a:defRPr>
            </a:lvl7pPr>
            <a:lvl8pPr>
              <a:defRPr sz="1800" b="1">
                <a:solidFill>
                  <a:srgbClr val="173344"/>
                </a:solidFill>
                <a:latin typeface="Arial"/>
                <a:ea typeface="Arial"/>
                <a:cs typeface="Arial"/>
              </a:defRPr>
            </a:lvl8pPr>
            <a:lvl9pPr>
              <a:defRPr sz="1800" b="1">
                <a:solidFill>
                  <a:srgbClr val="173344"/>
                </a:solidFill>
                <a:latin typeface="Arial"/>
                <a:ea typeface="Arial"/>
                <a:cs typeface="Arial"/>
              </a:defRPr>
            </a:lvl9pPr>
          </a:lstStyle>
          <a:p>
            <a:pPr>
              <a:defRPr sz="1800" b="1">
                <a:solidFill>
                  <a:srgbClr val="173344"/>
                </a:solidFill>
                <a:latin typeface="Arial"/>
                <a:ea typeface="Arial"/>
                <a:cs typeface="Arial"/>
              </a:defRPr>
            </a:pPr>
            <a:r>
              <a:rPr sz="1800" b="1">
                <a:solidFill>
                  <a:srgbClr val="000000"/>
                </a:solidFill>
                <a:latin typeface="Calibri" panose="020F0502020204030204" pitchFamily="34" charset="0"/>
                <a:ea typeface="Arial"/>
                <a:cs typeface="Arial"/>
              </a:rPr>
              <a:t>Radotich (2022)</a:t>
            </a:r>
          </a:p>
        </p:txBody>
      </p:sp>
      <p:sp>
        <p:nvSpPr>
          <p:cNvPr id="6" name="Rectangle 5">
            <a:extLst>
              <a:ext uri="{FF2B5EF4-FFF2-40B4-BE49-F238E27FC236}">
                <a16:creationId xmlns:a16="http://schemas.microsoft.com/office/drawing/2014/main" id="{47E61E65-5AEC-48A1-9D4D-82A0D366B750}"/>
              </a:ext>
            </a:extLst>
          </p:cNvPr>
          <p:cNvSpPr>
            <a:spLocks noGrp="1"/>
          </p:cNvSpPr>
          <p:nvPr/>
        </p:nvSpPr>
        <p:spPr>
          <a:xfrm>
            <a:off x="4000500" y="1552575"/>
            <a:ext cx="7667625" cy="762000"/>
          </a:xfrm>
          <a:prstGeom prst="rect">
            <a:avLst/>
          </a:prstGeom>
          <a:noFill/>
          <a:ln w="0">
            <a:noFill/>
          </a:ln>
        </p:spPr>
        <p:txBody>
          <a:bodyPr/>
          <a:lstStyle>
            <a:defPPr>
              <a:defRPr sz="1575" b="0">
                <a:solidFill>
                  <a:srgbClr val="173344"/>
                </a:solidFill>
                <a:latin typeface="Arial"/>
                <a:ea typeface="Arial"/>
                <a:cs typeface="Arial"/>
              </a:defRPr>
            </a:defPPr>
            <a:lvl1pPr>
              <a:defRPr sz="1575" b="0">
                <a:solidFill>
                  <a:srgbClr val="173344"/>
                </a:solidFill>
                <a:latin typeface="Arial"/>
                <a:ea typeface="Arial"/>
                <a:cs typeface="Arial"/>
              </a:defRPr>
            </a:lvl1pPr>
            <a:lvl2pPr>
              <a:defRPr sz="1575" b="0">
                <a:solidFill>
                  <a:srgbClr val="173344"/>
                </a:solidFill>
                <a:latin typeface="Arial"/>
                <a:ea typeface="Arial"/>
                <a:cs typeface="Arial"/>
              </a:defRPr>
            </a:lvl2pPr>
            <a:lvl3pPr>
              <a:defRPr sz="1575" b="0">
                <a:solidFill>
                  <a:srgbClr val="173344"/>
                </a:solidFill>
                <a:latin typeface="Arial"/>
                <a:ea typeface="Arial"/>
                <a:cs typeface="Arial"/>
              </a:defRPr>
            </a:lvl3pPr>
            <a:lvl4pPr>
              <a:defRPr sz="1575" b="0">
                <a:solidFill>
                  <a:srgbClr val="173344"/>
                </a:solidFill>
                <a:latin typeface="Arial"/>
                <a:ea typeface="Arial"/>
                <a:cs typeface="Arial"/>
              </a:defRPr>
            </a:lvl4pPr>
            <a:lvl5pPr>
              <a:defRPr sz="1575" b="0">
                <a:solidFill>
                  <a:srgbClr val="173344"/>
                </a:solidFill>
                <a:latin typeface="Arial"/>
                <a:ea typeface="Arial"/>
                <a:cs typeface="Arial"/>
              </a:defRPr>
            </a:lvl5pPr>
            <a:lvl6pPr>
              <a:defRPr sz="1575" b="0">
                <a:solidFill>
                  <a:srgbClr val="173344"/>
                </a:solidFill>
                <a:latin typeface="Arial"/>
                <a:ea typeface="Arial"/>
                <a:cs typeface="Arial"/>
              </a:defRPr>
            </a:lvl6pPr>
            <a:lvl7pPr>
              <a:defRPr sz="1575" b="0">
                <a:solidFill>
                  <a:srgbClr val="173344"/>
                </a:solidFill>
                <a:latin typeface="Arial"/>
                <a:ea typeface="Arial"/>
                <a:cs typeface="Arial"/>
              </a:defRPr>
            </a:lvl7pPr>
            <a:lvl8pPr>
              <a:defRPr sz="1575" b="0">
                <a:solidFill>
                  <a:srgbClr val="173344"/>
                </a:solidFill>
                <a:latin typeface="Arial"/>
                <a:ea typeface="Arial"/>
                <a:cs typeface="Arial"/>
              </a:defRPr>
            </a:lvl8pPr>
            <a:lvl9pPr>
              <a:defRPr sz="1575" b="0">
                <a:solidFill>
                  <a:srgbClr val="173344"/>
                </a:solidFill>
                <a:latin typeface="Arial"/>
                <a:ea typeface="Arial"/>
                <a:cs typeface="Arial"/>
              </a:defRPr>
            </a:lvl9pPr>
          </a:lstStyle>
          <a:p>
            <a:pPr>
              <a:defRPr sz="1575" b="0">
                <a:solidFill>
                  <a:srgbClr val="173344"/>
                </a:solidFill>
                <a:latin typeface="Arial"/>
                <a:ea typeface="Arial"/>
                <a:cs typeface="Arial"/>
              </a:defRPr>
            </a:pPr>
            <a:r>
              <a:rPr sz="1575" b="0">
                <a:solidFill>
                  <a:srgbClr val="000000"/>
                </a:solidFill>
                <a:latin typeface="Calibri" panose="020F0502020204030204" pitchFamily="34" charset="0"/>
                <a:ea typeface="Arial"/>
                <a:cs typeface="Arial"/>
              </a:rPr>
              <a:t>Conceptual Design of Tiltrotor Aircraft for Urban Air Mobility</a:t>
            </a:r>
          </a:p>
          <a:p>
            <a:pPr>
              <a:defRPr sz="1575" b="0">
                <a:solidFill>
                  <a:srgbClr val="173344"/>
                </a:solidFill>
                <a:latin typeface="Arial"/>
                <a:ea typeface="Arial"/>
                <a:cs typeface="Arial"/>
              </a:defRPr>
            </a:pPr>
            <a:r>
              <a:rPr sz="1575" b="0">
                <a:solidFill>
                  <a:srgbClr val="000000"/>
                </a:solidFill>
                <a:latin typeface="Calibri" panose="020F0502020204030204" pitchFamily="34" charset="0"/>
                <a:ea typeface="Arial"/>
                <a:cs typeface="Arial"/>
              </a:rPr>
              <a:t>Benchmark, dimensions, weights and speed-performance curves</a:t>
            </a:r>
          </a:p>
        </p:txBody>
      </p:sp>
      <p:sp>
        <p:nvSpPr>
          <p:cNvPr id="7" name="Rectangle 6">
            <a:extLst>
              <a:ext uri="{FF2B5EF4-FFF2-40B4-BE49-F238E27FC236}">
                <a16:creationId xmlns:a16="http://schemas.microsoft.com/office/drawing/2014/main" id="{52752DA7-654B-472B-ADF3-933A107D3093}"/>
              </a:ext>
            </a:extLst>
          </p:cNvPr>
          <p:cNvSpPr>
            <a:spLocks noGrp="1"/>
          </p:cNvSpPr>
          <p:nvPr/>
        </p:nvSpPr>
        <p:spPr>
          <a:xfrm>
            <a:off x="476250" y="2552700"/>
            <a:ext cx="3429000" cy="323850"/>
          </a:xfrm>
          <a:prstGeom prst="rect">
            <a:avLst/>
          </a:prstGeom>
          <a:noFill/>
          <a:ln w="0">
            <a:noFill/>
          </a:ln>
        </p:spPr>
        <p:txBody>
          <a:bodyPr/>
          <a:lstStyle>
            <a:defPPr>
              <a:defRPr sz="1800" b="1">
                <a:solidFill>
                  <a:srgbClr val="173344"/>
                </a:solidFill>
                <a:latin typeface="Arial"/>
                <a:ea typeface="Arial"/>
                <a:cs typeface="Arial"/>
              </a:defRPr>
            </a:defPPr>
            <a:lvl1pPr>
              <a:defRPr sz="1800" b="1">
                <a:solidFill>
                  <a:srgbClr val="173344"/>
                </a:solidFill>
                <a:latin typeface="Arial"/>
                <a:ea typeface="Arial"/>
                <a:cs typeface="Arial"/>
              </a:defRPr>
            </a:lvl1pPr>
            <a:lvl2pPr>
              <a:defRPr sz="1800" b="1">
                <a:solidFill>
                  <a:srgbClr val="173344"/>
                </a:solidFill>
                <a:latin typeface="Arial"/>
                <a:ea typeface="Arial"/>
                <a:cs typeface="Arial"/>
              </a:defRPr>
            </a:lvl2pPr>
            <a:lvl3pPr>
              <a:defRPr sz="1800" b="1">
                <a:solidFill>
                  <a:srgbClr val="173344"/>
                </a:solidFill>
                <a:latin typeface="Arial"/>
                <a:ea typeface="Arial"/>
                <a:cs typeface="Arial"/>
              </a:defRPr>
            </a:lvl3pPr>
            <a:lvl4pPr>
              <a:defRPr sz="1800" b="1">
                <a:solidFill>
                  <a:srgbClr val="173344"/>
                </a:solidFill>
                <a:latin typeface="Arial"/>
                <a:ea typeface="Arial"/>
                <a:cs typeface="Arial"/>
              </a:defRPr>
            </a:lvl4pPr>
            <a:lvl5pPr>
              <a:defRPr sz="1800" b="1">
                <a:solidFill>
                  <a:srgbClr val="173344"/>
                </a:solidFill>
                <a:latin typeface="Arial"/>
                <a:ea typeface="Arial"/>
                <a:cs typeface="Arial"/>
              </a:defRPr>
            </a:lvl5pPr>
            <a:lvl6pPr>
              <a:defRPr sz="1800" b="1">
                <a:solidFill>
                  <a:srgbClr val="173344"/>
                </a:solidFill>
                <a:latin typeface="Arial"/>
                <a:ea typeface="Arial"/>
                <a:cs typeface="Arial"/>
              </a:defRPr>
            </a:lvl6pPr>
            <a:lvl7pPr>
              <a:defRPr sz="1800" b="1">
                <a:solidFill>
                  <a:srgbClr val="173344"/>
                </a:solidFill>
                <a:latin typeface="Arial"/>
                <a:ea typeface="Arial"/>
                <a:cs typeface="Arial"/>
              </a:defRPr>
            </a:lvl7pPr>
            <a:lvl8pPr>
              <a:defRPr sz="1800" b="1">
                <a:solidFill>
                  <a:srgbClr val="173344"/>
                </a:solidFill>
                <a:latin typeface="Arial"/>
                <a:ea typeface="Arial"/>
                <a:cs typeface="Arial"/>
              </a:defRPr>
            </a:lvl8pPr>
            <a:lvl9pPr>
              <a:defRPr sz="1800" b="1">
                <a:solidFill>
                  <a:srgbClr val="173344"/>
                </a:solidFill>
                <a:latin typeface="Arial"/>
                <a:ea typeface="Arial"/>
                <a:cs typeface="Arial"/>
              </a:defRPr>
            </a:lvl9pPr>
          </a:lstStyle>
          <a:p>
            <a:pPr>
              <a:defRPr sz="1800" b="1">
                <a:solidFill>
                  <a:srgbClr val="173344"/>
                </a:solidFill>
                <a:latin typeface="Arial"/>
                <a:ea typeface="Arial"/>
                <a:cs typeface="Arial"/>
              </a:defRPr>
            </a:pPr>
            <a:r>
              <a:rPr sz="1800" b="1">
                <a:solidFill>
                  <a:srgbClr val="000000"/>
                </a:solidFill>
                <a:latin typeface="Calibri" panose="020F0502020204030204" pitchFamily="34" charset="0"/>
                <a:ea typeface="Arial"/>
                <a:cs typeface="Arial"/>
              </a:rPr>
              <a:t>Silva, Johnson, Antcliff &amp; Patterson (2018)</a:t>
            </a:r>
          </a:p>
        </p:txBody>
      </p:sp>
      <p:sp>
        <p:nvSpPr>
          <p:cNvPr id="8" name="Rectangle 7">
            <a:extLst>
              <a:ext uri="{FF2B5EF4-FFF2-40B4-BE49-F238E27FC236}">
                <a16:creationId xmlns:a16="http://schemas.microsoft.com/office/drawing/2014/main" id="{F9C3E7DC-3099-4DC2-A271-1E89510B26ED}"/>
              </a:ext>
            </a:extLst>
          </p:cNvPr>
          <p:cNvSpPr>
            <a:spLocks noGrp="1"/>
          </p:cNvSpPr>
          <p:nvPr/>
        </p:nvSpPr>
        <p:spPr>
          <a:xfrm>
            <a:off x="4000500" y="2552700"/>
            <a:ext cx="7667625" cy="762000"/>
          </a:xfrm>
          <a:prstGeom prst="rect">
            <a:avLst/>
          </a:prstGeom>
          <a:noFill/>
          <a:ln w="0">
            <a:noFill/>
          </a:ln>
        </p:spPr>
        <p:txBody>
          <a:bodyPr/>
          <a:lstStyle>
            <a:defPPr>
              <a:defRPr sz="1575" b="0">
                <a:solidFill>
                  <a:srgbClr val="173344"/>
                </a:solidFill>
                <a:latin typeface="Arial"/>
                <a:ea typeface="Arial"/>
                <a:cs typeface="Arial"/>
              </a:defRPr>
            </a:defPPr>
            <a:lvl1pPr>
              <a:defRPr sz="1575" b="0">
                <a:solidFill>
                  <a:srgbClr val="173344"/>
                </a:solidFill>
                <a:latin typeface="Arial"/>
                <a:ea typeface="Arial"/>
                <a:cs typeface="Arial"/>
              </a:defRPr>
            </a:lvl1pPr>
            <a:lvl2pPr>
              <a:defRPr sz="1575" b="0">
                <a:solidFill>
                  <a:srgbClr val="173344"/>
                </a:solidFill>
                <a:latin typeface="Arial"/>
                <a:ea typeface="Arial"/>
                <a:cs typeface="Arial"/>
              </a:defRPr>
            </a:lvl2pPr>
            <a:lvl3pPr>
              <a:defRPr sz="1575" b="0">
                <a:solidFill>
                  <a:srgbClr val="173344"/>
                </a:solidFill>
                <a:latin typeface="Arial"/>
                <a:ea typeface="Arial"/>
                <a:cs typeface="Arial"/>
              </a:defRPr>
            </a:lvl3pPr>
            <a:lvl4pPr>
              <a:defRPr sz="1575" b="0">
                <a:solidFill>
                  <a:srgbClr val="173344"/>
                </a:solidFill>
                <a:latin typeface="Arial"/>
                <a:ea typeface="Arial"/>
                <a:cs typeface="Arial"/>
              </a:defRPr>
            </a:lvl4pPr>
            <a:lvl5pPr>
              <a:defRPr sz="1575" b="0">
                <a:solidFill>
                  <a:srgbClr val="173344"/>
                </a:solidFill>
                <a:latin typeface="Arial"/>
                <a:ea typeface="Arial"/>
                <a:cs typeface="Arial"/>
              </a:defRPr>
            </a:lvl5pPr>
            <a:lvl6pPr>
              <a:defRPr sz="1575" b="0">
                <a:solidFill>
                  <a:srgbClr val="173344"/>
                </a:solidFill>
                <a:latin typeface="Arial"/>
                <a:ea typeface="Arial"/>
                <a:cs typeface="Arial"/>
              </a:defRPr>
            </a:lvl6pPr>
            <a:lvl7pPr>
              <a:defRPr sz="1575" b="0">
                <a:solidFill>
                  <a:srgbClr val="173344"/>
                </a:solidFill>
                <a:latin typeface="Arial"/>
                <a:ea typeface="Arial"/>
                <a:cs typeface="Arial"/>
              </a:defRPr>
            </a:lvl7pPr>
            <a:lvl8pPr>
              <a:defRPr sz="1575" b="0">
                <a:solidFill>
                  <a:srgbClr val="173344"/>
                </a:solidFill>
                <a:latin typeface="Arial"/>
                <a:ea typeface="Arial"/>
                <a:cs typeface="Arial"/>
              </a:defRPr>
            </a:lvl8pPr>
            <a:lvl9pPr>
              <a:defRPr sz="1575" b="0">
                <a:solidFill>
                  <a:srgbClr val="173344"/>
                </a:solidFill>
                <a:latin typeface="Arial"/>
                <a:ea typeface="Arial"/>
                <a:cs typeface="Arial"/>
              </a:defRPr>
            </a:lvl9pPr>
          </a:lstStyle>
          <a:p>
            <a:pPr>
              <a:defRPr sz="1575" b="0">
                <a:solidFill>
                  <a:srgbClr val="173344"/>
                </a:solidFill>
                <a:latin typeface="Arial"/>
                <a:ea typeface="Arial"/>
                <a:cs typeface="Arial"/>
              </a:defRPr>
            </a:pPr>
            <a:r>
              <a:rPr sz="1575" b="0">
                <a:solidFill>
                  <a:srgbClr val="000000"/>
                </a:solidFill>
                <a:latin typeface="Calibri" panose="020F0502020204030204" pitchFamily="34" charset="0"/>
                <a:ea typeface="Arial"/>
                <a:cs typeface="Arial"/>
              </a:rPr>
              <a:t>VTOL Urban Air Mobility Concept Vehicles for Technology Development</a:t>
            </a:r>
          </a:p>
          <a:p>
            <a:pPr>
              <a:defRPr sz="1575" b="0">
                <a:solidFill>
                  <a:srgbClr val="173344"/>
                </a:solidFill>
                <a:latin typeface="Arial"/>
                <a:ea typeface="Arial"/>
                <a:cs typeface="Arial"/>
              </a:defRPr>
            </a:pPr>
            <a:r>
              <a:rPr sz="1575" b="0">
                <a:solidFill>
                  <a:srgbClr val="000000"/>
                </a:solidFill>
                <a:latin typeface="Calibri" panose="020F0502020204030204" pitchFamily="34" charset="0"/>
                <a:ea typeface="Arial"/>
                <a:cs typeface="Arial"/>
              </a:rPr>
              <a:t>Common mission, technology assumptions and component accounting</a:t>
            </a:r>
          </a:p>
        </p:txBody>
      </p:sp>
      <p:sp>
        <p:nvSpPr>
          <p:cNvPr id="9" name="Rectangle 8">
            <a:extLst>
              <a:ext uri="{FF2B5EF4-FFF2-40B4-BE49-F238E27FC236}">
                <a16:creationId xmlns:a16="http://schemas.microsoft.com/office/drawing/2014/main" id="{E137D0C5-B63A-4F24-8A86-4EF622985726}"/>
              </a:ext>
            </a:extLst>
          </p:cNvPr>
          <p:cNvSpPr>
            <a:spLocks noGrp="1"/>
          </p:cNvSpPr>
          <p:nvPr/>
        </p:nvSpPr>
        <p:spPr>
          <a:xfrm>
            <a:off x="476250" y="3552825"/>
            <a:ext cx="3429000" cy="323850"/>
          </a:xfrm>
          <a:prstGeom prst="rect">
            <a:avLst/>
          </a:prstGeom>
          <a:noFill/>
          <a:ln w="0">
            <a:noFill/>
          </a:ln>
        </p:spPr>
        <p:txBody>
          <a:bodyPr/>
          <a:lstStyle>
            <a:defPPr>
              <a:defRPr sz="1800" b="1">
                <a:solidFill>
                  <a:srgbClr val="173344"/>
                </a:solidFill>
                <a:latin typeface="Arial"/>
                <a:ea typeface="Arial"/>
                <a:cs typeface="Arial"/>
              </a:defRPr>
            </a:defPPr>
            <a:lvl1pPr>
              <a:defRPr sz="1800" b="1">
                <a:solidFill>
                  <a:srgbClr val="173344"/>
                </a:solidFill>
                <a:latin typeface="Arial"/>
                <a:ea typeface="Arial"/>
                <a:cs typeface="Arial"/>
              </a:defRPr>
            </a:lvl1pPr>
            <a:lvl2pPr>
              <a:defRPr sz="1800" b="1">
                <a:solidFill>
                  <a:srgbClr val="173344"/>
                </a:solidFill>
                <a:latin typeface="Arial"/>
                <a:ea typeface="Arial"/>
                <a:cs typeface="Arial"/>
              </a:defRPr>
            </a:lvl2pPr>
            <a:lvl3pPr>
              <a:defRPr sz="1800" b="1">
                <a:solidFill>
                  <a:srgbClr val="173344"/>
                </a:solidFill>
                <a:latin typeface="Arial"/>
                <a:ea typeface="Arial"/>
                <a:cs typeface="Arial"/>
              </a:defRPr>
            </a:lvl3pPr>
            <a:lvl4pPr>
              <a:defRPr sz="1800" b="1">
                <a:solidFill>
                  <a:srgbClr val="173344"/>
                </a:solidFill>
                <a:latin typeface="Arial"/>
                <a:ea typeface="Arial"/>
                <a:cs typeface="Arial"/>
              </a:defRPr>
            </a:lvl4pPr>
            <a:lvl5pPr>
              <a:defRPr sz="1800" b="1">
                <a:solidFill>
                  <a:srgbClr val="173344"/>
                </a:solidFill>
                <a:latin typeface="Arial"/>
                <a:ea typeface="Arial"/>
                <a:cs typeface="Arial"/>
              </a:defRPr>
            </a:lvl5pPr>
            <a:lvl6pPr>
              <a:defRPr sz="1800" b="1">
                <a:solidFill>
                  <a:srgbClr val="173344"/>
                </a:solidFill>
                <a:latin typeface="Arial"/>
                <a:ea typeface="Arial"/>
                <a:cs typeface="Arial"/>
              </a:defRPr>
            </a:lvl6pPr>
            <a:lvl7pPr>
              <a:defRPr sz="1800" b="1">
                <a:solidFill>
                  <a:srgbClr val="173344"/>
                </a:solidFill>
                <a:latin typeface="Arial"/>
                <a:ea typeface="Arial"/>
                <a:cs typeface="Arial"/>
              </a:defRPr>
            </a:lvl7pPr>
            <a:lvl8pPr>
              <a:defRPr sz="1800" b="1">
                <a:solidFill>
                  <a:srgbClr val="173344"/>
                </a:solidFill>
                <a:latin typeface="Arial"/>
                <a:ea typeface="Arial"/>
                <a:cs typeface="Arial"/>
              </a:defRPr>
            </a:lvl8pPr>
            <a:lvl9pPr>
              <a:defRPr sz="1800" b="1">
                <a:solidFill>
                  <a:srgbClr val="173344"/>
                </a:solidFill>
                <a:latin typeface="Arial"/>
                <a:ea typeface="Arial"/>
                <a:cs typeface="Arial"/>
              </a:defRPr>
            </a:lvl9pPr>
          </a:lstStyle>
          <a:p>
            <a:pPr>
              <a:defRPr sz="1800" b="1">
                <a:solidFill>
                  <a:srgbClr val="173344"/>
                </a:solidFill>
                <a:latin typeface="Arial"/>
                <a:ea typeface="Arial"/>
                <a:cs typeface="Arial"/>
              </a:defRPr>
            </a:pPr>
            <a:r>
              <a:rPr sz="1800" b="1">
                <a:solidFill>
                  <a:srgbClr val="000000"/>
                </a:solidFill>
                <a:latin typeface="Calibri" panose="020F0502020204030204" pitchFamily="34" charset="0"/>
                <a:ea typeface="Arial"/>
                <a:cs typeface="Arial"/>
              </a:rPr>
              <a:t>Radotich (2024)</a:t>
            </a:r>
          </a:p>
        </p:txBody>
      </p:sp>
      <p:sp>
        <p:nvSpPr>
          <p:cNvPr id="10" name="Rectangle 9">
            <a:extLst>
              <a:ext uri="{FF2B5EF4-FFF2-40B4-BE49-F238E27FC236}">
                <a16:creationId xmlns:a16="http://schemas.microsoft.com/office/drawing/2014/main" id="{28A74055-CB2C-4CFC-A209-C445ECA45410}"/>
              </a:ext>
            </a:extLst>
          </p:cNvPr>
          <p:cNvSpPr>
            <a:spLocks noGrp="1"/>
          </p:cNvSpPr>
          <p:nvPr/>
        </p:nvSpPr>
        <p:spPr>
          <a:xfrm>
            <a:off x="4000500" y="3552825"/>
            <a:ext cx="7667625" cy="762000"/>
          </a:xfrm>
          <a:prstGeom prst="rect">
            <a:avLst/>
          </a:prstGeom>
          <a:noFill/>
          <a:ln w="0">
            <a:noFill/>
          </a:ln>
        </p:spPr>
        <p:txBody>
          <a:bodyPr/>
          <a:lstStyle>
            <a:defPPr>
              <a:defRPr sz="1575" b="0">
                <a:solidFill>
                  <a:srgbClr val="173344"/>
                </a:solidFill>
                <a:latin typeface="Arial"/>
                <a:ea typeface="Arial"/>
                <a:cs typeface="Arial"/>
              </a:defRPr>
            </a:defPPr>
            <a:lvl1pPr>
              <a:defRPr sz="1575" b="0">
                <a:solidFill>
                  <a:srgbClr val="173344"/>
                </a:solidFill>
                <a:latin typeface="Arial"/>
                <a:ea typeface="Arial"/>
                <a:cs typeface="Arial"/>
              </a:defRPr>
            </a:lvl1pPr>
            <a:lvl2pPr>
              <a:defRPr sz="1575" b="0">
                <a:solidFill>
                  <a:srgbClr val="173344"/>
                </a:solidFill>
                <a:latin typeface="Arial"/>
                <a:ea typeface="Arial"/>
                <a:cs typeface="Arial"/>
              </a:defRPr>
            </a:lvl2pPr>
            <a:lvl3pPr>
              <a:defRPr sz="1575" b="0">
                <a:solidFill>
                  <a:srgbClr val="173344"/>
                </a:solidFill>
                <a:latin typeface="Arial"/>
                <a:ea typeface="Arial"/>
                <a:cs typeface="Arial"/>
              </a:defRPr>
            </a:lvl3pPr>
            <a:lvl4pPr>
              <a:defRPr sz="1575" b="0">
                <a:solidFill>
                  <a:srgbClr val="173344"/>
                </a:solidFill>
                <a:latin typeface="Arial"/>
                <a:ea typeface="Arial"/>
                <a:cs typeface="Arial"/>
              </a:defRPr>
            </a:lvl4pPr>
            <a:lvl5pPr>
              <a:defRPr sz="1575" b="0">
                <a:solidFill>
                  <a:srgbClr val="173344"/>
                </a:solidFill>
                <a:latin typeface="Arial"/>
                <a:ea typeface="Arial"/>
                <a:cs typeface="Arial"/>
              </a:defRPr>
            </a:lvl5pPr>
            <a:lvl6pPr>
              <a:defRPr sz="1575" b="0">
                <a:solidFill>
                  <a:srgbClr val="173344"/>
                </a:solidFill>
                <a:latin typeface="Arial"/>
                <a:ea typeface="Arial"/>
                <a:cs typeface="Arial"/>
              </a:defRPr>
            </a:lvl6pPr>
            <a:lvl7pPr>
              <a:defRPr sz="1575" b="0">
                <a:solidFill>
                  <a:srgbClr val="173344"/>
                </a:solidFill>
                <a:latin typeface="Arial"/>
                <a:ea typeface="Arial"/>
                <a:cs typeface="Arial"/>
              </a:defRPr>
            </a:lvl7pPr>
            <a:lvl8pPr>
              <a:defRPr sz="1575" b="0">
                <a:solidFill>
                  <a:srgbClr val="173344"/>
                </a:solidFill>
                <a:latin typeface="Arial"/>
                <a:ea typeface="Arial"/>
                <a:cs typeface="Arial"/>
              </a:defRPr>
            </a:lvl8pPr>
            <a:lvl9pPr>
              <a:defRPr sz="1575" b="0">
                <a:solidFill>
                  <a:srgbClr val="173344"/>
                </a:solidFill>
                <a:latin typeface="Arial"/>
                <a:ea typeface="Arial"/>
                <a:cs typeface="Arial"/>
              </a:defRPr>
            </a:lvl9pPr>
          </a:lstStyle>
          <a:p>
            <a:pPr>
              <a:defRPr sz="1575" b="0">
                <a:solidFill>
                  <a:srgbClr val="173344"/>
                </a:solidFill>
                <a:latin typeface="Arial"/>
                <a:ea typeface="Arial"/>
                <a:cs typeface="Arial"/>
              </a:defRPr>
            </a:pPr>
            <a:r>
              <a:rPr sz="1575" b="0">
                <a:solidFill>
                  <a:srgbClr val="000000"/>
                </a:solidFill>
                <a:latin typeface="Calibri" panose="020F0502020204030204" pitchFamily="34" charset="0"/>
                <a:ea typeface="Arial"/>
                <a:cs typeface="Arial"/>
              </a:rPr>
              <a:t>Conceptual Design Trade Studies for Acoustic Predictions…</a:t>
            </a:r>
          </a:p>
          <a:p>
            <a:pPr>
              <a:defRPr sz="1575" b="0">
                <a:solidFill>
                  <a:srgbClr val="173344"/>
                </a:solidFill>
                <a:latin typeface="Arial"/>
                <a:ea typeface="Arial"/>
                <a:cs typeface="Arial"/>
              </a:defRPr>
            </a:pPr>
            <a:r>
              <a:rPr sz="1575" b="0">
                <a:solidFill>
                  <a:srgbClr val="000000"/>
                </a:solidFill>
                <a:latin typeface="Calibri" panose="020F0502020204030204" pitchFamily="34" charset="0"/>
                <a:ea typeface="Arial"/>
                <a:cs typeface="Arial"/>
              </a:rPr>
              <a:t>Rotor calibration, tip-speed trades and toolchain limitations</a:t>
            </a:r>
          </a:p>
        </p:txBody>
      </p:sp>
      <p:sp>
        <p:nvSpPr>
          <p:cNvPr id="11" name="Rectangle 10">
            <a:extLst>
              <a:ext uri="{FF2B5EF4-FFF2-40B4-BE49-F238E27FC236}">
                <a16:creationId xmlns:a16="http://schemas.microsoft.com/office/drawing/2014/main" id="{35E7F373-40E7-4206-B0A9-773AD84F7CBD}"/>
              </a:ext>
            </a:extLst>
          </p:cNvPr>
          <p:cNvSpPr>
            <a:spLocks noGrp="1"/>
          </p:cNvSpPr>
          <p:nvPr/>
        </p:nvSpPr>
        <p:spPr>
          <a:xfrm>
            <a:off x="476250" y="4552950"/>
            <a:ext cx="3429000" cy="323850"/>
          </a:xfrm>
          <a:prstGeom prst="rect">
            <a:avLst/>
          </a:prstGeom>
          <a:noFill/>
          <a:ln w="0">
            <a:noFill/>
          </a:ln>
        </p:spPr>
        <p:txBody>
          <a:bodyPr/>
          <a:lstStyle>
            <a:defPPr>
              <a:defRPr sz="1800" b="1">
                <a:solidFill>
                  <a:srgbClr val="173344"/>
                </a:solidFill>
                <a:latin typeface="Arial"/>
                <a:ea typeface="Arial"/>
                <a:cs typeface="Arial"/>
              </a:defRPr>
            </a:defPPr>
            <a:lvl1pPr>
              <a:defRPr sz="1800" b="1">
                <a:solidFill>
                  <a:srgbClr val="173344"/>
                </a:solidFill>
                <a:latin typeface="Arial"/>
                <a:ea typeface="Arial"/>
                <a:cs typeface="Arial"/>
              </a:defRPr>
            </a:lvl1pPr>
            <a:lvl2pPr>
              <a:defRPr sz="1800" b="1">
                <a:solidFill>
                  <a:srgbClr val="173344"/>
                </a:solidFill>
                <a:latin typeface="Arial"/>
                <a:ea typeface="Arial"/>
                <a:cs typeface="Arial"/>
              </a:defRPr>
            </a:lvl2pPr>
            <a:lvl3pPr>
              <a:defRPr sz="1800" b="1">
                <a:solidFill>
                  <a:srgbClr val="173344"/>
                </a:solidFill>
                <a:latin typeface="Arial"/>
                <a:ea typeface="Arial"/>
                <a:cs typeface="Arial"/>
              </a:defRPr>
            </a:lvl3pPr>
            <a:lvl4pPr>
              <a:defRPr sz="1800" b="1">
                <a:solidFill>
                  <a:srgbClr val="173344"/>
                </a:solidFill>
                <a:latin typeface="Arial"/>
                <a:ea typeface="Arial"/>
                <a:cs typeface="Arial"/>
              </a:defRPr>
            </a:lvl4pPr>
            <a:lvl5pPr>
              <a:defRPr sz="1800" b="1">
                <a:solidFill>
                  <a:srgbClr val="173344"/>
                </a:solidFill>
                <a:latin typeface="Arial"/>
                <a:ea typeface="Arial"/>
                <a:cs typeface="Arial"/>
              </a:defRPr>
            </a:lvl5pPr>
            <a:lvl6pPr>
              <a:defRPr sz="1800" b="1">
                <a:solidFill>
                  <a:srgbClr val="173344"/>
                </a:solidFill>
                <a:latin typeface="Arial"/>
                <a:ea typeface="Arial"/>
                <a:cs typeface="Arial"/>
              </a:defRPr>
            </a:lvl6pPr>
            <a:lvl7pPr>
              <a:defRPr sz="1800" b="1">
                <a:solidFill>
                  <a:srgbClr val="173344"/>
                </a:solidFill>
                <a:latin typeface="Arial"/>
                <a:ea typeface="Arial"/>
                <a:cs typeface="Arial"/>
              </a:defRPr>
            </a:lvl7pPr>
            <a:lvl8pPr>
              <a:defRPr sz="1800" b="1">
                <a:solidFill>
                  <a:srgbClr val="173344"/>
                </a:solidFill>
                <a:latin typeface="Arial"/>
                <a:ea typeface="Arial"/>
                <a:cs typeface="Arial"/>
              </a:defRPr>
            </a:lvl8pPr>
            <a:lvl9pPr>
              <a:defRPr sz="1800" b="1">
                <a:solidFill>
                  <a:srgbClr val="173344"/>
                </a:solidFill>
                <a:latin typeface="Arial"/>
                <a:ea typeface="Arial"/>
                <a:cs typeface="Arial"/>
              </a:defRPr>
            </a:lvl9pPr>
          </a:lstStyle>
          <a:p>
            <a:pPr>
              <a:defRPr sz="1800" b="1">
                <a:solidFill>
                  <a:srgbClr val="173344"/>
                </a:solidFill>
                <a:latin typeface="Arial"/>
                <a:ea typeface="Arial"/>
                <a:cs typeface="Arial"/>
              </a:defRPr>
            </a:pPr>
            <a:r>
              <a:rPr sz="1800" b="1">
                <a:solidFill>
                  <a:srgbClr val="000000"/>
                </a:solidFill>
                <a:latin typeface="Calibri" panose="020F0502020204030204" pitchFamily="34" charset="0"/>
                <a:ea typeface="Arial"/>
                <a:cs typeface="Arial"/>
              </a:rPr>
              <a:t>Johnson (2022), NDARC Theory</a:t>
            </a:r>
          </a:p>
        </p:txBody>
      </p:sp>
      <p:sp>
        <p:nvSpPr>
          <p:cNvPr id="12" name="Rectangle 11">
            <a:extLst>
              <a:ext uri="{FF2B5EF4-FFF2-40B4-BE49-F238E27FC236}">
                <a16:creationId xmlns:a16="http://schemas.microsoft.com/office/drawing/2014/main" id="{430806D2-41A5-4E42-8E0B-C6CE3A84F87D}"/>
              </a:ext>
            </a:extLst>
          </p:cNvPr>
          <p:cNvSpPr>
            <a:spLocks noGrp="1"/>
          </p:cNvSpPr>
          <p:nvPr/>
        </p:nvSpPr>
        <p:spPr>
          <a:xfrm>
            <a:off x="4000500" y="4552950"/>
            <a:ext cx="7667625" cy="762000"/>
          </a:xfrm>
          <a:prstGeom prst="rect">
            <a:avLst/>
          </a:prstGeom>
          <a:noFill/>
          <a:ln w="0">
            <a:noFill/>
          </a:ln>
        </p:spPr>
        <p:txBody>
          <a:bodyPr/>
          <a:lstStyle>
            <a:defPPr>
              <a:defRPr sz="1575" b="0">
                <a:solidFill>
                  <a:srgbClr val="173344"/>
                </a:solidFill>
                <a:latin typeface="Arial"/>
                <a:ea typeface="Arial"/>
                <a:cs typeface="Arial"/>
              </a:defRPr>
            </a:defPPr>
            <a:lvl1pPr>
              <a:defRPr sz="1575" b="0">
                <a:solidFill>
                  <a:srgbClr val="173344"/>
                </a:solidFill>
                <a:latin typeface="Arial"/>
                <a:ea typeface="Arial"/>
                <a:cs typeface="Arial"/>
              </a:defRPr>
            </a:lvl1pPr>
            <a:lvl2pPr>
              <a:defRPr sz="1575" b="0">
                <a:solidFill>
                  <a:srgbClr val="173344"/>
                </a:solidFill>
                <a:latin typeface="Arial"/>
                <a:ea typeface="Arial"/>
                <a:cs typeface="Arial"/>
              </a:defRPr>
            </a:lvl2pPr>
            <a:lvl3pPr>
              <a:defRPr sz="1575" b="0">
                <a:solidFill>
                  <a:srgbClr val="173344"/>
                </a:solidFill>
                <a:latin typeface="Arial"/>
                <a:ea typeface="Arial"/>
                <a:cs typeface="Arial"/>
              </a:defRPr>
            </a:lvl3pPr>
            <a:lvl4pPr>
              <a:defRPr sz="1575" b="0">
                <a:solidFill>
                  <a:srgbClr val="173344"/>
                </a:solidFill>
                <a:latin typeface="Arial"/>
                <a:ea typeface="Arial"/>
                <a:cs typeface="Arial"/>
              </a:defRPr>
            </a:lvl4pPr>
            <a:lvl5pPr>
              <a:defRPr sz="1575" b="0">
                <a:solidFill>
                  <a:srgbClr val="173344"/>
                </a:solidFill>
                <a:latin typeface="Arial"/>
                <a:ea typeface="Arial"/>
                <a:cs typeface="Arial"/>
              </a:defRPr>
            </a:lvl5pPr>
            <a:lvl6pPr>
              <a:defRPr sz="1575" b="0">
                <a:solidFill>
                  <a:srgbClr val="173344"/>
                </a:solidFill>
                <a:latin typeface="Arial"/>
                <a:ea typeface="Arial"/>
                <a:cs typeface="Arial"/>
              </a:defRPr>
            </a:lvl6pPr>
            <a:lvl7pPr>
              <a:defRPr sz="1575" b="0">
                <a:solidFill>
                  <a:srgbClr val="173344"/>
                </a:solidFill>
                <a:latin typeface="Arial"/>
                <a:ea typeface="Arial"/>
                <a:cs typeface="Arial"/>
              </a:defRPr>
            </a:lvl7pPr>
            <a:lvl8pPr>
              <a:defRPr sz="1575" b="0">
                <a:solidFill>
                  <a:srgbClr val="173344"/>
                </a:solidFill>
                <a:latin typeface="Arial"/>
                <a:ea typeface="Arial"/>
                <a:cs typeface="Arial"/>
              </a:defRPr>
            </a:lvl8pPr>
            <a:lvl9pPr>
              <a:defRPr sz="1575" b="0">
                <a:solidFill>
                  <a:srgbClr val="173344"/>
                </a:solidFill>
                <a:latin typeface="Arial"/>
                <a:ea typeface="Arial"/>
                <a:cs typeface="Arial"/>
              </a:defRPr>
            </a:lvl9pPr>
          </a:lstStyle>
          <a:p>
            <a:pPr>
              <a:defRPr sz="1575" b="0">
                <a:solidFill>
                  <a:srgbClr val="173344"/>
                </a:solidFill>
                <a:latin typeface="Arial"/>
                <a:ea typeface="Arial"/>
                <a:cs typeface="Arial"/>
              </a:defRPr>
            </a:pPr>
            <a:r>
              <a:rPr sz="1575" b="0">
                <a:solidFill>
                  <a:srgbClr val="000000"/>
                </a:solidFill>
                <a:latin typeface="Calibri" panose="020F0502020204030204" pitchFamily="34" charset="0"/>
                <a:ea typeface="Arial"/>
                <a:cs typeface="Arial"/>
              </a:rPr>
              <a:t>NASA/TP–20220000355, Vol. 1</a:t>
            </a:r>
          </a:p>
          <a:p>
            <a:pPr>
              <a:defRPr sz="1575" b="0">
                <a:solidFill>
                  <a:srgbClr val="173344"/>
                </a:solidFill>
                <a:latin typeface="Arial"/>
                <a:ea typeface="Arial"/>
                <a:cs typeface="Arial"/>
              </a:defRPr>
            </a:pPr>
            <a:r>
              <a:rPr sz="1575" b="0">
                <a:solidFill>
                  <a:srgbClr val="000000"/>
                </a:solidFill>
                <a:latin typeface="Calibri" panose="020F0502020204030204" pitchFamily="34" charset="0"/>
                <a:ea typeface="Arial"/>
                <a:cs typeface="Arial"/>
              </a:rPr>
              <a:t>Model definitions; verify compatibility with our v1.13 source</a:t>
            </a:r>
          </a:p>
        </p:txBody>
      </p:sp>
      <p:sp>
        <p:nvSpPr>
          <p:cNvPr id="13" name="Rectangle 12">
            <a:extLst>
              <a:ext uri="{FF2B5EF4-FFF2-40B4-BE49-F238E27FC236}">
                <a16:creationId xmlns:a16="http://schemas.microsoft.com/office/drawing/2014/main" id="{9978C5CB-5A51-4988-AF95-CE056C33E935}"/>
              </a:ext>
            </a:extLst>
          </p:cNvPr>
          <p:cNvSpPr>
            <a:spLocks noGrp="1"/>
          </p:cNvSpPr>
          <p:nvPr/>
        </p:nvSpPr>
        <p:spPr>
          <a:xfrm>
            <a:off x="476250" y="6010275"/>
            <a:ext cx="11239500" cy="447675"/>
          </a:xfrm>
          <a:prstGeom prst="rect">
            <a:avLst/>
          </a:prstGeom>
          <a:noFill/>
          <a:ln w="0">
            <a:noFill/>
          </a:ln>
        </p:spPr>
        <p:txBody>
          <a:bodyPr/>
          <a:lstStyle>
            <a:defPPr>
              <a:defRPr sz="1275" b="0">
                <a:solidFill>
                  <a:srgbClr val="536675"/>
                </a:solidFill>
                <a:latin typeface="Arial"/>
                <a:ea typeface="Arial"/>
                <a:cs typeface="Arial"/>
              </a:defRPr>
            </a:defPPr>
            <a:lvl1pPr>
              <a:defRPr sz="1275" b="0">
                <a:solidFill>
                  <a:srgbClr val="536675"/>
                </a:solidFill>
                <a:latin typeface="Arial"/>
                <a:ea typeface="Arial"/>
                <a:cs typeface="Arial"/>
              </a:defRPr>
            </a:lvl1pPr>
            <a:lvl2pPr>
              <a:defRPr sz="1275" b="0">
                <a:solidFill>
                  <a:srgbClr val="536675"/>
                </a:solidFill>
                <a:latin typeface="Arial"/>
                <a:ea typeface="Arial"/>
                <a:cs typeface="Arial"/>
              </a:defRPr>
            </a:lvl2pPr>
            <a:lvl3pPr>
              <a:defRPr sz="1275" b="0">
                <a:solidFill>
                  <a:srgbClr val="536675"/>
                </a:solidFill>
                <a:latin typeface="Arial"/>
                <a:ea typeface="Arial"/>
                <a:cs typeface="Arial"/>
              </a:defRPr>
            </a:lvl3pPr>
            <a:lvl4pPr>
              <a:defRPr sz="1275" b="0">
                <a:solidFill>
                  <a:srgbClr val="536675"/>
                </a:solidFill>
                <a:latin typeface="Arial"/>
                <a:ea typeface="Arial"/>
                <a:cs typeface="Arial"/>
              </a:defRPr>
            </a:lvl4pPr>
            <a:lvl5pPr>
              <a:defRPr sz="1275" b="0">
                <a:solidFill>
                  <a:srgbClr val="536675"/>
                </a:solidFill>
                <a:latin typeface="Arial"/>
                <a:ea typeface="Arial"/>
                <a:cs typeface="Arial"/>
              </a:defRPr>
            </a:lvl5pPr>
            <a:lvl6pPr>
              <a:defRPr sz="1275" b="0">
                <a:solidFill>
                  <a:srgbClr val="536675"/>
                </a:solidFill>
                <a:latin typeface="Arial"/>
                <a:ea typeface="Arial"/>
                <a:cs typeface="Arial"/>
              </a:defRPr>
            </a:lvl6pPr>
            <a:lvl7pPr>
              <a:defRPr sz="1275" b="0">
                <a:solidFill>
                  <a:srgbClr val="536675"/>
                </a:solidFill>
                <a:latin typeface="Arial"/>
                <a:ea typeface="Arial"/>
                <a:cs typeface="Arial"/>
              </a:defRPr>
            </a:lvl7pPr>
            <a:lvl8pPr>
              <a:defRPr sz="1275" b="0">
                <a:solidFill>
                  <a:srgbClr val="536675"/>
                </a:solidFill>
                <a:latin typeface="Arial"/>
                <a:ea typeface="Arial"/>
                <a:cs typeface="Arial"/>
              </a:defRPr>
            </a:lvl8pPr>
            <a:lvl9pPr>
              <a:defRPr sz="1275" b="0">
                <a:solidFill>
                  <a:srgbClr val="536675"/>
                </a:solidFill>
                <a:latin typeface="Arial"/>
                <a:ea typeface="Arial"/>
                <a:cs typeface="Arial"/>
              </a:defRPr>
            </a:lvl9pPr>
          </a:lstStyle>
          <a:p>
            <a:pPr>
              <a:defRPr sz="1275" b="0">
                <a:solidFill>
                  <a:srgbClr val="536675"/>
                </a:solidFill>
                <a:latin typeface="Arial"/>
                <a:ea typeface="Arial"/>
                <a:cs typeface="Arial"/>
              </a:defRPr>
            </a:pPr>
            <a:endParaRPr sz="1275" b="0">
              <a:solidFill>
                <a:srgbClr val="000000"/>
              </a:solidFill>
              <a:latin typeface="Calibri" panose="020F0502020204030204" pitchFamily="34" charset="0"/>
              <a:ea typeface="Arial"/>
              <a:cs typeface="Arial"/>
            </a:endParaRPr>
          </a:p>
        </p:txBody>
      </p:sp>
      <p:sp>
        <p:nvSpPr>
          <p:cNvPr id="15" name="TextBox 14">
            <a:extLst>
              <a:ext uri="{FF2B5EF4-FFF2-40B4-BE49-F238E27FC236}">
                <a16:creationId xmlns:a16="http://schemas.microsoft.com/office/drawing/2014/main" id="{9C3C384E-8EAD-8C89-BD95-909DA6D20FED}"/>
              </a:ext>
            </a:extLst>
          </p:cNvPr>
          <p:cNvSpPr txBox="1"/>
          <p:nvPr/>
        </p:nvSpPr>
        <p:spPr>
          <a:xfrm>
            <a:off x="476250" y="6400800"/>
            <a:ext cx="11074400" cy="323165"/>
          </a:xfrm>
          <a:prstGeom prst="rect">
            <a:avLst/>
          </a:prstGeom>
          <a:noFill/>
        </p:spPr>
        <p:txBody>
          <a:bodyPr vert="horz" lIns="0" tIns="0" rIns="0" bIns="0" rtlCol="0">
            <a:spAutoFit/>
          </a:bodyPr>
          <a:lstStyle/>
          <a:p>
            <a:r>
              <a:rPr lang="en-US" sz="1050">
                <a:solidFill>
                  <a:srgbClr val="000000"/>
                </a:solidFill>
                <a:latin typeface="Calibri" panose="020F0502020204030204" pitchFamily="34" charset="0"/>
              </a:rPr>
              <a:t>[R1] Silva et al., AIAA 2018-3847. [R2] Radotich (2022). [R9] NASA/TP–20220000355, Vol. 1.
[S7] vertical30-20261028; [S8] rate-tuning-2026-10-21-RevA. Full sources and run provenance are in slide notes.</a:t>
            </a:r>
          </a:p>
        </p:txBody>
      </p:sp>
      <p:sp>
        <p:nvSpPr>
          <p:cNvPr id="16" name="TextBox 15">
            <a:extLst>
              <a:ext uri="{FF2B5EF4-FFF2-40B4-BE49-F238E27FC236}">
                <a16:creationId xmlns:a16="http://schemas.microsoft.com/office/drawing/2014/main" id="{03582969-20AD-9C1A-FDDC-6AD3F7FE7594}"/>
              </a:ext>
            </a:extLst>
          </p:cNvPr>
          <p:cNvSpPr txBox="1"/>
          <p:nvPr/>
        </p:nvSpPr>
        <p:spPr>
          <a:xfrm>
            <a:off x="11671300" y="6527800"/>
            <a:ext cx="355600" cy="153888"/>
          </a:xfrm>
          <a:prstGeom prst="rect">
            <a:avLst/>
          </a:prstGeom>
          <a:noFill/>
        </p:spPr>
        <p:txBody>
          <a:bodyPr vert="horz" lIns="0" tIns="0" rIns="0" bIns="0" rtlCol="0">
            <a:spAutoFit/>
          </a:bodyPr>
          <a:lstStyle/>
          <a:p>
            <a:r>
              <a:rPr lang="en-US" sz="1000">
                <a:solidFill>
                  <a:srgbClr val="000000"/>
                </a:solidFill>
                <a:latin typeface="Calibri" panose="020F0502020204030204" pitchFamily="34" charset="0"/>
              </a:rPr>
              <a:t>37</a:t>
            </a:r>
          </a:p>
        </p:txBody>
      </p:sp>
    </p:spTree>
    <p:extLst>
      <p:ext uri="{BB962C8B-B14F-4D97-AF65-F5344CB8AC3E}">
        <p14:creationId xmlns:p14="http://schemas.microsoft.com/office/powerpoint/2010/main" val="4562899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F109744-30A5-4C26-8698-A352EEE1446F}"/>
              </a:ext>
            </a:extLst>
          </p:cNvPr>
          <p:cNvSpPr>
            <a:spLocks noGrp="1"/>
          </p:cNvSpPr>
          <p:nvPr/>
        </p:nvSpPr>
        <p:spPr>
          <a:xfrm>
            <a:off x="838200" y="361950"/>
            <a:ext cx="10572750" cy="495300"/>
          </a:xfrm>
          <a:prstGeom prst="rect">
            <a:avLst/>
          </a:prstGeom>
          <a:noFill/>
          <a:ln w="0">
            <a:noFill/>
          </a:ln>
        </p:spPr>
        <p:txBody>
          <a:bodyPr lIns="0" tIns="0" rIns="0" bIns="0"/>
          <a:lstStyle>
            <a:defPPr>
              <a:defRPr sz="2400" b="1">
                <a:solidFill>
                  <a:srgbClr val="000000"/>
                </a:solidFill>
                <a:latin typeface="Calibri"/>
                <a:ea typeface="Calibri"/>
                <a:cs typeface="Calibri"/>
              </a:defRPr>
            </a:defPPr>
            <a:lvl1pPr>
              <a:defRPr sz="2400" b="1">
                <a:solidFill>
                  <a:srgbClr val="000000"/>
                </a:solidFill>
                <a:latin typeface="Calibri"/>
                <a:ea typeface="Calibri"/>
                <a:cs typeface="Calibri"/>
              </a:defRPr>
            </a:lvl1pPr>
            <a:lvl2pPr>
              <a:defRPr sz="2400" b="1">
                <a:solidFill>
                  <a:srgbClr val="000000"/>
                </a:solidFill>
                <a:latin typeface="Calibri"/>
                <a:ea typeface="Calibri"/>
                <a:cs typeface="Calibri"/>
              </a:defRPr>
            </a:lvl2pPr>
            <a:lvl3pPr>
              <a:defRPr sz="2400" b="1">
                <a:solidFill>
                  <a:srgbClr val="000000"/>
                </a:solidFill>
                <a:latin typeface="Calibri"/>
                <a:ea typeface="Calibri"/>
                <a:cs typeface="Calibri"/>
              </a:defRPr>
            </a:lvl3pPr>
            <a:lvl4pPr>
              <a:defRPr sz="2400" b="1">
                <a:solidFill>
                  <a:srgbClr val="000000"/>
                </a:solidFill>
                <a:latin typeface="Calibri"/>
                <a:ea typeface="Calibri"/>
                <a:cs typeface="Calibri"/>
              </a:defRPr>
            </a:lvl4pPr>
            <a:lvl5pPr>
              <a:defRPr sz="2400" b="1">
                <a:solidFill>
                  <a:srgbClr val="000000"/>
                </a:solidFill>
                <a:latin typeface="Calibri"/>
                <a:ea typeface="Calibri"/>
                <a:cs typeface="Calibri"/>
              </a:defRPr>
            </a:lvl5pPr>
            <a:lvl6pPr>
              <a:defRPr sz="2400" b="1">
                <a:solidFill>
                  <a:srgbClr val="000000"/>
                </a:solidFill>
                <a:latin typeface="Calibri"/>
                <a:ea typeface="Calibri"/>
                <a:cs typeface="Calibri"/>
              </a:defRPr>
            </a:lvl6pPr>
            <a:lvl7pPr>
              <a:defRPr sz="2400" b="1">
                <a:solidFill>
                  <a:srgbClr val="000000"/>
                </a:solidFill>
                <a:latin typeface="Calibri"/>
                <a:ea typeface="Calibri"/>
                <a:cs typeface="Calibri"/>
              </a:defRPr>
            </a:lvl7pPr>
            <a:lvl8pPr>
              <a:defRPr sz="2400" b="1">
                <a:solidFill>
                  <a:srgbClr val="000000"/>
                </a:solidFill>
                <a:latin typeface="Calibri"/>
                <a:ea typeface="Calibri"/>
                <a:cs typeface="Calibri"/>
              </a:defRPr>
            </a:lvl8pPr>
            <a:lvl9pPr>
              <a:defRPr sz="2400" b="1">
                <a:solidFill>
                  <a:srgbClr val="000000"/>
                </a:solidFill>
                <a:latin typeface="Calibri"/>
                <a:ea typeface="Calibri"/>
                <a:cs typeface="Calibri"/>
              </a:defRPr>
            </a:lvl9pPr>
          </a:lstStyle>
          <a:p>
            <a:pPr>
              <a:defRPr sz="2400" b="1">
                <a:solidFill>
                  <a:srgbClr val="000000"/>
                </a:solidFill>
                <a:latin typeface="Calibri"/>
                <a:ea typeface="Calibri"/>
                <a:cs typeface="Calibri"/>
              </a:defRPr>
            </a:pPr>
            <a:r>
              <a:rPr sz="2400" b="1">
                <a:solidFill>
                  <a:srgbClr val="000000"/>
                </a:solidFill>
                <a:latin typeface="Calibri"/>
                <a:ea typeface="Calibri"/>
                <a:cs typeface="Calibri"/>
              </a:rPr>
              <a:t>Appendix: explored design spaces</a:t>
            </a:r>
          </a:p>
        </p:txBody>
      </p:sp>
      <p:sp>
        <p:nvSpPr>
          <p:cNvPr id="2" name="Rectangle 1">
            <a:extLst>
              <a:ext uri="{FF2B5EF4-FFF2-40B4-BE49-F238E27FC236}">
                <a16:creationId xmlns:a16="http://schemas.microsoft.com/office/drawing/2014/main" id="{11C5EF29-F8BE-4AE3-8576-B522AB6CCC67}"/>
              </a:ext>
            </a:extLst>
          </p:cNvPr>
          <p:cNvSpPr>
            <a:spLocks noGrp="1"/>
          </p:cNvSpPr>
          <p:nvPr/>
        </p:nvSpPr>
        <p:spPr>
          <a:xfrm>
            <a:off x="476250" y="1028700"/>
            <a:ext cx="11239500" cy="590550"/>
          </a:xfrm>
          <a:prstGeom prst="rect">
            <a:avLst/>
          </a:prstGeom>
          <a:noFill/>
          <a:ln w="0">
            <a:noFill/>
          </a:ln>
        </p:spPr>
        <p:txBody>
          <a:bodyPr lIns="0" tIns="0" rIns="0" bIns="0"/>
          <a:lstStyle>
            <a:defPPr>
              <a:defRPr sz="1575" b="0">
                <a:solidFill>
                  <a:srgbClr val="333333"/>
                </a:solidFill>
                <a:latin typeface="Calibri"/>
                <a:ea typeface="Calibri"/>
                <a:cs typeface="Calibri"/>
              </a:defRPr>
            </a:defPPr>
            <a:lvl1pPr>
              <a:defRPr sz="1575" b="0">
                <a:solidFill>
                  <a:srgbClr val="333333"/>
                </a:solidFill>
                <a:latin typeface="Calibri"/>
                <a:ea typeface="Calibri"/>
                <a:cs typeface="Calibri"/>
              </a:defRPr>
            </a:lvl1pPr>
            <a:lvl2pPr>
              <a:defRPr sz="1575" b="0">
                <a:solidFill>
                  <a:srgbClr val="333333"/>
                </a:solidFill>
                <a:latin typeface="Calibri"/>
                <a:ea typeface="Calibri"/>
                <a:cs typeface="Calibri"/>
              </a:defRPr>
            </a:lvl2pPr>
            <a:lvl3pPr>
              <a:defRPr sz="1575" b="0">
                <a:solidFill>
                  <a:srgbClr val="333333"/>
                </a:solidFill>
                <a:latin typeface="Calibri"/>
                <a:ea typeface="Calibri"/>
                <a:cs typeface="Calibri"/>
              </a:defRPr>
            </a:lvl3pPr>
            <a:lvl4pPr>
              <a:defRPr sz="1575" b="0">
                <a:solidFill>
                  <a:srgbClr val="333333"/>
                </a:solidFill>
                <a:latin typeface="Calibri"/>
                <a:ea typeface="Calibri"/>
                <a:cs typeface="Calibri"/>
              </a:defRPr>
            </a:lvl4pPr>
            <a:lvl5pPr>
              <a:defRPr sz="1575" b="0">
                <a:solidFill>
                  <a:srgbClr val="333333"/>
                </a:solidFill>
                <a:latin typeface="Calibri"/>
                <a:ea typeface="Calibri"/>
                <a:cs typeface="Calibri"/>
              </a:defRPr>
            </a:lvl5pPr>
            <a:lvl6pPr>
              <a:defRPr sz="1575" b="0">
                <a:solidFill>
                  <a:srgbClr val="333333"/>
                </a:solidFill>
                <a:latin typeface="Calibri"/>
                <a:ea typeface="Calibri"/>
                <a:cs typeface="Calibri"/>
              </a:defRPr>
            </a:lvl6pPr>
            <a:lvl7pPr>
              <a:defRPr sz="1575" b="0">
                <a:solidFill>
                  <a:srgbClr val="333333"/>
                </a:solidFill>
                <a:latin typeface="Calibri"/>
                <a:ea typeface="Calibri"/>
                <a:cs typeface="Calibri"/>
              </a:defRPr>
            </a:lvl7pPr>
            <a:lvl8pPr>
              <a:defRPr sz="1575" b="0">
                <a:solidFill>
                  <a:srgbClr val="333333"/>
                </a:solidFill>
                <a:latin typeface="Calibri"/>
                <a:ea typeface="Calibri"/>
                <a:cs typeface="Calibri"/>
              </a:defRPr>
            </a:lvl8pPr>
            <a:lvl9pPr>
              <a:defRPr sz="1575" b="0">
                <a:solidFill>
                  <a:srgbClr val="333333"/>
                </a:solidFill>
                <a:latin typeface="Calibri"/>
                <a:ea typeface="Calibri"/>
                <a:cs typeface="Calibri"/>
              </a:defRPr>
            </a:lvl9pPr>
          </a:lstStyle>
          <a:p>
            <a:pPr>
              <a:defRPr sz="1575" b="0">
                <a:solidFill>
                  <a:srgbClr val="333333"/>
                </a:solidFill>
                <a:latin typeface="Calibri"/>
                <a:ea typeface="Calibri"/>
                <a:cs typeface="Calibri"/>
              </a:defRPr>
            </a:pPr>
            <a:r>
              <a:rPr sz="1575" b="0">
                <a:solidFill>
                  <a:srgbClr val="333333"/>
                </a:solidFill>
                <a:latin typeface="Calibri"/>
                <a:ea typeface="Calibri"/>
                <a:cs typeface="Calibri"/>
              </a:rPr>
              <a:t>The audit distinguishes physical design trades, fixed-geometry retrofit sizing, reference replay and solver diagnostics. [A, B]</a:t>
            </a:r>
          </a:p>
        </p:txBody>
      </p:sp>
      <p:sp>
        <p:nvSpPr>
          <p:cNvPr id="3" name="Rectangle 2">
            <a:extLst>
              <a:ext uri="{FF2B5EF4-FFF2-40B4-BE49-F238E27FC236}">
                <a16:creationId xmlns:a16="http://schemas.microsoft.com/office/drawing/2014/main" id="{6C73B151-4445-4C2C-A89E-E2CB9D3EB6A4}"/>
              </a:ext>
            </a:extLst>
          </p:cNvPr>
          <p:cNvSpPr>
            <a:spLocks noGrp="1"/>
          </p:cNvSpPr>
          <p:nvPr/>
        </p:nvSpPr>
        <p:spPr>
          <a:xfrm>
            <a:off x="476250" y="6076950"/>
            <a:ext cx="11191875" cy="619125"/>
          </a:xfrm>
          <a:prstGeom prst="rect">
            <a:avLst/>
          </a:prstGeom>
          <a:noFill/>
          <a:ln w="0">
            <a:noFill/>
          </a:ln>
        </p:spPr>
        <p:txBody>
          <a:bodyPr lIns="0" tIns="0" rIns="0" bIns="0"/>
          <a:lstStyle>
            <a:defPPr>
              <a:defRPr sz="1050" b="0">
                <a:solidFill>
                  <a:srgbClr val="333333"/>
                </a:solidFill>
                <a:latin typeface="Calibri"/>
                <a:ea typeface="Calibri"/>
                <a:cs typeface="Calibri"/>
              </a:defRPr>
            </a:defPPr>
            <a:lvl1pPr>
              <a:defRPr sz="1050" b="0">
                <a:solidFill>
                  <a:srgbClr val="333333"/>
                </a:solidFill>
                <a:latin typeface="Calibri"/>
                <a:ea typeface="Calibri"/>
                <a:cs typeface="Calibri"/>
              </a:defRPr>
            </a:lvl1pPr>
            <a:lvl2pPr>
              <a:defRPr sz="1050" b="0">
                <a:solidFill>
                  <a:srgbClr val="333333"/>
                </a:solidFill>
                <a:latin typeface="Calibri"/>
                <a:ea typeface="Calibri"/>
                <a:cs typeface="Calibri"/>
              </a:defRPr>
            </a:lvl2pPr>
            <a:lvl3pPr>
              <a:defRPr sz="1050" b="0">
                <a:solidFill>
                  <a:srgbClr val="333333"/>
                </a:solidFill>
                <a:latin typeface="Calibri"/>
                <a:ea typeface="Calibri"/>
                <a:cs typeface="Calibri"/>
              </a:defRPr>
            </a:lvl3pPr>
            <a:lvl4pPr>
              <a:defRPr sz="1050" b="0">
                <a:solidFill>
                  <a:srgbClr val="333333"/>
                </a:solidFill>
                <a:latin typeface="Calibri"/>
                <a:ea typeface="Calibri"/>
                <a:cs typeface="Calibri"/>
              </a:defRPr>
            </a:lvl4pPr>
            <a:lvl5pPr>
              <a:defRPr sz="1050" b="0">
                <a:solidFill>
                  <a:srgbClr val="333333"/>
                </a:solidFill>
                <a:latin typeface="Calibri"/>
                <a:ea typeface="Calibri"/>
                <a:cs typeface="Calibri"/>
              </a:defRPr>
            </a:lvl5pPr>
            <a:lvl6pPr>
              <a:defRPr sz="1050" b="0">
                <a:solidFill>
                  <a:srgbClr val="333333"/>
                </a:solidFill>
                <a:latin typeface="Calibri"/>
                <a:ea typeface="Calibri"/>
                <a:cs typeface="Calibri"/>
              </a:defRPr>
            </a:lvl6pPr>
            <a:lvl7pPr>
              <a:defRPr sz="1050" b="0">
                <a:solidFill>
                  <a:srgbClr val="333333"/>
                </a:solidFill>
                <a:latin typeface="Calibri"/>
                <a:ea typeface="Calibri"/>
                <a:cs typeface="Calibri"/>
              </a:defRPr>
            </a:lvl7pPr>
            <a:lvl8pPr>
              <a:defRPr sz="1050" b="0">
                <a:solidFill>
                  <a:srgbClr val="333333"/>
                </a:solidFill>
                <a:latin typeface="Calibri"/>
                <a:ea typeface="Calibri"/>
                <a:cs typeface="Calibri"/>
              </a:defRPr>
            </a:lvl8pPr>
            <a:lvl9pPr>
              <a:defRPr sz="1050" b="0">
                <a:solidFill>
                  <a:srgbClr val="333333"/>
                </a:solidFill>
                <a:latin typeface="Calibri"/>
                <a:ea typeface="Calibri"/>
                <a:cs typeface="Calibri"/>
              </a:defRPr>
            </a:lvl9pPr>
          </a:lstStyle>
          <a:p>
            <a:pPr>
              <a:defRPr sz="1050" b="0">
                <a:solidFill>
                  <a:srgbClr val="333333"/>
                </a:solidFill>
                <a:latin typeface="Calibri"/>
                <a:ea typeface="Calibri"/>
                <a:cs typeface="Calibri"/>
              </a:defRPr>
            </a:pPr>
            <a:r>
              <a:rPr sz="1050" b="0">
                <a:solidFill>
                  <a:srgbClr val="333333"/>
                </a:solidFill>
                <a:latin typeface="Calibri"/>
                <a:ea typeface="Calibri"/>
                <a:cs typeface="Calibri"/>
              </a:rPr>
              <a:t>[A] NDARC execution archive, 28 Oct 2026: organized_runs/inventory.json; run_logs/*.jsonl; original runs/ inputs and outputs.</a:t>
            </a:r>
          </a:p>
          <a:p>
            <a:pPr>
              <a:defRPr sz="1050" b="0">
                <a:solidFill>
                  <a:srgbClr val="333333"/>
                </a:solidFill>
                <a:latin typeface="Calibri"/>
                <a:ea typeface="Calibri"/>
                <a:cs typeface="Calibri"/>
              </a:defRPr>
            </a:pPr>
            <a:r>
              <a:rPr sz="1050" b="0">
                <a:solidFill>
                  <a:srgbClr val="333333"/>
                </a:solidFill>
                <a:latin typeface="Calibri"/>
                <a:ea typeface="Calibri"/>
                <a:cs typeface="Calibri"/>
              </a:rPr>
              <a:t>[B] design-space-evidence/campaign-design-space.json and all-run-design-points.csv (this deck folder). Exact marginal sets, plans, input hashes and status.</a:t>
            </a:r>
          </a:p>
        </p:txBody>
      </p:sp>
      <p:sp>
        <p:nvSpPr>
          <p:cNvPr id="4" name="Rectangle 3">
            <a:extLst>
              <a:ext uri="{FF2B5EF4-FFF2-40B4-BE49-F238E27FC236}">
                <a16:creationId xmlns:a16="http://schemas.microsoft.com/office/drawing/2014/main" id="{F6E761BD-427E-45D0-AF07-9CADE687FC8C}"/>
              </a:ext>
            </a:extLst>
          </p:cNvPr>
          <p:cNvSpPr>
            <a:spLocks noGrp="1"/>
          </p:cNvSpPr>
          <p:nvPr/>
        </p:nvSpPr>
        <p:spPr>
          <a:xfrm>
            <a:off x="11430000" y="6553200"/>
            <a:ext cx="333375" cy="209550"/>
          </a:xfrm>
          <a:prstGeom prst="rect">
            <a:avLst/>
          </a:prstGeom>
          <a:noFill/>
          <a:ln w="0">
            <a:noFill/>
          </a:ln>
        </p:spPr>
        <p:txBody>
          <a:bodyPr lIns="0" tIns="0" rIns="0" bIns="0"/>
          <a:lstStyle>
            <a:defPPr>
              <a:defRPr sz="1125" b="0">
                <a:solidFill>
                  <a:srgbClr val="000000"/>
                </a:solidFill>
                <a:latin typeface="Calibri"/>
                <a:ea typeface="Calibri"/>
                <a:cs typeface="Calibri"/>
              </a:defRPr>
            </a:defPPr>
            <a:lvl1pPr>
              <a:defRPr sz="1125" b="0">
                <a:solidFill>
                  <a:srgbClr val="000000"/>
                </a:solidFill>
                <a:latin typeface="Calibri"/>
                <a:ea typeface="Calibri"/>
                <a:cs typeface="Calibri"/>
              </a:defRPr>
            </a:lvl1pPr>
            <a:lvl2pPr>
              <a:defRPr sz="1125" b="0">
                <a:solidFill>
                  <a:srgbClr val="000000"/>
                </a:solidFill>
                <a:latin typeface="Calibri"/>
                <a:ea typeface="Calibri"/>
                <a:cs typeface="Calibri"/>
              </a:defRPr>
            </a:lvl2pPr>
            <a:lvl3pPr>
              <a:defRPr sz="1125" b="0">
                <a:solidFill>
                  <a:srgbClr val="000000"/>
                </a:solidFill>
                <a:latin typeface="Calibri"/>
                <a:ea typeface="Calibri"/>
                <a:cs typeface="Calibri"/>
              </a:defRPr>
            </a:lvl3pPr>
            <a:lvl4pPr>
              <a:defRPr sz="1125" b="0">
                <a:solidFill>
                  <a:srgbClr val="000000"/>
                </a:solidFill>
                <a:latin typeface="Calibri"/>
                <a:ea typeface="Calibri"/>
                <a:cs typeface="Calibri"/>
              </a:defRPr>
            </a:lvl4pPr>
            <a:lvl5pPr>
              <a:defRPr sz="1125" b="0">
                <a:solidFill>
                  <a:srgbClr val="000000"/>
                </a:solidFill>
                <a:latin typeface="Calibri"/>
                <a:ea typeface="Calibri"/>
                <a:cs typeface="Calibri"/>
              </a:defRPr>
            </a:lvl5pPr>
            <a:lvl6pPr>
              <a:defRPr sz="1125" b="0">
                <a:solidFill>
                  <a:srgbClr val="000000"/>
                </a:solidFill>
                <a:latin typeface="Calibri"/>
                <a:ea typeface="Calibri"/>
                <a:cs typeface="Calibri"/>
              </a:defRPr>
            </a:lvl6pPr>
            <a:lvl7pPr>
              <a:defRPr sz="1125" b="0">
                <a:solidFill>
                  <a:srgbClr val="000000"/>
                </a:solidFill>
                <a:latin typeface="Calibri"/>
                <a:ea typeface="Calibri"/>
                <a:cs typeface="Calibri"/>
              </a:defRPr>
            </a:lvl7pPr>
            <a:lvl8pPr>
              <a:defRPr sz="1125" b="0">
                <a:solidFill>
                  <a:srgbClr val="000000"/>
                </a:solidFill>
                <a:latin typeface="Calibri"/>
                <a:ea typeface="Calibri"/>
                <a:cs typeface="Calibri"/>
              </a:defRPr>
            </a:lvl8pPr>
            <a:lvl9pPr>
              <a:defRPr sz="1125" b="0">
                <a:solidFill>
                  <a:srgbClr val="000000"/>
                </a:solidFill>
                <a:latin typeface="Calibri"/>
                <a:ea typeface="Calibri"/>
                <a:cs typeface="Calibri"/>
              </a:defRPr>
            </a:lvl9pPr>
          </a:lstStyle>
          <a:p>
            <a:pPr>
              <a:defRPr sz="1125" b="0">
                <a:solidFill>
                  <a:srgbClr val="000000"/>
                </a:solidFill>
                <a:latin typeface="Calibri"/>
                <a:ea typeface="Calibri"/>
                <a:cs typeface="Calibri"/>
              </a:defRPr>
            </a:pPr>
            <a:r>
              <a:rPr sz="1125" b="0">
                <a:solidFill>
                  <a:srgbClr val="000000"/>
                </a:solidFill>
                <a:latin typeface="Calibri"/>
                <a:ea typeface="Calibri"/>
                <a:cs typeface="Calibri"/>
              </a:rPr>
              <a:t>38</a:t>
            </a:r>
          </a:p>
        </p:txBody>
      </p:sp>
      <p:graphicFrame>
        <p:nvGraphicFramePr>
          <p:cNvPr id="5" name="Table 4">
            <a:extLst>
              <a:ext uri="{FF2B5EF4-FFF2-40B4-BE49-F238E27FC236}">
                <a16:creationId xmlns:a16="http://schemas.microsoft.com/office/drawing/2014/main" id="{12BF9556-C92C-4B05-9896-35608EDE3060}"/>
              </a:ext>
            </a:extLst>
          </p:cNvPr>
          <p:cNvGraphicFramePr/>
          <p:nvPr/>
        </p:nvGraphicFramePr>
        <p:xfrm>
          <a:off x="476250" y="1809750"/>
          <a:ext cx="11239500" cy="3619500"/>
        </p:xfrm>
        <a:graphic>
          <a:graphicData uri="http://schemas.openxmlformats.org/drawingml/2006/table">
            <a:tbl>
              <a:tblPr/>
              <a:tblGrid>
                <a:gridCol w="3238500">
                  <a:extLst>
                    <a:ext uri="{9D8B030D-6E8A-4147-A177-3AD203B41FA5}">
                      <a16:colId xmlns:a16="http://schemas.microsoft.com/office/drawing/2014/main" val="20000"/>
                    </a:ext>
                  </a:extLst>
                </a:gridCol>
                <a:gridCol w="8001000">
                  <a:extLst>
                    <a:ext uri="{9D8B030D-6E8A-4147-A177-3AD203B41FA5}">
                      <a16:colId xmlns:a16="http://schemas.microsoft.com/office/drawing/2014/main" val="20001"/>
                    </a:ext>
                  </a:extLst>
                </a:gridCol>
              </a:tblGrid>
              <a:tr h="603250">
                <a:tc>
                  <a:txBody>
                    <a:bodyPr/>
                    <a:lstStyle/>
                    <a:p>
                      <a:r>
                        <a:rPr sz="1650" b="1">
                          <a:solidFill>
                            <a:srgbClr val="000000"/>
                          </a:solidFill>
                          <a:latin typeface="Calibri"/>
                          <a:ea typeface="Calibri"/>
                          <a:cs typeface="Calibri"/>
                        </a:rPr>
                        <a:t>Archive coverage</a:t>
                      </a:r>
                    </a:p>
                  </a:txBody>
                  <a:tcPr>
                    <a:lnL w="7620">
                      <a:solidFill>
                        <a:srgbClr val="CCCCCC"/>
                      </a:solidFill>
                    </a:lnL>
                    <a:lnR w="7620">
                      <a:solidFill>
                        <a:srgbClr val="CCCCCC"/>
                      </a:solidFill>
                    </a:lnR>
                    <a:lnT w="7620">
                      <a:solidFill>
                        <a:srgbClr val="CCCCCC"/>
                      </a:solidFill>
                    </a:lnT>
                    <a:lnB w="7620">
                      <a:solidFill>
                        <a:srgbClr val="CCCCCC"/>
                      </a:solidFill>
                    </a:lnB>
                    <a:solidFill>
                      <a:srgbClr val="D9D9D9"/>
                    </a:solidFill>
                  </a:tcPr>
                </a:tc>
                <a:tc>
                  <a:txBody>
                    <a:bodyPr/>
                    <a:lstStyle/>
                    <a:p>
                      <a:r>
                        <a:rPr sz="1650" b="1">
                          <a:solidFill>
                            <a:srgbClr val="000000"/>
                          </a:solidFill>
                          <a:latin typeface="Calibri"/>
                          <a:ea typeface="Calibri"/>
                          <a:cs typeface="Calibri"/>
                        </a:rPr>
                        <a:t>What the count means</a:t>
                      </a:r>
                    </a:p>
                  </a:txBody>
                  <a:tcPr>
                    <a:lnL w="7620" cap="flat" cmpd="sng" algn="ctr">
                      <a:solidFill>
                        <a:srgbClr val="CCCCCC"/>
                      </a:solidFill>
                      <a:prstDash val="solid"/>
                      <a:round/>
                      <a:headEnd type="none" w="med" len="med"/>
                      <a:tailEnd type="none" w="med" len="med"/>
                    </a:lnL>
                    <a:lnR w="7620">
                      <a:solidFill>
                        <a:srgbClr val="CCCCCC"/>
                      </a:solidFill>
                    </a:lnR>
                    <a:lnT w="7620">
                      <a:solidFill>
                        <a:srgbClr val="CCCCCC"/>
                      </a:solidFill>
                    </a:lnT>
                    <a:lnB w="7620">
                      <a:solidFill>
                        <a:srgbClr val="CCCCCC"/>
                      </a:solidFill>
                    </a:lnB>
                    <a:solidFill>
                      <a:srgbClr val="D9D9D9"/>
                    </a:solidFill>
                  </a:tcPr>
                </a:tc>
                <a:extLst>
                  <a:ext uri="{0D108BD9-81ED-4DB2-BD59-A6C34878D82A}">
                    <a16:rowId xmlns:a16="http://schemas.microsoft.com/office/drawing/2014/main" val="10000"/>
                  </a:ext>
                </a:extLst>
              </a:tr>
              <a:tr h="603250">
                <a:tc>
                  <a:txBody>
                    <a:bodyPr/>
                    <a:lstStyle/>
                    <a:p>
                      <a:r>
                        <a:rPr sz="1650" b="0">
                          <a:solidFill>
                            <a:srgbClr val="000000"/>
                          </a:solidFill>
                          <a:latin typeface="Calibri"/>
                          <a:ea typeface="Calibri"/>
                          <a:cs typeface="Calibri"/>
                        </a:rPr>
                        <a:t>6,178 original run folders</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650" b="0">
                          <a:solidFill>
                            <a:srgbClr val="000000"/>
                          </a:solidFill>
                          <a:latin typeface="Calibri"/>
                          <a:ea typeface="Calibri"/>
                          <a:cs typeface="Calibri"/>
                        </a:rPr>
                        <a:t>Includes repeats, failed attempts and intermediate sizing iterations</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1"/>
                  </a:ext>
                </a:extLst>
              </a:tr>
              <a:tr h="603250">
                <a:tc>
                  <a:txBody>
                    <a:bodyPr/>
                    <a:lstStyle/>
                    <a:p>
                      <a:r>
                        <a:rPr sz="1650" b="0">
                          <a:solidFill>
                            <a:srgbClr val="000000"/>
                          </a:solidFill>
                          <a:latin typeface="Calibri"/>
                          <a:ea typeface="Calibri"/>
                          <a:cs typeface="Calibri"/>
                        </a:rPr>
                        <a:t>26 configuration / propulsion labels</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650" b="0">
                          <a:solidFill>
                            <a:srgbClr val="000000"/>
                          </a:solidFill>
                          <a:latin typeface="Calibri"/>
                          <a:ea typeface="Calibri"/>
                          <a:cs typeface="Calibri"/>
                        </a:rPr>
                        <a:t>Includes aliases and labels with unverified propulsion</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2"/>
                  </a:ext>
                </a:extLst>
              </a:tr>
              <a:tr h="603250">
                <a:tc>
                  <a:txBody>
                    <a:bodyPr/>
                    <a:lstStyle/>
                    <a:p>
                      <a:r>
                        <a:rPr sz="1650" b="0">
                          <a:solidFill>
                            <a:srgbClr val="000000"/>
                          </a:solidFill>
                          <a:latin typeface="Calibri"/>
                          <a:ea typeface="Calibri"/>
                          <a:cs typeface="Calibri"/>
                        </a:rPr>
                        <a:t>314 configuration / campaign groups</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650" b="0">
                          <a:solidFill>
                            <a:srgbClr val="000000"/>
                          </a:solidFill>
                          <a:latin typeface="Calibri"/>
                          <a:ea typeface="Calibri"/>
                          <a:cs typeface="Calibri"/>
                        </a:rPr>
                        <a:t>Campaign plans preserve changing missions and assumptions</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3"/>
                  </a:ext>
                </a:extLst>
              </a:tr>
              <a:tr h="603250">
                <a:tc>
                  <a:txBody>
                    <a:bodyPr/>
                    <a:lstStyle/>
                    <a:p>
                      <a:r>
                        <a:rPr sz="1650" b="0">
                          <a:solidFill>
                            <a:srgbClr val="000000"/>
                          </a:solidFill>
                          <a:latin typeface="Calibri"/>
                          <a:ea typeface="Calibri"/>
                          <a:cs typeface="Calibri"/>
                        </a:rPr>
                        <a:t>Full companion evidence</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650" b="0">
                          <a:solidFill>
                            <a:srgbClr val="000000"/>
                          </a:solidFill>
                          <a:latin typeface="Calibri"/>
                          <a:ea typeface="Calibri"/>
                          <a:cs typeface="Calibri"/>
                        </a:rPr>
                        <a:t>Every run path, recorded control, input hash and status in the CSV</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4"/>
                  </a:ext>
                </a:extLst>
              </a:tr>
              <a:tr h="603250">
                <a:tc>
                  <a:txBody>
                    <a:bodyPr/>
                    <a:lstStyle/>
                    <a:p>
                      <a:r>
                        <a:rPr sz="1650" b="0">
                          <a:solidFill>
                            <a:srgbClr val="000000"/>
                          </a:solidFill>
                          <a:latin typeface="Calibri"/>
                          <a:ea typeface="Calibri"/>
                          <a:cs typeface="Calibri"/>
                        </a:rPr>
                        <a:t>Interpretation</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650" b="0">
                          <a:solidFill>
                            <a:srgbClr val="000000"/>
                          </a:solidFill>
                          <a:latin typeface="Calibri"/>
                          <a:ea typeface="Calibri"/>
                          <a:cs typeface="Calibri"/>
                        </a:rPr>
                        <a:t>A sampled minimum is conditional on the grid, assumptions and screens</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013774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295F16A-CB9D-4E67-8FCF-B0B6B72C7AC7}"/>
              </a:ext>
            </a:extLst>
          </p:cNvPr>
          <p:cNvSpPr>
            <a:spLocks noGrp="1"/>
          </p:cNvSpPr>
          <p:nvPr/>
        </p:nvSpPr>
        <p:spPr>
          <a:xfrm>
            <a:off x="838200" y="361950"/>
            <a:ext cx="10572750" cy="495300"/>
          </a:xfrm>
          <a:prstGeom prst="rect">
            <a:avLst/>
          </a:prstGeom>
          <a:noFill/>
          <a:ln w="0">
            <a:noFill/>
          </a:ln>
        </p:spPr>
        <p:txBody>
          <a:bodyPr lIns="0" tIns="0" rIns="0" bIns="0"/>
          <a:lstStyle>
            <a:defPPr>
              <a:defRPr sz="2400" b="1">
                <a:solidFill>
                  <a:srgbClr val="000000"/>
                </a:solidFill>
                <a:latin typeface="Calibri"/>
                <a:ea typeface="Calibri"/>
                <a:cs typeface="Calibri"/>
              </a:defRPr>
            </a:defPPr>
            <a:lvl1pPr>
              <a:defRPr sz="2400" b="1">
                <a:solidFill>
                  <a:srgbClr val="000000"/>
                </a:solidFill>
                <a:latin typeface="Calibri"/>
                <a:ea typeface="Calibri"/>
                <a:cs typeface="Calibri"/>
              </a:defRPr>
            </a:lvl1pPr>
            <a:lvl2pPr>
              <a:defRPr sz="2400" b="1">
                <a:solidFill>
                  <a:srgbClr val="000000"/>
                </a:solidFill>
                <a:latin typeface="Calibri"/>
                <a:ea typeface="Calibri"/>
                <a:cs typeface="Calibri"/>
              </a:defRPr>
            </a:lvl2pPr>
            <a:lvl3pPr>
              <a:defRPr sz="2400" b="1">
                <a:solidFill>
                  <a:srgbClr val="000000"/>
                </a:solidFill>
                <a:latin typeface="Calibri"/>
                <a:ea typeface="Calibri"/>
                <a:cs typeface="Calibri"/>
              </a:defRPr>
            </a:lvl3pPr>
            <a:lvl4pPr>
              <a:defRPr sz="2400" b="1">
                <a:solidFill>
                  <a:srgbClr val="000000"/>
                </a:solidFill>
                <a:latin typeface="Calibri"/>
                <a:ea typeface="Calibri"/>
                <a:cs typeface="Calibri"/>
              </a:defRPr>
            </a:lvl4pPr>
            <a:lvl5pPr>
              <a:defRPr sz="2400" b="1">
                <a:solidFill>
                  <a:srgbClr val="000000"/>
                </a:solidFill>
                <a:latin typeface="Calibri"/>
                <a:ea typeface="Calibri"/>
                <a:cs typeface="Calibri"/>
              </a:defRPr>
            </a:lvl5pPr>
            <a:lvl6pPr>
              <a:defRPr sz="2400" b="1">
                <a:solidFill>
                  <a:srgbClr val="000000"/>
                </a:solidFill>
                <a:latin typeface="Calibri"/>
                <a:ea typeface="Calibri"/>
                <a:cs typeface="Calibri"/>
              </a:defRPr>
            </a:lvl6pPr>
            <a:lvl7pPr>
              <a:defRPr sz="2400" b="1">
                <a:solidFill>
                  <a:srgbClr val="000000"/>
                </a:solidFill>
                <a:latin typeface="Calibri"/>
                <a:ea typeface="Calibri"/>
                <a:cs typeface="Calibri"/>
              </a:defRPr>
            </a:lvl7pPr>
            <a:lvl8pPr>
              <a:defRPr sz="2400" b="1">
                <a:solidFill>
                  <a:srgbClr val="000000"/>
                </a:solidFill>
                <a:latin typeface="Calibri"/>
                <a:ea typeface="Calibri"/>
                <a:cs typeface="Calibri"/>
              </a:defRPr>
            </a:lvl8pPr>
            <a:lvl9pPr>
              <a:defRPr sz="2400" b="1">
                <a:solidFill>
                  <a:srgbClr val="000000"/>
                </a:solidFill>
                <a:latin typeface="Calibri"/>
                <a:ea typeface="Calibri"/>
                <a:cs typeface="Calibri"/>
              </a:defRPr>
            </a:lvl9pPr>
          </a:lstStyle>
          <a:p>
            <a:pPr>
              <a:defRPr sz="2400" b="1">
                <a:solidFill>
                  <a:srgbClr val="000000"/>
                </a:solidFill>
                <a:latin typeface="Calibri"/>
                <a:ea typeface="Calibri"/>
                <a:cs typeface="Calibri"/>
              </a:defRPr>
            </a:pPr>
            <a:r>
              <a:rPr sz="2400" b="1">
                <a:solidFill>
                  <a:srgbClr val="000000"/>
                </a:solidFill>
                <a:latin typeface="Calibri"/>
                <a:ea typeface="Calibri"/>
                <a:cs typeface="Calibri"/>
              </a:rPr>
              <a:t>UAV clean-sheet searches: common loading grid</a:t>
            </a:r>
          </a:p>
        </p:txBody>
      </p:sp>
      <p:sp>
        <p:nvSpPr>
          <p:cNvPr id="2" name="Rectangle 1">
            <a:extLst>
              <a:ext uri="{FF2B5EF4-FFF2-40B4-BE49-F238E27FC236}">
                <a16:creationId xmlns:a16="http://schemas.microsoft.com/office/drawing/2014/main" id="{63FEF6DD-3E7B-4058-8378-5A4FE818C4EE}"/>
              </a:ext>
            </a:extLst>
          </p:cNvPr>
          <p:cNvSpPr>
            <a:spLocks noGrp="1"/>
          </p:cNvSpPr>
          <p:nvPr/>
        </p:nvSpPr>
        <p:spPr>
          <a:xfrm>
            <a:off x="476250" y="1028700"/>
            <a:ext cx="11239500" cy="590550"/>
          </a:xfrm>
          <a:prstGeom prst="rect">
            <a:avLst/>
          </a:prstGeom>
          <a:noFill/>
          <a:ln w="0">
            <a:noFill/>
          </a:ln>
        </p:spPr>
        <p:txBody>
          <a:bodyPr lIns="0" tIns="0" rIns="0" bIns="0"/>
          <a:lstStyle>
            <a:defPPr>
              <a:defRPr sz="1575" b="0">
                <a:solidFill>
                  <a:srgbClr val="333333"/>
                </a:solidFill>
                <a:latin typeface="Calibri"/>
                <a:ea typeface="Calibri"/>
                <a:cs typeface="Calibri"/>
              </a:defRPr>
            </a:defPPr>
            <a:lvl1pPr>
              <a:defRPr sz="1575" b="0">
                <a:solidFill>
                  <a:srgbClr val="333333"/>
                </a:solidFill>
                <a:latin typeface="Calibri"/>
                <a:ea typeface="Calibri"/>
                <a:cs typeface="Calibri"/>
              </a:defRPr>
            </a:lvl1pPr>
            <a:lvl2pPr>
              <a:defRPr sz="1575" b="0">
                <a:solidFill>
                  <a:srgbClr val="333333"/>
                </a:solidFill>
                <a:latin typeface="Calibri"/>
                <a:ea typeface="Calibri"/>
                <a:cs typeface="Calibri"/>
              </a:defRPr>
            </a:lvl2pPr>
            <a:lvl3pPr>
              <a:defRPr sz="1575" b="0">
                <a:solidFill>
                  <a:srgbClr val="333333"/>
                </a:solidFill>
                <a:latin typeface="Calibri"/>
                <a:ea typeface="Calibri"/>
                <a:cs typeface="Calibri"/>
              </a:defRPr>
            </a:lvl3pPr>
            <a:lvl4pPr>
              <a:defRPr sz="1575" b="0">
                <a:solidFill>
                  <a:srgbClr val="333333"/>
                </a:solidFill>
                <a:latin typeface="Calibri"/>
                <a:ea typeface="Calibri"/>
                <a:cs typeface="Calibri"/>
              </a:defRPr>
            </a:lvl4pPr>
            <a:lvl5pPr>
              <a:defRPr sz="1575" b="0">
                <a:solidFill>
                  <a:srgbClr val="333333"/>
                </a:solidFill>
                <a:latin typeface="Calibri"/>
                <a:ea typeface="Calibri"/>
                <a:cs typeface="Calibri"/>
              </a:defRPr>
            </a:lvl5pPr>
            <a:lvl6pPr>
              <a:defRPr sz="1575" b="0">
                <a:solidFill>
                  <a:srgbClr val="333333"/>
                </a:solidFill>
                <a:latin typeface="Calibri"/>
                <a:ea typeface="Calibri"/>
                <a:cs typeface="Calibri"/>
              </a:defRPr>
            </a:lvl6pPr>
            <a:lvl7pPr>
              <a:defRPr sz="1575" b="0">
                <a:solidFill>
                  <a:srgbClr val="333333"/>
                </a:solidFill>
                <a:latin typeface="Calibri"/>
                <a:ea typeface="Calibri"/>
                <a:cs typeface="Calibri"/>
              </a:defRPr>
            </a:lvl7pPr>
            <a:lvl8pPr>
              <a:defRPr sz="1575" b="0">
                <a:solidFill>
                  <a:srgbClr val="333333"/>
                </a:solidFill>
                <a:latin typeface="Calibri"/>
                <a:ea typeface="Calibri"/>
                <a:cs typeface="Calibri"/>
              </a:defRPr>
            </a:lvl8pPr>
            <a:lvl9pPr>
              <a:defRPr sz="1575" b="0">
                <a:solidFill>
                  <a:srgbClr val="333333"/>
                </a:solidFill>
                <a:latin typeface="Calibri"/>
                <a:ea typeface="Calibri"/>
                <a:cs typeface="Calibri"/>
              </a:defRPr>
            </a:lvl9pPr>
          </a:lstStyle>
          <a:p>
            <a:pPr>
              <a:defRPr sz="1575" b="0">
                <a:solidFill>
                  <a:srgbClr val="333333"/>
                </a:solidFill>
                <a:latin typeface="Calibri"/>
                <a:ea typeface="Calibri"/>
                <a:cs typeface="Calibri"/>
              </a:defRPr>
            </a:pPr>
            <a:r>
              <a:rPr sz="1575" b="0">
                <a:solidFill>
                  <a:srgbClr val="333333"/>
                </a:solidFill>
                <a:latin typeface="Calibri"/>
                <a:ea typeface="Calibri"/>
                <a:cs typeface="Calibri"/>
              </a:rPr>
              <a:t>Mechanical piston tiltrotor and piston/electric lift + cruise both received physical loading sweeps. [A, B]</a:t>
            </a:r>
          </a:p>
        </p:txBody>
      </p:sp>
      <p:sp>
        <p:nvSpPr>
          <p:cNvPr id="3" name="Rectangle 2">
            <a:extLst>
              <a:ext uri="{FF2B5EF4-FFF2-40B4-BE49-F238E27FC236}">
                <a16:creationId xmlns:a16="http://schemas.microsoft.com/office/drawing/2014/main" id="{F959F0CC-83F6-4796-85D5-4E34CCB4E0B3}"/>
              </a:ext>
            </a:extLst>
          </p:cNvPr>
          <p:cNvSpPr>
            <a:spLocks noGrp="1"/>
          </p:cNvSpPr>
          <p:nvPr/>
        </p:nvSpPr>
        <p:spPr>
          <a:xfrm>
            <a:off x="476250" y="6076950"/>
            <a:ext cx="11191875" cy="619125"/>
          </a:xfrm>
          <a:prstGeom prst="rect">
            <a:avLst/>
          </a:prstGeom>
          <a:noFill/>
          <a:ln w="0">
            <a:noFill/>
          </a:ln>
        </p:spPr>
        <p:txBody>
          <a:bodyPr lIns="0" tIns="0" rIns="0" bIns="0"/>
          <a:lstStyle>
            <a:defPPr>
              <a:defRPr sz="1050" b="0">
                <a:solidFill>
                  <a:srgbClr val="333333"/>
                </a:solidFill>
                <a:latin typeface="Calibri"/>
                <a:ea typeface="Calibri"/>
                <a:cs typeface="Calibri"/>
              </a:defRPr>
            </a:defPPr>
            <a:lvl1pPr>
              <a:defRPr sz="1050" b="0">
                <a:solidFill>
                  <a:srgbClr val="333333"/>
                </a:solidFill>
                <a:latin typeface="Calibri"/>
                <a:ea typeface="Calibri"/>
                <a:cs typeface="Calibri"/>
              </a:defRPr>
            </a:lvl1pPr>
            <a:lvl2pPr>
              <a:defRPr sz="1050" b="0">
                <a:solidFill>
                  <a:srgbClr val="333333"/>
                </a:solidFill>
                <a:latin typeface="Calibri"/>
                <a:ea typeface="Calibri"/>
                <a:cs typeface="Calibri"/>
              </a:defRPr>
            </a:lvl2pPr>
            <a:lvl3pPr>
              <a:defRPr sz="1050" b="0">
                <a:solidFill>
                  <a:srgbClr val="333333"/>
                </a:solidFill>
                <a:latin typeface="Calibri"/>
                <a:ea typeface="Calibri"/>
                <a:cs typeface="Calibri"/>
              </a:defRPr>
            </a:lvl3pPr>
            <a:lvl4pPr>
              <a:defRPr sz="1050" b="0">
                <a:solidFill>
                  <a:srgbClr val="333333"/>
                </a:solidFill>
                <a:latin typeface="Calibri"/>
                <a:ea typeface="Calibri"/>
                <a:cs typeface="Calibri"/>
              </a:defRPr>
            </a:lvl4pPr>
            <a:lvl5pPr>
              <a:defRPr sz="1050" b="0">
                <a:solidFill>
                  <a:srgbClr val="333333"/>
                </a:solidFill>
                <a:latin typeface="Calibri"/>
                <a:ea typeface="Calibri"/>
                <a:cs typeface="Calibri"/>
              </a:defRPr>
            </a:lvl5pPr>
            <a:lvl6pPr>
              <a:defRPr sz="1050" b="0">
                <a:solidFill>
                  <a:srgbClr val="333333"/>
                </a:solidFill>
                <a:latin typeface="Calibri"/>
                <a:ea typeface="Calibri"/>
                <a:cs typeface="Calibri"/>
              </a:defRPr>
            </a:lvl6pPr>
            <a:lvl7pPr>
              <a:defRPr sz="1050" b="0">
                <a:solidFill>
                  <a:srgbClr val="333333"/>
                </a:solidFill>
                <a:latin typeface="Calibri"/>
                <a:ea typeface="Calibri"/>
                <a:cs typeface="Calibri"/>
              </a:defRPr>
            </a:lvl7pPr>
            <a:lvl8pPr>
              <a:defRPr sz="1050" b="0">
                <a:solidFill>
                  <a:srgbClr val="333333"/>
                </a:solidFill>
                <a:latin typeface="Calibri"/>
                <a:ea typeface="Calibri"/>
                <a:cs typeface="Calibri"/>
              </a:defRPr>
            </a:lvl8pPr>
            <a:lvl9pPr>
              <a:defRPr sz="1050" b="0">
                <a:solidFill>
                  <a:srgbClr val="333333"/>
                </a:solidFill>
                <a:latin typeface="Calibri"/>
                <a:ea typeface="Calibri"/>
                <a:cs typeface="Calibri"/>
              </a:defRPr>
            </a:lvl9pPr>
          </a:lstStyle>
          <a:p>
            <a:pPr>
              <a:defRPr sz="1050" b="0">
                <a:solidFill>
                  <a:srgbClr val="333333"/>
                </a:solidFill>
                <a:latin typeface="Calibri"/>
                <a:ea typeface="Calibri"/>
                <a:cs typeface="Calibri"/>
              </a:defRPr>
            </a:pPr>
            <a:r>
              <a:rPr sz="1050" b="0">
                <a:solidFill>
                  <a:srgbClr val="333333"/>
                </a:solidFill>
                <a:latin typeface="Calibri"/>
                <a:ea typeface="Calibri"/>
                <a:cs typeface="Calibri"/>
              </a:rPr>
              <a:t>[C] scripts/current_trade_campaign.py; campaigns current-trades-2026-10-21; exact runs and controls in [B].</a:t>
            </a:r>
          </a:p>
          <a:p>
            <a:pPr>
              <a:defRPr sz="1050" b="0">
                <a:solidFill>
                  <a:srgbClr val="333333"/>
                </a:solidFill>
                <a:latin typeface="Calibri"/>
                <a:ea typeface="Calibri"/>
                <a:cs typeface="Calibri"/>
              </a:defRPr>
            </a:pPr>
            <a:r>
              <a:rPr sz="1050" b="0">
                <a:solidFill>
                  <a:srgbClr val="333333"/>
                </a:solidFill>
                <a:latin typeface="Calibri"/>
                <a:ea typeface="Calibri"/>
                <a:cs typeface="Calibri"/>
              </a:rPr>
              <a:t>[A] NDARC execution archive, 28 Oct 2026: organized_runs/inventory.json; run_logs/*.jsonl; original runs/ inputs and outputs.</a:t>
            </a:r>
          </a:p>
        </p:txBody>
      </p:sp>
      <p:sp>
        <p:nvSpPr>
          <p:cNvPr id="4" name="Rectangle 3">
            <a:extLst>
              <a:ext uri="{FF2B5EF4-FFF2-40B4-BE49-F238E27FC236}">
                <a16:creationId xmlns:a16="http://schemas.microsoft.com/office/drawing/2014/main" id="{7EE9783A-2412-42F2-A5B3-A7A7529FE4DA}"/>
              </a:ext>
            </a:extLst>
          </p:cNvPr>
          <p:cNvSpPr>
            <a:spLocks noGrp="1"/>
          </p:cNvSpPr>
          <p:nvPr/>
        </p:nvSpPr>
        <p:spPr>
          <a:xfrm>
            <a:off x="11430000" y="6553200"/>
            <a:ext cx="333375" cy="209550"/>
          </a:xfrm>
          <a:prstGeom prst="rect">
            <a:avLst/>
          </a:prstGeom>
          <a:noFill/>
          <a:ln w="0">
            <a:noFill/>
          </a:ln>
        </p:spPr>
        <p:txBody>
          <a:bodyPr lIns="0" tIns="0" rIns="0" bIns="0"/>
          <a:lstStyle>
            <a:defPPr>
              <a:defRPr sz="1125" b="0">
                <a:solidFill>
                  <a:srgbClr val="000000"/>
                </a:solidFill>
                <a:latin typeface="Calibri"/>
                <a:ea typeface="Calibri"/>
                <a:cs typeface="Calibri"/>
              </a:defRPr>
            </a:defPPr>
            <a:lvl1pPr>
              <a:defRPr sz="1125" b="0">
                <a:solidFill>
                  <a:srgbClr val="000000"/>
                </a:solidFill>
                <a:latin typeface="Calibri"/>
                <a:ea typeface="Calibri"/>
                <a:cs typeface="Calibri"/>
              </a:defRPr>
            </a:lvl1pPr>
            <a:lvl2pPr>
              <a:defRPr sz="1125" b="0">
                <a:solidFill>
                  <a:srgbClr val="000000"/>
                </a:solidFill>
                <a:latin typeface="Calibri"/>
                <a:ea typeface="Calibri"/>
                <a:cs typeface="Calibri"/>
              </a:defRPr>
            </a:lvl2pPr>
            <a:lvl3pPr>
              <a:defRPr sz="1125" b="0">
                <a:solidFill>
                  <a:srgbClr val="000000"/>
                </a:solidFill>
                <a:latin typeface="Calibri"/>
                <a:ea typeface="Calibri"/>
                <a:cs typeface="Calibri"/>
              </a:defRPr>
            </a:lvl3pPr>
            <a:lvl4pPr>
              <a:defRPr sz="1125" b="0">
                <a:solidFill>
                  <a:srgbClr val="000000"/>
                </a:solidFill>
                <a:latin typeface="Calibri"/>
                <a:ea typeface="Calibri"/>
                <a:cs typeface="Calibri"/>
              </a:defRPr>
            </a:lvl4pPr>
            <a:lvl5pPr>
              <a:defRPr sz="1125" b="0">
                <a:solidFill>
                  <a:srgbClr val="000000"/>
                </a:solidFill>
                <a:latin typeface="Calibri"/>
                <a:ea typeface="Calibri"/>
                <a:cs typeface="Calibri"/>
              </a:defRPr>
            </a:lvl5pPr>
            <a:lvl6pPr>
              <a:defRPr sz="1125" b="0">
                <a:solidFill>
                  <a:srgbClr val="000000"/>
                </a:solidFill>
                <a:latin typeface="Calibri"/>
                <a:ea typeface="Calibri"/>
                <a:cs typeface="Calibri"/>
              </a:defRPr>
            </a:lvl6pPr>
            <a:lvl7pPr>
              <a:defRPr sz="1125" b="0">
                <a:solidFill>
                  <a:srgbClr val="000000"/>
                </a:solidFill>
                <a:latin typeface="Calibri"/>
                <a:ea typeface="Calibri"/>
                <a:cs typeface="Calibri"/>
              </a:defRPr>
            </a:lvl7pPr>
            <a:lvl8pPr>
              <a:defRPr sz="1125" b="0">
                <a:solidFill>
                  <a:srgbClr val="000000"/>
                </a:solidFill>
                <a:latin typeface="Calibri"/>
                <a:ea typeface="Calibri"/>
                <a:cs typeface="Calibri"/>
              </a:defRPr>
            </a:lvl8pPr>
            <a:lvl9pPr>
              <a:defRPr sz="1125" b="0">
                <a:solidFill>
                  <a:srgbClr val="000000"/>
                </a:solidFill>
                <a:latin typeface="Calibri"/>
                <a:ea typeface="Calibri"/>
                <a:cs typeface="Calibri"/>
              </a:defRPr>
            </a:lvl9pPr>
          </a:lstStyle>
          <a:p>
            <a:pPr>
              <a:defRPr sz="1125" b="0">
                <a:solidFill>
                  <a:srgbClr val="000000"/>
                </a:solidFill>
                <a:latin typeface="Calibri"/>
                <a:ea typeface="Calibri"/>
                <a:cs typeface="Calibri"/>
              </a:defRPr>
            </a:pPr>
            <a:r>
              <a:rPr sz="1125" b="0">
                <a:solidFill>
                  <a:srgbClr val="000000"/>
                </a:solidFill>
                <a:latin typeface="Calibri"/>
                <a:ea typeface="Calibri"/>
                <a:cs typeface="Calibri"/>
              </a:rPr>
              <a:t>39</a:t>
            </a:r>
          </a:p>
        </p:txBody>
      </p:sp>
      <p:graphicFrame>
        <p:nvGraphicFramePr>
          <p:cNvPr id="5" name="Table 4">
            <a:extLst>
              <a:ext uri="{FF2B5EF4-FFF2-40B4-BE49-F238E27FC236}">
                <a16:creationId xmlns:a16="http://schemas.microsoft.com/office/drawing/2014/main" id="{A7BDE20D-85FF-457E-BB7A-795FC3F261D4}"/>
              </a:ext>
            </a:extLst>
          </p:cNvPr>
          <p:cNvGraphicFramePr/>
          <p:nvPr/>
        </p:nvGraphicFramePr>
        <p:xfrm>
          <a:off x="476250" y="1714500"/>
          <a:ext cx="11239500" cy="4000500"/>
        </p:xfrm>
        <a:graphic>
          <a:graphicData uri="http://schemas.openxmlformats.org/drawingml/2006/table">
            <a:tbl>
              <a:tblPr/>
              <a:tblGrid>
                <a:gridCol w="3095625">
                  <a:extLst>
                    <a:ext uri="{9D8B030D-6E8A-4147-A177-3AD203B41FA5}">
                      <a16:colId xmlns:a16="http://schemas.microsoft.com/office/drawing/2014/main" val="20000"/>
                    </a:ext>
                  </a:extLst>
                </a:gridCol>
                <a:gridCol w="8143875">
                  <a:extLst>
                    <a:ext uri="{9D8B030D-6E8A-4147-A177-3AD203B41FA5}">
                      <a16:colId xmlns:a16="http://schemas.microsoft.com/office/drawing/2014/main" val="20001"/>
                    </a:ext>
                  </a:extLst>
                </a:gridCol>
              </a:tblGrid>
              <a:tr h="571500">
                <a:tc>
                  <a:txBody>
                    <a:bodyPr/>
                    <a:lstStyle/>
                    <a:p>
                      <a:r>
                        <a:rPr sz="1500" b="1">
                          <a:solidFill>
                            <a:srgbClr val="000000"/>
                          </a:solidFill>
                          <a:latin typeface="Calibri"/>
                          <a:ea typeface="Calibri"/>
                          <a:cs typeface="Calibri"/>
                        </a:rPr>
                        <a:t>Control</a:t>
                      </a:r>
                    </a:p>
                  </a:txBody>
                  <a:tcPr>
                    <a:lnL w="7620">
                      <a:solidFill>
                        <a:srgbClr val="CCCCCC"/>
                      </a:solidFill>
                    </a:lnL>
                    <a:lnR w="7620">
                      <a:solidFill>
                        <a:srgbClr val="CCCCCC"/>
                      </a:solidFill>
                    </a:lnR>
                    <a:lnT w="7620">
                      <a:solidFill>
                        <a:srgbClr val="CCCCCC"/>
                      </a:solidFill>
                    </a:lnT>
                    <a:lnB w="7620">
                      <a:solidFill>
                        <a:srgbClr val="CCCCCC"/>
                      </a:solidFill>
                    </a:lnB>
                    <a:solidFill>
                      <a:srgbClr val="D9D9D9"/>
                    </a:solidFill>
                  </a:tcPr>
                </a:tc>
                <a:tc>
                  <a:txBody>
                    <a:bodyPr/>
                    <a:lstStyle/>
                    <a:p>
                      <a:r>
                        <a:rPr sz="1500" b="1">
                          <a:solidFill>
                            <a:srgbClr val="000000"/>
                          </a:solidFill>
                          <a:latin typeface="Calibri"/>
                          <a:ea typeface="Calibri"/>
                          <a:cs typeface="Calibri"/>
                        </a:rPr>
                        <a:t>Explored settings / fixed assumptions [C]</a:t>
                      </a:r>
                    </a:p>
                  </a:txBody>
                  <a:tcPr>
                    <a:lnL w="7620" cap="flat" cmpd="sng" algn="ctr">
                      <a:solidFill>
                        <a:srgbClr val="CCCCCC"/>
                      </a:solidFill>
                      <a:prstDash val="solid"/>
                      <a:round/>
                      <a:headEnd type="none" w="med" len="med"/>
                      <a:tailEnd type="none" w="med" len="med"/>
                    </a:lnL>
                    <a:lnR w="7620">
                      <a:solidFill>
                        <a:srgbClr val="CCCCCC"/>
                      </a:solidFill>
                    </a:lnR>
                    <a:lnT w="7620">
                      <a:solidFill>
                        <a:srgbClr val="CCCCCC"/>
                      </a:solidFill>
                    </a:lnT>
                    <a:lnB w="7620">
                      <a:solidFill>
                        <a:srgbClr val="CCCCCC"/>
                      </a:solidFill>
                    </a:lnB>
                    <a:solidFill>
                      <a:srgbClr val="D9D9D9"/>
                    </a:solidFill>
                  </a:tcPr>
                </a:tc>
                <a:extLst>
                  <a:ext uri="{0D108BD9-81ED-4DB2-BD59-A6C34878D82A}">
                    <a16:rowId xmlns:a16="http://schemas.microsoft.com/office/drawing/2014/main" val="10000"/>
                  </a:ext>
                </a:extLst>
              </a:tr>
              <a:tr h="571500">
                <a:tc>
                  <a:txBody>
                    <a:bodyPr/>
                    <a:lstStyle/>
                    <a:p>
                      <a:r>
                        <a:rPr sz="1500" b="0">
                          <a:solidFill>
                            <a:srgbClr val="000000"/>
                          </a:solidFill>
                          <a:latin typeface="Calibri"/>
                          <a:ea typeface="Calibri"/>
                          <a:cs typeface="Calibri"/>
                        </a:rPr>
                        <a:t>Disk loading, kg/m²</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15, 22, 30, 40, 55, 70</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1"/>
                  </a:ext>
                </a:extLst>
              </a:tr>
              <a:tr h="571500">
                <a:tc>
                  <a:txBody>
                    <a:bodyPr/>
                    <a:lstStyle/>
                    <a:p>
                      <a:r>
                        <a:rPr sz="1500" b="0">
                          <a:solidFill>
                            <a:srgbClr val="000000"/>
                          </a:solidFill>
                          <a:latin typeface="Calibri"/>
                          <a:ea typeface="Calibri"/>
                          <a:cs typeface="Calibri"/>
                        </a:rPr>
                        <a:t>Wing loading, kg/m²</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60, 85, 110, 135, 160</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2"/>
                  </a:ext>
                </a:extLst>
              </a:tr>
              <a:tr h="571500">
                <a:tc>
                  <a:txBody>
                    <a:bodyPr/>
                    <a:lstStyle/>
                    <a:p>
                      <a:r>
                        <a:rPr sz="1500" b="0">
                          <a:solidFill>
                            <a:srgbClr val="000000"/>
                          </a:solidFill>
                          <a:latin typeface="Calibri"/>
                          <a:ea typeface="Calibri"/>
                          <a:cs typeface="Calibri"/>
                        </a:rPr>
                        <a:t>Search structure</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30 nominal grid pairs per architecture, plus reference / local / repeat checks</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3"/>
                  </a:ext>
                </a:extLst>
              </a:tr>
              <a:tr h="571500">
                <a:tc>
                  <a:txBody>
                    <a:bodyPr/>
                    <a:lstStyle/>
                    <a:p>
                      <a:r>
                        <a:rPr sz="1500" b="0">
                          <a:solidFill>
                            <a:srgbClr val="000000"/>
                          </a:solidFill>
                          <a:latin typeface="Calibri"/>
                          <a:ea typeface="Calibri"/>
                          <a:cs typeface="Calibri"/>
                        </a:rPr>
                        <a:t>Common mission</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30 kg payload, 5 h airborne, 3,000 m, 140 km/h level flight, zero added fuel reserve</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4"/>
                  </a:ext>
                </a:extLst>
              </a:tr>
              <a:tr h="571500">
                <a:tc>
                  <a:txBody>
                    <a:bodyPr/>
                    <a:lstStyle/>
                    <a:p>
                      <a:r>
                        <a:rPr sz="1500" b="0">
                          <a:solidFill>
                            <a:srgbClr val="000000"/>
                          </a:solidFill>
                          <a:latin typeface="Calibri"/>
                          <a:ea typeface="Calibri"/>
                          <a:cs typeface="Calibri"/>
                        </a:rPr>
                        <a:t>Geometry policy</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L+C span 7 m. Tiltrotor aspect ratio 7. Gross mass and geometry size freely.</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5"/>
                  </a:ext>
                </a:extLst>
              </a:tr>
              <a:tr h="571500">
                <a:tc>
                  <a:txBody>
                    <a:bodyPr/>
                    <a:lstStyle/>
                    <a:p>
                      <a:r>
                        <a:rPr sz="1500" b="0">
                          <a:solidFill>
                            <a:srgbClr val="000000"/>
                          </a:solidFill>
                          <a:latin typeface="Calibri"/>
                          <a:ea typeface="Calibri"/>
                          <a:cs typeface="Calibri"/>
                        </a:rPr>
                        <a:t>Historical limitation</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Earlier vertical climb was 17.14 s. Later 30 s checks reran selected designs only.</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0284442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954C65D-DC8B-4F24-8B27-0CA0D68304A6}"/>
              </a:ext>
            </a:extLst>
          </p:cNvPr>
          <p:cNvSpPr>
            <a:spLocks noGrp="1"/>
          </p:cNvSpPr>
          <p:nvPr/>
        </p:nvSpPr>
        <p:spPr>
          <a:xfrm>
            <a:off x="838200" y="361950"/>
            <a:ext cx="10572750" cy="495300"/>
          </a:xfrm>
          <a:prstGeom prst="rect">
            <a:avLst/>
          </a:prstGeom>
          <a:noFill/>
          <a:ln w="0">
            <a:noFill/>
          </a:ln>
        </p:spPr>
        <p:txBody>
          <a:bodyPr lIns="0" tIns="0" rIns="0" bIns="0"/>
          <a:lstStyle>
            <a:defPPr>
              <a:defRPr sz="2400" b="1">
                <a:solidFill>
                  <a:srgbClr val="000000"/>
                </a:solidFill>
                <a:latin typeface="Calibri"/>
                <a:ea typeface="Calibri"/>
                <a:cs typeface="Calibri"/>
              </a:defRPr>
            </a:defPPr>
            <a:lvl1pPr>
              <a:defRPr sz="2400" b="1">
                <a:solidFill>
                  <a:srgbClr val="000000"/>
                </a:solidFill>
                <a:latin typeface="Calibri"/>
                <a:ea typeface="Calibri"/>
                <a:cs typeface="Calibri"/>
              </a:defRPr>
            </a:lvl1pPr>
            <a:lvl2pPr>
              <a:defRPr sz="2400" b="1">
                <a:solidFill>
                  <a:srgbClr val="000000"/>
                </a:solidFill>
                <a:latin typeface="Calibri"/>
                <a:ea typeface="Calibri"/>
                <a:cs typeface="Calibri"/>
              </a:defRPr>
            </a:lvl2pPr>
            <a:lvl3pPr>
              <a:defRPr sz="2400" b="1">
                <a:solidFill>
                  <a:srgbClr val="000000"/>
                </a:solidFill>
                <a:latin typeface="Calibri"/>
                <a:ea typeface="Calibri"/>
                <a:cs typeface="Calibri"/>
              </a:defRPr>
            </a:lvl3pPr>
            <a:lvl4pPr>
              <a:defRPr sz="2400" b="1">
                <a:solidFill>
                  <a:srgbClr val="000000"/>
                </a:solidFill>
                <a:latin typeface="Calibri"/>
                <a:ea typeface="Calibri"/>
                <a:cs typeface="Calibri"/>
              </a:defRPr>
            </a:lvl4pPr>
            <a:lvl5pPr>
              <a:defRPr sz="2400" b="1">
                <a:solidFill>
                  <a:srgbClr val="000000"/>
                </a:solidFill>
                <a:latin typeface="Calibri"/>
                <a:ea typeface="Calibri"/>
                <a:cs typeface="Calibri"/>
              </a:defRPr>
            </a:lvl5pPr>
            <a:lvl6pPr>
              <a:defRPr sz="2400" b="1">
                <a:solidFill>
                  <a:srgbClr val="000000"/>
                </a:solidFill>
                <a:latin typeface="Calibri"/>
                <a:ea typeface="Calibri"/>
                <a:cs typeface="Calibri"/>
              </a:defRPr>
            </a:lvl6pPr>
            <a:lvl7pPr>
              <a:defRPr sz="2400" b="1">
                <a:solidFill>
                  <a:srgbClr val="000000"/>
                </a:solidFill>
                <a:latin typeface="Calibri"/>
                <a:ea typeface="Calibri"/>
                <a:cs typeface="Calibri"/>
              </a:defRPr>
            </a:lvl7pPr>
            <a:lvl8pPr>
              <a:defRPr sz="2400" b="1">
                <a:solidFill>
                  <a:srgbClr val="000000"/>
                </a:solidFill>
                <a:latin typeface="Calibri"/>
                <a:ea typeface="Calibri"/>
                <a:cs typeface="Calibri"/>
              </a:defRPr>
            </a:lvl8pPr>
            <a:lvl9pPr>
              <a:defRPr sz="2400" b="1">
                <a:solidFill>
                  <a:srgbClr val="000000"/>
                </a:solidFill>
                <a:latin typeface="Calibri"/>
                <a:ea typeface="Calibri"/>
                <a:cs typeface="Calibri"/>
              </a:defRPr>
            </a:lvl9pPr>
          </a:lstStyle>
          <a:p>
            <a:pPr>
              <a:defRPr sz="2400" b="1">
                <a:solidFill>
                  <a:srgbClr val="000000"/>
                </a:solidFill>
                <a:latin typeface="Calibri"/>
                <a:ea typeface="Calibri"/>
                <a:cs typeface="Calibri"/>
              </a:defRPr>
            </a:pPr>
            <a:r>
              <a:rPr sz="2400" b="1">
                <a:solidFill>
                  <a:srgbClr val="000000"/>
                </a:solidFill>
                <a:latin typeface="Calibri"/>
                <a:ea typeface="Calibri"/>
                <a:cs typeface="Calibri"/>
              </a:rPr>
              <a:t>Observed loading points: UAV trade campaigns</a:t>
            </a:r>
          </a:p>
        </p:txBody>
      </p:sp>
      <p:sp>
        <p:nvSpPr>
          <p:cNvPr id="2" name="Rectangle 1">
            <a:extLst>
              <a:ext uri="{FF2B5EF4-FFF2-40B4-BE49-F238E27FC236}">
                <a16:creationId xmlns:a16="http://schemas.microsoft.com/office/drawing/2014/main" id="{4E9D5056-DD71-4D9E-AE6D-5EADBF192D17}"/>
              </a:ext>
            </a:extLst>
          </p:cNvPr>
          <p:cNvSpPr>
            <a:spLocks noGrp="1"/>
          </p:cNvSpPr>
          <p:nvPr/>
        </p:nvSpPr>
        <p:spPr>
          <a:xfrm>
            <a:off x="476250" y="1028700"/>
            <a:ext cx="11239500" cy="590550"/>
          </a:xfrm>
          <a:prstGeom prst="rect">
            <a:avLst/>
          </a:prstGeom>
          <a:noFill/>
          <a:ln w="0">
            <a:noFill/>
          </a:ln>
        </p:spPr>
        <p:txBody>
          <a:bodyPr lIns="0" tIns="0" rIns="0" bIns="0"/>
          <a:lstStyle>
            <a:defPPr>
              <a:defRPr sz="1575" b="0">
                <a:solidFill>
                  <a:srgbClr val="333333"/>
                </a:solidFill>
                <a:latin typeface="Calibri"/>
                <a:ea typeface="Calibri"/>
                <a:cs typeface="Calibri"/>
              </a:defRPr>
            </a:defPPr>
            <a:lvl1pPr>
              <a:defRPr sz="1575" b="0">
                <a:solidFill>
                  <a:srgbClr val="333333"/>
                </a:solidFill>
                <a:latin typeface="Calibri"/>
                <a:ea typeface="Calibri"/>
                <a:cs typeface="Calibri"/>
              </a:defRPr>
            </a:lvl1pPr>
            <a:lvl2pPr>
              <a:defRPr sz="1575" b="0">
                <a:solidFill>
                  <a:srgbClr val="333333"/>
                </a:solidFill>
                <a:latin typeface="Calibri"/>
                <a:ea typeface="Calibri"/>
                <a:cs typeface="Calibri"/>
              </a:defRPr>
            </a:lvl2pPr>
            <a:lvl3pPr>
              <a:defRPr sz="1575" b="0">
                <a:solidFill>
                  <a:srgbClr val="333333"/>
                </a:solidFill>
                <a:latin typeface="Calibri"/>
                <a:ea typeface="Calibri"/>
                <a:cs typeface="Calibri"/>
              </a:defRPr>
            </a:lvl3pPr>
            <a:lvl4pPr>
              <a:defRPr sz="1575" b="0">
                <a:solidFill>
                  <a:srgbClr val="333333"/>
                </a:solidFill>
                <a:latin typeface="Calibri"/>
                <a:ea typeface="Calibri"/>
                <a:cs typeface="Calibri"/>
              </a:defRPr>
            </a:lvl4pPr>
            <a:lvl5pPr>
              <a:defRPr sz="1575" b="0">
                <a:solidFill>
                  <a:srgbClr val="333333"/>
                </a:solidFill>
                <a:latin typeface="Calibri"/>
                <a:ea typeface="Calibri"/>
                <a:cs typeface="Calibri"/>
              </a:defRPr>
            </a:lvl5pPr>
            <a:lvl6pPr>
              <a:defRPr sz="1575" b="0">
                <a:solidFill>
                  <a:srgbClr val="333333"/>
                </a:solidFill>
                <a:latin typeface="Calibri"/>
                <a:ea typeface="Calibri"/>
                <a:cs typeface="Calibri"/>
              </a:defRPr>
            </a:lvl6pPr>
            <a:lvl7pPr>
              <a:defRPr sz="1575" b="0">
                <a:solidFill>
                  <a:srgbClr val="333333"/>
                </a:solidFill>
                <a:latin typeface="Calibri"/>
                <a:ea typeface="Calibri"/>
                <a:cs typeface="Calibri"/>
              </a:defRPr>
            </a:lvl7pPr>
            <a:lvl8pPr>
              <a:defRPr sz="1575" b="0">
                <a:solidFill>
                  <a:srgbClr val="333333"/>
                </a:solidFill>
                <a:latin typeface="Calibri"/>
                <a:ea typeface="Calibri"/>
                <a:cs typeface="Calibri"/>
              </a:defRPr>
            </a:lvl8pPr>
            <a:lvl9pPr>
              <a:defRPr sz="1575" b="0">
                <a:solidFill>
                  <a:srgbClr val="333333"/>
                </a:solidFill>
                <a:latin typeface="Calibri"/>
                <a:ea typeface="Calibri"/>
                <a:cs typeface="Calibri"/>
              </a:defRPr>
            </a:lvl9pPr>
          </a:lstStyle>
          <a:p>
            <a:pPr>
              <a:defRPr sz="1575" b="0">
                <a:solidFill>
                  <a:srgbClr val="333333"/>
                </a:solidFill>
                <a:latin typeface="Calibri"/>
                <a:ea typeface="Calibri"/>
                <a:cs typeface="Calibri"/>
              </a:defRPr>
            </a:pPr>
            <a:r>
              <a:rPr sz="1575" b="0">
                <a:solidFill>
                  <a:srgbClr val="333333"/>
                </a:solidFill>
                <a:latin typeface="Calibri"/>
                <a:ea typeface="Calibri"/>
                <a:cs typeface="Calibri"/>
              </a:rPr>
              <a:t>Dots show recovered requested controls. Repeated outer iterations collapse to the same location. [A, B]</a:t>
            </a:r>
          </a:p>
        </p:txBody>
      </p:sp>
      <p:sp>
        <p:nvSpPr>
          <p:cNvPr id="3" name="Rectangle 2">
            <a:extLst>
              <a:ext uri="{FF2B5EF4-FFF2-40B4-BE49-F238E27FC236}">
                <a16:creationId xmlns:a16="http://schemas.microsoft.com/office/drawing/2014/main" id="{DE715B07-2B47-4F36-B84D-C9A865A92ABF}"/>
              </a:ext>
            </a:extLst>
          </p:cNvPr>
          <p:cNvSpPr>
            <a:spLocks noGrp="1"/>
          </p:cNvSpPr>
          <p:nvPr/>
        </p:nvSpPr>
        <p:spPr>
          <a:xfrm>
            <a:off x="476250" y="6076950"/>
            <a:ext cx="11191875" cy="619125"/>
          </a:xfrm>
          <a:prstGeom prst="rect">
            <a:avLst/>
          </a:prstGeom>
          <a:noFill/>
          <a:ln w="0">
            <a:noFill/>
          </a:ln>
        </p:spPr>
        <p:txBody>
          <a:bodyPr lIns="0" tIns="0" rIns="0" bIns="0"/>
          <a:lstStyle>
            <a:defPPr>
              <a:defRPr sz="1050" b="0">
                <a:solidFill>
                  <a:srgbClr val="333333"/>
                </a:solidFill>
                <a:latin typeface="Calibri"/>
                <a:ea typeface="Calibri"/>
                <a:cs typeface="Calibri"/>
              </a:defRPr>
            </a:defPPr>
            <a:lvl1pPr>
              <a:defRPr sz="1050" b="0">
                <a:solidFill>
                  <a:srgbClr val="333333"/>
                </a:solidFill>
                <a:latin typeface="Calibri"/>
                <a:ea typeface="Calibri"/>
                <a:cs typeface="Calibri"/>
              </a:defRPr>
            </a:lvl1pPr>
            <a:lvl2pPr>
              <a:defRPr sz="1050" b="0">
                <a:solidFill>
                  <a:srgbClr val="333333"/>
                </a:solidFill>
                <a:latin typeface="Calibri"/>
                <a:ea typeface="Calibri"/>
                <a:cs typeface="Calibri"/>
              </a:defRPr>
            </a:lvl2pPr>
            <a:lvl3pPr>
              <a:defRPr sz="1050" b="0">
                <a:solidFill>
                  <a:srgbClr val="333333"/>
                </a:solidFill>
                <a:latin typeface="Calibri"/>
                <a:ea typeface="Calibri"/>
                <a:cs typeface="Calibri"/>
              </a:defRPr>
            </a:lvl3pPr>
            <a:lvl4pPr>
              <a:defRPr sz="1050" b="0">
                <a:solidFill>
                  <a:srgbClr val="333333"/>
                </a:solidFill>
                <a:latin typeface="Calibri"/>
                <a:ea typeface="Calibri"/>
                <a:cs typeface="Calibri"/>
              </a:defRPr>
            </a:lvl4pPr>
            <a:lvl5pPr>
              <a:defRPr sz="1050" b="0">
                <a:solidFill>
                  <a:srgbClr val="333333"/>
                </a:solidFill>
                <a:latin typeface="Calibri"/>
                <a:ea typeface="Calibri"/>
                <a:cs typeface="Calibri"/>
              </a:defRPr>
            </a:lvl5pPr>
            <a:lvl6pPr>
              <a:defRPr sz="1050" b="0">
                <a:solidFill>
                  <a:srgbClr val="333333"/>
                </a:solidFill>
                <a:latin typeface="Calibri"/>
                <a:ea typeface="Calibri"/>
                <a:cs typeface="Calibri"/>
              </a:defRPr>
            </a:lvl6pPr>
            <a:lvl7pPr>
              <a:defRPr sz="1050" b="0">
                <a:solidFill>
                  <a:srgbClr val="333333"/>
                </a:solidFill>
                <a:latin typeface="Calibri"/>
                <a:ea typeface="Calibri"/>
                <a:cs typeface="Calibri"/>
              </a:defRPr>
            </a:lvl7pPr>
            <a:lvl8pPr>
              <a:defRPr sz="1050" b="0">
                <a:solidFill>
                  <a:srgbClr val="333333"/>
                </a:solidFill>
                <a:latin typeface="Calibri"/>
                <a:ea typeface="Calibri"/>
                <a:cs typeface="Calibri"/>
              </a:defRPr>
            </a:lvl8pPr>
            <a:lvl9pPr>
              <a:defRPr sz="1050" b="0">
                <a:solidFill>
                  <a:srgbClr val="333333"/>
                </a:solidFill>
                <a:latin typeface="Calibri"/>
                <a:ea typeface="Calibri"/>
                <a:cs typeface="Calibri"/>
              </a:defRPr>
            </a:lvl9pPr>
          </a:lstStyle>
          <a:p>
            <a:pPr>
              <a:defRPr sz="1050" b="0">
                <a:solidFill>
                  <a:srgbClr val="333333"/>
                </a:solidFill>
                <a:latin typeface="Calibri"/>
                <a:ea typeface="Calibri"/>
                <a:cs typeface="Calibri"/>
              </a:defRPr>
            </a:pPr>
            <a:r>
              <a:rPr sz="1050" b="0">
                <a:solidFill>
                  <a:srgbClr val="333333"/>
                </a:solidFill>
                <a:latin typeface="Calibri"/>
                <a:ea typeface="Calibri"/>
                <a:cs typeface="Calibri"/>
              </a:rPr>
              <a:t>[A] NDARC execution archive, 28 Oct 2026: organized_runs/inventory.json; run_logs/*.jsonl; original runs/ inputs and outputs.</a:t>
            </a:r>
          </a:p>
          <a:p>
            <a:pPr>
              <a:defRPr sz="1050" b="0">
                <a:solidFill>
                  <a:srgbClr val="333333"/>
                </a:solidFill>
                <a:latin typeface="Calibri"/>
                <a:ea typeface="Calibri"/>
                <a:cs typeface="Calibri"/>
              </a:defRPr>
            </a:pPr>
            <a:r>
              <a:rPr sz="1050" b="0">
                <a:solidFill>
                  <a:srgbClr val="333333"/>
                </a:solidFill>
                <a:latin typeface="Calibri"/>
                <a:ea typeface="Calibri"/>
                <a:cs typeface="Calibri"/>
              </a:rPr>
              <a:t>[B] design-space-evidence/campaign-design-space.json and all-run-design-points.csv (this deck folder). Exact marginal sets, plans, input hashes and status.</a:t>
            </a:r>
          </a:p>
        </p:txBody>
      </p:sp>
      <p:sp>
        <p:nvSpPr>
          <p:cNvPr id="4" name="Rectangle 3">
            <a:extLst>
              <a:ext uri="{FF2B5EF4-FFF2-40B4-BE49-F238E27FC236}">
                <a16:creationId xmlns:a16="http://schemas.microsoft.com/office/drawing/2014/main" id="{E6AF6AEE-5AD2-4497-BF68-F01893856A6F}"/>
              </a:ext>
            </a:extLst>
          </p:cNvPr>
          <p:cNvSpPr>
            <a:spLocks noGrp="1"/>
          </p:cNvSpPr>
          <p:nvPr/>
        </p:nvSpPr>
        <p:spPr>
          <a:xfrm>
            <a:off x="11430000" y="6553200"/>
            <a:ext cx="333375" cy="209550"/>
          </a:xfrm>
          <a:prstGeom prst="rect">
            <a:avLst/>
          </a:prstGeom>
          <a:noFill/>
          <a:ln w="0">
            <a:noFill/>
          </a:ln>
        </p:spPr>
        <p:txBody>
          <a:bodyPr lIns="0" tIns="0" rIns="0" bIns="0"/>
          <a:lstStyle>
            <a:defPPr>
              <a:defRPr sz="1125" b="0">
                <a:solidFill>
                  <a:srgbClr val="000000"/>
                </a:solidFill>
                <a:latin typeface="Calibri"/>
                <a:ea typeface="Calibri"/>
                <a:cs typeface="Calibri"/>
              </a:defRPr>
            </a:defPPr>
            <a:lvl1pPr>
              <a:defRPr sz="1125" b="0">
                <a:solidFill>
                  <a:srgbClr val="000000"/>
                </a:solidFill>
                <a:latin typeface="Calibri"/>
                <a:ea typeface="Calibri"/>
                <a:cs typeface="Calibri"/>
              </a:defRPr>
            </a:lvl1pPr>
            <a:lvl2pPr>
              <a:defRPr sz="1125" b="0">
                <a:solidFill>
                  <a:srgbClr val="000000"/>
                </a:solidFill>
                <a:latin typeface="Calibri"/>
                <a:ea typeface="Calibri"/>
                <a:cs typeface="Calibri"/>
              </a:defRPr>
            </a:lvl2pPr>
            <a:lvl3pPr>
              <a:defRPr sz="1125" b="0">
                <a:solidFill>
                  <a:srgbClr val="000000"/>
                </a:solidFill>
                <a:latin typeface="Calibri"/>
                <a:ea typeface="Calibri"/>
                <a:cs typeface="Calibri"/>
              </a:defRPr>
            </a:lvl3pPr>
            <a:lvl4pPr>
              <a:defRPr sz="1125" b="0">
                <a:solidFill>
                  <a:srgbClr val="000000"/>
                </a:solidFill>
                <a:latin typeface="Calibri"/>
                <a:ea typeface="Calibri"/>
                <a:cs typeface="Calibri"/>
              </a:defRPr>
            </a:lvl4pPr>
            <a:lvl5pPr>
              <a:defRPr sz="1125" b="0">
                <a:solidFill>
                  <a:srgbClr val="000000"/>
                </a:solidFill>
                <a:latin typeface="Calibri"/>
                <a:ea typeface="Calibri"/>
                <a:cs typeface="Calibri"/>
              </a:defRPr>
            </a:lvl5pPr>
            <a:lvl6pPr>
              <a:defRPr sz="1125" b="0">
                <a:solidFill>
                  <a:srgbClr val="000000"/>
                </a:solidFill>
                <a:latin typeface="Calibri"/>
                <a:ea typeface="Calibri"/>
                <a:cs typeface="Calibri"/>
              </a:defRPr>
            </a:lvl6pPr>
            <a:lvl7pPr>
              <a:defRPr sz="1125" b="0">
                <a:solidFill>
                  <a:srgbClr val="000000"/>
                </a:solidFill>
                <a:latin typeface="Calibri"/>
                <a:ea typeface="Calibri"/>
                <a:cs typeface="Calibri"/>
              </a:defRPr>
            </a:lvl7pPr>
            <a:lvl8pPr>
              <a:defRPr sz="1125" b="0">
                <a:solidFill>
                  <a:srgbClr val="000000"/>
                </a:solidFill>
                <a:latin typeface="Calibri"/>
                <a:ea typeface="Calibri"/>
                <a:cs typeface="Calibri"/>
              </a:defRPr>
            </a:lvl8pPr>
            <a:lvl9pPr>
              <a:defRPr sz="1125" b="0">
                <a:solidFill>
                  <a:srgbClr val="000000"/>
                </a:solidFill>
                <a:latin typeface="Calibri"/>
                <a:ea typeface="Calibri"/>
                <a:cs typeface="Calibri"/>
              </a:defRPr>
            </a:lvl9pPr>
          </a:lstStyle>
          <a:p>
            <a:pPr>
              <a:defRPr sz="1125" b="0">
                <a:solidFill>
                  <a:srgbClr val="000000"/>
                </a:solidFill>
                <a:latin typeface="Calibri"/>
                <a:ea typeface="Calibri"/>
                <a:cs typeface="Calibri"/>
              </a:defRPr>
            </a:pPr>
            <a:r>
              <a:rPr sz="1125" b="0">
                <a:solidFill>
                  <a:srgbClr val="000000"/>
                </a:solidFill>
                <a:latin typeface="Calibri"/>
                <a:ea typeface="Calibri"/>
                <a:cs typeface="Calibri"/>
              </a:rPr>
              <a:t>40</a:t>
            </a:r>
          </a:p>
        </p:txBody>
      </p:sp>
      <p:graphicFrame>
        <p:nvGraphicFramePr>
          <p:cNvPr id="5" name="Chart">
            <a:extLst>
              <a:ext uri="{FF2B5EF4-FFF2-40B4-BE49-F238E27FC236}">
                <a16:creationId xmlns:a16="http://schemas.microsoft.com/office/drawing/2014/main" id="{0F706C1B-764D-463D-93DD-8A678A8D3645}"/>
              </a:ext>
            </a:extLst>
          </p:cNvPr>
          <p:cNvGraphicFramePr/>
          <p:nvPr/>
        </p:nvGraphicFramePr>
        <p:xfrm>
          <a:off x="476250" y="1762125"/>
          <a:ext cx="5476875" cy="3381375"/>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id="{D6E25402-BBA8-47C5-9974-9AF72B941582}"/>
              </a:ext>
            </a:extLst>
          </p:cNvPr>
          <p:cNvSpPr>
            <a:spLocks noGrp="1"/>
          </p:cNvSpPr>
          <p:nvPr/>
        </p:nvSpPr>
        <p:spPr>
          <a:xfrm>
            <a:off x="666750" y="5334000"/>
            <a:ext cx="5334000" cy="333375"/>
          </a:xfrm>
          <a:prstGeom prst="rect">
            <a:avLst/>
          </a:prstGeom>
          <a:noFill/>
          <a:ln w="0">
            <a:noFill/>
          </a:ln>
        </p:spPr>
        <p:txBody>
          <a:bodyPr lIns="0" tIns="0" rIns="0" bIns="0"/>
          <a:lstStyle>
            <a:defPPr>
              <a:defRPr sz="1500" b="0">
                <a:solidFill>
                  <a:srgbClr val="000000"/>
                </a:solidFill>
                <a:latin typeface="Calibri"/>
                <a:ea typeface="Calibri"/>
                <a:cs typeface="Calibri"/>
              </a:defRPr>
            </a:defPPr>
            <a:lvl1pPr>
              <a:defRPr sz="1500" b="0">
                <a:solidFill>
                  <a:srgbClr val="000000"/>
                </a:solidFill>
                <a:latin typeface="Calibri"/>
                <a:ea typeface="Calibri"/>
                <a:cs typeface="Calibri"/>
              </a:defRPr>
            </a:lvl1pPr>
            <a:lvl2pPr>
              <a:defRPr sz="1500" b="0">
                <a:solidFill>
                  <a:srgbClr val="000000"/>
                </a:solidFill>
                <a:latin typeface="Calibri"/>
                <a:ea typeface="Calibri"/>
                <a:cs typeface="Calibri"/>
              </a:defRPr>
            </a:lvl2pPr>
            <a:lvl3pPr>
              <a:defRPr sz="1500" b="0">
                <a:solidFill>
                  <a:srgbClr val="000000"/>
                </a:solidFill>
                <a:latin typeface="Calibri"/>
                <a:ea typeface="Calibri"/>
                <a:cs typeface="Calibri"/>
              </a:defRPr>
            </a:lvl3pPr>
            <a:lvl4pPr>
              <a:defRPr sz="1500" b="0">
                <a:solidFill>
                  <a:srgbClr val="000000"/>
                </a:solidFill>
                <a:latin typeface="Calibri"/>
                <a:ea typeface="Calibri"/>
                <a:cs typeface="Calibri"/>
              </a:defRPr>
            </a:lvl4pPr>
            <a:lvl5pPr>
              <a:defRPr sz="1500" b="0">
                <a:solidFill>
                  <a:srgbClr val="000000"/>
                </a:solidFill>
                <a:latin typeface="Calibri"/>
                <a:ea typeface="Calibri"/>
                <a:cs typeface="Calibri"/>
              </a:defRPr>
            </a:lvl5pPr>
            <a:lvl6pPr>
              <a:defRPr sz="1500" b="0">
                <a:solidFill>
                  <a:srgbClr val="000000"/>
                </a:solidFill>
                <a:latin typeface="Calibri"/>
                <a:ea typeface="Calibri"/>
                <a:cs typeface="Calibri"/>
              </a:defRPr>
            </a:lvl6pPr>
            <a:lvl7pPr>
              <a:defRPr sz="1500" b="0">
                <a:solidFill>
                  <a:srgbClr val="000000"/>
                </a:solidFill>
                <a:latin typeface="Calibri"/>
                <a:ea typeface="Calibri"/>
                <a:cs typeface="Calibri"/>
              </a:defRPr>
            </a:lvl7pPr>
            <a:lvl8pPr>
              <a:defRPr sz="1500" b="0">
                <a:solidFill>
                  <a:srgbClr val="000000"/>
                </a:solidFill>
                <a:latin typeface="Calibri"/>
                <a:ea typeface="Calibri"/>
                <a:cs typeface="Calibri"/>
              </a:defRPr>
            </a:lvl8pPr>
            <a:lvl9pPr>
              <a:defRPr sz="1500" b="0">
                <a:solidFill>
                  <a:srgbClr val="000000"/>
                </a:solidFill>
                <a:latin typeface="Calibri"/>
                <a:ea typeface="Calibri"/>
                <a:cs typeface="Calibri"/>
              </a:defRPr>
            </a:lvl9pPr>
          </a:lstStyle>
          <a:p>
            <a:pPr>
              <a:defRPr sz="1500" b="0">
                <a:solidFill>
                  <a:srgbClr val="000000"/>
                </a:solidFill>
                <a:latin typeface="Calibri"/>
                <a:ea typeface="Calibri"/>
                <a:cs typeface="Calibri"/>
              </a:defRPr>
            </a:pPr>
            <a:r>
              <a:rPr sz="1500" b="0">
                <a:solidFill>
                  <a:srgbClr val="000000"/>
                </a:solidFill>
                <a:latin typeface="Calibri"/>
                <a:ea typeface="Calibri"/>
                <a:cs typeface="Calibri"/>
              </a:rPr>
              <a:t>43 recovered coordinate pairs / 43 run folders</a:t>
            </a:r>
          </a:p>
        </p:txBody>
      </p:sp>
      <p:graphicFrame>
        <p:nvGraphicFramePr>
          <p:cNvPr id="7" name="Chart">
            <a:extLst>
              <a:ext uri="{FF2B5EF4-FFF2-40B4-BE49-F238E27FC236}">
                <a16:creationId xmlns:a16="http://schemas.microsoft.com/office/drawing/2014/main" id="{6FBA456E-4C70-40E5-984C-FCBA7ACA00E3}"/>
              </a:ext>
            </a:extLst>
          </p:cNvPr>
          <p:cNvGraphicFramePr/>
          <p:nvPr/>
        </p:nvGraphicFramePr>
        <p:xfrm>
          <a:off x="6191250" y="1762125"/>
          <a:ext cx="5476875" cy="3381375"/>
        </p:xfrm>
        <a:graphic>
          <a:graphicData uri="http://schemas.openxmlformats.org/drawingml/2006/chart">
            <c:chart xmlns:c="http://schemas.openxmlformats.org/drawingml/2006/chart" xmlns:r="http://schemas.openxmlformats.org/officeDocument/2006/relationships" r:id="rId4"/>
          </a:graphicData>
        </a:graphic>
      </p:graphicFrame>
      <p:sp>
        <p:nvSpPr>
          <p:cNvPr id="8" name="Rectangle 7">
            <a:extLst>
              <a:ext uri="{FF2B5EF4-FFF2-40B4-BE49-F238E27FC236}">
                <a16:creationId xmlns:a16="http://schemas.microsoft.com/office/drawing/2014/main" id="{CADDB118-15F4-4EF3-B8E4-EEE4F6A5A342}"/>
              </a:ext>
            </a:extLst>
          </p:cNvPr>
          <p:cNvSpPr>
            <a:spLocks noGrp="1"/>
          </p:cNvSpPr>
          <p:nvPr/>
        </p:nvSpPr>
        <p:spPr>
          <a:xfrm>
            <a:off x="6381750" y="5334000"/>
            <a:ext cx="5334000" cy="333375"/>
          </a:xfrm>
          <a:prstGeom prst="rect">
            <a:avLst/>
          </a:prstGeom>
          <a:noFill/>
          <a:ln w="0">
            <a:noFill/>
          </a:ln>
        </p:spPr>
        <p:txBody>
          <a:bodyPr lIns="0" tIns="0" rIns="0" bIns="0"/>
          <a:lstStyle>
            <a:defPPr>
              <a:defRPr sz="1500" b="0">
                <a:solidFill>
                  <a:srgbClr val="000000"/>
                </a:solidFill>
                <a:latin typeface="Calibri"/>
                <a:ea typeface="Calibri"/>
                <a:cs typeface="Calibri"/>
              </a:defRPr>
            </a:defPPr>
            <a:lvl1pPr>
              <a:defRPr sz="1500" b="0">
                <a:solidFill>
                  <a:srgbClr val="000000"/>
                </a:solidFill>
                <a:latin typeface="Calibri"/>
                <a:ea typeface="Calibri"/>
                <a:cs typeface="Calibri"/>
              </a:defRPr>
            </a:lvl1pPr>
            <a:lvl2pPr>
              <a:defRPr sz="1500" b="0">
                <a:solidFill>
                  <a:srgbClr val="000000"/>
                </a:solidFill>
                <a:latin typeface="Calibri"/>
                <a:ea typeface="Calibri"/>
                <a:cs typeface="Calibri"/>
              </a:defRPr>
            </a:lvl2pPr>
            <a:lvl3pPr>
              <a:defRPr sz="1500" b="0">
                <a:solidFill>
                  <a:srgbClr val="000000"/>
                </a:solidFill>
                <a:latin typeface="Calibri"/>
                <a:ea typeface="Calibri"/>
                <a:cs typeface="Calibri"/>
              </a:defRPr>
            </a:lvl3pPr>
            <a:lvl4pPr>
              <a:defRPr sz="1500" b="0">
                <a:solidFill>
                  <a:srgbClr val="000000"/>
                </a:solidFill>
                <a:latin typeface="Calibri"/>
                <a:ea typeface="Calibri"/>
                <a:cs typeface="Calibri"/>
              </a:defRPr>
            </a:lvl4pPr>
            <a:lvl5pPr>
              <a:defRPr sz="1500" b="0">
                <a:solidFill>
                  <a:srgbClr val="000000"/>
                </a:solidFill>
                <a:latin typeface="Calibri"/>
                <a:ea typeface="Calibri"/>
                <a:cs typeface="Calibri"/>
              </a:defRPr>
            </a:lvl5pPr>
            <a:lvl6pPr>
              <a:defRPr sz="1500" b="0">
                <a:solidFill>
                  <a:srgbClr val="000000"/>
                </a:solidFill>
                <a:latin typeface="Calibri"/>
                <a:ea typeface="Calibri"/>
                <a:cs typeface="Calibri"/>
              </a:defRPr>
            </a:lvl6pPr>
            <a:lvl7pPr>
              <a:defRPr sz="1500" b="0">
                <a:solidFill>
                  <a:srgbClr val="000000"/>
                </a:solidFill>
                <a:latin typeface="Calibri"/>
                <a:ea typeface="Calibri"/>
                <a:cs typeface="Calibri"/>
              </a:defRPr>
            </a:lvl7pPr>
            <a:lvl8pPr>
              <a:defRPr sz="1500" b="0">
                <a:solidFill>
                  <a:srgbClr val="000000"/>
                </a:solidFill>
                <a:latin typeface="Calibri"/>
                <a:ea typeface="Calibri"/>
                <a:cs typeface="Calibri"/>
              </a:defRPr>
            </a:lvl8pPr>
            <a:lvl9pPr>
              <a:defRPr sz="1500" b="0">
                <a:solidFill>
                  <a:srgbClr val="000000"/>
                </a:solidFill>
                <a:latin typeface="Calibri"/>
                <a:ea typeface="Calibri"/>
                <a:cs typeface="Calibri"/>
              </a:defRPr>
            </a:lvl9pPr>
          </a:lstStyle>
          <a:p>
            <a:pPr>
              <a:defRPr sz="1500" b="0">
                <a:solidFill>
                  <a:srgbClr val="000000"/>
                </a:solidFill>
                <a:latin typeface="Calibri"/>
                <a:ea typeface="Calibri"/>
                <a:cs typeface="Calibri"/>
              </a:defRPr>
            </a:pPr>
            <a:r>
              <a:rPr sz="1500" b="0">
                <a:solidFill>
                  <a:srgbClr val="000000"/>
                </a:solidFill>
                <a:latin typeface="Calibri"/>
                <a:ea typeface="Calibri"/>
                <a:cs typeface="Calibri"/>
              </a:rPr>
              <a:t>44 recovered coordinate pairs / 292 run folders</a:t>
            </a:r>
          </a:p>
        </p:txBody>
      </p:sp>
    </p:spTree>
    <p:extLst>
      <p:ext uri="{BB962C8B-B14F-4D97-AF65-F5344CB8AC3E}">
        <p14:creationId xmlns:p14="http://schemas.microsoft.com/office/powerpoint/2010/main" val="20867629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F6DC31E-949A-49A0-B8AA-979F795A3428}"/>
              </a:ext>
            </a:extLst>
          </p:cNvPr>
          <p:cNvSpPr>
            <a:spLocks noGrp="1"/>
          </p:cNvSpPr>
          <p:nvPr/>
        </p:nvSpPr>
        <p:spPr>
          <a:xfrm>
            <a:off x="838200" y="361950"/>
            <a:ext cx="10572750" cy="495300"/>
          </a:xfrm>
          <a:prstGeom prst="rect">
            <a:avLst/>
          </a:prstGeom>
          <a:noFill/>
          <a:ln w="0">
            <a:noFill/>
          </a:ln>
        </p:spPr>
        <p:txBody>
          <a:bodyPr lIns="0" tIns="0" rIns="0" bIns="0"/>
          <a:lstStyle>
            <a:defPPr>
              <a:defRPr sz="2400" b="1">
                <a:solidFill>
                  <a:srgbClr val="000000"/>
                </a:solidFill>
                <a:latin typeface="Calibri"/>
                <a:ea typeface="Calibri"/>
                <a:cs typeface="Calibri"/>
              </a:defRPr>
            </a:defPPr>
            <a:lvl1pPr>
              <a:defRPr sz="2400" b="1">
                <a:solidFill>
                  <a:srgbClr val="000000"/>
                </a:solidFill>
                <a:latin typeface="Calibri"/>
                <a:ea typeface="Calibri"/>
                <a:cs typeface="Calibri"/>
              </a:defRPr>
            </a:lvl1pPr>
            <a:lvl2pPr>
              <a:defRPr sz="2400" b="1">
                <a:solidFill>
                  <a:srgbClr val="000000"/>
                </a:solidFill>
                <a:latin typeface="Calibri"/>
                <a:ea typeface="Calibri"/>
                <a:cs typeface="Calibri"/>
              </a:defRPr>
            </a:lvl2pPr>
            <a:lvl3pPr>
              <a:defRPr sz="2400" b="1">
                <a:solidFill>
                  <a:srgbClr val="000000"/>
                </a:solidFill>
                <a:latin typeface="Calibri"/>
                <a:ea typeface="Calibri"/>
                <a:cs typeface="Calibri"/>
              </a:defRPr>
            </a:lvl3pPr>
            <a:lvl4pPr>
              <a:defRPr sz="2400" b="1">
                <a:solidFill>
                  <a:srgbClr val="000000"/>
                </a:solidFill>
                <a:latin typeface="Calibri"/>
                <a:ea typeface="Calibri"/>
                <a:cs typeface="Calibri"/>
              </a:defRPr>
            </a:lvl4pPr>
            <a:lvl5pPr>
              <a:defRPr sz="2400" b="1">
                <a:solidFill>
                  <a:srgbClr val="000000"/>
                </a:solidFill>
                <a:latin typeface="Calibri"/>
                <a:ea typeface="Calibri"/>
                <a:cs typeface="Calibri"/>
              </a:defRPr>
            </a:lvl5pPr>
            <a:lvl6pPr>
              <a:defRPr sz="2400" b="1">
                <a:solidFill>
                  <a:srgbClr val="000000"/>
                </a:solidFill>
                <a:latin typeface="Calibri"/>
                <a:ea typeface="Calibri"/>
                <a:cs typeface="Calibri"/>
              </a:defRPr>
            </a:lvl6pPr>
            <a:lvl7pPr>
              <a:defRPr sz="2400" b="1">
                <a:solidFill>
                  <a:srgbClr val="000000"/>
                </a:solidFill>
                <a:latin typeface="Calibri"/>
                <a:ea typeface="Calibri"/>
                <a:cs typeface="Calibri"/>
              </a:defRPr>
            </a:lvl7pPr>
            <a:lvl8pPr>
              <a:defRPr sz="2400" b="1">
                <a:solidFill>
                  <a:srgbClr val="000000"/>
                </a:solidFill>
                <a:latin typeface="Calibri"/>
                <a:ea typeface="Calibri"/>
                <a:cs typeface="Calibri"/>
              </a:defRPr>
            </a:lvl8pPr>
            <a:lvl9pPr>
              <a:defRPr sz="2400" b="1">
                <a:solidFill>
                  <a:srgbClr val="000000"/>
                </a:solidFill>
                <a:latin typeface="Calibri"/>
                <a:ea typeface="Calibri"/>
                <a:cs typeface="Calibri"/>
              </a:defRPr>
            </a:lvl9pPr>
          </a:lstStyle>
          <a:p>
            <a:pPr>
              <a:defRPr sz="2400" b="1">
                <a:solidFill>
                  <a:srgbClr val="000000"/>
                </a:solidFill>
                <a:latin typeface="Calibri"/>
                <a:ea typeface="Calibri"/>
                <a:cs typeface="Calibri"/>
              </a:defRPr>
            </a:pPr>
            <a:r>
              <a:rPr sz="2400" b="1">
                <a:solidFill>
                  <a:srgbClr val="000000"/>
                </a:solidFill>
                <a:latin typeface="Calibri"/>
                <a:ea typeface="Calibri"/>
                <a:cs typeface="Calibri"/>
              </a:rPr>
              <a:t>Lift + cruise: retrofit and staged local searches</a:t>
            </a:r>
          </a:p>
        </p:txBody>
      </p:sp>
      <p:sp>
        <p:nvSpPr>
          <p:cNvPr id="2" name="Rectangle 1">
            <a:extLst>
              <a:ext uri="{FF2B5EF4-FFF2-40B4-BE49-F238E27FC236}">
                <a16:creationId xmlns:a16="http://schemas.microsoft.com/office/drawing/2014/main" id="{F15EEEDA-2ACC-48E3-86C7-FA8841D9A65C}"/>
              </a:ext>
            </a:extLst>
          </p:cNvPr>
          <p:cNvSpPr>
            <a:spLocks noGrp="1"/>
          </p:cNvSpPr>
          <p:nvPr/>
        </p:nvSpPr>
        <p:spPr>
          <a:xfrm>
            <a:off x="476250" y="1028700"/>
            <a:ext cx="11239500" cy="590550"/>
          </a:xfrm>
          <a:prstGeom prst="rect">
            <a:avLst/>
          </a:prstGeom>
          <a:noFill/>
          <a:ln w="0">
            <a:noFill/>
          </a:ln>
        </p:spPr>
        <p:txBody>
          <a:bodyPr lIns="0" tIns="0" rIns="0" bIns="0"/>
          <a:lstStyle>
            <a:defPPr>
              <a:defRPr sz="1575" b="0">
                <a:solidFill>
                  <a:srgbClr val="333333"/>
                </a:solidFill>
                <a:latin typeface="Calibri"/>
                <a:ea typeface="Calibri"/>
                <a:cs typeface="Calibri"/>
              </a:defRPr>
            </a:defPPr>
            <a:lvl1pPr>
              <a:defRPr sz="1575" b="0">
                <a:solidFill>
                  <a:srgbClr val="333333"/>
                </a:solidFill>
                <a:latin typeface="Calibri"/>
                <a:ea typeface="Calibri"/>
                <a:cs typeface="Calibri"/>
              </a:defRPr>
            </a:lvl1pPr>
            <a:lvl2pPr>
              <a:defRPr sz="1575" b="0">
                <a:solidFill>
                  <a:srgbClr val="333333"/>
                </a:solidFill>
                <a:latin typeface="Calibri"/>
                <a:ea typeface="Calibri"/>
                <a:cs typeface="Calibri"/>
              </a:defRPr>
            </a:lvl2pPr>
            <a:lvl3pPr>
              <a:defRPr sz="1575" b="0">
                <a:solidFill>
                  <a:srgbClr val="333333"/>
                </a:solidFill>
                <a:latin typeface="Calibri"/>
                <a:ea typeface="Calibri"/>
                <a:cs typeface="Calibri"/>
              </a:defRPr>
            </a:lvl3pPr>
            <a:lvl4pPr>
              <a:defRPr sz="1575" b="0">
                <a:solidFill>
                  <a:srgbClr val="333333"/>
                </a:solidFill>
                <a:latin typeface="Calibri"/>
                <a:ea typeface="Calibri"/>
                <a:cs typeface="Calibri"/>
              </a:defRPr>
            </a:lvl4pPr>
            <a:lvl5pPr>
              <a:defRPr sz="1575" b="0">
                <a:solidFill>
                  <a:srgbClr val="333333"/>
                </a:solidFill>
                <a:latin typeface="Calibri"/>
                <a:ea typeface="Calibri"/>
                <a:cs typeface="Calibri"/>
              </a:defRPr>
            </a:lvl5pPr>
            <a:lvl6pPr>
              <a:defRPr sz="1575" b="0">
                <a:solidFill>
                  <a:srgbClr val="333333"/>
                </a:solidFill>
                <a:latin typeface="Calibri"/>
                <a:ea typeface="Calibri"/>
                <a:cs typeface="Calibri"/>
              </a:defRPr>
            </a:lvl6pPr>
            <a:lvl7pPr>
              <a:defRPr sz="1575" b="0">
                <a:solidFill>
                  <a:srgbClr val="333333"/>
                </a:solidFill>
                <a:latin typeface="Calibri"/>
                <a:ea typeface="Calibri"/>
                <a:cs typeface="Calibri"/>
              </a:defRPr>
            </a:lvl7pPr>
            <a:lvl8pPr>
              <a:defRPr sz="1575" b="0">
                <a:solidFill>
                  <a:srgbClr val="333333"/>
                </a:solidFill>
                <a:latin typeface="Calibri"/>
                <a:ea typeface="Calibri"/>
                <a:cs typeface="Calibri"/>
              </a:defRPr>
            </a:lvl8pPr>
            <a:lvl9pPr>
              <a:defRPr sz="1575" b="0">
                <a:solidFill>
                  <a:srgbClr val="333333"/>
                </a:solidFill>
                <a:latin typeface="Calibri"/>
                <a:ea typeface="Calibri"/>
                <a:cs typeface="Calibri"/>
              </a:defRPr>
            </a:lvl9pPr>
          </a:lstStyle>
          <a:p>
            <a:pPr>
              <a:defRPr sz="1575" b="0">
                <a:solidFill>
                  <a:srgbClr val="333333"/>
                </a:solidFill>
                <a:latin typeface="Calibri"/>
                <a:ea typeface="Calibri"/>
                <a:cs typeface="Calibri"/>
              </a:defRPr>
            </a:pPr>
            <a:r>
              <a:rPr sz="1575" b="0">
                <a:solidFill>
                  <a:srgbClr val="333333"/>
                </a:solidFill>
                <a:latin typeface="Calibri"/>
                <a:ea typeface="Calibri"/>
                <a:cs typeface="Calibri"/>
              </a:rPr>
              <a:t>The 4,834-folder L+C archive combines several search stages and changing assumptions. [A, B]</a:t>
            </a:r>
          </a:p>
        </p:txBody>
      </p:sp>
      <p:sp>
        <p:nvSpPr>
          <p:cNvPr id="3" name="Rectangle 2">
            <a:extLst>
              <a:ext uri="{FF2B5EF4-FFF2-40B4-BE49-F238E27FC236}">
                <a16:creationId xmlns:a16="http://schemas.microsoft.com/office/drawing/2014/main" id="{52001740-A52B-4933-8C57-04E74D12BF98}"/>
              </a:ext>
            </a:extLst>
          </p:cNvPr>
          <p:cNvSpPr>
            <a:spLocks noGrp="1"/>
          </p:cNvSpPr>
          <p:nvPr/>
        </p:nvSpPr>
        <p:spPr>
          <a:xfrm>
            <a:off x="476250" y="6076950"/>
            <a:ext cx="11191875" cy="619125"/>
          </a:xfrm>
          <a:prstGeom prst="rect">
            <a:avLst/>
          </a:prstGeom>
          <a:noFill/>
          <a:ln w="0">
            <a:noFill/>
          </a:ln>
        </p:spPr>
        <p:txBody>
          <a:bodyPr lIns="0" tIns="0" rIns="0" bIns="0"/>
          <a:lstStyle>
            <a:defPPr>
              <a:defRPr sz="1050" b="0">
                <a:solidFill>
                  <a:srgbClr val="333333"/>
                </a:solidFill>
                <a:latin typeface="Calibri"/>
                <a:ea typeface="Calibri"/>
                <a:cs typeface="Calibri"/>
              </a:defRPr>
            </a:defPPr>
            <a:lvl1pPr>
              <a:defRPr sz="1050" b="0">
                <a:solidFill>
                  <a:srgbClr val="333333"/>
                </a:solidFill>
                <a:latin typeface="Calibri"/>
                <a:ea typeface="Calibri"/>
                <a:cs typeface="Calibri"/>
              </a:defRPr>
            </a:lvl1pPr>
            <a:lvl2pPr>
              <a:defRPr sz="1050" b="0">
                <a:solidFill>
                  <a:srgbClr val="333333"/>
                </a:solidFill>
                <a:latin typeface="Calibri"/>
                <a:ea typeface="Calibri"/>
                <a:cs typeface="Calibri"/>
              </a:defRPr>
            </a:lvl2pPr>
            <a:lvl3pPr>
              <a:defRPr sz="1050" b="0">
                <a:solidFill>
                  <a:srgbClr val="333333"/>
                </a:solidFill>
                <a:latin typeface="Calibri"/>
                <a:ea typeface="Calibri"/>
                <a:cs typeface="Calibri"/>
              </a:defRPr>
            </a:lvl3pPr>
            <a:lvl4pPr>
              <a:defRPr sz="1050" b="0">
                <a:solidFill>
                  <a:srgbClr val="333333"/>
                </a:solidFill>
                <a:latin typeface="Calibri"/>
                <a:ea typeface="Calibri"/>
                <a:cs typeface="Calibri"/>
              </a:defRPr>
            </a:lvl4pPr>
            <a:lvl5pPr>
              <a:defRPr sz="1050" b="0">
                <a:solidFill>
                  <a:srgbClr val="333333"/>
                </a:solidFill>
                <a:latin typeface="Calibri"/>
                <a:ea typeface="Calibri"/>
                <a:cs typeface="Calibri"/>
              </a:defRPr>
            </a:lvl5pPr>
            <a:lvl6pPr>
              <a:defRPr sz="1050" b="0">
                <a:solidFill>
                  <a:srgbClr val="333333"/>
                </a:solidFill>
                <a:latin typeface="Calibri"/>
                <a:ea typeface="Calibri"/>
                <a:cs typeface="Calibri"/>
              </a:defRPr>
            </a:lvl6pPr>
            <a:lvl7pPr>
              <a:defRPr sz="1050" b="0">
                <a:solidFill>
                  <a:srgbClr val="333333"/>
                </a:solidFill>
                <a:latin typeface="Calibri"/>
                <a:ea typeface="Calibri"/>
                <a:cs typeface="Calibri"/>
              </a:defRPr>
            </a:lvl7pPr>
            <a:lvl8pPr>
              <a:defRPr sz="1050" b="0">
                <a:solidFill>
                  <a:srgbClr val="333333"/>
                </a:solidFill>
                <a:latin typeface="Calibri"/>
                <a:ea typeface="Calibri"/>
                <a:cs typeface="Calibri"/>
              </a:defRPr>
            </a:lvl8pPr>
            <a:lvl9pPr>
              <a:defRPr sz="1050" b="0">
                <a:solidFill>
                  <a:srgbClr val="333333"/>
                </a:solidFill>
                <a:latin typeface="Calibri"/>
                <a:ea typeface="Calibri"/>
                <a:cs typeface="Calibri"/>
              </a:defRPr>
            </a:lvl9pPr>
          </a:lstStyle>
          <a:p>
            <a:pPr>
              <a:defRPr sz="1050" b="0">
                <a:solidFill>
                  <a:srgbClr val="333333"/>
                </a:solidFill>
                <a:latin typeface="Calibri"/>
                <a:ea typeface="Calibri"/>
                <a:cs typeface="Calibri"/>
              </a:defRPr>
            </a:pPr>
            <a:r>
              <a:rPr sz="1050" b="0">
                <a:solidFill>
                  <a:srgbClr val="333333"/>
                </a:solidFill>
                <a:latin typeface="Calibri"/>
                <a:ea typeface="Calibri"/>
                <a:cs typeface="Calibri"/>
              </a:rPr>
              <a:t>[A] NDARC execution archive, 28 Oct 2026: organized_runs/inventory.json; run_logs/*.jsonl; original runs/ inputs and outputs.</a:t>
            </a:r>
          </a:p>
          <a:p>
            <a:pPr>
              <a:defRPr sz="1050" b="0">
                <a:solidFill>
                  <a:srgbClr val="333333"/>
                </a:solidFill>
                <a:latin typeface="Calibri"/>
                <a:ea typeface="Calibri"/>
                <a:cs typeface="Calibri"/>
              </a:defRPr>
            </a:pPr>
            <a:r>
              <a:rPr sz="1050" b="0">
                <a:solidFill>
                  <a:srgbClr val="333333"/>
                </a:solidFill>
                <a:latin typeface="Calibri"/>
                <a:ea typeface="Calibri"/>
                <a:cs typeface="Calibri"/>
              </a:rPr>
              <a:t>[B] design-space-evidence/campaign-design-space.json and all-run-design-points.csv (this deck folder). Exact marginal sets, plans, input hashes and status.</a:t>
            </a:r>
          </a:p>
        </p:txBody>
      </p:sp>
      <p:sp>
        <p:nvSpPr>
          <p:cNvPr id="4" name="Rectangle 3">
            <a:extLst>
              <a:ext uri="{FF2B5EF4-FFF2-40B4-BE49-F238E27FC236}">
                <a16:creationId xmlns:a16="http://schemas.microsoft.com/office/drawing/2014/main" id="{A17FD366-52B1-47C9-A05C-C0EE5BB07F5A}"/>
              </a:ext>
            </a:extLst>
          </p:cNvPr>
          <p:cNvSpPr>
            <a:spLocks noGrp="1"/>
          </p:cNvSpPr>
          <p:nvPr/>
        </p:nvSpPr>
        <p:spPr>
          <a:xfrm>
            <a:off x="11430000" y="6553200"/>
            <a:ext cx="333375" cy="209550"/>
          </a:xfrm>
          <a:prstGeom prst="rect">
            <a:avLst/>
          </a:prstGeom>
          <a:noFill/>
          <a:ln w="0">
            <a:noFill/>
          </a:ln>
        </p:spPr>
        <p:txBody>
          <a:bodyPr lIns="0" tIns="0" rIns="0" bIns="0"/>
          <a:lstStyle>
            <a:defPPr>
              <a:defRPr sz="1125" b="0">
                <a:solidFill>
                  <a:srgbClr val="000000"/>
                </a:solidFill>
                <a:latin typeface="Calibri"/>
                <a:ea typeface="Calibri"/>
                <a:cs typeface="Calibri"/>
              </a:defRPr>
            </a:defPPr>
            <a:lvl1pPr>
              <a:defRPr sz="1125" b="0">
                <a:solidFill>
                  <a:srgbClr val="000000"/>
                </a:solidFill>
                <a:latin typeface="Calibri"/>
                <a:ea typeface="Calibri"/>
                <a:cs typeface="Calibri"/>
              </a:defRPr>
            </a:lvl1pPr>
            <a:lvl2pPr>
              <a:defRPr sz="1125" b="0">
                <a:solidFill>
                  <a:srgbClr val="000000"/>
                </a:solidFill>
                <a:latin typeface="Calibri"/>
                <a:ea typeface="Calibri"/>
                <a:cs typeface="Calibri"/>
              </a:defRPr>
            </a:lvl2pPr>
            <a:lvl3pPr>
              <a:defRPr sz="1125" b="0">
                <a:solidFill>
                  <a:srgbClr val="000000"/>
                </a:solidFill>
                <a:latin typeface="Calibri"/>
                <a:ea typeface="Calibri"/>
                <a:cs typeface="Calibri"/>
              </a:defRPr>
            </a:lvl3pPr>
            <a:lvl4pPr>
              <a:defRPr sz="1125" b="0">
                <a:solidFill>
                  <a:srgbClr val="000000"/>
                </a:solidFill>
                <a:latin typeface="Calibri"/>
                <a:ea typeface="Calibri"/>
                <a:cs typeface="Calibri"/>
              </a:defRPr>
            </a:lvl4pPr>
            <a:lvl5pPr>
              <a:defRPr sz="1125" b="0">
                <a:solidFill>
                  <a:srgbClr val="000000"/>
                </a:solidFill>
                <a:latin typeface="Calibri"/>
                <a:ea typeface="Calibri"/>
                <a:cs typeface="Calibri"/>
              </a:defRPr>
            </a:lvl5pPr>
            <a:lvl6pPr>
              <a:defRPr sz="1125" b="0">
                <a:solidFill>
                  <a:srgbClr val="000000"/>
                </a:solidFill>
                <a:latin typeface="Calibri"/>
                <a:ea typeface="Calibri"/>
                <a:cs typeface="Calibri"/>
              </a:defRPr>
            </a:lvl6pPr>
            <a:lvl7pPr>
              <a:defRPr sz="1125" b="0">
                <a:solidFill>
                  <a:srgbClr val="000000"/>
                </a:solidFill>
                <a:latin typeface="Calibri"/>
                <a:ea typeface="Calibri"/>
                <a:cs typeface="Calibri"/>
              </a:defRPr>
            </a:lvl7pPr>
            <a:lvl8pPr>
              <a:defRPr sz="1125" b="0">
                <a:solidFill>
                  <a:srgbClr val="000000"/>
                </a:solidFill>
                <a:latin typeface="Calibri"/>
                <a:ea typeface="Calibri"/>
                <a:cs typeface="Calibri"/>
              </a:defRPr>
            </a:lvl8pPr>
            <a:lvl9pPr>
              <a:defRPr sz="1125" b="0">
                <a:solidFill>
                  <a:srgbClr val="000000"/>
                </a:solidFill>
                <a:latin typeface="Calibri"/>
                <a:ea typeface="Calibri"/>
                <a:cs typeface="Calibri"/>
              </a:defRPr>
            </a:lvl9pPr>
          </a:lstStyle>
          <a:p>
            <a:pPr>
              <a:defRPr sz="1125" b="0">
                <a:solidFill>
                  <a:srgbClr val="000000"/>
                </a:solidFill>
                <a:latin typeface="Calibri"/>
                <a:ea typeface="Calibri"/>
                <a:cs typeface="Calibri"/>
              </a:defRPr>
            </a:pPr>
            <a:r>
              <a:rPr sz="1125" b="0">
                <a:solidFill>
                  <a:srgbClr val="000000"/>
                </a:solidFill>
                <a:latin typeface="Calibri"/>
                <a:ea typeface="Calibri"/>
                <a:cs typeface="Calibri"/>
              </a:rPr>
              <a:t>41</a:t>
            </a:r>
          </a:p>
        </p:txBody>
      </p:sp>
      <p:graphicFrame>
        <p:nvGraphicFramePr>
          <p:cNvPr id="5" name="Table 4">
            <a:extLst>
              <a:ext uri="{FF2B5EF4-FFF2-40B4-BE49-F238E27FC236}">
                <a16:creationId xmlns:a16="http://schemas.microsoft.com/office/drawing/2014/main" id="{6206DA04-4037-4B2C-BCD3-DAE5C5993D4F}"/>
              </a:ext>
            </a:extLst>
          </p:cNvPr>
          <p:cNvGraphicFramePr/>
          <p:nvPr/>
        </p:nvGraphicFramePr>
        <p:xfrm>
          <a:off x="476250" y="1714500"/>
          <a:ext cx="11239500" cy="4000500"/>
        </p:xfrm>
        <a:graphic>
          <a:graphicData uri="http://schemas.openxmlformats.org/drawingml/2006/table">
            <a:tbl>
              <a:tblPr/>
              <a:tblGrid>
                <a:gridCol w="2095500">
                  <a:extLst>
                    <a:ext uri="{9D8B030D-6E8A-4147-A177-3AD203B41FA5}">
                      <a16:colId xmlns:a16="http://schemas.microsoft.com/office/drawing/2014/main" val="20000"/>
                    </a:ext>
                  </a:extLst>
                </a:gridCol>
                <a:gridCol w="952500">
                  <a:extLst>
                    <a:ext uri="{9D8B030D-6E8A-4147-A177-3AD203B41FA5}">
                      <a16:colId xmlns:a16="http://schemas.microsoft.com/office/drawing/2014/main" val="20001"/>
                    </a:ext>
                  </a:extLst>
                </a:gridCol>
                <a:gridCol w="8191500">
                  <a:extLst>
                    <a:ext uri="{9D8B030D-6E8A-4147-A177-3AD203B41FA5}">
                      <a16:colId xmlns:a16="http://schemas.microsoft.com/office/drawing/2014/main" val="20002"/>
                    </a:ext>
                  </a:extLst>
                </a:gridCol>
              </a:tblGrid>
              <a:tr h="571500">
                <a:tc>
                  <a:txBody>
                    <a:bodyPr/>
                    <a:lstStyle/>
                    <a:p>
                      <a:r>
                        <a:rPr sz="1275" b="1">
                          <a:solidFill>
                            <a:srgbClr val="000000"/>
                          </a:solidFill>
                          <a:latin typeface="Calibri"/>
                          <a:ea typeface="Calibri"/>
                          <a:cs typeface="Calibri"/>
                        </a:rPr>
                        <a:t>Campaign family</a:t>
                      </a:r>
                    </a:p>
                  </a:txBody>
                  <a:tcPr>
                    <a:lnL w="7620">
                      <a:solidFill>
                        <a:srgbClr val="CCCCCC"/>
                      </a:solidFill>
                    </a:lnL>
                    <a:lnR w="7620">
                      <a:solidFill>
                        <a:srgbClr val="CCCCCC"/>
                      </a:solidFill>
                    </a:lnR>
                    <a:lnT w="7620">
                      <a:solidFill>
                        <a:srgbClr val="CCCCCC"/>
                      </a:solidFill>
                    </a:lnT>
                    <a:lnB w="7620">
                      <a:solidFill>
                        <a:srgbClr val="CCCCCC"/>
                      </a:solidFill>
                    </a:lnB>
                    <a:solidFill>
                      <a:srgbClr val="D9D9D9"/>
                    </a:solidFill>
                  </a:tcPr>
                </a:tc>
                <a:tc>
                  <a:txBody>
                    <a:bodyPr/>
                    <a:lstStyle/>
                    <a:p>
                      <a:r>
                        <a:rPr sz="1275" b="1">
                          <a:solidFill>
                            <a:srgbClr val="000000"/>
                          </a:solidFill>
                          <a:latin typeface="Calibri"/>
                          <a:ea typeface="Calibri"/>
                          <a:cs typeface="Calibri"/>
                        </a:rPr>
                        <a:t>Folders</a:t>
                      </a:r>
                    </a:p>
                  </a:txBody>
                  <a:tcPr>
                    <a:lnL w="7620" cap="flat" cmpd="sng" algn="ctr">
                      <a:solidFill>
                        <a:srgbClr val="CCCCCC"/>
                      </a:solidFill>
                      <a:prstDash val="solid"/>
                      <a:round/>
                      <a:headEnd type="none" w="med" len="med"/>
                      <a:tailEnd type="none" w="med" len="med"/>
                    </a:lnL>
                    <a:lnR w="7620">
                      <a:solidFill>
                        <a:srgbClr val="CCCCCC"/>
                      </a:solidFill>
                    </a:lnR>
                    <a:lnT w="7620">
                      <a:solidFill>
                        <a:srgbClr val="CCCCCC"/>
                      </a:solidFill>
                    </a:lnT>
                    <a:lnB w="7620">
                      <a:solidFill>
                        <a:srgbClr val="CCCCCC"/>
                      </a:solidFill>
                    </a:lnB>
                    <a:solidFill>
                      <a:srgbClr val="D9D9D9"/>
                    </a:solidFill>
                  </a:tcPr>
                </a:tc>
                <a:tc>
                  <a:txBody>
                    <a:bodyPr/>
                    <a:lstStyle/>
                    <a:p>
                      <a:r>
                        <a:rPr sz="1275" b="1">
                          <a:solidFill>
                            <a:srgbClr val="000000"/>
                          </a:solidFill>
                          <a:latin typeface="Calibri"/>
                          <a:ea typeface="Calibri"/>
                          <a:cs typeface="Calibri"/>
                        </a:rPr>
                        <a:t>Marginal controls: loadings kg/m², span m, speed km/h [B]</a:t>
                      </a:r>
                    </a:p>
                  </a:txBody>
                  <a:tcPr>
                    <a:lnL w="7620" cap="flat" cmpd="sng" algn="ctr">
                      <a:solidFill>
                        <a:srgbClr val="CCCCCC"/>
                      </a:solidFill>
                      <a:prstDash val="solid"/>
                      <a:round/>
                      <a:headEnd type="none" w="med" len="med"/>
                      <a:tailEnd type="none" w="med" len="med"/>
                    </a:lnL>
                    <a:lnR w="7620">
                      <a:solidFill>
                        <a:srgbClr val="CCCCCC"/>
                      </a:solidFill>
                    </a:lnR>
                    <a:lnT w="7620">
                      <a:solidFill>
                        <a:srgbClr val="CCCCCC"/>
                      </a:solidFill>
                    </a:lnT>
                    <a:lnB w="7620">
                      <a:solidFill>
                        <a:srgbClr val="CCCCCC"/>
                      </a:solidFill>
                    </a:lnB>
                    <a:solidFill>
                      <a:srgbClr val="D9D9D9"/>
                    </a:solidFill>
                  </a:tcPr>
                </a:tc>
                <a:extLst>
                  <a:ext uri="{0D108BD9-81ED-4DB2-BD59-A6C34878D82A}">
                    <a16:rowId xmlns:a16="http://schemas.microsoft.com/office/drawing/2014/main" val="10000"/>
                  </a:ext>
                </a:extLst>
              </a:tr>
              <a:tr h="571500">
                <a:tc>
                  <a:txBody>
                    <a:bodyPr/>
                    <a:lstStyle/>
                    <a:p>
                      <a:r>
                        <a:rPr sz="1275" b="0">
                          <a:solidFill>
                            <a:srgbClr val="000000"/>
                          </a:solidFill>
                          <a:latin typeface="Calibri"/>
                          <a:ea typeface="Calibri"/>
                          <a:cs typeface="Calibri"/>
                        </a:rPr>
                        <a:t>coarse</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275" b="0">
                          <a:solidFill>
                            <a:srgbClr val="000000"/>
                          </a:solidFill>
                          <a:latin typeface="Calibri"/>
                          <a:ea typeface="Calibri"/>
                          <a:cs typeface="Calibri"/>
                        </a:rPr>
                        <a:t>237</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275" b="0">
                          <a:solidFill>
                            <a:srgbClr val="000000"/>
                          </a:solidFill>
                          <a:latin typeface="Calibri"/>
                          <a:ea typeface="Calibri"/>
                          <a:cs typeface="Calibri"/>
                        </a:rPr>
                        <a:t>DL: 20, 35; WL: 40, 55, 70, 85, 100</a:t>
                      </a:r>
                    </a:p>
                    <a:p>
                      <a:r>
                        <a:rPr sz="1275" b="0">
                          <a:solidFill>
                            <a:srgbClr val="000000"/>
                          </a:solidFill>
                          <a:latin typeface="Calibri"/>
                          <a:ea typeface="Calibri"/>
                          <a:cs typeface="Calibri"/>
                        </a:rPr>
                        <a:t>span: 7, 9, 11; speed: 120, 140, 160</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1"/>
                  </a:ext>
                </a:extLst>
              </a:tr>
              <a:tr h="571500">
                <a:tc>
                  <a:txBody>
                    <a:bodyPr/>
                    <a:lstStyle/>
                    <a:p>
                      <a:r>
                        <a:rPr sz="1275" b="0">
                          <a:solidFill>
                            <a:srgbClr val="000000"/>
                          </a:solidFill>
                          <a:latin typeface="Calibri"/>
                          <a:ea typeface="Calibri"/>
                          <a:cs typeface="Calibri"/>
                        </a:rPr>
                        <a:t>expand</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275" b="0">
                          <a:solidFill>
                            <a:srgbClr val="000000"/>
                          </a:solidFill>
                          <a:latin typeface="Calibri"/>
                          <a:ea typeface="Calibri"/>
                          <a:cs typeface="Calibri"/>
                        </a:rPr>
                        <a:t>188</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275" b="0">
                          <a:solidFill>
                            <a:srgbClr val="000000"/>
                          </a:solidFill>
                          <a:latin typeface="Calibri"/>
                          <a:ea typeface="Calibri"/>
                          <a:cs typeface="Calibri"/>
                        </a:rPr>
                        <a:t>DL: 25, 40; WL: 70, 85, 100</a:t>
                      </a:r>
                    </a:p>
                    <a:p>
                      <a:r>
                        <a:rPr sz="1275" b="0">
                          <a:solidFill>
                            <a:srgbClr val="000000"/>
                          </a:solidFill>
                          <a:latin typeface="Calibri"/>
                          <a:ea typeface="Calibri"/>
                          <a:cs typeface="Calibri"/>
                        </a:rPr>
                        <a:t>span: 8, 10, 12; speed: 130, 145, 160</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2"/>
                  </a:ext>
                </a:extLst>
              </a:tr>
              <a:tr h="571500">
                <a:tc>
                  <a:txBody>
                    <a:bodyPr/>
                    <a:lstStyle/>
                    <a:p>
                      <a:r>
                        <a:rPr sz="1275" b="0">
                          <a:solidFill>
                            <a:srgbClr val="000000"/>
                          </a:solidFill>
                          <a:latin typeface="Calibri"/>
                          <a:ea typeface="Calibri"/>
                          <a:cs typeface="Calibri"/>
                        </a:rPr>
                        <a:t>focus</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275" b="0">
                          <a:solidFill>
                            <a:srgbClr val="000000"/>
                          </a:solidFill>
                          <a:latin typeface="Calibri"/>
                          <a:ea typeface="Calibri"/>
                          <a:cs typeface="Calibri"/>
                        </a:rPr>
                        <a:t>89</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275" b="0">
                          <a:solidFill>
                            <a:srgbClr val="000000"/>
                          </a:solidFill>
                          <a:latin typeface="Calibri"/>
                          <a:ea typeface="Calibri"/>
                          <a:cs typeface="Calibri"/>
                        </a:rPr>
                        <a:t>DL: 40, 60, 80; WL: 70, 85</a:t>
                      </a:r>
                    </a:p>
                    <a:p>
                      <a:r>
                        <a:rPr sz="1275" b="0">
                          <a:solidFill>
                            <a:srgbClr val="000000"/>
                          </a:solidFill>
                          <a:latin typeface="Calibri"/>
                          <a:ea typeface="Calibri"/>
                          <a:cs typeface="Calibri"/>
                        </a:rPr>
                        <a:t>span: 9; speed: 140, 160</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3"/>
                  </a:ext>
                </a:extLst>
              </a:tr>
              <a:tr h="571500">
                <a:tc>
                  <a:txBody>
                    <a:bodyPr/>
                    <a:lstStyle/>
                    <a:p>
                      <a:r>
                        <a:rPr sz="1275" b="0">
                          <a:solidFill>
                            <a:srgbClr val="000000"/>
                          </a:solidFill>
                          <a:latin typeface="Calibri"/>
                          <a:ea typeface="Calibri"/>
                          <a:cs typeface="Calibri"/>
                        </a:rPr>
                        <a:t>coordinate</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275" b="0">
                          <a:solidFill>
                            <a:srgbClr val="000000"/>
                          </a:solidFill>
                          <a:latin typeface="Calibri"/>
                          <a:ea typeface="Calibri"/>
                          <a:cs typeface="Calibri"/>
                        </a:rPr>
                        <a:t>209</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275" b="0">
                          <a:solidFill>
                            <a:srgbClr val="000000"/>
                          </a:solidFill>
                          <a:latin typeface="Calibri"/>
                          <a:ea typeface="Calibri"/>
                          <a:cs typeface="Calibri"/>
                        </a:rPr>
                        <a:t>DL: 20 to 80 (9 values); WL: 65 to 115 (6 values)</a:t>
                      </a:r>
                    </a:p>
                    <a:p>
                      <a:r>
                        <a:rPr sz="1275" b="0">
                          <a:solidFill>
                            <a:srgbClr val="000000"/>
                          </a:solidFill>
                          <a:latin typeface="Calibri"/>
                          <a:ea typeface="Calibri"/>
                          <a:cs typeface="Calibri"/>
                        </a:rPr>
                        <a:t>span: 7 to 13 (7 values); speed: 110 to 160 (6 values)</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4"/>
                  </a:ext>
                </a:extLst>
              </a:tr>
              <a:tr h="571500">
                <a:tc>
                  <a:txBody>
                    <a:bodyPr/>
                    <a:lstStyle/>
                    <a:p>
                      <a:r>
                        <a:rPr sz="1275" b="0">
                          <a:solidFill>
                            <a:srgbClr val="000000"/>
                          </a:solidFill>
                          <a:latin typeface="Calibri"/>
                          <a:ea typeface="Calibri"/>
                          <a:cs typeface="Calibri"/>
                        </a:rPr>
                        <a:t>refine</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275" b="0">
                          <a:solidFill>
                            <a:srgbClr val="000000"/>
                          </a:solidFill>
                          <a:latin typeface="Calibri"/>
                          <a:ea typeface="Calibri"/>
                          <a:cs typeface="Calibri"/>
                        </a:rPr>
                        <a:t>163</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275" b="0">
                          <a:solidFill>
                            <a:srgbClr val="000000"/>
                          </a:solidFill>
                          <a:latin typeface="Calibri"/>
                          <a:ea typeface="Calibri"/>
                          <a:cs typeface="Calibri"/>
                        </a:rPr>
                        <a:t>DL: 25 to 80 (8 values); WL: 90 to 150 (8 values)</a:t>
                      </a:r>
                    </a:p>
                    <a:p>
                      <a:r>
                        <a:rPr sz="1275" b="0">
                          <a:solidFill>
                            <a:srgbClr val="000000"/>
                          </a:solidFill>
                          <a:latin typeface="Calibri"/>
                          <a:ea typeface="Calibri"/>
                          <a:cs typeface="Calibri"/>
                        </a:rPr>
                        <a:t>span: 4.5 to 6.5 (6 values); speed: 140, 150, 155, 160</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5"/>
                  </a:ext>
                </a:extLst>
              </a:tr>
              <a:tr h="571500">
                <a:tc>
                  <a:txBody>
                    <a:bodyPr/>
                    <a:lstStyle/>
                    <a:p>
                      <a:r>
                        <a:rPr sz="1275" b="0">
                          <a:solidFill>
                            <a:srgbClr val="000000"/>
                          </a:solidFill>
                          <a:latin typeface="Calibri"/>
                          <a:ea typeface="Calibri"/>
                          <a:cs typeface="Calibri"/>
                        </a:rPr>
                        <a:t>realbattery</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275" b="0">
                          <a:solidFill>
                            <a:srgbClr val="000000"/>
                          </a:solidFill>
                          <a:latin typeface="Calibri"/>
                          <a:ea typeface="Calibri"/>
                          <a:cs typeface="Calibri"/>
                        </a:rPr>
                        <a:t>135</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275" b="0">
                          <a:solidFill>
                            <a:srgbClr val="000000"/>
                          </a:solidFill>
                          <a:latin typeface="Calibri"/>
                          <a:ea typeface="Calibri"/>
                          <a:cs typeface="Calibri"/>
                        </a:rPr>
                        <a:t>DL: 25, 35, 45; WL: 90, 110</a:t>
                      </a:r>
                    </a:p>
                    <a:p>
                      <a:r>
                        <a:rPr sz="1275" b="0">
                          <a:solidFill>
                            <a:srgbClr val="000000"/>
                          </a:solidFill>
                          <a:latin typeface="Calibri"/>
                          <a:ea typeface="Calibri"/>
                          <a:cs typeface="Calibri"/>
                        </a:rPr>
                        <a:t>span: 6, 8; speed: 160</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8707608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1E65E86-BD00-4960-8042-C6430339C466}"/>
              </a:ext>
            </a:extLst>
          </p:cNvPr>
          <p:cNvSpPr>
            <a:spLocks noGrp="1"/>
          </p:cNvSpPr>
          <p:nvPr/>
        </p:nvSpPr>
        <p:spPr>
          <a:xfrm>
            <a:off x="838200" y="361950"/>
            <a:ext cx="10572750" cy="495300"/>
          </a:xfrm>
          <a:prstGeom prst="rect">
            <a:avLst/>
          </a:prstGeom>
          <a:noFill/>
          <a:ln w="0">
            <a:noFill/>
          </a:ln>
        </p:spPr>
        <p:txBody>
          <a:bodyPr lIns="0" tIns="0" rIns="0" bIns="0"/>
          <a:lstStyle>
            <a:defPPr>
              <a:defRPr sz="2400" b="1">
                <a:solidFill>
                  <a:srgbClr val="000000"/>
                </a:solidFill>
                <a:latin typeface="Calibri"/>
                <a:ea typeface="Calibri"/>
                <a:cs typeface="Calibri"/>
              </a:defRPr>
            </a:defPPr>
            <a:lvl1pPr>
              <a:defRPr sz="2400" b="1">
                <a:solidFill>
                  <a:srgbClr val="000000"/>
                </a:solidFill>
                <a:latin typeface="Calibri"/>
                <a:ea typeface="Calibri"/>
                <a:cs typeface="Calibri"/>
              </a:defRPr>
            </a:lvl1pPr>
            <a:lvl2pPr>
              <a:defRPr sz="2400" b="1">
                <a:solidFill>
                  <a:srgbClr val="000000"/>
                </a:solidFill>
                <a:latin typeface="Calibri"/>
                <a:ea typeface="Calibri"/>
                <a:cs typeface="Calibri"/>
              </a:defRPr>
            </a:lvl2pPr>
            <a:lvl3pPr>
              <a:defRPr sz="2400" b="1">
                <a:solidFill>
                  <a:srgbClr val="000000"/>
                </a:solidFill>
                <a:latin typeface="Calibri"/>
                <a:ea typeface="Calibri"/>
                <a:cs typeface="Calibri"/>
              </a:defRPr>
            </a:lvl3pPr>
            <a:lvl4pPr>
              <a:defRPr sz="2400" b="1">
                <a:solidFill>
                  <a:srgbClr val="000000"/>
                </a:solidFill>
                <a:latin typeface="Calibri"/>
                <a:ea typeface="Calibri"/>
                <a:cs typeface="Calibri"/>
              </a:defRPr>
            </a:lvl4pPr>
            <a:lvl5pPr>
              <a:defRPr sz="2400" b="1">
                <a:solidFill>
                  <a:srgbClr val="000000"/>
                </a:solidFill>
                <a:latin typeface="Calibri"/>
                <a:ea typeface="Calibri"/>
                <a:cs typeface="Calibri"/>
              </a:defRPr>
            </a:lvl5pPr>
            <a:lvl6pPr>
              <a:defRPr sz="2400" b="1">
                <a:solidFill>
                  <a:srgbClr val="000000"/>
                </a:solidFill>
                <a:latin typeface="Calibri"/>
                <a:ea typeface="Calibri"/>
                <a:cs typeface="Calibri"/>
              </a:defRPr>
            </a:lvl6pPr>
            <a:lvl7pPr>
              <a:defRPr sz="2400" b="1">
                <a:solidFill>
                  <a:srgbClr val="000000"/>
                </a:solidFill>
                <a:latin typeface="Calibri"/>
                <a:ea typeface="Calibri"/>
                <a:cs typeface="Calibri"/>
              </a:defRPr>
            </a:lvl7pPr>
            <a:lvl8pPr>
              <a:defRPr sz="2400" b="1">
                <a:solidFill>
                  <a:srgbClr val="000000"/>
                </a:solidFill>
                <a:latin typeface="Calibri"/>
                <a:ea typeface="Calibri"/>
                <a:cs typeface="Calibri"/>
              </a:defRPr>
            </a:lvl8pPr>
            <a:lvl9pPr>
              <a:defRPr sz="2400" b="1">
                <a:solidFill>
                  <a:srgbClr val="000000"/>
                </a:solidFill>
                <a:latin typeface="Calibri"/>
                <a:ea typeface="Calibri"/>
                <a:cs typeface="Calibri"/>
              </a:defRPr>
            </a:lvl9pPr>
          </a:lstStyle>
          <a:p>
            <a:pPr>
              <a:defRPr sz="2400" b="1">
                <a:solidFill>
                  <a:srgbClr val="000000"/>
                </a:solidFill>
                <a:latin typeface="Calibri"/>
                <a:ea typeface="Calibri"/>
                <a:cs typeface="Calibri"/>
              </a:defRPr>
            </a:pPr>
            <a:r>
              <a:rPr sz="2400" b="1">
                <a:solidFill>
                  <a:srgbClr val="000000"/>
                </a:solidFill>
                <a:latin typeface="Calibri"/>
                <a:ea typeface="Calibri"/>
                <a:cs typeface="Calibri"/>
              </a:rPr>
              <a:t>L+C lower-energy branch: explored loading space</a:t>
            </a:r>
          </a:p>
        </p:txBody>
      </p:sp>
      <p:sp>
        <p:nvSpPr>
          <p:cNvPr id="2" name="Rectangle 1">
            <a:extLst>
              <a:ext uri="{FF2B5EF4-FFF2-40B4-BE49-F238E27FC236}">
                <a16:creationId xmlns:a16="http://schemas.microsoft.com/office/drawing/2014/main" id="{C911CF13-89DC-44A7-97CC-22E209B241E6}"/>
              </a:ext>
            </a:extLst>
          </p:cNvPr>
          <p:cNvSpPr>
            <a:spLocks noGrp="1"/>
          </p:cNvSpPr>
          <p:nvPr/>
        </p:nvSpPr>
        <p:spPr>
          <a:xfrm>
            <a:off x="476250" y="1028700"/>
            <a:ext cx="11239500" cy="590550"/>
          </a:xfrm>
          <a:prstGeom prst="rect">
            <a:avLst/>
          </a:prstGeom>
          <a:noFill/>
          <a:ln w="0">
            <a:noFill/>
          </a:ln>
        </p:spPr>
        <p:txBody>
          <a:bodyPr lIns="0" tIns="0" rIns="0" bIns="0"/>
          <a:lstStyle>
            <a:defPPr>
              <a:defRPr sz="1575" b="0">
                <a:solidFill>
                  <a:srgbClr val="333333"/>
                </a:solidFill>
                <a:latin typeface="Calibri"/>
                <a:ea typeface="Calibri"/>
                <a:cs typeface="Calibri"/>
              </a:defRPr>
            </a:defPPr>
            <a:lvl1pPr>
              <a:defRPr sz="1575" b="0">
                <a:solidFill>
                  <a:srgbClr val="333333"/>
                </a:solidFill>
                <a:latin typeface="Calibri"/>
                <a:ea typeface="Calibri"/>
                <a:cs typeface="Calibri"/>
              </a:defRPr>
            </a:lvl1pPr>
            <a:lvl2pPr>
              <a:defRPr sz="1575" b="0">
                <a:solidFill>
                  <a:srgbClr val="333333"/>
                </a:solidFill>
                <a:latin typeface="Calibri"/>
                <a:ea typeface="Calibri"/>
                <a:cs typeface="Calibri"/>
              </a:defRPr>
            </a:lvl2pPr>
            <a:lvl3pPr>
              <a:defRPr sz="1575" b="0">
                <a:solidFill>
                  <a:srgbClr val="333333"/>
                </a:solidFill>
                <a:latin typeface="Calibri"/>
                <a:ea typeface="Calibri"/>
                <a:cs typeface="Calibri"/>
              </a:defRPr>
            </a:lvl3pPr>
            <a:lvl4pPr>
              <a:defRPr sz="1575" b="0">
                <a:solidFill>
                  <a:srgbClr val="333333"/>
                </a:solidFill>
                <a:latin typeface="Calibri"/>
                <a:ea typeface="Calibri"/>
                <a:cs typeface="Calibri"/>
              </a:defRPr>
            </a:lvl4pPr>
            <a:lvl5pPr>
              <a:defRPr sz="1575" b="0">
                <a:solidFill>
                  <a:srgbClr val="333333"/>
                </a:solidFill>
                <a:latin typeface="Calibri"/>
                <a:ea typeface="Calibri"/>
                <a:cs typeface="Calibri"/>
              </a:defRPr>
            </a:lvl5pPr>
            <a:lvl6pPr>
              <a:defRPr sz="1575" b="0">
                <a:solidFill>
                  <a:srgbClr val="333333"/>
                </a:solidFill>
                <a:latin typeface="Calibri"/>
                <a:ea typeface="Calibri"/>
                <a:cs typeface="Calibri"/>
              </a:defRPr>
            </a:lvl6pPr>
            <a:lvl7pPr>
              <a:defRPr sz="1575" b="0">
                <a:solidFill>
                  <a:srgbClr val="333333"/>
                </a:solidFill>
                <a:latin typeface="Calibri"/>
                <a:ea typeface="Calibri"/>
                <a:cs typeface="Calibri"/>
              </a:defRPr>
            </a:lvl7pPr>
            <a:lvl8pPr>
              <a:defRPr sz="1575" b="0">
                <a:solidFill>
                  <a:srgbClr val="333333"/>
                </a:solidFill>
                <a:latin typeface="Calibri"/>
                <a:ea typeface="Calibri"/>
                <a:cs typeface="Calibri"/>
              </a:defRPr>
            </a:lvl8pPr>
            <a:lvl9pPr>
              <a:defRPr sz="1575" b="0">
                <a:solidFill>
                  <a:srgbClr val="333333"/>
                </a:solidFill>
                <a:latin typeface="Calibri"/>
                <a:ea typeface="Calibri"/>
                <a:cs typeface="Calibri"/>
              </a:defRPr>
            </a:lvl9pPr>
          </a:lstStyle>
          <a:p>
            <a:pPr>
              <a:defRPr sz="1575" b="0">
                <a:solidFill>
                  <a:srgbClr val="333333"/>
                </a:solidFill>
                <a:latin typeface="Calibri"/>
                <a:ea typeface="Calibri"/>
                <a:cs typeface="Calibri"/>
              </a:defRPr>
            </a:pPr>
            <a:r>
              <a:rPr sz="1575" b="0">
                <a:solidFill>
                  <a:srgbClr val="333333"/>
                </a:solidFill>
                <a:latin typeface="Calibri"/>
                <a:ea typeface="Calibri"/>
                <a:cs typeface="Calibri"/>
              </a:rPr>
              <a:t>This branch belongs in the audit because it was run. Only the main Rev D deck receives this appendix. [A, B]</a:t>
            </a:r>
          </a:p>
        </p:txBody>
      </p:sp>
      <p:sp>
        <p:nvSpPr>
          <p:cNvPr id="3" name="Rectangle 2">
            <a:extLst>
              <a:ext uri="{FF2B5EF4-FFF2-40B4-BE49-F238E27FC236}">
                <a16:creationId xmlns:a16="http://schemas.microsoft.com/office/drawing/2014/main" id="{89C7DD02-C94F-4B83-9749-9160AFA78E51}"/>
              </a:ext>
            </a:extLst>
          </p:cNvPr>
          <p:cNvSpPr>
            <a:spLocks noGrp="1"/>
          </p:cNvSpPr>
          <p:nvPr/>
        </p:nvSpPr>
        <p:spPr>
          <a:xfrm>
            <a:off x="476250" y="6076950"/>
            <a:ext cx="11191875" cy="619125"/>
          </a:xfrm>
          <a:prstGeom prst="rect">
            <a:avLst/>
          </a:prstGeom>
          <a:noFill/>
          <a:ln w="0">
            <a:noFill/>
          </a:ln>
        </p:spPr>
        <p:txBody>
          <a:bodyPr lIns="0" tIns="0" rIns="0" bIns="0"/>
          <a:lstStyle>
            <a:defPPr>
              <a:defRPr sz="1050" b="0">
                <a:solidFill>
                  <a:srgbClr val="333333"/>
                </a:solidFill>
                <a:latin typeface="Calibri"/>
                <a:ea typeface="Calibri"/>
                <a:cs typeface="Calibri"/>
              </a:defRPr>
            </a:defPPr>
            <a:lvl1pPr>
              <a:defRPr sz="1050" b="0">
                <a:solidFill>
                  <a:srgbClr val="333333"/>
                </a:solidFill>
                <a:latin typeface="Calibri"/>
                <a:ea typeface="Calibri"/>
                <a:cs typeface="Calibri"/>
              </a:defRPr>
            </a:lvl1pPr>
            <a:lvl2pPr>
              <a:defRPr sz="1050" b="0">
                <a:solidFill>
                  <a:srgbClr val="333333"/>
                </a:solidFill>
                <a:latin typeface="Calibri"/>
                <a:ea typeface="Calibri"/>
                <a:cs typeface="Calibri"/>
              </a:defRPr>
            </a:lvl2pPr>
            <a:lvl3pPr>
              <a:defRPr sz="1050" b="0">
                <a:solidFill>
                  <a:srgbClr val="333333"/>
                </a:solidFill>
                <a:latin typeface="Calibri"/>
                <a:ea typeface="Calibri"/>
                <a:cs typeface="Calibri"/>
              </a:defRPr>
            </a:lvl3pPr>
            <a:lvl4pPr>
              <a:defRPr sz="1050" b="0">
                <a:solidFill>
                  <a:srgbClr val="333333"/>
                </a:solidFill>
                <a:latin typeface="Calibri"/>
                <a:ea typeface="Calibri"/>
                <a:cs typeface="Calibri"/>
              </a:defRPr>
            </a:lvl4pPr>
            <a:lvl5pPr>
              <a:defRPr sz="1050" b="0">
                <a:solidFill>
                  <a:srgbClr val="333333"/>
                </a:solidFill>
                <a:latin typeface="Calibri"/>
                <a:ea typeface="Calibri"/>
                <a:cs typeface="Calibri"/>
              </a:defRPr>
            </a:lvl5pPr>
            <a:lvl6pPr>
              <a:defRPr sz="1050" b="0">
                <a:solidFill>
                  <a:srgbClr val="333333"/>
                </a:solidFill>
                <a:latin typeface="Calibri"/>
                <a:ea typeface="Calibri"/>
                <a:cs typeface="Calibri"/>
              </a:defRPr>
            </a:lvl6pPr>
            <a:lvl7pPr>
              <a:defRPr sz="1050" b="0">
                <a:solidFill>
                  <a:srgbClr val="333333"/>
                </a:solidFill>
                <a:latin typeface="Calibri"/>
                <a:ea typeface="Calibri"/>
                <a:cs typeface="Calibri"/>
              </a:defRPr>
            </a:lvl7pPr>
            <a:lvl8pPr>
              <a:defRPr sz="1050" b="0">
                <a:solidFill>
                  <a:srgbClr val="333333"/>
                </a:solidFill>
                <a:latin typeface="Calibri"/>
                <a:ea typeface="Calibri"/>
                <a:cs typeface="Calibri"/>
              </a:defRPr>
            </a:lvl8pPr>
            <a:lvl9pPr>
              <a:defRPr sz="1050" b="0">
                <a:solidFill>
                  <a:srgbClr val="333333"/>
                </a:solidFill>
                <a:latin typeface="Calibri"/>
                <a:ea typeface="Calibri"/>
                <a:cs typeface="Calibri"/>
              </a:defRPr>
            </a:lvl9pPr>
          </a:lstStyle>
          <a:p>
            <a:pPr>
              <a:defRPr sz="1050" b="0">
                <a:solidFill>
                  <a:srgbClr val="333333"/>
                </a:solidFill>
                <a:latin typeface="Calibri"/>
                <a:ea typeface="Calibri"/>
                <a:cs typeface="Calibri"/>
              </a:defRPr>
            </a:pPr>
            <a:r>
              <a:rPr sz="1050" b="0">
                <a:solidFill>
                  <a:srgbClr val="333333"/>
                </a:solidFill>
                <a:latin typeface="Calibri"/>
                <a:ea typeface="Calibri"/>
                <a:cs typeface="Calibri"/>
              </a:rPr>
              <a:t>[A] NDARC execution archive, 28 Oct 2026: organized_runs/inventory.json; run_logs/*.jsonl; original runs/ inputs and outputs.</a:t>
            </a:r>
          </a:p>
          <a:p>
            <a:pPr>
              <a:defRPr sz="1050" b="0">
                <a:solidFill>
                  <a:srgbClr val="333333"/>
                </a:solidFill>
                <a:latin typeface="Calibri"/>
                <a:ea typeface="Calibri"/>
                <a:cs typeface="Calibri"/>
              </a:defRPr>
            </a:pPr>
            <a:r>
              <a:rPr sz="1050" b="0">
                <a:solidFill>
                  <a:srgbClr val="333333"/>
                </a:solidFill>
                <a:latin typeface="Calibri"/>
                <a:ea typeface="Calibri"/>
                <a:cs typeface="Calibri"/>
              </a:rPr>
              <a:t>[B] design-space-evidence/campaign-design-space.json and all-run-design-points.csv (this deck folder). Exact marginal sets, plans, input hashes and status.</a:t>
            </a:r>
          </a:p>
        </p:txBody>
      </p:sp>
      <p:sp>
        <p:nvSpPr>
          <p:cNvPr id="4" name="Rectangle 3">
            <a:extLst>
              <a:ext uri="{FF2B5EF4-FFF2-40B4-BE49-F238E27FC236}">
                <a16:creationId xmlns:a16="http://schemas.microsoft.com/office/drawing/2014/main" id="{65105ECC-3B72-4B1E-A3F8-09CFBF35552A}"/>
              </a:ext>
            </a:extLst>
          </p:cNvPr>
          <p:cNvSpPr>
            <a:spLocks noGrp="1"/>
          </p:cNvSpPr>
          <p:nvPr/>
        </p:nvSpPr>
        <p:spPr>
          <a:xfrm>
            <a:off x="11430000" y="6553200"/>
            <a:ext cx="333375" cy="209550"/>
          </a:xfrm>
          <a:prstGeom prst="rect">
            <a:avLst/>
          </a:prstGeom>
          <a:noFill/>
          <a:ln w="0">
            <a:noFill/>
          </a:ln>
        </p:spPr>
        <p:txBody>
          <a:bodyPr lIns="0" tIns="0" rIns="0" bIns="0"/>
          <a:lstStyle>
            <a:defPPr>
              <a:defRPr sz="1125" b="0">
                <a:solidFill>
                  <a:srgbClr val="000000"/>
                </a:solidFill>
                <a:latin typeface="Calibri"/>
                <a:ea typeface="Calibri"/>
                <a:cs typeface="Calibri"/>
              </a:defRPr>
            </a:defPPr>
            <a:lvl1pPr>
              <a:defRPr sz="1125" b="0">
                <a:solidFill>
                  <a:srgbClr val="000000"/>
                </a:solidFill>
                <a:latin typeface="Calibri"/>
                <a:ea typeface="Calibri"/>
                <a:cs typeface="Calibri"/>
              </a:defRPr>
            </a:lvl1pPr>
            <a:lvl2pPr>
              <a:defRPr sz="1125" b="0">
                <a:solidFill>
                  <a:srgbClr val="000000"/>
                </a:solidFill>
                <a:latin typeface="Calibri"/>
                <a:ea typeface="Calibri"/>
                <a:cs typeface="Calibri"/>
              </a:defRPr>
            </a:lvl2pPr>
            <a:lvl3pPr>
              <a:defRPr sz="1125" b="0">
                <a:solidFill>
                  <a:srgbClr val="000000"/>
                </a:solidFill>
                <a:latin typeface="Calibri"/>
                <a:ea typeface="Calibri"/>
                <a:cs typeface="Calibri"/>
              </a:defRPr>
            </a:lvl3pPr>
            <a:lvl4pPr>
              <a:defRPr sz="1125" b="0">
                <a:solidFill>
                  <a:srgbClr val="000000"/>
                </a:solidFill>
                <a:latin typeface="Calibri"/>
                <a:ea typeface="Calibri"/>
                <a:cs typeface="Calibri"/>
              </a:defRPr>
            </a:lvl4pPr>
            <a:lvl5pPr>
              <a:defRPr sz="1125" b="0">
                <a:solidFill>
                  <a:srgbClr val="000000"/>
                </a:solidFill>
                <a:latin typeface="Calibri"/>
                <a:ea typeface="Calibri"/>
                <a:cs typeface="Calibri"/>
              </a:defRPr>
            </a:lvl5pPr>
            <a:lvl6pPr>
              <a:defRPr sz="1125" b="0">
                <a:solidFill>
                  <a:srgbClr val="000000"/>
                </a:solidFill>
                <a:latin typeface="Calibri"/>
                <a:ea typeface="Calibri"/>
                <a:cs typeface="Calibri"/>
              </a:defRPr>
            </a:lvl6pPr>
            <a:lvl7pPr>
              <a:defRPr sz="1125" b="0">
                <a:solidFill>
                  <a:srgbClr val="000000"/>
                </a:solidFill>
                <a:latin typeface="Calibri"/>
                <a:ea typeface="Calibri"/>
                <a:cs typeface="Calibri"/>
              </a:defRPr>
            </a:lvl7pPr>
            <a:lvl8pPr>
              <a:defRPr sz="1125" b="0">
                <a:solidFill>
                  <a:srgbClr val="000000"/>
                </a:solidFill>
                <a:latin typeface="Calibri"/>
                <a:ea typeface="Calibri"/>
                <a:cs typeface="Calibri"/>
              </a:defRPr>
            </a:lvl8pPr>
            <a:lvl9pPr>
              <a:defRPr sz="1125" b="0">
                <a:solidFill>
                  <a:srgbClr val="000000"/>
                </a:solidFill>
                <a:latin typeface="Calibri"/>
                <a:ea typeface="Calibri"/>
                <a:cs typeface="Calibri"/>
              </a:defRPr>
            </a:lvl9pPr>
          </a:lstStyle>
          <a:p>
            <a:pPr>
              <a:defRPr sz="1125" b="0">
                <a:solidFill>
                  <a:srgbClr val="000000"/>
                </a:solidFill>
                <a:latin typeface="Calibri"/>
                <a:ea typeface="Calibri"/>
                <a:cs typeface="Calibri"/>
              </a:defRPr>
            </a:pPr>
            <a:r>
              <a:rPr sz="1125" b="0">
                <a:solidFill>
                  <a:srgbClr val="000000"/>
                </a:solidFill>
                <a:latin typeface="Calibri"/>
                <a:ea typeface="Calibri"/>
                <a:cs typeface="Calibri"/>
              </a:rPr>
              <a:t>42</a:t>
            </a:r>
          </a:p>
        </p:txBody>
      </p:sp>
      <p:graphicFrame>
        <p:nvGraphicFramePr>
          <p:cNvPr id="5" name="Table 4">
            <a:extLst>
              <a:ext uri="{FF2B5EF4-FFF2-40B4-BE49-F238E27FC236}">
                <a16:creationId xmlns:a16="http://schemas.microsoft.com/office/drawing/2014/main" id="{4D7E88A9-8452-43F4-93B2-2BF647B23E7E}"/>
              </a:ext>
            </a:extLst>
          </p:cNvPr>
          <p:cNvGraphicFramePr/>
          <p:nvPr/>
        </p:nvGraphicFramePr>
        <p:xfrm>
          <a:off x="476250" y="1714500"/>
          <a:ext cx="11239500" cy="4000500"/>
        </p:xfrm>
        <a:graphic>
          <a:graphicData uri="http://schemas.openxmlformats.org/drawingml/2006/table">
            <a:tbl>
              <a:tblPr/>
              <a:tblGrid>
                <a:gridCol w="2952750">
                  <a:extLst>
                    <a:ext uri="{9D8B030D-6E8A-4147-A177-3AD203B41FA5}">
                      <a16:colId xmlns:a16="http://schemas.microsoft.com/office/drawing/2014/main" val="20000"/>
                    </a:ext>
                  </a:extLst>
                </a:gridCol>
                <a:gridCol w="8286750">
                  <a:extLst>
                    <a:ext uri="{9D8B030D-6E8A-4147-A177-3AD203B41FA5}">
                      <a16:colId xmlns:a16="http://schemas.microsoft.com/office/drawing/2014/main" val="20001"/>
                    </a:ext>
                  </a:extLst>
                </a:gridCol>
              </a:tblGrid>
              <a:tr h="500063">
                <a:tc>
                  <a:txBody>
                    <a:bodyPr/>
                    <a:lstStyle/>
                    <a:p>
                      <a:r>
                        <a:rPr sz="1500" b="1">
                          <a:solidFill>
                            <a:srgbClr val="000000"/>
                          </a:solidFill>
                          <a:latin typeface="Calibri"/>
                          <a:ea typeface="Calibri"/>
                          <a:cs typeface="Calibri"/>
                        </a:rPr>
                        <a:t>Variable</a:t>
                      </a:r>
                    </a:p>
                  </a:txBody>
                  <a:tcPr>
                    <a:lnL w="7620">
                      <a:solidFill>
                        <a:srgbClr val="CCCCCC"/>
                      </a:solidFill>
                    </a:lnL>
                    <a:lnR w="7620">
                      <a:solidFill>
                        <a:srgbClr val="CCCCCC"/>
                      </a:solidFill>
                    </a:lnR>
                    <a:lnT w="7620">
                      <a:solidFill>
                        <a:srgbClr val="CCCCCC"/>
                      </a:solidFill>
                    </a:lnT>
                    <a:lnB w="7620">
                      <a:solidFill>
                        <a:srgbClr val="CCCCCC"/>
                      </a:solidFill>
                    </a:lnB>
                    <a:solidFill>
                      <a:srgbClr val="D9D9D9"/>
                    </a:solidFill>
                  </a:tcPr>
                </a:tc>
                <a:tc>
                  <a:txBody>
                    <a:bodyPr/>
                    <a:lstStyle/>
                    <a:p>
                      <a:r>
                        <a:rPr sz="1500" b="1">
                          <a:solidFill>
                            <a:srgbClr val="000000"/>
                          </a:solidFill>
                          <a:latin typeface="Calibri"/>
                          <a:ea typeface="Calibri"/>
                          <a:cs typeface="Calibri"/>
                        </a:rPr>
                        <a:t>Explored controls / interpretation</a:t>
                      </a:r>
                    </a:p>
                  </a:txBody>
                  <a:tcPr>
                    <a:lnL w="7620" cap="flat" cmpd="sng" algn="ctr">
                      <a:solidFill>
                        <a:srgbClr val="CCCCCC"/>
                      </a:solidFill>
                      <a:prstDash val="solid"/>
                      <a:round/>
                      <a:headEnd type="none" w="med" len="med"/>
                      <a:tailEnd type="none" w="med" len="med"/>
                    </a:lnL>
                    <a:lnR w="7620">
                      <a:solidFill>
                        <a:srgbClr val="CCCCCC"/>
                      </a:solidFill>
                    </a:lnR>
                    <a:lnT w="7620">
                      <a:solidFill>
                        <a:srgbClr val="CCCCCC"/>
                      </a:solidFill>
                    </a:lnT>
                    <a:lnB w="7620">
                      <a:solidFill>
                        <a:srgbClr val="CCCCCC"/>
                      </a:solidFill>
                    </a:lnB>
                    <a:solidFill>
                      <a:srgbClr val="D9D9D9"/>
                    </a:solidFill>
                  </a:tcPr>
                </a:tc>
                <a:extLst>
                  <a:ext uri="{0D108BD9-81ED-4DB2-BD59-A6C34878D82A}">
                    <a16:rowId xmlns:a16="http://schemas.microsoft.com/office/drawing/2014/main" val="10000"/>
                  </a:ext>
                </a:extLst>
              </a:tr>
              <a:tr h="500063">
                <a:tc>
                  <a:txBody>
                    <a:bodyPr/>
                    <a:lstStyle/>
                    <a:p>
                      <a:r>
                        <a:rPr sz="1500" b="0">
                          <a:solidFill>
                            <a:srgbClr val="000000"/>
                          </a:solidFill>
                          <a:latin typeface="Calibri"/>
                          <a:ea typeface="Calibri"/>
                          <a:cs typeface="Calibri"/>
                        </a:rPr>
                        <a:t>Coarse DL, kg/m²</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18, 22, 26, 30, 34, 38</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1"/>
                  </a:ext>
                </a:extLst>
              </a:tr>
              <a:tr h="500063">
                <a:tc>
                  <a:txBody>
                    <a:bodyPr/>
                    <a:lstStyle/>
                    <a:p>
                      <a:r>
                        <a:rPr sz="1500" b="0">
                          <a:solidFill>
                            <a:srgbClr val="000000"/>
                          </a:solidFill>
                          <a:latin typeface="Calibri"/>
                          <a:ea typeface="Calibri"/>
                          <a:cs typeface="Calibri"/>
                        </a:rPr>
                        <a:t>Coarse WL, kg/m²</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65, 75, 85, 95, 105</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2"/>
                  </a:ext>
                </a:extLst>
              </a:tr>
              <a:tr h="500063">
                <a:tc>
                  <a:txBody>
                    <a:bodyPr/>
                    <a:lstStyle/>
                    <a:p>
                      <a:r>
                        <a:rPr sz="1500" b="0">
                          <a:solidFill>
                            <a:srgbClr val="000000"/>
                          </a:solidFill>
                          <a:latin typeface="Calibri"/>
                          <a:ea typeface="Calibri"/>
                          <a:cs typeface="Calibri"/>
                        </a:rPr>
                        <a:t>Refinement</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3 × 3 around selected center, DL offsets −2, 0, +2 and WL offsets −5, 0, +5</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3"/>
                  </a:ext>
                </a:extLst>
              </a:tr>
              <a:tr h="500063">
                <a:tc>
                  <a:txBody>
                    <a:bodyPr/>
                    <a:lstStyle/>
                    <a:p>
                      <a:r>
                        <a:rPr sz="1500" b="0">
                          <a:solidFill>
                            <a:srgbClr val="000000"/>
                          </a:solidFill>
                          <a:latin typeface="Calibri"/>
                          <a:ea typeface="Calibri"/>
                          <a:cs typeface="Calibri"/>
                        </a:rPr>
                        <a:t>Later fine grid</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DL 29, 30, 31 and WL 95, 97, 99 kg/m²</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4"/>
                  </a:ext>
                </a:extLst>
              </a:tr>
              <a:tr h="500063">
                <a:tc>
                  <a:txBody>
                    <a:bodyPr/>
                    <a:lstStyle/>
                    <a:p>
                      <a:r>
                        <a:rPr sz="1500" b="0">
                          <a:solidFill>
                            <a:srgbClr val="000000"/>
                          </a:solidFill>
                          <a:latin typeface="Calibri"/>
                          <a:ea typeface="Calibri"/>
                          <a:cs typeface="Calibri"/>
                        </a:rPr>
                        <a:t>Initialization repeats</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400 kg / 624 cells and 450 kg / 768 cells</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5"/>
                  </a:ext>
                </a:extLst>
              </a:tr>
              <a:tr h="500063">
                <a:tc>
                  <a:txBody>
                    <a:bodyPr/>
                    <a:lstStyle/>
                    <a:p>
                      <a:r>
                        <a:rPr sz="1500" b="0">
                          <a:solidFill>
                            <a:srgbClr val="000000"/>
                          </a:solidFill>
                          <a:latin typeface="Calibri"/>
                          <a:ea typeface="Calibri"/>
                          <a:cs typeface="Calibri"/>
                        </a:rPr>
                        <a:t>Fixed assumptions</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Span 7 m, main pack 142.749 Wh/kg, avionics pack 9.448 kg installed</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6"/>
                  </a:ext>
                </a:extLst>
              </a:tr>
              <a:tr h="500063">
                <a:tc>
                  <a:txBody>
                    <a:bodyPr/>
                    <a:lstStyle/>
                    <a:p>
                      <a:r>
                        <a:rPr sz="1500" b="0">
                          <a:solidFill>
                            <a:srgbClr val="000000"/>
                          </a:solidFill>
                          <a:latin typeface="Calibri"/>
                          <a:ea typeface="Calibri"/>
                          <a:cs typeface="Calibri"/>
                        </a:rPr>
                        <a:t>Limits</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Screen motor torque, RPM, voltage, SOC and convergence separately</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3530789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4FA967E-F36E-4B57-AA61-D72AA1116A94}"/>
              </a:ext>
            </a:extLst>
          </p:cNvPr>
          <p:cNvSpPr>
            <a:spLocks noGrp="1"/>
          </p:cNvSpPr>
          <p:nvPr/>
        </p:nvSpPr>
        <p:spPr>
          <a:xfrm>
            <a:off x="838200" y="361950"/>
            <a:ext cx="10572750" cy="495300"/>
          </a:xfrm>
          <a:prstGeom prst="rect">
            <a:avLst/>
          </a:prstGeom>
          <a:noFill/>
          <a:ln w="0">
            <a:noFill/>
          </a:ln>
        </p:spPr>
        <p:txBody>
          <a:bodyPr lIns="0" tIns="0" rIns="0" bIns="0"/>
          <a:lstStyle>
            <a:defPPr>
              <a:defRPr sz="2400" b="1">
                <a:solidFill>
                  <a:srgbClr val="000000"/>
                </a:solidFill>
                <a:latin typeface="Calibri"/>
                <a:ea typeface="Calibri"/>
                <a:cs typeface="Calibri"/>
              </a:defRPr>
            </a:defPPr>
            <a:lvl1pPr>
              <a:defRPr sz="2400" b="1">
                <a:solidFill>
                  <a:srgbClr val="000000"/>
                </a:solidFill>
                <a:latin typeface="Calibri"/>
                <a:ea typeface="Calibri"/>
                <a:cs typeface="Calibri"/>
              </a:defRPr>
            </a:lvl1pPr>
            <a:lvl2pPr>
              <a:defRPr sz="2400" b="1">
                <a:solidFill>
                  <a:srgbClr val="000000"/>
                </a:solidFill>
                <a:latin typeface="Calibri"/>
                <a:ea typeface="Calibri"/>
                <a:cs typeface="Calibri"/>
              </a:defRPr>
            </a:lvl2pPr>
            <a:lvl3pPr>
              <a:defRPr sz="2400" b="1">
                <a:solidFill>
                  <a:srgbClr val="000000"/>
                </a:solidFill>
                <a:latin typeface="Calibri"/>
                <a:ea typeface="Calibri"/>
                <a:cs typeface="Calibri"/>
              </a:defRPr>
            </a:lvl3pPr>
            <a:lvl4pPr>
              <a:defRPr sz="2400" b="1">
                <a:solidFill>
                  <a:srgbClr val="000000"/>
                </a:solidFill>
                <a:latin typeface="Calibri"/>
                <a:ea typeface="Calibri"/>
                <a:cs typeface="Calibri"/>
              </a:defRPr>
            </a:lvl4pPr>
            <a:lvl5pPr>
              <a:defRPr sz="2400" b="1">
                <a:solidFill>
                  <a:srgbClr val="000000"/>
                </a:solidFill>
                <a:latin typeface="Calibri"/>
                <a:ea typeface="Calibri"/>
                <a:cs typeface="Calibri"/>
              </a:defRPr>
            </a:lvl5pPr>
            <a:lvl6pPr>
              <a:defRPr sz="2400" b="1">
                <a:solidFill>
                  <a:srgbClr val="000000"/>
                </a:solidFill>
                <a:latin typeface="Calibri"/>
                <a:ea typeface="Calibri"/>
                <a:cs typeface="Calibri"/>
              </a:defRPr>
            </a:lvl6pPr>
            <a:lvl7pPr>
              <a:defRPr sz="2400" b="1">
                <a:solidFill>
                  <a:srgbClr val="000000"/>
                </a:solidFill>
                <a:latin typeface="Calibri"/>
                <a:ea typeface="Calibri"/>
                <a:cs typeface="Calibri"/>
              </a:defRPr>
            </a:lvl7pPr>
            <a:lvl8pPr>
              <a:defRPr sz="2400" b="1">
                <a:solidFill>
                  <a:srgbClr val="000000"/>
                </a:solidFill>
                <a:latin typeface="Calibri"/>
                <a:ea typeface="Calibri"/>
                <a:cs typeface="Calibri"/>
              </a:defRPr>
            </a:lvl8pPr>
            <a:lvl9pPr>
              <a:defRPr sz="2400" b="1">
                <a:solidFill>
                  <a:srgbClr val="000000"/>
                </a:solidFill>
                <a:latin typeface="Calibri"/>
                <a:ea typeface="Calibri"/>
                <a:cs typeface="Calibri"/>
              </a:defRPr>
            </a:lvl9pPr>
          </a:lstStyle>
          <a:p>
            <a:pPr>
              <a:defRPr sz="2400" b="1">
                <a:solidFill>
                  <a:srgbClr val="000000"/>
                </a:solidFill>
                <a:latin typeface="Calibri"/>
                <a:ea typeface="Calibri"/>
                <a:cs typeface="Calibri"/>
              </a:defRPr>
            </a:pPr>
            <a:r>
              <a:rPr sz="2400" b="1">
                <a:solidFill>
                  <a:srgbClr val="000000"/>
                </a:solidFill>
                <a:latin typeface="Calibri"/>
                <a:ea typeface="Calibri"/>
                <a:cs typeface="Calibri"/>
              </a:rPr>
              <a:t>Piston tiltrotor: earlier searches and corrections</a:t>
            </a:r>
          </a:p>
        </p:txBody>
      </p:sp>
      <p:sp>
        <p:nvSpPr>
          <p:cNvPr id="2" name="Rectangle 1">
            <a:extLst>
              <a:ext uri="{FF2B5EF4-FFF2-40B4-BE49-F238E27FC236}">
                <a16:creationId xmlns:a16="http://schemas.microsoft.com/office/drawing/2014/main" id="{CB90F412-8EB8-473F-89A6-2685A94ADAB0}"/>
              </a:ext>
            </a:extLst>
          </p:cNvPr>
          <p:cNvSpPr>
            <a:spLocks noGrp="1"/>
          </p:cNvSpPr>
          <p:nvPr/>
        </p:nvSpPr>
        <p:spPr>
          <a:xfrm>
            <a:off x="476250" y="1028700"/>
            <a:ext cx="11239500" cy="590550"/>
          </a:xfrm>
          <a:prstGeom prst="rect">
            <a:avLst/>
          </a:prstGeom>
          <a:noFill/>
          <a:ln w="0">
            <a:noFill/>
          </a:ln>
        </p:spPr>
        <p:txBody>
          <a:bodyPr lIns="0" tIns="0" rIns="0" bIns="0"/>
          <a:lstStyle>
            <a:defPPr>
              <a:defRPr sz="1575" b="0">
                <a:solidFill>
                  <a:srgbClr val="333333"/>
                </a:solidFill>
                <a:latin typeface="Calibri"/>
                <a:ea typeface="Calibri"/>
                <a:cs typeface="Calibri"/>
              </a:defRPr>
            </a:defPPr>
            <a:lvl1pPr>
              <a:defRPr sz="1575" b="0">
                <a:solidFill>
                  <a:srgbClr val="333333"/>
                </a:solidFill>
                <a:latin typeface="Calibri"/>
                <a:ea typeface="Calibri"/>
                <a:cs typeface="Calibri"/>
              </a:defRPr>
            </a:lvl1pPr>
            <a:lvl2pPr>
              <a:defRPr sz="1575" b="0">
                <a:solidFill>
                  <a:srgbClr val="333333"/>
                </a:solidFill>
                <a:latin typeface="Calibri"/>
                <a:ea typeface="Calibri"/>
                <a:cs typeface="Calibri"/>
              </a:defRPr>
            </a:lvl2pPr>
            <a:lvl3pPr>
              <a:defRPr sz="1575" b="0">
                <a:solidFill>
                  <a:srgbClr val="333333"/>
                </a:solidFill>
                <a:latin typeface="Calibri"/>
                <a:ea typeface="Calibri"/>
                <a:cs typeface="Calibri"/>
              </a:defRPr>
            </a:lvl3pPr>
            <a:lvl4pPr>
              <a:defRPr sz="1575" b="0">
                <a:solidFill>
                  <a:srgbClr val="333333"/>
                </a:solidFill>
                <a:latin typeface="Calibri"/>
                <a:ea typeface="Calibri"/>
                <a:cs typeface="Calibri"/>
              </a:defRPr>
            </a:lvl4pPr>
            <a:lvl5pPr>
              <a:defRPr sz="1575" b="0">
                <a:solidFill>
                  <a:srgbClr val="333333"/>
                </a:solidFill>
                <a:latin typeface="Calibri"/>
                <a:ea typeface="Calibri"/>
                <a:cs typeface="Calibri"/>
              </a:defRPr>
            </a:lvl5pPr>
            <a:lvl6pPr>
              <a:defRPr sz="1575" b="0">
                <a:solidFill>
                  <a:srgbClr val="333333"/>
                </a:solidFill>
                <a:latin typeface="Calibri"/>
                <a:ea typeface="Calibri"/>
                <a:cs typeface="Calibri"/>
              </a:defRPr>
            </a:lvl6pPr>
            <a:lvl7pPr>
              <a:defRPr sz="1575" b="0">
                <a:solidFill>
                  <a:srgbClr val="333333"/>
                </a:solidFill>
                <a:latin typeface="Calibri"/>
                <a:ea typeface="Calibri"/>
                <a:cs typeface="Calibri"/>
              </a:defRPr>
            </a:lvl7pPr>
            <a:lvl8pPr>
              <a:defRPr sz="1575" b="0">
                <a:solidFill>
                  <a:srgbClr val="333333"/>
                </a:solidFill>
                <a:latin typeface="Calibri"/>
                <a:ea typeface="Calibri"/>
                <a:cs typeface="Calibri"/>
              </a:defRPr>
            </a:lvl8pPr>
            <a:lvl9pPr>
              <a:defRPr sz="1575" b="0">
                <a:solidFill>
                  <a:srgbClr val="333333"/>
                </a:solidFill>
                <a:latin typeface="Calibri"/>
                <a:ea typeface="Calibri"/>
                <a:cs typeface="Calibri"/>
              </a:defRPr>
            </a:lvl9pPr>
          </a:lstStyle>
          <a:p>
            <a:pPr>
              <a:defRPr sz="1575" b="0">
                <a:solidFill>
                  <a:srgbClr val="333333"/>
                </a:solidFill>
                <a:latin typeface="Calibri"/>
                <a:ea typeface="Calibri"/>
                <a:cs typeface="Calibri"/>
              </a:defRPr>
            </a:pPr>
            <a:r>
              <a:rPr sz="1575" b="0">
                <a:solidFill>
                  <a:srgbClr val="333333"/>
                </a:solidFill>
                <a:latin typeface="Calibri"/>
                <a:ea typeface="Calibri"/>
                <a:cs typeface="Calibri"/>
              </a:rPr>
              <a:t>The 651-folder piston label includes A1 trades, mission corrections, TR60 reconstructions and later comparisons. [A, B]</a:t>
            </a:r>
          </a:p>
        </p:txBody>
      </p:sp>
      <p:sp>
        <p:nvSpPr>
          <p:cNvPr id="3" name="Rectangle 2">
            <a:extLst>
              <a:ext uri="{FF2B5EF4-FFF2-40B4-BE49-F238E27FC236}">
                <a16:creationId xmlns:a16="http://schemas.microsoft.com/office/drawing/2014/main" id="{3730EEB7-6074-47C2-84CE-2D0EE73442E8}"/>
              </a:ext>
            </a:extLst>
          </p:cNvPr>
          <p:cNvSpPr>
            <a:spLocks noGrp="1"/>
          </p:cNvSpPr>
          <p:nvPr/>
        </p:nvSpPr>
        <p:spPr>
          <a:xfrm>
            <a:off x="476250" y="6076950"/>
            <a:ext cx="11191875" cy="619125"/>
          </a:xfrm>
          <a:prstGeom prst="rect">
            <a:avLst/>
          </a:prstGeom>
          <a:noFill/>
          <a:ln w="0">
            <a:noFill/>
          </a:ln>
        </p:spPr>
        <p:txBody>
          <a:bodyPr lIns="0" tIns="0" rIns="0" bIns="0"/>
          <a:lstStyle>
            <a:defPPr>
              <a:defRPr sz="1050" b="0">
                <a:solidFill>
                  <a:srgbClr val="333333"/>
                </a:solidFill>
                <a:latin typeface="Calibri"/>
                <a:ea typeface="Calibri"/>
                <a:cs typeface="Calibri"/>
              </a:defRPr>
            </a:defPPr>
            <a:lvl1pPr>
              <a:defRPr sz="1050" b="0">
                <a:solidFill>
                  <a:srgbClr val="333333"/>
                </a:solidFill>
                <a:latin typeface="Calibri"/>
                <a:ea typeface="Calibri"/>
                <a:cs typeface="Calibri"/>
              </a:defRPr>
            </a:lvl1pPr>
            <a:lvl2pPr>
              <a:defRPr sz="1050" b="0">
                <a:solidFill>
                  <a:srgbClr val="333333"/>
                </a:solidFill>
                <a:latin typeface="Calibri"/>
                <a:ea typeface="Calibri"/>
                <a:cs typeface="Calibri"/>
              </a:defRPr>
            </a:lvl2pPr>
            <a:lvl3pPr>
              <a:defRPr sz="1050" b="0">
                <a:solidFill>
                  <a:srgbClr val="333333"/>
                </a:solidFill>
                <a:latin typeface="Calibri"/>
                <a:ea typeface="Calibri"/>
                <a:cs typeface="Calibri"/>
              </a:defRPr>
            </a:lvl3pPr>
            <a:lvl4pPr>
              <a:defRPr sz="1050" b="0">
                <a:solidFill>
                  <a:srgbClr val="333333"/>
                </a:solidFill>
                <a:latin typeface="Calibri"/>
                <a:ea typeface="Calibri"/>
                <a:cs typeface="Calibri"/>
              </a:defRPr>
            </a:lvl4pPr>
            <a:lvl5pPr>
              <a:defRPr sz="1050" b="0">
                <a:solidFill>
                  <a:srgbClr val="333333"/>
                </a:solidFill>
                <a:latin typeface="Calibri"/>
                <a:ea typeface="Calibri"/>
                <a:cs typeface="Calibri"/>
              </a:defRPr>
            </a:lvl5pPr>
            <a:lvl6pPr>
              <a:defRPr sz="1050" b="0">
                <a:solidFill>
                  <a:srgbClr val="333333"/>
                </a:solidFill>
                <a:latin typeface="Calibri"/>
                <a:ea typeface="Calibri"/>
                <a:cs typeface="Calibri"/>
              </a:defRPr>
            </a:lvl6pPr>
            <a:lvl7pPr>
              <a:defRPr sz="1050" b="0">
                <a:solidFill>
                  <a:srgbClr val="333333"/>
                </a:solidFill>
                <a:latin typeface="Calibri"/>
                <a:ea typeface="Calibri"/>
                <a:cs typeface="Calibri"/>
              </a:defRPr>
            </a:lvl7pPr>
            <a:lvl8pPr>
              <a:defRPr sz="1050" b="0">
                <a:solidFill>
                  <a:srgbClr val="333333"/>
                </a:solidFill>
                <a:latin typeface="Calibri"/>
                <a:ea typeface="Calibri"/>
                <a:cs typeface="Calibri"/>
              </a:defRPr>
            </a:lvl8pPr>
            <a:lvl9pPr>
              <a:defRPr sz="1050" b="0">
                <a:solidFill>
                  <a:srgbClr val="333333"/>
                </a:solidFill>
                <a:latin typeface="Calibri"/>
                <a:ea typeface="Calibri"/>
                <a:cs typeface="Calibri"/>
              </a:defRPr>
            </a:lvl9pPr>
          </a:lstStyle>
          <a:p>
            <a:pPr>
              <a:defRPr sz="1050" b="0">
                <a:solidFill>
                  <a:srgbClr val="333333"/>
                </a:solidFill>
                <a:latin typeface="Calibri"/>
                <a:ea typeface="Calibri"/>
                <a:cs typeface="Calibri"/>
              </a:defRPr>
            </a:pPr>
            <a:r>
              <a:rPr sz="1050" b="0">
                <a:solidFill>
                  <a:srgbClr val="333333"/>
                </a:solidFill>
                <a:latin typeface="Calibri"/>
                <a:ea typeface="Calibri"/>
                <a:cs typeface="Calibri"/>
              </a:rPr>
              <a:t>[A] NDARC execution archive, 28 Oct 2026: organized_runs/inventory.json; run_logs/*.jsonl; original runs/ inputs and outputs.</a:t>
            </a:r>
          </a:p>
          <a:p>
            <a:pPr>
              <a:defRPr sz="1050" b="0">
                <a:solidFill>
                  <a:srgbClr val="333333"/>
                </a:solidFill>
                <a:latin typeface="Calibri"/>
                <a:ea typeface="Calibri"/>
                <a:cs typeface="Calibri"/>
              </a:defRPr>
            </a:pPr>
            <a:r>
              <a:rPr sz="1050" b="0">
                <a:solidFill>
                  <a:srgbClr val="333333"/>
                </a:solidFill>
                <a:latin typeface="Calibri"/>
                <a:ea typeface="Calibri"/>
                <a:cs typeface="Calibri"/>
              </a:rPr>
              <a:t>[B] design-space-evidence/campaign-design-space.json and all-run-design-points.csv (this deck folder). Exact marginal sets, plans, input hashes and status.</a:t>
            </a:r>
          </a:p>
        </p:txBody>
      </p:sp>
      <p:sp>
        <p:nvSpPr>
          <p:cNvPr id="4" name="Rectangle 3">
            <a:extLst>
              <a:ext uri="{FF2B5EF4-FFF2-40B4-BE49-F238E27FC236}">
                <a16:creationId xmlns:a16="http://schemas.microsoft.com/office/drawing/2014/main" id="{7B448CD5-4913-48D2-B58C-490D72EBD138}"/>
              </a:ext>
            </a:extLst>
          </p:cNvPr>
          <p:cNvSpPr>
            <a:spLocks noGrp="1"/>
          </p:cNvSpPr>
          <p:nvPr/>
        </p:nvSpPr>
        <p:spPr>
          <a:xfrm>
            <a:off x="11430000" y="6553200"/>
            <a:ext cx="333375" cy="209550"/>
          </a:xfrm>
          <a:prstGeom prst="rect">
            <a:avLst/>
          </a:prstGeom>
          <a:noFill/>
          <a:ln w="0">
            <a:noFill/>
          </a:ln>
        </p:spPr>
        <p:txBody>
          <a:bodyPr lIns="0" tIns="0" rIns="0" bIns="0"/>
          <a:lstStyle>
            <a:defPPr>
              <a:defRPr sz="1125" b="0">
                <a:solidFill>
                  <a:srgbClr val="000000"/>
                </a:solidFill>
                <a:latin typeface="Calibri"/>
                <a:ea typeface="Calibri"/>
                <a:cs typeface="Calibri"/>
              </a:defRPr>
            </a:defPPr>
            <a:lvl1pPr>
              <a:defRPr sz="1125" b="0">
                <a:solidFill>
                  <a:srgbClr val="000000"/>
                </a:solidFill>
                <a:latin typeface="Calibri"/>
                <a:ea typeface="Calibri"/>
                <a:cs typeface="Calibri"/>
              </a:defRPr>
            </a:lvl1pPr>
            <a:lvl2pPr>
              <a:defRPr sz="1125" b="0">
                <a:solidFill>
                  <a:srgbClr val="000000"/>
                </a:solidFill>
                <a:latin typeface="Calibri"/>
                <a:ea typeface="Calibri"/>
                <a:cs typeface="Calibri"/>
              </a:defRPr>
            </a:lvl2pPr>
            <a:lvl3pPr>
              <a:defRPr sz="1125" b="0">
                <a:solidFill>
                  <a:srgbClr val="000000"/>
                </a:solidFill>
                <a:latin typeface="Calibri"/>
                <a:ea typeface="Calibri"/>
                <a:cs typeface="Calibri"/>
              </a:defRPr>
            </a:lvl3pPr>
            <a:lvl4pPr>
              <a:defRPr sz="1125" b="0">
                <a:solidFill>
                  <a:srgbClr val="000000"/>
                </a:solidFill>
                <a:latin typeface="Calibri"/>
                <a:ea typeface="Calibri"/>
                <a:cs typeface="Calibri"/>
              </a:defRPr>
            </a:lvl4pPr>
            <a:lvl5pPr>
              <a:defRPr sz="1125" b="0">
                <a:solidFill>
                  <a:srgbClr val="000000"/>
                </a:solidFill>
                <a:latin typeface="Calibri"/>
                <a:ea typeface="Calibri"/>
                <a:cs typeface="Calibri"/>
              </a:defRPr>
            </a:lvl5pPr>
            <a:lvl6pPr>
              <a:defRPr sz="1125" b="0">
                <a:solidFill>
                  <a:srgbClr val="000000"/>
                </a:solidFill>
                <a:latin typeface="Calibri"/>
                <a:ea typeface="Calibri"/>
                <a:cs typeface="Calibri"/>
              </a:defRPr>
            </a:lvl6pPr>
            <a:lvl7pPr>
              <a:defRPr sz="1125" b="0">
                <a:solidFill>
                  <a:srgbClr val="000000"/>
                </a:solidFill>
                <a:latin typeface="Calibri"/>
                <a:ea typeface="Calibri"/>
                <a:cs typeface="Calibri"/>
              </a:defRPr>
            </a:lvl7pPr>
            <a:lvl8pPr>
              <a:defRPr sz="1125" b="0">
                <a:solidFill>
                  <a:srgbClr val="000000"/>
                </a:solidFill>
                <a:latin typeface="Calibri"/>
                <a:ea typeface="Calibri"/>
                <a:cs typeface="Calibri"/>
              </a:defRPr>
            </a:lvl8pPr>
            <a:lvl9pPr>
              <a:defRPr sz="1125" b="0">
                <a:solidFill>
                  <a:srgbClr val="000000"/>
                </a:solidFill>
                <a:latin typeface="Calibri"/>
                <a:ea typeface="Calibri"/>
                <a:cs typeface="Calibri"/>
              </a:defRPr>
            </a:lvl9pPr>
          </a:lstStyle>
          <a:p>
            <a:pPr>
              <a:defRPr sz="1125" b="0">
                <a:solidFill>
                  <a:srgbClr val="000000"/>
                </a:solidFill>
                <a:latin typeface="Calibri"/>
                <a:ea typeface="Calibri"/>
                <a:cs typeface="Calibri"/>
              </a:defRPr>
            </a:pPr>
            <a:r>
              <a:rPr sz="1125" b="0">
                <a:solidFill>
                  <a:srgbClr val="000000"/>
                </a:solidFill>
                <a:latin typeface="Calibri"/>
                <a:ea typeface="Calibri"/>
                <a:cs typeface="Calibri"/>
              </a:rPr>
              <a:t>43</a:t>
            </a:r>
          </a:p>
        </p:txBody>
      </p:sp>
      <p:graphicFrame>
        <p:nvGraphicFramePr>
          <p:cNvPr id="5" name="Table 4">
            <a:extLst>
              <a:ext uri="{FF2B5EF4-FFF2-40B4-BE49-F238E27FC236}">
                <a16:creationId xmlns:a16="http://schemas.microsoft.com/office/drawing/2014/main" id="{E43A0D05-F504-49A7-8D7E-36D45344A9C1}"/>
              </a:ext>
            </a:extLst>
          </p:cNvPr>
          <p:cNvGraphicFramePr/>
          <p:nvPr/>
        </p:nvGraphicFramePr>
        <p:xfrm>
          <a:off x="476250" y="1714500"/>
          <a:ext cx="11239500" cy="4000500"/>
        </p:xfrm>
        <a:graphic>
          <a:graphicData uri="http://schemas.openxmlformats.org/drawingml/2006/table">
            <a:tbl>
              <a:tblPr/>
              <a:tblGrid>
                <a:gridCol w="3048000">
                  <a:extLst>
                    <a:ext uri="{9D8B030D-6E8A-4147-A177-3AD203B41FA5}">
                      <a16:colId xmlns:a16="http://schemas.microsoft.com/office/drawing/2014/main" val="20000"/>
                    </a:ext>
                  </a:extLst>
                </a:gridCol>
                <a:gridCol w="8191500">
                  <a:extLst>
                    <a:ext uri="{9D8B030D-6E8A-4147-A177-3AD203B41FA5}">
                      <a16:colId xmlns:a16="http://schemas.microsoft.com/office/drawing/2014/main" val="20001"/>
                    </a:ext>
                  </a:extLst>
                </a:gridCol>
              </a:tblGrid>
              <a:tr h="571500">
                <a:tc>
                  <a:txBody>
                    <a:bodyPr/>
                    <a:lstStyle/>
                    <a:p>
                      <a:r>
                        <a:rPr sz="1425" b="1">
                          <a:solidFill>
                            <a:srgbClr val="000000"/>
                          </a:solidFill>
                          <a:latin typeface="Calibri"/>
                          <a:ea typeface="Calibri"/>
                          <a:cs typeface="Calibri"/>
                        </a:rPr>
                        <a:t>Earlier A1 campaign</a:t>
                      </a:r>
                    </a:p>
                  </a:txBody>
                  <a:tcPr>
                    <a:lnL w="7620">
                      <a:solidFill>
                        <a:srgbClr val="CCCCCC"/>
                      </a:solidFill>
                    </a:lnL>
                    <a:lnR w="7620">
                      <a:solidFill>
                        <a:srgbClr val="CCCCCC"/>
                      </a:solidFill>
                    </a:lnR>
                    <a:lnT w="7620">
                      <a:solidFill>
                        <a:srgbClr val="CCCCCC"/>
                      </a:solidFill>
                    </a:lnT>
                    <a:lnB w="7620">
                      <a:solidFill>
                        <a:srgbClr val="CCCCCC"/>
                      </a:solidFill>
                    </a:lnB>
                    <a:solidFill>
                      <a:srgbClr val="D9D9D9"/>
                    </a:solidFill>
                  </a:tcPr>
                </a:tc>
                <a:tc>
                  <a:txBody>
                    <a:bodyPr/>
                    <a:lstStyle/>
                    <a:p>
                      <a:r>
                        <a:rPr sz="1425" b="1">
                          <a:solidFill>
                            <a:srgbClr val="000000"/>
                          </a:solidFill>
                          <a:latin typeface="Calibri"/>
                          <a:ea typeface="Calibri"/>
                          <a:cs typeface="Calibri"/>
                        </a:rPr>
                        <a:t>Saved marginal controls [B]</a:t>
                      </a:r>
                    </a:p>
                  </a:txBody>
                  <a:tcPr>
                    <a:lnL w="7620" cap="flat" cmpd="sng" algn="ctr">
                      <a:solidFill>
                        <a:srgbClr val="CCCCCC"/>
                      </a:solidFill>
                      <a:prstDash val="solid"/>
                      <a:round/>
                      <a:headEnd type="none" w="med" len="med"/>
                      <a:tailEnd type="none" w="med" len="med"/>
                    </a:lnL>
                    <a:lnR w="7620">
                      <a:solidFill>
                        <a:srgbClr val="CCCCCC"/>
                      </a:solidFill>
                    </a:lnR>
                    <a:lnT w="7620">
                      <a:solidFill>
                        <a:srgbClr val="CCCCCC"/>
                      </a:solidFill>
                    </a:lnT>
                    <a:lnB w="7620">
                      <a:solidFill>
                        <a:srgbClr val="CCCCCC"/>
                      </a:solidFill>
                    </a:lnB>
                    <a:solidFill>
                      <a:srgbClr val="D9D9D9"/>
                    </a:solidFill>
                  </a:tcPr>
                </a:tc>
                <a:extLst>
                  <a:ext uri="{0D108BD9-81ED-4DB2-BD59-A6C34878D82A}">
                    <a16:rowId xmlns:a16="http://schemas.microsoft.com/office/drawing/2014/main" val="10000"/>
                  </a:ext>
                </a:extLst>
              </a:tr>
              <a:tr h="571500">
                <a:tc>
                  <a:txBody>
                    <a:bodyPr/>
                    <a:lstStyle/>
                    <a:p>
                      <a:r>
                        <a:rPr sz="1425" b="0">
                          <a:solidFill>
                            <a:srgbClr val="000000"/>
                          </a:solidFill>
                          <a:latin typeface="Calibri"/>
                          <a:ea typeface="Calibri"/>
                          <a:cs typeface="Calibri"/>
                        </a:rPr>
                        <a:t>a1-trade-legacy: 278 folders</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425" b="0">
                          <a:solidFill>
                            <a:srgbClr val="000000"/>
                          </a:solidFill>
                          <a:latin typeface="Calibri"/>
                          <a:ea typeface="Calibri"/>
                          <a:cs typeface="Calibri"/>
                        </a:rPr>
                        <a:t>DL 3, 4, 4.5, 5, 6, 8, 10, 12; WL 8, 12, 16, 20, 22, 24, 26, 28</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1"/>
                  </a:ext>
                </a:extLst>
              </a:tr>
              <a:tr h="571500">
                <a:tc>
                  <a:txBody>
                    <a:bodyPr/>
                    <a:lstStyle/>
                    <a:p>
                      <a:r>
                        <a:rPr sz="1425" b="0">
                          <a:solidFill>
                            <a:srgbClr val="000000"/>
                          </a:solidFill>
                          <a:latin typeface="Calibri"/>
                          <a:ea typeface="Calibri"/>
                          <a:cs typeface="Calibri"/>
                        </a:rPr>
                        <a:t>Geometry / mission</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425" b="0">
                          <a:solidFill>
                            <a:srgbClr val="000000"/>
                          </a:solidFill>
                          <a:latin typeface="Calibri"/>
                          <a:ea typeface="Calibri"/>
                          <a:cs typeface="Calibri"/>
                        </a:rPr>
                        <a:t>AR 7, 8, 10, 12; loiter speed 80 to 160 km/h in 10 km/h steps; reserve 0 or 20 min</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2"/>
                  </a:ext>
                </a:extLst>
              </a:tr>
              <a:tr h="571500">
                <a:tc>
                  <a:txBody>
                    <a:bodyPr/>
                    <a:lstStyle/>
                    <a:p>
                      <a:r>
                        <a:rPr sz="1425" b="0">
                          <a:solidFill>
                            <a:srgbClr val="000000"/>
                          </a:solidFill>
                          <a:latin typeface="Calibri"/>
                          <a:ea typeface="Calibri"/>
                          <a:cs typeface="Calibri"/>
                        </a:rPr>
                        <a:t>a1-corrected-legacy: 52 folders</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425" b="0">
                          <a:solidFill>
                            <a:srgbClr val="000000"/>
                          </a:solidFill>
                          <a:latin typeface="Calibri"/>
                          <a:ea typeface="Calibri"/>
                          <a:cs typeface="Calibri"/>
                        </a:rPr>
                        <a:t>DL 3, 4.5, 5, 6, 8, 10, 12; WL 12, 18, 22, 24, 30, 36</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3"/>
                  </a:ext>
                </a:extLst>
              </a:tr>
              <a:tr h="571500">
                <a:tc>
                  <a:txBody>
                    <a:bodyPr/>
                    <a:lstStyle/>
                    <a:p>
                      <a:r>
                        <a:rPr sz="1425" b="0">
                          <a:solidFill>
                            <a:srgbClr val="000000"/>
                          </a:solidFill>
                          <a:latin typeface="Calibri"/>
                          <a:ea typeface="Calibri"/>
                          <a:cs typeface="Calibri"/>
                        </a:rPr>
                        <a:t>Correction controls</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425" b="0">
                          <a:solidFill>
                            <a:srgbClr val="000000"/>
                          </a:solidFill>
                          <a:latin typeface="Calibri"/>
                          <a:ea typeface="Calibri"/>
                          <a:cs typeface="Calibri"/>
                        </a:rPr>
                        <a:t>AR 7, 8, 10; speed 100 or 140 km/h; hardware / tail / central-engine allocation variants</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4"/>
                  </a:ext>
                </a:extLst>
              </a:tr>
              <a:tr h="571500">
                <a:tc>
                  <a:txBody>
                    <a:bodyPr/>
                    <a:lstStyle/>
                    <a:p>
                      <a:r>
                        <a:rPr sz="1425" b="0">
                          <a:solidFill>
                            <a:srgbClr val="000000"/>
                          </a:solidFill>
                          <a:latin typeface="Calibri"/>
                          <a:ea typeface="Calibri"/>
                          <a:cs typeface="Calibri"/>
                        </a:rPr>
                        <a:t>Native units in these saved controls</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425" b="0">
                          <a:solidFill>
                            <a:srgbClr val="000000"/>
                          </a:solidFill>
                          <a:latin typeface="Calibri"/>
                          <a:ea typeface="Calibri"/>
                          <a:cs typeface="Calibri"/>
                        </a:rPr>
                        <a:t>A1 dl and wl are lb/ft², entered directly in DiskLoad and wing loading. Do not pool with SI controls.</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5"/>
                  </a:ext>
                </a:extLst>
              </a:tr>
              <a:tr h="571500">
                <a:tc>
                  <a:txBody>
                    <a:bodyPr/>
                    <a:lstStyle/>
                    <a:p>
                      <a:r>
                        <a:rPr sz="1425" b="0">
                          <a:solidFill>
                            <a:srgbClr val="000000"/>
                          </a:solidFill>
                          <a:latin typeface="Calibri"/>
                          <a:ea typeface="Calibri"/>
                          <a:cs typeface="Calibri"/>
                        </a:rPr>
                        <a:t>Interpretation</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425" b="0">
                          <a:solidFill>
                            <a:srgbClr val="000000"/>
                          </a:solidFill>
                          <a:latin typeface="Calibri"/>
                          <a:ea typeface="Calibri"/>
                          <a:cs typeface="Calibri"/>
                        </a:rPr>
                        <a:t>These are recovered marginal samples, with missing fields left missing. No full cross-product claim.</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1187944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AD3BD2F-AFD5-426A-99BD-41DD47D0723B}"/>
              </a:ext>
            </a:extLst>
          </p:cNvPr>
          <p:cNvSpPr>
            <a:spLocks noGrp="1"/>
          </p:cNvSpPr>
          <p:nvPr/>
        </p:nvSpPr>
        <p:spPr>
          <a:xfrm>
            <a:off x="838200" y="361950"/>
            <a:ext cx="10572750" cy="495300"/>
          </a:xfrm>
          <a:prstGeom prst="rect">
            <a:avLst/>
          </a:prstGeom>
          <a:noFill/>
          <a:ln w="0">
            <a:noFill/>
          </a:ln>
        </p:spPr>
        <p:txBody>
          <a:bodyPr lIns="0" tIns="0" rIns="0" bIns="0"/>
          <a:lstStyle>
            <a:defPPr>
              <a:defRPr sz="2400" b="1">
                <a:solidFill>
                  <a:srgbClr val="000000"/>
                </a:solidFill>
                <a:latin typeface="Calibri"/>
                <a:ea typeface="Calibri"/>
                <a:cs typeface="Calibri"/>
              </a:defRPr>
            </a:defPPr>
            <a:lvl1pPr>
              <a:defRPr sz="2400" b="1">
                <a:solidFill>
                  <a:srgbClr val="000000"/>
                </a:solidFill>
                <a:latin typeface="Calibri"/>
                <a:ea typeface="Calibri"/>
                <a:cs typeface="Calibri"/>
              </a:defRPr>
            </a:lvl1pPr>
            <a:lvl2pPr>
              <a:defRPr sz="2400" b="1">
                <a:solidFill>
                  <a:srgbClr val="000000"/>
                </a:solidFill>
                <a:latin typeface="Calibri"/>
                <a:ea typeface="Calibri"/>
                <a:cs typeface="Calibri"/>
              </a:defRPr>
            </a:lvl2pPr>
            <a:lvl3pPr>
              <a:defRPr sz="2400" b="1">
                <a:solidFill>
                  <a:srgbClr val="000000"/>
                </a:solidFill>
                <a:latin typeface="Calibri"/>
                <a:ea typeface="Calibri"/>
                <a:cs typeface="Calibri"/>
              </a:defRPr>
            </a:lvl3pPr>
            <a:lvl4pPr>
              <a:defRPr sz="2400" b="1">
                <a:solidFill>
                  <a:srgbClr val="000000"/>
                </a:solidFill>
                <a:latin typeface="Calibri"/>
                <a:ea typeface="Calibri"/>
                <a:cs typeface="Calibri"/>
              </a:defRPr>
            </a:lvl4pPr>
            <a:lvl5pPr>
              <a:defRPr sz="2400" b="1">
                <a:solidFill>
                  <a:srgbClr val="000000"/>
                </a:solidFill>
                <a:latin typeface="Calibri"/>
                <a:ea typeface="Calibri"/>
                <a:cs typeface="Calibri"/>
              </a:defRPr>
            </a:lvl5pPr>
            <a:lvl6pPr>
              <a:defRPr sz="2400" b="1">
                <a:solidFill>
                  <a:srgbClr val="000000"/>
                </a:solidFill>
                <a:latin typeface="Calibri"/>
                <a:ea typeface="Calibri"/>
                <a:cs typeface="Calibri"/>
              </a:defRPr>
            </a:lvl6pPr>
            <a:lvl7pPr>
              <a:defRPr sz="2400" b="1">
                <a:solidFill>
                  <a:srgbClr val="000000"/>
                </a:solidFill>
                <a:latin typeface="Calibri"/>
                <a:ea typeface="Calibri"/>
                <a:cs typeface="Calibri"/>
              </a:defRPr>
            </a:lvl7pPr>
            <a:lvl8pPr>
              <a:defRPr sz="2400" b="1">
                <a:solidFill>
                  <a:srgbClr val="000000"/>
                </a:solidFill>
                <a:latin typeface="Calibri"/>
                <a:ea typeface="Calibri"/>
                <a:cs typeface="Calibri"/>
              </a:defRPr>
            </a:lvl8pPr>
            <a:lvl9pPr>
              <a:defRPr sz="2400" b="1">
                <a:solidFill>
                  <a:srgbClr val="000000"/>
                </a:solidFill>
                <a:latin typeface="Calibri"/>
                <a:ea typeface="Calibri"/>
                <a:cs typeface="Calibri"/>
              </a:defRPr>
            </a:lvl9pPr>
          </a:lstStyle>
          <a:p>
            <a:pPr>
              <a:defRPr sz="2400" b="1">
                <a:solidFill>
                  <a:srgbClr val="000000"/>
                </a:solidFill>
                <a:latin typeface="Calibri"/>
                <a:ea typeface="Calibri"/>
                <a:cs typeface="Calibri"/>
              </a:defRPr>
            </a:pPr>
            <a:r>
              <a:rPr sz="2400" b="1">
                <a:solidFill>
                  <a:srgbClr val="000000"/>
                </a:solidFill>
                <a:latin typeface="Calibri"/>
                <a:ea typeface="Calibri"/>
                <a:cs typeface="Calibri"/>
              </a:rPr>
              <a:t>Turboelectric tiltrotor: loading and installation trades</a:t>
            </a:r>
          </a:p>
        </p:txBody>
      </p:sp>
      <p:sp>
        <p:nvSpPr>
          <p:cNvPr id="2" name="Rectangle 1">
            <a:extLst>
              <a:ext uri="{FF2B5EF4-FFF2-40B4-BE49-F238E27FC236}">
                <a16:creationId xmlns:a16="http://schemas.microsoft.com/office/drawing/2014/main" id="{D9F44148-2649-4286-BC68-1123F03399DD}"/>
              </a:ext>
            </a:extLst>
          </p:cNvPr>
          <p:cNvSpPr>
            <a:spLocks noGrp="1"/>
          </p:cNvSpPr>
          <p:nvPr/>
        </p:nvSpPr>
        <p:spPr>
          <a:xfrm>
            <a:off x="476250" y="1028700"/>
            <a:ext cx="11239500" cy="590550"/>
          </a:xfrm>
          <a:prstGeom prst="rect">
            <a:avLst/>
          </a:prstGeom>
          <a:noFill/>
          <a:ln w="0">
            <a:noFill/>
          </a:ln>
        </p:spPr>
        <p:txBody>
          <a:bodyPr lIns="0" tIns="0" rIns="0" bIns="0"/>
          <a:lstStyle>
            <a:defPPr>
              <a:defRPr sz="1575" b="0">
                <a:solidFill>
                  <a:srgbClr val="333333"/>
                </a:solidFill>
                <a:latin typeface="Calibri"/>
                <a:ea typeface="Calibri"/>
                <a:cs typeface="Calibri"/>
              </a:defRPr>
            </a:defPPr>
            <a:lvl1pPr>
              <a:defRPr sz="1575" b="0">
                <a:solidFill>
                  <a:srgbClr val="333333"/>
                </a:solidFill>
                <a:latin typeface="Calibri"/>
                <a:ea typeface="Calibri"/>
                <a:cs typeface="Calibri"/>
              </a:defRPr>
            </a:lvl1pPr>
            <a:lvl2pPr>
              <a:defRPr sz="1575" b="0">
                <a:solidFill>
                  <a:srgbClr val="333333"/>
                </a:solidFill>
                <a:latin typeface="Calibri"/>
                <a:ea typeface="Calibri"/>
                <a:cs typeface="Calibri"/>
              </a:defRPr>
            </a:lvl2pPr>
            <a:lvl3pPr>
              <a:defRPr sz="1575" b="0">
                <a:solidFill>
                  <a:srgbClr val="333333"/>
                </a:solidFill>
                <a:latin typeface="Calibri"/>
                <a:ea typeface="Calibri"/>
                <a:cs typeface="Calibri"/>
              </a:defRPr>
            </a:lvl3pPr>
            <a:lvl4pPr>
              <a:defRPr sz="1575" b="0">
                <a:solidFill>
                  <a:srgbClr val="333333"/>
                </a:solidFill>
                <a:latin typeface="Calibri"/>
                <a:ea typeface="Calibri"/>
                <a:cs typeface="Calibri"/>
              </a:defRPr>
            </a:lvl4pPr>
            <a:lvl5pPr>
              <a:defRPr sz="1575" b="0">
                <a:solidFill>
                  <a:srgbClr val="333333"/>
                </a:solidFill>
                <a:latin typeface="Calibri"/>
                <a:ea typeface="Calibri"/>
                <a:cs typeface="Calibri"/>
              </a:defRPr>
            </a:lvl5pPr>
            <a:lvl6pPr>
              <a:defRPr sz="1575" b="0">
                <a:solidFill>
                  <a:srgbClr val="333333"/>
                </a:solidFill>
                <a:latin typeface="Calibri"/>
                <a:ea typeface="Calibri"/>
                <a:cs typeface="Calibri"/>
              </a:defRPr>
            </a:lvl6pPr>
            <a:lvl7pPr>
              <a:defRPr sz="1575" b="0">
                <a:solidFill>
                  <a:srgbClr val="333333"/>
                </a:solidFill>
                <a:latin typeface="Calibri"/>
                <a:ea typeface="Calibri"/>
                <a:cs typeface="Calibri"/>
              </a:defRPr>
            </a:lvl7pPr>
            <a:lvl8pPr>
              <a:defRPr sz="1575" b="0">
                <a:solidFill>
                  <a:srgbClr val="333333"/>
                </a:solidFill>
                <a:latin typeface="Calibri"/>
                <a:ea typeface="Calibri"/>
                <a:cs typeface="Calibri"/>
              </a:defRPr>
            </a:lvl8pPr>
            <a:lvl9pPr>
              <a:defRPr sz="1575" b="0">
                <a:solidFill>
                  <a:srgbClr val="333333"/>
                </a:solidFill>
                <a:latin typeface="Calibri"/>
                <a:ea typeface="Calibri"/>
                <a:cs typeface="Calibri"/>
              </a:defRPr>
            </a:lvl9pPr>
          </a:lstStyle>
          <a:p>
            <a:pPr>
              <a:defRPr sz="1575" b="0">
                <a:solidFill>
                  <a:srgbClr val="333333"/>
                </a:solidFill>
                <a:latin typeface="Calibri"/>
                <a:ea typeface="Calibri"/>
                <a:cs typeface="Calibri"/>
              </a:defRPr>
            </a:pPr>
            <a:r>
              <a:rPr sz="1575" b="0">
                <a:solidFill>
                  <a:srgbClr val="333333"/>
                </a:solidFill>
                <a:latin typeface="Calibri"/>
                <a:ea typeface="Calibri"/>
                <a:cs typeface="Calibri"/>
              </a:rPr>
              <a:t>The turbine/electric study sampled physical loadings under three electrical installation scenarios. [A, B]</a:t>
            </a:r>
          </a:p>
        </p:txBody>
      </p:sp>
      <p:sp>
        <p:nvSpPr>
          <p:cNvPr id="3" name="Rectangle 2">
            <a:extLst>
              <a:ext uri="{FF2B5EF4-FFF2-40B4-BE49-F238E27FC236}">
                <a16:creationId xmlns:a16="http://schemas.microsoft.com/office/drawing/2014/main" id="{3B85FA34-995E-41E4-A476-BFA4B780E535}"/>
              </a:ext>
            </a:extLst>
          </p:cNvPr>
          <p:cNvSpPr>
            <a:spLocks noGrp="1"/>
          </p:cNvSpPr>
          <p:nvPr/>
        </p:nvSpPr>
        <p:spPr>
          <a:xfrm>
            <a:off x="476250" y="6076950"/>
            <a:ext cx="11191875" cy="619125"/>
          </a:xfrm>
          <a:prstGeom prst="rect">
            <a:avLst/>
          </a:prstGeom>
          <a:noFill/>
          <a:ln w="0">
            <a:noFill/>
          </a:ln>
        </p:spPr>
        <p:txBody>
          <a:bodyPr lIns="0" tIns="0" rIns="0" bIns="0"/>
          <a:lstStyle>
            <a:defPPr>
              <a:defRPr sz="1050" b="0">
                <a:solidFill>
                  <a:srgbClr val="333333"/>
                </a:solidFill>
                <a:latin typeface="Calibri"/>
                <a:ea typeface="Calibri"/>
                <a:cs typeface="Calibri"/>
              </a:defRPr>
            </a:defPPr>
            <a:lvl1pPr>
              <a:defRPr sz="1050" b="0">
                <a:solidFill>
                  <a:srgbClr val="333333"/>
                </a:solidFill>
                <a:latin typeface="Calibri"/>
                <a:ea typeface="Calibri"/>
                <a:cs typeface="Calibri"/>
              </a:defRPr>
            </a:lvl1pPr>
            <a:lvl2pPr>
              <a:defRPr sz="1050" b="0">
                <a:solidFill>
                  <a:srgbClr val="333333"/>
                </a:solidFill>
                <a:latin typeface="Calibri"/>
                <a:ea typeface="Calibri"/>
                <a:cs typeface="Calibri"/>
              </a:defRPr>
            </a:lvl2pPr>
            <a:lvl3pPr>
              <a:defRPr sz="1050" b="0">
                <a:solidFill>
                  <a:srgbClr val="333333"/>
                </a:solidFill>
                <a:latin typeface="Calibri"/>
                <a:ea typeface="Calibri"/>
                <a:cs typeface="Calibri"/>
              </a:defRPr>
            </a:lvl3pPr>
            <a:lvl4pPr>
              <a:defRPr sz="1050" b="0">
                <a:solidFill>
                  <a:srgbClr val="333333"/>
                </a:solidFill>
                <a:latin typeface="Calibri"/>
                <a:ea typeface="Calibri"/>
                <a:cs typeface="Calibri"/>
              </a:defRPr>
            </a:lvl4pPr>
            <a:lvl5pPr>
              <a:defRPr sz="1050" b="0">
                <a:solidFill>
                  <a:srgbClr val="333333"/>
                </a:solidFill>
                <a:latin typeface="Calibri"/>
                <a:ea typeface="Calibri"/>
                <a:cs typeface="Calibri"/>
              </a:defRPr>
            </a:lvl5pPr>
            <a:lvl6pPr>
              <a:defRPr sz="1050" b="0">
                <a:solidFill>
                  <a:srgbClr val="333333"/>
                </a:solidFill>
                <a:latin typeface="Calibri"/>
                <a:ea typeface="Calibri"/>
                <a:cs typeface="Calibri"/>
              </a:defRPr>
            </a:lvl6pPr>
            <a:lvl7pPr>
              <a:defRPr sz="1050" b="0">
                <a:solidFill>
                  <a:srgbClr val="333333"/>
                </a:solidFill>
                <a:latin typeface="Calibri"/>
                <a:ea typeface="Calibri"/>
                <a:cs typeface="Calibri"/>
              </a:defRPr>
            </a:lvl7pPr>
            <a:lvl8pPr>
              <a:defRPr sz="1050" b="0">
                <a:solidFill>
                  <a:srgbClr val="333333"/>
                </a:solidFill>
                <a:latin typeface="Calibri"/>
                <a:ea typeface="Calibri"/>
                <a:cs typeface="Calibri"/>
              </a:defRPr>
            </a:lvl8pPr>
            <a:lvl9pPr>
              <a:defRPr sz="1050" b="0">
                <a:solidFill>
                  <a:srgbClr val="333333"/>
                </a:solidFill>
                <a:latin typeface="Calibri"/>
                <a:ea typeface="Calibri"/>
                <a:cs typeface="Calibri"/>
              </a:defRPr>
            </a:lvl9pPr>
          </a:lstStyle>
          <a:p>
            <a:pPr>
              <a:defRPr sz="1050" b="0">
                <a:solidFill>
                  <a:srgbClr val="333333"/>
                </a:solidFill>
                <a:latin typeface="Calibri"/>
                <a:ea typeface="Calibri"/>
                <a:cs typeface="Calibri"/>
              </a:defRPr>
            </a:pPr>
            <a:r>
              <a:rPr sz="1050" b="0">
                <a:solidFill>
                  <a:srgbClr val="333333"/>
                </a:solidFill>
                <a:latin typeface="Calibri"/>
                <a:ea typeface="Calibri"/>
                <a:cs typeface="Calibri"/>
              </a:rPr>
              <a:t>[A] NDARC execution archive, 28 Oct 2026: organized_runs/inventory.json; run_logs/*.jsonl; original runs/ inputs and outputs.</a:t>
            </a:r>
          </a:p>
          <a:p>
            <a:pPr>
              <a:defRPr sz="1050" b="0">
                <a:solidFill>
                  <a:srgbClr val="333333"/>
                </a:solidFill>
                <a:latin typeface="Calibri"/>
                <a:ea typeface="Calibri"/>
                <a:cs typeface="Calibri"/>
              </a:defRPr>
            </a:pPr>
            <a:r>
              <a:rPr sz="1050" b="0">
                <a:solidFill>
                  <a:srgbClr val="333333"/>
                </a:solidFill>
                <a:latin typeface="Calibri"/>
                <a:ea typeface="Calibri"/>
                <a:cs typeface="Calibri"/>
              </a:rPr>
              <a:t>[B] design-space-evidence/campaign-design-space.json and all-run-design-points.csv (this deck folder). Exact marginal sets, plans, input hashes and status.</a:t>
            </a:r>
          </a:p>
        </p:txBody>
      </p:sp>
      <p:sp>
        <p:nvSpPr>
          <p:cNvPr id="4" name="Rectangle 3">
            <a:extLst>
              <a:ext uri="{FF2B5EF4-FFF2-40B4-BE49-F238E27FC236}">
                <a16:creationId xmlns:a16="http://schemas.microsoft.com/office/drawing/2014/main" id="{FE323EB5-C401-4DAA-B3E5-2CA7CC38076E}"/>
              </a:ext>
            </a:extLst>
          </p:cNvPr>
          <p:cNvSpPr>
            <a:spLocks noGrp="1"/>
          </p:cNvSpPr>
          <p:nvPr/>
        </p:nvSpPr>
        <p:spPr>
          <a:xfrm>
            <a:off x="11430000" y="6553200"/>
            <a:ext cx="333375" cy="209550"/>
          </a:xfrm>
          <a:prstGeom prst="rect">
            <a:avLst/>
          </a:prstGeom>
          <a:noFill/>
          <a:ln w="0">
            <a:noFill/>
          </a:ln>
        </p:spPr>
        <p:txBody>
          <a:bodyPr lIns="0" tIns="0" rIns="0" bIns="0"/>
          <a:lstStyle>
            <a:defPPr>
              <a:defRPr sz="1125" b="0">
                <a:solidFill>
                  <a:srgbClr val="000000"/>
                </a:solidFill>
                <a:latin typeface="Calibri"/>
                <a:ea typeface="Calibri"/>
                <a:cs typeface="Calibri"/>
              </a:defRPr>
            </a:defPPr>
            <a:lvl1pPr>
              <a:defRPr sz="1125" b="0">
                <a:solidFill>
                  <a:srgbClr val="000000"/>
                </a:solidFill>
                <a:latin typeface="Calibri"/>
                <a:ea typeface="Calibri"/>
                <a:cs typeface="Calibri"/>
              </a:defRPr>
            </a:lvl1pPr>
            <a:lvl2pPr>
              <a:defRPr sz="1125" b="0">
                <a:solidFill>
                  <a:srgbClr val="000000"/>
                </a:solidFill>
                <a:latin typeface="Calibri"/>
                <a:ea typeface="Calibri"/>
                <a:cs typeface="Calibri"/>
              </a:defRPr>
            </a:lvl2pPr>
            <a:lvl3pPr>
              <a:defRPr sz="1125" b="0">
                <a:solidFill>
                  <a:srgbClr val="000000"/>
                </a:solidFill>
                <a:latin typeface="Calibri"/>
                <a:ea typeface="Calibri"/>
                <a:cs typeface="Calibri"/>
              </a:defRPr>
            </a:lvl3pPr>
            <a:lvl4pPr>
              <a:defRPr sz="1125" b="0">
                <a:solidFill>
                  <a:srgbClr val="000000"/>
                </a:solidFill>
                <a:latin typeface="Calibri"/>
                <a:ea typeface="Calibri"/>
                <a:cs typeface="Calibri"/>
              </a:defRPr>
            </a:lvl4pPr>
            <a:lvl5pPr>
              <a:defRPr sz="1125" b="0">
                <a:solidFill>
                  <a:srgbClr val="000000"/>
                </a:solidFill>
                <a:latin typeface="Calibri"/>
                <a:ea typeface="Calibri"/>
                <a:cs typeface="Calibri"/>
              </a:defRPr>
            </a:lvl5pPr>
            <a:lvl6pPr>
              <a:defRPr sz="1125" b="0">
                <a:solidFill>
                  <a:srgbClr val="000000"/>
                </a:solidFill>
                <a:latin typeface="Calibri"/>
                <a:ea typeface="Calibri"/>
                <a:cs typeface="Calibri"/>
              </a:defRPr>
            </a:lvl6pPr>
            <a:lvl7pPr>
              <a:defRPr sz="1125" b="0">
                <a:solidFill>
                  <a:srgbClr val="000000"/>
                </a:solidFill>
                <a:latin typeface="Calibri"/>
                <a:ea typeface="Calibri"/>
                <a:cs typeface="Calibri"/>
              </a:defRPr>
            </a:lvl7pPr>
            <a:lvl8pPr>
              <a:defRPr sz="1125" b="0">
                <a:solidFill>
                  <a:srgbClr val="000000"/>
                </a:solidFill>
                <a:latin typeface="Calibri"/>
                <a:ea typeface="Calibri"/>
                <a:cs typeface="Calibri"/>
              </a:defRPr>
            </a:lvl8pPr>
            <a:lvl9pPr>
              <a:defRPr sz="1125" b="0">
                <a:solidFill>
                  <a:srgbClr val="000000"/>
                </a:solidFill>
                <a:latin typeface="Calibri"/>
                <a:ea typeface="Calibri"/>
                <a:cs typeface="Calibri"/>
              </a:defRPr>
            </a:lvl9pPr>
          </a:lstStyle>
          <a:p>
            <a:pPr>
              <a:defRPr sz="1125" b="0">
                <a:solidFill>
                  <a:srgbClr val="000000"/>
                </a:solidFill>
                <a:latin typeface="Calibri"/>
                <a:ea typeface="Calibri"/>
                <a:cs typeface="Calibri"/>
              </a:defRPr>
            </a:pPr>
            <a:r>
              <a:rPr sz="1125" b="0">
                <a:solidFill>
                  <a:srgbClr val="000000"/>
                </a:solidFill>
                <a:latin typeface="Calibri"/>
                <a:ea typeface="Calibri"/>
                <a:cs typeface="Calibri"/>
              </a:rPr>
              <a:t>44</a:t>
            </a:r>
          </a:p>
        </p:txBody>
      </p:sp>
      <p:graphicFrame>
        <p:nvGraphicFramePr>
          <p:cNvPr id="5" name="Table 4">
            <a:extLst>
              <a:ext uri="{FF2B5EF4-FFF2-40B4-BE49-F238E27FC236}">
                <a16:creationId xmlns:a16="http://schemas.microsoft.com/office/drawing/2014/main" id="{C85FDB62-4E86-4CB0-93F3-3016A3EF05BB}"/>
              </a:ext>
            </a:extLst>
          </p:cNvPr>
          <p:cNvGraphicFramePr/>
          <p:nvPr/>
        </p:nvGraphicFramePr>
        <p:xfrm>
          <a:off x="476250" y="1714500"/>
          <a:ext cx="11239500" cy="4000500"/>
        </p:xfrm>
        <a:graphic>
          <a:graphicData uri="http://schemas.openxmlformats.org/drawingml/2006/table">
            <a:tbl>
              <a:tblPr/>
              <a:tblGrid>
                <a:gridCol w="2952750">
                  <a:extLst>
                    <a:ext uri="{9D8B030D-6E8A-4147-A177-3AD203B41FA5}">
                      <a16:colId xmlns:a16="http://schemas.microsoft.com/office/drawing/2014/main" val="20000"/>
                    </a:ext>
                  </a:extLst>
                </a:gridCol>
                <a:gridCol w="8286750">
                  <a:extLst>
                    <a:ext uri="{9D8B030D-6E8A-4147-A177-3AD203B41FA5}">
                      <a16:colId xmlns:a16="http://schemas.microsoft.com/office/drawing/2014/main" val="20001"/>
                    </a:ext>
                  </a:extLst>
                </a:gridCol>
              </a:tblGrid>
              <a:tr h="500063">
                <a:tc>
                  <a:txBody>
                    <a:bodyPr/>
                    <a:lstStyle/>
                    <a:p>
                      <a:r>
                        <a:rPr sz="1500" b="1">
                          <a:solidFill>
                            <a:srgbClr val="000000"/>
                          </a:solidFill>
                          <a:latin typeface="Calibri"/>
                          <a:ea typeface="Calibri"/>
                          <a:cs typeface="Calibri"/>
                        </a:rPr>
                        <a:t>Control / scenario</a:t>
                      </a:r>
                    </a:p>
                  </a:txBody>
                  <a:tcPr>
                    <a:lnL w="7620">
                      <a:solidFill>
                        <a:srgbClr val="CCCCCC"/>
                      </a:solidFill>
                    </a:lnL>
                    <a:lnR w="7620">
                      <a:solidFill>
                        <a:srgbClr val="CCCCCC"/>
                      </a:solidFill>
                    </a:lnR>
                    <a:lnT w="7620">
                      <a:solidFill>
                        <a:srgbClr val="CCCCCC"/>
                      </a:solidFill>
                    </a:lnT>
                    <a:lnB w="7620">
                      <a:solidFill>
                        <a:srgbClr val="CCCCCC"/>
                      </a:solidFill>
                    </a:lnB>
                    <a:solidFill>
                      <a:srgbClr val="D9D9D9"/>
                    </a:solidFill>
                  </a:tcPr>
                </a:tc>
                <a:tc>
                  <a:txBody>
                    <a:bodyPr/>
                    <a:lstStyle/>
                    <a:p>
                      <a:r>
                        <a:rPr sz="1500" b="1">
                          <a:solidFill>
                            <a:srgbClr val="000000"/>
                          </a:solidFill>
                          <a:latin typeface="Calibri"/>
                          <a:ea typeface="Calibri"/>
                          <a:cs typeface="Calibri"/>
                        </a:rPr>
                        <a:t>Explored settings</a:t>
                      </a:r>
                    </a:p>
                  </a:txBody>
                  <a:tcPr>
                    <a:lnL w="7620" cap="flat" cmpd="sng" algn="ctr">
                      <a:solidFill>
                        <a:srgbClr val="CCCCCC"/>
                      </a:solidFill>
                      <a:prstDash val="solid"/>
                      <a:round/>
                      <a:headEnd type="none" w="med" len="med"/>
                      <a:tailEnd type="none" w="med" len="med"/>
                    </a:lnL>
                    <a:lnR w="7620">
                      <a:solidFill>
                        <a:srgbClr val="CCCCCC"/>
                      </a:solidFill>
                    </a:lnR>
                    <a:lnT w="7620">
                      <a:solidFill>
                        <a:srgbClr val="CCCCCC"/>
                      </a:solidFill>
                    </a:lnT>
                    <a:lnB w="7620">
                      <a:solidFill>
                        <a:srgbClr val="CCCCCC"/>
                      </a:solidFill>
                    </a:lnB>
                    <a:solidFill>
                      <a:srgbClr val="D9D9D9"/>
                    </a:solidFill>
                  </a:tcPr>
                </a:tc>
                <a:extLst>
                  <a:ext uri="{0D108BD9-81ED-4DB2-BD59-A6C34878D82A}">
                    <a16:rowId xmlns:a16="http://schemas.microsoft.com/office/drawing/2014/main" val="10000"/>
                  </a:ext>
                </a:extLst>
              </a:tr>
              <a:tr h="500063">
                <a:tc>
                  <a:txBody>
                    <a:bodyPr/>
                    <a:lstStyle/>
                    <a:p>
                      <a:r>
                        <a:rPr sz="1500" b="0">
                          <a:solidFill>
                            <a:srgbClr val="000000"/>
                          </a:solidFill>
                          <a:latin typeface="Calibri"/>
                          <a:ea typeface="Calibri"/>
                          <a:cs typeface="Calibri"/>
                        </a:rPr>
                        <a:t>Loading grid, kg/m²</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DL: 15, 22, 30, 40, 55, 70; WL: 60, 85, 110, 135, 160</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1"/>
                  </a:ext>
                </a:extLst>
              </a:tr>
              <a:tr h="500063">
                <a:tc>
                  <a:txBody>
                    <a:bodyPr/>
                    <a:lstStyle/>
                    <a:p>
                      <a:r>
                        <a:rPr sz="1500" b="0">
                          <a:solidFill>
                            <a:srgbClr val="000000"/>
                          </a:solidFill>
                          <a:latin typeface="Calibri"/>
                          <a:ea typeface="Calibri"/>
                          <a:cs typeface="Calibri"/>
                        </a:rPr>
                        <a:t>Central electrical model</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86% shaft-to-rotor efficiency, 35 kg drive, 12 kg tip equipment</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2"/>
                  </a:ext>
                </a:extLst>
              </a:tr>
              <a:tr h="500063">
                <a:tc>
                  <a:txBody>
                    <a:bodyPr/>
                    <a:lstStyle/>
                    <a:p>
                      <a:r>
                        <a:rPr sz="1500" b="0">
                          <a:solidFill>
                            <a:srgbClr val="000000"/>
                          </a:solidFill>
                          <a:latin typeface="Calibri"/>
                          <a:ea typeface="Calibri"/>
                          <a:cs typeface="Calibri"/>
                        </a:rPr>
                        <a:t>Heavy electrical model</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80% efficiency, 50 kg drive, 18 kg tip equipment</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3"/>
                  </a:ext>
                </a:extLst>
              </a:tr>
              <a:tr h="500063">
                <a:tc>
                  <a:txBody>
                    <a:bodyPr/>
                    <a:lstStyle/>
                    <a:p>
                      <a:r>
                        <a:rPr sz="1500" b="0">
                          <a:solidFill>
                            <a:srgbClr val="000000"/>
                          </a:solidFill>
                          <a:latin typeface="Calibri"/>
                          <a:ea typeface="Calibri"/>
                          <a:cs typeface="Calibri"/>
                        </a:rPr>
                        <a:t>Favorable electrical model</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92% efficiency, 20 kg drive, 8 kg tip equipment</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4"/>
                  </a:ext>
                </a:extLst>
              </a:tr>
              <a:tr h="500063">
                <a:tc>
                  <a:txBody>
                    <a:bodyPr/>
                    <a:lstStyle/>
                    <a:p>
                      <a:r>
                        <a:rPr sz="1500" b="0">
                          <a:solidFill>
                            <a:srgbClr val="000000"/>
                          </a:solidFill>
                          <a:latin typeface="Calibri"/>
                          <a:ea typeface="Calibri"/>
                          <a:cs typeface="Calibri"/>
                        </a:rPr>
                        <a:t>Fixed variables</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AR 7, 30 kg payload, 5 h airborne, 3,000 m, 140 km/h, 75 kW generic turbine</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5"/>
                  </a:ext>
                </a:extLst>
              </a:tr>
              <a:tr h="500063">
                <a:tc>
                  <a:txBody>
                    <a:bodyPr/>
                    <a:lstStyle/>
                    <a:p>
                      <a:r>
                        <a:rPr sz="1500" b="0">
                          <a:solidFill>
                            <a:srgbClr val="000000"/>
                          </a:solidFill>
                          <a:latin typeface="Calibri"/>
                          <a:ea typeface="Calibri"/>
                          <a:cs typeface="Calibri"/>
                        </a:rPr>
                        <a:t>Recorded execution</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42 folders per scenario, plus piston control 42 folders and separate sanity / later checks</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6"/>
                  </a:ext>
                </a:extLst>
              </a:tr>
              <a:tr h="500063">
                <a:tc>
                  <a:txBody>
                    <a:bodyPr/>
                    <a:lstStyle/>
                    <a:p>
                      <a:r>
                        <a:rPr sz="1500" b="0">
                          <a:solidFill>
                            <a:srgbClr val="000000"/>
                          </a:solidFill>
                          <a:latin typeface="Calibri"/>
                          <a:ea typeface="Calibri"/>
                          <a:cs typeface="Calibri"/>
                        </a:rPr>
                        <a:t>Interpretation</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Equivalent mass and loss model. Generic turbine and installation values are assumptions.</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9809241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BA55443-31E0-414F-854B-E37F6E76B33D}"/>
              </a:ext>
            </a:extLst>
          </p:cNvPr>
          <p:cNvSpPr>
            <a:spLocks noGrp="1"/>
          </p:cNvSpPr>
          <p:nvPr/>
        </p:nvSpPr>
        <p:spPr>
          <a:xfrm>
            <a:off x="838200" y="361950"/>
            <a:ext cx="10572750" cy="495300"/>
          </a:xfrm>
          <a:prstGeom prst="rect">
            <a:avLst/>
          </a:prstGeom>
          <a:noFill/>
          <a:ln w="0">
            <a:noFill/>
          </a:ln>
        </p:spPr>
        <p:txBody>
          <a:bodyPr lIns="0" tIns="0" rIns="0" bIns="0"/>
          <a:lstStyle>
            <a:defPPr>
              <a:defRPr sz="2400" b="1">
                <a:solidFill>
                  <a:srgbClr val="000000"/>
                </a:solidFill>
                <a:latin typeface="Calibri"/>
                <a:ea typeface="Calibri"/>
                <a:cs typeface="Calibri"/>
              </a:defRPr>
            </a:defPPr>
            <a:lvl1pPr>
              <a:defRPr sz="2400" b="1">
                <a:solidFill>
                  <a:srgbClr val="000000"/>
                </a:solidFill>
                <a:latin typeface="Calibri"/>
                <a:ea typeface="Calibri"/>
                <a:cs typeface="Calibri"/>
              </a:defRPr>
            </a:lvl1pPr>
            <a:lvl2pPr>
              <a:defRPr sz="2400" b="1">
                <a:solidFill>
                  <a:srgbClr val="000000"/>
                </a:solidFill>
                <a:latin typeface="Calibri"/>
                <a:ea typeface="Calibri"/>
                <a:cs typeface="Calibri"/>
              </a:defRPr>
            </a:lvl2pPr>
            <a:lvl3pPr>
              <a:defRPr sz="2400" b="1">
                <a:solidFill>
                  <a:srgbClr val="000000"/>
                </a:solidFill>
                <a:latin typeface="Calibri"/>
                <a:ea typeface="Calibri"/>
                <a:cs typeface="Calibri"/>
              </a:defRPr>
            </a:lvl3pPr>
            <a:lvl4pPr>
              <a:defRPr sz="2400" b="1">
                <a:solidFill>
                  <a:srgbClr val="000000"/>
                </a:solidFill>
                <a:latin typeface="Calibri"/>
                <a:ea typeface="Calibri"/>
                <a:cs typeface="Calibri"/>
              </a:defRPr>
            </a:lvl4pPr>
            <a:lvl5pPr>
              <a:defRPr sz="2400" b="1">
                <a:solidFill>
                  <a:srgbClr val="000000"/>
                </a:solidFill>
                <a:latin typeface="Calibri"/>
                <a:ea typeface="Calibri"/>
                <a:cs typeface="Calibri"/>
              </a:defRPr>
            </a:lvl5pPr>
            <a:lvl6pPr>
              <a:defRPr sz="2400" b="1">
                <a:solidFill>
                  <a:srgbClr val="000000"/>
                </a:solidFill>
                <a:latin typeface="Calibri"/>
                <a:ea typeface="Calibri"/>
                <a:cs typeface="Calibri"/>
              </a:defRPr>
            </a:lvl6pPr>
            <a:lvl7pPr>
              <a:defRPr sz="2400" b="1">
                <a:solidFill>
                  <a:srgbClr val="000000"/>
                </a:solidFill>
                <a:latin typeface="Calibri"/>
                <a:ea typeface="Calibri"/>
                <a:cs typeface="Calibri"/>
              </a:defRPr>
            </a:lvl7pPr>
            <a:lvl8pPr>
              <a:defRPr sz="2400" b="1">
                <a:solidFill>
                  <a:srgbClr val="000000"/>
                </a:solidFill>
                <a:latin typeface="Calibri"/>
                <a:ea typeface="Calibri"/>
                <a:cs typeface="Calibri"/>
              </a:defRPr>
            </a:lvl8pPr>
            <a:lvl9pPr>
              <a:defRPr sz="2400" b="1">
                <a:solidFill>
                  <a:srgbClr val="000000"/>
                </a:solidFill>
                <a:latin typeface="Calibri"/>
                <a:ea typeface="Calibri"/>
                <a:cs typeface="Calibri"/>
              </a:defRPr>
            </a:lvl9pPr>
          </a:lstStyle>
          <a:p>
            <a:pPr>
              <a:defRPr sz="2400" b="1">
                <a:solidFill>
                  <a:srgbClr val="000000"/>
                </a:solidFill>
                <a:latin typeface="Calibri"/>
                <a:ea typeface="Calibri"/>
                <a:cs typeface="Calibri"/>
              </a:defRPr>
            </a:pPr>
            <a:r>
              <a:rPr sz="2400" b="1">
                <a:solidFill>
                  <a:srgbClr val="000000"/>
                </a:solidFill>
                <a:latin typeface="Calibri"/>
                <a:ea typeface="Calibri"/>
                <a:cs typeface="Calibri"/>
              </a:rPr>
              <a:t>Matched rotary tiltrotors: engine-rating sensitivity</a:t>
            </a:r>
          </a:p>
        </p:txBody>
      </p:sp>
      <p:sp>
        <p:nvSpPr>
          <p:cNvPr id="2" name="Rectangle 1">
            <a:extLst>
              <a:ext uri="{FF2B5EF4-FFF2-40B4-BE49-F238E27FC236}">
                <a16:creationId xmlns:a16="http://schemas.microsoft.com/office/drawing/2014/main" id="{556B33FE-DD7F-4A61-B8C0-9BC5CB9E94AB}"/>
              </a:ext>
            </a:extLst>
          </p:cNvPr>
          <p:cNvSpPr>
            <a:spLocks noGrp="1"/>
          </p:cNvSpPr>
          <p:nvPr/>
        </p:nvSpPr>
        <p:spPr>
          <a:xfrm>
            <a:off x="476250" y="1028700"/>
            <a:ext cx="11239500" cy="590550"/>
          </a:xfrm>
          <a:prstGeom prst="rect">
            <a:avLst/>
          </a:prstGeom>
          <a:noFill/>
          <a:ln w="0">
            <a:noFill/>
          </a:ln>
        </p:spPr>
        <p:txBody>
          <a:bodyPr lIns="0" tIns="0" rIns="0" bIns="0"/>
          <a:lstStyle>
            <a:defPPr>
              <a:defRPr sz="1575" b="0">
                <a:solidFill>
                  <a:srgbClr val="333333"/>
                </a:solidFill>
                <a:latin typeface="Calibri"/>
                <a:ea typeface="Calibri"/>
                <a:cs typeface="Calibri"/>
              </a:defRPr>
            </a:defPPr>
            <a:lvl1pPr>
              <a:defRPr sz="1575" b="0">
                <a:solidFill>
                  <a:srgbClr val="333333"/>
                </a:solidFill>
                <a:latin typeface="Calibri"/>
                <a:ea typeface="Calibri"/>
                <a:cs typeface="Calibri"/>
              </a:defRPr>
            </a:lvl1pPr>
            <a:lvl2pPr>
              <a:defRPr sz="1575" b="0">
                <a:solidFill>
                  <a:srgbClr val="333333"/>
                </a:solidFill>
                <a:latin typeface="Calibri"/>
                <a:ea typeface="Calibri"/>
                <a:cs typeface="Calibri"/>
              </a:defRPr>
            </a:lvl2pPr>
            <a:lvl3pPr>
              <a:defRPr sz="1575" b="0">
                <a:solidFill>
                  <a:srgbClr val="333333"/>
                </a:solidFill>
                <a:latin typeface="Calibri"/>
                <a:ea typeface="Calibri"/>
                <a:cs typeface="Calibri"/>
              </a:defRPr>
            </a:lvl3pPr>
            <a:lvl4pPr>
              <a:defRPr sz="1575" b="0">
                <a:solidFill>
                  <a:srgbClr val="333333"/>
                </a:solidFill>
                <a:latin typeface="Calibri"/>
                <a:ea typeface="Calibri"/>
                <a:cs typeface="Calibri"/>
              </a:defRPr>
            </a:lvl4pPr>
            <a:lvl5pPr>
              <a:defRPr sz="1575" b="0">
                <a:solidFill>
                  <a:srgbClr val="333333"/>
                </a:solidFill>
                <a:latin typeface="Calibri"/>
                <a:ea typeface="Calibri"/>
                <a:cs typeface="Calibri"/>
              </a:defRPr>
            </a:lvl5pPr>
            <a:lvl6pPr>
              <a:defRPr sz="1575" b="0">
                <a:solidFill>
                  <a:srgbClr val="333333"/>
                </a:solidFill>
                <a:latin typeface="Calibri"/>
                <a:ea typeface="Calibri"/>
                <a:cs typeface="Calibri"/>
              </a:defRPr>
            </a:lvl6pPr>
            <a:lvl7pPr>
              <a:defRPr sz="1575" b="0">
                <a:solidFill>
                  <a:srgbClr val="333333"/>
                </a:solidFill>
                <a:latin typeface="Calibri"/>
                <a:ea typeface="Calibri"/>
                <a:cs typeface="Calibri"/>
              </a:defRPr>
            </a:lvl7pPr>
            <a:lvl8pPr>
              <a:defRPr sz="1575" b="0">
                <a:solidFill>
                  <a:srgbClr val="333333"/>
                </a:solidFill>
                <a:latin typeface="Calibri"/>
                <a:ea typeface="Calibri"/>
                <a:cs typeface="Calibri"/>
              </a:defRPr>
            </a:lvl8pPr>
            <a:lvl9pPr>
              <a:defRPr sz="1575" b="0">
                <a:solidFill>
                  <a:srgbClr val="333333"/>
                </a:solidFill>
                <a:latin typeface="Calibri"/>
                <a:ea typeface="Calibri"/>
                <a:cs typeface="Calibri"/>
              </a:defRPr>
            </a:lvl9pPr>
          </a:lstStyle>
          <a:p>
            <a:pPr>
              <a:defRPr sz="1575" b="0">
                <a:solidFill>
                  <a:srgbClr val="333333"/>
                </a:solidFill>
                <a:latin typeface="Calibri"/>
                <a:ea typeface="Calibri"/>
                <a:cs typeface="Calibri"/>
              </a:defRPr>
            </a:pPr>
            <a:r>
              <a:rPr sz="1575" b="0">
                <a:solidFill>
                  <a:srgbClr val="333333"/>
                </a:solidFill>
                <a:latin typeface="Calibri"/>
                <a:ea typeface="Calibri"/>
                <a:cs typeface="Calibri"/>
              </a:rPr>
              <a:t>Mechanical rotary and rotary/electric cases hold DL 20 and WL 90 kg/m². These are power sweeps. [A, B]</a:t>
            </a:r>
          </a:p>
        </p:txBody>
      </p:sp>
      <p:sp>
        <p:nvSpPr>
          <p:cNvPr id="3" name="Rectangle 2">
            <a:extLst>
              <a:ext uri="{FF2B5EF4-FFF2-40B4-BE49-F238E27FC236}">
                <a16:creationId xmlns:a16="http://schemas.microsoft.com/office/drawing/2014/main" id="{54BC4C63-A3FD-4F19-B03A-DE8F98904E7C}"/>
              </a:ext>
            </a:extLst>
          </p:cNvPr>
          <p:cNvSpPr>
            <a:spLocks noGrp="1"/>
          </p:cNvSpPr>
          <p:nvPr/>
        </p:nvSpPr>
        <p:spPr>
          <a:xfrm>
            <a:off x="476250" y="6076950"/>
            <a:ext cx="11191875" cy="619125"/>
          </a:xfrm>
          <a:prstGeom prst="rect">
            <a:avLst/>
          </a:prstGeom>
          <a:noFill/>
          <a:ln w="0">
            <a:noFill/>
          </a:ln>
        </p:spPr>
        <p:txBody>
          <a:bodyPr lIns="0" tIns="0" rIns="0" bIns="0"/>
          <a:lstStyle>
            <a:defPPr>
              <a:defRPr sz="1050" b="0">
                <a:solidFill>
                  <a:srgbClr val="333333"/>
                </a:solidFill>
                <a:latin typeface="Calibri"/>
                <a:ea typeface="Calibri"/>
                <a:cs typeface="Calibri"/>
              </a:defRPr>
            </a:defPPr>
            <a:lvl1pPr>
              <a:defRPr sz="1050" b="0">
                <a:solidFill>
                  <a:srgbClr val="333333"/>
                </a:solidFill>
                <a:latin typeface="Calibri"/>
                <a:ea typeface="Calibri"/>
                <a:cs typeface="Calibri"/>
              </a:defRPr>
            </a:lvl1pPr>
            <a:lvl2pPr>
              <a:defRPr sz="1050" b="0">
                <a:solidFill>
                  <a:srgbClr val="333333"/>
                </a:solidFill>
                <a:latin typeface="Calibri"/>
                <a:ea typeface="Calibri"/>
                <a:cs typeface="Calibri"/>
              </a:defRPr>
            </a:lvl2pPr>
            <a:lvl3pPr>
              <a:defRPr sz="1050" b="0">
                <a:solidFill>
                  <a:srgbClr val="333333"/>
                </a:solidFill>
                <a:latin typeface="Calibri"/>
                <a:ea typeface="Calibri"/>
                <a:cs typeface="Calibri"/>
              </a:defRPr>
            </a:lvl3pPr>
            <a:lvl4pPr>
              <a:defRPr sz="1050" b="0">
                <a:solidFill>
                  <a:srgbClr val="333333"/>
                </a:solidFill>
                <a:latin typeface="Calibri"/>
                <a:ea typeface="Calibri"/>
                <a:cs typeface="Calibri"/>
              </a:defRPr>
            </a:lvl4pPr>
            <a:lvl5pPr>
              <a:defRPr sz="1050" b="0">
                <a:solidFill>
                  <a:srgbClr val="333333"/>
                </a:solidFill>
                <a:latin typeface="Calibri"/>
                <a:ea typeface="Calibri"/>
                <a:cs typeface="Calibri"/>
              </a:defRPr>
            </a:lvl5pPr>
            <a:lvl6pPr>
              <a:defRPr sz="1050" b="0">
                <a:solidFill>
                  <a:srgbClr val="333333"/>
                </a:solidFill>
                <a:latin typeface="Calibri"/>
                <a:ea typeface="Calibri"/>
                <a:cs typeface="Calibri"/>
              </a:defRPr>
            </a:lvl6pPr>
            <a:lvl7pPr>
              <a:defRPr sz="1050" b="0">
                <a:solidFill>
                  <a:srgbClr val="333333"/>
                </a:solidFill>
                <a:latin typeface="Calibri"/>
                <a:ea typeface="Calibri"/>
                <a:cs typeface="Calibri"/>
              </a:defRPr>
            </a:lvl7pPr>
            <a:lvl8pPr>
              <a:defRPr sz="1050" b="0">
                <a:solidFill>
                  <a:srgbClr val="333333"/>
                </a:solidFill>
                <a:latin typeface="Calibri"/>
                <a:ea typeface="Calibri"/>
                <a:cs typeface="Calibri"/>
              </a:defRPr>
            </a:lvl8pPr>
            <a:lvl9pPr>
              <a:defRPr sz="1050" b="0">
                <a:solidFill>
                  <a:srgbClr val="333333"/>
                </a:solidFill>
                <a:latin typeface="Calibri"/>
                <a:ea typeface="Calibri"/>
                <a:cs typeface="Calibri"/>
              </a:defRPr>
            </a:lvl9pPr>
          </a:lstStyle>
          <a:p>
            <a:pPr>
              <a:defRPr sz="1050" b="0">
                <a:solidFill>
                  <a:srgbClr val="333333"/>
                </a:solidFill>
                <a:latin typeface="Calibri"/>
                <a:ea typeface="Calibri"/>
                <a:cs typeface="Calibri"/>
              </a:defRPr>
            </a:pPr>
            <a:r>
              <a:rPr sz="1050" b="0">
                <a:solidFill>
                  <a:srgbClr val="333333"/>
                </a:solidFill>
                <a:latin typeface="Calibri"/>
                <a:ea typeface="Calibri"/>
                <a:cs typeface="Calibri"/>
              </a:rPr>
              <a:t>[A] NDARC execution archive, 28 Oct 2026: organized_runs/inventory.json; run_logs/*.jsonl; original runs/ inputs and outputs.</a:t>
            </a:r>
          </a:p>
          <a:p>
            <a:pPr>
              <a:defRPr sz="1050" b="0">
                <a:solidFill>
                  <a:srgbClr val="333333"/>
                </a:solidFill>
                <a:latin typeface="Calibri"/>
                <a:ea typeface="Calibri"/>
                <a:cs typeface="Calibri"/>
              </a:defRPr>
            </a:pPr>
            <a:r>
              <a:rPr sz="1050" b="0">
                <a:solidFill>
                  <a:srgbClr val="333333"/>
                </a:solidFill>
                <a:latin typeface="Calibri"/>
                <a:ea typeface="Calibri"/>
                <a:cs typeface="Calibri"/>
              </a:rPr>
              <a:t>[B] design-space-evidence/campaign-design-space.json and all-run-design-points.csv (this deck folder). Exact marginal sets, plans, input hashes and status.</a:t>
            </a:r>
          </a:p>
        </p:txBody>
      </p:sp>
      <p:sp>
        <p:nvSpPr>
          <p:cNvPr id="4" name="Rectangle 3">
            <a:extLst>
              <a:ext uri="{FF2B5EF4-FFF2-40B4-BE49-F238E27FC236}">
                <a16:creationId xmlns:a16="http://schemas.microsoft.com/office/drawing/2014/main" id="{58E95B58-304F-49B0-B1E7-4F3427A33020}"/>
              </a:ext>
            </a:extLst>
          </p:cNvPr>
          <p:cNvSpPr>
            <a:spLocks noGrp="1"/>
          </p:cNvSpPr>
          <p:nvPr/>
        </p:nvSpPr>
        <p:spPr>
          <a:xfrm>
            <a:off x="11430000" y="6553200"/>
            <a:ext cx="333375" cy="209550"/>
          </a:xfrm>
          <a:prstGeom prst="rect">
            <a:avLst/>
          </a:prstGeom>
          <a:noFill/>
          <a:ln w="0">
            <a:noFill/>
          </a:ln>
        </p:spPr>
        <p:txBody>
          <a:bodyPr lIns="0" tIns="0" rIns="0" bIns="0"/>
          <a:lstStyle>
            <a:defPPr>
              <a:defRPr sz="1125" b="0">
                <a:solidFill>
                  <a:srgbClr val="000000"/>
                </a:solidFill>
                <a:latin typeface="Calibri"/>
                <a:ea typeface="Calibri"/>
                <a:cs typeface="Calibri"/>
              </a:defRPr>
            </a:defPPr>
            <a:lvl1pPr>
              <a:defRPr sz="1125" b="0">
                <a:solidFill>
                  <a:srgbClr val="000000"/>
                </a:solidFill>
                <a:latin typeface="Calibri"/>
                <a:ea typeface="Calibri"/>
                <a:cs typeface="Calibri"/>
              </a:defRPr>
            </a:lvl1pPr>
            <a:lvl2pPr>
              <a:defRPr sz="1125" b="0">
                <a:solidFill>
                  <a:srgbClr val="000000"/>
                </a:solidFill>
                <a:latin typeface="Calibri"/>
                <a:ea typeface="Calibri"/>
                <a:cs typeface="Calibri"/>
              </a:defRPr>
            </a:lvl2pPr>
            <a:lvl3pPr>
              <a:defRPr sz="1125" b="0">
                <a:solidFill>
                  <a:srgbClr val="000000"/>
                </a:solidFill>
                <a:latin typeface="Calibri"/>
                <a:ea typeface="Calibri"/>
                <a:cs typeface="Calibri"/>
              </a:defRPr>
            </a:lvl3pPr>
            <a:lvl4pPr>
              <a:defRPr sz="1125" b="0">
                <a:solidFill>
                  <a:srgbClr val="000000"/>
                </a:solidFill>
                <a:latin typeface="Calibri"/>
                <a:ea typeface="Calibri"/>
                <a:cs typeface="Calibri"/>
              </a:defRPr>
            </a:lvl4pPr>
            <a:lvl5pPr>
              <a:defRPr sz="1125" b="0">
                <a:solidFill>
                  <a:srgbClr val="000000"/>
                </a:solidFill>
                <a:latin typeface="Calibri"/>
                <a:ea typeface="Calibri"/>
                <a:cs typeface="Calibri"/>
              </a:defRPr>
            </a:lvl5pPr>
            <a:lvl6pPr>
              <a:defRPr sz="1125" b="0">
                <a:solidFill>
                  <a:srgbClr val="000000"/>
                </a:solidFill>
                <a:latin typeface="Calibri"/>
                <a:ea typeface="Calibri"/>
                <a:cs typeface="Calibri"/>
              </a:defRPr>
            </a:lvl6pPr>
            <a:lvl7pPr>
              <a:defRPr sz="1125" b="0">
                <a:solidFill>
                  <a:srgbClr val="000000"/>
                </a:solidFill>
                <a:latin typeface="Calibri"/>
                <a:ea typeface="Calibri"/>
                <a:cs typeface="Calibri"/>
              </a:defRPr>
            </a:lvl7pPr>
            <a:lvl8pPr>
              <a:defRPr sz="1125" b="0">
                <a:solidFill>
                  <a:srgbClr val="000000"/>
                </a:solidFill>
                <a:latin typeface="Calibri"/>
                <a:ea typeface="Calibri"/>
                <a:cs typeface="Calibri"/>
              </a:defRPr>
            </a:lvl8pPr>
            <a:lvl9pPr>
              <a:defRPr sz="1125" b="0">
                <a:solidFill>
                  <a:srgbClr val="000000"/>
                </a:solidFill>
                <a:latin typeface="Calibri"/>
                <a:ea typeface="Calibri"/>
                <a:cs typeface="Calibri"/>
              </a:defRPr>
            </a:lvl9pPr>
          </a:lstStyle>
          <a:p>
            <a:pPr>
              <a:defRPr sz="1125" b="0">
                <a:solidFill>
                  <a:srgbClr val="000000"/>
                </a:solidFill>
                <a:latin typeface="Calibri"/>
                <a:ea typeface="Calibri"/>
                <a:cs typeface="Calibri"/>
              </a:defRPr>
            </a:pPr>
            <a:r>
              <a:rPr sz="1125" b="0">
                <a:solidFill>
                  <a:srgbClr val="000000"/>
                </a:solidFill>
                <a:latin typeface="Calibri"/>
                <a:ea typeface="Calibri"/>
                <a:cs typeface="Calibri"/>
              </a:rPr>
              <a:t>45</a:t>
            </a:r>
          </a:p>
        </p:txBody>
      </p:sp>
      <p:graphicFrame>
        <p:nvGraphicFramePr>
          <p:cNvPr id="5" name="Table 4">
            <a:extLst>
              <a:ext uri="{FF2B5EF4-FFF2-40B4-BE49-F238E27FC236}">
                <a16:creationId xmlns:a16="http://schemas.microsoft.com/office/drawing/2014/main" id="{0740F011-7E19-4FBB-9C7F-6AEC569998FD}"/>
              </a:ext>
            </a:extLst>
          </p:cNvPr>
          <p:cNvGraphicFramePr/>
          <p:nvPr/>
        </p:nvGraphicFramePr>
        <p:xfrm>
          <a:off x="476250" y="1714500"/>
          <a:ext cx="11239500" cy="4000500"/>
        </p:xfrm>
        <a:graphic>
          <a:graphicData uri="http://schemas.openxmlformats.org/drawingml/2006/table">
            <a:tbl>
              <a:tblPr/>
              <a:tblGrid>
                <a:gridCol w="4000500">
                  <a:extLst>
                    <a:ext uri="{9D8B030D-6E8A-4147-A177-3AD203B41FA5}">
                      <a16:colId xmlns:a16="http://schemas.microsoft.com/office/drawing/2014/main" val="20000"/>
                    </a:ext>
                  </a:extLst>
                </a:gridCol>
                <a:gridCol w="6191250">
                  <a:extLst>
                    <a:ext uri="{9D8B030D-6E8A-4147-A177-3AD203B41FA5}">
                      <a16:colId xmlns:a16="http://schemas.microsoft.com/office/drawing/2014/main" val="20001"/>
                    </a:ext>
                  </a:extLst>
                </a:gridCol>
                <a:gridCol w="1047750">
                  <a:extLst>
                    <a:ext uri="{9D8B030D-6E8A-4147-A177-3AD203B41FA5}">
                      <a16:colId xmlns:a16="http://schemas.microsoft.com/office/drawing/2014/main" val="20002"/>
                    </a:ext>
                  </a:extLst>
                </a:gridCol>
              </a:tblGrid>
              <a:tr h="571500">
                <a:tc>
                  <a:txBody>
                    <a:bodyPr/>
                    <a:lstStyle/>
                    <a:p>
                      <a:r>
                        <a:rPr sz="1350" b="1">
                          <a:solidFill>
                            <a:srgbClr val="000000"/>
                          </a:solidFill>
                          <a:latin typeface="Calibri"/>
                          <a:ea typeface="Calibri"/>
                          <a:cs typeface="Calibri"/>
                        </a:rPr>
                        <a:t>Architecture / campaign</a:t>
                      </a:r>
                    </a:p>
                  </a:txBody>
                  <a:tcPr>
                    <a:lnL w="7620">
                      <a:solidFill>
                        <a:srgbClr val="CCCCCC"/>
                      </a:solidFill>
                    </a:lnL>
                    <a:lnR w="7620">
                      <a:solidFill>
                        <a:srgbClr val="CCCCCC"/>
                      </a:solidFill>
                    </a:lnR>
                    <a:lnT w="7620">
                      <a:solidFill>
                        <a:srgbClr val="CCCCCC"/>
                      </a:solidFill>
                    </a:lnT>
                    <a:lnB w="7620">
                      <a:solidFill>
                        <a:srgbClr val="CCCCCC"/>
                      </a:solidFill>
                    </a:lnB>
                    <a:solidFill>
                      <a:srgbClr val="D9D9D9"/>
                    </a:solidFill>
                  </a:tcPr>
                </a:tc>
                <a:tc>
                  <a:txBody>
                    <a:bodyPr/>
                    <a:lstStyle/>
                    <a:p>
                      <a:r>
                        <a:rPr sz="1350" b="1">
                          <a:solidFill>
                            <a:srgbClr val="000000"/>
                          </a:solidFill>
                          <a:latin typeface="Calibri"/>
                          <a:ea typeface="Calibri"/>
                          <a:cs typeface="Calibri"/>
                        </a:rPr>
                        <a:t>Plan point settings</a:t>
                      </a:r>
                    </a:p>
                  </a:txBody>
                  <a:tcPr>
                    <a:lnL w="7620" cap="flat" cmpd="sng" algn="ctr">
                      <a:solidFill>
                        <a:srgbClr val="CCCCCC"/>
                      </a:solidFill>
                      <a:prstDash val="solid"/>
                      <a:round/>
                      <a:headEnd type="none" w="med" len="med"/>
                      <a:tailEnd type="none" w="med" len="med"/>
                    </a:lnL>
                    <a:lnR w="7620">
                      <a:solidFill>
                        <a:srgbClr val="CCCCCC"/>
                      </a:solidFill>
                    </a:lnR>
                    <a:lnT w="7620">
                      <a:solidFill>
                        <a:srgbClr val="CCCCCC"/>
                      </a:solidFill>
                    </a:lnT>
                    <a:lnB w="7620">
                      <a:solidFill>
                        <a:srgbClr val="CCCCCC"/>
                      </a:solidFill>
                    </a:lnB>
                    <a:solidFill>
                      <a:srgbClr val="D9D9D9"/>
                    </a:solidFill>
                  </a:tcPr>
                </a:tc>
                <a:tc>
                  <a:txBody>
                    <a:bodyPr/>
                    <a:lstStyle/>
                    <a:p>
                      <a:r>
                        <a:rPr sz="1350" b="1">
                          <a:solidFill>
                            <a:srgbClr val="000000"/>
                          </a:solidFill>
                          <a:latin typeface="Calibri"/>
                          <a:ea typeface="Calibri"/>
                          <a:cs typeface="Calibri"/>
                        </a:rPr>
                        <a:t>Folders</a:t>
                      </a:r>
                    </a:p>
                  </a:txBody>
                  <a:tcPr>
                    <a:lnL w="7620" cap="flat" cmpd="sng" algn="ctr">
                      <a:solidFill>
                        <a:srgbClr val="CCCCCC"/>
                      </a:solidFill>
                      <a:prstDash val="solid"/>
                      <a:round/>
                      <a:headEnd type="none" w="med" len="med"/>
                      <a:tailEnd type="none" w="med" len="med"/>
                    </a:lnL>
                    <a:lnR w="7620">
                      <a:solidFill>
                        <a:srgbClr val="CCCCCC"/>
                      </a:solidFill>
                    </a:lnR>
                    <a:lnT w="7620">
                      <a:solidFill>
                        <a:srgbClr val="CCCCCC"/>
                      </a:solidFill>
                    </a:lnT>
                    <a:lnB w="7620">
                      <a:solidFill>
                        <a:srgbClr val="CCCCCC"/>
                      </a:solidFill>
                    </a:lnB>
                    <a:solidFill>
                      <a:srgbClr val="D9D9D9"/>
                    </a:solidFill>
                  </a:tcPr>
                </a:tc>
                <a:extLst>
                  <a:ext uri="{0D108BD9-81ED-4DB2-BD59-A6C34878D82A}">
                    <a16:rowId xmlns:a16="http://schemas.microsoft.com/office/drawing/2014/main" val="10000"/>
                  </a:ext>
                </a:extLst>
              </a:tr>
              <a:tr h="571500">
                <a:tc>
                  <a:txBody>
                    <a:bodyPr/>
                    <a:lstStyle/>
                    <a:p>
                      <a:r>
                        <a:rPr sz="1350" b="0">
                          <a:solidFill>
                            <a:srgbClr val="000000"/>
                          </a:solidFill>
                          <a:latin typeface="Calibri"/>
                          <a:ea typeface="Calibri"/>
                          <a:cs typeface="Calibri"/>
                        </a:rPr>
                        <a:t>mechanical</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350" b="0">
                          <a:solidFill>
                            <a:srgbClr val="000000"/>
                          </a:solidFill>
                          <a:latin typeface="Calibri"/>
                          <a:ea typeface="Calibri"/>
                          <a:cs typeface="Calibri"/>
                        </a:rPr>
                        <a:t>Mechanical: 80, 100, 120 peak hp</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350" b="0">
                          <a:solidFill>
                            <a:srgbClr val="000000"/>
                          </a:solidFill>
                          <a:latin typeface="Calibri"/>
                          <a:ea typeface="Calibri"/>
                          <a:cs typeface="Calibri"/>
                        </a:rPr>
                        <a:t>3</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1"/>
                  </a:ext>
                </a:extLst>
              </a:tr>
              <a:tr h="571500">
                <a:tc>
                  <a:txBody>
                    <a:bodyPr/>
                    <a:lstStyle/>
                    <a:p>
                      <a:r>
                        <a:rPr sz="1350" b="0">
                          <a:solidFill>
                            <a:srgbClr val="000000"/>
                          </a:solidFill>
                          <a:latin typeface="Calibri"/>
                          <a:ea typeface="Calibri"/>
                          <a:cs typeface="Calibri"/>
                        </a:rPr>
                        <a:t>electric</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350" b="0">
                          <a:solidFill>
                            <a:srgbClr val="000000"/>
                          </a:solidFill>
                          <a:latin typeface="Calibri"/>
                          <a:ea typeface="Calibri"/>
                          <a:cs typeface="Calibri"/>
                        </a:rPr>
                        <a:t>Electric: 80, 100, 120 peak hp</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350" b="0">
                          <a:solidFill>
                            <a:srgbClr val="000000"/>
                          </a:solidFill>
                          <a:latin typeface="Calibri"/>
                          <a:ea typeface="Calibri"/>
                          <a:cs typeface="Calibri"/>
                        </a:rPr>
                        <a:t>3</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2"/>
                  </a:ext>
                </a:extLst>
              </a:tr>
              <a:tr h="571500">
                <a:tc>
                  <a:txBody>
                    <a:bodyPr/>
                    <a:lstStyle/>
                    <a:p>
                      <a:r>
                        <a:rPr sz="1350" b="0">
                          <a:solidFill>
                            <a:srgbClr val="000000"/>
                          </a:solidFill>
                          <a:latin typeface="Calibri"/>
                          <a:ea typeface="Calibri"/>
                          <a:cs typeface="Calibri"/>
                        </a:rPr>
                        <a:t>electric-refine</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350" b="0">
                          <a:solidFill>
                            <a:srgbClr val="000000"/>
                          </a:solidFill>
                          <a:latin typeface="Calibri"/>
                          <a:ea typeface="Calibri"/>
                          <a:cs typeface="Calibri"/>
                        </a:rPr>
                        <a:t>Electric: 85, 90, 95 peak hp</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350" b="0">
                          <a:solidFill>
                            <a:srgbClr val="000000"/>
                          </a:solidFill>
                          <a:latin typeface="Calibri"/>
                          <a:ea typeface="Calibri"/>
                          <a:cs typeface="Calibri"/>
                        </a:rPr>
                        <a:t>3</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3"/>
                  </a:ext>
                </a:extLst>
              </a:tr>
              <a:tr h="571500">
                <a:tc>
                  <a:txBody>
                    <a:bodyPr/>
                    <a:lstStyle/>
                    <a:p>
                      <a:r>
                        <a:rPr sz="1350" b="0">
                          <a:solidFill>
                            <a:srgbClr val="000000"/>
                          </a:solidFill>
                          <a:latin typeface="Calibri"/>
                          <a:ea typeface="Calibri"/>
                          <a:cs typeface="Calibri"/>
                        </a:rPr>
                        <a:t>mechanical--289192e5</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350" b="0">
                          <a:solidFill>
                            <a:srgbClr val="000000"/>
                          </a:solidFill>
                          <a:latin typeface="Calibri"/>
                          <a:ea typeface="Calibri"/>
                          <a:cs typeface="Calibri"/>
                        </a:rPr>
                        <a:t>Mechanical: 50, 55, 60, 65, 70, 75, 80, 100, 120 peak hp</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350" b="0">
                          <a:solidFill>
                            <a:srgbClr val="000000"/>
                          </a:solidFill>
                          <a:latin typeface="Calibri"/>
                          <a:ea typeface="Calibri"/>
                          <a:cs typeface="Calibri"/>
                        </a:rPr>
                        <a:t>9</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4"/>
                  </a:ext>
                </a:extLst>
              </a:tr>
              <a:tr h="571500">
                <a:tc>
                  <a:txBody>
                    <a:bodyPr/>
                    <a:lstStyle/>
                    <a:p>
                      <a:r>
                        <a:rPr sz="1350" b="0">
                          <a:solidFill>
                            <a:srgbClr val="000000"/>
                          </a:solidFill>
                          <a:latin typeface="Calibri"/>
                          <a:ea typeface="Calibri"/>
                          <a:cs typeface="Calibri"/>
                        </a:rPr>
                        <a:t>electric-harmonized</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350" b="0">
                          <a:solidFill>
                            <a:srgbClr val="000000"/>
                          </a:solidFill>
                          <a:latin typeface="Calibri"/>
                          <a:ea typeface="Calibri"/>
                          <a:cs typeface="Calibri"/>
                        </a:rPr>
                        <a:t>Electric: 70, 75, 80, 85, 90, 95, 100, 120 peak hp</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350" b="0">
                          <a:solidFill>
                            <a:srgbClr val="000000"/>
                          </a:solidFill>
                          <a:latin typeface="Calibri"/>
                          <a:ea typeface="Calibri"/>
                          <a:cs typeface="Calibri"/>
                        </a:rPr>
                        <a:t>8</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5"/>
                  </a:ext>
                </a:extLst>
              </a:tr>
              <a:tr h="571500">
                <a:tc>
                  <a:txBody>
                    <a:bodyPr/>
                    <a:lstStyle/>
                    <a:p>
                      <a:r>
                        <a:rPr sz="1350" b="0">
                          <a:solidFill>
                            <a:srgbClr val="000000"/>
                          </a:solidFill>
                          <a:latin typeface="Calibri"/>
                          <a:ea typeface="Calibri"/>
                          <a:cs typeface="Calibri"/>
                        </a:rPr>
                        <a:t>mechanical-refine</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350" b="0">
                          <a:solidFill>
                            <a:srgbClr val="000000"/>
                          </a:solidFill>
                          <a:latin typeface="Calibri"/>
                          <a:ea typeface="Calibri"/>
                          <a:cs typeface="Calibri"/>
                        </a:rPr>
                        <a:t>Mechanical: 60, 65, 70, 75 peak hp</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350" b="0">
                          <a:solidFill>
                            <a:srgbClr val="000000"/>
                          </a:solidFill>
                          <a:latin typeface="Calibri"/>
                          <a:ea typeface="Calibri"/>
                          <a:cs typeface="Calibri"/>
                        </a:rPr>
                        <a:t>4</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6563131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BC109D2-18CA-4533-A806-572515AAB958}"/>
              </a:ext>
            </a:extLst>
          </p:cNvPr>
          <p:cNvSpPr>
            <a:spLocks noGrp="1"/>
          </p:cNvSpPr>
          <p:nvPr/>
        </p:nvSpPr>
        <p:spPr>
          <a:xfrm>
            <a:off x="838200" y="361950"/>
            <a:ext cx="10572750" cy="495300"/>
          </a:xfrm>
          <a:prstGeom prst="rect">
            <a:avLst/>
          </a:prstGeom>
          <a:noFill/>
          <a:ln w="0">
            <a:noFill/>
          </a:ln>
        </p:spPr>
        <p:txBody>
          <a:bodyPr lIns="0" tIns="0" rIns="0" bIns="0"/>
          <a:lstStyle>
            <a:defPPr>
              <a:defRPr sz="2400" b="1">
                <a:solidFill>
                  <a:srgbClr val="000000"/>
                </a:solidFill>
                <a:latin typeface="Calibri"/>
                <a:ea typeface="Calibri"/>
                <a:cs typeface="Calibri"/>
              </a:defRPr>
            </a:defPPr>
            <a:lvl1pPr>
              <a:defRPr sz="2400" b="1">
                <a:solidFill>
                  <a:srgbClr val="000000"/>
                </a:solidFill>
                <a:latin typeface="Calibri"/>
                <a:ea typeface="Calibri"/>
                <a:cs typeface="Calibri"/>
              </a:defRPr>
            </a:lvl1pPr>
            <a:lvl2pPr>
              <a:defRPr sz="2400" b="1">
                <a:solidFill>
                  <a:srgbClr val="000000"/>
                </a:solidFill>
                <a:latin typeface="Calibri"/>
                <a:ea typeface="Calibri"/>
                <a:cs typeface="Calibri"/>
              </a:defRPr>
            </a:lvl2pPr>
            <a:lvl3pPr>
              <a:defRPr sz="2400" b="1">
                <a:solidFill>
                  <a:srgbClr val="000000"/>
                </a:solidFill>
                <a:latin typeface="Calibri"/>
                <a:ea typeface="Calibri"/>
                <a:cs typeface="Calibri"/>
              </a:defRPr>
            </a:lvl3pPr>
            <a:lvl4pPr>
              <a:defRPr sz="2400" b="1">
                <a:solidFill>
                  <a:srgbClr val="000000"/>
                </a:solidFill>
                <a:latin typeface="Calibri"/>
                <a:ea typeface="Calibri"/>
                <a:cs typeface="Calibri"/>
              </a:defRPr>
            </a:lvl4pPr>
            <a:lvl5pPr>
              <a:defRPr sz="2400" b="1">
                <a:solidFill>
                  <a:srgbClr val="000000"/>
                </a:solidFill>
                <a:latin typeface="Calibri"/>
                <a:ea typeface="Calibri"/>
                <a:cs typeface="Calibri"/>
              </a:defRPr>
            </a:lvl5pPr>
            <a:lvl6pPr>
              <a:defRPr sz="2400" b="1">
                <a:solidFill>
                  <a:srgbClr val="000000"/>
                </a:solidFill>
                <a:latin typeface="Calibri"/>
                <a:ea typeface="Calibri"/>
                <a:cs typeface="Calibri"/>
              </a:defRPr>
            </a:lvl6pPr>
            <a:lvl7pPr>
              <a:defRPr sz="2400" b="1">
                <a:solidFill>
                  <a:srgbClr val="000000"/>
                </a:solidFill>
                <a:latin typeface="Calibri"/>
                <a:ea typeface="Calibri"/>
                <a:cs typeface="Calibri"/>
              </a:defRPr>
            </a:lvl7pPr>
            <a:lvl8pPr>
              <a:defRPr sz="2400" b="1">
                <a:solidFill>
                  <a:srgbClr val="000000"/>
                </a:solidFill>
                <a:latin typeface="Calibri"/>
                <a:ea typeface="Calibri"/>
                <a:cs typeface="Calibri"/>
              </a:defRPr>
            </a:lvl8pPr>
            <a:lvl9pPr>
              <a:defRPr sz="2400" b="1">
                <a:solidFill>
                  <a:srgbClr val="000000"/>
                </a:solidFill>
                <a:latin typeface="Calibri"/>
                <a:ea typeface="Calibri"/>
                <a:cs typeface="Calibri"/>
              </a:defRPr>
            </a:lvl9pPr>
          </a:lstStyle>
          <a:p>
            <a:pPr>
              <a:defRPr sz="2400" b="1">
                <a:solidFill>
                  <a:srgbClr val="000000"/>
                </a:solidFill>
                <a:latin typeface="Calibri"/>
                <a:ea typeface="Calibri"/>
                <a:cs typeface="Calibri"/>
              </a:defRPr>
            </a:pPr>
            <a:r>
              <a:rPr sz="2400" b="1">
                <a:solidFill>
                  <a:srgbClr val="000000"/>
                </a:solidFill>
                <a:latin typeface="Calibri"/>
                <a:ea typeface="Calibri"/>
                <a:cs typeface="Calibri"/>
              </a:rPr>
              <a:t>Revised mission: selected-point checks versus full search</a:t>
            </a:r>
          </a:p>
        </p:txBody>
      </p:sp>
      <p:sp>
        <p:nvSpPr>
          <p:cNvPr id="2" name="Rectangle 1">
            <a:extLst>
              <a:ext uri="{FF2B5EF4-FFF2-40B4-BE49-F238E27FC236}">
                <a16:creationId xmlns:a16="http://schemas.microsoft.com/office/drawing/2014/main" id="{60CE51B3-F799-4C0B-99E6-AE15DE1AF680}"/>
              </a:ext>
            </a:extLst>
          </p:cNvPr>
          <p:cNvSpPr>
            <a:spLocks noGrp="1"/>
          </p:cNvSpPr>
          <p:nvPr/>
        </p:nvSpPr>
        <p:spPr>
          <a:xfrm>
            <a:off x="476250" y="1028700"/>
            <a:ext cx="11239500" cy="590550"/>
          </a:xfrm>
          <a:prstGeom prst="rect">
            <a:avLst/>
          </a:prstGeom>
          <a:noFill/>
          <a:ln w="0">
            <a:noFill/>
          </a:ln>
        </p:spPr>
        <p:txBody>
          <a:bodyPr lIns="0" tIns="0" rIns="0" bIns="0"/>
          <a:lstStyle>
            <a:defPPr>
              <a:defRPr sz="1575" b="0">
                <a:solidFill>
                  <a:srgbClr val="333333"/>
                </a:solidFill>
                <a:latin typeface="Calibri"/>
                <a:ea typeface="Calibri"/>
                <a:cs typeface="Calibri"/>
              </a:defRPr>
            </a:defPPr>
            <a:lvl1pPr>
              <a:defRPr sz="1575" b="0">
                <a:solidFill>
                  <a:srgbClr val="333333"/>
                </a:solidFill>
                <a:latin typeface="Calibri"/>
                <a:ea typeface="Calibri"/>
                <a:cs typeface="Calibri"/>
              </a:defRPr>
            </a:lvl1pPr>
            <a:lvl2pPr>
              <a:defRPr sz="1575" b="0">
                <a:solidFill>
                  <a:srgbClr val="333333"/>
                </a:solidFill>
                <a:latin typeface="Calibri"/>
                <a:ea typeface="Calibri"/>
                <a:cs typeface="Calibri"/>
              </a:defRPr>
            </a:lvl2pPr>
            <a:lvl3pPr>
              <a:defRPr sz="1575" b="0">
                <a:solidFill>
                  <a:srgbClr val="333333"/>
                </a:solidFill>
                <a:latin typeface="Calibri"/>
                <a:ea typeface="Calibri"/>
                <a:cs typeface="Calibri"/>
              </a:defRPr>
            </a:lvl3pPr>
            <a:lvl4pPr>
              <a:defRPr sz="1575" b="0">
                <a:solidFill>
                  <a:srgbClr val="333333"/>
                </a:solidFill>
                <a:latin typeface="Calibri"/>
                <a:ea typeface="Calibri"/>
                <a:cs typeface="Calibri"/>
              </a:defRPr>
            </a:lvl4pPr>
            <a:lvl5pPr>
              <a:defRPr sz="1575" b="0">
                <a:solidFill>
                  <a:srgbClr val="333333"/>
                </a:solidFill>
                <a:latin typeface="Calibri"/>
                <a:ea typeface="Calibri"/>
                <a:cs typeface="Calibri"/>
              </a:defRPr>
            </a:lvl5pPr>
            <a:lvl6pPr>
              <a:defRPr sz="1575" b="0">
                <a:solidFill>
                  <a:srgbClr val="333333"/>
                </a:solidFill>
                <a:latin typeface="Calibri"/>
                <a:ea typeface="Calibri"/>
                <a:cs typeface="Calibri"/>
              </a:defRPr>
            </a:lvl6pPr>
            <a:lvl7pPr>
              <a:defRPr sz="1575" b="0">
                <a:solidFill>
                  <a:srgbClr val="333333"/>
                </a:solidFill>
                <a:latin typeface="Calibri"/>
                <a:ea typeface="Calibri"/>
                <a:cs typeface="Calibri"/>
              </a:defRPr>
            </a:lvl7pPr>
            <a:lvl8pPr>
              <a:defRPr sz="1575" b="0">
                <a:solidFill>
                  <a:srgbClr val="333333"/>
                </a:solidFill>
                <a:latin typeface="Calibri"/>
                <a:ea typeface="Calibri"/>
                <a:cs typeface="Calibri"/>
              </a:defRPr>
            </a:lvl8pPr>
            <a:lvl9pPr>
              <a:defRPr sz="1575" b="0">
                <a:solidFill>
                  <a:srgbClr val="333333"/>
                </a:solidFill>
                <a:latin typeface="Calibri"/>
                <a:ea typeface="Calibri"/>
                <a:cs typeface="Calibri"/>
              </a:defRPr>
            </a:lvl9pPr>
          </a:lstStyle>
          <a:p>
            <a:pPr>
              <a:defRPr sz="1575" b="0">
                <a:solidFill>
                  <a:srgbClr val="333333"/>
                </a:solidFill>
                <a:latin typeface="Calibri"/>
                <a:ea typeface="Calibri"/>
                <a:cs typeface="Calibri"/>
              </a:defRPr>
            </a:pPr>
            <a:r>
              <a:rPr sz="1575" b="0">
                <a:solidFill>
                  <a:srgbClr val="333333"/>
                </a:solidFill>
                <a:latin typeface="Calibri"/>
                <a:ea typeface="Calibri"/>
                <a:cs typeface="Calibri"/>
              </a:rPr>
              <a:t>The 30 s vertical-climb correction reran four selected designs and replay controls. [A, B]</a:t>
            </a:r>
          </a:p>
        </p:txBody>
      </p:sp>
      <p:sp>
        <p:nvSpPr>
          <p:cNvPr id="3" name="Rectangle 2">
            <a:extLst>
              <a:ext uri="{FF2B5EF4-FFF2-40B4-BE49-F238E27FC236}">
                <a16:creationId xmlns:a16="http://schemas.microsoft.com/office/drawing/2014/main" id="{7C7956D7-9EC6-4C8C-BEE3-28220AAC836C}"/>
              </a:ext>
            </a:extLst>
          </p:cNvPr>
          <p:cNvSpPr>
            <a:spLocks noGrp="1"/>
          </p:cNvSpPr>
          <p:nvPr/>
        </p:nvSpPr>
        <p:spPr>
          <a:xfrm>
            <a:off x="476250" y="6076950"/>
            <a:ext cx="11191875" cy="619125"/>
          </a:xfrm>
          <a:prstGeom prst="rect">
            <a:avLst/>
          </a:prstGeom>
          <a:noFill/>
          <a:ln w="0">
            <a:noFill/>
          </a:ln>
        </p:spPr>
        <p:txBody>
          <a:bodyPr lIns="0" tIns="0" rIns="0" bIns="0"/>
          <a:lstStyle>
            <a:defPPr>
              <a:defRPr sz="1050" b="0">
                <a:solidFill>
                  <a:srgbClr val="333333"/>
                </a:solidFill>
                <a:latin typeface="Calibri"/>
                <a:ea typeface="Calibri"/>
                <a:cs typeface="Calibri"/>
              </a:defRPr>
            </a:defPPr>
            <a:lvl1pPr>
              <a:defRPr sz="1050" b="0">
                <a:solidFill>
                  <a:srgbClr val="333333"/>
                </a:solidFill>
                <a:latin typeface="Calibri"/>
                <a:ea typeface="Calibri"/>
                <a:cs typeface="Calibri"/>
              </a:defRPr>
            </a:lvl1pPr>
            <a:lvl2pPr>
              <a:defRPr sz="1050" b="0">
                <a:solidFill>
                  <a:srgbClr val="333333"/>
                </a:solidFill>
                <a:latin typeface="Calibri"/>
                <a:ea typeface="Calibri"/>
                <a:cs typeface="Calibri"/>
              </a:defRPr>
            </a:lvl2pPr>
            <a:lvl3pPr>
              <a:defRPr sz="1050" b="0">
                <a:solidFill>
                  <a:srgbClr val="333333"/>
                </a:solidFill>
                <a:latin typeface="Calibri"/>
                <a:ea typeface="Calibri"/>
                <a:cs typeface="Calibri"/>
              </a:defRPr>
            </a:lvl3pPr>
            <a:lvl4pPr>
              <a:defRPr sz="1050" b="0">
                <a:solidFill>
                  <a:srgbClr val="333333"/>
                </a:solidFill>
                <a:latin typeface="Calibri"/>
                <a:ea typeface="Calibri"/>
                <a:cs typeface="Calibri"/>
              </a:defRPr>
            </a:lvl4pPr>
            <a:lvl5pPr>
              <a:defRPr sz="1050" b="0">
                <a:solidFill>
                  <a:srgbClr val="333333"/>
                </a:solidFill>
                <a:latin typeface="Calibri"/>
                <a:ea typeface="Calibri"/>
                <a:cs typeface="Calibri"/>
              </a:defRPr>
            </a:lvl5pPr>
            <a:lvl6pPr>
              <a:defRPr sz="1050" b="0">
                <a:solidFill>
                  <a:srgbClr val="333333"/>
                </a:solidFill>
                <a:latin typeface="Calibri"/>
                <a:ea typeface="Calibri"/>
                <a:cs typeface="Calibri"/>
              </a:defRPr>
            </a:lvl6pPr>
            <a:lvl7pPr>
              <a:defRPr sz="1050" b="0">
                <a:solidFill>
                  <a:srgbClr val="333333"/>
                </a:solidFill>
                <a:latin typeface="Calibri"/>
                <a:ea typeface="Calibri"/>
                <a:cs typeface="Calibri"/>
              </a:defRPr>
            </a:lvl7pPr>
            <a:lvl8pPr>
              <a:defRPr sz="1050" b="0">
                <a:solidFill>
                  <a:srgbClr val="333333"/>
                </a:solidFill>
                <a:latin typeface="Calibri"/>
                <a:ea typeface="Calibri"/>
                <a:cs typeface="Calibri"/>
              </a:defRPr>
            </a:lvl8pPr>
            <a:lvl9pPr>
              <a:defRPr sz="1050" b="0">
                <a:solidFill>
                  <a:srgbClr val="333333"/>
                </a:solidFill>
                <a:latin typeface="Calibri"/>
                <a:ea typeface="Calibri"/>
                <a:cs typeface="Calibri"/>
              </a:defRPr>
            </a:lvl9pPr>
          </a:lstStyle>
          <a:p>
            <a:pPr>
              <a:defRPr sz="1050" b="0">
                <a:solidFill>
                  <a:srgbClr val="333333"/>
                </a:solidFill>
                <a:latin typeface="Calibri"/>
                <a:ea typeface="Calibri"/>
                <a:cs typeface="Calibri"/>
              </a:defRPr>
            </a:pPr>
            <a:r>
              <a:rPr sz="1050" b="0">
                <a:solidFill>
                  <a:srgbClr val="333333"/>
                </a:solidFill>
                <a:latin typeface="Calibri"/>
                <a:ea typeface="Calibri"/>
                <a:cs typeface="Calibri"/>
              </a:rPr>
              <a:t>[A] NDARC execution archive, 28 Oct 2026: organized_runs/inventory.json; run_logs/*.jsonl; original runs/ inputs and outputs.</a:t>
            </a:r>
          </a:p>
          <a:p>
            <a:pPr>
              <a:defRPr sz="1050" b="0">
                <a:solidFill>
                  <a:srgbClr val="333333"/>
                </a:solidFill>
                <a:latin typeface="Calibri"/>
                <a:ea typeface="Calibri"/>
                <a:cs typeface="Calibri"/>
              </a:defRPr>
            </a:pPr>
            <a:r>
              <a:rPr sz="1050" b="0">
                <a:solidFill>
                  <a:srgbClr val="333333"/>
                </a:solidFill>
                <a:latin typeface="Calibri"/>
                <a:ea typeface="Calibri"/>
                <a:cs typeface="Calibri"/>
              </a:rPr>
              <a:t>[B] design-space-evidence/campaign-design-space.json and all-run-design-points.csv (this deck folder). Exact marginal sets, plans, input hashes and status.</a:t>
            </a:r>
          </a:p>
        </p:txBody>
      </p:sp>
      <p:sp>
        <p:nvSpPr>
          <p:cNvPr id="4" name="Rectangle 3">
            <a:extLst>
              <a:ext uri="{FF2B5EF4-FFF2-40B4-BE49-F238E27FC236}">
                <a16:creationId xmlns:a16="http://schemas.microsoft.com/office/drawing/2014/main" id="{DE7F6B05-14CC-40E4-A309-F9C6C5E2AE93}"/>
              </a:ext>
            </a:extLst>
          </p:cNvPr>
          <p:cNvSpPr>
            <a:spLocks noGrp="1"/>
          </p:cNvSpPr>
          <p:nvPr/>
        </p:nvSpPr>
        <p:spPr>
          <a:xfrm>
            <a:off x="11430000" y="6553200"/>
            <a:ext cx="333375" cy="209550"/>
          </a:xfrm>
          <a:prstGeom prst="rect">
            <a:avLst/>
          </a:prstGeom>
          <a:noFill/>
          <a:ln w="0">
            <a:noFill/>
          </a:ln>
        </p:spPr>
        <p:txBody>
          <a:bodyPr lIns="0" tIns="0" rIns="0" bIns="0"/>
          <a:lstStyle>
            <a:defPPr>
              <a:defRPr sz="1125" b="0">
                <a:solidFill>
                  <a:srgbClr val="000000"/>
                </a:solidFill>
                <a:latin typeface="Calibri"/>
                <a:ea typeface="Calibri"/>
                <a:cs typeface="Calibri"/>
              </a:defRPr>
            </a:defPPr>
            <a:lvl1pPr>
              <a:defRPr sz="1125" b="0">
                <a:solidFill>
                  <a:srgbClr val="000000"/>
                </a:solidFill>
                <a:latin typeface="Calibri"/>
                <a:ea typeface="Calibri"/>
                <a:cs typeface="Calibri"/>
              </a:defRPr>
            </a:lvl1pPr>
            <a:lvl2pPr>
              <a:defRPr sz="1125" b="0">
                <a:solidFill>
                  <a:srgbClr val="000000"/>
                </a:solidFill>
                <a:latin typeface="Calibri"/>
                <a:ea typeface="Calibri"/>
                <a:cs typeface="Calibri"/>
              </a:defRPr>
            </a:lvl2pPr>
            <a:lvl3pPr>
              <a:defRPr sz="1125" b="0">
                <a:solidFill>
                  <a:srgbClr val="000000"/>
                </a:solidFill>
                <a:latin typeface="Calibri"/>
                <a:ea typeface="Calibri"/>
                <a:cs typeface="Calibri"/>
              </a:defRPr>
            </a:lvl3pPr>
            <a:lvl4pPr>
              <a:defRPr sz="1125" b="0">
                <a:solidFill>
                  <a:srgbClr val="000000"/>
                </a:solidFill>
                <a:latin typeface="Calibri"/>
                <a:ea typeface="Calibri"/>
                <a:cs typeface="Calibri"/>
              </a:defRPr>
            </a:lvl4pPr>
            <a:lvl5pPr>
              <a:defRPr sz="1125" b="0">
                <a:solidFill>
                  <a:srgbClr val="000000"/>
                </a:solidFill>
                <a:latin typeface="Calibri"/>
                <a:ea typeface="Calibri"/>
                <a:cs typeface="Calibri"/>
              </a:defRPr>
            </a:lvl5pPr>
            <a:lvl6pPr>
              <a:defRPr sz="1125" b="0">
                <a:solidFill>
                  <a:srgbClr val="000000"/>
                </a:solidFill>
                <a:latin typeface="Calibri"/>
                <a:ea typeface="Calibri"/>
                <a:cs typeface="Calibri"/>
              </a:defRPr>
            </a:lvl6pPr>
            <a:lvl7pPr>
              <a:defRPr sz="1125" b="0">
                <a:solidFill>
                  <a:srgbClr val="000000"/>
                </a:solidFill>
                <a:latin typeface="Calibri"/>
                <a:ea typeface="Calibri"/>
                <a:cs typeface="Calibri"/>
              </a:defRPr>
            </a:lvl7pPr>
            <a:lvl8pPr>
              <a:defRPr sz="1125" b="0">
                <a:solidFill>
                  <a:srgbClr val="000000"/>
                </a:solidFill>
                <a:latin typeface="Calibri"/>
                <a:ea typeface="Calibri"/>
                <a:cs typeface="Calibri"/>
              </a:defRPr>
            </a:lvl8pPr>
            <a:lvl9pPr>
              <a:defRPr sz="1125" b="0">
                <a:solidFill>
                  <a:srgbClr val="000000"/>
                </a:solidFill>
                <a:latin typeface="Calibri"/>
                <a:ea typeface="Calibri"/>
                <a:cs typeface="Calibri"/>
              </a:defRPr>
            </a:lvl9pPr>
          </a:lstStyle>
          <a:p>
            <a:pPr>
              <a:defRPr sz="1125" b="0">
                <a:solidFill>
                  <a:srgbClr val="000000"/>
                </a:solidFill>
                <a:latin typeface="Calibri"/>
                <a:ea typeface="Calibri"/>
                <a:cs typeface="Calibri"/>
              </a:defRPr>
            </a:pPr>
            <a:r>
              <a:rPr sz="1125" b="0">
                <a:solidFill>
                  <a:srgbClr val="000000"/>
                </a:solidFill>
                <a:latin typeface="Calibri"/>
                <a:ea typeface="Calibri"/>
                <a:cs typeface="Calibri"/>
              </a:rPr>
              <a:t>46</a:t>
            </a:r>
          </a:p>
        </p:txBody>
      </p:sp>
      <p:graphicFrame>
        <p:nvGraphicFramePr>
          <p:cNvPr id="5" name="Table 4">
            <a:extLst>
              <a:ext uri="{FF2B5EF4-FFF2-40B4-BE49-F238E27FC236}">
                <a16:creationId xmlns:a16="http://schemas.microsoft.com/office/drawing/2014/main" id="{E01E9AFA-A130-4452-9ECA-D7D90E346114}"/>
              </a:ext>
            </a:extLst>
          </p:cNvPr>
          <p:cNvGraphicFramePr/>
          <p:nvPr/>
        </p:nvGraphicFramePr>
        <p:xfrm>
          <a:off x="476250" y="1714500"/>
          <a:ext cx="11239500" cy="4000500"/>
        </p:xfrm>
        <a:graphic>
          <a:graphicData uri="http://schemas.openxmlformats.org/drawingml/2006/table">
            <a:tbl>
              <a:tblPr/>
              <a:tblGrid>
                <a:gridCol w="2667000">
                  <a:extLst>
                    <a:ext uri="{9D8B030D-6E8A-4147-A177-3AD203B41FA5}">
                      <a16:colId xmlns:a16="http://schemas.microsoft.com/office/drawing/2014/main" val="20000"/>
                    </a:ext>
                  </a:extLst>
                </a:gridCol>
                <a:gridCol w="4095750">
                  <a:extLst>
                    <a:ext uri="{9D8B030D-6E8A-4147-A177-3AD203B41FA5}">
                      <a16:colId xmlns:a16="http://schemas.microsoft.com/office/drawing/2014/main" val="20001"/>
                    </a:ext>
                  </a:extLst>
                </a:gridCol>
                <a:gridCol w="4476750">
                  <a:extLst>
                    <a:ext uri="{9D8B030D-6E8A-4147-A177-3AD203B41FA5}">
                      <a16:colId xmlns:a16="http://schemas.microsoft.com/office/drawing/2014/main" val="20002"/>
                    </a:ext>
                  </a:extLst>
                </a:gridCol>
              </a:tblGrid>
              <a:tr h="571500">
                <a:tc>
                  <a:txBody>
                    <a:bodyPr/>
                    <a:lstStyle/>
                    <a:p>
                      <a:r>
                        <a:rPr sz="1500" b="1">
                          <a:solidFill>
                            <a:srgbClr val="000000"/>
                          </a:solidFill>
                          <a:latin typeface="Calibri"/>
                          <a:ea typeface="Calibri"/>
                          <a:cs typeface="Calibri"/>
                        </a:rPr>
                        <a:t>Case</a:t>
                      </a:r>
                    </a:p>
                  </a:txBody>
                  <a:tcPr>
                    <a:lnL w="7620">
                      <a:solidFill>
                        <a:srgbClr val="CCCCCC"/>
                      </a:solidFill>
                    </a:lnL>
                    <a:lnR w="7620">
                      <a:solidFill>
                        <a:srgbClr val="CCCCCC"/>
                      </a:solidFill>
                    </a:lnR>
                    <a:lnT w="7620">
                      <a:solidFill>
                        <a:srgbClr val="CCCCCC"/>
                      </a:solidFill>
                    </a:lnT>
                    <a:lnB w="7620">
                      <a:solidFill>
                        <a:srgbClr val="CCCCCC"/>
                      </a:solidFill>
                    </a:lnB>
                    <a:solidFill>
                      <a:srgbClr val="D9D9D9"/>
                    </a:solidFill>
                  </a:tcPr>
                </a:tc>
                <a:tc>
                  <a:txBody>
                    <a:bodyPr/>
                    <a:lstStyle/>
                    <a:p>
                      <a:r>
                        <a:rPr sz="1500" b="1">
                          <a:solidFill>
                            <a:srgbClr val="000000"/>
                          </a:solidFill>
                          <a:latin typeface="Calibri"/>
                          <a:ea typeface="Calibri"/>
                          <a:cs typeface="Calibri"/>
                        </a:rPr>
                        <a:t>Held geometry / loading</a:t>
                      </a:r>
                    </a:p>
                  </a:txBody>
                  <a:tcPr>
                    <a:lnL w="7620" cap="flat" cmpd="sng" algn="ctr">
                      <a:solidFill>
                        <a:srgbClr val="CCCCCC"/>
                      </a:solidFill>
                      <a:prstDash val="solid"/>
                      <a:round/>
                      <a:headEnd type="none" w="med" len="med"/>
                      <a:tailEnd type="none" w="med" len="med"/>
                    </a:lnL>
                    <a:lnR w="7620">
                      <a:solidFill>
                        <a:srgbClr val="CCCCCC"/>
                      </a:solidFill>
                    </a:lnR>
                    <a:lnT w="7620">
                      <a:solidFill>
                        <a:srgbClr val="CCCCCC"/>
                      </a:solidFill>
                    </a:lnT>
                    <a:lnB w="7620">
                      <a:solidFill>
                        <a:srgbClr val="CCCCCC"/>
                      </a:solidFill>
                    </a:lnB>
                    <a:solidFill>
                      <a:srgbClr val="D9D9D9"/>
                    </a:solidFill>
                  </a:tcPr>
                </a:tc>
                <a:tc>
                  <a:txBody>
                    <a:bodyPr/>
                    <a:lstStyle/>
                    <a:p>
                      <a:r>
                        <a:rPr sz="1500" b="1">
                          <a:solidFill>
                            <a:srgbClr val="000000"/>
                          </a:solidFill>
                          <a:latin typeface="Calibri"/>
                          <a:ea typeface="Calibri"/>
                          <a:cs typeface="Calibri"/>
                        </a:rPr>
                        <a:t>What the campaign establishes</a:t>
                      </a:r>
                    </a:p>
                  </a:txBody>
                  <a:tcPr>
                    <a:lnL w="7620" cap="flat" cmpd="sng" algn="ctr">
                      <a:solidFill>
                        <a:srgbClr val="CCCCCC"/>
                      </a:solidFill>
                      <a:prstDash val="solid"/>
                      <a:round/>
                      <a:headEnd type="none" w="med" len="med"/>
                      <a:tailEnd type="none" w="med" len="med"/>
                    </a:lnL>
                    <a:lnR w="7620">
                      <a:solidFill>
                        <a:srgbClr val="CCCCCC"/>
                      </a:solidFill>
                    </a:lnR>
                    <a:lnT w="7620">
                      <a:solidFill>
                        <a:srgbClr val="CCCCCC"/>
                      </a:solidFill>
                    </a:lnT>
                    <a:lnB w="7620">
                      <a:solidFill>
                        <a:srgbClr val="CCCCCC"/>
                      </a:solidFill>
                    </a:lnB>
                    <a:solidFill>
                      <a:srgbClr val="D9D9D9"/>
                    </a:solidFill>
                  </a:tcPr>
                </a:tc>
                <a:extLst>
                  <a:ext uri="{0D108BD9-81ED-4DB2-BD59-A6C34878D82A}">
                    <a16:rowId xmlns:a16="http://schemas.microsoft.com/office/drawing/2014/main" val="10000"/>
                  </a:ext>
                </a:extLst>
              </a:tr>
              <a:tr h="571500">
                <a:tc>
                  <a:txBody>
                    <a:bodyPr/>
                    <a:lstStyle/>
                    <a:p>
                      <a:r>
                        <a:rPr sz="1500" b="0">
                          <a:solidFill>
                            <a:srgbClr val="000000"/>
                          </a:solidFill>
                          <a:latin typeface="Calibri"/>
                          <a:ea typeface="Calibri"/>
                          <a:cs typeface="Calibri"/>
                        </a:rPr>
                        <a:t>L+C retrofit</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D 1.5 m, wing 4.2 m², span 7 m</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Fixed-geometry resize with battery / fuel closure</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1"/>
                  </a:ext>
                </a:extLst>
              </a:tr>
              <a:tr h="571500">
                <a:tc>
                  <a:txBody>
                    <a:bodyPr/>
                    <a:lstStyle/>
                    <a:p>
                      <a:r>
                        <a:rPr sz="1500" b="0">
                          <a:solidFill>
                            <a:srgbClr val="000000"/>
                          </a:solidFill>
                          <a:latin typeface="Calibri"/>
                          <a:ea typeface="Calibri"/>
                          <a:cs typeface="Calibri"/>
                        </a:rPr>
                        <a:t>L+C clean sheet</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DL 26, WL 97 kg/m², span 7 m</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Revised mission at a previously selected loading</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2"/>
                  </a:ext>
                </a:extLst>
              </a:tr>
              <a:tr h="571500">
                <a:tc>
                  <a:txBody>
                    <a:bodyPr/>
                    <a:lstStyle/>
                    <a:p>
                      <a:r>
                        <a:rPr sz="1500" b="0">
                          <a:solidFill>
                            <a:srgbClr val="000000"/>
                          </a:solidFill>
                          <a:latin typeface="Calibri"/>
                          <a:ea typeface="Calibri"/>
                          <a:cs typeface="Calibri"/>
                        </a:rPr>
                        <a:t>Piston tiltrotor</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DL 20, WL 90 kg/m², AR 7</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Revised mission at selected geometry policy</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3"/>
                  </a:ext>
                </a:extLst>
              </a:tr>
              <a:tr h="571500">
                <a:tc>
                  <a:txBody>
                    <a:bodyPr/>
                    <a:lstStyle/>
                    <a:p>
                      <a:r>
                        <a:rPr sz="1500" b="0">
                          <a:solidFill>
                            <a:srgbClr val="000000"/>
                          </a:solidFill>
                          <a:latin typeface="Calibri"/>
                          <a:ea typeface="Calibri"/>
                          <a:cs typeface="Calibri"/>
                        </a:rPr>
                        <a:t>Turboelectric tiltrotor</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DL 30, WL 85 kg/m², AR 7</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Revised mission with equivalent electric drive</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4"/>
                  </a:ext>
                </a:extLst>
              </a:tr>
              <a:tr h="571500">
                <a:tc>
                  <a:txBody>
                    <a:bodyPr/>
                    <a:lstStyle/>
                    <a:p>
                      <a:r>
                        <a:rPr sz="1500" b="0">
                          <a:solidFill>
                            <a:srgbClr val="000000"/>
                          </a:solidFill>
                          <a:latin typeface="Calibri"/>
                          <a:ea typeface="Calibri"/>
                          <a:cs typeface="Calibri"/>
                        </a:rPr>
                        <a:t>All four</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30 kg, 5 h, 3 km, 140 km/h, avionics 20 min</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Common installed avionics system 9.448 kg</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5"/>
                  </a:ext>
                </a:extLst>
              </a:tr>
              <a:tr h="571500">
                <a:tc>
                  <a:txBody>
                    <a:bodyPr/>
                    <a:lstStyle/>
                    <a:p>
                      <a:r>
                        <a:rPr sz="1500" b="0">
                          <a:solidFill>
                            <a:srgbClr val="000000"/>
                          </a:solidFill>
                          <a:latin typeface="Calibri"/>
                          <a:ea typeface="Calibri"/>
                          <a:cs typeface="Calibri"/>
                        </a:rPr>
                        <a:t>Scope</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24 folders including closure and replay / speed probes</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Full historical grids under 30 s remain unrun</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7516448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031AF90-E380-4901-8FE6-ABB15FB1D659}"/>
              </a:ext>
            </a:extLst>
          </p:cNvPr>
          <p:cNvSpPr>
            <a:spLocks noGrp="1"/>
          </p:cNvSpPr>
          <p:nvPr/>
        </p:nvSpPr>
        <p:spPr>
          <a:xfrm>
            <a:off x="838200" y="361950"/>
            <a:ext cx="10572750" cy="495300"/>
          </a:xfrm>
          <a:prstGeom prst="rect">
            <a:avLst/>
          </a:prstGeom>
          <a:noFill/>
          <a:ln w="0">
            <a:noFill/>
          </a:ln>
        </p:spPr>
        <p:txBody>
          <a:bodyPr lIns="0" tIns="0" rIns="0" bIns="0"/>
          <a:lstStyle>
            <a:defPPr>
              <a:defRPr sz="2400" b="1">
                <a:solidFill>
                  <a:srgbClr val="000000"/>
                </a:solidFill>
                <a:latin typeface="Calibri"/>
                <a:ea typeface="Calibri"/>
                <a:cs typeface="Calibri"/>
              </a:defRPr>
            </a:defPPr>
            <a:lvl1pPr>
              <a:defRPr sz="2400" b="1">
                <a:solidFill>
                  <a:srgbClr val="000000"/>
                </a:solidFill>
                <a:latin typeface="Calibri"/>
                <a:ea typeface="Calibri"/>
                <a:cs typeface="Calibri"/>
              </a:defRPr>
            </a:lvl1pPr>
            <a:lvl2pPr>
              <a:defRPr sz="2400" b="1">
                <a:solidFill>
                  <a:srgbClr val="000000"/>
                </a:solidFill>
                <a:latin typeface="Calibri"/>
                <a:ea typeface="Calibri"/>
                <a:cs typeface="Calibri"/>
              </a:defRPr>
            </a:lvl2pPr>
            <a:lvl3pPr>
              <a:defRPr sz="2400" b="1">
                <a:solidFill>
                  <a:srgbClr val="000000"/>
                </a:solidFill>
                <a:latin typeface="Calibri"/>
                <a:ea typeface="Calibri"/>
                <a:cs typeface="Calibri"/>
              </a:defRPr>
            </a:lvl3pPr>
            <a:lvl4pPr>
              <a:defRPr sz="2400" b="1">
                <a:solidFill>
                  <a:srgbClr val="000000"/>
                </a:solidFill>
                <a:latin typeface="Calibri"/>
                <a:ea typeface="Calibri"/>
                <a:cs typeface="Calibri"/>
              </a:defRPr>
            </a:lvl4pPr>
            <a:lvl5pPr>
              <a:defRPr sz="2400" b="1">
                <a:solidFill>
                  <a:srgbClr val="000000"/>
                </a:solidFill>
                <a:latin typeface="Calibri"/>
                <a:ea typeface="Calibri"/>
                <a:cs typeface="Calibri"/>
              </a:defRPr>
            </a:lvl5pPr>
            <a:lvl6pPr>
              <a:defRPr sz="2400" b="1">
                <a:solidFill>
                  <a:srgbClr val="000000"/>
                </a:solidFill>
                <a:latin typeface="Calibri"/>
                <a:ea typeface="Calibri"/>
                <a:cs typeface="Calibri"/>
              </a:defRPr>
            </a:lvl6pPr>
            <a:lvl7pPr>
              <a:defRPr sz="2400" b="1">
                <a:solidFill>
                  <a:srgbClr val="000000"/>
                </a:solidFill>
                <a:latin typeface="Calibri"/>
                <a:ea typeface="Calibri"/>
                <a:cs typeface="Calibri"/>
              </a:defRPr>
            </a:lvl7pPr>
            <a:lvl8pPr>
              <a:defRPr sz="2400" b="1">
                <a:solidFill>
                  <a:srgbClr val="000000"/>
                </a:solidFill>
                <a:latin typeface="Calibri"/>
                <a:ea typeface="Calibri"/>
                <a:cs typeface="Calibri"/>
              </a:defRPr>
            </a:lvl8pPr>
            <a:lvl9pPr>
              <a:defRPr sz="2400" b="1">
                <a:solidFill>
                  <a:srgbClr val="000000"/>
                </a:solidFill>
                <a:latin typeface="Calibri"/>
                <a:ea typeface="Calibri"/>
                <a:cs typeface="Calibri"/>
              </a:defRPr>
            </a:lvl9pPr>
          </a:lstStyle>
          <a:p>
            <a:pPr>
              <a:defRPr sz="2400" b="1">
                <a:solidFill>
                  <a:srgbClr val="000000"/>
                </a:solidFill>
                <a:latin typeface="Calibri"/>
                <a:ea typeface="Calibri"/>
                <a:cs typeface="Calibri"/>
              </a:defRPr>
            </a:pPr>
            <a:r>
              <a:rPr sz="2400" b="1">
                <a:solidFill>
                  <a:srgbClr val="000000"/>
                </a:solidFill>
                <a:latin typeface="Calibri"/>
                <a:ea typeface="Calibri"/>
                <a:cs typeface="Calibri"/>
              </a:rPr>
              <a:t>Reference-aircraft studies: three different sizing approaches</a:t>
            </a:r>
          </a:p>
        </p:txBody>
      </p:sp>
      <p:sp>
        <p:nvSpPr>
          <p:cNvPr id="2" name="Rectangle 1">
            <a:extLst>
              <a:ext uri="{FF2B5EF4-FFF2-40B4-BE49-F238E27FC236}">
                <a16:creationId xmlns:a16="http://schemas.microsoft.com/office/drawing/2014/main" id="{0FEB7E93-85AB-4E57-B141-D5ADCBEFA9AF}"/>
              </a:ext>
            </a:extLst>
          </p:cNvPr>
          <p:cNvSpPr>
            <a:spLocks noGrp="1"/>
          </p:cNvSpPr>
          <p:nvPr/>
        </p:nvSpPr>
        <p:spPr>
          <a:xfrm>
            <a:off x="476250" y="1028700"/>
            <a:ext cx="11239500" cy="590550"/>
          </a:xfrm>
          <a:prstGeom prst="rect">
            <a:avLst/>
          </a:prstGeom>
          <a:noFill/>
          <a:ln w="0">
            <a:noFill/>
          </a:ln>
        </p:spPr>
        <p:txBody>
          <a:bodyPr lIns="0" tIns="0" rIns="0" bIns="0"/>
          <a:lstStyle>
            <a:defPPr>
              <a:defRPr sz="1575" b="0">
                <a:solidFill>
                  <a:srgbClr val="333333"/>
                </a:solidFill>
                <a:latin typeface="Calibri"/>
                <a:ea typeface="Calibri"/>
                <a:cs typeface="Calibri"/>
              </a:defRPr>
            </a:defPPr>
            <a:lvl1pPr>
              <a:defRPr sz="1575" b="0">
                <a:solidFill>
                  <a:srgbClr val="333333"/>
                </a:solidFill>
                <a:latin typeface="Calibri"/>
                <a:ea typeface="Calibri"/>
                <a:cs typeface="Calibri"/>
              </a:defRPr>
            </a:lvl1pPr>
            <a:lvl2pPr>
              <a:defRPr sz="1575" b="0">
                <a:solidFill>
                  <a:srgbClr val="333333"/>
                </a:solidFill>
                <a:latin typeface="Calibri"/>
                <a:ea typeface="Calibri"/>
                <a:cs typeface="Calibri"/>
              </a:defRPr>
            </a:lvl2pPr>
            <a:lvl3pPr>
              <a:defRPr sz="1575" b="0">
                <a:solidFill>
                  <a:srgbClr val="333333"/>
                </a:solidFill>
                <a:latin typeface="Calibri"/>
                <a:ea typeface="Calibri"/>
                <a:cs typeface="Calibri"/>
              </a:defRPr>
            </a:lvl3pPr>
            <a:lvl4pPr>
              <a:defRPr sz="1575" b="0">
                <a:solidFill>
                  <a:srgbClr val="333333"/>
                </a:solidFill>
                <a:latin typeface="Calibri"/>
                <a:ea typeface="Calibri"/>
                <a:cs typeface="Calibri"/>
              </a:defRPr>
            </a:lvl4pPr>
            <a:lvl5pPr>
              <a:defRPr sz="1575" b="0">
                <a:solidFill>
                  <a:srgbClr val="333333"/>
                </a:solidFill>
                <a:latin typeface="Calibri"/>
                <a:ea typeface="Calibri"/>
                <a:cs typeface="Calibri"/>
              </a:defRPr>
            </a:lvl5pPr>
            <a:lvl6pPr>
              <a:defRPr sz="1575" b="0">
                <a:solidFill>
                  <a:srgbClr val="333333"/>
                </a:solidFill>
                <a:latin typeface="Calibri"/>
                <a:ea typeface="Calibri"/>
                <a:cs typeface="Calibri"/>
              </a:defRPr>
            </a:lvl6pPr>
            <a:lvl7pPr>
              <a:defRPr sz="1575" b="0">
                <a:solidFill>
                  <a:srgbClr val="333333"/>
                </a:solidFill>
                <a:latin typeface="Calibri"/>
                <a:ea typeface="Calibri"/>
                <a:cs typeface="Calibri"/>
              </a:defRPr>
            </a:lvl7pPr>
            <a:lvl8pPr>
              <a:defRPr sz="1575" b="0">
                <a:solidFill>
                  <a:srgbClr val="333333"/>
                </a:solidFill>
                <a:latin typeface="Calibri"/>
                <a:ea typeface="Calibri"/>
                <a:cs typeface="Calibri"/>
              </a:defRPr>
            </a:lvl8pPr>
            <a:lvl9pPr>
              <a:defRPr sz="1575" b="0">
                <a:solidFill>
                  <a:srgbClr val="333333"/>
                </a:solidFill>
                <a:latin typeface="Calibri"/>
                <a:ea typeface="Calibri"/>
                <a:cs typeface="Calibri"/>
              </a:defRPr>
            </a:lvl9pPr>
          </a:lstStyle>
          <a:p>
            <a:pPr>
              <a:defRPr sz="1575" b="0">
                <a:solidFill>
                  <a:srgbClr val="333333"/>
                </a:solidFill>
                <a:latin typeface="Calibri"/>
                <a:ea typeface="Calibri"/>
                <a:cs typeface="Calibri"/>
              </a:defRPr>
            </a:pPr>
            <a:r>
              <a:rPr sz="1575" b="0">
                <a:solidFill>
                  <a:srgbClr val="333333"/>
                </a:solidFill>
                <a:latin typeface="Calibri"/>
                <a:ea typeface="Calibri"/>
                <a:cs typeface="Calibri"/>
              </a:rPr>
              <a:t>Eagle Eye, TR60 and TR100 reconstructions use published reference geometry with explicit missing-data assumptions. [A, B]</a:t>
            </a:r>
          </a:p>
        </p:txBody>
      </p:sp>
      <p:sp>
        <p:nvSpPr>
          <p:cNvPr id="3" name="Rectangle 2">
            <a:extLst>
              <a:ext uri="{FF2B5EF4-FFF2-40B4-BE49-F238E27FC236}">
                <a16:creationId xmlns:a16="http://schemas.microsoft.com/office/drawing/2014/main" id="{3DC7639F-A487-4048-A071-81DC817DE4E4}"/>
              </a:ext>
            </a:extLst>
          </p:cNvPr>
          <p:cNvSpPr>
            <a:spLocks noGrp="1"/>
          </p:cNvSpPr>
          <p:nvPr/>
        </p:nvSpPr>
        <p:spPr>
          <a:xfrm>
            <a:off x="476250" y="6076950"/>
            <a:ext cx="11191875" cy="619125"/>
          </a:xfrm>
          <a:prstGeom prst="rect">
            <a:avLst/>
          </a:prstGeom>
          <a:noFill/>
          <a:ln w="0">
            <a:noFill/>
          </a:ln>
        </p:spPr>
        <p:txBody>
          <a:bodyPr lIns="0" tIns="0" rIns="0" bIns="0"/>
          <a:lstStyle>
            <a:defPPr>
              <a:defRPr sz="1050" b="0">
                <a:solidFill>
                  <a:srgbClr val="333333"/>
                </a:solidFill>
                <a:latin typeface="Calibri"/>
                <a:ea typeface="Calibri"/>
                <a:cs typeface="Calibri"/>
              </a:defRPr>
            </a:defPPr>
            <a:lvl1pPr>
              <a:defRPr sz="1050" b="0">
                <a:solidFill>
                  <a:srgbClr val="333333"/>
                </a:solidFill>
                <a:latin typeface="Calibri"/>
                <a:ea typeface="Calibri"/>
                <a:cs typeface="Calibri"/>
              </a:defRPr>
            </a:lvl1pPr>
            <a:lvl2pPr>
              <a:defRPr sz="1050" b="0">
                <a:solidFill>
                  <a:srgbClr val="333333"/>
                </a:solidFill>
                <a:latin typeface="Calibri"/>
                <a:ea typeface="Calibri"/>
                <a:cs typeface="Calibri"/>
              </a:defRPr>
            </a:lvl2pPr>
            <a:lvl3pPr>
              <a:defRPr sz="1050" b="0">
                <a:solidFill>
                  <a:srgbClr val="333333"/>
                </a:solidFill>
                <a:latin typeface="Calibri"/>
                <a:ea typeface="Calibri"/>
                <a:cs typeface="Calibri"/>
              </a:defRPr>
            </a:lvl3pPr>
            <a:lvl4pPr>
              <a:defRPr sz="1050" b="0">
                <a:solidFill>
                  <a:srgbClr val="333333"/>
                </a:solidFill>
                <a:latin typeface="Calibri"/>
                <a:ea typeface="Calibri"/>
                <a:cs typeface="Calibri"/>
              </a:defRPr>
            </a:lvl4pPr>
            <a:lvl5pPr>
              <a:defRPr sz="1050" b="0">
                <a:solidFill>
                  <a:srgbClr val="333333"/>
                </a:solidFill>
                <a:latin typeface="Calibri"/>
                <a:ea typeface="Calibri"/>
                <a:cs typeface="Calibri"/>
              </a:defRPr>
            </a:lvl5pPr>
            <a:lvl6pPr>
              <a:defRPr sz="1050" b="0">
                <a:solidFill>
                  <a:srgbClr val="333333"/>
                </a:solidFill>
                <a:latin typeface="Calibri"/>
                <a:ea typeface="Calibri"/>
                <a:cs typeface="Calibri"/>
              </a:defRPr>
            </a:lvl6pPr>
            <a:lvl7pPr>
              <a:defRPr sz="1050" b="0">
                <a:solidFill>
                  <a:srgbClr val="333333"/>
                </a:solidFill>
                <a:latin typeface="Calibri"/>
                <a:ea typeface="Calibri"/>
                <a:cs typeface="Calibri"/>
              </a:defRPr>
            </a:lvl7pPr>
            <a:lvl8pPr>
              <a:defRPr sz="1050" b="0">
                <a:solidFill>
                  <a:srgbClr val="333333"/>
                </a:solidFill>
                <a:latin typeface="Calibri"/>
                <a:ea typeface="Calibri"/>
                <a:cs typeface="Calibri"/>
              </a:defRPr>
            </a:lvl8pPr>
            <a:lvl9pPr>
              <a:defRPr sz="1050" b="0">
                <a:solidFill>
                  <a:srgbClr val="333333"/>
                </a:solidFill>
                <a:latin typeface="Calibri"/>
                <a:ea typeface="Calibri"/>
                <a:cs typeface="Calibri"/>
              </a:defRPr>
            </a:lvl9pPr>
          </a:lstStyle>
          <a:p>
            <a:pPr>
              <a:defRPr sz="1050" b="0">
                <a:solidFill>
                  <a:srgbClr val="333333"/>
                </a:solidFill>
                <a:latin typeface="Calibri"/>
                <a:ea typeface="Calibri"/>
                <a:cs typeface="Calibri"/>
              </a:defRPr>
            </a:pPr>
            <a:r>
              <a:rPr sz="1050" b="0">
                <a:solidFill>
                  <a:srgbClr val="333333"/>
                </a:solidFill>
                <a:latin typeface="Calibri"/>
                <a:ea typeface="Calibri"/>
                <a:cs typeface="Calibri"/>
              </a:rPr>
              <a:t>[A] NDARC execution archive, 28 Oct 2026: organized_runs/inventory.json; run_logs/*.jsonl; original runs/ inputs and outputs.</a:t>
            </a:r>
          </a:p>
          <a:p>
            <a:pPr>
              <a:defRPr sz="1050" b="0">
                <a:solidFill>
                  <a:srgbClr val="333333"/>
                </a:solidFill>
                <a:latin typeface="Calibri"/>
                <a:ea typeface="Calibri"/>
                <a:cs typeface="Calibri"/>
              </a:defRPr>
            </a:pPr>
            <a:r>
              <a:rPr sz="1050" b="0">
                <a:solidFill>
                  <a:srgbClr val="333333"/>
                </a:solidFill>
                <a:latin typeface="Calibri"/>
                <a:ea typeface="Calibri"/>
                <a:cs typeface="Calibri"/>
              </a:rPr>
              <a:t>[B] design-space-evidence/campaign-design-space.json and all-run-design-points.csv (this deck folder). Exact marginal sets, plans, input hashes and status.</a:t>
            </a:r>
          </a:p>
        </p:txBody>
      </p:sp>
      <p:sp>
        <p:nvSpPr>
          <p:cNvPr id="4" name="Rectangle 3">
            <a:extLst>
              <a:ext uri="{FF2B5EF4-FFF2-40B4-BE49-F238E27FC236}">
                <a16:creationId xmlns:a16="http://schemas.microsoft.com/office/drawing/2014/main" id="{6076CDB2-98FC-47FE-9853-19C422BC3485}"/>
              </a:ext>
            </a:extLst>
          </p:cNvPr>
          <p:cNvSpPr>
            <a:spLocks noGrp="1"/>
          </p:cNvSpPr>
          <p:nvPr/>
        </p:nvSpPr>
        <p:spPr>
          <a:xfrm>
            <a:off x="11430000" y="6553200"/>
            <a:ext cx="333375" cy="209550"/>
          </a:xfrm>
          <a:prstGeom prst="rect">
            <a:avLst/>
          </a:prstGeom>
          <a:noFill/>
          <a:ln w="0">
            <a:noFill/>
          </a:ln>
        </p:spPr>
        <p:txBody>
          <a:bodyPr lIns="0" tIns="0" rIns="0" bIns="0"/>
          <a:lstStyle>
            <a:defPPr>
              <a:defRPr sz="1125" b="0">
                <a:solidFill>
                  <a:srgbClr val="000000"/>
                </a:solidFill>
                <a:latin typeface="Calibri"/>
                <a:ea typeface="Calibri"/>
                <a:cs typeface="Calibri"/>
              </a:defRPr>
            </a:defPPr>
            <a:lvl1pPr>
              <a:defRPr sz="1125" b="0">
                <a:solidFill>
                  <a:srgbClr val="000000"/>
                </a:solidFill>
                <a:latin typeface="Calibri"/>
                <a:ea typeface="Calibri"/>
                <a:cs typeface="Calibri"/>
              </a:defRPr>
            </a:lvl1pPr>
            <a:lvl2pPr>
              <a:defRPr sz="1125" b="0">
                <a:solidFill>
                  <a:srgbClr val="000000"/>
                </a:solidFill>
                <a:latin typeface="Calibri"/>
                <a:ea typeface="Calibri"/>
                <a:cs typeface="Calibri"/>
              </a:defRPr>
            </a:lvl2pPr>
            <a:lvl3pPr>
              <a:defRPr sz="1125" b="0">
                <a:solidFill>
                  <a:srgbClr val="000000"/>
                </a:solidFill>
                <a:latin typeface="Calibri"/>
                <a:ea typeface="Calibri"/>
                <a:cs typeface="Calibri"/>
              </a:defRPr>
            </a:lvl3pPr>
            <a:lvl4pPr>
              <a:defRPr sz="1125" b="0">
                <a:solidFill>
                  <a:srgbClr val="000000"/>
                </a:solidFill>
                <a:latin typeface="Calibri"/>
                <a:ea typeface="Calibri"/>
                <a:cs typeface="Calibri"/>
              </a:defRPr>
            </a:lvl4pPr>
            <a:lvl5pPr>
              <a:defRPr sz="1125" b="0">
                <a:solidFill>
                  <a:srgbClr val="000000"/>
                </a:solidFill>
                <a:latin typeface="Calibri"/>
                <a:ea typeface="Calibri"/>
                <a:cs typeface="Calibri"/>
              </a:defRPr>
            </a:lvl5pPr>
            <a:lvl6pPr>
              <a:defRPr sz="1125" b="0">
                <a:solidFill>
                  <a:srgbClr val="000000"/>
                </a:solidFill>
                <a:latin typeface="Calibri"/>
                <a:ea typeface="Calibri"/>
                <a:cs typeface="Calibri"/>
              </a:defRPr>
            </a:lvl6pPr>
            <a:lvl7pPr>
              <a:defRPr sz="1125" b="0">
                <a:solidFill>
                  <a:srgbClr val="000000"/>
                </a:solidFill>
                <a:latin typeface="Calibri"/>
                <a:ea typeface="Calibri"/>
                <a:cs typeface="Calibri"/>
              </a:defRPr>
            </a:lvl7pPr>
            <a:lvl8pPr>
              <a:defRPr sz="1125" b="0">
                <a:solidFill>
                  <a:srgbClr val="000000"/>
                </a:solidFill>
                <a:latin typeface="Calibri"/>
                <a:ea typeface="Calibri"/>
                <a:cs typeface="Calibri"/>
              </a:defRPr>
            </a:lvl8pPr>
            <a:lvl9pPr>
              <a:defRPr sz="1125" b="0">
                <a:solidFill>
                  <a:srgbClr val="000000"/>
                </a:solidFill>
                <a:latin typeface="Calibri"/>
                <a:ea typeface="Calibri"/>
                <a:cs typeface="Calibri"/>
              </a:defRPr>
            </a:lvl9pPr>
          </a:lstStyle>
          <a:p>
            <a:pPr>
              <a:defRPr sz="1125" b="0">
                <a:solidFill>
                  <a:srgbClr val="000000"/>
                </a:solidFill>
                <a:latin typeface="Calibri"/>
                <a:ea typeface="Calibri"/>
                <a:cs typeface="Calibri"/>
              </a:defRPr>
            </a:pPr>
            <a:r>
              <a:rPr sz="1125" b="0">
                <a:solidFill>
                  <a:srgbClr val="000000"/>
                </a:solidFill>
                <a:latin typeface="Calibri"/>
                <a:ea typeface="Calibri"/>
                <a:cs typeface="Calibri"/>
              </a:rPr>
              <a:t>47</a:t>
            </a:r>
          </a:p>
        </p:txBody>
      </p:sp>
      <p:graphicFrame>
        <p:nvGraphicFramePr>
          <p:cNvPr id="5" name="Table 4">
            <a:extLst>
              <a:ext uri="{FF2B5EF4-FFF2-40B4-BE49-F238E27FC236}">
                <a16:creationId xmlns:a16="http://schemas.microsoft.com/office/drawing/2014/main" id="{CA006E8F-0D78-4C14-8BFF-7C25FCC3E5B5}"/>
              </a:ext>
            </a:extLst>
          </p:cNvPr>
          <p:cNvGraphicFramePr/>
          <p:nvPr/>
        </p:nvGraphicFramePr>
        <p:xfrm>
          <a:off x="476250" y="1714500"/>
          <a:ext cx="11239500" cy="4000500"/>
        </p:xfrm>
        <a:graphic>
          <a:graphicData uri="http://schemas.openxmlformats.org/drawingml/2006/table">
            <a:tbl>
              <a:tblPr/>
              <a:tblGrid>
                <a:gridCol w="20955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1000125">
                <a:tc>
                  <a:txBody>
                    <a:bodyPr/>
                    <a:lstStyle/>
                    <a:p>
                      <a:r>
                        <a:rPr sz="1425" b="1">
                          <a:solidFill>
                            <a:srgbClr val="000000"/>
                          </a:solidFill>
                          <a:latin typeface="Calibri"/>
                          <a:ea typeface="Calibri"/>
                          <a:cs typeface="Calibri"/>
                        </a:rPr>
                        <a:t>Study</a:t>
                      </a:r>
                    </a:p>
                  </a:txBody>
                  <a:tcPr>
                    <a:lnL w="7620">
                      <a:solidFill>
                        <a:srgbClr val="CCCCCC"/>
                      </a:solidFill>
                    </a:lnL>
                    <a:lnR w="7620">
                      <a:solidFill>
                        <a:srgbClr val="CCCCCC"/>
                      </a:solidFill>
                    </a:lnR>
                    <a:lnT w="7620">
                      <a:solidFill>
                        <a:srgbClr val="CCCCCC"/>
                      </a:solidFill>
                    </a:lnT>
                    <a:lnB w="7620">
                      <a:solidFill>
                        <a:srgbClr val="CCCCCC"/>
                      </a:solidFill>
                    </a:lnB>
                    <a:solidFill>
                      <a:srgbClr val="D9D9D9"/>
                    </a:solidFill>
                  </a:tcPr>
                </a:tc>
                <a:tc>
                  <a:txBody>
                    <a:bodyPr/>
                    <a:lstStyle/>
                    <a:p>
                      <a:r>
                        <a:rPr sz="1425" b="1">
                          <a:solidFill>
                            <a:srgbClr val="000000"/>
                          </a:solidFill>
                          <a:latin typeface="Calibri"/>
                          <a:ea typeface="Calibri"/>
                          <a:cs typeface="Calibri"/>
                        </a:rPr>
                        <a:t>Explored design space / controls</a:t>
                      </a:r>
                    </a:p>
                  </a:txBody>
                  <a:tcPr>
                    <a:lnL w="7620" cap="flat" cmpd="sng" algn="ctr">
                      <a:solidFill>
                        <a:srgbClr val="CCCCCC"/>
                      </a:solidFill>
                      <a:prstDash val="solid"/>
                      <a:round/>
                      <a:headEnd type="none" w="med" len="med"/>
                      <a:tailEnd type="none" w="med" len="med"/>
                    </a:lnL>
                    <a:lnR w="7620">
                      <a:solidFill>
                        <a:srgbClr val="CCCCCC"/>
                      </a:solidFill>
                    </a:lnR>
                    <a:lnT w="7620">
                      <a:solidFill>
                        <a:srgbClr val="CCCCCC"/>
                      </a:solidFill>
                    </a:lnT>
                    <a:lnB w="7620">
                      <a:solidFill>
                        <a:srgbClr val="CCCCCC"/>
                      </a:solidFill>
                    </a:lnB>
                    <a:solidFill>
                      <a:srgbClr val="D9D9D9"/>
                    </a:solidFill>
                  </a:tcPr>
                </a:tc>
                <a:tc>
                  <a:txBody>
                    <a:bodyPr/>
                    <a:lstStyle/>
                    <a:p>
                      <a:r>
                        <a:rPr sz="1425" b="1">
                          <a:solidFill>
                            <a:srgbClr val="000000"/>
                          </a:solidFill>
                          <a:latin typeface="Calibri"/>
                          <a:ea typeface="Calibri"/>
                          <a:cs typeface="Calibri"/>
                        </a:rPr>
                        <a:t>Interpretation</a:t>
                      </a:r>
                    </a:p>
                  </a:txBody>
                  <a:tcPr>
                    <a:lnL w="7620" cap="flat" cmpd="sng" algn="ctr">
                      <a:solidFill>
                        <a:srgbClr val="CCCCCC"/>
                      </a:solidFill>
                      <a:prstDash val="solid"/>
                      <a:round/>
                      <a:headEnd type="none" w="med" len="med"/>
                      <a:tailEnd type="none" w="med" len="med"/>
                    </a:lnL>
                    <a:lnR w="7620">
                      <a:solidFill>
                        <a:srgbClr val="CCCCCC"/>
                      </a:solidFill>
                    </a:lnR>
                    <a:lnT w="7620">
                      <a:solidFill>
                        <a:srgbClr val="CCCCCC"/>
                      </a:solidFill>
                    </a:lnT>
                    <a:lnB w="7620">
                      <a:solidFill>
                        <a:srgbClr val="CCCCCC"/>
                      </a:solidFill>
                    </a:lnB>
                    <a:solidFill>
                      <a:srgbClr val="D9D9D9"/>
                    </a:solidFill>
                  </a:tcPr>
                </a:tc>
                <a:extLst>
                  <a:ext uri="{0D108BD9-81ED-4DB2-BD59-A6C34878D82A}">
                    <a16:rowId xmlns:a16="http://schemas.microsoft.com/office/drawing/2014/main" val="10000"/>
                  </a:ext>
                </a:extLst>
              </a:tr>
              <a:tr h="1000125">
                <a:tc>
                  <a:txBody>
                    <a:bodyPr/>
                    <a:lstStyle/>
                    <a:p>
                      <a:r>
                        <a:rPr sz="1425" b="0">
                          <a:solidFill>
                            <a:srgbClr val="000000"/>
                          </a:solidFill>
                          <a:latin typeface="Calibri"/>
                          <a:ea typeface="Calibri"/>
                          <a:cs typeface="Calibri"/>
                        </a:rPr>
                        <a:t>Eagle Eye, turboshaft</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425" b="0">
                          <a:solidFill>
                            <a:srgbClr val="000000"/>
                          </a:solidFill>
                          <a:latin typeface="Calibri"/>
                          <a:ea typeface="Calibri"/>
                          <a:cs typeface="Calibri"/>
                        </a:rPr>
                        <a:t>Coarse 108-point grid: DL 40/70/100, WL 140/220/300 kg/m², AR 4/6/8, tip 190/220 m/s, length 4.5/5.5 m</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425" b="0">
                          <a:solidFill>
                            <a:srgbClr val="000000"/>
                          </a:solidFill>
                          <a:latin typeface="Calibri"/>
                          <a:ea typeface="Calibri"/>
                          <a:cs typeface="Calibri"/>
                        </a:rPr>
                        <a:t>Reference replay, fixed-geometry retrofit, clean-sheet sizing; local35 and joint9 checks</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1"/>
                  </a:ext>
                </a:extLst>
              </a:tr>
              <a:tr h="1000125">
                <a:tc>
                  <a:txBody>
                    <a:bodyPr/>
                    <a:lstStyle/>
                    <a:p>
                      <a:r>
                        <a:rPr sz="1425" b="0">
                          <a:solidFill>
                            <a:srgbClr val="000000"/>
                          </a:solidFill>
                          <a:latin typeface="Calibri"/>
                          <a:ea typeface="Calibri"/>
                          <a:cs typeface="Calibri"/>
                        </a:rPr>
                        <a:t>TR60, piston-label rotary surrogate</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425" b="0">
                          <a:solidFill>
                            <a:srgbClr val="000000"/>
                          </a:solidFill>
                          <a:latin typeface="Calibri"/>
                          <a:ea typeface="Calibri"/>
                          <a:cs typeface="Calibri"/>
                        </a:rPr>
                        <a:t>Clean-sheet DL 20/30/40 × WL 70/100/130 kg/m², AR 6; reference empty115/130/145 kg, SFC 0.4/0.5/0.6 lb/(hp h), RPM ratio0.65/0.8/1</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425" b="0">
                          <a:solidFill>
                            <a:srgbClr val="000000"/>
                          </a:solidFill>
                          <a:latin typeface="Calibri"/>
                          <a:ea typeface="Calibri"/>
                          <a:cs typeface="Calibri"/>
                        </a:rPr>
                        <a:t>Final 18-point mixed study. Reference holds 200 kg and geometry; retrofit holds geometry; clean-sheet varies loading.</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2"/>
                  </a:ext>
                </a:extLst>
              </a:tr>
              <a:tr h="1000125">
                <a:tc>
                  <a:txBody>
                    <a:bodyPr/>
                    <a:lstStyle/>
                    <a:p>
                      <a:r>
                        <a:rPr sz="1425" b="0">
                          <a:solidFill>
                            <a:srgbClr val="000000"/>
                          </a:solidFill>
                          <a:latin typeface="Calibri"/>
                          <a:ea typeface="Calibri"/>
                          <a:cs typeface="Calibri"/>
                        </a:rPr>
                        <a:t>TR100 / TR60 dual reference</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425" b="0">
                          <a:solidFill>
                            <a:srgbClr val="000000"/>
                          </a:solidFill>
                          <a:latin typeface="Calibri"/>
                          <a:ea typeface="Calibri"/>
                          <a:cs typeface="Calibri"/>
                        </a:rPr>
                        <a:t>Separate reference-condition and installed-speed checks, revised weight and propulsion assumptions</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425" b="0">
                          <a:solidFill>
                            <a:srgbClr val="000000"/>
                          </a:solidFill>
                          <a:latin typeface="Calibri"/>
                          <a:ea typeface="Calibri"/>
                          <a:cs typeface="Calibri"/>
                        </a:rPr>
                        <a:t>Literature cross-check and solver diagnostics; no global optimum established</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2465980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C4A9189-4F06-4AA3-B1CE-79BE9CB6F83B}"/>
              </a:ext>
            </a:extLst>
          </p:cNvPr>
          <p:cNvSpPr>
            <a:spLocks noGrp="1"/>
          </p:cNvSpPr>
          <p:nvPr/>
        </p:nvSpPr>
        <p:spPr>
          <a:xfrm>
            <a:off x="838200" y="361950"/>
            <a:ext cx="10572750" cy="495300"/>
          </a:xfrm>
          <a:prstGeom prst="rect">
            <a:avLst/>
          </a:prstGeom>
          <a:noFill/>
          <a:ln w="0">
            <a:noFill/>
          </a:ln>
        </p:spPr>
        <p:txBody>
          <a:bodyPr lIns="0" tIns="0" rIns="0" bIns="0"/>
          <a:lstStyle>
            <a:defPPr>
              <a:defRPr sz="2400" b="1">
                <a:solidFill>
                  <a:srgbClr val="000000"/>
                </a:solidFill>
                <a:latin typeface="Calibri"/>
                <a:ea typeface="Calibri"/>
                <a:cs typeface="Calibri"/>
              </a:defRPr>
            </a:defPPr>
            <a:lvl1pPr>
              <a:defRPr sz="2400" b="1">
                <a:solidFill>
                  <a:srgbClr val="000000"/>
                </a:solidFill>
                <a:latin typeface="Calibri"/>
                <a:ea typeface="Calibri"/>
                <a:cs typeface="Calibri"/>
              </a:defRPr>
            </a:lvl1pPr>
            <a:lvl2pPr>
              <a:defRPr sz="2400" b="1">
                <a:solidFill>
                  <a:srgbClr val="000000"/>
                </a:solidFill>
                <a:latin typeface="Calibri"/>
                <a:ea typeface="Calibri"/>
                <a:cs typeface="Calibri"/>
              </a:defRPr>
            </a:lvl2pPr>
            <a:lvl3pPr>
              <a:defRPr sz="2400" b="1">
                <a:solidFill>
                  <a:srgbClr val="000000"/>
                </a:solidFill>
                <a:latin typeface="Calibri"/>
                <a:ea typeface="Calibri"/>
                <a:cs typeface="Calibri"/>
              </a:defRPr>
            </a:lvl3pPr>
            <a:lvl4pPr>
              <a:defRPr sz="2400" b="1">
                <a:solidFill>
                  <a:srgbClr val="000000"/>
                </a:solidFill>
                <a:latin typeface="Calibri"/>
                <a:ea typeface="Calibri"/>
                <a:cs typeface="Calibri"/>
              </a:defRPr>
            </a:lvl4pPr>
            <a:lvl5pPr>
              <a:defRPr sz="2400" b="1">
                <a:solidFill>
                  <a:srgbClr val="000000"/>
                </a:solidFill>
                <a:latin typeface="Calibri"/>
                <a:ea typeface="Calibri"/>
                <a:cs typeface="Calibri"/>
              </a:defRPr>
            </a:lvl5pPr>
            <a:lvl6pPr>
              <a:defRPr sz="2400" b="1">
                <a:solidFill>
                  <a:srgbClr val="000000"/>
                </a:solidFill>
                <a:latin typeface="Calibri"/>
                <a:ea typeface="Calibri"/>
                <a:cs typeface="Calibri"/>
              </a:defRPr>
            </a:lvl6pPr>
            <a:lvl7pPr>
              <a:defRPr sz="2400" b="1">
                <a:solidFill>
                  <a:srgbClr val="000000"/>
                </a:solidFill>
                <a:latin typeface="Calibri"/>
                <a:ea typeface="Calibri"/>
                <a:cs typeface="Calibri"/>
              </a:defRPr>
            </a:lvl7pPr>
            <a:lvl8pPr>
              <a:defRPr sz="2400" b="1">
                <a:solidFill>
                  <a:srgbClr val="000000"/>
                </a:solidFill>
                <a:latin typeface="Calibri"/>
                <a:ea typeface="Calibri"/>
                <a:cs typeface="Calibri"/>
              </a:defRPr>
            </a:lvl8pPr>
            <a:lvl9pPr>
              <a:defRPr sz="2400" b="1">
                <a:solidFill>
                  <a:srgbClr val="000000"/>
                </a:solidFill>
                <a:latin typeface="Calibri"/>
                <a:ea typeface="Calibri"/>
                <a:cs typeface="Calibri"/>
              </a:defRPr>
            </a:lvl9pPr>
          </a:lstStyle>
          <a:p>
            <a:pPr>
              <a:defRPr sz="2400" b="1">
                <a:solidFill>
                  <a:srgbClr val="000000"/>
                </a:solidFill>
                <a:latin typeface="Calibri"/>
                <a:ea typeface="Calibri"/>
                <a:cs typeface="Calibri"/>
              </a:defRPr>
            </a:pPr>
            <a:r>
              <a:rPr sz="2400" b="1">
                <a:solidFill>
                  <a:srgbClr val="000000"/>
                </a:solidFill>
                <a:latin typeface="Calibri"/>
                <a:ea typeface="Calibri"/>
                <a:cs typeface="Calibri"/>
              </a:rPr>
              <a:t>NASA tiltrotor: paper-style sizing sweeps now executed</a:t>
            </a:r>
          </a:p>
        </p:txBody>
      </p:sp>
      <p:sp>
        <p:nvSpPr>
          <p:cNvPr id="2" name="Rectangle 1">
            <a:extLst>
              <a:ext uri="{FF2B5EF4-FFF2-40B4-BE49-F238E27FC236}">
                <a16:creationId xmlns:a16="http://schemas.microsoft.com/office/drawing/2014/main" id="{F2DAB29A-AC7E-46E0-A81D-D5550E654ABA}"/>
              </a:ext>
            </a:extLst>
          </p:cNvPr>
          <p:cNvSpPr>
            <a:spLocks noGrp="1"/>
          </p:cNvSpPr>
          <p:nvPr/>
        </p:nvSpPr>
        <p:spPr>
          <a:xfrm>
            <a:off x="476250" y="1028700"/>
            <a:ext cx="11239500" cy="590550"/>
          </a:xfrm>
          <a:prstGeom prst="rect">
            <a:avLst/>
          </a:prstGeom>
          <a:noFill/>
          <a:ln w="0">
            <a:noFill/>
          </a:ln>
        </p:spPr>
        <p:txBody>
          <a:bodyPr lIns="0" tIns="0" rIns="0" bIns="0"/>
          <a:lstStyle>
            <a:defPPr>
              <a:defRPr sz="1575" b="0">
                <a:solidFill>
                  <a:srgbClr val="333333"/>
                </a:solidFill>
                <a:latin typeface="Calibri"/>
                <a:ea typeface="Calibri"/>
                <a:cs typeface="Calibri"/>
              </a:defRPr>
            </a:defPPr>
            <a:lvl1pPr>
              <a:defRPr sz="1575" b="0">
                <a:solidFill>
                  <a:srgbClr val="333333"/>
                </a:solidFill>
                <a:latin typeface="Calibri"/>
                <a:ea typeface="Calibri"/>
                <a:cs typeface="Calibri"/>
              </a:defRPr>
            </a:lvl1pPr>
            <a:lvl2pPr>
              <a:defRPr sz="1575" b="0">
                <a:solidFill>
                  <a:srgbClr val="333333"/>
                </a:solidFill>
                <a:latin typeface="Calibri"/>
                <a:ea typeface="Calibri"/>
                <a:cs typeface="Calibri"/>
              </a:defRPr>
            </a:lvl2pPr>
            <a:lvl3pPr>
              <a:defRPr sz="1575" b="0">
                <a:solidFill>
                  <a:srgbClr val="333333"/>
                </a:solidFill>
                <a:latin typeface="Calibri"/>
                <a:ea typeface="Calibri"/>
                <a:cs typeface="Calibri"/>
              </a:defRPr>
            </a:lvl3pPr>
            <a:lvl4pPr>
              <a:defRPr sz="1575" b="0">
                <a:solidFill>
                  <a:srgbClr val="333333"/>
                </a:solidFill>
                <a:latin typeface="Calibri"/>
                <a:ea typeface="Calibri"/>
                <a:cs typeface="Calibri"/>
              </a:defRPr>
            </a:lvl4pPr>
            <a:lvl5pPr>
              <a:defRPr sz="1575" b="0">
                <a:solidFill>
                  <a:srgbClr val="333333"/>
                </a:solidFill>
                <a:latin typeface="Calibri"/>
                <a:ea typeface="Calibri"/>
                <a:cs typeface="Calibri"/>
              </a:defRPr>
            </a:lvl5pPr>
            <a:lvl6pPr>
              <a:defRPr sz="1575" b="0">
                <a:solidFill>
                  <a:srgbClr val="333333"/>
                </a:solidFill>
                <a:latin typeface="Calibri"/>
                <a:ea typeface="Calibri"/>
                <a:cs typeface="Calibri"/>
              </a:defRPr>
            </a:lvl6pPr>
            <a:lvl7pPr>
              <a:defRPr sz="1575" b="0">
                <a:solidFill>
                  <a:srgbClr val="333333"/>
                </a:solidFill>
                <a:latin typeface="Calibri"/>
                <a:ea typeface="Calibri"/>
                <a:cs typeface="Calibri"/>
              </a:defRPr>
            </a:lvl7pPr>
            <a:lvl8pPr>
              <a:defRPr sz="1575" b="0">
                <a:solidFill>
                  <a:srgbClr val="333333"/>
                </a:solidFill>
                <a:latin typeface="Calibri"/>
                <a:ea typeface="Calibri"/>
                <a:cs typeface="Calibri"/>
              </a:defRPr>
            </a:lvl8pPr>
            <a:lvl9pPr>
              <a:defRPr sz="1575" b="0">
                <a:solidFill>
                  <a:srgbClr val="333333"/>
                </a:solidFill>
                <a:latin typeface="Calibri"/>
                <a:ea typeface="Calibri"/>
                <a:cs typeface="Calibri"/>
              </a:defRPr>
            </a:lvl9pPr>
          </a:lstStyle>
          <a:p>
            <a:pPr>
              <a:defRPr sz="1575" b="0">
                <a:solidFill>
                  <a:srgbClr val="333333"/>
                </a:solidFill>
                <a:latin typeface="Calibri"/>
                <a:ea typeface="Calibri"/>
                <a:cs typeface="Calibri"/>
              </a:defRPr>
            </a:pPr>
            <a:r>
              <a:rPr sz="1575" b="0">
                <a:solidFill>
                  <a:srgbClr val="333333"/>
                </a:solidFill>
                <a:latin typeface="Calibri"/>
                <a:ea typeface="Calibri"/>
                <a:cs typeface="Calibri"/>
              </a:rPr>
              <a:t>Both turboshaft and electric decks support free sizing. The new study contains 67 grid points per build. [N, T]</a:t>
            </a:r>
          </a:p>
        </p:txBody>
      </p:sp>
      <p:sp>
        <p:nvSpPr>
          <p:cNvPr id="3" name="Rectangle 2">
            <a:extLst>
              <a:ext uri="{FF2B5EF4-FFF2-40B4-BE49-F238E27FC236}">
                <a16:creationId xmlns:a16="http://schemas.microsoft.com/office/drawing/2014/main" id="{3D74F757-BFAF-49B1-A052-5122EEF09BC2}"/>
              </a:ext>
            </a:extLst>
          </p:cNvPr>
          <p:cNvSpPr>
            <a:spLocks noGrp="1"/>
          </p:cNvSpPr>
          <p:nvPr/>
        </p:nvSpPr>
        <p:spPr>
          <a:xfrm>
            <a:off x="476250" y="6076950"/>
            <a:ext cx="11191875" cy="619125"/>
          </a:xfrm>
          <a:prstGeom prst="rect">
            <a:avLst/>
          </a:prstGeom>
          <a:noFill/>
          <a:ln w="0">
            <a:noFill/>
          </a:ln>
        </p:spPr>
        <p:txBody>
          <a:bodyPr lIns="0" tIns="0" rIns="0" bIns="0"/>
          <a:lstStyle>
            <a:defPPr>
              <a:defRPr sz="1050" b="0">
                <a:solidFill>
                  <a:srgbClr val="333333"/>
                </a:solidFill>
                <a:latin typeface="Calibri"/>
                <a:ea typeface="Calibri"/>
                <a:cs typeface="Calibri"/>
              </a:defRPr>
            </a:defPPr>
            <a:lvl1pPr>
              <a:defRPr sz="1050" b="0">
                <a:solidFill>
                  <a:srgbClr val="333333"/>
                </a:solidFill>
                <a:latin typeface="Calibri"/>
                <a:ea typeface="Calibri"/>
                <a:cs typeface="Calibri"/>
              </a:defRPr>
            </a:lvl1pPr>
            <a:lvl2pPr>
              <a:defRPr sz="1050" b="0">
                <a:solidFill>
                  <a:srgbClr val="333333"/>
                </a:solidFill>
                <a:latin typeface="Calibri"/>
                <a:ea typeface="Calibri"/>
                <a:cs typeface="Calibri"/>
              </a:defRPr>
            </a:lvl2pPr>
            <a:lvl3pPr>
              <a:defRPr sz="1050" b="0">
                <a:solidFill>
                  <a:srgbClr val="333333"/>
                </a:solidFill>
                <a:latin typeface="Calibri"/>
                <a:ea typeface="Calibri"/>
                <a:cs typeface="Calibri"/>
              </a:defRPr>
            </a:lvl3pPr>
            <a:lvl4pPr>
              <a:defRPr sz="1050" b="0">
                <a:solidFill>
                  <a:srgbClr val="333333"/>
                </a:solidFill>
                <a:latin typeface="Calibri"/>
                <a:ea typeface="Calibri"/>
                <a:cs typeface="Calibri"/>
              </a:defRPr>
            </a:lvl4pPr>
            <a:lvl5pPr>
              <a:defRPr sz="1050" b="0">
                <a:solidFill>
                  <a:srgbClr val="333333"/>
                </a:solidFill>
                <a:latin typeface="Calibri"/>
                <a:ea typeface="Calibri"/>
                <a:cs typeface="Calibri"/>
              </a:defRPr>
            </a:lvl5pPr>
            <a:lvl6pPr>
              <a:defRPr sz="1050" b="0">
                <a:solidFill>
                  <a:srgbClr val="333333"/>
                </a:solidFill>
                <a:latin typeface="Calibri"/>
                <a:ea typeface="Calibri"/>
                <a:cs typeface="Calibri"/>
              </a:defRPr>
            </a:lvl6pPr>
            <a:lvl7pPr>
              <a:defRPr sz="1050" b="0">
                <a:solidFill>
                  <a:srgbClr val="333333"/>
                </a:solidFill>
                <a:latin typeface="Calibri"/>
                <a:ea typeface="Calibri"/>
                <a:cs typeface="Calibri"/>
              </a:defRPr>
            </a:lvl7pPr>
            <a:lvl8pPr>
              <a:defRPr sz="1050" b="0">
                <a:solidFill>
                  <a:srgbClr val="333333"/>
                </a:solidFill>
                <a:latin typeface="Calibri"/>
                <a:ea typeface="Calibri"/>
                <a:cs typeface="Calibri"/>
              </a:defRPr>
            </a:lvl8pPr>
            <a:lvl9pPr>
              <a:defRPr sz="1050" b="0">
                <a:solidFill>
                  <a:srgbClr val="333333"/>
                </a:solidFill>
                <a:latin typeface="Calibri"/>
                <a:ea typeface="Calibri"/>
                <a:cs typeface="Calibri"/>
              </a:defRPr>
            </a:lvl9pPr>
          </a:lstStyle>
          <a:p>
            <a:pPr>
              <a:defRPr sz="1050" b="0">
                <a:solidFill>
                  <a:srgbClr val="333333"/>
                </a:solidFill>
                <a:latin typeface="Calibri"/>
                <a:ea typeface="Calibri"/>
                <a:cs typeface="Calibri"/>
              </a:defRPr>
            </a:pPr>
            <a:r>
              <a:rPr sz="1050" b="0">
                <a:solidFill>
                  <a:srgbClr val="333333"/>
                </a:solidFill>
                <a:latin typeface="Calibri"/>
                <a:ea typeface="Calibri"/>
                <a:cs typeface="Calibri"/>
              </a:rPr>
              <a:t>[N] Radotich / NASA, Conceptual Design of Tiltrotor Aircraft for Urban Air Mobility (2022), pp. 4–13, Tables 2–4 (pp. 15–17). https://rotorcraft.arc.nasa.gov/Publications/files/Michael_Radotich_13-Jan-22_03-47-02.pdf</a:t>
            </a:r>
          </a:p>
          <a:p>
            <a:pPr>
              <a:defRPr sz="1050" b="0">
                <a:solidFill>
                  <a:srgbClr val="333333"/>
                </a:solidFill>
                <a:latin typeface="Calibri"/>
                <a:ea typeface="Calibri"/>
                <a:cs typeface="Calibri"/>
              </a:defRPr>
            </a:pPr>
            <a:r>
              <a:rPr sz="1050" b="0">
                <a:solidFill>
                  <a:srgbClr val="333333"/>
                </a:solidFill>
                <a:latin typeface="Calibri"/>
                <a:ea typeface="Calibri"/>
                <a:cs typeface="Calibri"/>
              </a:rPr>
              <a:t>[T] Current NDARC predictions: nasa-tr-sizing-20261028*; research/nasa-tr-sizing-20261028/all-results.json, sweep-summary.json and final-baseline-comparison.json.</a:t>
            </a:r>
          </a:p>
        </p:txBody>
      </p:sp>
      <p:sp>
        <p:nvSpPr>
          <p:cNvPr id="4" name="Rectangle 3">
            <a:extLst>
              <a:ext uri="{FF2B5EF4-FFF2-40B4-BE49-F238E27FC236}">
                <a16:creationId xmlns:a16="http://schemas.microsoft.com/office/drawing/2014/main" id="{8D6F08CE-608F-4E9F-BCA0-38156A4D4894}"/>
              </a:ext>
            </a:extLst>
          </p:cNvPr>
          <p:cNvSpPr>
            <a:spLocks noGrp="1"/>
          </p:cNvSpPr>
          <p:nvPr/>
        </p:nvSpPr>
        <p:spPr>
          <a:xfrm>
            <a:off x="11430000" y="6553200"/>
            <a:ext cx="333375" cy="209550"/>
          </a:xfrm>
          <a:prstGeom prst="rect">
            <a:avLst/>
          </a:prstGeom>
          <a:noFill/>
          <a:ln w="0">
            <a:noFill/>
          </a:ln>
        </p:spPr>
        <p:txBody>
          <a:bodyPr lIns="0" tIns="0" rIns="0" bIns="0"/>
          <a:lstStyle>
            <a:defPPr>
              <a:defRPr sz="1125" b="0">
                <a:solidFill>
                  <a:srgbClr val="000000"/>
                </a:solidFill>
                <a:latin typeface="Calibri"/>
                <a:ea typeface="Calibri"/>
                <a:cs typeface="Calibri"/>
              </a:defRPr>
            </a:defPPr>
            <a:lvl1pPr>
              <a:defRPr sz="1125" b="0">
                <a:solidFill>
                  <a:srgbClr val="000000"/>
                </a:solidFill>
                <a:latin typeface="Calibri"/>
                <a:ea typeface="Calibri"/>
                <a:cs typeface="Calibri"/>
              </a:defRPr>
            </a:lvl1pPr>
            <a:lvl2pPr>
              <a:defRPr sz="1125" b="0">
                <a:solidFill>
                  <a:srgbClr val="000000"/>
                </a:solidFill>
                <a:latin typeface="Calibri"/>
                <a:ea typeface="Calibri"/>
                <a:cs typeface="Calibri"/>
              </a:defRPr>
            </a:lvl2pPr>
            <a:lvl3pPr>
              <a:defRPr sz="1125" b="0">
                <a:solidFill>
                  <a:srgbClr val="000000"/>
                </a:solidFill>
                <a:latin typeface="Calibri"/>
                <a:ea typeface="Calibri"/>
                <a:cs typeface="Calibri"/>
              </a:defRPr>
            </a:lvl3pPr>
            <a:lvl4pPr>
              <a:defRPr sz="1125" b="0">
                <a:solidFill>
                  <a:srgbClr val="000000"/>
                </a:solidFill>
                <a:latin typeface="Calibri"/>
                <a:ea typeface="Calibri"/>
                <a:cs typeface="Calibri"/>
              </a:defRPr>
            </a:lvl4pPr>
            <a:lvl5pPr>
              <a:defRPr sz="1125" b="0">
                <a:solidFill>
                  <a:srgbClr val="000000"/>
                </a:solidFill>
                <a:latin typeface="Calibri"/>
                <a:ea typeface="Calibri"/>
                <a:cs typeface="Calibri"/>
              </a:defRPr>
            </a:lvl5pPr>
            <a:lvl6pPr>
              <a:defRPr sz="1125" b="0">
                <a:solidFill>
                  <a:srgbClr val="000000"/>
                </a:solidFill>
                <a:latin typeface="Calibri"/>
                <a:ea typeface="Calibri"/>
                <a:cs typeface="Calibri"/>
              </a:defRPr>
            </a:lvl6pPr>
            <a:lvl7pPr>
              <a:defRPr sz="1125" b="0">
                <a:solidFill>
                  <a:srgbClr val="000000"/>
                </a:solidFill>
                <a:latin typeface="Calibri"/>
                <a:ea typeface="Calibri"/>
                <a:cs typeface="Calibri"/>
              </a:defRPr>
            </a:lvl7pPr>
            <a:lvl8pPr>
              <a:defRPr sz="1125" b="0">
                <a:solidFill>
                  <a:srgbClr val="000000"/>
                </a:solidFill>
                <a:latin typeface="Calibri"/>
                <a:ea typeface="Calibri"/>
                <a:cs typeface="Calibri"/>
              </a:defRPr>
            </a:lvl8pPr>
            <a:lvl9pPr>
              <a:defRPr sz="1125" b="0">
                <a:solidFill>
                  <a:srgbClr val="000000"/>
                </a:solidFill>
                <a:latin typeface="Calibri"/>
                <a:ea typeface="Calibri"/>
                <a:cs typeface="Calibri"/>
              </a:defRPr>
            </a:lvl9pPr>
          </a:lstStyle>
          <a:p>
            <a:pPr>
              <a:defRPr sz="1125" b="0">
                <a:solidFill>
                  <a:srgbClr val="000000"/>
                </a:solidFill>
                <a:latin typeface="Calibri"/>
                <a:ea typeface="Calibri"/>
                <a:cs typeface="Calibri"/>
              </a:defRPr>
            </a:pPr>
            <a:r>
              <a:rPr sz="1125" b="0">
                <a:solidFill>
                  <a:srgbClr val="000000"/>
                </a:solidFill>
                <a:latin typeface="Calibri"/>
                <a:ea typeface="Calibri"/>
                <a:cs typeface="Calibri"/>
              </a:rPr>
              <a:t>48</a:t>
            </a:r>
          </a:p>
        </p:txBody>
      </p:sp>
      <p:graphicFrame>
        <p:nvGraphicFramePr>
          <p:cNvPr id="5" name="Table 4">
            <a:extLst>
              <a:ext uri="{FF2B5EF4-FFF2-40B4-BE49-F238E27FC236}">
                <a16:creationId xmlns:a16="http://schemas.microsoft.com/office/drawing/2014/main" id="{E5619B45-A85B-4744-A9D2-1CD094700B36}"/>
              </a:ext>
            </a:extLst>
          </p:cNvPr>
          <p:cNvGraphicFramePr/>
          <p:nvPr/>
        </p:nvGraphicFramePr>
        <p:xfrm>
          <a:off x="476250" y="1714500"/>
          <a:ext cx="11239500" cy="4000500"/>
        </p:xfrm>
        <a:graphic>
          <a:graphicData uri="http://schemas.openxmlformats.org/drawingml/2006/table">
            <a:tbl>
              <a:tblPr/>
              <a:tblGrid>
                <a:gridCol w="3143250">
                  <a:extLst>
                    <a:ext uri="{9D8B030D-6E8A-4147-A177-3AD203B41FA5}">
                      <a16:colId xmlns:a16="http://schemas.microsoft.com/office/drawing/2014/main" val="20000"/>
                    </a:ext>
                  </a:extLst>
                </a:gridCol>
                <a:gridCol w="4048125">
                  <a:extLst>
                    <a:ext uri="{9D8B030D-6E8A-4147-A177-3AD203B41FA5}">
                      <a16:colId xmlns:a16="http://schemas.microsoft.com/office/drawing/2014/main" val="20001"/>
                    </a:ext>
                  </a:extLst>
                </a:gridCol>
                <a:gridCol w="4048125">
                  <a:extLst>
                    <a:ext uri="{9D8B030D-6E8A-4147-A177-3AD203B41FA5}">
                      <a16:colId xmlns:a16="http://schemas.microsoft.com/office/drawing/2014/main" val="20002"/>
                    </a:ext>
                  </a:extLst>
                </a:gridCol>
              </a:tblGrid>
              <a:tr h="571500">
                <a:tc>
                  <a:txBody>
                    <a:bodyPr/>
                    <a:lstStyle/>
                    <a:p>
                      <a:r>
                        <a:rPr sz="1500" b="1">
                          <a:solidFill>
                            <a:srgbClr val="000000"/>
                          </a:solidFill>
                          <a:latin typeface="Calibri"/>
                          <a:ea typeface="Calibri"/>
                          <a:cs typeface="Calibri"/>
                        </a:rPr>
                        <a:t>Sequential sweep</a:t>
                      </a:r>
                    </a:p>
                  </a:txBody>
                  <a:tcPr>
                    <a:lnL w="7620">
                      <a:solidFill>
                        <a:srgbClr val="CCCCCC"/>
                      </a:solidFill>
                    </a:lnL>
                    <a:lnR w="7620">
                      <a:solidFill>
                        <a:srgbClr val="CCCCCC"/>
                      </a:solidFill>
                    </a:lnR>
                    <a:lnT w="7620">
                      <a:solidFill>
                        <a:srgbClr val="CCCCCC"/>
                      </a:solidFill>
                    </a:lnT>
                    <a:lnB w="7620">
                      <a:solidFill>
                        <a:srgbClr val="CCCCCC"/>
                      </a:solidFill>
                    </a:lnB>
                    <a:solidFill>
                      <a:srgbClr val="D9D9D9"/>
                    </a:solidFill>
                  </a:tcPr>
                </a:tc>
                <a:tc>
                  <a:txBody>
                    <a:bodyPr/>
                    <a:lstStyle/>
                    <a:p>
                      <a:r>
                        <a:rPr sz="1500" b="1">
                          <a:solidFill>
                            <a:srgbClr val="000000"/>
                          </a:solidFill>
                          <a:latin typeface="Calibri"/>
                          <a:ea typeface="Calibri"/>
                          <a:cs typeface="Calibri"/>
                        </a:rPr>
                        <a:t>Turboshaft</a:t>
                      </a:r>
                    </a:p>
                  </a:txBody>
                  <a:tcPr>
                    <a:lnL w="7620" cap="flat" cmpd="sng" algn="ctr">
                      <a:solidFill>
                        <a:srgbClr val="CCCCCC"/>
                      </a:solidFill>
                      <a:prstDash val="solid"/>
                      <a:round/>
                      <a:headEnd type="none" w="med" len="med"/>
                      <a:tailEnd type="none" w="med" len="med"/>
                    </a:lnL>
                    <a:lnR w="7620">
                      <a:solidFill>
                        <a:srgbClr val="CCCCCC"/>
                      </a:solidFill>
                    </a:lnR>
                    <a:lnT w="7620">
                      <a:solidFill>
                        <a:srgbClr val="CCCCCC"/>
                      </a:solidFill>
                    </a:lnT>
                    <a:lnB w="7620">
                      <a:solidFill>
                        <a:srgbClr val="CCCCCC"/>
                      </a:solidFill>
                    </a:lnB>
                    <a:solidFill>
                      <a:srgbClr val="D9D9D9"/>
                    </a:solidFill>
                  </a:tcPr>
                </a:tc>
                <a:tc>
                  <a:txBody>
                    <a:bodyPr/>
                    <a:lstStyle/>
                    <a:p>
                      <a:r>
                        <a:rPr sz="1500" b="1">
                          <a:solidFill>
                            <a:srgbClr val="000000"/>
                          </a:solidFill>
                          <a:latin typeface="Calibri"/>
                          <a:ea typeface="Calibri"/>
                          <a:cs typeface="Calibri"/>
                        </a:rPr>
                        <a:t>Electric</a:t>
                      </a:r>
                    </a:p>
                  </a:txBody>
                  <a:tcPr>
                    <a:lnL w="7620" cap="flat" cmpd="sng" algn="ctr">
                      <a:solidFill>
                        <a:srgbClr val="CCCCCC"/>
                      </a:solidFill>
                      <a:prstDash val="solid"/>
                      <a:round/>
                      <a:headEnd type="none" w="med" len="med"/>
                      <a:tailEnd type="none" w="med" len="med"/>
                    </a:lnL>
                    <a:lnR w="7620">
                      <a:solidFill>
                        <a:srgbClr val="CCCCCC"/>
                      </a:solidFill>
                    </a:lnR>
                    <a:lnT w="7620">
                      <a:solidFill>
                        <a:srgbClr val="CCCCCC"/>
                      </a:solidFill>
                    </a:lnT>
                    <a:lnB w="7620">
                      <a:solidFill>
                        <a:srgbClr val="CCCCCC"/>
                      </a:solidFill>
                    </a:lnB>
                    <a:solidFill>
                      <a:srgbClr val="D9D9D9"/>
                    </a:solidFill>
                  </a:tcPr>
                </a:tc>
                <a:extLst>
                  <a:ext uri="{0D108BD9-81ED-4DB2-BD59-A6C34878D82A}">
                    <a16:rowId xmlns:a16="http://schemas.microsoft.com/office/drawing/2014/main" val="10000"/>
                  </a:ext>
                </a:extLst>
              </a:tr>
              <a:tr h="571500">
                <a:tc>
                  <a:txBody>
                    <a:bodyPr/>
                    <a:lstStyle/>
                    <a:p>
                      <a:r>
                        <a:rPr sz="1500" b="0">
                          <a:solidFill>
                            <a:srgbClr val="000000"/>
                          </a:solidFill>
                          <a:latin typeface="Calibri"/>
                          <a:ea typeface="Calibri"/>
                          <a:cs typeface="Calibri"/>
                        </a:rPr>
                        <a:t>Initial DL, lb/ft²</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7 to 15 by 1, WL50, tip550</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7 to 15 by 1, WL50, tip550</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1"/>
                  </a:ext>
                </a:extLst>
              </a:tr>
              <a:tr h="571500">
                <a:tc>
                  <a:txBody>
                    <a:bodyPr/>
                    <a:lstStyle/>
                    <a:p>
                      <a:r>
                        <a:rPr sz="1500" b="0">
                          <a:solidFill>
                            <a:srgbClr val="000000"/>
                          </a:solidFill>
                          <a:latin typeface="Calibri"/>
                          <a:ea typeface="Calibri"/>
                          <a:cs typeface="Calibri"/>
                        </a:rPr>
                        <a:t>WL, lb/ft²</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30 to 70 by5, DL11, tip550</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40 to 70 by5, DL9, tip550</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2"/>
                  </a:ext>
                </a:extLst>
              </a:tr>
              <a:tr h="571500">
                <a:tc>
                  <a:txBody>
                    <a:bodyPr/>
                    <a:lstStyle/>
                    <a:p>
                      <a:r>
                        <a:rPr sz="1500" b="0">
                          <a:solidFill>
                            <a:srgbClr val="000000"/>
                          </a:solidFill>
                          <a:latin typeface="Calibri"/>
                          <a:ea typeface="Calibri"/>
                          <a:cs typeface="Calibri"/>
                        </a:rPr>
                        <a:t>Final DL, lb/ft²</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8 to 15 by1, WL60, tip550</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7 to 15 by1, WL65, tip550</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3"/>
                  </a:ext>
                </a:extLst>
              </a:tr>
              <a:tr h="571500">
                <a:tc>
                  <a:txBody>
                    <a:bodyPr/>
                    <a:lstStyle/>
                    <a:p>
                      <a:r>
                        <a:rPr sz="1500" b="0">
                          <a:solidFill>
                            <a:srgbClr val="000000"/>
                          </a:solidFill>
                          <a:latin typeface="Calibri"/>
                          <a:ea typeface="Calibri"/>
                          <a:cs typeface="Calibri"/>
                        </a:rPr>
                        <a:t>Hover tip speed, ft/s</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400 to750 by50, DL12, WL60</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400 to750 by50, DL10, WL65</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4"/>
                  </a:ext>
                </a:extLst>
              </a:tr>
              <a:tr h="571500">
                <a:tc>
                  <a:txBody>
                    <a:bodyPr/>
                    <a:lstStyle/>
                    <a:p>
                      <a:r>
                        <a:rPr sz="1500" b="0">
                          <a:solidFill>
                            <a:srgbClr val="000000"/>
                          </a:solidFill>
                          <a:latin typeface="Calibri"/>
                          <a:ea typeface="Calibri"/>
                          <a:cs typeface="Calibri"/>
                        </a:rPr>
                        <a:t>Execution / correction</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34 points × original and corrected builds</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33 points × original and corrected builds</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5"/>
                  </a:ext>
                </a:extLst>
              </a:tr>
              <a:tr h="571500">
                <a:tc>
                  <a:txBody>
                    <a:bodyPr/>
                    <a:lstStyle/>
                    <a:p>
                      <a:r>
                        <a:rPr sz="1500" b="0">
                          <a:solidFill>
                            <a:srgbClr val="000000"/>
                          </a:solidFill>
                          <a:latin typeface="Calibri"/>
                          <a:ea typeface="Calibri"/>
                          <a:cs typeface="Calibri"/>
                        </a:rPr>
                        <a:t>Total campaign</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201 executions including baselines, diagnostics, focused and repeat runs</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Electric tip grid inferred from paper text and TS grid</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779296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7AE2629-5488-4AF3-BCBD-BE3A631F5B89}"/>
              </a:ext>
            </a:extLst>
          </p:cNvPr>
          <p:cNvSpPr>
            <a:spLocks noGrp="1"/>
          </p:cNvSpPr>
          <p:nvPr/>
        </p:nvSpPr>
        <p:spPr>
          <a:xfrm>
            <a:off x="838200" y="361950"/>
            <a:ext cx="10572750" cy="495300"/>
          </a:xfrm>
          <a:prstGeom prst="rect">
            <a:avLst/>
          </a:prstGeom>
          <a:noFill/>
          <a:ln w="0">
            <a:noFill/>
          </a:ln>
        </p:spPr>
        <p:txBody>
          <a:bodyPr lIns="0" tIns="0" rIns="0" bIns="0"/>
          <a:lstStyle>
            <a:defPPr>
              <a:defRPr sz="2400" b="1">
                <a:solidFill>
                  <a:srgbClr val="000000"/>
                </a:solidFill>
                <a:latin typeface="Calibri"/>
                <a:ea typeface="Calibri"/>
                <a:cs typeface="Calibri"/>
              </a:defRPr>
            </a:defPPr>
            <a:lvl1pPr>
              <a:defRPr sz="2400" b="1">
                <a:solidFill>
                  <a:srgbClr val="000000"/>
                </a:solidFill>
                <a:latin typeface="Calibri"/>
                <a:ea typeface="Calibri"/>
                <a:cs typeface="Calibri"/>
              </a:defRPr>
            </a:lvl1pPr>
            <a:lvl2pPr>
              <a:defRPr sz="2400" b="1">
                <a:solidFill>
                  <a:srgbClr val="000000"/>
                </a:solidFill>
                <a:latin typeface="Calibri"/>
                <a:ea typeface="Calibri"/>
                <a:cs typeface="Calibri"/>
              </a:defRPr>
            </a:lvl2pPr>
            <a:lvl3pPr>
              <a:defRPr sz="2400" b="1">
                <a:solidFill>
                  <a:srgbClr val="000000"/>
                </a:solidFill>
                <a:latin typeface="Calibri"/>
                <a:ea typeface="Calibri"/>
                <a:cs typeface="Calibri"/>
              </a:defRPr>
            </a:lvl3pPr>
            <a:lvl4pPr>
              <a:defRPr sz="2400" b="1">
                <a:solidFill>
                  <a:srgbClr val="000000"/>
                </a:solidFill>
                <a:latin typeface="Calibri"/>
                <a:ea typeface="Calibri"/>
                <a:cs typeface="Calibri"/>
              </a:defRPr>
            </a:lvl4pPr>
            <a:lvl5pPr>
              <a:defRPr sz="2400" b="1">
                <a:solidFill>
                  <a:srgbClr val="000000"/>
                </a:solidFill>
                <a:latin typeface="Calibri"/>
                <a:ea typeface="Calibri"/>
                <a:cs typeface="Calibri"/>
              </a:defRPr>
            </a:lvl5pPr>
            <a:lvl6pPr>
              <a:defRPr sz="2400" b="1">
                <a:solidFill>
                  <a:srgbClr val="000000"/>
                </a:solidFill>
                <a:latin typeface="Calibri"/>
                <a:ea typeface="Calibri"/>
                <a:cs typeface="Calibri"/>
              </a:defRPr>
            </a:lvl6pPr>
            <a:lvl7pPr>
              <a:defRPr sz="2400" b="1">
                <a:solidFill>
                  <a:srgbClr val="000000"/>
                </a:solidFill>
                <a:latin typeface="Calibri"/>
                <a:ea typeface="Calibri"/>
                <a:cs typeface="Calibri"/>
              </a:defRPr>
            </a:lvl7pPr>
            <a:lvl8pPr>
              <a:defRPr sz="2400" b="1">
                <a:solidFill>
                  <a:srgbClr val="000000"/>
                </a:solidFill>
                <a:latin typeface="Calibri"/>
                <a:ea typeface="Calibri"/>
                <a:cs typeface="Calibri"/>
              </a:defRPr>
            </a:lvl8pPr>
            <a:lvl9pPr>
              <a:defRPr sz="2400" b="1">
                <a:solidFill>
                  <a:srgbClr val="000000"/>
                </a:solidFill>
                <a:latin typeface="Calibri"/>
                <a:ea typeface="Calibri"/>
                <a:cs typeface="Calibri"/>
              </a:defRPr>
            </a:lvl9pPr>
          </a:lstStyle>
          <a:p>
            <a:pPr>
              <a:defRPr sz="2400" b="1">
                <a:solidFill>
                  <a:srgbClr val="000000"/>
                </a:solidFill>
                <a:latin typeface="Calibri"/>
                <a:ea typeface="Calibri"/>
                <a:cs typeface="Calibri"/>
              </a:defRPr>
            </a:pPr>
            <a:r>
              <a:rPr sz="2400" b="1">
                <a:solidFill>
                  <a:srgbClr val="000000"/>
                </a:solidFill>
                <a:latin typeface="Calibri"/>
                <a:ea typeface="Calibri"/>
                <a:cs typeface="Calibri"/>
              </a:rPr>
              <a:t>NASA turboshaft: initial DL and wing loading</a:t>
            </a:r>
          </a:p>
        </p:txBody>
      </p:sp>
      <p:sp>
        <p:nvSpPr>
          <p:cNvPr id="2" name="Rectangle 1">
            <a:extLst>
              <a:ext uri="{FF2B5EF4-FFF2-40B4-BE49-F238E27FC236}">
                <a16:creationId xmlns:a16="http://schemas.microsoft.com/office/drawing/2014/main" id="{51FBB1E1-9399-4397-A48F-873EA665BE3D}"/>
              </a:ext>
            </a:extLst>
          </p:cNvPr>
          <p:cNvSpPr>
            <a:spLocks noGrp="1"/>
          </p:cNvSpPr>
          <p:nvPr/>
        </p:nvSpPr>
        <p:spPr>
          <a:xfrm>
            <a:off x="476250" y="1028700"/>
            <a:ext cx="11239500" cy="590550"/>
          </a:xfrm>
          <a:prstGeom prst="rect">
            <a:avLst/>
          </a:prstGeom>
          <a:noFill/>
          <a:ln w="0">
            <a:noFill/>
          </a:ln>
        </p:spPr>
        <p:txBody>
          <a:bodyPr lIns="0" tIns="0" rIns="0" bIns="0"/>
          <a:lstStyle>
            <a:defPPr>
              <a:defRPr sz="1575" b="0">
                <a:solidFill>
                  <a:srgbClr val="333333"/>
                </a:solidFill>
                <a:latin typeface="Calibri"/>
                <a:ea typeface="Calibri"/>
                <a:cs typeface="Calibri"/>
              </a:defRPr>
            </a:defPPr>
            <a:lvl1pPr>
              <a:defRPr sz="1575" b="0">
                <a:solidFill>
                  <a:srgbClr val="333333"/>
                </a:solidFill>
                <a:latin typeface="Calibri"/>
                <a:ea typeface="Calibri"/>
                <a:cs typeface="Calibri"/>
              </a:defRPr>
            </a:lvl1pPr>
            <a:lvl2pPr>
              <a:defRPr sz="1575" b="0">
                <a:solidFill>
                  <a:srgbClr val="333333"/>
                </a:solidFill>
                <a:latin typeface="Calibri"/>
                <a:ea typeface="Calibri"/>
                <a:cs typeface="Calibri"/>
              </a:defRPr>
            </a:lvl2pPr>
            <a:lvl3pPr>
              <a:defRPr sz="1575" b="0">
                <a:solidFill>
                  <a:srgbClr val="333333"/>
                </a:solidFill>
                <a:latin typeface="Calibri"/>
                <a:ea typeface="Calibri"/>
                <a:cs typeface="Calibri"/>
              </a:defRPr>
            </a:lvl3pPr>
            <a:lvl4pPr>
              <a:defRPr sz="1575" b="0">
                <a:solidFill>
                  <a:srgbClr val="333333"/>
                </a:solidFill>
                <a:latin typeface="Calibri"/>
                <a:ea typeface="Calibri"/>
                <a:cs typeface="Calibri"/>
              </a:defRPr>
            </a:lvl4pPr>
            <a:lvl5pPr>
              <a:defRPr sz="1575" b="0">
                <a:solidFill>
                  <a:srgbClr val="333333"/>
                </a:solidFill>
                <a:latin typeface="Calibri"/>
                <a:ea typeface="Calibri"/>
                <a:cs typeface="Calibri"/>
              </a:defRPr>
            </a:lvl5pPr>
            <a:lvl6pPr>
              <a:defRPr sz="1575" b="0">
                <a:solidFill>
                  <a:srgbClr val="333333"/>
                </a:solidFill>
                <a:latin typeface="Calibri"/>
                <a:ea typeface="Calibri"/>
                <a:cs typeface="Calibri"/>
              </a:defRPr>
            </a:lvl6pPr>
            <a:lvl7pPr>
              <a:defRPr sz="1575" b="0">
                <a:solidFill>
                  <a:srgbClr val="333333"/>
                </a:solidFill>
                <a:latin typeface="Calibri"/>
                <a:ea typeface="Calibri"/>
                <a:cs typeface="Calibri"/>
              </a:defRPr>
            </a:lvl7pPr>
            <a:lvl8pPr>
              <a:defRPr sz="1575" b="0">
                <a:solidFill>
                  <a:srgbClr val="333333"/>
                </a:solidFill>
                <a:latin typeface="Calibri"/>
                <a:ea typeface="Calibri"/>
                <a:cs typeface="Calibri"/>
              </a:defRPr>
            </a:lvl8pPr>
            <a:lvl9pPr>
              <a:defRPr sz="1575" b="0">
                <a:solidFill>
                  <a:srgbClr val="333333"/>
                </a:solidFill>
                <a:latin typeface="Calibri"/>
                <a:ea typeface="Calibri"/>
                <a:cs typeface="Calibri"/>
              </a:defRPr>
            </a:lvl9pPr>
          </a:lstStyle>
          <a:p>
            <a:pPr>
              <a:defRPr sz="1575" b="0">
                <a:solidFill>
                  <a:srgbClr val="333333"/>
                </a:solidFill>
                <a:latin typeface="Calibri"/>
                <a:ea typeface="Calibri"/>
                <a:cs typeface="Calibri"/>
              </a:defRPr>
            </a:pPr>
            <a:r>
              <a:rPr sz="1575" b="0">
                <a:solidFill>
                  <a:srgbClr val="333333"/>
                </a:solidFill>
                <a:latin typeface="Calibri"/>
                <a:ea typeface="Calibri"/>
                <a:cs typeface="Calibri"/>
              </a:rPr>
              <a:t>Current NDARC sizing curves use the isolated wing-fit correction. Failed samples are omitted from curves and retained in evidence. [T]</a:t>
            </a:r>
          </a:p>
        </p:txBody>
      </p:sp>
      <p:sp>
        <p:nvSpPr>
          <p:cNvPr id="3" name="Rectangle 2">
            <a:extLst>
              <a:ext uri="{FF2B5EF4-FFF2-40B4-BE49-F238E27FC236}">
                <a16:creationId xmlns:a16="http://schemas.microsoft.com/office/drawing/2014/main" id="{23A52E5B-2719-4E67-9D63-7B127E9F68EC}"/>
              </a:ext>
            </a:extLst>
          </p:cNvPr>
          <p:cNvSpPr>
            <a:spLocks noGrp="1"/>
          </p:cNvSpPr>
          <p:nvPr/>
        </p:nvSpPr>
        <p:spPr>
          <a:xfrm>
            <a:off x="476250" y="6076950"/>
            <a:ext cx="11191875" cy="619125"/>
          </a:xfrm>
          <a:prstGeom prst="rect">
            <a:avLst/>
          </a:prstGeom>
          <a:noFill/>
          <a:ln w="0">
            <a:noFill/>
          </a:ln>
        </p:spPr>
        <p:txBody>
          <a:bodyPr lIns="0" tIns="0" rIns="0" bIns="0"/>
          <a:lstStyle>
            <a:defPPr>
              <a:defRPr sz="1050" b="0">
                <a:solidFill>
                  <a:srgbClr val="333333"/>
                </a:solidFill>
                <a:latin typeface="Calibri"/>
                <a:ea typeface="Calibri"/>
                <a:cs typeface="Calibri"/>
              </a:defRPr>
            </a:defPPr>
            <a:lvl1pPr>
              <a:defRPr sz="1050" b="0">
                <a:solidFill>
                  <a:srgbClr val="333333"/>
                </a:solidFill>
                <a:latin typeface="Calibri"/>
                <a:ea typeface="Calibri"/>
                <a:cs typeface="Calibri"/>
              </a:defRPr>
            </a:lvl1pPr>
            <a:lvl2pPr>
              <a:defRPr sz="1050" b="0">
                <a:solidFill>
                  <a:srgbClr val="333333"/>
                </a:solidFill>
                <a:latin typeface="Calibri"/>
                <a:ea typeface="Calibri"/>
                <a:cs typeface="Calibri"/>
              </a:defRPr>
            </a:lvl2pPr>
            <a:lvl3pPr>
              <a:defRPr sz="1050" b="0">
                <a:solidFill>
                  <a:srgbClr val="333333"/>
                </a:solidFill>
                <a:latin typeface="Calibri"/>
                <a:ea typeface="Calibri"/>
                <a:cs typeface="Calibri"/>
              </a:defRPr>
            </a:lvl3pPr>
            <a:lvl4pPr>
              <a:defRPr sz="1050" b="0">
                <a:solidFill>
                  <a:srgbClr val="333333"/>
                </a:solidFill>
                <a:latin typeface="Calibri"/>
                <a:ea typeface="Calibri"/>
                <a:cs typeface="Calibri"/>
              </a:defRPr>
            </a:lvl4pPr>
            <a:lvl5pPr>
              <a:defRPr sz="1050" b="0">
                <a:solidFill>
                  <a:srgbClr val="333333"/>
                </a:solidFill>
                <a:latin typeface="Calibri"/>
                <a:ea typeface="Calibri"/>
                <a:cs typeface="Calibri"/>
              </a:defRPr>
            </a:lvl5pPr>
            <a:lvl6pPr>
              <a:defRPr sz="1050" b="0">
                <a:solidFill>
                  <a:srgbClr val="333333"/>
                </a:solidFill>
                <a:latin typeface="Calibri"/>
                <a:ea typeface="Calibri"/>
                <a:cs typeface="Calibri"/>
              </a:defRPr>
            </a:lvl6pPr>
            <a:lvl7pPr>
              <a:defRPr sz="1050" b="0">
                <a:solidFill>
                  <a:srgbClr val="333333"/>
                </a:solidFill>
                <a:latin typeface="Calibri"/>
                <a:ea typeface="Calibri"/>
                <a:cs typeface="Calibri"/>
              </a:defRPr>
            </a:lvl7pPr>
            <a:lvl8pPr>
              <a:defRPr sz="1050" b="0">
                <a:solidFill>
                  <a:srgbClr val="333333"/>
                </a:solidFill>
                <a:latin typeface="Calibri"/>
                <a:ea typeface="Calibri"/>
                <a:cs typeface="Calibri"/>
              </a:defRPr>
            </a:lvl8pPr>
            <a:lvl9pPr>
              <a:defRPr sz="1050" b="0">
                <a:solidFill>
                  <a:srgbClr val="333333"/>
                </a:solidFill>
                <a:latin typeface="Calibri"/>
                <a:ea typeface="Calibri"/>
                <a:cs typeface="Calibri"/>
              </a:defRPr>
            </a:lvl9pPr>
          </a:lstStyle>
          <a:p>
            <a:pPr>
              <a:defRPr sz="1050" b="0">
                <a:solidFill>
                  <a:srgbClr val="333333"/>
                </a:solidFill>
                <a:latin typeface="Calibri"/>
                <a:ea typeface="Calibri"/>
                <a:cs typeface="Calibri"/>
              </a:defRPr>
            </a:pPr>
            <a:r>
              <a:rPr sz="1050" b="0">
                <a:solidFill>
                  <a:srgbClr val="333333"/>
                </a:solidFill>
                <a:latin typeface="Calibri"/>
                <a:ea typeface="Calibri"/>
                <a:cs typeface="Calibri"/>
              </a:rPr>
              <a:t>[N] Radotich / NASA, Conceptual Design of Tiltrotor Aircraft for Urban Air Mobility (2022), pp. 4–13, Tables 2–4 (pp. 15–17). https://rotorcraft.arc.nasa.gov/Publications/files/Michael_Radotich_13-Jan-22_03-47-02.pdf</a:t>
            </a:r>
          </a:p>
          <a:p>
            <a:pPr>
              <a:defRPr sz="1050" b="0">
                <a:solidFill>
                  <a:srgbClr val="333333"/>
                </a:solidFill>
                <a:latin typeface="Calibri"/>
                <a:ea typeface="Calibri"/>
                <a:cs typeface="Calibri"/>
              </a:defRPr>
            </a:pPr>
            <a:r>
              <a:rPr sz="1050" b="0">
                <a:solidFill>
                  <a:srgbClr val="333333"/>
                </a:solidFill>
                <a:latin typeface="Calibri"/>
                <a:ea typeface="Calibri"/>
                <a:cs typeface="Calibri"/>
              </a:rPr>
              <a:t>[T] Current NDARC predictions: nasa-tr-sizing-20261028*; research/nasa-tr-sizing-20261028/all-results.json, sweep-summary.json and final-baseline-comparison.json.</a:t>
            </a:r>
          </a:p>
        </p:txBody>
      </p:sp>
      <p:sp>
        <p:nvSpPr>
          <p:cNvPr id="4" name="Rectangle 3">
            <a:extLst>
              <a:ext uri="{FF2B5EF4-FFF2-40B4-BE49-F238E27FC236}">
                <a16:creationId xmlns:a16="http://schemas.microsoft.com/office/drawing/2014/main" id="{36AED032-95EF-4BBB-8815-E8C912B998B8}"/>
              </a:ext>
            </a:extLst>
          </p:cNvPr>
          <p:cNvSpPr>
            <a:spLocks noGrp="1"/>
          </p:cNvSpPr>
          <p:nvPr/>
        </p:nvSpPr>
        <p:spPr>
          <a:xfrm>
            <a:off x="11430000" y="6553200"/>
            <a:ext cx="333375" cy="209550"/>
          </a:xfrm>
          <a:prstGeom prst="rect">
            <a:avLst/>
          </a:prstGeom>
          <a:noFill/>
          <a:ln w="0">
            <a:noFill/>
          </a:ln>
        </p:spPr>
        <p:txBody>
          <a:bodyPr lIns="0" tIns="0" rIns="0" bIns="0"/>
          <a:lstStyle>
            <a:defPPr>
              <a:defRPr sz="1125" b="0">
                <a:solidFill>
                  <a:srgbClr val="000000"/>
                </a:solidFill>
                <a:latin typeface="Calibri"/>
                <a:ea typeface="Calibri"/>
                <a:cs typeface="Calibri"/>
              </a:defRPr>
            </a:defPPr>
            <a:lvl1pPr>
              <a:defRPr sz="1125" b="0">
                <a:solidFill>
                  <a:srgbClr val="000000"/>
                </a:solidFill>
                <a:latin typeface="Calibri"/>
                <a:ea typeface="Calibri"/>
                <a:cs typeface="Calibri"/>
              </a:defRPr>
            </a:lvl1pPr>
            <a:lvl2pPr>
              <a:defRPr sz="1125" b="0">
                <a:solidFill>
                  <a:srgbClr val="000000"/>
                </a:solidFill>
                <a:latin typeface="Calibri"/>
                <a:ea typeface="Calibri"/>
                <a:cs typeface="Calibri"/>
              </a:defRPr>
            </a:lvl2pPr>
            <a:lvl3pPr>
              <a:defRPr sz="1125" b="0">
                <a:solidFill>
                  <a:srgbClr val="000000"/>
                </a:solidFill>
                <a:latin typeface="Calibri"/>
                <a:ea typeface="Calibri"/>
                <a:cs typeface="Calibri"/>
              </a:defRPr>
            </a:lvl3pPr>
            <a:lvl4pPr>
              <a:defRPr sz="1125" b="0">
                <a:solidFill>
                  <a:srgbClr val="000000"/>
                </a:solidFill>
                <a:latin typeface="Calibri"/>
                <a:ea typeface="Calibri"/>
                <a:cs typeface="Calibri"/>
              </a:defRPr>
            </a:lvl4pPr>
            <a:lvl5pPr>
              <a:defRPr sz="1125" b="0">
                <a:solidFill>
                  <a:srgbClr val="000000"/>
                </a:solidFill>
                <a:latin typeface="Calibri"/>
                <a:ea typeface="Calibri"/>
                <a:cs typeface="Calibri"/>
              </a:defRPr>
            </a:lvl5pPr>
            <a:lvl6pPr>
              <a:defRPr sz="1125" b="0">
                <a:solidFill>
                  <a:srgbClr val="000000"/>
                </a:solidFill>
                <a:latin typeface="Calibri"/>
                <a:ea typeface="Calibri"/>
                <a:cs typeface="Calibri"/>
              </a:defRPr>
            </a:lvl6pPr>
            <a:lvl7pPr>
              <a:defRPr sz="1125" b="0">
                <a:solidFill>
                  <a:srgbClr val="000000"/>
                </a:solidFill>
                <a:latin typeface="Calibri"/>
                <a:ea typeface="Calibri"/>
                <a:cs typeface="Calibri"/>
              </a:defRPr>
            </a:lvl7pPr>
            <a:lvl8pPr>
              <a:defRPr sz="1125" b="0">
                <a:solidFill>
                  <a:srgbClr val="000000"/>
                </a:solidFill>
                <a:latin typeface="Calibri"/>
                <a:ea typeface="Calibri"/>
                <a:cs typeface="Calibri"/>
              </a:defRPr>
            </a:lvl8pPr>
            <a:lvl9pPr>
              <a:defRPr sz="1125" b="0">
                <a:solidFill>
                  <a:srgbClr val="000000"/>
                </a:solidFill>
                <a:latin typeface="Calibri"/>
                <a:ea typeface="Calibri"/>
                <a:cs typeface="Calibri"/>
              </a:defRPr>
            </a:lvl9pPr>
          </a:lstStyle>
          <a:p>
            <a:pPr>
              <a:defRPr sz="1125" b="0">
                <a:solidFill>
                  <a:srgbClr val="000000"/>
                </a:solidFill>
                <a:latin typeface="Calibri"/>
                <a:ea typeface="Calibri"/>
                <a:cs typeface="Calibri"/>
              </a:defRPr>
            </a:pPr>
            <a:r>
              <a:rPr sz="1125" b="0">
                <a:solidFill>
                  <a:srgbClr val="000000"/>
                </a:solidFill>
                <a:latin typeface="Calibri"/>
                <a:ea typeface="Calibri"/>
                <a:cs typeface="Calibri"/>
              </a:rPr>
              <a:t>49</a:t>
            </a:r>
          </a:p>
        </p:txBody>
      </p:sp>
      <p:graphicFrame>
        <p:nvGraphicFramePr>
          <p:cNvPr id="5" name="Chart">
            <a:extLst>
              <a:ext uri="{FF2B5EF4-FFF2-40B4-BE49-F238E27FC236}">
                <a16:creationId xmlns:a16="http://schemas.microsoft.com/office/drawing/2014/main" id="{E9212522-C2EF-4DDC-91BA-51D27D325066}"/>
              </a:ext>
            </a:extLst>
          </p:cNvPr>
          <p:cNvGraphicFramePr/>
          <p:nvPr/>
        </p:nvGraphicFramePr>
        <p:xfrm>
          <a:off x="476250" y="1762125"/>
          <a:ext cx="5476875" cy="3333750"/>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id="{AF030FB5-14FE-4620-BCFD-55954F7134DB}"/>
              </a:ext>
            </a:extLst>
          </p:cNvPr>
          <p:cNvSpPr>
            <a:spLocks noGrp="1"/>
          </p:cNvSpPr>
          <p:nvPr/>
        </p:nvSpPr>
        <p:spPr>
          <a:xfrm>
            <a:off x="619125" y="5191125"/>
            <a:ext cx="5238750" cy="266700"/>
          </a:xfrm>
          <a:prstGeom prst="rect">
            <a:avLst/>
          </a:prstGeom>
          <a:noFill/>
          <a:ln w="0">
            <a:noFill/>
          </a:ln>
        </p:spPr>
        <p:txBody>
          <a:bodyPr lIns="0" tIns="0" rIns="0" bIns="0"/>
          <a:lstStyle>
            <a:defPPr>
              <a:defRPr sz="1575" b="1">
                <a:solidFill>
                  <a:srgbClr val="000000"/>
                </a:solidFill>
                <a:latin typeface="Calibri"/>
                <a:ea typeface="Calibri"/>
                <a:cs typeface="Calibri"/>
              </a:defRPr>
            </a:defPPr>
            <a:lvl1pPr>
              <a:defRPr sz="1575" b="1">
                <a:solidFill>
                  <a:srgbClr val="000000"/>
                </a:solidFill>
                <a:latin typeface="Calibri"/>
                <a:ea typeface="Calibri"/>
                <a:cs typeface="Calibri"/>
              </a:defRPr>
            </a:lvl1pPr>
            <a:lvl2pPr>
              <a:defRPr sz="1575" b="1">
                <a:solidFill>
                  <a:srgbClr val="000000"/>
                </a:solidFill>
                <a:latin typeface="Calibri"/>
                <a:ea typeface="Calibri"/>
                <a:cs typeface="Calibri"/>
              </a:defRPr>
            </a:lvl2pPr>
            <a:lvl3pPr>
              <a:defRPr sz="1575" b="1">
                <a:solidFill>
                  <a:srgbClr val="000000"/>
                </a:solidFill>
                <a:latin typeface="Calibri"/>
                <a:ea typeface="Calibri"/>
                <a:cs typeface="Calibri"/>
              </a:defRPr>
            </a:lvl3pPr>
            <a:lvl4pPr>
              <a:defRPr sz="1575" b="1">
                <a:solidFill>
                  <a:srgbClr val="000000"/>
                </a:solidFill>
                <a:latin typeface="Calibri"/>
                <a:ea typeface="Calibri"/>
                <a:cs typeface="Calibri"/>
              </a:defRPr>
            </a:lvl4pPr>
            <a:lvl5pPr>
              <a:defRPr sz="1575" b="1">
                <a:solidFill>
                  <a:srgbClr val="000000"/>
                </a:solidFill>
                <a:latin typeface="Calibri"/>
                <a:ea typeface="Calibri"/>
                <a:cs typeface="Calibri"/>
              </a:defRPr>
            </a:lvl5pPr>
            <a:lvl6pPr>
              <a:defRPr sz="1575" b="1">
                <a:solidFill>
                  <a:srgbClr val="000000"/>
                </a:solidFill>
                <a:latin typeface="Calibri"/>
                <a:ea typeface="Calibri"/>
                <a:cs typeface="Calibri"/>
              </a:defRPr>
            </a:lvl6pPr>
            <a:lvl7pPr>
              <a:defRPr sz="1575" b="1">
                <a:solidFill>
                  <a:srgbClr val="000000"/>
                </a:solidFill>
                <a:latin typeface="Calibri"/>
                <a:ea typeface="Calibri"/>
                <a:cs typeface="Calibri"/>
              </a:defRPr>
            </a:lvl7pPr>
            <a:lvl8pPr>
              <a:defRPr sz="1575" b="1">
                <a:solidFill>
                  <a:srgbClr val="000000"/>
                </a:solidFill>
                <a:latin typeface="Calibri"/>
                <a:ea typeface="Calibri"/>
                <a:cs typeface="Calibri"/>
              </a:defRPr>
            </a:lvl8pPr>
            <a:lvl9pPr>
              <a:defRPr sz="1575" b="1">
                <a:solidFill>
                  <a:srgbClr val="000000"/>
                </a:solidFill>
                <a:latin typeface="Calibri"/>
                <a:ea typeface="Calibri"/>
                <a:cs typeface="Calibri"/>
              </a:defRPr>
            </a:lvl9pPr>
          </a:lstStyle>
          <a:p>
            <a:pPr>
              <a:defRPr sz="1575" b="1">
                <a:solidFill>
                  <a:srgbClr val="000000"/>
                </a:solidFill>
                <a:latin typeface="Calibri"/>
                <a:ea typeface="Calibri"/>
                <a:cs typeface="Calibri"/>
              </a:defRPr>
            </a:pPr>
            <a:r>
              <a:rPr sz="1575" b="1">
                <a:solidFill>
                  <a:srgbClr val="000000"/>
                </a:solidFill>
                <a:latin typeface="Calibri"/>
                <a:ea typeface="Calibri"/>
                <a:cs typeface="Calibri"/>
              </a:rPr>
              <a:t>8 / 9 accepted samples</a:t>
            </a:r>
          </a:p>
        </p:txBody>
      </p:sp>
      <p:sp>
        <p:nvSpPr>
          <p:cNvPr id="7" name="Rectangle 6">
            <a:extLst>
              <a:ext uri="{FF2B5EF4-FFF2-40B4-BE49-F238E27FC236}">
                <a16:creationId xmlns:a16="http://schemas.microsoft.com/office/drawing/2014/main" id="{49D6FCC4-B60D-4C0E-AA8D-9C4F67EBD30D}"/>
              </a:ext>
            </a:extLst>
          </p:cNvPr>
          <p:cNvSpPr>
            <a:spLocks noGrp="1"/>
          </p:cNvSpPr>
          <p:nvPr/>
        </p:nvSpPr>
        <p:spPr>
          <a:xfrm>
            <a:off x="619125" y="5534025"/>
            <a:ext cx="5238750" cy="438150"/>
          </a:xfrm>
          <a:prstGeom prst="rect">
            <a:avLst/>
          </a:prstGeom>
          <a:noFill/>
          <a:ln w="0">
            <a:noFill/>
          </a:ln>
        </p:spPr>
        <p:txBody>
          <a:bodyPr lIns="0" tIns="0" rIns="0" bIns="0"/>
          <a:lstStyle>
            <a:defPPr>
              <a:defRPr sz="1200" b="0">
                <a:solidFill>
                  <a:srgbClr val="000000"/>
                </a:solidFill>
                <a:latin typeface="Calibri"/>
                <a:ea typeface="Calibri"/>
                <a:cs typeface="Calibri"/>
              </a:defRPr>
            </a:defPPr>
            <a:lvl1pPr>
              <a:defRPr sz="1200" b="0">
                <a:solidFill>
                  <a:srgbClr val="000000"/>
                </a:solidFill>
                <a:latin typeface="Calibri"/>
                <a:ea typeface="Calibri"/>
                <a:cs typeface="Calibri"/>
              </a:defRPr>
            </a:lvl1pPr>
            <a:lvl2pPr>
              <a:defRPr sz="1200" b="0">
                <a:solidFill>
                  <a:srgbClr val="000000"/>
                </a:solidFill>
                <a:latin typeface="Calibri"/>
                <a:ea typeface="Calibri"/>
                <a:cs typeface="Calibri"/>
              </a:defRPr>
            </a:lvl2pPr>
            <a:lvl3pPr>
              <a:defRPr sz="1200" b="0">
                <a:solidFill>
                  <a:srgbClr val="000000"/>
                </a:solidFill>
                <a:latin typeface="Calibri"/>
                <a:ea typeface="Calibri"/>
                <a:cs typeface="Calibri"/>
              </a:defRPr>
            </a:lvl3pPr>
            <a:lvl4pPr>
              <a:defRPr sz="1200" b="0">
                <a:solidFill>
                  <a:srgbClr val="000000"/>
                </a:solidFill>
                <a:latin typeface="Calibri"/>
                <a:ea typeface="Calibri"/>
                <a:cs typeface="Calibri"/>
              </a:defRPr>
            </a:lvl4pPr>
            <a:lvl5pPr>
              <a:defRPr sz="1200" b="0">
                <a:solidFill>
                  <a:srgbClr val="000000"/>
                </a:solidFill>
                <a:latin typeface="Calibri"/>
                <a:ea typeface="Calibri"/>
                <a:cs typeface="Calibri"/>
              </a:defRPr>
            </a:lvl5pPr>
            <a:lvl6pPr>
              <a:defRPr sz="1200" b="0">
                <a:solidFill>
                  <a:srgbClr val="000000"/>
                </a:solidFill>
                <a:latin typeface="Calibri"/>
                <a:ea typeface="Calibri"/>
                <a:cs typeface="Calibri"/>
              </a:defRPr>
            </a:lvl6pPr>
            <a:lvl7pPr>
              <a:defRPr sz="1200" b="0">
                <a:solidFill>
                  <a:srgbClr val="000000"/>
                </a:solidFill>
                <a:latin typeface="Calibri"/>
                <a:ea typeface="Calibri"/>
                <a:cs typeface="Calibri"/>
              </a:defRPr>
            </a:lvl7pPr>
            <a:lvl8pPr>
              <a:defRPr sz="1200" b="0">
                <a:solidFill>
                  <a:srgbClr val="000000"/>
                </a:solidFill>
                <a:latin typeface="Calibri"/>
                <a:ea typeface="Calibri"/>
                <a:cs typeface="Calibri"/>
              </a:defRPr>
            </a:lvl8pPr>
            <a:lvl9pPr>
              <a:defRPr sz="1200" b="0">
                <a:solidFill>
                  <a:srgbClr val="000000"/>
                </a:solidFill>
                <a:latin typeface="Calibri"/>
                <a:ea typeface="Calibri"/>
                <a:cs typeface="Calibri"/>
              </a:defRPr>
            </a:lvl9pPr>
          </a:lstStyle>
          <a:p>
            <a:pPr>
              <a:defRPr sz="1200" b="0">
                <a:solidFill>
                  <a:srgbClr val="000000"/>
                </a:solidFill>
                <a:latin typeface="Calibri"/>
                <a:ea typeface="Calibri"/>
                <a:cs typeface="Calibri"/>
              </a:defRPr>
            </a:pPr>
            <a:r>
              <a:rPr sz="1200" b="0">
                <a:solidFill>
                  <a:srgbClr val="000000"/>
                </a:solidFill>
                <a:latin typeface="Calibri"/>
                <a:ea typeface="Calibri"/>
                <a:cs typeface="Calibri"/>
              </a:rPr>
              <a:t>12: nonfinite</a:t>
            </a:r>
          </a:p>
        </p:txBody>
      </p:sp>
      <p:graphicFrame>
        <p:nvGraphicFramePr>
          <p:cNvPr id="8" name="Chart">
            <a:extLst>
              <a:ext uri="{FF2B5EF4-FFF2-40B4-BE49-F238E27FC236}">
                <a16:creationId xmlns:a16="http://schemas.microsoft.com/office/drawing/2014/main" id="{C3294266-CE98-4755-8A6E-70C3E88CDA93}"/>
              </a:ext>
            </a:extLst>
          </p:cNvPr>
          <p:cNvGraphicFramePr/>
          <p:nvPr/>
        </p:nvGraphicFramePr>
        <p:xfrm>
          <a:off x="6191250" y="1762125"/>
          <a:ext cx="5476875" cy="3333750"/>
        </p:xfrm>
        <a:graphic>
          <a:graphicData uri="http://schemas.openxmlformats.org/drawingml/2006/chart">
            <c:chart xmlns:c="http://schemas.openxmlformats.org/drawingml/2006/chart" xmlns:r="http://schemas.openxmlformats.org/officeDocument/2006/relationships" r:id="rId4"/>
          </a:graphicData>
        </a:graphic>
      </p:graphicFrame>
      <p:sp>
        <p:nvSpPr>
          <p:cNvPr id="9" name="Rectangle 8">
            <a:extLst>
              <a:ext uri="{FF2B5EF4-FFF2-40B4-BE49-F238E27FC236}">
                <a16:creationId xmlns:a16="http://schemas.microsoft.com/office/drawing/2014/main" id="{DAEA7155-56BC-4A74-9F9F-DEB43C4E4ACB}"/>
              </a:ext>
            </a:extLst>
          </p:cNvPr>
          <p:cNvSpPr>
            <a:spLocks noGrp="1"/>
          </p:cNvSpPr>
          <p:nvPr/>
        </p:nvSpPr>
        <p:spPr>
          <a:xfrm>
            <a:off x="6334125" y="5191125"/>
            <a:ext cx="5238750" cy="266700"/>
          </a:xfrm>
          <a:prstGeom prst="rect">
            <a:avLst/>
          </a:prstGeom>
          <a:noFill/>
          <a:ln w="0">
            <a:noFill/>
          </a:ln>
        </p:spPr>
        <p:txBody>
          <a:bodyPr lIns="0" tIns="0" rIns="0" bIns="0"/>
          <a:lstStyle>
            <a:defPPr>
              <a:defRPr sz="1575" b="1">
                <a:solidFill>
                  <a:srgbClr val="000000"/>
                </a:solidFill>
                <a:latin typeface="Calibri"/>
                <a:ea typeface="Calibri"/>
                <a:cs typeface="Calibri"/>
              </a:defRPr>
            </a:defPPr>
            <a:lvl1pPr>
              <a:defRPr sz="1575" b="1">
                <a:solidFill>
                  <a:srgbClr val="000000"/>
                </a:solidFill>
                <a:latin typeface="Calibri"/>
                <a:ea typeface="Calibri"/>
                <a:cs typeface="Calibri"/>
              </a:defRPr>
            </a:lvl1pPr>
            <a:lvl2pPr>
              <a:defRPr sz="1575" b="1">
                <a:solidFill>
                  <a:srgbClr val="000000"/>
                </a:solidFill>
                <a:latin typeface="Calibri"/>
                <a:ea typeface="Calibri"/>
                <a:cs typeface="Calibri"/>
              </a:defRPr>
            </a:lvl2pPr>
            <a:lvl3pPr>
              <a:defRPr sz="1575" b="1">
                <a:solidFill>
                  <a:srgbClr val="000000"/>
                </a:solidFill>
                <a:latin typeface="Calibri"/>
                <a:ea typeface="Calibri"/>
                <a:cs typeface="Calibri"/>
              </a:defRPr>
            </a:lvl3pPr>
            <a:lvl4pPr>
              <a:defRPr sz="1575" b="1">
                <a:solidFill>
                  <a:srgbClr val="000000"/>
                </a:solidFill>
                <a:latin typeface="Calibri"/>
                <a:ea typeface="Calibri"/>
                <a:cs typeface="Calibri"/>
              </a:defRPr>
            </a:lvl4pPr>
            <a:lvl5pPr>
              <a:defRPr sz="1575" b="1">
                <a:solidFill>
                  <a:srgbClr val="000000"/>
                </a:solidFill>
                <a:latin typeface="Calibri"/>
                <a:ea typeface="Calibri"/>
                <a:cs typeface="Calibri"/>
              </a:defRPr>
            </a:lvl5pPr>
            <a:lvl6pPr>
              <a:defRPr sz="1575" b="1">
                <a:solidFill>
                  <a:srgbClr val="000000"/>
                </a:solidFill>
                <a:latin typeface="Calibri"/>
                <a:ea typeface="Calibri"/>
                <a:cs typeface="Calibri"/>
              </a:defRPr>
            </a:lvl6pPr>
            <a:lvl7pPr>
              <a:defRPr sz="1575" b="1">
                <a:solidFill>
                  <a:srgbClr val="000000"/>
                </a:solidFill>
                <a:latin typeface="Calibri"/>
                <a:ea typeface="Calibri"/>
                <a:cs typeface="Calibri"/>
              </a:defRPr>
            </a:lvl7pPr>
            <a:lvl8pPr>
              <a:defRPr sz="1575" b="1">
                <a:solidFill>
                  <a:srgbClr val="000000"/>
                </a:solidFill>
                <a:latin typeface="Calibri"/>
                <a:ea typeface="Calibri"/>
                <a:cs typeface="Calibri"/>
              </a:defRPr>
            </a:lvl8pPr>
            <a:lvl9pPr>
              <a:defRPr sz="1575" b="1">
                <a:solidFill>
                  <a:srgbClr val="000000"/>
                </a:solidFill>
                <a:latin typeface="Calibri"/>
                <a:ea typeface="Calibri"/>
                <a:cs typeface="Calibri"/>
              </a:defRPr>
            </a:lvl9pPr>
          </a:lstStyle>
          <a:p>
            <a:pPr>
              <a:defRPr sz="1575" b="1">
                <a:solidFill>
                  <a:srgbClr val="000000"/>
                </a:solidFill>
                <a:latin typeface="Calibri"/>
                <a:ea typeface="Calibri"/>
                <a:cs typeface="Calibri"/>
              </a:defRPr>
            </a:pPr>
            <a:r>
              <a:rPr sz="1575" b="1">
                <a:solidFill>
                  <a:srgbClr val="000000"/>
                </a:solidFill>
                <a:latin typeface="Calibri"/>
                <a:ea typeface="Calibri"/>
                <a:cs typeface="Calibri"/>
              </a:rPr>
              <a:t>8 / 9 accepted samples</a:t>
            </a:r>
          </a:p>
        </p:txBody>
      </p:sp>
      <p:sp>
        <p:nvSpPr>
          <p:cNvPr id="10" name="Rectangle 9">
            <a:extLst>
              <a:ext uri="{FF2B5EF4-FFF2-40B4-BE49-F238E27FC236}">
                <a16:creationId xmlns:a16="http://schemas.microsoft.com/office/drawing/2014/main" id="{99A023FE-D640-43A3-9EDE-F3B76ECE0D77}"/>
              </a:ext>
            </a:extLst>
          </p:cNvPr>
          <p:cNvSpPr>
            <a:spLocks noGrp="1"/>
          </p:cNvSpPr>
          <p:nvPr/>
        </p:nvSpPr>
        <p:spPr>
          <a:xfrm>
            <a:off x="6334125" y="5534025"/>
            <a:ext cx="5238750" cy="438150"/>
          </a:xfrm>
          <a:prstGeom prst="rect">
            <a:avLst/>
          </a:prstGeom>
          <a:noFill/>
          <a:ln w="0">
            <a:noFill/>
          </a:ln>
        </p:spPr>
        <p:txBody>
          <a:bodyPr lIns="0" tIns="0" rIns="0" bIns="0"/>
          <a:lstStyle>
            <a:defPPr>
              <a:defRPr sz="1200" b="0">
                <a:solidFill>
                  <a:srgbClr val="000000"/>
                </a:solidFill>
                <a:latin typeface="Calibri"/>
                <a:ea typeface="Calibri"/>
                <a:cs typeface="Calibri"/>
              </a:defRPr>
            </a:defPPr>
            <a:lvl1pPr>
              <a:defRPr sz="1200" b="0">
                <a:solidFill>
                  <a:srgbClr val="000000"/>
                </a:solidFill>
                <a:latin typeface="Calibri"/>
                <a:ea typeface="Calibri"/>
                <a:cs typeface="Calibri"/>
              </a:defRPr>
            </a:lvl1pPr>
            <a:lvl2pPr>
              <a:defRPr sz="1200" b="0">
                <a:solidFill>
                  <a:srgbClr val="000000"/>
                </a:solidFill>
                <a:latin typeface="Calibri"/>
                <a:ea typeface="Calibri"/>
                <a:cs typeface="Calibri"/>
              </a:defRPr>
            </a:lvl2pPr>
            <a:lvl3pPr>
              <a:defRPr sz="1200" b="0">
                <a:solidFill>
                  <a:srgbClr val="000000"/>
                </a:solidFill>
                <a:latin typeface="Calibri"/>
                <a:ea typeface="Calibri"/>
                <a:cs typeface="Calibri"/>
              </a:defRPr>
            </a:lvl3pPr>
            <a:lvl4pPr>
              <a:defRPr sz="1200" b="0">
                <a:solidFill>
                  <a:srgbClr val="000000"/>
                </a:solidFill>
                <a:latin typeface="Calibri"/>
                <a:ea typeface="Calibri"/>
                <a:cs typeface="Calibri"/>
              </a:defRPr>
            </a:lvl4pPr>
            <a:lvl5pPr>
              <a:defRPr sz="1200" b="0">
                <a:solidFill>
                  <a:srgbClr val="000000"/>
                </a:solidFill>
                <a:latin typeface="Calibri"/>
                <a:ea typeface="Calibri"/>
                <a:cs typeface="Calibri"/>
              </a:defRPr>
            </a:lvl5pPr>
            <a:lvl6pPr>
              <a:defRPr sz="1200" b="0">
                <a:solidFill>
                  <a:srgbClr val="000000"/>
                </a:solidFill>
                <a:latin typeface="Calibri"/>
                <a:ea typeface="Calibri"/>
                <a:cs typeface="Calibri"/>
              </a:defRPr>
            </a:lvl6pPr>
            <a:lvl7pPr>
              <a:defRPr sz="1200" b="0">
                <a:solidFill>
                  <a:srgbClr val="000000"/>
                </a:solidFill>
                <a:latin typeface="Calibri"/>
                <a:ea typeface="Calibri"/>
                <a:cs typeface="Calibri"/>
              </a:defRPr>
            </a:lvl7pPr>
            <a:lvl8pPr>
              <a:defRPr sz="1200" b="0">
                <a:solidFill>
                  <a:srgbClr val="000000"/>
                </a:solidFill>
                <a:latin typeface="Calibri"/>
                <a:ea typeface="Calibri"/>
                <a:cs typeface="Calibri"/>
              </a:defRPr>
            </a:lvl8pPr>
            <a:lvl9pPr>
              <a:defRPr sz="1200" b="0">
                <a:solidFill>
                  <a:srgbClr val="000000"/>
                </a:solidFill>
                <a:latin typeface="Calibri"/>
                <a:ea typeface="Calibri"/>
                <a:cs typeface="Calibri"/>
              </a:defRPr>
            </a:lvl9pPr>
          </a:lstStyle>
          <a:p>
            <a:pPr>
              <a:defRPr sz="1200" b="0">
                <a:solidFill>
                  <a:srgbClr val="000000"/>
                </a:solidFill>
                <a:latin typeface="Calibri"/>
                <a:ea typeface="Calibri"/>
                <a:cs typeface="Calibri"/>
              </a:defRPr>
            </a:pPr>
            <a:r>
              <a:rPr sz="1200" b="0">
                <a:solidFill>
                  <a:srgbClr val="000000"/>
                </a:solidFill>
                <a:latin typeface="Calibri"/>
                <a:ea typeface="Calibri"/>
                <a:cs typeface="Calibri"/>
              </a:rPr>
              <a:t>70: timeout</a:t>
            </a:r>
          </a:p>
        </p:txBody>
      </p:sp>
    </p:spTree>
    <p:extLst>
      <p:ext uri="{BB962C8B-B14F-4D97-AF65-F5344CB8AC3E}">
        <p14:creationId xmlns:p14="http://schemas.microsoft.com/office/powerpoint/2010/main" val="6302591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9167246-A737-442A-A6E2-D50753FAF080}"/>
              </a:ext>
            </a:extLst>
          </p:cNvPr>
          <p:cNvSpPr>
            <a:spLocks noGrp="1"/>
          </p:cNvSpPr>
          <p:nvPr/>
        </p:nvSpPr>
        <p:spPr>
          <a:xfrm>
            <a:off x="838200" y="361950"/>
            <a:ext cx="10572750" cy="495300"/>
          </a:xfrm>
          <a:prstGeom prst="rect">
            <a:avLst/>
          </a:prstGeom>
          <a:noFill/>
          <a:ln w="0">
            <a:noFill/>
          </a:ln>
        </p:spPr>
        <p:txBody>
          <a:bodyPr lIns="0" tIns="0" rIns="0" bIns="0"/>
          <a:lstStyle>
            <a:defPPr>
              <a:defRPr sz="2400" b="1">
                <a:solidFill>
                  <a:srgbClr val="000000"/>
                </a:solidFill>
                <a:latin typeface="Calibri"/>
                <a:ea typeface="Calibri"/>
                <a:cs typeface="Calibri"/>
              </a:defRPr>
            </a:defPPr>
            <a:lvl1pPr>
              <a:defRPr sz="2400" b="1">
                <a:solidFill>
                  <a:srgbClr val="000000"/>
                </a:solidFill>
                <a:latin typeface="Calibri"/>
                <a:ea typeface="Calibri"/>
                <a:cs typeface="Calibri"/>
              </a:defRPr>
            </a:lvl1pPr>
            <a:lvl2pPr>
              <a:defRPr sz="2400" b="1">
                <a:solidFill>
                  <a:srgbClr val="000000"/>
                </a:solidFill>
                <a:latin typeface="Calibri"/>
                <a:ea typeface="Calibri"/>
                <a:cs typeface="Calibri"/>
              </a:defRPr>
            </a:lvl2pPr>
            <a:lvl3pPr>
              <a:defRPr sz="2400" b="1">
                <a:solidFill>
                  <a:srgbClr val="000000"/>
                </a:solidFill>
                <a:latin typeface="Calibri"/>
                <a:ea typeface="Calibri"/>
                <a:cs typeface="Calibri"/>
              </a:defRPr>
            </a:lvl3pPr>
            <a:lvl4pPr>
              <a:defRPr sz="2400" b="1">
                <a:solidFill>
                  <a:srgbClr val="000000"/>
                </a:solidFill>
                <a:latin typeface="Calibri"/>
                <a:ea typeface="Calibri"/>
                <a:cs typeface="Calibri"/>
              </a:defRPr>
            </a:lvl4pPr>
            <a:lvl5pPr>
              <a:defRPr sz="2400" b="1">
                <a:solidFill>
                  <a:srgbClr val="000000"/>
                </a:solidFill>
                <a:latin typeface="Calibri"/>
                <a:ea typeface="Calibri"/>
                <a:cs typeface="Calibri"/>
              </a:defRPr>
            </a:lvl5pPr>
            <a:lvl6pPr>
              <a:defRPr sz="2400" b="1">
                <a:solidFill>
                  <a:srgbClr val="000000"/>
                </a:solidFill>
                <a:latin typeface="Calibri"/>
                <a:ea typeface="Calibri"/>
                <a:cs typeface="Calibri"/>
              </a:defRPr>
            </a:lvl6pPr>
            <a:lvl7pPr>
              <a:defRPr sz="2400" b="1">
                <a:solidFill>
                  <a:srgbClr val="000000"/>
                </a:solidFill>
                <a:latin typeface="Calibri"/>
                <a:ea typeface="Calibri"/>
                <a:cs typeface="Calibri"/>
              </a:defRPr>
            </a:lvl7pPr>
            <a:lvl8pPr>
              <a:defRPr sz="2400" b="1">
                <a:solidFill>
                  <a:srgbClr val="000000"/>
                </a:solidFill>
                <a:latin typeface="Calibri"/>
                <a:ea typeface="Calibri"/>
                <a:cs typeface="Calibri"/>
              </a:defRPr>
            </a:lvl8pPr>
            <a:lvl9pPr>
              <a:defRPr sz="2400" b="1">
                <a:solidFill>
                  <a:srgbClr val="000000"/>
                </a:solidFill>
                <a:latin typeface="Calibri"/>
                <a:ea typeface="Calibri"/>
                <a:cs typeface="Calibri"/>
              </a:defRPr>
            </a:lvl9pPr>
          </a:lstStyle>
          <a:p>
            <a:pPr>
              <a:defRPr sz="2400" b="1">
                <a:solidFill>
                  <a:srgbClr val="000000"/>
                </a:solidFill>
                <a:latin typeface="Calibri"/>
                <a:ea typeface="Calibri"/>
                <a:cs typeface="Calibri"/>
              </a:defRPr>
            </a:pPr>
            <a:r>
              <a:rPr sz="2400" b="1">
                <a:solidFill>
                  <a:srgbClr val="000000"/>
                </a:solidFill>
                <a:latin typeface="Calibri"/>
                <a:ea typeface="Calibri"/>
                <a:cs typeface="Calibri"/>
              </a:rPr>
              <a:t>NASA turboshaft: final DL and tip speed</a:t>
            </a:r>
          </a:p>
        </p:txBody>
      </p:sp>
      <p:sp>
        <p:nvSpPr>
          <p:cNvPr id="2" name="Rectangle 1">
            <a:extLst>
              <a:ext uri="{FF2B5EF4-FFF2-40B4-BE49-F238E27FC236}">
                <a16:creationId xmlns:a16="http://schemas.microsoft.com/office/drawing/2014/main" id="{FA5E5F4F-F888-4F62-9B88-270FADFF6D25}"/>
              </a:ext>
            </a:extLst>
          </p:cNvPr>
          <p:cNvSpPr>
            <a:spLocks noGrp="1"/>
          </p:cNvSpPr>
          <p:nvPr/>
        </p:nvSpPr>
        <p:spPr>
          <a:xfrm>
            <a:off x="476250" y="1028700"/>
            <a:ext cx="11239500" cy="590550"/>
          </a:xfrm>
          <a:prstGeom prst="rect">
            <a:avLst/>
          </a:prstGeom>
          <a:noFill/>
          <a:ln w="0">
            <a:noFill/>
          </a:ln>
        </p:spPr>
        <p:txBody>
          <a:bodyPr lIns="0" tIns="0" rIns="0" bIns="0"/>
          <a:lstStyle>
            <a:defPPr>
              <a:defRPr sz="1575" b="0">
                <a:solidFill>
                  <a:srgbClr val="333333"/>
                </a:solidFill>
                <a:latin typeface="Calibri"/>
                <a:ea typeface="Calibri"/>
                <a:cs typeface="Calibri"/>
              </a:defRPr>
            </a:defPPr>
            <a:lvl1pPr>
              <a:defRPr sz="1575" b="0">
                <a:solidFill>
                  <a:srgbClr val="333333"/>
                </a:solidFill>
                <a:latin typeface="Calibri"/>
                <a:ea typeface="Calibri"/>
                <a:cs typeface="Calibri"/>
              </a:defRPr>
            </a:lvl1pPr>
            <a:lvl2pPr>
              <a:defRPr sz="1575" b="0">
                <a:solidFill>
                  <a:srgbClr val="333333"/>
                </a:solidFill>
                <a:latin typeface="Calibri"/>
                <a:ea typeface="Calibri"/>
                <a:cs typeface="Calibri"/>
              </a:defRPr>
            </a:lvl2pPr>
            <a:lvl3pPr>
              <a:defRPr sz="1575" b="0">
                <a:solidFill>
                  <a:srgbClr val="333333"/>
                </a:solidFill>
                <a:latin typeface="Calibri"/>
                <a:ea typeface="Calibri"/>
                <a:cs typeface="Calibri"/>
              </a:defRPr>
            </a:lvl3pPr>
            <a:lvl4pPr>
              <a:defRPr sz="1575" b="0">
                <a:solidFill>
                  <a:srgbClr val="333333"/>
                </a:solidFill>
                <a:latin typeface="Calibri"/>
                <a:ea typeface="Calibri"/>
                <a:cs typeface="Calibri"/>
              </a:defRPr>
            </a:lvl4pPr>
            <a:lvl5pPr>
              <a:defRPr sz="1575" b="0">
                <a:solidFill>
                  <a:srgbClr val="333333"/>
                </a:solidFill>
                <a:latin typeface="Calibri"/>
                <a:ea typeface="Calibri"/>
                <a:cs typeface="Calibri"/>
              </a:defRPr>
            </a:lvl5pPr>
            <a:lvl6pPr>
              <a:defRPr sz="1575" b="0">
                <a:solidFill>
                  <a:srgbClr val="333333"/>
                </a:solidFill>
                <a:latin typeface="Calibri"/>
                <a:ea typeface="Calibri"/>
                <a:cs typeface="Calibri"/>
              </a:defRPr>
            </a:lvl6pPr>
            <a:lvl7pPr>
              <a:defRPr sz="1575" b="0">
                <a:solidFill>
                  <a:srgbClr val="333333"/>
                </a:solidFill>
                <a:latin typeface="Calibri"/>
                <a:ea typeface="Calibri"/>
                <a:cs typeface="Calibri"/>
              </a:defRPr>
            </a:lvl7pPr>
            <a:lvl8pPr>
              <a:defRPr sz="1575" b="0">
                <a:solidFill>
                  <a:srgbClr val="333333"/>
                </a:solidFill>
                <a:latin typeface="Calibri"/>
                <a:ea typeface="Calibri"/>
                <a:cs typeface="Calibri"/>
              </a:defRPr>
            </a:lvl8pPr>
            <a:lvl9pPr>
              <a:defRPr sz="1575" b="0">
                <a:solidFill>
                  <a:srgbClr val="333333"/>
                </a:solidFill>
                <a:latin typeface="Calibri"/>
                <a:ea typeface="Calibri"/>
                <a:cs typeface="Calibri"/>
              </a:defRPr>
            </a:lvl9pPr>
          </a:lstStyle>
          <a:p>
            <a:pPr>
              <a:defRPr sz="1575" b="0">
                <a:solidFill>
                  <a:srgbClr val="333333"/>
                </a:solidFill>
                <a:latin typeface="Calibri"/>
                <a:ea typeface="Calibri"/>
                <a:cs typeface="Calibri"/>
              </a:defRPr>
            </a:pPr>
            <a:r>
              <a:rPr sz="1575" b="0">
                <a:solidFill>
                  <a:srgbClr val="333333"/>
                </a:solidFill>
                <a:latin typeface="Calibri"/>
                <a:ea typeface="Calibri"/>
                <a:cs typeface="Calibri"/>
              </a:rPr>
              <a:t>Current NDARC sizing curves use the isolated wing-fit correction. Failed samples are omitted from curves and retained in evidence. [T]</a:t>
            </a:r>
          </a:p>
        </p:txBody>
      </p:sp>
      <p:sp>
        <p:nvSpPr>
          <p:cNvPr id="3" name="Rectangle 2">
            <a:extLst>
              <a:ext uri="{FF2B5EF4-FFF2-40B4-BE49-F238E27FC236}">
                <a16:creationId xmlns:a16="http://schemas.microsoft.com/office/drawing/2014/main" id="{528B7B93-42D1-47C9-99BF-4D058EBD5515}"/>
              </a:ext>
            </a:extLst>
          </p:cNvPr>
          <p:cNvSpPr>
            <a:spLocks noGrp="1"/>
          </p:cNvSpPr>
          <p:nvPr/>
        </p:nvSpPr>
        <p:spPr>
          <a:xfrm>
            <a:off x="476250" y="6076950"/>
            <a:ext cx="11191875" cy="619125"/>
          </a:xfrm>
          <a:prstGeom prst="rect">
            <a:avLst/>
          </a:prstGeom>
          <a:noFill/>
          <a:ln w="0">
            <a:noFill/>
          </a:ln>
        </p:spPr>
        <p:txBody>
          <a:bodyPr lIns="0" tIns="0" rIns="0" bIns="0"/>
          <a:lstStyle>
            <a:defPPr>
              <a:defRPr sz="1050" b="0">
                <a:solidFill>
                  <a:srgbClr val="333333"/>
                </a:solidFill>
                <a:latin typeface="Calibri"/>
                <a:ea typeface="Calibri"/>
                <a:cs typeface="Calibri"/>
              </a:defRPr>
            </a:defPPr>
            <a:lvl1pPr>
              <a:defRPr sz="1050" b="0">
                <a:solidFill>
                  <a:srgbClr val="333333"/>
                </a:solidFill>
                <a:latin typeface="Calibri"/>
                <a:ea typeface="Calibri"/>
                <a:cs typeface="Calibri"/>
              </a:defRPr>
            </a:lvl1pPr>
            <a:lvl2pPr>
              <a:defRPr sz="1050" b="0">
                <a:solidFill>
                  <a:srgbClr val="333333"/>
                </a:solidFill>
                <a:latin typeface="Calibri"/>
                <a:ea typeface="Calibri"/>
                <a:cs typeface="Calibri"/>
              </a:defRPr>
            </a:lvl2pPr>
            <a:lvl3pPr>
              <a:defRPr sz="1050" b="0">
                <a:solidFill>
                  <a:srgbClr val="333333"/>
                </a:solidFill>
                <a:latin typeface="Calibri"/>
                <a:ea typeface="Calibri"/>
                <a:cs typeface="Calibri"/>
              </a:defRPr>
            </a:lvl3pPr>
            <a:lvl4pPr>
              <a:defRPr sz="1050" b="0">
                <a:solidFill>
                  <a:srgbClr val="333333"/>
                </a:solidFill>
                <a:latin typeface="Calibri"/>
                <a:ea typeface="Calibri"/>
                <a:cs typeface="Calibri"/>
              </a:defRPr>
            </a:lvl4pPr>
            <a:lvl5pPr>
              <a:defRPr sz="1050" b="0">
                <a:solidFill>
                  <a:srgbClr val="333333"/>
                </a:solidFill>
                <a:latin typeface="Calibri"/>
                <a:ea typeface="Calibri"/>
                <a:cs typeface="Calibri"/>
              </a:defRPr>
            </a:lvl5pPr>
            <a:lvl6pPr>
              <a:defRPr sz="1050" b="0">
                <a:solidFill>
                  <a:srgbClr val="333333"/>
                </a:solidFill>
                <a:latin typeface="Calibri"/>
                <a:ea typeface="Calibri"/>
                <a:cs typeface="Calibri"/>
              </a:defRPr>
            </a:lvl6pPr>
            <a:lvl7pPr>
              <a:defRPr sz="1050" b="0">
                <a:solidFill>
                  <a:srgbClr val="333333"/>
                </a:solidFill>
                <a:latin typeface="Calibri"/>
                <a:ea typeface="Calibri"/>
                <a:cs typeface="Calibri"/>
              </a:defRPr>
            </a:lvl7pPr>
            <a:lvl8pPr>
              <a:defRPr sz="1050" b="0">
                <a:solidFill>
                  <a:srgbClr val="333333"/>
                </a:solidFill>
                <a:latin typeface="Calibri"/>
                <a:ea typeface="Calibri"/>
                <a:cs typeface="Calibri"/>
              </a:defRPr>
            </a:lvl8pPr>
            <a:lvl9pPr>
              <a:defRPr sz="1050" b="0">
                <a:solidFill>
                  <a:srgbClr val="333333"/>
                </a:solidFill>
                <a:latin typeface="Calibri"/>
                <a:ea typeface="Calibri"/>
                <a:cs typeface="Calibri"/>
              </a:defRPr>
            </a:lvl9pPr>
          </a:lstStyle>
          <a:p>
            <a:pPr>
              <a:defRPr sz="1050" b="0">
                <a:solidFill>
                  <a:srgbClr val="333333"/>
                </a:solidFill>
                <a:latin typeface="Calibri"/>
                <a:ea typeface="Calibri"/>
                <a:cs typeface="Calibri"/>
              </a:defRPr>
            </a:pPr>
            <a:r>
              <a:rPr sz="1050" b="0">
                <a:solidFill>
                  <a:srgbClr val="333333"/>
                </a:solidFill>
                <a:latin typeface="Calibri"/>
                <a:ea typeface="Calibri"/>
                <a:cs typeface="Calibri"/>
              </a:rPr>
              <a:t>[N] Radotich / NASA, Conceptual Design of Tiltrotor Aircraft for Urban Air Mobility (2022), pp. 4–13, Tables 2–4 (pp. 15–17). https://rotorcraft.arc.nasa.gov/Publications/files/Michael_Radotich_13-Jan-22_03-47-02.pdf</a:t>
            </a:r>
          </a:p>
          <a:p>
            <a:pPr>
              <a:defRPr sz="1050" b="0">
                <a:solidFill>
                  <a:srgbClr val="333333"/>
                </a:solidFill>
                <a:latin typeface="Calibri"/>
                <a:ea typeface="Calibri"/>
                <a:cs typeface="Calibri"/>
              </a:defRPr>
            </a:pPr>
            <a:r>
              <a:rPr sz="1050" b="0">
                <a:solidFill>
                  <a:srgbClr val="333333"/>
                </a:solidFill>
                <a:latin typeface="Calibri"/>
                <a:ea typeface="Calibri"/>
                <a:cs typeface="Calibri"/>
              </a:rPr>
              <a:t>[T] Current NDARC predictions: nasa-tr-sizing-20261028*; research/nasa-tr-sizing-20261028/all-results.json, sweep-summary.json and final-baseline-comparison.json.</a:t>
            </a:r>
          </a:p>
        </p:txBody>
      </p:sp>
      <p:sp>
        <p:nvSpPr>
          <p:cNvPr id="4" name="Rectangle 3">
            <a:extLst>
              <a:ext uri="{FF2B5EF4-FFF2-40B4-BE49-F238E27FC236}">
                <a16:creationId xmlns:a16="http://schemas.microsoft.com/office/drawing/2014/main" id="{FAE7D914-5420-4C48-BCB3-363369165845}"/>
              </a:ext>
            </a:extLst>
          </p:cNvPr>
          <p:cNvSpPr>
            <a:spLocks noGrp="1"/>
          </p:cNvSpPr>
          <p:nvPr/>
        </p:nvSpPr>
        <p:spPr>
          <a:xfrm>
            <a:off x="11430000" y="6553200"/>
            <a:ext cx="333375" cy="209550"/>
          </a:xfrm>
          <a:prstGeom prst="rect">
            <a:avLst/>
          </a:prstGeom>
          <a:noFill/>
          <a:ln w="0">
            <a:noFill/>
          </a:ln>
        </p:spPr>
        <p:txBody>
          <a:bodyPr lIns="0" tIns="0" rIns="0" bIns="0"/>
          <a:lstStyle>
            <a:defPPr>
              <a:defRPr sz="1125" b="0">
                <a:solidFill>
                  <a:srgbClr val="000000"/>
                </a:solidFill>
                <a:latin typeface="Calibri"/>
                <a:ea typeface="Calibri"/>
                <a:cs typeface="Calibri"/>
              </a:defRPr>
            </a:defPPr>
            <a:lvl1pPr>
              <a:defRPr sz="1125" b="0">
                <a:solidFill>
                  <a:srgbClr val="000000"/>
                </a:solidFill>
                <a:latin typeface="Calibri"/>
                <a:ea typeface="Calibri"/>
                <a:cs typeface="Calibri"/>
              </a:defRPr>
            </a:lvl1pPr>
            <a:lvl2pPr>
              <a:defRPr sz="1125" b="0">
                <a:solidFill>
                  <a:srgbClr val="000000"/>
                </a:solidFill>
                <a:latin typeface="Calibri"/>
                <a:ea typeface="Calibri"/>
                <a:cs typeface="Calibri"/>
              </a:defRPr>
            </a:lvl2pPr>
            <a:lvl3pPr>
              <a:defRPr sz="1125" b="0">
                <a:solidFill>
                  <a:srgbClr val="000000"/>
                </a:solidFill>
                <a:latin typeface="Calibri"/>
                <a:ea typeface="Calibri"/>
                <a:cs typeface="Calibri"/>
              </a:defRPr>
            </a:lvl3pPr>
            <a:lvl4pPr>
              <a:defRPr sz="1125" b="0">
                <a:solidFill>
                  <a:srgbClr val="000000"/>
                </a:solidFill>
                <a:latin typeface="Calibri"/>
                <a:ea typeface="Calibri"/>
                <a:cs typeface="Calibri"/>
              </a:defRPr>
            </a:lvl4pPr>
            <a:lvl5pPr>
              <a:defRPr sz="1125" b="0">
                <a:solidFill>
                  <a:srgbClr val="000000"/>
                </a:solidFill>
                <a:latin typeface="Calibri"/>
                <a:ea typeface="Calibri"/>
                <a:cs typeface="Calibri"/>
              </a:defRPr>
            </a:lvl5pPr>
            <a:lvl6pPr>
              <a:defRPr sz="1125" b="0">
                <a:solidFill>
                  <a:srgbClr val="000000"/>
                </a:solidFill>
                <a:latin typeface="Calibri"/>
                <a:ea typeface="Calibri"/>
                <a:cs typeface="Calibri"/>
              </a:defRPr>
            </a:lvl6pPr>
            <a:lvl7pPr>
              <a:defRPr sz="1125" b="0">
                <a:solidFill>
                  <a:srgbClr val="000000"/>
                </a:solidFill>
                <a:latin typeface="Calibri"/>
                <a:ea typeface="Calibri"/>
                <a:cs typeface="Calibri"/>
              </a:defRPr>
            </a:lvl7pPr>
            <a:lvl8pPr>
              <a:defRPr sz="1125" b="0">
                <a:solidFill>
                  <a:srgbClr val="000000"/>
                </a:solidFill>
                <a:latin typeface="Calibri"/>
                <a:ea typeface="Calibri"/>
                <a:cs typeface="Calibri"/>
              </a:defRPr>
            </a:lvl8pPr>
            <a:lvl9pPr>
              <a:defRPr sz="1125" b="0">
                <a:solidFill>
                  <a:srgbClr val="000000"/>
                </a:solidFill>
                <a:latin typeface="Calibri"/>
                <a:ea typeface="Calibri"/>
                <a:cs typeface="Calibri"/>
              </a:defRPr>
            </a:lvl9pPr>
          </a:lstStyle>
          <a:p>
            <a:pPr>
              <a:defRPr sz="1125" b="0">
                <a:solidFill>
                  <a:srgbClr val="000000"/>
                </a:solidFill>
                <a:latin typeface="Calibri"/>
                <a:ea typeface="Calibri"/>
                <a:cs typeface="Calibri"/>
              </a:defRPr>
            </a:pPr>
            <a:r>
              <a:rPr sz="1125" b="0">
                <a:solidFill>
                  <a:srgbClr val="000000"/>
                </a:solidFill>
                <a:latin typeface="Calibri"/>
                <a:ea typeface="Calibri"/>
                <a:cs typeface="Calibri"/>
              </a:rPr>
              <a:t>50</a:t>
            </a:r>
          </a:p>
        </p:txBody>
      </p:sp>
      <p:graphicFrame>
        <p:nvGraphicFramePr>
          <p:cNvPr id="5" name="Chart">
            <a:extLst>
              <a:ext uri="{FF2B5EF4-FFF2-40B4-BE49-F238E27FC236}">
                <a16:creationId xmlns:a16="http://schemas.microsoft.com/office/drawing/2014/main" id="{76D6A7EA-0C78-44C1-927A-55A7D5128CEA}"/>
              </a:ext>
            </a:extLst>
          </p:cNvPr>
          <p:cNvGraphicFramePr/>
          <p:nvPr/>
        </p:nvGraphicFramePr>
        <p:xfrm>
          <a:off x="476250" y="1762125"/>
          <a:ext cx="5476875" cy="3333750"/>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id="{38511B2A-40B6-41E8-A836-0D80C825938D}"/>
              </a:ext>
            </a:extLst>
          </p:cNvPr>
          <p:cNvSpPr>
            <a:spLocks noGrp="1"/>
          </p:cNvSpPr>
          <p:nvPr/>
        </p:nvSpPr>
        <p:spPr>
          <a:xfrm>
            <a:off x="619125" y="5191125"/>
            <a:ext cx="5238750" cy="266700"/>
          </a:xfrm>
          <a:prstGeom prst="rect">
            <a:avLst/>
          </a:prstGeom>
          <a:noFill/>
          <a:ln w="0">
            <a:noFill/>
          </a:ln>
        </p:spPr>
        <p:txBody>
          <a:bodyPr lIns="0" tIns="0" rIns="0" bIns="0"/>
          <a:lstStyle>
            <a:defPPr>
              <a:defRPr sz="1575" b="1">
                <a:solidFill>
                  <a:srgbClr val="000000"/>
                </a:solidFill>
                <a:latin typeface="Calibri"/>
                <a:ea typeface="Calibri"/>
                <a:cs typeface="Calibri"/>
              </a:defRPr>
            </a:defPPr>
            <a:lvl1pPr>
              <a:defRPr sz="1575" b="1">
                <a:solidFill>
                  <a:srgbClr val="000000"/>
                </a:solidFill>
                <a:latin typeface="Calibri"/>
                <a:ea typeface="Calibri"/>
                <a:cs typeface="Calibri"/>
              </a:defRPr>
            </a:lvl1pPr>
            <a:lvl2pPr>
              <a:defRPr sz="1575" b="1">
                <a:solidFill>
                  <a:srgbClr val="000000"/>
                </a:solidFill>
                <a:latin typeface="Calibri"/>
                <a:ea typeface="Calibri"/>
                <a:cs typeface="Calibri"/>
              </a:defRPr>
            </a:lvl2pPr>
            <a:lvl3pPr>
              <a:defRPr sz="1575" b="1">
                <a:solidFill>
                  <a:srgbClr val="000000"/>
                </a:solidFill>
                <a:latin typeface="Calibri"/>
                <a:ea typeface="Calibri"/>
                <a:cs typeface="Calibri"/>
              </a:defRPr>
            </a:lvl3pPr>
            <a:lvl4pPr>
              <a:defRPr sz="1575" b="1">
                <a:solidFill>
                  <a:srgbClr val="000000"/>
                </a:solidFill>
                <a:latin typeface="Calibri"/>
                <a:ea typeface="Calibri"/>
                <a:cs typeface="Calibri"/>
              </a:defRPr>
            </a:lvl4pPr>
            <a:lvl5pPr>
              <a:defRPr sz="1575" b="1">
                <a:solidFill>
                  <a:srgbClr val="000000"/>
                </a:solidFill>
                <a:latin typeface="Calibri"/>
                <a:ea typeface="Calibri"/>
                <a:cs typeface="Calibri"/>
              </a:defRPr>
            </a:lvl5pPr>
            <a:lvl6pPr>
              <a:defRPr sz="1575" b="1">
                <a:solidFill>
                  <a:srgbClr val="000000"/>
                </a:solidFill>
                <a:latin typeface="Calibri"/>
                <a:ea typeface="Calibri"/>
                <a:cs typeface="Calibri"/>
              </a:defRPr>
            </a:lvl6pPr>
            <a:lvl7pPr>
              <a:defRPr sz="1575" b="1">
                <a:solidFill>
                  <a:srgbClr val="000000"/>
                </a:solidFill>
                <a:latin typeface="Calibri"/>
                <a:ea typeface="Calibri"/>
                <a:cs typeface="Calibri"/>
              </a:defRPr>
            </a:lvl7pPr>
            <a:lvl8pPr>
              <a:defRPr sz="1575" b="1">
                <a:solidFill>
                  <a:srgbClr val="000000"/>
                </a:solidFill>
                <a:latin typeface="Calibri"/>
                <a:ea typeface="Calibri"/>
                <a:cs typeface="Calibri"/>
              </a:defRPr>
            </a:lvl8pPr>
            <a:lvl9pPr>
              <a:defRPr sz="1575" b="1">
                <a:solidFill>
                  <a:srgbClr val="000000"/>
                </a:solidFill>
                <a:latin typeface="Calibri"/>
                <a:ea typeface="Calibri"/>
                <a:cs typeface="Calibri"/>
              </a:defRPr>
            </a:lvl9pPr>
          </a:lstStyle>
          <a:p>
            <a:pPr>
              <a:defRPr sz="1575" b="1">
                <a:solidFill>
                  <a:srgbClr val="000000"/>
                </a:solidFill>
                <a:latin typeface="Calibri"/>
                <a:ea typeface="Calibri"/>
                <a:cs typeface="Calibri"/>
              </a:defRPr>
            </a:pPr>
            <a:r>
              <a:rPr sz="1575" b="1">
                <a:solidFill>
                  <a:srgbClr val="000000"/>
                </a:solidFill>
                <a:latin typeface="Calibri"/>
                <a:ea typeface="Calibri"/>
                <a:cs typeface="Calibri"/>
              </a:rPr>
              <a:t>7 / 8 accepted samples</a:t>
            </a:r>
          </a:p>
        </p:txBody>
      </p:sp>
      <p:sp>
        <p:nvSpPr>
          <p:cNvPr id="7" name="Rectangle 6">
            <a:extLst>
              <a:ext uri="{FF2B5EF4-FFF2-40B4-BE49-F238E27FC236}">
                <a16:creationId xmlns:a16="http://schemas.microsoft.com/office/drawing/2014/main" id="{80D8EC1B-9668-41D0-8BA8-C2AA481D2429}"/>
              </a:ext>
            </a:extLst>
          </p:cNvPr>
          <p:cNvSpPr>
            <a:spLocks noGrp="1"/>
          </p:cNvSpPr>
          <p:nvPr/>
        </p:nvSpPr>
        <p:spPr>
          <a:xfrm>
            <a:off x="619125" y="5534025"/>
            <a:ext cx="5238750" cy="438150"/>
          </a:xfrm>
          <a:prstGeom prst="rect">
            <a:avLst/>
          </a:prstGeom>
          <a:noFill/>
          <a:ln w="0">
            <a:noFill/>
          </a:ln>
        </p:spPr>
        <p:txBody>
          <a:bodyPr lIns="0" tIns="0" rIns="0" bIns="0"/>
          <a:lstStyle>
            <a:defPPr>
              <a:defRPr sz="1200" b="0">
                <a:solidFill>
                  <a:srgbClr val="000000"/>
                </a:solidFill>
                <a:latin typeface="Calibri"/>
                <a:ea typeface="Calibri"/>
                <a:cs typeface="Calibri"/>
              </a:defRPr>
            </a:defPPr>
            <a:lvl1pPr>
              <a:defRPr sz="1200" b="0">
                <a:solidFill>
                  <a:srgbClr val="000000"/>
                </a:solidFill>
                <a:latin typeface="Calibri"/>
                <a:ea typeface="Calibri"/>
                <a:cs typeface="Calibri"/>
              </a:defRPr>
            </a:lvl1pPr>
            <a:lvl2pPr>
              <a:defRPr sz="1200" b="0">
                <a:solidFill>
                  <a:srgbClr val="000000"/>
                </a:solidFill>
                <a:latin typeface="Calibri"/>
                <a:ea typeface="Calibri"/>
                <a:cs typeface="Calibri"/>
              </a:defRPr>
            </a:lvl2pPr>
            <a:lvl3pPr>
              <a:defRPr sz="1200" b="0">
                <a:solidFill>
                  <a:srgbClr val="000000"/>
                </a:solidFill>
                <a:latin typeface="Calibri"/>
                <a:ea typeface="Calibri"/>
                <a:cs typeface="Calibri"/>
              </a:defRPr>
            </a:lvl3pPr>
            <a:lvl4pPr>
              <a:defRPr sz="1200" b="0">
                <a:solidFill>
                  <a:srgbClr val="000000"/>
                </a:solidFill>
                <a:latin typeface="Calibri"/>
                <a:ea typeface="Calibri"/>
                <a:cs typeface="Calibri"/>
              </a:defRPr>
            </a:lvl4pPr>
            <a:lvl5pPr>
              <a:defRPr sz="1200" b="0">
                <a:solidFill>
                  <a:srgbClr val="000000"/>
                </a:solidFill>
                <a:latin typeface="Calibri"/>
                <a:ea typeface="Calibri"/>
                <a:cs typeface="Calibri"/>
              </a:defRPr>
            </a:lvl5pPr>
            <a:lvl6pPr>
              <a:defRPr sz="1200" b="0">
                <a:solidFill>
                  <a:srgbClr val="000000"/>
                </a:solidFill>
                <a:latin typeface="Calibri"/>
                <a:ea typeface="Calibri"/>
                <a:cs typeface="Calibri"/>
              </a:defRPr>
            </a:lvl6pPr>
            <a:lvl7pPr>
              <a:defRPr sz="1200" b="0">
                <a:solidFill>
                  <a:srgbClr val="000000"/>
                </a:solidFill>
                <a:latin typeface="Calibri"/>
                <a:ea typeface="Calibri"/>
                <a:cs typeface="Calibri"/>
              </a:defRPr>
            </a:lvl7pPr>
            <a:lvl8pPr>
              <a:defRPr sz="1200" b="0">
                <a:solidFill>
                  <a:srgbClr val="000000"/>
                </a:solidFill>
                <a:latin typeface="Calibri"/>
                <a:ea typeface="Calibri"/>
                <a:cs typeface="Calibri"/>
              </a:defRPr>
            </a:lvl8pPr>
            <a:lvl9pPr>
              <a:defRPr sz="1200" b="0">
                <a:solidFill>
                  <a:srgbClr val="000000"/>
                </a:solidFill>
                <a:latin typeface="Calibri"/>
                <a:ea typeface="Calibri"/>
                <a:cs typeface="Calibri"/>
              </a:defRPr>
            </a:lvl9pPr>
          </a:lstStyle>
          <a:p>
            <a:pPr>
              <a:defRPr sz="1200" b="0">
                <a:solidFill>
                  <a:srgbClr val="000000"/>
                </a:solidFill>
                <a:latin typeface="Calibri"/>
                <a:ea typeface="Calibri"/>
                <a:cs typeface="Calibri"/>
              </a:defRPr>
            </a:pPr>
            <a:r>
              <a:rPr sz="1200" b="0">
                <a:solidFill>
                  <a:srgbClr val="000000"/>
                </a:solidFill>
                <a:latin typeface="Calibri"/>
                <a:ea typeface="Calibri"/>
                <a:cs typeface="Calibri"/>
              </a:rPr>
              <a:t>15: timeout</a:t>
            </a:r>
          </a:p>
        </p:txBody>
      </p:sp>
      <p:graphicFrame>
        <p:nvGraphicFramePr>
          <p:cNvPr id="8" name="Chart">
            <a:extLst>
              <a:ext uri="{FF2B5EF4-FFF2-40B4-BE49-F238E27FC236}">
                <a16:creationId xmlns:a16="http://schemas.microsoft.com/office/drawing/2014/main" id="{3F9C7814-04D7-4245-BC52-75B4E8E07928}"/>
              </a:ext>
            </a:extLst>
          </p:cNvPr>
          <p:cNvGraphicFramePr/>
          <p:nvPr/>
        </p:nvGraphicFramePr>
        <p:xfrm>
          <a:off x="6191250" y="1762125"/>
          <a:ext cx="5476875" cy="3333750"/>
        </p:xfrm>
        <a:graphic>
          <a:graphicData uri="http://schemas.openxmlformats.org/drawingml/2006/chart">
            <c:chart xmlns:c="http://schemas.openxmlformats.org/drawingml/2006/chart" xmlns:r="http://schemas.openxmlformats.org/officeDocument/2006/relationships" r:id="rId4"/>
          </a:graphicData>
        </a:graphic>
      </p:graphicFrame>
      <p:sp>
        <p:nvSpPr>
          <p:cNvPr id="9" name="Rectangle 8">
            <a:extLst>
              <a:ext uri="{FF2B5EF4-FFF2-40B4-BE49-F238E27FC236}">
                <a16:creationId xmlns:a16="http://schemas.microsoft.com/office/drawing/2014/main" id="{36E9E6A4-F051-4F44-BCEF-ABD5E3C2091E}"/>
              </a:ext>
            </a:extLst>
          </p:cNvPr>
          <p:cNvSpPr>
            <a:spLocks noGrp="1"/>
          </p:cNvSpPr>
          <p:nvPr/>
        </p:nvSpPr>
        <p:spPr>
          <a:xfrm>
            <a:off x="6334125" y="5191125"/>
            <a:ext cx="5238750" cy="266700"/>
          </a:xfrm>
          <a:prstGeom prst="rect">
            <a:avLst/>
          </a:prstGeom>
          <a:noFill/>
          <a:ln w="0">
            <a:noFill/>
          </a:ln>
        </p:spPr>
        <p:txBody>
          <a:bodyPr lIns="0" tIns="0" rIns="0" bIns="0"/>
          <a:lstStyle>
            <a:defPPr>
              <a:defRPr sz="1575" b="1">
                <a:solidFill>
                  <a:srgbClr val="000000"/>
                </a:solidFill>
                <a:latin typeface="Calibri"/>
                <a:ea typeface="Calibri"/>
                <a:cs typeface="Calibri"/>
              </a:defRPr>
            </a:defPPr>
            <a:lvl1pPr>
              <a:defRPr sz="1575" b="1">
                <a:solidFill>
                  <a:srgbClr val="000000"/>
                </a:solidFill>
                <a:latin typeface="Calibri"/>
                <a:ea typeface="Calibri"/>
                <a:cs typeface="Calibri"/>
              </a:defRPr>
            </a:lvl1pPr>
            <a:lvl2pPr>
              <a:defRPr sz="1575" b="1">
                <a:solidFill>
                  <a:srgbClr val="000000"/>
                </a:solidFill>
                <a:latin typeface="Calibri"/>
                <a:ea typeface="Calibri"/>
                <a:cs typeface="Calibri"/>
              </a:defRPr>
            </a:lvl2pPr>
            <a:lvl3pPr>
              <a:defRPr sz="1575" b="1">
                <a:solidFill>
                  <a:srgbClr val="000000"/>
                </a:solidFill>
                <a:latin typeface="Calibri"/>
                <a:ea typeface="Calibri"/>
                <a:cs typeface="Calibri"/>
              </a:defRPr>
            </a:lvl3pPr>
            <a:lvl4pPr>
              <a:defRPr sz="1575" b="1">
                <a:solidFill>
                  <a:srgbClr val="000000"/>
                </a:solidFill>
                <a:latin typeface="Calibri"/>
                <a:ea typeface="Calibri"/>
                <a:cs typeface="Calibri"/>
              </a:defRPr>
            </a:lvl4pPr>
            <a:lvl5pPr>
              <a:defRPr sz="1575" b="1">
                <a:solidFill>
                  <a:srgbClr val="000000"/>
                </a:solidFill>
                <a:latin typeface="Calibri"/>
                <a:ea typeface="Calibri"/>
                <a:cs typeface="Calibri"/>
              </a:defRPr>
            </a:lvl5pPr>
            <a:lvl6pPr>
              <a:defRPr sz="1575" b="1">
                <a:solidFill>
                  <a:srgbClr val="000000"/>
                </a:solidFill>
                <a:latin typeface="Calibri"/>
                <a:ea typeface="Calibri"/>
                <a:cs typeface="Calibri"/>
              </a:defRPr>
            </a:lvl6pPr>
            <a:lvl7pPr>
              <a:defRPr sz="1575" b="1">
                <a:solidFill>
                  <a:srgbClr val="000000"/>
                </a:solidFill>
                <a:latin typeface="Calibri"/>
                <a:ea typeface="Calibri"/>
                <a:cs typeface="Calibri"/>
              </a:defRPr>
            </a:lvl7pPr>
            <a:lvl8pPr>
              <a:defRPr sz="1575" b="1">
                <a:solidFill>
                  <a:srgbClr val="000000"/>
                </a:solidFill>
                <a:latin typeface="Calibri"/>
                <a:ea typeface="Calibri"/>
                <a:cs typeface="Calibri"/>
              </a:defRPr>
            </a:lvl8pPr>
            <a:lvl9pPr>
              <a:defRPr sz="1575" b="1">
                <a:solidFill>
                  <a:srgbClr val="000000"/>
                </a:solidFill>
                <a:latin typeface="Calibri"/>
                <a:ea typeface="Calibri"/>
                <a:cs typeface="Calibri"/>
              </a:defRPr>
            </a:lvl9pPr>
          </a:lstStyle>
          <a:p>
            <a:pPr>
              <a:defRPr sz="1575" b="1">
                <a:solidFill>
                  <a:srgbClr val="000000"/>
                </a:solidFill>
                <a:latin typeface="Calibri"/>
                <a:ea typeface="Calibri"/>
                <a:cs typeface="Calibri"/>
              </a:defRPr>
            </a:pPr>
            <a:r>
              <a:rPr sz="1575" b="1">
                <a:solidFill>
                  <a:srgbClr val="000000"/>
                </a:solidFill>
                <a:latin typeface="Calibri"/>
                <a:ea typeface="Calibri"/>
                <a:cs typeface="Calibri"/>
              </a:rPr>
              <a:t>7 / 8 accepted samples</a:t>
            </a:r>
          </a:p>
        </p:txBody>
      </p:sp>
      <p:sp>
        <p:nvSpPr>
          <p:cNvPr id="10" name="Rectangle 9">
            <a:extLst>
              <a:ext uri="{FF2B5EF4-FFF2-40B4-BE49-F238E27FC236}">
                <a16:creationId xmlns:a16="http://schemas.microsoft.com/office/drawing/2014/main" id="{5DF300C1-63D1-45D3-A6B6-CF28DBC7F3B2}"/>
              </a:ext>
            </a:extLst>
          </p:cNvPr>
          <p:cNvSpPr>
            <a:spLocks noGrp="1"/>
          </p:cNvSpPr>
          <p:nvPr/>
        </p:nvSpPr>
        <p:spPr>
          <a:xfrm>
            <a:off x="6334125" y="5534025"/>
            <a:ext cx="5238750" cy="438150"/>
          </a:xfrm>
          <a:prstGeom prst="rect">
            <a:avLst/>
          </a:prstGeom>
          <a:noFill/>
          <a:ln w="0">
            <a:noFill/>
          </a:ln>
        </p:spPr>
        <p:txBody>
          <a:bodyPr lIns="0" tIns="0" rIns="0" bIns="0"/>
          <a:lstStyle>
            <a:defPPr>
              <a:defRPr sz="1200" b="0">
                <a:solidFill>
                  <a:srgbClr val="000000"/>
                </a:solidFill>
                <a:latin typeface="Calibri"/>
                <a:ea typeface="Calibri"/>
                <a:cs typeface="Calibri"/>
              </a:defRPr>
            </a:defPPr>
            <a:lvl1pPr>
              <a:defRPr sz="1200" b="0">
                <a:solidFill>
                  <a:srgbClr val="000000"/>
                </a:solidFill>
                <a:latin typeface="Calibri"/>
                <a:ea typeface="Calibri"/>
                <a:cs typeface="Calibri"/>
              </a:defRPr>
            </a:lvl1pPr>
            <a:lvl2pPr>
              <a:defRPr sz="1200" b="0">
                <a:solidFill>
                  <a:srgbClr val="000000"/>
                </a:solidFill>
                <a:latin typeface="Calibri"/>
                <a:ea typeface="Calibri"/>
                <a:cs typeface="Calibri"/>
              </a:defRPr>
            </a:lvl2pPr>
            <a:lvl3pPr>
              <a:defRPr sz="1200" b="0">
                <a:solidFill>
                  <a:srgbClr val="000000"/>
                </a:solidFill>
                <a:latin typeface="Calibri"/>
                <a:ea typeface="Calibri"/>
                <a:cs typeface="Calibri"/>
              </a:defRPr>
            </a:lvl3pPr>
            <a:lvl4pPr>
              <a:defRPr sz="1200" b="0">
                <a:solidFill>
                  <a:srgbClr val="000000"/>
                </a:solidFill>
                <a:latin typeface="Calibri"/>
                <a:ea typeface="Calibri"/>
                <a:cs typeface="Calibri"/>
              </a:defRPr>
            </a:lvl4pPr>
            <a:lvl5pPr>
              <a:defRPr sz="1200" b="0">
                <a:solidFill>
                  <a:srgbClr val="000000"/>
                </a:solidFill>
                <a:latin typeface="Calibri"/>
                <a:ea typeface="Calibri"/>
                <a:cs typeface="Calibri"/>
              </a:defRPr>
            </a:lvl5pPr>
            <a:lvl6pPr>
              <a:defRPr sz="1200" b="0">
                <a:solidFill>
                  <a:srgbClr val="000000"/>
                </a:solidFill>
                <a:latin typeface="Calibri"/>
                <a:ea typeface="Calibri"/>
                <a:cs typeface="Calibri"/>
              </a:defRPr>
            </a:lvl6pPr>
            <a:lvl7pPr>
              <a:defRPr sz="1200" b="0">
                <a:solidFill>
                  <a:srgbClr val="000000"/>
                </a:solidFill>
                <a:latin typeface="Calibri"/>
                <a:ea typeface="Calibri"/>
                <a:cs typeface="Calibri"/>
              </a:defRPr>
            </a:lvl7pPr>
            <a:lvl8pPr>
              <a:defRPr sz="1200" b="0">
                <a:solidFill>
                  <a:srgbClr val="000000"/>
                </a:solidFill>
                <a:latin typeface="Calibri"/>
                <a:ea typeface="Calibri"/>
                <a:cs typeface="Calibri"/>
              </a:defRPr>
            </a:lvl8pPr>
            <a:lvl9pPr>
              <a:defRPr sz="1200" b="0">
                <a:solidFill>
                  <a:srgbClr val="000000"/>
                </a:solidFill>
                <a:latin typeface="Calibri"/>
                <a:ea typeface="Calibri"/>
                <a:cs typeface="Calibri"/>
              </a:defRPr>
            </a:lvl9pPr>
          </a:lstStyle>
          <a:p>
            <a:pPr>
              <a:defRPr sz="1200" b="0">
                <a:solidFill>
                  <a:srgbClr val="000000"/>
                </a:solidFill>
                <a:latin typeface="Calibri"/>
                <a:ea typeface="Calibri"/>
                <a:cs typeface="Calibri"/>
              </a:defRPr>
            </a:pPr>
            <a:r>
              <a:rPr sz="1200" b="0">
                <a:solidFill>
                  <a:srgbClr val="000000"/>
                </a:solidFill>
                <a:latin typeface="Calibri"/>
                <a:ea typeface="Calibri"/>
                <a:cs typeface="Calibri"/>
              </a:rPr>
              <a:t>400: timeout</a:t>
            </a:r>
          </a:p>
        </p:txBody>
      </p:sp>
    </p:spTree>
    <p:extLst>
      <p:ext uri="{BB962C8B-B14F-4D97-AF65-F5344CB8AC3E}">
        <p14:creationId xmlns:p14="http://schemas.microsoft.com/office/powerpoint/2010/main" val="8173391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55B3354-241E-4F10-B99D-36A6A922E65F}"/>
              </a:ext>
            </a:extLst>
          </p:cNvPr>
          <p:cNvSpPr>
            <a:spLocks noGrp="1"/>
          </p:cNvSpPr>
          <p:nvPr/>
        </p:nvSpPr>
        <p:spPr>
          <a:xfrm>
            <a:off x="838200" y="361950"/>
            <a:ext cx="10572750" cy="495300"/>
          </a:xfrm>
          <a:prstGeom prst="rect">
            <a:avLst/>
          </a:prstGeom>
          <a:noFill/>
          <a:ln w="0">
            <a:noFill/>
          </a:ln>
        </p:spPr>
        <p:txBody>
          <a:bodyPr lIns="0" tIns="0" rIns="0" bIns="0"/>
          <a:lstStyle>
            <a:defPPr>
              <a:defRPr sz="2400" b="1">
                <a:solidFill>
                  <a:srgbClr val="000000"/>
                </a:solidFill>
                <a:latin typeface="Calibri"/>
                <a:ea typeface="Calibri"/>
                <a:cs typeface="Calibri"/>
              </a:defRPr>
            </a:defPPr>
            <a:lvl1pPr>
              <a:defRPr sz="2400" b="1">
                <a:solidFill>
                  <a:srgbClr val="000000"/>
                </a:solidFill>
                <a:latin typeface="Calibri"/>
                <a:ea typeface="Calibri"/>
                <a:cs typeface="Calibri"/>
              </a:defRPr>
            </a:lvl1pPr>
            <a:lvl2pPr>
              <a:defRPr sz="2400" b="1">
                <a:solidFill>
                  <a:srgbClr val="000000"/>
                </a:solidFill>
                <a:latin typeface="Calibri"/>
                <a:ea typeface="Calibri"/>
                <a:cs typeface="Calibri"/>
              </a:defRPr>
            </a:lvl2pPr>
            <a:lvl3pPr>
              <a:defRPr sz="2400" b="1">
                <a:solidFill>
                  <a:srgbClr val="000000"/>
                </a:solidFill>
                <a:latin typeface="Calibri"/>
                <a:ea typeface="Calibri"/>
                <a:cs typeface="Calibri"/>
              </a:defRPr>
            </a:lvl3pPr>
            <a:lvl4pPr>
              <a:defRPr sz="2400" b="1">
                <a:solidFill>
                  <a:srgbClr val="000000"/>
                </a:solidFill>
                <a:latin typeface="Calibri"/>
                <a:ea typeface="Calibri"/>
                <a:cs typeface="Calibri"/>
              </a:defRPr>
            </a:lvl4pPr>
            <a:lvl5pPr>
              <a:defRPr sz="2400" b="1">
                <a:solidFill>
                  <a:srgbClr val="000000"/>
                </a:solidFill>
                <a:latin typeface="Calibri"/>
                <a:ea typeface="Calibri"/>
                <a:cs typeface="Calibri"/>
              </a:defRPr>
            </a:lvl5pPr>
            <a:lvl6pPr>
              <a:defRPr sz="2400" b="1">
                <a:solidFill>
                  <a:srgbClr val="000000"/>
                </a:solidFill>
                <a:latin typeface="Calibri"/>
                <a:ea typeface="Calibri"/>
                <a:cs typeface="Calibri"/>
              </a:defRPr>
            </a:lvl6pPr>
            <a:lvl7pPr>
              <a:defRPr sz="2400" b="1">
                <a:solidFill>
                  <a:srgbClr val="000000"/>
                </a:solidFill>
                <a:latin typeface="Calibri"/>
                <a:ea typeface="Calibri"/>
                <a:cs typeface="Calibri"/>
              </a:defRPr>
            </a:lvl7pPr>
            <a:lvl8pPr>
              <a:defRPr sz="2400" b="1">
                <a:solidFill>
                  <a:srgbClr val="000000"/>
                </a:solidFill>
                <a:latin typeface="Calibri"/>
                <a:ea typeface="Calibri"/>
                <a:cs typeface="Calibri"/>
              </a:defRPr>
            </a:lvl8pPr>
            <a:lvl9pPr>
              <a:defRPr sz="2400" b="1">
                <a:solidFill>
                  <a:srgbClr val="000000"/>
                </a:solidFill>
                <a:latin typeface="Calibri"/>
                <a:ea typeface="Calibri"/>
                <a:cs typeface="Calibri"/>
              </a:defRPr>
            </a:lvl9pPr>
          </a:lstStyle>
          <a:p>
            <a:pPr>
              <a:defRPr sz="2400" b="1">
                <a:solidFill>
                  <a:srgbClr val="000000"/>
                </a:solidFill>
                <a:latin typeface="Calibri"/>
                <a:ea typeface="Calibri"/>
                <a:cs typeface="Calibri"/>
              </a:defRPr>
            </a:pPr>
            <a:r>
              <a:rPr sz="2400" b="1">
                <a:solidFill>
                  <a:srgbClr val="000000"/>
                </a:solidFill>
                <a:latin typeface="Calibri"/>
                <a:ea typeface="Calibri"/>
                <a:cs typeface="Calibri"/>
              </a:rPr>
              <a:t>NASA electric: initial DL and wing loading</a:t>
            </a:r>
          </a:p>
        </p:txBody>
      </p:sp>
      <p:sp>
        <p:nvSpPr>
          <p:cNvPr id="2" name="Rectangle 1">
            <a:extLst>
              <a:ext uri="{FF2B5EF4-FFF2-40B4-BE49-F238E27FC236}">
                <a16:creationId xmlns:a16="http://schemas.microsoft.com/office/drawing/2014/main" id="{2B95646F-6FEF-4872-9BFC-153EA78473B9}"/>
              </a:ext>
            </a:extLst>
          </p:cNvPr>
          <p:cNvSpPr>
            <a:spLocks noGrp="1"/>
          </p:cNvSpPr>
          <p:nvPr/>
        </p:nvSpPr>
        <p:spPr>
          <a:xfrm>
            <a:off x="476250" y="1028700"/>
            <a:ext cx="11239500" cy="590550"/>
          </a:xfrm>
          <a:prstGeom prst="rect">
            <a:avLst/>
          </a:prstGeom>
          <a:noFill/>
          <a:ln w="0">
            <a:noFill/>
          </a:ln>
        </p:spPr>
        <p:txBody>
          <a:bodyPr lIns="0" tIns="0" rIns="0" bIns="0"/>
          <a:lstStyle>
            <a:defPPr>
              <a:defRPr sz="1575" b="0">
                <a:solidFill>
                  <a:srgbClr val="333333"/>
                </a:solidFill>
                <a:latin typeface="Calibri"/>
                <a:ea typeface="Calibri"/>
                <a:cs typeface="Calibri"/>
              </a:defRPr>
            </a:defPPr>
            <a:lvl1pPr>
              <a:defRPr sz="1575" b="0">
                <a:solidFill>
                  <a:srgbClr val="333333"/>
                </a:solidFill>
                <a:latin typeface="Calibri"/>
                <a:ea typeface="Calibri"/>
                <a:cs typeface="Calibri"/>
              </a:defRPr>
            </a:lvl1pPr>
            <a:lvl2pPr>
              <a:defRPr sz="1575" b="0">
                <a:solidFill>
                  <a:srgbClr val="333333"/>
                </a:solidFill>
                <a:latin typeface="Calibri"/>
                <a:ea typeface="Calibri"/>
                <a:cs typeface="Calibri"/>
              </a:defRPr>
            </a:lvl2pPr>
            <a:lvl3pPr>
              <a:defRPr sz="1575" b="0">
                <a:solidFill>
                  <a:srgbClr val="333333"/>
                </a:solidFill>
                <a:latin typeface="Calibri"/>
                <a:ea typeface="Calibri"/>
                <a:cs typeface="Calibri"/>
              </a:defRPr>
            </a:lvl3pPr>
            <a:lvl4pPr>
              <a:defRPr sz="1575" b="0">
                <a:solidFill>
                  <a:srgbClr val="333333"/>
                </a:solidFill>
                <a:latin typeface="Calibri"/>
                <a:ea typeface="Calibri"/>
                <a:cs typeface="Calibri"/>
              </a:defRPr>
            </a:lvl4pPr>
            <a:lvl5pPr>
              <a:defRPr sz="1575" b="0">
                <a:solidFill>
                  <a:srgbClr val="333333"/>
                </a:solidFill>
                <a:latin typeface="Calibri"/>
                <a:ea typeface="Calibri"/>
                <a:cs typeface="Calibri"/>
              </a:defRPr>
            </a:lvl5pPr>
            <a:lvl6pPr>
              <a:defRPr sz="1575" b="0">
                <a:solidFill>
                  <a:srgbClr val="333333"/>
                </a:solidFill>
                <a:latin typeface="Calibri"/>
                <a:ea typeface="Calibri"/>
                <a:cs typeface="Calibri"/>
              </a:defRPr>
            </a:lvl6pPr>
            <a:lvl7pPr>
              <a:defRPr sz="1575" b="0">
                <a:solidFill>
                  <a:srgbClr val="333333"/>
                </a:solidFill>
                <a:latin typeface="Calibri"/>
                <a:ea typeface="Calibri"/>
                <a:cs typeface="Calibri"/>
              </a:defRPr>
            </a:lvl7pPr>
            <a:lvl8pPr>
              <a:defRPr sz="1575" b="0">
                <a:solidFill>
                  <a:srgbClr val="333333"/>
                </a:solidFill>
                <a:latin typeface="Calibri"/>
                <a:ea typeface="Calibri"/>
                <a:cs typeface="Calibri"/>
              </a:defRPr>
            </a:lvl8pPr>
            <a:lvl9pPr>
              <a:defRPr sz="1575" b="0">
                <a:solidFill>
                  <a:srgbClr val="333333"/>
                </a:solidFill>
                <a:latin typeface="Calibri"/>
                <a:ea typeface="Calibri"/>
                <a:cs typeface="Calibri"/>
              </a:defRPr>
            </a:lvl9pPr>
          </a:lstStyle>
          <a:p>
            <a:pPr>
              <a:defRPr sz="1575" b="0">
                <a:solidFill>
                  <a:srgbClr val="333333"/>
                </a:solidFill>
                <a:latin typeface="Calibri"/>
                <a:ea typeface="Calibri"/>
                <a:cs typeface="Calibri"/>
              </a:defRPr>
            </a:pPr>
            <a:r>
              <a:rPr sz="1575" b="0">
                <a:solidFill>
                  <a:srgbClr val="333333"/>
                </a:solidFill>
                <a:latin typeface="Calibri"/>
                <a:ea typeface="Calibri"/>
                <a:cs typeface="Calibri"/>
              </a:rPr>
              <a:t>Current NDARC sizing curves use the isolated wing-fit correction. Failed samples are omitted from curves and retained in evidence. [T]</a:t>
            </a:r>
          </a:p>
        </p:txBody>
      </p:sp>
      <p:sp>
        <p:nvSpPr>
          <p:cNvPr id="3" name="Rectangle 2">
            <a:extLst>
              <a:ext uri="{FF2B5EF4-FFF2-40B4-BE49-F238E27FC236}">
                <a16:creationId xmlns:a16="http://schemas.microsoft.com/office/drawing/2014/main" id="{82C86F71-387D-4941-B987-2C101C2F00AF}"/>
              </a:ext>
            </a:extLst>
          </p:cNvPr>
          <p:cNvSpPr>
            <a:spLocks noGrp="1"/>
          </p:cNvSpPr>
          <p:nvPr/>
        </p:nvSpPr>
        <p:spPr>
          <a:xfrm>
            <a:off x="476250" y="6076950"/>
            <a:ext cx="11191875" cy="619125"/>
          </a:xfrm>
          <a:prstGeom prst="rect">
            <a:avLst/>
          </a:prstGeom>
          <a:noFill/>
          <a:ln w="0">
            <a:noFill/>
          </a:ln>
        </p:spPr>
        <p:txBody>
          <a:bodyPr lIns="0" tIns="0" rIns="0" bIns="0"/>
          <a:lstStyle>
            <a:defPPr>
              <a:defRPr sz="1050" b="0">
                <a:solidFill>
                  <a:srgbClr val="333333"/>
                </a:solidFill>
                <a:latin typeface="Calibri"/>
                <a:ea typeface="Calibri"/>
                <a:cs typeface="Calibri"/>
              </a:defRPr>
            </a:defPPr>
            <a:lvl1pPr>
              <a:defRPr sz="1050" b="0">
                <a:solidFill>
                  <a:srgbClr val="333333"/>
                </a:solidFill>
                <a:latin typeface="Calibri"/>
                <a:ea typeface="Calibri"/>
                <a:cs typeface="Calibri"/>
              </a:defRPr>
            </a:lvl1pPr>
            <a:lvl2pPr>
              <a:defRPr sz="1050" b="0">
                <a:solidFill>
                  <a:srgbClr val="333333"/>
                </a:solidFill>
                <a:latin typeface="Calibri"/>
                <a:ea typeface="Calibri"/>
                <a:cs typeface="Calibri"/>
              </a:defRPr>
            </a:lvl2pPr>
            <a:lvl3pPr>
              <a:defRPr sz="1050" b="0">
                <a:solidFill>
                  <a:srgbClr val="333333"/>
                </a:solidFill>
                <a:latin typeface="Calibri"/>
                <a:ea typeface="Calibri"/>
                <a:cs typeface="Calibri"/>
              </a:defRPr>
            </a:lvl3pPr>
            <a:lvl4pPr>
              <a:defRPr sz="1050" b="0">
                <a:solidFill>
                  <a:srgbClr val="333333"/>
                </a:solidFill>
                <a:latin typeface="Calibri"/>
                <a:ea typeface="Calibri"/>
                <a:cs typeface="Calibri"/>
              </a:defRPr>
            </a:lvl4pPr>
            <a:lvl5pPr>
              <a:defRPr sz="1050" b="0">
                <a:solidFill>
                  <a:srgbClr val="333333"/>
                </a:solidFill>
                <a:latin typeface="Calibri"/>
                <a:ea typeface="Calibri"/>
                <a:cs typeface="Calibri"/>
              </a:defRPr>
            </a:lvl5pPr>
            <a:lvl6pPr>
              <a:defRPr sz="1050" b="0">
                <a:solidFill>
                  <a:srgbClr val="333333"/>
                </a:solidFill>
                <a:latin typeface="Calibri"/>
                <a:ea typeface="Calibri"/>
                <a:cs typeface="Calibri"/>
              </a:defRPr>
            </a:lvl6pPr>
            <a:lvl7pPr>
              <a:defRPr sz="1050" b="0">
                <a:solidFill>
                  <a:srgbClr val="333333"/>
                </a:solidFill>
                <a:latin typeface="Calibri"/>
                <a:ea typeface="Calibri"/>
                <a:cs typeface="Calibri"/>
              </a:defRPr>
            </a:lvl7pPr>
            <a:lvl8pPr>
              <a:defRPr sz="1050" b="0">
                <a:solidFill>
                  <a:srgbClr val="333333"/>
                </a:solidFill>
                <a:latin typeface="Calibri"/>
                <a:ea typeface="Calibri"/>
                <a:cs typeface="Calibri"/>
              </a:defRPr>
            </a:lvl8pPr>
            <a:lvl9pPr>
              <a:defRPr sz="1050" b="0">
                <a:solidFill>
                  <a:srgbClr val="333333"/>
                </a:solidFill>
                <a:latin typeface="Calibri"/>
                <a:ea typeface="Calibri"/>
                <a:cs typeface="Calibri"/>
              </a:defRPr>
            </a:lvl9pPr>
          </a:lstStyle>
          <a:p>
            <a:pPr>
              <a:defRPr sz="1050" b="0">
                <a:solidFill>
                  <a:srgbClr val="333333"/>
                </a:solidFill>
                <a:latin typeface="Calibri"/>
                <a:ea typeface="Calibri"/>
                <a:cs typeface="Calibri"/>
              </a:defRPr>
            </a:pPr>
            <a:r>
              <a:rPr sz="1050" b="0">
                <a:solidFill>
                  <a:srgbClr val="333333"/>
                </a:solidFill>
                <a:latin typeface="Calibri"/>
                <a:ea typeface="Calibri"/>
                <a:cs typeface="Calibri"/>
              </a:rPr>
              <a:t>[N] Radotich / NASA, Conceptual Design of Tiltrotor Aircraft for Urban Air Mobility (2022), pp. 4–13, Tables 2–4 (pp. 15–17). https://rotorcraft.arc.nasa.gov/Publications/files/Michael_Radotich_13-Jan-22_03-47-02.pdf</a:t>
            </a:r>
          </a:p>
          <a:p>
            <a:pPr>
              <a:defRPr sz="1050" b="0">
                <a:solidFill>
                  <a:srgbClr val="333333"/>
                </a:solidFill>
                <a:latin typeface="Calibri"/>
                <a:ea typeface="Calibri"/>
                <a:cs typeface="Calibri"/>
              </a:defRPr>
            </a:pPr>
            <a:r>
              <a:rPr sz="1050" b="0">
                <a:solidFill>
                  <a:srgbClr val="333333"/>
                </a:solidFill>
                <a:latin typeface="Calibri"/>
                <a:ea typeface="Calibri"/>
                <a:cs typeface="Calibri"/>
              </a:rPr>
              <a:t>[T] Current NDARC predictions: nasa-tr-sizing-20261028*; research/nasa-tr-sizing-20261028/all-results.json, sweep-summary.json and final-baseline-comparison.json.</a:t>
            </a:r>
          </a:p>
        </p:txBody>
      </p:sp>
      <p:sp>
        <p:nvSpPr>
          <p:cNvPr id="4" name="Rectangle 3">
            <a:extLst>
              <a:ext uri="{FF2B5EF4-FFF2-40B4-BE49-F238E27FC236}">
                <a16:creationId xmlns:a16="http://schemas.microsoft.com/office/drawing/2014/main" id="{7DCB1D6A-6C89-496F-B77F-1FD7B8909572}"/>
              </a:ext>
            </a:extLst>
          </p:cNvPr>
          <p:cNvSpPr>
            <a:spLocks noGrp="1"/>
          </p:cNvSpPr>
          <p:nvPr/>
        </p:nvSpPr>
        <p:spPr>
          <a:xfrm>
            <a:off x="11430000" y="6553200"/>
            <a:ext cx="333375" cy="209550"/>
          </a:xfrm>
          <a:prstGeom prst="rect">
            <a:avLst/>
          </a:prstGeom>
          <a:noFill/>
          <a:ln w="0">
            <a:noFill/>
          </a:ln>
        </p:spPr>
        <p:txBody>
          <a:bodyPr lIns="0" tIns="0" rIns="0" bIns="0"/>
          <a:lstStyle>
            <a:defPPr>
              <a:defRPr sz="1125" b="0">
                <a:solidFill>
                  <a:srgbClr val="000000"/>
                </a:solidFill>
                <a:latin typeface="Calibri"/>
                <a:ea typeface="Calibri"/>
                <a:cs typeface="Calibri"/>
              </a:defRPr>
            </a:defPPr>
            <a:lvl1pPr>
              <a:defRPr sz="1125" b="0">
                <a:solidFill>
                  <a:srgbClr val="000000"/>
                </a:solidFill>
                <a:latin typeface="Calibri"/>
                <a:ea typeface="Calibri"/>
                <a:cs typeface="Calibri"/>
              </a:defRPr>
            </a:lvl1pPr>
            <a:lvl2pPr>
              <a:defRPr sz="1125" b="0">
                <a:solidFill>
                  <a:srgbClr val="000000"/>
                </a:solidFill>
                <a:latin typeface="Calibri"/>
                <a:ea typeface="Calibri"/>
                <a:cs typeface="Calibri"/>
              </a:defRPr>
            </a:lvl2pPr>
            <a:lvl3pPr>
              <a:defRPr sz="1125" b="0">
                <a:solidFill>
                  <a:srgbClr val="000000"/>
                </a:solidFill>
                <a:latin typeface="Calibri"/>
                <a:ea typeface="Calibri"/>
                <a:cs typeface="Calibri"/>
              </a:defRPr>
            </a:lvl3pPr>
            <a:lvl4pPr>
              <a:defRPr sz="1125" b="0">
                <a:solidFill>
                  <a:srgbClr val="000000"/>
                </a:solidFill>
                <a:latin typeface="Calibri"/>
                <a:ea typeface="Calibri"/>
                <a:cs typeface="Calibri"/>
              </a:defRPr>
            </a:lvl4pPr>
            <a:lvl5pPr>
              <a:defRPr sz="1125" b="0">
                <a:solidFill>
                  <a:srgbClr val="000000"/>
                </a:solidFill>
                <a:latin typeface="Calibri"/>
                <a:ea typeface="Calibri"/>
                <a:cs typeface="Calibri"/>
              </a:defRPr>
            </a:lvl5pPr>
            <a:lvl6pPr>
              <a:defRPr sz="1125" b="0">
                <a:solidFill>
                  <a:srgbClr val="000000"/>
                </a:solidFill>
                <a:latin typeface="Calibri"/>
                <a:ea typeface="Calibri"/>
                <a:cs typeface="Calibri"/>
              </a:defRPr>
            </a:lvl6pPr>
            <a:lvl7pPr>
              <a:defRPr sz="1125" b="0">
                <a:solidFill>
                  <a:srgbClr val="000000"/>
                </a:solidFill>
                <a:latin typeface="Calibri"/>
                <a:ea typeface="Calibri"/>
                <a:cs typeface="Calibri"/>
              </a:defRPr>
            </a:lvl7pPr>
            <a:lvl8pPr>
              <a:defRPr sz="1125" b="0">
                <a:solidFill>
                  <a:srgbClr val="000000"/>
                </a:solidFill>
                <a:latin typeface="Calibri"/>
                <a:ea typeface="Calibri"/>
                <a:cs typeface="Calibri"/>
              </a:defRPr>
            </a:lvl8pPr>
            <a:lvl9pPr>
              <a:defRPr sz="1125" b="0">
                <a:solidFill>
                  <a:srgbClr val="000000"/>
                </a:solidFill>
                <a:latin typeface="Calibri"/>
                <a:ea typeface="Calibri"/>
                <a:cs typeface="Calibri"/>
              </a:defRPr>
            </a:lvl9pPr>
          </a:lstStyle>
          <a:p>
            <a:pPr>
              <a:defRPr sz="1125" b="0">
                <a:solidFill>
                  <a:srgbClr val="000000"/>
                </a:solidFill>
                <a:latin typeface="Calibri"/>
                <a:ea typeface="Calibri"/>
                <a:cs typeface="Calibri"/>
              </a:defRPr>
            </a:pPr>
            <a:r>
              <a:rPr sz="1125" b="0">
                <a:solidFill>
                  <a:srgbClr val="000000"/>
                </a:solidFill>
                <a:latin typeface="Calibri"/>
                <a:ea typeface="Calibri"/>
                <a:cs typeface="Calibri"/>
              </a:rPr>
              <a:t>51</a:t>
            </a:r>
          </a:p>
        </p:txBody>
      </p:sp>
      <p:graphicFrame>
        <p:nvGraphicFramePr>
          <p:cNvPr id="5" name="Chart">
            <a:extLst>
              <a:ext uri="{FF2B5EF4-FFF2-40B4-BE49-F238E27FC236}">
                <a16:creationId xmlns:a16="http://schemas.microsoft.com/office/drawing/2014/main" id="{A458B7DE-4E31-4D52-8884-3E563329CFE5}"/>
              </a:ext>
            </a:extLst>
          </p:cNvPr>
          <p:cNvGraphicFramePr/>
          <p:nvPr/>
        </p:nvGraphicFramePr>
        <p:xfrm>
          <a:off x="476250" y="1762125"/>
          <a:ext cx="5476875" cy="3333750"/>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id="{1A01FF29-F9D5-4746-8FE7-560C2CA9EAAF}"/>
              </a:ext>
            </a:extLst>
          </p:cNvPr>
          <p:cNvSpPr>
            <a:spLocks noGrp="1"/>
          </p:cNvSpPr>
          <p:nvPr/>
        </p:nvSpPr>
        <p:spPr>
          <a:xfrm>
            <a:off x="619125" y="5191125"/>
            <a:ext cx="5238750" cy="266700"/>
          </a:xfrm>
          <a:prstGeom prst="rect">
            <a:avLst/>
          </a:prstGeom>
          <a:noFill/>
          <a:ln w="0">
            <a:noFill/>
          </a:ln>
        </p:spPr>
        <p:txBody>
          <a:bodyPr lIns="0" tIns="0" rIns="0" bIns="0"/>
          <a:lstStyle>
            <a:defPPr>
              <a:defRPr sz="1575" b="1">
                <a:solidFill>
                  <a:srgbClr val="000000"/>
                </a:solidFill>
                <a:latin typeface="Calibri"/>
                <a:ea typeface="Calibri"/>
                <a:cs typeface="Calibri"/>
              </a:defRPr>
            </a:defPPr>
            <a:lvl1pPr>
              <a:defRPr sz="1575" b="1">
                <a:solidFill>
                  <a:srgbClr val="000000"/>
                </a:solidFill>
                <a:latin typeface="Calibri"/>
                <a:ea typeface="Calibri"/>
                <a:cs typeface="Calibri"/>
              </a:defRPr>
            </a:lvl1pPr>
            <a:lvl2pPr>
              <a:defRPr sz="1575" b="1">
                <a:solidFill>
                  <a:srgbClr val="000000"/>
                </a:solidFill>
                <a:latin typeface="Calibri"/>
                <a:ea typeface="Calibri"/>
                <a:cs typeface="Calibri"/>
              </a:defRPr>
            </a:lvl2pPr>
            <a:lvl3pPr>
              <a:defRPr sz="1575" b="1">
                <a:solidFill>
                  <a:srgbClr val="000000"/>
                </a:solidFill>
                <a:latin typeface="Calibri"/>
                <a:ea typeface="Calibri"/>
                <a:cs typeface="Calibri"/>
              </a:defRPr>
            </a:lvl3pPr>
            <a:lvl4pPr>
              <a:defRPr sz="1575" b="1">
                <a:solidFill>
                  <a:srgbClr val="000000"/>
                </a:solidFill>
                <a:latin typeface="Calibri"/>
                <a:ea typeface="Calibri"/>
                <a:cs typeface="Calibri"/>
              </a:defRPr>
            </a:lvl4pPr>
            <a:lvl5pPr>
              <a:defRPr sz="1575" b="1">
                <a:solidFill>
                  <a:srgbClr val="000000"/>
                </a:solidFill>
                <a:latin typeface="Calibri"/>
                <a:ea typeface="Calibri"/>
                <a:cs typeface="Calibri"/>
              </a:defRPr>
            </a:lvl5pPr>
            <a:lvl6pPr>
              <a:defRPr sz="1575" b="1">
                <a:solidFill>
                  <a:srgbClr val="000000"/>
                </a:solidFill>
                <a:latin typeface="Calibri"/>
                <a:ea typeface="Calibri"/>
                <a:cs typeface="Calibri"/>
              </a:defRPr>
            </a:lvl6pPr>
            <a:lvl7pPr>
              <a:defRPr sz="1575" b="1">
                <a:solidFill>
                  <a:srgbClr val="000000"/>
                </a:solidFill>
                <a:latin typeface="Calibri"/>
                <a:ea typeface="Calibri"/>
                <a:cs typeface="Calibri"/>
              </a:defRPr>
            </a:lvl7pPr>
            <a:lvl8pPr>
              <a:defRPr sz="1575" b="1">
                <a:solidFill>
                  <a:srgbClr val="000000"/>
                </a:solidFill>
                <a:latin typeface="Calibri"/>
                <a:ea typeface="Calibri"/>
                <a:cs typeface="Calibri"/>
              </a:defRPr>
            </a:lvl8pPr>
            <a:lvl9pPr>
              <a:defRPr sz="1575" b="1">
                <a:solidFill>
                  <a:srgbClr val="000000"/>
                </a:solidFill>
                <a:latin typeface="Calibri"/>
                <a:ea typeface="Calibri"/>
                <a:cs typeface="Calibri"/>
              </a:defRPr>
            </a:lvl9pPr>
          </a:lstStyle>
          <a:p>
            <a:pPr>
              <a:defRPr sz="1575" b="1">
                <a:solidFill>
                  <a:srgbClr val="000000"/>
                </a:solidFill>
                <a:latin typeface="Calibri"/>
                <a:ea typeface="Calibri"/>
                <a:cs typeface="Calibri"/>
              </a:defRPr>
            </a:pPr>
            <a:r>
              <a:rPr sz="1575" b="1">
                <a:solidFill>
                  <a:srgbClr val="000000"/>
                </a:solidFill>
                <a:latin typeface="Calibri"/>
                <a:ea typeface="Calibri"/>
                <a:cs typeface="Calibri"/>
              </a:rPr>
              <a:t>7 / 9 accepted samples</a:t>
            </a:r>
          </a:p>
        </p:txBody>
      </p:sp>
      <p:sp>
        <p:nvSpPr>
          <p:cNvPr id="7" name="Rectangle 6">
            <a:extLst>
              <a:ext uri="{FF2B5EF4-FFF2-40B4-BE49-F238E27FC236}">
                <a16:creationId xmlns:a16="http://schemas.microsoft.com/office/drawing/2014/main" id="{37E928BA-158B-40C4-8CF0-721DBFA40D55}"/>
              </a:ext>
            </a:extLst>
          </p:cNvPr>
          <p:cNvSpPr>
            <a:spLocks noGrp="1"/>
          </p:cNvSpPr>
          <p:nvPr/>
        </p:nvSpPr>
        <p:spPr>
          <a:xfrm>
            <a:off x="619125" y="5534025"/>
            <a:ext cx="5238750" cy="438150"/>
          </a:xfrm>
          <a:prstGeom prst="rect">
            <a:avLst/>
          </a:prstGeom>
          <a:noFill/>
          <a:ln w="0">
            <a:noFill/>
          </a:ln>
        </p:spPr>
        <p:txBody>
          <a:bodyPr lIns="0" tIns="0" rIns="0" bIns="0"/>
          <a:lstStyle>
            <a:defPPr>
              <a:defRPr sz="1200" b="0">
                <a:solidFill>
                  <a:srgbClr val="000000"/>
                </a:solidFill>
                <a:latin typeface="Calibri"/>
                <a:ea typeface="Calibri"/>
                <a:cs typeface="Calibri"/>
              </a:defRPr>
            </a:defPPr>
            <a:lvl1pPr>
              <a:defRPr sz="1200" b="0">
                <a:solidFill>
                  <a:srgbClr val="000000"/>
                </a:solidFill>
                <a:latin typeface="Calibri"/>
                <a:ea typeface="Calibri"/>
                <a:cs typeface="Calibri"/>
              </a:defRPr>
            </a:lvl1pPr>
            <a:lvl2pPr>
              <a:defRPr sz="1200" b="0">
                <a:solidFill>
                  <a:srgbClr val="000000"/>
                </a:solidFill>
                <a:latin typeface="Calibri"/>
                <a:ea typeface="Calibri"/>
                <a:cs typeface="Calibri"/>
              </a:defRPr>
            </a:lvl2pPr>
            <a:lvl3pPr>
              <a:defRPr sz="1200" b="0">
                <a:solidFill>
                  <a:srgbClr val="000000"/>
                </a:solidFill>
                <a:latin typeface="Calibri"/>
                <a:ea typeface="Calibri"/>
                <a:cs typeface="Calibri"/>
              </a:defRPr>
            </a:lvl3pPr>
            <a:lvl4pPr>
              <a:defRPr sz="1200" b="0">
                <a:solidFill>
                  <a:srgbClr val="000000"/>
                </a:solidFill>
                <a:latin typeface="Calibri"/>
                <a:ea typeface="Calibri"/>
                <a:cs typeface="Calibri"/>
              </a:defRPr>
            </a:lvl4pPr>
            <a:lvl5pPr>
              <a:defRPr sz="1200" b="0">
                <a:solidFill>
                  <a:srgbClr val="000000"/>
                </a:solidFill>
                <a:latin typeface="Calibri"/>
                <a:ea typeface="Calibri"/>
                <a:cs typeface="Calibri"/>
              </a:defRPr>
            </a:lvl5pPr>
            <a:lvl6pPr>
              <a:defRPr sz="1200" b="0">
                <a:solidFill>
                  <a:srgbClr val="000000"/>
                </a:solidFill>
                <a:latin typeface="Calibri"/>
                <a:ea typeface="Calibri"/>
                <a:cs typeface="Calibri"/>
              </a:defRPr>
            </a:lvl6pPr>
            <a:lvl7pPr>
              <a:defRPr sz="1200" b="0">
                <a:solidFill>
                  <a:srgbClr val="000000"/>
                </a:solidFill>
                <a:latin typeface="Calibri"/>
                <a:ea typeface="Calibri"/>
                <a:cs typeface="Calibri"/>
              </a:defRPr>
            </a:lvl7pPr>
            <a:lvl8pPr>
              <a:defRPr sz="1200" b="0">
                <a:solidFill>
                  <a:srgbClr val="000000"/>
                </a:solidFill>
                <a:latin typeface="Calibri"/>
                <a:ea typeface="Calibri"/>
                <a:cs typeface="Calibri"/>
              </a:defRPr>
            </a:lvl8pPr>
            <a:lvl9pPr>
              <a:defRPr sz="1200" b="0">
                <a:solidFill>
                  <a:srgbClr val="000000"/>
                </a:solidFill>
                <a:latin typeface="Calibri"/>
                <a:ea typeface="Calibri"/>
                <a:cs typeface="Calibri"/>
              </a:defRPr>
            </a:lvl9pPr>
          </a:lstStyle>
          <a:p>
            <a:pPr>
              <a:defRPr sz="1200" b="0">
                <a:solidFill>
                  <a:srgbClr val="000000"/>
                </a:solidFill>
                <a:latin typeface="Calibri"/>
                <a:ea typeface="Calibri"/>
                <a:cs typeface="Calibri"/>
              </a:defRPr>
            </a:pPr>
            <a:r>
              <a:rPr sz="1200" b="0">
                <a:solidFill>
                  <a:srgbClr val="000000"/>
                </a:solidFill>
                <a:latin typeface="Calibri"/>
                <a:ea typeface="Calibri"/>
                <a:cs typeface="Calibri"/>
              </a:rPr>
              <a:t>7: mission energy / acceptance flag; 15: nonfinite</a:t>
            </a:r>
          </a:p>
        </p:txBody>
      </p:sp>
      <p:graphicFrame>
        <p:nvGraphicFramePr>
          <p:cNvPr id="8" name="Chart">
            <a:extLst>
              <a:ext uri="{FF2B5EF4-FFF2-40B4-BE49-F238E27FC236}">
                <a16:creationId xmlns:a16="http://schemas.microsoft.com/office/drawing/2014/main" id="{6A71F2D2-E394-462F-A3FF-F4F147883239}"/>
              </a:ext>
            </a:extLst>
          </p:cNvPr>
          <p:cNvGraphicFramePr/>
          <p:nvPr/>
        </p:nvGraphicFramePr>
        <p:xfrm>
          <a:off x="6191250" y="1762125"/>
          <a:ext cx="5476875" cy="3333750"/>
        </p:xfrm>
        <a:graphic>
          <a:graphicData uri="http://schemas.openxmlformats.org/drawingml/2006/chart">
            <c:chart xmlns:c="http://schemas.openxmlformats.org/drawingml/2006/chart" xmlns:r="http://schemas.openxmlformats.org/officeDocument/2006/relationships" r:id="rId4"/>
          </a:graphicData>
        </a:graphic>
      </p:graphicFrame>
      <p:sp>
        <p:nvSpPr>
          <p:cNvPr id="9" name="Rectangle 8">
            <a:extLst>
              <a:ext uri="{FF2B5EF4-FFF2-40B4-BE49-F238E27FC236}">
                <a16:creationId xmlns:a16="http://schemas.microsoft.com/office/drawing/2014/main" id="{7F56A497-1053-434A-8A2D-7082449D601B}"/>
              </a:ext>
            </a:extLst>
          </p:cNvPr>
          <p:cNvSpPr>
            <a:spLocks noGrp="1"/>
          </p:cNvSpPr>
          <p:nvPr/>
        </p:nvSpPr>
        <p:spPr>
          <a:xfrm>
            <a:off x="6334125" y="5191125"/>
            <a:ext cx="5238750" cy="266700"/>
          </a:xfrm>
          <a:prstGeom prst="rect">
            <a:avLst/>
          </a:prstGeom>
          <a:noFill/>
          <a:ln w="0">
            <a:noFill/>
          </a:ln>
        </p:spPr>
        <p:txBody>
          <a:bodyPr lIns="0" tIns="0" rIns="0" bIns="0"/>
          <a:lstStyle>
            <a:defPPr>
              <a:defRPr sz="1575" b="1">
                <a:solidFill>
                  <a:srgbClr val="000000"/>
                </a:solidFill>
                <a:latin typeface="Calibri"/>
                <a:ea typeface="Calibri"/>
                <a:cs typeface="Calibri"/>
              </a:defRPr>
            </a:defPPr>
            <a:lvl1pPr>
              <a:defRPr sz="1575" b="1">
                <a:solidFill>
                  <a:srgbClr val="000000"/>
                </a:solidFill>
                <a:latin typeface="Calibri"/>
                <a:ea typeface="Calibri"/>
                <a:cs typeface="Calibri"/>
              </a:defRPr>
            </a:lvl1pPr>
            <a:lvl2pPr>
              <a:defRPr sz="1575" b="1">
                <a:solidFill>
                  <a:srgbClr val="000000"/>
                </a:solidFill>
                <a:latin typeface="Calibri"/>
                <a:ea typeface="Calibri"/>
                <a:cs typeface="Calibri"/>
              </a:defRPr>
            </a:lvl2pPr>
            <a:lvl3pPr>
              <a:defRPr sz="1575" b="1">
                <a:solidFill>
                  <a:srgbClr val="000000"/>
                </a:solidFill>
                <a:latin typeface="Calibri"/>
                <a:ea typeface="Calibri"/>
                <a:cs typeface="Calibri"/>
              </a:defRPr>
            </a:lvl3pPr>
            <a:lvl4pPr>
              <a:defRPr sz="1575" b="1">
                <a:solidFill>
                  <a:srgbClr val="000000"/>
                </a:solidFill>
                <a:latin typeface="Calibri"/>
                <a:ea typeface="Calibri"/>
                <a:cs typeface="Calibri"/>
              </a:defRPr>
            </a:lvl4pPr>
            <a:lvl5pPr>
              <a:defRPr sz="1575" b="1">
                <a:solidFill>
                  <a:srgbClr val="000000"/>
                </a:solidFill>
                <a:latin typeface="Calibri"/>
                <a:ea typeface="Calibri"/>
                <a:cs typeface="Calibri"/>
              </a:defRPr>
            </a:lvl5pPr>
            <a:lvl6pPr>
              <a:defRPr sz="1575" b="1">
                <a:solidFill>
                  <a:srgbClr val="000000"/>
                </a:solidFill>
                <a:latin typeface="Calibri"/>
                <a:ea typeface="Calibri"/>
                <a:cs typeface="Calibri"/>
              </a:defRPr>
            </a:lvl6pPr>
            <a:lvl7pPr>
              <a:defRPr sz="1575" b="1">
                <a:solidFill>
                  <a:srgbClr val="000000"/>
                </a:solidFill>
                <a:latin typeface="Calibri"/>
                <a:ea typeface="Calibri"/>
                <a:cs typeface="Calibri"/>
              </a:defRPr>
            </a:lvl7pPr>
            <a:lvl8pPr>
              <a:defRPr sz="1575" b="1">
                <a:solidFill>
                  <a:srgbClr val="000000"/>
                </a:solidFill>
                <a:latin typeface="Calibri"/>
                <a:ea typeface="Calibri"/>
                <a:cs typeface="Calibri"/>
              </a:defRPr>
            </a:lvl8pPr>
            <a:lvl9pPr>
              <a:defRPr sz="1575" b="1">
                <a:solidFill>
                  <a:srgbClr val="000000"/>
                </a:solidFill>
                <a:latin typeface="Calibri"/>
                <a:ea typeface="Calibri"/>
                <a:cs typeface="Calibri"/>
              </a:defRPr>
            </a:lvl9pPr>
          </a:lstStyle>
          <a:p>
            <a:pPr>
              <a:defRPr sz="1575" b="1">
                <a:solidFill>
                  <a:srgbClr val="000000"/>
                </a:solidFill>
                <a:latin typeface="Calibri"/>
                <a:ea typeface="Calibri"/>
                <a:cs typeface="Calibri"/>
              </a:defRPr>
            </a:pPr>
            <a:r>
              <a:rPr sz="1575" b="1">
                <a:solidFill>
                  <a:srgbClr val="000000"/>
                </a:solidFill>
                <a:latin typeface="Calibri"/>
                <a:ea typeface="Calibri"/>
                <a:cs typeface="Calibri"/>
              </a:rPr>
              <a:t>7 / 7 accepted samples</a:t>
            </a:r>
          </a:p>
        </p:txBody>
      </p:sp>
      <p:sp>
        <p:nvSpPr>
          <p:cNvPr id="10" name="Rectangle 9">
            <a:extLst>
              <a:ext uri="{FF2B5EF4-FFF2-40B4-BE49-F238E27FC236}">
                <a16:creationId xmlns:a16="http://schemas.microsoft.com/office/drawing/2014/main" id="{DA36F0D6-037E-4BD2-BCBA-EAF55CB0D4C5}"/>
              </a:ext>
            </a:extLst>
          </p:cNvPr>
          <p:cNvSpPr>
            <a:spLocks noGrp="1"/>
          </p:cNvSpPr>
          <p:nvPr/>
        </p:nvSpPr>
        <p:spPr>
          <a:xfrm>
            <a:off x="6334125" y="5534025"/>
            <a:ext cx="5238750" cy="438150"/>
          </a:xfrm>
          <a:prstGeom prst="rect">
            <a:avLst/>
          </a:prstGeom>
          <a:noFill/>
          <a:ln w="0">
            <a:noFill/>
          </a:ln>
        </p:spPr>
        <p:txBody>
          <a:bodyPr lIns="0" tIns="0" rIns="0" bIns="0"/>
          <a:lstStyle>
            <a:defPPr>
              <a:defRPr sz="1200" b="0">
                <a:solidFill>
                  <a:srgbClr val="000000"/>
                </a:solidFill>
                <a:latin typeface="Calibri"/>
                <a:ea typeface="Calibri"/>
                <a:cs typeface="Calibri"/>
              </a:defRPr>
            </a:defPPr>
            <a:lvl1pPr>
              <a:defRPr sz="1200" b="0">
                <a:solidFill>
                  <a:srgbClr val="000000"/>
                </a:solidFill>
                <a:latin typeface="Calibri"/>
                <a:ea typeface="Calibri"/>
                <a:cs typeface="Calibri"/>
              </a:defRPr>
            </a:lvl1pPr>
            <a:lvl2pPr>
              <a:defRPr sz="1200" b="0">
                <a:solidFill>
                  <a:srgbClr val="000000"/>
                </a:solidFill>
                <a:latin typeface="Calibri"/>
                <a:ea typeface="Calibri"/>
                <a:cs typeface="Calibri"/>
              </a:defRPr>
            </a:lvl2pPr>
            <a:lvl3pPr>
              <a:defRPr sz="1200" b="0">
                <a:solidFill>
                  <a:srgbClr val="000000"/>
                </a:solidFill>
                <a:latin typeface="Calibri"/>
                <a:ea typeface="Calibri"/>
                <a:cs typeface="Calibri"/>
              </a:defRPr>
            </a:lvl3pPr>
            <a:lvl4pPr>
              <a:defRPr sz="1200" b="0">
                <a:solidFill>
                  <a:srgbClr val="000000"/>
                </a:solidFill>
                <a:latin typeface="Calibri"/>
                <a:ea typeface="Calibri"/>
                <a:cs typeface="Calibri"/>
              </a:defRPr>
            </a:lvl4pPr>
            <a:lvl5pPr>
              <a:defRPr sz="1200" b="0">
                <a:solidFill>
                  <a:srgbClr val="000000"/>
                </a:solidFill>
                <a:latin typeface="Calibri"/>
                <a:ea typeface="Calibri"/>
                <a:cs typeface="Calibri"/>
              </a:defRPr>
            </a:lvl5pPr>
            <a:lvl6pPr>
              <a:defRPr sz="1200" b="0">
                <a:solidFill>
                  <a:srgbClr val="000000"/>
                </a:solidFill>
                <a:latin typeface="Calibri"/>
                <a:ea typeface="Calibri"/>
                <a:cs typeface="Calibri"/>
              </a:defRPr>
            </a:lvl6pPr>
            <a:lvl7pPr>
              <a:defRPr sz="1200" b="0">
                <a:solidFill>
                  <a:srgbClr val="000000"/>
                </a:solidFill>
                <a:latin typeface="Calibri"/>
                <a:ea typeface="Calibri"/>
                <a:cs typeface="Calibri"/>
              </a:defRPr>
            </a:lvl7pPr>
            <a:lvl8pPr>
              <a:defRPr sz="1200" b="0">
                <a:solidFill>
                  <a:srgbClr val="000000"/>
                </a:solidFill>
                <a:latin typeface="Calibri"/>
                <a:ea typeface="Calibri"/>
                <a:cs typeface="Calibri"/>
              </a:defRPr>
            </a:lvl8pPr>
            <a:lvl9pPr>
              <a:defRPr sz="1200" b="0">
                <a:solidFill>
                  <a:srgbClr val="000000"/>
                </a:solidFill>
                <a:latin typeface="Calibri"/>
                <a:ea typeface="Calibri"/>
                <a:cs typeface="Calibri"/>
              </a:defRPr>
            </a:lvl9pPr>
          </a:lstStyle>
          <a:p>
            <a:pPr>
              <a:defRPr sz="1200" b="0">
                <a:solidFill>
                  <a:srgbClr val="000000"/>
                </a:solidFill>
                <a:latin typeface="Calibri"/>
                <a:ea typeface="Calibri"/>
                <a:cs typeface="Calibri"/>
              </a:defRPr>
            </a:pPr>
            <a:r>
              <a:rPr sz="1200" b="0">
                <a:solidFill>
                  <a:srgbClr val="000000"/>
                </a:solidFill>
                <a:latin typeface="Calibri"/>
                <a:ea typeface="Calibri"/>
                <a:cs typeface="Calibri"/>
              </a:rPr>
              <a:t>All samples pass the sizing acceptance screen.</a:t>
            </a:r>
          </a:p>
        </p:txBody>
      </p:sp>
    </p:spTree>
    <p:extLst>
      <p:ext uri="{BB962C8B-B14F-4D97-AF65-F5344CB8AC3E}">
        <p14:creationId xmlns:p14="http://schemas.microsoft.com/office/powerpoint/2010/main" val="356562008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A09D4BB-AA57-4F66-B789-5C99A581272C}"/>
              </a:ext>
            </a:extLst>
          </p:cNvPr>
          <p:cNvSpPr>
            <a:spLocks noGrp="1"/>
          </p:cNvSpPr>
          <p:nvPr/>
        </p:nvSpPr>
        <p:spPr>
          <a:xfrm>
            <a:off x="838200" y="361950"/>
            <a:ext cx="10572750" cy="495300"/>
          </a:xfrm>
          <a:prstGeom prst="rect">
            <a:avLst/>
          </a:prstGeom>
          <a:noFill/>
          <a:ln w="0">
            <a:noFill/>
          </a:ln>
        </p:spPr>
        <p:txBody>
          <a:bodyPr lIns="0" tIns="0" rIns="0" bIns="0"/>
          <a:lstStyle>
            <a:defPPr>
              <a:defRPr sz="2400" b="1">
                <a:solidFill>
                  <a:srgbClr val="000000"/>
                </a:solidFill>
                <a:latin typeface="Calibri"/>
                <a:ea typeface="Calibri"/>
                <a:cs typeface="Calibri"/>
              </a:defRPr>
            </a:defPPr>
            <a:lvl1pPr>
              <a:defRPr sz="2400" b="1">
                <a:solidFill>
                  <a:srgbClr val="000000"/>
                </a:solidFill>
                <a:latin typeface="Calibri"/>
                <a:ea typeface="Calibri"/>
                <a:cs typeface="Calibri"/>
              </a:defRPr>
            </a:lvl1pPr>
            <a:lvl2pPr>
              <a:defRPr sz="2400" b="1">
                <a:solidFill>
                  <a:srgbClr val="000000"/>
                </a:solidFill>
                <a:latin typeface="Calibri"/>
                <a:ea typeface="Calibri"/>
                <a:cs typeface="Calibri"/>
              </a:defRPr>
            </a:lvl2pPr>
            <a:lvl3pPr>
              <a:defRPr sz="2400" b="1">
                <a:solidFill>
                  <a:srgbClr val="000000"/>
                </a:solidFill>
                <a:latin typeface="Calibri"/>
                <a:ea typeface="Calibri"/>
                <a:cs typeface="Calibri"/>
              </a:defRPr>
            </a:lvl3pPr>
            <a:lvl4pPr>
              <a:defRPr sz="2400" b="1">
                <a:solidFill>
                  <a:srgbClr val="000000"/>
                </a:solidFill>
                <a:latin typeface="Calibri"/>
                <a:ea typeface="Calibri"/>
                <a:cs typeface="Calibri"/>
              </a:defRPr>
            </a:lvl4pPr>
            <a:lvl5pPr>
              <a:defRPr sz="2400" b="1">
                <a:solidFill>
                  <a:srgbClr val="000000"/>
                </a:solidFill>
                <a:latin typeface="Calibri"/>
                <a:ea typeface="Calibri"/>
                <a:cs typeface="Calibri"/>
              </a:defRPr>
            </a:lvl5pPr>
            <a:lvl6pPr>
              <a:defRPr sz="2400" b="1">
                <a:solidFill>
                  <a:srgbClr val="000000"/>
                </a:solidFill>
                <a:latin typeface="Calibri"/>
                <a:ea typeface="Calibri"/>
                <a:cs typeface="Calibri"/>
              </a:defRPr>
            </a:lvl6pPr>
            <a:lvl7pPr>
              <a:defRPr sz="2400" b="1">
                <a:solidFill>
                  <a:srgbClr val="000000"/>
                </a:solidFill>
                <a:latin typeface="Calibri"/>
                <a:ea typeface="Calibri"/>
                <a:cs typeface="Calibri"/>
              </a:defRPr>
            </a:lvl7pPr>
            <a:lvl8pPr>
              <a:defRPr sz="2400" b="1">
                <a:solidFill>
                  <a:srgbClr val="000000"/>
                </a:solidFill>
                <a:latin typeface="Calibri"/>
                <a:ea typeface="Calibri"/>
                <a:cs typeface="Calibri"/>
              </a:defRPr>
            </a:lvl8pPr>
            <a:lvl9pPr>
              <a:defRPr sz="2400" b="1">
                <a:solidFill>
                  <a:srgbClr val="000000"/>
                </a:solidFill>
                <a:latin typeface="Calibri"/>
                <a:ea typeface="Calibri"/>
                <a:cs typeface="Calibri"/>
              </a:defRPr>
            </a:lvl9pPr>
          </a:lstStyle>
          <a:p>
            <a:pPr>
              <a:defRPr sz="2400" b="1">
                <a:solidFill>
                  <a:srgbClr val="000000"/>
                </a:solidFill>
                <a:latin typeface="Calibri"/>
                <a:ea typeface="Calibri"/>
                <a:cs typeface="Calibri"/>
              </a:defRPr>
            </a:pPr>
            <a:r>
              <a:rPr sz="2400" b="1">
                <a:solidFill>
                  <a:srgbClr val="000000"/>
                </a:solidFill>
                <a:latin typeface="Calibri"/>
                <a:ea typeface="Calibri"/>
                <a:cs typeface="Calibri"/>
              </a:rPr>
              <a:t>NASA electric: final DL and tip speed</a:t>
            </a:r>
          </a:p>
        </p:txBody>
      </p:sp>
      <p:sp>
        <p:nvSpPr>
          <p:cNvPr id="2" name="Rectangle 1">
            <a:extLst>
              <a:ext uri="{FF2B5EF4-FFF2-40B4-BE49-F238E27FC236}">
                <a16:creationId xmlns:a16="http://schemas.microsoft.com/office/drawing/2014/main" id="{8F6F37D0-DAA3-4607-AB72-07BBF9C18CBC}"/>
              </a:ext>
            </a:extLst>
          </p:cNvPr>
          <p:cNvSpPr>
            <a:spLocks noGrp="1"/>
          </p:cNvSpPr>
          <p:nvPr/>
        </p:nvSpPr>
        <p:spPr>
          <a:xfrm>
            <a:off x="476250" y="1028700"/>
            <a:ext cx="11239500" cy="590550"/>
          </a:xfrm>
          <a:prstGeom prst="rect">
            <a:avLst/>
          </a:prstGeom>
          <a:noFill/>
          <a:ln w="0">
            <a:noFill/>
          </a:ln>
        </p:spPr>
        <p:txBody>
          <a:bodyPr lIns="0" tIns="0" rIns="0" bIns="0"/>
          <a:lstStyle>
            <a:defPPr>
              <a:defRPr sz="1575" b="0">
                <a:solidFill>
                  <a:srgbClr val="333333"/>
                </a:solidFill>
                <a:latin typeface="Calibri"/>
                <a:ea typeface="Calibri"/>
                <a:cs typeface="Calibri"/>
              </a:defRPr>
            </a:defPPr>
            <a:lvl1pPr>
              <a:defRPr sz="1575" b="0">
                <a:solidFill>
                  <a:srgbClr val="333333"/>
                </a:solidFill>
                <a:latin typeface="Calibri"/>
                <a:ea typeface="Calibri"/>
                <a:cs typeface="Calibri"/>
              </a:defRPr>
            </a:lvl1pPr>
            <a:lvl2pPr>
              <a:defRPr sz="1575" b="0">
                <a:solidFill>
                  <a:srgbClr val="333333"/>
                </a:solidFill>
                <a:latin typeface="Calibri"/>
                <a:ea typeface="Calibri"/>
                <a:cs typeface="Calibri"/>
              </a:defRPr>
            </a:lvl2pPr>
            <a:lvl3pPr>
              <a:defRPr sz="1575" b="0">
                <a:solidFill>
                  <a:srgbClr val="333333"/>
                </a:solidFill>
                <a:latin typeface="Calibri"/>
                <a:ea typeface="Calibri"/>
                <a:cs typeface="Calibri"/>
              </a:defRPr>
            </a:lvl3pPr>
            <a:lvl4pPr>
              <a:defRPr sz="1575" b="0">
                <a:solidFill>
                  <a:srgbClr val="333333"/>
                </a:solidFill>
                <a:latin typeface="Calibri"/>
                <a:ea typeface="Calibri"/>
                <a:cs typeface="Calibri"/>
              </a:defRPr>
            </a:lvl4pPr>
            <a:lvl5pPr>
              <a:defRPr sz="1575" b="0">
                <a:solidFill>
                  <a:srgbClr val="333333"/>
                </a:solidFill>
                <a:latin typeface="Calibri"/>
                <a:ea typeface="Calibri"/>
                <a:cs typeface="Calibri"/>
              </a:defRPr>
            </a:lvl5pPr>
            <a:lvl6pPr>
              <a:defRPr sz="1575" b="0">
                <a:solidFill>
                  <a:srgbClr val="333333"/>
                </a:solidFill>
                <a:latin typeface="Calibri"/>
                <a:ea typeface="Calibri"/>
                <a:cs typeface="Calibri"/>
              </a:defRPr>
            </a:lvl6pPr>
            <a:lvl7pPr>
              <a:defRPr sz="1575" b="0">
                <a:solidFill>
                  <a:srgbClr val="333333"/>
                </a:solidFill>
                <a:latin typeface="Calibri"/>
                <a:ea typeface="Calibri"/>
                <a:cs typeface="Calibri"/>
              </a:defRPr>
            </a:lvl7pPr>
            <a:lvl8pPr>
              <a:defRPr sz="1575" b="0">
                <a:solidFill>
                  <a:srgbClr val="333333"/>
                </a:solidFill>
                <a:latin typeface="Calibri"/>
                <a:ea typeface="Calibri"/>
                <a:cs typeface="Calibri"/>
              </a:defRPr>
            </a:lvl8pPr>
            <a:lvl9pPr>
              <a:defRPr sz="1575" b="0">
                <a:solidFill>
                  <a:srgbClr val="333333"/>
                </a:solidFill>
                <a:latin typeface="Calibri"/>
                <a:ea typeface="Calibri"/>
                <a:cs typeface="Calibri"/>
              </a:defRPr>
            </a:lvl9pPr>
          </a:lstStyle>
          <a:p>
            <a:pPr>
              <a:defRPr sz="1575" b="0">
                <a:solidFill>
                  <a:srgbClr val="333333"/>
                </a:solidFill>
                <a:latin typeface="Calibri"/>
                <a:ea typeface="Calibri"/>
                <a:cs typeface="Calibri"/>
              </a:defRPr>
            </a:pPr>
            <a:r>
              <a:rPr sz="1575" b="0">
                <a:solidFill>
                  <a:srgbClr val="333333"/>
                </a:solidFill>
                <a:latin typeface="Calibri"/>
                <a:ea typeface="Calibri"/>
                <a:cs typeface="Calibri"/>
              </a:rPr>
              <a:t>Current NDARC sizing curves use the isolated wing-fit correction. Failed samples are omitted from curves and retained in evidence. [T]</a:t>
            </a:r>
          </a:p>
        </p:txBody>
      </p:sp>
      <p:sp>
        <p:nvSpPr>
          <p:cNvPr id="3" name="Rectangle 2">
            <a:extLst>
              <a:ext uri="{FF2B5EF4-FFF2-40B4-BE49-F238E27FC236}">
                <a16:creationId xmlns:a16="http://schemas.microsoft.com/office/drawing/2014/main" id="{A764C124-CCE9-42B0-B56C-568B7170F737}"/>
              </a:ext>
            </a:extLst>
          </p:cNvPr>
          <p:cNvSpPr>
            <a:spLocks noGrp="1"/>
          </p:cNvSpPr>
          <p:nvPr/>
        </p:nvSpPr>
        <p:spPr>
          <a:xfrm>
            <a:off x="476250" y="6076950"/>
            <a:ext cx="11191875" cy="619125"/>
          </a:xfrm>
          <a:prstGeom prst="rect">
            <a:avLst/>
          </a:prstGeom>
          <a:noFill/>
          <a:ln w="0">
            <a:noFill/>
          </a:ln>
        </p:spPr>
        <p:txBody>
          <a:bodyPr lIns="0" tIns="0" rIns="0" bIns="0"/>
          <a:lstStyle>
            <a:defPPr>
              <a:defRPr sz="1050" b="0">
                <a:solidFill>
                  <a:srgbClr val="333333"/>
                </a:solidFill>
                <a:latin typeface="Calibri"/>
                <a:ea typeface="Calibri"/>
                <a:cs typeface="Calibri"/>
              </a:defRPr>
            </a:defPPr>
            <a:lvl1pPr>
              <a:defRPr sz="1050" b="0">
                <a:solidFill>
                  <a:srgbClr val="333333"/>
                </a:solidFill>
                <a:latin typeface="Calibri"/>
                <a:ea typeface="Calibri"/>
                <a:cs typeface="Calibri"/>
              </a:defRPr>
            </a:lvl1pPr>
            <a:lvl2pPr>
              <a:defRPr sz="1050" b="0">
                <a:solidFill>
                  <a:srgbClr val="333333"/>
                </a:solidFill>
                <a:latin typeface="Calibri"/>
                <a:ea typeface="Calibri"/>
                <a:cs typeface="Calibri"/>
              </a:defRPr>
            </a:lvl2pPr>
            <a:lvl3pPr>
              <a:defRPr sz="1050" b="0">
                <a:solidFill>
                  <a:srgbClr val="333333"/>
                </a:solidFill>
                <a:latin typeface="Calibri"/>
                <a:ea typeface="Calibri"/>
                <a:cs typeface="Calibri"/>
              </a:defRPr>
            </a:lvl3pPr>
            <a:lvl4pPr>
              <a:defRPr sz="1050" b="0">
                <a:solidFill>
                  <a:srgbClr val="333333"/>
                </a:solidFill>
                <a:latin typeface="Calibri"/>
                <a:ea typeface="Calibri"/>
                <a:cs typeface="Calibri"/>
              </a:defRPr>
            </a:lvl4pPr>
            <a:lvl5pPr>
              <a:defRPr sz="1050" b="0">
                <a:solidFill>
                  <a:srgbClr val="333333"/>
                </a:solidFill>
                <a:latin typeface="Calibri"/>
                <a:ea typeface="Calibri"/>
                <a:cs typeface="Calibri"/>
              </a:defRPr>
            </a:lvl5pPr>
            <a:lvl6pPr>
              <a:defRPr sz="1050" b="0">
                <a:solidFill>
                  <a:srgbClr val="333333"/>
                </a:solidFill>
                <a:latin typeface="Calibri"/>
                <a:ea typeface="Calibri"/>
                <a:cs typeface="Calibri"/>
              </a:defRPr>
            </a:lvl6pPr>
            <a:lvl7pPr>
              <a:defRPr sz="1050" b="0">
                <a:solidFill>
                  <a:srgbClr val="333333"/>
                </a:solidFill>
                <a:latin typeface="Calibri"/>
                <a:ea typeface="Calibri"/>
                <a:cs typeface="Calibri"/>
              </a:defRPr>
            </a:lvl7pPr>
            <a:lvl8pPr>
              <a:defRPr sz="1050" b="0">
                <a:solidFill>
                  <a:srgbClr val="333333"/>
                </a:solidFill>
                <a:latin typeface="Calibri"/>
                <a:ea typeface="Calibri"/>
                <a:cs typeface="Calibri"/>
              </a:defRPr>
            </a:lvl8pPr>
            <a:lvl9pPr>
              <a:defRPr sz="1050" b="0">
                <a:solidFill>
                  <a:srgbClr val="333333"/>
                </a:solidFill>
                <a:latin typeface="Calibri"/>
                <a:ea typeface="Calibri"/>
                <a:cs typeface="Calibri"/>
              </a:defRPr>
            </a:lvl9pPr>
          </a:lstStyle>
          <a:p>
            <a:pPr>
              <a:defRPr sz="1050" b="0">
                <a:solidFill>
                  <a:srgbClr val="333333"/>
                </a:solidFill>
                <a:latin typeface="Calibri"/>
                <a:ea typeface="Calibri"/>
                <a:cs typeface="Calibri"/>
              </a:defRPr>
            </a:pPr>
            <a:r>
              <a:rPr sz="1050" b="0">
                <a:solidFill>
                  <a:srgbClr val="333333"/>
                </a:solidFill>
                <a:latin typeface="Calibri"/>
                <a:ea typeface="Calibri"/>
                <a:cs typeface="Calibri"/>
              </a:rPr>
              <a:t>[N] Radotich / NASA, Conceptual Design of Tiltrotor Aircraft for Urban Air Mobility (2022), pp. 4–13, Tables 2–4 (pp. 15–17). https://rotorcraft.arc.nasa.gov/Publications/files/Michael_Radotich_13-Jan-22_03-47-02.pdf</a:t>
            </a:r>
          </a:p>
          <a:p>
            <a:pPr>
              <a:defRPr sz="1050" b="0">
                <a:solidFill>
                  <a:srgbClr val="333333"/>
                </a:solidFill>
                <a:latin typeface="Calibri"/>
                <a:ea typeface="Calibri"/>
                <a:cs typeface="Calibri"/>
              </a:defRPr>
            </a:pPr>
            <a:r>
              <a:rPr sz="1050" b="0">
                <a:solidFill>
                  <a:srgbClr val="333333"/>
                </a:solidFill>
                <a:latin typeface="Calibri"/>
                <a:ea typeface="Calibri"/>
                <a:cs typeface="Calibri"/>
              </a:rPr>
              <a:t>[T] Current NDARC predictions: nasa-tr-sizing-20261028*; research/nasa-tr-sizing-20261028/all-results.json, sweep-summary.json and final-baseline-comparison.json.</a:t>
            </a:r>
          </a:p>
        </p:txBody>
      </p:sp>
      <p:sp>
        <p:nvSpPr>
          <p:cNvPr id="4" name="Rectangle 3">
            <a:extLst>
              <a:ext uri="{FF2B5EF4-FFF2-40B4-BE49-F238E27FC236}">
                <a16:creationId xmlns:a16="http://schemas.microsoft.com/office/drawing/2014/main" id="{04DE00B4-205B-475E-AD9A-5A0AC605A5CA}"/>
              </a:ext>
            </a:extLst>
          </p:cNvPr>
          <p:cNvSpPr>
            <a:spLocks noGrp="1"/>
          </p:cNvSpPr>
          <p:nvPr/>
        </p:nvSpPr>
        <p:spPr>
          <a:xfrm>
            <a:off x="11430000" y="6553200"/>
            <a:ext cx="333375" cy="209550"/>
          </a:xfrm>
          <a:prstGeom prst="rect">
            <a:avLst/>
          </a:prstGeom>
          <a:noFill/>
          <a:ln w="0">
            <a:noFill/>
          </a:ln>
        </p:spPr>
        <p:txBody>
          <a:bodyPr lIns="0" tIns="0" rIns="0" bIns="0"/>
          <a:lstStyle>
            <a:defPPr>
              <a:defRPr sz="1125" b="0">
                <a:solidFill>
                  <a:srgbClr val="000000"/>
                </a:solidFill>
                <a:latin typeface="Calibri"/>
                <a:ea typeface="Calibri"/>
                <a:cs typeface="Calibri"/>
              </a:defRPr>
            </a:defPPr>
            <a:lvl1pPr>
              <a:defRPr sz="1125" b="0">
                <a:solidFill>
                  <a:srgbClr val="000000"/>
                </a:solidFill>
                <a:latin typeface="Calibri"/>
                <a:ea typeface="Calibri"/>
                <a:cs typeface="Calibri"/>
              </a:defRPr>
            </a:lvl1pPr>
            <a:lvl2pPr>
              <a:defRPr sz="1125" b="0">
                <a:solidFill>
                  <a:srgbClr val="000000"/>
                </a:solidFill>
                <a:latin typeface="Calibri"/>
                <a:ea typeface="Calibri"/>
                <a:cs typeface="Calibri"/>
              </a:defRPr>
            </a:lvl2pPr>
            <a:lvl3pPr>
              <a:defRPr sz="1125" b="0">
                <a:solidFill>
                  <a:srgbClr val="000000"/>
                </a:solidFill>
                <a:latin typeface="Calibri"/>
                <a:ea typeface="Calibri"/>
                <a:cs typeface="Calibri"/>
              </a:defRPr>
            </a:lvl3pPr>
            <a:lvl4pPr>
              <a:defRPr sz="1125" b="0">
                <a:solidFill>
                  <a:srgbClr val="000000"/>
                </a:solidFill>
                <a:latin typeface="Calibri"/>
                <a:ea typeface="Calibri"/>
                <a:cs typeface="Calibri"/>
              </a:defRPr>
            </a:lvl4pPr>
            <a:lvl5pPr>
              <a:defRPr sz="1125" b="0">
                <a:solidFill>
                  <a:srgbClr val="000000"/>
                </a:solidFill>
                <a:latin typeface="Calibri"/>
                <a:ea typeface="Calibri"/>
                <a:cs typeface="Calibri"/>
              </a:defRPr>
            </a:lvl5pPr>
            <a:lvl6pPr>
              <a:defRPr sz="1125" b="0">
                <a:solidFill>
                  <a:srgbClr val="000000"/>
                </a:solidFill>
                <a:latin typeface="Calibri"/>
                <a:ea typeface="Calibri"/>
                <a:cs typeface="Calibri"/>
              </a:defRPr>
            </a:lvl6pPr>
            <a:lvl7pPr>
              <a:defRPr sz="1125" b="0">
                <a:solidFill>
                  <a:srgbClr val="000000"/>
                </a:solidFill>
                <a:latin typeface="Calibri"/>
                <a:ea typeface="Calibri"/>
                <a:cs typeface="Calibri"/>
              </a:defRPr>
            </a:lvl7pPr>
            <a:lvl8pPr>
              <a:defRPr sz="1125" b="0">
                <a:solidFill>
                  <a:srgbClr val="000000"/>
                </a:solidFill>
                <a:latin typeface="Calibri"/>
                <a:ea typeface="Calibri"/>
                <a:cs typeface="Calibri"/>
              </a:defRPr>
            </a:lvl8pPr>
            <a:lvl9pPr>
              <a:defRPr sz="1125" b="0">
                <a:solidFill>
                  <a:srgbClr val="000000"/>
                </a:solidFill>
                <a:latin typeface="Calibri"/>
                <a:ea typeface="Calibri"/>
                <a:cs typeface="Calibri"/>
              </a:defRPr>
            </a:lvl9pPr>
          </a:lstStyle>
          <a:p>
            <a:pPr>
              <a:defRPr sz="1125" b="0">
                <a:solidFill>
                  <a:srgbClr val="000000"/>
                </a:solidFill>
                <a:latin typeface="Calibri"/>
                <a:ea typeface="Calibri"/>
                <a:cs typeface="Calibri"/>
              </a:defRPr>
            </a:pPr>
            <a:r>
              <a:rPr sz="1125" b="0">
                <a:solidFill>
                  <a:srgbClr val="000000"/>
                </a:solidFill>
                <a:latin typeface="Calibri"/>
                <a:ea typeface="Calibri"/>
                <a:cs typeface="Calibri"/>
              </a:rPr>
              <a:t>52</a:t>
            </a:r>
          </a:p>
        </p:txBody>
      </p:sp>
      <p:graphicFrame>
        <p:nvGraphicFramePr>
          <p:cNvPr id="5" name="Chart">
            <a:extLst>
              <a:ext uri="{FF2B5EF4-FFF2-40B4-BE49-F238E27FC236}">
                <a16:creationId xmlns:a16="http://schemas.microsoft.com/office/drawing/2014/main" id="{6342308C-5095-4177-B8CD-8CA8523BFDF6}"/>
              </a:ext>
            </a:extLst>
          </p:cNvPr>
          <p:cNvGraphicFramePr/>
          <p:nvPr/>
        </p:nvGraphicFramePr>
        <p:xfrm>
          <a:off x="476250" y="1762125"/>
          <a:ext cx="5476875" cy="3333750"/>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id="{097CB015-2236-49F1-ADCA-11F205AF22B7}"/>
              </a:ext>
            </a:extLst>
          </p:cNvPr>
          <p:cNvSpPr>
            <a:spLocks noGrp="1"/>
          </p:cNvSpPr>
          <p:nvPr/>
        </p:nvSpPr>
        <p:spPr>
          <a:xfrm>
            <a:off x="619125" y="5191125"/>
            <a:ext cx="5238750" cy="266700"/>
          </a:xfrm>
          <a:prstGeom prst="rect">
            <a:avLst/>
          </a:prstGeom>
          <a:noFill/>
          <a:ln w="0">
            <a:noFill/>
          </a:ln>
        </p:spPr>
        <p:txBody>
          <a:bodyPr lIns="0" tIns="0" rIns="0" bIns="0"/>
          <a:lstStyle>
            <a:defPPr>
              <a:defRPr sz="1575" b="1">
                <a:solidFill>
                  <a:srgbClr val="000000"/>
                </a:solidFill>
                <a:latin typeface="Calibri"/>
                <a:ea typeface="Calibri"/>
                <a:cs typeface="Calibri"/>
              </a:defRPr>
            </a:defPPr>
            <a:lvl1pPr>
              <a:defRPr sz="1575" b="1">
                <a:solidFill>
                  <a:srgbClr val="000000"/>
                </a:solidFill>
                <a:latin typeface="Calibri"/>
                <a:ea typeface="Calibri"/>
                <a:cs typeface="Calibri"/>
              </a:defRPr>
            </a:lvl1pPr>
            <a:lvl2pPr>
              <a:defRPr sz="1575" b="1">
                <a:solidFill>
                  <a:srgbClr val="000000"/>
                </a:solidFill>
                <a:latin typeface="Calibri"/>
                <a:ea typeface="Calibri"/>
                <a:cs typeface="Calibri"/>
              </a:defRPr>
            </a:lvl2pPr>
            <a:lvl3pPr>
              <a:defRPr sz="1575" b="1">
                <a:solidFill>
                  <a:srgbClr val="000000"/>
                </a:solidFill>
                <a:latin typeface="Calibri"/>
                <a:ea typeface="Calibri"/>
                <a:cs typeface="Calibri"/>
              </a:defRPr>
            </a:lvl3pPr>
            <a:lvl4pPr>
              <a:defRPr sz="1575" b="1">
                <a:solidFill>
                  <a:srgbClr val="000000"/>
                </a:solidFill>
                <a:latin typeface="Calibri"/>
                <a:ea typeface="Calibri"/>
                <a:cs typeface="Calibri"/>
              </a:defRPr>
            </a:lvl4pPr>
            <a:lvl5pPr>
              <a:defRPr sz="1575" b="1">
                <a:solidFill>
                  <a:srgbClr val="000000"/>
                </a:solidFill>
                <a:latin typeface="Calibri"/>
                <a:ea typeface="Calibri"/>
                <a:cs typeface="Calibri"/>
              </a:defRPr>
            </a:lvl5pPr>
            <a:lvl6pPr>
              <a:defRPr sz="1575" b="1">
                <a:solidFill>
                  <a:srgbClr val="000000"/>
                </a:solidFill>
                <a:latin typeface="Calibri"/>
                <a:ea typeface="Calibri"/>
                <a:cs typeface="Calibri"/>
              </a:defRPr>
            </a:lvl6pPr>
            <a:lvl7pPr>
              <a:defRPr sz="1575" b="1">
                <a:solidFill>
                  <a:srgbClr val="000000"/>
                </a:solidFill>
                <a:latin typeface="Calibri"/>
                <a:ea typeface="Calibri"/>
                <a:cs typeface="Calibri"/>
              </a:defRPr>
            </a:lvl7pPr>
            <a:lvl8pPr>
              <a:defRPr sz="1575" b="1">
                <a:solidFill>
                  <a:srgbClr val="000000"/>
                </a:solidFill>
                <a:latin typeface="Calibri"/>
                <a:ea typeface="Calibri"/>
                <a:cs typeface="Calibri"/>
              </a:defRPr>
            </a:lvl8pPr>
            <a:lvl9pPr>
              <a:defRPr sz="1575" b="1">
                <a:solidFill>
                  <a:srgbClr val="000000"/>
                </a:solidFill>
                <a:latin typeface="Calibri"/>
                <a:ea typeface="Calibri"/>
                <a:cs typeface="Calibri"/>
              </a:defRPr>
            </a:lvl9pPr>
          </a:lstStyle>
          <a:p>
            <a:pPr>
              <a:defRPr sz="1575" b="1">
                <a:solidFill>
                  <a:srgbClr val="000000"/>
                </a:solidFill>
                <a:latin typeface="Calibri"/>
                <a:ea typeface="Calibri"/>
                <a:cs typeface="Calibri"/>
              </a:defRPr>
            </a:pPr>
            <a:r>
              <a:rPr sz="1575" b="1">
                <a:solidFill>
                  <a:srgbClr val="000000"/>
                </a:solidFill>
                <a:latin typeface="Calibri"/>
                <a:ea typeface="Calibri"/>
                <a:cs typeface="Calibri"/>
              </a:rPr>
              <a:t>9 / 9 accepted samples</a:t>
            </a:r>
          </a:p>
        </p:txBody>
      </p:sp>
      <p:sp>
        <p:nvSpPr>
          <p:cNvPr id="7" name="Rectangle 6">
            <a:extLst>
              <a:ext uri="{FF2B5EF4-FFF2-40B4-BE49-F238E27FC236}">
                <a16:creationId xmlns:a16="http://schemas.microsoft.com/office/drawing/2014/main" id="{447EFCF5-8D0D-4CCE-BFF8-38ED6536D5F8}"/>
              </a:ext>
            </a:extLst>
          </p:cNvPr>
          <p:cNvSpPr>
            <a:spLocks noGrp="1"/>
          </p:cNvSpPr>
          <p:nvPr/>
        </p:nvSpPr>
        <p:spPr>
          <a:xfrm>
            <a:off x="619125" y="5534025"/>
            <a:ext cx="5238750" cy="438150"/>
          </a:xfrm>
          <a:prstGeom prst="rect">
            <a:avLst/>
          </a:prstGeom>
          <a:noFill/>
          <a:ln w="0">
            <a:noFill/>
          </a:ln>
        </p:spPr>
        <p:txBody>
          <a:bodyPr lIns="0" tIns="0" rIns="0" bIns="0"/>
          <a:lstStyle>
            <a:defPPr>
              <a:defRPr sz="1200" b="0">
                <a:solidFill>
                  <a:srgbClr val="000000"/>
                </a:solidFill>
                <a:latin typeface="Calibri"/>
                <a:ea typeface="Calibri"/>
                <a:cs typeface="Calibri"/>
              </a:defRPr>
            </a:defPPr>
            <a:lvl1pPr>
              <a:defRPr sz="1200" b="0">
                <a:solidFill>
                  <a:srgbClr val="000000"/>
                </a:solidFill>
                <a:latin typeface="Calibri"/>
                <a:ea typeface="Calibri"/>
                <a:cs typeface="Calibri"/>
              </a:defRPr>
            </a:lvl1pPr>
            <a:lvl2pPr>
              <a:defRPr sz="1200" b="0">
                <a:solidFill>
                  <a:srgbClr val="000000"/>
                </a:solidFill>
                <a:latin typeface="Calibri"/>
                <a:ea typeface="Calibri"/>
                <a:cs typeface="Calibri"/>
              </a:defRPr>
            </a:lvl2pPr>
            <a:lvl3pPr>
              <a:defRPr sz="1200" b="0">
                <a:solidFill>
                  <a:srgbClr val="000000"/>
                </a:solidFill>
                <a:latin typeface="Calibri"/>
                <a:ea typeface="Calibri"/>
                <a:cs typeface="Calibri"/>
              </a:defRPr>
            </a:lvl3pPr>
            <a:lvl4pPr>
              <a:defRPr sz="1200" b="0">
                <a:solidFill>
                  <a:srgbClr val="000000"/>
                </a:solidFill>
                <a:latin typeface="Calibri"/>
                <a:ea typeface="Calibri"/>
                <a:cs typeface="Calibri"/>
              </a:defRPr>
            </a:lvl4pPr>
            <a:lvl5pPr>
              <a:defRPr sz="1200" b="0">
                <a:solidFill>
                  <a:srgbClr val="000000"/>
                </a:solidFill>
                <a:latin typeface="Calibri"/>
                <a:ea typeface="Calibri"/>
                <a:cs typeface="Calibri"/>
              </a:defRPr>
            </a:lvl5pPr>
            <a:lvl6pPr>
              <a:defRPr sz="1200" b="0">
                <a:solidFill>
                  <a:srgbClr val="000000"/>
                </a:solidFill>
                <a:latin typeface="Calibri"/>
                <a:ea typeface="Calibri"/>
                <a:cs typeface="Calibri"/>
              </a:defRPr>
            </a:lvl6pPr>
            <a:lvl7pPr>
              <a:defRPr sz="1200" b="0">
                <a:solidFill>
                  <a:srgbClr val="000000"/>
                </a:solidFill>
                <a:latin typeface="Calibri"/>
                <a:ea typeface="Calibri"/>
                <a:cs typeface="Calibri"/>
              </a:defRPr>
            </a:lvl7pPr>
            <a:lvl8pPr>
              <a:defRPr sz="1200" b="0">
                <a:solidFill>
                  <a:srgbClr val="000000"/>
                </a:solidFill>
                <a:latin typeface="Calibri"/>
                <a:ea typeface="Calibri"/>
                <a:cs typeface="Calibri"/>
              </a:defRPr>
            </a:lvl8pPr>
            <a:lvl9pPr>
              <a:defRPr sz="1200" b="0">
                <a:solidFill>
                  <a:srgbClr val="000000"/>
                </a:solidFill>
                <a:latin typeface="Calibri"/>
                <a:ea typeface="Calibri"/>
                <a:cs typeface="Calibri"/>
              </a:defRPr>
            </a:lvl9pPr>
          </a:lstStyle>
          <a:p>
            <a:pPr>
              <a:defRPr sz="1200" b="0">
                <a:solidFill>
                  <a:srgbClr val="000000"/>
                </a:solidFill>
                <a:latin typeface="Calibri"/>
                <a:ea typeface="Calibri"/>
                <a:cs typeface="Calibri"/>
              </a:defRPr>
            </a:pPr>
            <a:r>
              <a:rPr sz="1200" b="0">
                <a:solidFill>
                  <a:srgbClr val="000000"/>
                </a:solidFill>
                <a:latin typeface="Calibri"/>
                <a:ea typeface="Calibri"/>
                <a:cs typeface="Calibri"/>
              </a:rPr>
              <a:t>All samples pass the sizing acceptance screen.</a:t>
            </a:r>
          </a:p>
        </p:txBody>
      </p:sp>
      <p:graphicFrame>
        <p:nvGraphicFramePr>
          <p:cNvPr id="8" name="Chart">
            <a:extLst>
              <a:ext uri="{FF2B5EF4-FFF2-40B4-BE49-F238E27FC236}">
                <a16:creationId xmlns:a16="http://schemas.microsoft.com/office/drawing/2014/main" id="{F9C419B8-E432-421A-B593-A56F805E164B}"/>
              </a:ext>
            </a:extLst>
          </p:cNvPr>
          <p:cNvGraphicFramePr/>
          <p:nvPr/>
        </p:nvGraphicFramePr>
        <p:xfrm>
          <a:off x="6191250" y="1762125"/>
          <a:ext cx="5476875" cy="3333750"/>
        </p:xfrm>
        <a:graphic>
          <a:graphicData uri="http://schemas.openxmlformats.org/drawingml/2006/chart">
            <c:chart xmlns:c="http://schemas.openxmlformats.org/drawingml/2006/chart" xmlns:r="http://schemas.openxmlformats.org/officeDocument/2006/relationships" r:id="rId4"/>
          </a:graphicData>
        </a:graphic>
      </p:graphicFrame>
      <p:sp>
        <p:nvSpPr>
          <p:cNvPr id="9" name="Rectangle 8">
            <a:extLst>
              <a:ext uri="{FF2B5EF4-FFF2-40B4-BE49-F238E27FC236}">
                <a16:creationId xmlns:a16="http://schemas.microsoft.com/office/drawing/2014/main" id="{5CD47078-51C5-4101-80B9-0777C8968D51}"/>
              </a:ext>
            </a:extLst>
          </p:cNvPr>
          <p:cNvSpPr>
            <a:spLocks noGrp="1"/>
          </p:cNvSpPr>
          <p:nvPr/>
        </p:nvSpPr>
        <p:spPr>
          <a:xfrm>
            <a:off x="6334125" y="5191125"/>
            <a:ext cx="5238750" cy="266700"/>
          </a:xfrm>
          <a:prstGeom prst="rect">
            <a:avLst/>
          </a:prstGeom>
          <a:noFill/>
          <a:ln w="0">
            <a:noFill/>
          </a:ln>
        </p:spPr>
        <p:txBody>
          <a:bodyPr lIns="0" tIns="0" rIns="0" bIns="0"/>
          <a:lstStyle>
            <a:defPPr>
              <a:defRPr sz="1575" b="1">
                <a:solidFill>
                  <a:srgbClr val="000000"/>
                </a:solidFill>
                <a:latin typeface="Calibri"/>
                <a:ea typeface="Calibri"/>
                <a:cs typeface="Calibri"/>
              </a:defRPr>
            </a:defPPr>
            <a:lvl1pPr>
              <a:defRPr sz="1575" b="1">
                <a:solidFill>
                  <a:srgbClr val="000000"/>
                </a:solidFill>
                <a:latin typeface="Calibri"/>
                <a:ea typeface="Calibri"/>
                <a:cs typeface="Calibri"/>
              </a:defRPr>
            </a:lvl1pPr>
            <a:lvl2pPr>
              <a:defRPr sz="1575" b="1">
                <a:solidFill>
                  <a:srgbClr val="000000"/>
                </a:solidFill>
                <a:latin typeface="Calibri"/>
                <a:ea typeface="Calibri"/>
                <a:cs typeface="Calibri"/>
              </a:defRPr>
            </a:lvl2pPr>
            <a:lvl3pPr>
              <a:defRPr sz="1575" b="1">
                <a:solidFill>
                  <a:srgbClr val="000000"/>
                </a:solidFill>
                <a:latin typeface="Calibri"/>
                <a:ea typeface="Calibri"/>
                <a:cs typeface="Calibri"/>
              </a:defRPr>
            </a:lvl3pPr>
            <a:lvl4pPr>
              <a:defRPr sz="1575" b="1">
                <a:solidFill>
                  <a:srgbClr val="000000"/>
                </a:solidFill>
                <a:latin typeface="Calibri"/>
                <a:ea typeface="Calibri"/>
                <a:cs typeface="Calibri"/>
              </a:defRPr>
            </a:lvl4pPr>
            <a:lvl5pPr>
              <a:defRPr sz="1575" b="1">
                <a:solidFill>
                  <a:srgbClr val="000000"/>
                </a:solidFill>
                <a:latin typeface="Calibri"/>
                <a:ea typeface="Calibri"/>
                <a:cs typeface="Calibri"/>
              </a:defRPr>
            </a:lvl5pPr>
            <a:lvl6pPr>
              <a:defRPr sz="1575" b="1">
                <a:solidFill>
                  <a:srgbClr val="000000"/>
                </a:solidFill>
                <a:latin typeface="Calibri"/>
                <a:ea typeface="Calibri"/>
                <a:cs typeface="Calibri"/>
              </a:defRPr>
            </a:lvl6pPr>
            <a:lvl7pPr>
              <a:defRPr sz="1575" b="1">
                <a:solidFill>
                  <a:srgbClr val="000000"/>
                </a:solidFill>
                <a:latin typeface="Calibri"/>
                <a:ea typeface="Calibri"/>
                <a:cs typeface="Calibri"/>
              </a:defRPr>
            </a:lvl7pPr>
            <a:lvl8pPr>
              <a:defRPr sz="1575" b="1">
                <a:solidFill>
                  <a:srgbClr val="000000"/>
                </a:solidFill>
                <a:latin typeface="Calibri"/>
                <a:ea typeface="Calibri"/>
                <a:cs typeface="Calibri"/>
              </a:defRPr>
            </a:lvl8pPr>
            <a:lvl9pPr>
              <a:defRPr sz="1575" b="1">
                <a:solidFill>
                  <a:srgbClr val="000000"/>
                </a:solidFill>
                <a:latin typeface="Calibri"/>
                <a:ea typeface="Calibri"/>
                <a:cs typeface="Calibri"/>
              </a:defRPr>
            </a:lvl9pPr>
          </a:lstStyle>
          <a:p>
            <a:pPr>
              <a:defRPr sz="1575" b="1">
                <a:solidFill>
                  <a:srgbClr val="000000"/>
                </a:solidFill>
                <a:latin typeface="Calibri"/>
                <a:ea typeface="Calibri"/>
                <a:cs typeface="Calibri"/>
              </a:defRPr>
            </a:pPr>
            <a:r>
              <a:rPr sz="1575" b="1">
                <a:solidFill>
                  <a:srgbClr val="000000"/>
                </a:solidFill>
                <a:latin typeface="Calibri"/>
                <a:ea typeface="Calibri"/>
                <a:cs typeface="Calibri"/>
              </a:rPr>
              <a:t>6 / 8 accepted samples</a:t>
            </a:r>
          </a:p>
        </p:txBody>
      </p:sp>
      <p:sp>
        <p:nvSpPr>
          <p:cNvPr id="10" name="Rectangle 9">
            <a:extLst>
              <a:ext uri="{FF2B5EF4-FFF2-40B4-BE49-F238E27FC236}">
                <a16:creationId xmlns:a16="http://schemas.microsoft.com/office/drawing/2014/main" id="{D029E995-89B6-439E-A204-AA9954F4EEEF}"/>
              </a:ext>
            </a:extLst>
          </p:cNvPr>
          <p:cNvSpPr>
            <a:spLocks noGrp="1"/>
          </p:cNvSpPr>
          <p:nvPr/>
        </p:nvSpPr>
        <p:spPr>
          <a:xfrm>
            <a:off x="6334125" y="5534025"/>
            <a:ext cx="5238750" cy="438150"/>
          </a:xfrm>
          <a:prstGeom prst="rect">
            <a:avLst/>
          </a:prstGeom>
          <a:noFill/>
          <a:ln w="0">
            <a:noFill/>
          </a:ln>
        </p:spPr>
        <p:txBody>
          <a:bodyPr lIns="0" tIns="0" rIns="0" bIns="0"/>
          <a:lstStyle>
            <a:defPPr>
              <a:defRPr sz="1200" b="0">
                <a:solidFill>
                  <a:srgbClr val="000000"/>
                </a:solidFill>
                <a:latin typeface="Calibri"/>
                <a:ea typeface="Calibri"/>
                <a:cs typeface="Calibri"/>
              </a:defRPr>
            </a:defPPr>
            <a:lvl1pPr>
              <a:defRPr sz="1200" b="0">
                <a:solidFill>
                  <a:srgbClr val="000000"/>
                </a:solidFill>
                <a:latin typeface="Calibri"/>
                <a:ea typeface="Calibri"/>
                <a:cs typeface="Calibri"/>
              </a:defRPr>
            </a:lvl1pPr>
            <a:lvl2pPr>
              <a:defRPr sz="1200" b="0">
                <a:solidFill>
                  <a:srgbClr val="000000"/>
                </a:solidFill>
                <a:latin typeface="Calibri"/>
                <a:ea typeface="Calibri"/>
                <a:cs typeface="Calibri"/>
              </a:defRPr>
            </a:lvl2pPr>
            <a:lvl3pPr>
              <a:defRPr sz="1200" b="0">
                <a:solidFill>
                  <a:srgbClr val="000000"/>
                </a:solidFill>
                <a:latin typeface="Calibri"/>
                <a:ea typeface="Calibri"/>
                <a:cs typeface="Calibri"/>
              </a:defRPr>
            </a:lvl3pPr>
            <a:lvl4pPr>
              <a:defRPr sz="1200" b="0">
                <a:solidFill>
                  <a:srgbClr val="000000"/>
                </a:solidFill>
                <a:latin typeface="Calibri"/>
                <a:ea typeface="Calibri"/>
                <a:cs typeface="Calibri"/>
              </a:defRPr>
            </a:lvl4pPr>
            <a:lvl5pPr>
              <a:defRPr sz="1200" b="0">
                <a:solidFill>
                  <a:srgbClr val="000000"/>
                </a:solidFill>
                <a:latin typeface="Calibri"/>
                <a:ea typeface="Calibri"/>
                <a:cs typeface="Calibri"/>
              </a:defRPr>
            </a:lvl5pPr>
            <a:lvl6pPr>
              <a:defRPr sz="1200" b="0">
                <a:solidFill>
                  <a:srgbClr val="000000"/>
                </a:solidFill>
                <a:latin typeface="Calibri"/>
                <a:ea typeface="Calibri"/>
                <a:cs typeface="Calibri"/>
              </a:defRPr>
            </a:lvl6pPr>
            <a:lvl7pPr>
              <a:defRPr sz="1200" b="0">
                <a:solidFill>
                  <a:srgbClr val="000000"/>
                </a:solidFill>
                <a:latin typeface="Calibri"/>
                <a:ea typeface="Calibri"/>
                <a:cs typeface="Calibri"/>
              </a:defRPr>
            </a:lvl7pPr>
            <a:lvl8pPr>
              <a:defRPr sz="1200" b="0">
                <a:solidFill>
                  <a:srgbClr val="000000"/>
                </a:solidFill>
                <a:latin typeface="Calibri"/>
                <a:ea typeface="Calibri"/>
                <a:cs typeface="Calibri"/>
              </a:defRPr>
            </a:lvl8pPr>
            <a:lvl9pPr>
              <a:defRPr sz="1200" b="0">
                <a:solidFill>
                  <a:srgbClr val="000000"/>
                </a:solidFill>
                <a:latin typeface="Calibri"/>
                <a:ea typeface="Calibri"/>
                <a:cs typeface="Calibri"/>
              </a:defRPr>
            </a:lvl9pPr>
          </a:lstStyle>
          <a:p>
            <a:pPr>
              <a:defRPr sz="1200" b="0">
                <a:solidFill>
                  <a:srgbClr val="000000"/>
                </a:solidFill>
                <a:latin typeface="Calibri"/>
                <a:ea typeface="Calibri"/>
                <a:cs typeface="Calibri"/>
              </a:defRPr>
            </a:pPr>
            <a:r>
              <a:rPr sz="1200" b="0">
                <a:solidFill>
                  <a:srgbClr val="000000"/>
                </a:solidFill>
                <a:latin typeface="Calibri"/>
                <a:ea typeface="Calibri"/>
                <a:cs typeface="Calibri"/>
              </a:rPr>
              <a:t>700: not converged; 750: not converged</a:t>
            </a:r>
          </a:p>
        </p:txBody>
      </p:sp>
    </p:spTree>
    <p:extLst>
      <p:ext uri="{BB962C8B-B14F-4D97-AF65-F5344CB8AC3E}">
        <p14:creationId xmlns:p14="http://schemas.microsoft.com/office/powerpoint/2010/main" val="37777448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8D39ED6-F6F9-49AA-9BDA-789F0CB8F04C}"/>
              </a:ext>
            </a:extLst>
          </p:cNvPr>
          <p:cNvSpPr>
            <a:spLocks noGrp="1"/>
          </p:cNvSpPr>
          <p:nvPr/>
        </p:nvSpPr>
        <p:spPr>
          <a:xfrm>
            <a:off x="838200" y="361950"/>
            <a:ext cx="10572750" cy="495300"/>
          </a:xfrm>
          <a:prstGeom prst="rect">
            <a:avLst/>
          </a:prstGeom>
          <a:noFill/>
          <a:ln w="0">
            <a:noFill/>
          </a:ln>
        </p:spPr>
        <p:txBody>
          <a:bodyPr lIns="0" tIns="0" rIns="0" bIns="0"/>
          <a:lstStyle>
            <a:defPPr>
              <a:defRPr sz="2400" b="1">
                <a:solidFill>
                  <a:srgbClr val="000000"/>
                </a:solidFill>
                <a:latin typeface="Calibri"/>
                <a:ea typeface="Calibri"/>
                <a:cs typeface="Calibri"/>
              </a:defRPr>
            </a:defPPr>
            <a:lvl1pPr>
              <a:defRPr sz="2400" b="1">
                <a:solidFill>
                  <a:srgbClr val="000000"/>
                </a:solidFill>
                <a:latin typeface="Calibri"/>
                <a:ea typeface="Calibri"/>
                <a:cs typeface="Calibri"/>
              </a:defRPr>
            </a:lvl1pPr>
            <a:lvl2pPr>
              <a:defRPr sz="2400" b="1">
                <a:solidFill>
                  <a:srgbClr val="000000"/>
                </a:solidFill>
                <a:latin typeface="Calibri"/>
                <a:ea typeface="Calibri"/>
                <a:cs typeface="Calibri"/>
              </a:defRPr>
            </a:lvl2pPr>
            <a:lvl3pPr>
              <a:defRPr sz="2400" b="1">
                <a:solidFill>
                  <a:srgbClr val="000000"/>
                </a:solidFill>
                <a:latin typeface="Calibri"/>
                <a:ea typeface="Calibri"/>
                <a:cs typeface="Calibri"/>
              </a:defRPr>
            </a:lvl3pPr>
            <a:lvl4pPr>
              <a:defRPr sz="2400" b="1">
                <a:solidFill>
                  <a:srgbClr val="000000"/>
                </a:solidFill>
                <a:latin typeface="Calibri"/>
                <a:ea typeface="Calibri"/>
                <a:cs typeface="Calibri"/>
              </a:defRPr>
            </a:lvl4pPr>
            <a:lvl5pPr>
              <a:defRPr sz="2400" b="1">
                <a:solidFill>
                  <a:srgbClr val="000000"/>
                </a:solidFill>
                <a:latin typeface="Calibri"/>
                <a:ea typeface="Calibri"/>
                <a:cs typeface="Calibri"/>
              </a:defRPr>
            </a:lvl5pPr>
            <a:lvl6pPr>
              <a:defRPr sz="2400" b="1">
                <a:solidFill>
                  <a:srgbClr val="000000"/>
                </a:solidFill>
                <a:latin typeface="Calibri"/>
                <a:ea typeface="Calibri"/>
                <a:cs typeface="Calibri"/>
              </a:defRPr>
            </a:lvl6pPr>
            <a:lvl7pPr>
              <a:defRPr sz="2400" b="1">
                <a:solidFill>
                  <a:srgbClr val="000000"/>
                </a:solidFill>
                <a:latin typeface="Calibri"/>
                <a:ea typeface="Calibri"/>
                <a:cs typeface="Calibri"/>
              </a:defRPr>
            </a:lvl7pPr>
            <a:lvl8pPr>
              <a:defRPr sz="2400" b="1">
                <a:solidFill>
                  <a:srgbClr val="000000"/>
                </a:solidFill>
                <a:latin typeface="Calibri"/>
                <a:ea typeface="Calibri"/>
                <a:cs typeface="Calibri"/>
              </a:defRPr>
            </a:lvl8pPr>
            <a:lvl9pPr>
              <a:defRPr sz="2400" b="1">
                <a:solidFill>
                  <a:srgbClr val="000000"/>
                </a:solidFill>
                <a:latin typeface="Calibri"/>
                <a:ea typeface="Calibri"/>
                <a:cs typeface="Calibri"/>
              </a:defRPr>
            </a:lvl9pPr>
          </a:lstStyle>
          <a:p>
            <a:pPr>
              <a:defRPr sz="2400" b="1">
                <a:solidFill>
                  <a:srgbClr val="000000"/>
                </a:solidFill>
                <a:latin typeface="Calibri"/>
                <a:ea typeface="Calibri"/>
                <a:cs typeface="Calibri"/>
              </a:defRPr>
            </a:pPr>
            <a:r>
              <a:rPr sz="2400" b="1">
                <a:solidFill>
                  <a:srgbClr val="000000"/>
                </a:solidFill>
                <a:latin typeface="Calibri"/>
                <a:ea typeface="Calibri"/>
                <a:cs typeface="Calibri"/>
              </a:rPr>
              <a:t>NASA paper selections versus sampled minima</a:t>
            </a:r>
          </a:p>
        </p:txBody>
      </p:sp>
      <p:sp>
        <p:nvSpPr>
          <p:cNvPr id="2" name="Rectangle 1">
            <a:extLst>
              <a:ext uri="{FF2B5EF4-FFF2-40B4-BE49-F238E27FC236}">
                <a16:creationId xmlns:a16="http://schemas.microsoft.com/office/drawing/2014/main" id="{49434F79-AF01-4A1E-9294-655E14445E17}"/>
              </a:ext>
            </a:extLst>
          </p:cNvPr>
          <p:cNvSpPr>
            <a:spLocks noGrp="1"/>
          </p:cNvSpPr>
          <p:nvPr/>
        </p:nvSpPr>
        <p:spPr>
          <a:xfrm>
            <a:off x="476250" y="1028700"/>
            <a:ext cx="11239500" cy="590550"/>
          </a:xfrm>
          <a:prstGeom prst="rect">
            <a:avLst/>
          </a:prstGeom>
          <a:noFill/>
          <a:ln w="0">
            <a:noFill/>
          </a:ln>
        </p:spPr>
        <p:txBody>
          <a:bodyPr lIns="0" tIns="0" rIns="0" bIns="0"/>
          <a:lstStyle>
            <a:defPPr>
              <a:defRPr sz="1575" b="0">
                <a:solidFill>
                  <a:srgbClr val="333333"/>
                </a:solidFill>
                <a:latin typeface="Calibri"/>
                <a:ea typeface="Calibri"/>
                <a:cs typeface="Calibri"/>
              </a:defRPr>
            </a:defPPr>
            <a:lvl1pPr>
              <a:defRPr sz="1575" b="0">
                <a:solidFill>
                  <a:srgbClr val="333333"/>
                </a:solidFill>
                <a:latin typeface="Calibri"/>
                <a:ea typeface="Calibri"/>
                <a:cs typeface="Calibri"/>
              </a:defRPr>
            </a:lvl1pPr>
            <a:lvl2pPr>
              <a:defRPr sz="1575" b="0">
                <a:solidFill>
                  <a:srgbClr val="333333"/>
                </a:solidFill>
                <a:latin typeface="Calibri"/>
                <a:ea typeface="Calibri"/>
                <a:cs typeface="Calibri"/>
              </a:defRPr>
            </a:lvl2pPr>
            <a:lvl3pPr>
              <a:defRPr sz="1575" b="0">
                <a:solidFill>
                  <a:srgbClr val="333333"/>
                </a:solidFill>
                <a:latin typeface="Calibri"/>
                <a:ea typeface="Calibri"/>
                <a:cs typeface="Calibri"/>
              </a:defRPr>
            </a:lvl3pPr>
            <a:lvl4pPr>
              <a:defRPr sz="1575" b="0">
                <a:solidFill>
                  <a:srgbClr val="333333"/>
                </a:solidFill>
                <a:latin typeface="Calibri"/>
                <a:ea typeface="Calibri"/>
                <a:cs typeface="Calibri"/>
              </a:defRPr>
            </a:lvl4pPr>
            <a:lvl5pPr>
              <a:defRPr sz="1575" b="0">
                <a:solidFill>
                  <a:srgbClr val="333333"/>
                </a:solidFill>
                <a:latin typeface="Calibri"/>
                <a:ea typeface="Calibri"/>
                <a:cs typeface="Calibri"/>
              </a:defRPr>
            </a:lvl5pPr>
            <a:lvl6pPr>
              <a:defRPr sz="1575" b="0">
                <a:solidFill>
                  <a:srgbClr val="333333"/>
                </a:solidFill>
                <a:latin typeface="Calibri"/>
                <a:ea typeface="Calibri"/>
                <a:cs typeface="Calibri"/>
              </a:defRPr>
            </a:lvl6pPr>
            <a:lvl7pPr>
              <a:defRPr sz="1575" b="0">
                <a:solidFill>
                  <a:srgbClr val="333333"/>
                </a:solidFill>
                <a:latin typeface="Calibri"/>
                <a:ea typeface="Calibri"/>
                <a:cs typeface="Calibri"/>
              </a:defRPr>
            </a:lvl7pPr>
            <a:lvl8pPr>
              <a:defRPr sz="1575" b="0">
                <a:solidFill>
                  <a:srgbClr val="333333"/>
                </a:solidFill>
                <a:latin typeface="Calibri"/>
                <a:ea typeface="Calibri"/>
                <a:cs typeface="Calibri"/>
              </a:defRPr>
            </a:lvl8pPr>
            <a:lvl9pPr>
              <a:defRPr sz="1575" b="0">
                <a:solidFill>
                  <a:srgbClr val="333333"/>
                </a:solidFill>
                <a:latin typeface="Calibri"/>
                <a:ea typeface="Calibri"/>
                <a:cs typeface="Calibri"/>
              </a:defRPr>
            </a:lvl9pPr>
          </a:lstStyle>
          <a:p>
            <a:pPr>
              <a:defRPr sz="1575" b="0">
                <a:solidFill>
                  <a:srgbClr val="333333"/>
                </a:solidFill>
                <a:latin typeface="Calibri"/>
                <a:ea typeface="Calibri"/>
                <a:cs typeface="Calibri"/>
              </a:defRPr>
            </a:pPr>
            <a:r>
              <a:rPr sz="1575" b="0">
                <a:solidFill>
                  <a:srgbClr val="333333"/>
                </a:solidFill>
                <a:latin typeface="Calibri"/>
                <a:ea typeface="Calibri"/>
                <a:cs typeface="Calibri"/>
              </a:rPr>
              <a:t>The paper retains some settings for power or noise. A minimum-weight point can therefore differ from the final reference. [N, T]</a:t>
            </a:r>
          </a:p>
        </p:txBody>
      </p:sp>
      <p:sp>
        <p:nvSpPr>
          <p:cNvPr id="3" name="Rectangle 2">
            <a:extLst>
              <a:ext uri="{FF2B5EF4-FFF2-40B4-BE49-F238E27FC236}">
                <a16:creationId xmlns:a16="http://schemas.microsoft.com/office/drawing/2014/main" id="{DC34169E-E0F0-447F-882D-AA86836DDB2D}"/>
              </a:ext>
            </a:extLst>
          </p:cNvPr>
          <p:cNvSpPr>
            <a:spLocks noGrp="1"/>
          </p:cNvSpPr>
          <p:nvPr/>
        </p:nvSpPr>
        <p:spPr>
          <a:xfrm>
            <a:off x="476250" y="6076950"/>
            <a:ext cx="11191875" cy="619125"/>
          </a:xfrm>
          <a:prstGeom prst="rect">
            <a:avLst/>
          </a:prstGeom>
          <a:noFill/>
          <a:ln w="0">
            <a:noFill/>
          </a:ln>
        </p:spPr>
        <p:txBody>
          <a:bodyPr lIns="0" tIns="0" rIns="0" bIns="0"/>
          <a:lstStyle>
            <a:defPPr>
              <a:defRPr sz="1050" b="0">
                <a:solidFill>
                  <a:srgbClr val="333333"/>
                </a:solidFill>
                <a:latin typeface="Calibri"/>
                <a:ea typeface="Calibri"/>
                <a:cs typeface="Calibri"/>
              </a:defRPr>
            </a:defPPr>
            <a:lvl1pPr>
              <a:defRPr sz="1050" b="0">
                <a:solidFill>
                  <a:srgbClr val="333333"/>
                </a:solidFill>
                <a:latin typeface="Calibri"/>
                <a:ea typeface="Calibri"/>
                <a:cs typeface="Calibri"/>
              </a:defRPr>
            </a:lvl1pPr>
            <a:lvl2pPr>
              <a:defRPr sz="1050" b="0">
                <a:solidFill>
                  <a:srgbClr val="333333"/>
                </a:solidFill>
                <a:latin typeface="Calibri"/>
                <a:ea typeface="Calibri"/>
                <a:cs typeface="Calibri"/>
              </a:defRPr>
            </a:lvl2pPr>
            <a:lvl3pPr>
              <a:defRPr sz="1050" b="0">
                <a:solidFill>
                  <a:srgbClr val="333333"/>
                </a:solidFill>
                <a:latin typeface="Calibri"/>
                <a:ea typeface="Calibri"/>
                <a:cs typeface="Calibri"/>
              </a:defRPr>
            </a:lvl3pPr>
            <a:lvl4pPr>
              <a:defRPr sz="1050" b="0">
                <a:solidFill>
                  <a:srgbClr val="333333"/>
                </a:solidFill>
                <a:latin typeface="Calibri"/>
                <a:ea typeface="Calibri"/>
                <a:cs typeface="Calibri"/>
              </a:defRPr>
            </a:lvl4pPr>
            <a:lvl5pPr>
              <a:defRPr sz="1050" b="0">
                <a:solidFill>
                  <a:srgbClr val="333333"/>
                </a:solidFill>
                <a:latin typeface="Calibri"/>
                <a:ea typeface="Calibri"/>
                <a:cs typeface="Calibri"/>
              </a:defRPr>
            </a:lvl5pPr>
            <a:lvl6pPr>
              <a:defRPr sz="1050" b="0">
                <a:solidFill>
                  <a:srgbClr val="333333"/>
                </a:solidFill>
                <a:latin typeface="Calibri"/>
                <a:ea typeface="Calibri"/>
                <a:cs typeface="Calibri"/>
              </a:defRPr>
            </a:lvl6pPr>
            <a:lvl7pPr>
              <a:defRPr sz="1050" b="0">
                <a:solidFill>
                  <a:srgbClr val="333333"/>
                </a:solidFill>
                <a:latin typeface="Calibri"/>
                <a:ea typeface="Calibri"/>
                <a:cs typeface="Calibri"/>
              </a:defRPr>
            </a:lvl7pPr>
            <a:lvl8pPr>
              <a:defRPr sz="1050" b="0">
                <a:solidFill>
                  <a:srgbClr val="333333"/>
                </a:solidFill>
                <a:latin typeface="Calibri"/>
                <a:ea typeface="Calibri"/>
                <a:cs typeface="Calibri"/>
              </a:defRPr>
            </a:lvl8pPr>
            <a:lvl9pPr>
              <a:defRPr sz="1050" b="0">
                <a:solidFill>
                  <a:srgbClr val="333333"/>
                </a:solidFill>
                <a:latin typeface="Calibri"/>
                <a:ea typeface="Calibri"/>
                <a:cs typeface="Calibri"/>
              </a:defRPr>
            </a:lvl9pPr>
          </a:lstStyle>
          <a:p>
            <a:pPr>
              <a:defRPr sz="1050" b="0">
                <a:solidFill>
                  <a:srgbClr val="333333"/>
                </a:solidFill>
                <a:latin typeface="Calibri"/>
                <a:ea typeface="Calibri"/>
                <a:cs typeface="Calibri"/>
              </a:defRPr>
            </a:pPr>
            <a:r>
              <a:rPr sz="1050" b="0">
                <a:solidFill>
                  <a:srgbClr val="333333"/>
                </a:solidFill>
                <a:latin typeface="Calibri"/>
                <a:ea typeface="Calibri"/>
                <a:cs typeface="Calibri"/>
              </a:rPr>
              <a:t>[N] Radotich / NASA, Conceptual Design of Tiltrotor Aircraft for Urban Air Mobility (2022), pp. 4–13, Tables 2–4 (pp. 15–17). https://rotorcraft.arc.nasa.gov/Publications/files/Michael_Radotich_13-Jan-22_03-47-02.pdf</a:t>
            </a:r>
          </a:p>
          <a:p>
            <a:pPr>
              <a:defRPr sz="1050" b="0">
                <a:solidFill>
                  <a:srgbClr val="333333"/>
                </a:solidFill>
                <a:latin typeface="Calibri"/>
                <a:ea typeface="Calibri"/>
                <a:cs typeface="Calibri"/>
              </a:defRPr>
            </a:pPr>
            <a:r>
              <a:rPr sz="1050" b="0">
                <a:solidFill>
                  <a:srgbClr val="333333"/>
                </a:solidFill>
                <a:latin typeface="Calibri"/>
                <a:ea typeface="Calibri"/>
                <a:cs typeface="Calibri"/>
              </a:rPr>
              <a:t>[T] Current NDARC predictions: nasa-tr-sizing-20261028*; research/nasa-tr-sizing-20261028/all-results.json, sweep-summary.json and final-baseline-comparison.json.</a:t>
            </a:r>
          </a:p>
        </p:txBody>
      </p:sp>
      <p:sp>
        <p:nvSpPr>
          <p:cNvPr id="4" name="Rectangle 3">
            <a:extLst>
              <a:ext uri="{FF2B5EF4-FFF2-40B4-BE49-F238E27FC236}">
                <a16:creationId xmlns:a16="http://schemas.microsoft.com/office/drawing/2014/main" id="{DB9976A5-A2DC-42CF-9D08-E9B4203CB2D9}"/>
              </a:ext>
            </a:extLst>
          </p:cNvPr>
          <p:cNvSpPr>
            <a:spLocks noGrp="1"/>
          </p:cNvSpPr>
          <p:nvPr/>
        </p:nvSpPr>
        <p:spPr>
          <a:xfrm>
            <a:off x="11430000" y="6553200"/>
            <a:ext cx="333375" cy="209550"/>
          </a:xfrm>
          <a:prstGeom prst="rect">
            <a:avLst/>
          </a:prstGeom>
          <a:noFill/>
          <a:ln w="0">
            <a:noFill/>
          </a:ln>
        </p:spPr>
        <p:txBody>
          <a:bodyPr lIns="0" tIns="0" rIns="0" bIns="0"/>
          <a:lstStyle>
            <a:defPPr>
              <a:defRPr sz="1125" b="0">
                <a:solidFill>
                  <a:srgbClr val="000000"/>
                </a:solidFill>
                <a:latin typeface="Calibri"/>
                <a:ea typeface="Calibri"/>
                <a:cs typeface="Calibri"/>
              </a:defRPr>
            </a:defPPr>
            <a:lvl1pPr>
              <a:defRPr sz="1125" b="0">
                <a:solidFill>
                  <a:srgbClr val="000000"/>
                </a:solidFill>
                <a:latin typeface="Calibri"/>
                <a:ea typeface="Calibri"/>
                <a:cs typeface="Calibri"/>
              </a:defRPr>
            </a:lvl1pPr>
            <a:lvl2pPr>
              <a:defRPr sz="1125" b="0">
                <a:solidFill>
                  <a:srgbClr val="000000"/>
                </a:solidFill>
                <a:latin typeface="Calibri"/>
                <a:ea typeface="Calibri"/>
                <a:cs typeface="Calibri"/>
              </a:defRPr>
            </a:lvl2pPr>
            <a:lvl3pPr>
              <a:defRPr sz="1125" b="0">
                <a:solidFill>
                  <a:srgbClr val="000000"/>
                </a:solidFill>
                <a:latin typeface="Calibri"/>
                <a:ea typeface="Calibri"/>
                <a:cs typeface="Calibri"/>
              </a:defRPr>
            </a:lvl3pPr>
            <a:lvl4pPr>
              <a:defRPr sz="1125" b="0">
                <a:solidFill>
                  <a:srgbClr val="000000"/>
                </a:solidFill>
                <a:latin typeface="Calibri"/>
                <a:ea typeface="Calibri"/>
                <a:cs typeface="Calibri"/>
              </a:defRPr>
            </a:lvl4pPr>
            <a:lvl5pPr>
              <a:defRPr sz="1125" b="0">
                <a:solidFill>
                  <a:srgbClr val="000000"/>
                </a:solidFill>
                <a:latin typeface="Calibri"/>
                <a:ea typeface="Calibri"/>
                <a:cs typeface="Calibri"/>
              </a:defRPr>
            </a:lvl5pPr>
            <a:lvl6pPr>
              <a:defRPr sz="1125" b="0">
                <a:solidFill>
                  <a:srgbClr val="000000"/>
                </a:solidFill>
                <a:latin typeface="Calibri"/>
                <a:ea typeface="Calibri"/>
                <a:cs typeface="Calibri"/>
              </a:defRPr>
            </a:lvl6pPr>
            <a:lvl7pPr>
              <a:defRPr sz="1125" b="0">
                <a:solidFill>
                  <a:srgbClr val="000000"/>
                </a:solidFill>
                <a:latin typeface="Calibri"/>
                <a:ea typeface="Calibri"/>
                <a:cs typeface="Calibri"/>
              </a:defRPr>
            </a:lvl7pPr>
            <a:lvl8pPr>
              <a:defRPr sz="1125" b="0">
                <a:solidFill>
                  <a:srgbClr val="000000"/>
                </a:solidFill>
                <a:latin typeface="Calibri"/>
                <a:ea typeface="Calibri"/>
                <a:cs typeface="Calibri"/>
              </a:defRPr>
            </a:lvl8pPr>
            <a:lvl9pPr>
              <a:defRPr sz="1125" b="0">
                <a:solidFill>
                  <a:srgbClr val="000000"/>
                </a:solidFill>
                <a:latin typeface="Calibri"/>
                <a:ea typeface="Calibri"/>
                <a:cs typeface="Calibri"/>
              </a:defRPr>
            </a:lvl9pPr>
          </a:lstStyle>
          <a:p>
            <a:pPr>
              <a:defRPr sz="1125" b="0">
                <a:solidFill>
                  <a:srgbClr val="000000"/>
                </a:solidFill>
                <a:latin typeface="Calibri"/>
                <a:ea typeface="Calibri"/>
                <a:cs typeface="Calibri"/>
              </a:defRPr>
            </a:pPr>
            <a:r>
              <a:rPr sz="1125" b="0">
                <a:solidFill>
                  <a:srgbClr val="000000"/>
                </a:solidFill>
                <a:latin typeface="Calibri"/>
                <a:ea typeface="Calibri"/>
                <a:cs typeface="Calibri"/>
              </a:rPr>
              <a:t>53</a:t>
            </a:r>
          </a:p>
        </p:txBody>
      </p:sp>
      <p:graphicFrame>
        <p:nvGraphicFramePr>
          <p:cNvPr id="5" name="Table 4">
            <a:extLst>
              <a:ext uri="{FF2B5EF4-FFF2-40B4-BE49-F238E27FC236}">
                <a16:creationId xmlns:a16="http://schemas.microsoft.com/office/drawing/2014/main" id="{0B828291-E673-48E1-A752-C26283D8B2A1}"/>
              </a:ext>
            </a:extLst>
          </p:cNvPr>
          <p:cNvGraphicFramePr/>
          <p:nvPr/>
        </p:nvGraphicFramePr>
        <p:xfrm>
          <a:off x="476250" y="1714500"/>
          <a:ext cx="11239500" cy="4000500"/>
        </p:xfrm>
        <a:graphic>
          <a:graphicData uri="http://schemas.openxmlformats.org/drawingml/2006/table">
            <a:tbl>
              <a:tblPr/>
              <a:tblGrid>
                <a:gridCol w="28575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571500">
                <a:tc>
                  <a:txBody>
                    <a:bodyPr/>
                    <a:lstStyle/>
                    <a:p>
                      <a:r>
                        <a:rPr sz="1500" b="1">
                          <a:solidFill>
                            <a:srgbClr val="000000"/>
                          </a:solidFill>
                          <a:latin typeface="Calibri"/>
                          <a:ea typeface="Calibri"/>
                          <a:cs typeface="Calibri"/>
                        </a:rPr>
                        <a:t>Stage</a:t>
                      </a:r>
                    </a:p>
                  </a:txBody>
                  <a:tcPr>
                    <a:lnL w="7620">
                      <a:solidFill>
                        <a:srgbClr val="CCCCCC"/>
                      </a:solidFill>
                    </a:lnL>
                    <a:lnR w="7620">
                      <a:solidFill>
                        <a:srgbClr val="CCCCCC"/>
                      </a:solidFill>
                    </a:lnR>
                    <a:lnT w="7620">
                      <a:solidFill>
                        <a:srgbClr val="CCCCCC"/>
                      </a:solidFill>
                    </a:lnT>
                    <a:lnB w="7620">
                      <a:solidFill>
                        <a:srgbClr val="CCCCCC"/>
                      </a:solidFill>
                    </a:lnB>
                    <a:solidFill>
                      <a:srgbClr val="D9D9D9"/>
                    </a:solidFill>
                  </a:tcPr>
                </a:tc>
                <a:tc>
                  <a:txBody>
                    <a:bodyPr/>
                    <a:lstStyle/>
                    <a:p>
                      <a:r>
                        <a:rPr sz="1500" b="1">
                          <a:solidFill>
                            <a:srgbClr val="000000"/>
                          </a:solidFill>
                          <a:latin typeface="Calibri"/>
                          <a:ea typeface="Calibri"/>
                          <a:cs typeface="Calibri"/>
                        </a:rPr>
                        <a:t>Paper TS / electric selection [N]</a:t>
                      </a:r>
                    </a:p>
                  </a:txBody>
                  <a:tcPr>
                    <a:lnL w="7620" cap="flat" cmpd="sng" algn="ctr">
                      <a:solidFill>
                        <a:srgbClr val="CCCCCC"/>
                      </a:solidFill>
                      <a:prstDash val="solid"/>
                      <a:round/>
                      <a:headEnd type="none" w="med" len="med"/>
                      <a:tailEnd type="none" w="med" len="med"/>
                    </a:lnL>
                    <a:lnR w="7620">
                      <a:solidFill>
                        <a:srgbClr val="CCCCCC"/>
                      </a:solidFill>
                    </a:lnR>
                    <a:lnT w="7620">
                      <a:solidFill>
                        <a:srgbClr val="CCCCCC"/>
                      </a:solidFill>
                    </a:lnT>
                    <a:lnB w="7620">
                      <a:solidFill>
                        <a:srgbClr val="CCCCCC"/>
                      </a:solidFill>
                    </a:lnB>
                    <a:solidFill>
                      <a:srgbClr val="D9D9D9"/>
                    </a:solidFill>
                  </a:tcPr>
                </a:tc>
                <a:tc>
                  <a:txBody>
                    <a:bodyPr/>
                    <a:lstStyle/>
                    <a:p>
                      <a:r>
                        <a:rPr sz="1500" b="1">
                          <a:solidFill>
                            <a:srgbClr val="000000"/>
                          </a:solidFill>
                          <a:latin typeface="Calibri"/>
                          <a:ea typeface="Calibri"/>
                          <a:cs typeface="Calibri"/>
                        </a:rPr>
                        <a:t>Current accepted TS / electric minimum [T]</a:t>
                      </a:r>
                    </a:p>
                  </a:txBody>
                  <a:tcPr>
                    <a:lnL w="7620" cap="flat" cmpd="sng" algn="ctr">
                      <a:solidFill>
                        <a:srgbClr val="CCCCCC"/>
                      </a:solidFill>
                      <a:prstDash val="solid"/>
                      <a:round/>
                      <a:headEnd type="none" w="med" len="med"/>
                      <a:tailEnd type="none" w="med" len="med"/>
                    </a:lnL>
                    <a:lnR w="7620">
                      <a:solidFill>
                        <a:srgbClr val="CCCCCC"/>
                      </a:solidFill>
                    </a:lnR>
                    <a:lnT w="7620">
                      <a:solidFill>
                        <a:srgbClr val="CCCCCC"/>
                      </a:solidFill>
                    </a:lnT>
                    <a:lnB w="7620">
                      <a:solidFill>
                        <a:srgbClr val="CCCCCC"/>
                      </a:solidFill>
                    </a:lnB>
                    <a:solidFill>
                      <a:srgbClr val="D9D9D9"/>
                    </a:solidFill>
                  </a:tcPr>
                </a:tc>
                <a:extLst>
                  <a:ext uri="{0D108BD9-81ED-4DB2-BD59-A6C34878D82A}">
                    <a16:rowId xmlns:a16="http://schemas.microsoft.com/office/drawing/2014/main" val="10000"/>
                  </a:ext>
                </a:extLst>
              </a:tr>
              <a:tr h="571500">
                <a:tc>
                  <a:txBody>
                    <a:bodyPr/>
                    <a:lstStyle/>
                    <a:p>
                      <a:r>
                        <a:rPr sz="1500" b="0">
                          <a:solidFill>
                            <a:srgbClr val="000000"/>
                          </a:solidFill>
                          <a:latin typeface="Calibri"/>
                          <a:ea typeface="Calibri"/>
                          <a:cs typeface="Calibri"/>
                        </a:rPr>
                        <a:t>Initial DL, lb/ft²</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11 / 9 (electric power trade)</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11 / 9</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1"/>
                  </a:ext>
                </a:extLst>
              </a:tr>
              <a:tr h="571500">
                <a:tc>
                  <a:txBody>
                    <a:bodyPr/>
                    <a:lstStyle/>
                    <a:p>
                      <a:r>
                        <a:rPr sz="1500" b="0">
                          <a:solidFill>
                            <a:srgbClr val="000000"/>
                          </a:solidFill>
                          <a:latin typeface="Calibri"/>
                          <a:ea typeface="Calibri"/>
                          <a:cs typeface="Calibri"/>
                        </a:rPr>
                        <a:t>WL, lb/ft²</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60 / 65</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60 / 70 (electric endpoint)</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2"/>
                  </a:ext>
                </a:extLst>
              </a:tr>
              <a:tr h="571500">
                <a:tc>
                  <a:txBody>
                    <a:bodyPr/>
                    <a:lstStyle/>
                    <a:p>
                      <a:r>
                        <a:rPr sz="1500" b="0">
                          <a:solidFill>
                            <a:srgbClr val="000000"/>
                          </a:solidFill>
                          <a:latin typeface="Calibri"/>
                          <a:ea typeface="Calibri"/>
                          <a:cs typeface="Calibri"/>
                        </a:rPr>
                        <a:t>Final DL, lb/ft²</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12 / 10</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11 / 10; TS 11 vs 12 differs by only 0.81 lb</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3"/>
                  </a:ext>
                </a:extLst>
              </a:tr>
              <a:tr h="571500">
                <a:tc>
                  <a:txBody>
                    <a:bodyPr/>
                    <a:lstStyle/>
                    <a:p>
                      <a:r>
                        <a:rPr sz="1500" b="0">
                          <a:solidFill>
                            <a:srgbClr val="000000"/>
                          </a:solidFill>
                          <a:latin typeface="Calibri"/>
                          <a:ea typeface="Calibri"/>
                          <a:cs typeface="Calibri"/>
                        </a:rPr>
                        <a:t>Weight-optimal tip, ft/s</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650 / about 700</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700 / 650 among accepted points</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4"/>
                  </a:ext>
                </a:extLst>
              </a:tr>
              <a:tr h="571500">
                <a:tc>
                  <a:txBody>
                    <a:bodyPr/>
                    <a:lstStyle/>
                    <a:p>
                      <a:r>
                        <a:rPr sz="1500" b="0">
                          <a:solidFill>
                            <a:srgbClr val="000000"/>
                          </a:solidFill>
                          <a:latin typeface="Calibri"/>
                          <a:ea typeface="Calibri"/>
                          <a:cs typeface="Calibri"/>
                        </a:rPr>
                        <a:t>Retained final tip, ft/s</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550 / 550 for noise consideration</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550 used for reference comparison</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5"/>
                  </a:ext>
                </a:extLst>
              </a:tr>
              <a:tr h="571500">
                <a:tc>
                  <a:txBody>
                    <a:bodyPr/>
                    <a:lstStyle/>
                    <a:p>
                      <a:r>
                        <a:rPr sz="1500" b="0">
                          <a:solidFill>
                            <a:srgbClr val="000000"/>
                          </a:solidFill>
                          <a:latin typeface="Calibri"/>
                          <a:ea typeface="Calibri"/>
                          <a:cs typeface="Calibri"/>
                        </a:rPr>
                        <a:t>Limits</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Earlier paper sweep model is not available</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Electric 700/750 fail convergence; global tip optimum unresolved</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35993919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735362B-77B9-4E2B-B47C-79417784A9C0}"/>
              </a:ext>
            </a:extLst>
          </p:cNvPr>
          <p:cNvSpPr>
            <a:spLocks noGrp="1"/>
          </p:cNvSpPr>
          <p:nvPr/>
        </p:nvSpPr>
        <p:spPr>
          <a:xfrm>
            <a:off x="838200" y="361950"/>
            <a:ext cx="10572750" cy="495300"/>
          </a:xfrm>
          <a:prstGeom prst="rect">
            <a:avLst/>
          </a:prstGeom>
          <a:noFill/>
          <a:ln w="0">
            <a:noFill/>
          </a:ln>
        </p:spPr>
        <p:txBody>
          <a:bodyPr lIns="0" tIns="0" rIns="0" bIns="0"/>
          <a:lstStyle>
            <a:defPPr>
              <a:defRPr sz="2400" b="1">
                <a:solidFill>
                  <a:srgbClr val="000000"/>
                </a:solidFill>
                <a:latin typeface="Calibri"/>
                <a:ea typeface="Calibri"/>
                <a:cs typeface="Calibri"/>
              </a:defRPr>
            </a:defPPr>
            <a:lvl1pPr>
              <a:defRPr sz="2400" b="1">
                <a:solidFill>
                  <a:srgbClr val="000000"/>
                </a:solidFill>
                <a:latin typeface="Calibri"/>
                <a:ea typeface="Calibri"/>
                <a:cs typeface="Calibri"/>
              </a:defRPr>
            </a:lvl1pPr>
            <a:lvl2pPr>
              <a:defRPr sz="2400" b="1">
                <a:solidFill>
                  <a:srgbClr val="000000"/>
                </a:solidFill>
                <a:latin typeface="Calibri"/>
                <a:ea typeface="Calibri"/>
                <a:cs typeface="Calibri"/>
              </a:defRPr>
            </a:lvl2pPr>
            <a:lvl3pPr>
              <a:defRPr sz="2400" b="1">
                <a:solidFill>
                  <a:srgbClr val="000000"/>
                </a:solidFill>
                <a:latin typeface="Calibri"/>
                <a:ea typeface="Calibri"/>
                <a:cs typeface="Calibri"/>
              </a:defRPr>
            </a:lvl3pPr>
            <a:lvl4pPr>
              <a:defRPr sz="2400" b="1">
                <a:solidFill>
                  <a:srgbClr val="000000"/>
                </a:solidFill>
                <a:latin typeface="Calibri"/>
                <a:ea typeface="Calibri"/>
                <a:cs typeface="Calibri"/>
              </a:defRPr>
            </a:lvl4pPr>
            <a:lvl5pPr>
              <a:defRPr sz="2400" b="1">
                <a:solidFill>
                  <a:srgbClr val="000000"/>
                </a:solidFill>
                <a:latin typeface="Calibri"/>
                <a:ea typeface="Calibri"/>
                <a:cs typeface="Calibri"/>
              </a:defRPr>
            </a:lvl5pPr>
            <a:lvl6pPr>
              <a:defRPr sz="2400" b="1">
                <a:solidFill>
                  <a:srgbClr val="000000"/>
                </a:solidFill>
                <a:latin typeface="Calibri"/>
                <a:ea typeface="Calibri"/>
                <a:cs typeface="Calibri"/>
              </a:defRPr>
            </a:lvl6pPr>
            <a:lvl7pPr>
              <a:defRPr sz="2400" b="1">
                <a:solidFill>
                  <a:srgbClr val="000000"/>
                </a:solidFill>
                <a:latin typeface="Calibri"/>
                <a:ea typeface="Calibri"/>
                <a:cs typeface="Calibri"/>
              </a:defRPr>
            </a:lvl7pPr>
            <a:lvl8pPr>
              <a:defRPr sz="2400" b="1">
                <a:solidFill>
                  <a:srgbClr val="000000"/>
                </a:solidFill>
                <a:latin typeface="Calibri"/>
                <a:ea typeface="Calibri"/>
                <a:cs typeface="Calibri"/>
              </a:defRPr>
            </a:lvl8pPr>
            <a:lvl9pPr>
              <a:defRPr sz="2400" b="1">
                <a:solidFill>
                  <a:srgbClr val="000000"/>
                </a:solidFill>
                <a:latin typeface="Calibri"/>
                <a:ea typeface="Calibri"/>
                <a:cs typeface="Calibri"/>
              </a:defRPr>
            </a:lvl9pPr>
          </a:lstStyle>
          <a:p>
            <a:pPr>
              <a:defRPr sz="2400" b="1">
                <a:solidFill>
                  <a:srgbClr val="000000"/>
                </a:solidFill>
                <a:latin typeface="Calibri"/>
                <a:ea typeface="Calibri"/>
                <a:cs typeface="Calibri"/>
              </a:defRPr>
            </a:pPr>
            <a:r>
              <a:rPr sz="2400" b="1">
                <a:solidFill>
                  <a:srgbClr val="000000"/>
                </a:solidFill>
                <a:latin typeface="Calibri"/>
                <a:ea typeface="Calibri"/>
                <a:cs typeface="Calibri"/>
              </a:rPr>
              <a:t>NASA final reference: agreement has clear limits</a:t>
            </a:r>
          </a:p>
        </p:txBody>
      </p:sp>
      <p:sp>
        <p:nvSpPr>
          <p:cNvPr id="2" name="Rectangle 1">
            <a:extLst>
              <a:ext uri="{FF2B5EF4-FFF2-40B4-BE49-F238E27FC236}">
                <a16:creationId xmlns:a16="http://schemas.microsoft.com/office/drawing/2014/main" id="{B2E735B2-5900-4F9D-994D-66E8C7E10D6C}"/>
              </a:ext>
            </a:extLst>
          </p:cNvPr>
          <p:cNvSpPr>
            <a:spLocks noGrp="1"/>
          </p:cNvSpPr>
          <p:nvPr/>
        </p:nvSpPr>
        <p:spPr>
          <a:xfrm>
            <a:off x="476250" y="1028700"/>
            <a:ext cx="11239500" cy="590550"/>
          </a:xfrm>
          <a:prstGeom prst="rect">
            <a:avLst/>
          </a:prstGeom>
          <a:noFill/>
          <a:ln w="0">
            <a:noFill/>
          </a:ln>
        </p:spPr>
        <p:txBody>
          <a:bodyPr lIns="0" tIns="0" rIns="0" bIns="0"/>
          <a:lstStyle>
            <a:defPPr>
              <a:defRPr sz="1575" b="0">
                <a:solidFill>
                  <a:srgbClr val="333333"/>
                </a:solidFill>
                <a:latin typeface="Calibri"/>
                <a:ea typeface="Calibri"/>
                <a:cs typeface="Calibri"/>
              </a:defRPr>
            </a:defPPr>
            <a:lvl1pPr>
              <a:defRPr sz="1575" b="0">
                <a:solidFill>
                  <a:srgbClr val="333333"/>
                </a:solidFill>
                <a:latin typeface="Calibri"/>
                <a:ea typeface="Calibri"/>
                <a:cs typeface="Calibri"/>
              </a:defRPr>
            </a:lvl1pPr>
            <a:lvl2pPr>
              <a:defRPr sz="1575" b="0">
                <a:solidFill>
                  <a:srgbClr val="333333"/>
                </a:solidFill>
                <a:latin typeface="Calibri"/>
                <a:ea typeface="Calibri"/>
                <a:cs typeface="Calibri"/>
              </a:defRPr>
            </a:lvl2pPr>
            <a:lvl3pPr>
              <a:defRPr sz="1575" b="0">
                <a:solidFill>
                  <a:srgbClr val="333333"/>
                </a:solidFill>
                <a:latin typeface="Calibri"/>
                <a:ea typeface="Calibri"/>
                <a:cs typeface="Calibri"/>
              </a:defRPr>
            </a:lvl3pPr>
            <a:lvl4pPr>
              <a:defRPr sz="1575" b="0">
                <a:solidFill>
                  <a:srgbClr val="333333"/>
                </a:solidFill>
                <a:latin typeface="Calibri"/>
                <a:ea typeface="Calibri"/>
                <a:cs typeface="Calibri"/>
              </a:defRPr>
            </a:lvl4pPr>
            <a:lvl5pPr>
              <a:defRPr sz="1575" b="0">
                <a:solidFill>
                  <a:srgbClr val="333333"/>
                </a:solidFill>
                <a:latin typeface="Calibri"/>
                <a:ea typeface="Calibri"/>
                <a:cs typeface="Calibri"/>
              </a:defRPr>
            </a:lvl5pPr>
            <a:lvl6pPr>
              <a:defRPr sz="1575" b="0">
                <a:solidFill>
                  <a:srgbClr val="333333"/>
                </a:solidFill>
                <a:latin typeface="Calibri"/>
                <a:ea typeface="Calibri"/>
                <a:cs typeface="Calibri"/>
              </a:defRPr>
            </a:lvl6pPr>
            <a:lvl7pPr>
              <a:defRPr sz="1575" b="0">
                <a:solidFill>
                  <a:srgbClr val="333333"/>
                </a:solidFill>
                <a:latin typeface="Calibri"/>
                <a:ea typeface="Calibri"/>
                <a:cs typeface="Calibri"/>
              </a:defRPr>
            </a:lvl7pPr>
            <a:lvl8pPr>
              <a:defRPr sz="1575" b="0">
                <a:solidFill>
                  <a:srgbClr val="333333"/>
                </a:solidFill>
                <a:latin typeface="Calibri"/>
                <a:ea typeface="Calibri"/>
                <a:cs typeface="Calibri"/>
              </a:defRPr>
            </a:lvl8pPr>
            <a:lvl9pPr>
              <a:defRPr sz="1575" b="0">
                <a:solidFill>
                  <a:srgbClr val="333333"/>
                </a:solidFill>
                <a:latin typeface="Calibri"/>
                <a:ea typeface="Calibri"/>
                <a:cs typeface="Calibri"/>
              </a:defRPr>
            </a:lvl9pPr>
          </a:lstStyle>
          <a:p>
            <a:pPr>
              <a:defRPr sz="1575" b="0">
                <a:solidFill>
                  <a:srgbClr val="333333"/>
                </a:solidFill>
                <a:latin typeface="Calibri"/>
                <a:ea typeface="Calibri"/>
                <a:cs typeface="Calibri"/>
              </a:defRPr>
            </a:pPr>
            <a:r>
              <a:rPr sz="1575" b="0">
                <a:solidFill>
                  <a:srgbClr val="333333"/>
                </a:solidFill>
                <a:latin typeface="Calibri"/>
                <a:ea typeface="Calibri"/>
                <a:cs typeface="Calibri"/>
              </a:rPr>
              <a:t>Turboshaft baseline reproduction is close. Electric sizing and off-design performance still require resolution. [N, T]</a:t>
            </a:r>
          </a:p>
        </p:txBody>
      </p:sp>
      <p:sp>
        <p:nvSpPr>
          <p:cNvPr id="3" name="Rectangle 2">
            <a:extLst>
              <a:ext uri="{FF2B5EF4-FFF2-40B4-BE49-F238E27FC236}">
                <a16:creationId xmlns:a16="http://schemas.microsoft.com/office/drawing/2014/main" id="{E9ECE303-67ED-4CE2-AB4A-92CE6337B083}"/>
              </a:ext>
            </a:extLst>
          </p:cNvPr>
          <p:cNvSpPr>
            <a:spLocks noGrp="1"/>
          </p:cNvSpPr>
          <p:nvPr/>
        </p:nvSpPr>
        <p:spPr>
          <a:xfrm>
            <a:off x="476250" y="6076950"/>
            <a:ext cx="11191875" cy="619125"/>
          </a:xfrm>
          <a:prstGeom prst="rect">
            <a:avLst/>
          </a:prstGeom>
          <a:noFill/>
          <a:ln w="0">
            <a:noFill/>
          </a:ln>
        </p:spPr>
        <p:txBody>
          <a:bodyPr lIns="0" tIns="0" rIns="0" bIns="0"/>
          <a:lstStyle>
            <a:defPPr>
              <a:defRPr sz="1050" b="0">
                <a:solidFill>
                  <a:srgbClr val="333333"/>
                </a:solidFill>
                <a:latin typeface="Calibri"/>
                <a:ea typeface="Calibri"/>
                <a:cs typeface="Calibri"/>
              </a:defRPr>
            </a:defPPr>
            <a:lvl1pPr>
              <a:defRPr sz="1050" b="0">
                <a:solidFill>
                  <a:srgbClr val="333333"/>
                </a:solidFill>
                <a:latin typeface="Calibri"/>
                <a:ea typeface="Calibri"/>
                <a:cs typeface="Calibri"/>
              </a:defRPr>
            </a:lvl1pPr>
            <a:lvl2pPr>
              <a:defRPr sz="1050" b="0">
                <a:solidFill>
                  <a:srgbClr val="333333"/>
                </a:solidFill>
                <a:latin typeface="Calibri"/>
                <a:ea typeface="Calibri"/>
                <a:cs typeface="Calibri"/>
              </a:defRPr>
            </a:lvl2pPr>
            <a:lvl3pPr>
              <a:defRPr sz="1050" b="0">
                <a:solidFill>
                  <a:srgbClr val="333333"/>
                </a:solidFill>
                <a:latin typeface="Calibri"/>
                <a:ea typeface="Calibri"/>
                <a:cs typeface="Calibri"/>
              </a:defRPr>
            </a:lvl3pPr>
            <a:lvl4pPr>
              <a:defRPr sz="1050" b="0">
                <a:solidFill>
                  <a:srgbClr val="333333"/>
                </a:solidFill>
                <a:latin typeface="Calibri"/>
                <a:ea typeface="Calibri"/>
                <a:cs typeface="Calibri"/>
              </a:defRPr>
            </a:lvl4pPr>
            <a:lvl5pPr>
              <a:defRPr sz="1050" b="0">
                <a:solidFill>
                  <a:srgbClr val="333333"/>
                </a:solidFill>
                <a:latin typeface="Calibri"/>
                <a:ea typeface="Calibri"/>
                <a:cs typeface="Calibri"/>
              </a:defRPr>
            </a:lvl5pPr>
            <a:lvl6pPr>
              <a:defRPr sz="1050" b="0">
                <a:solidFill>
                  <a:srgbClr val="333333"/>
                </a:solidFill>
                <a:latin typeface="Calibri"/>
                <a:ea typeface="Calibri"/>
                <a:cs typeface="Calibri"/>
              </a:defRPr>
            </a:lvl6pPr>
            <a:lvl7pPr>
              <a:defRPr sz="1050" b="0">
                <a:solidFill>
                  <a:srgbClr val="333333"/>
                </a:solidFill>
                <a:latin typeface="Calibri"/>
                <a:ea typeface="Calibri"/>
                <a:cs typeface="Calibri"/>
              </a:defRPr>
            </a:lvl7pPr>
            <a:lvl8pPr>
              <a:defRPr sz="1050" b="0">
                <a:solidFill>
                  <a:srgbClr val="333333"/>
                </a:solidFill>
                <a:latin typeface="Calibri"/>
                <a:ea typeface="Calibri"/>
                <a:cs typeface="Calibri"/>
              </a:defRPr>
            </a:lvl8pPr>
            <a:lvl9pPr>
              <a:defRPr sz="1050" b="0">
                <a:solidFill>
                  <a:srgbClr val="333333"/>
                </a:solidFill>
                <a:latin typeface="Calibri"/>
                <a:ea typeface="Calibri"/>
                <a:cs typeface="Calibri"/>
              </a:defRPr>
            </a:lvl9pPr>
          </a:lstStyle>
          <a:p>
            <a:pPr>
              <a:defRPr sz="1050" b="0">
                <a:solidFill>
                  <a:srgbClr val="333333"/>
                </a:solidFill>
                <a:latin typeface="Calibri"/>
                <a:ea typeface="Calibri"/>
                <a:cs typeface="Calibri"/>
              </a:defRPr>
            </a:pPr>
            <a:r>
              <a:rPr sz="1050" b="0">
                <a:solidFill>
                  <a:srgbClr val="333333"/>
                </a:solidFill>
                <a:latin typeface="Calibri"/>
                <a:ea typeface="Calibri"/>
                <a:cs typeface="Calibri"/>
              </a:rPr>
              <a:t>[N] Radotich / NASA, Conceptual Design of Tiltrotor Aircraft for Urban Air Mobility (2022), pp. 4–13, Tables 2–4 (pp. 15–17). https://rotorcraft.arc.nasa.gov/Publications/files/Michael_Radotich_13-Jan-22_03-47-02.pdf</a:t>
            </a:r>
          </a:p>
          <a:p>
            <a:pPr>
              <a:defRPr sz="1050" b="0">
                <a:solidFill>
                  <a:srgbClr val="333333"/>
                </a:solidFill>
                <a:latin typeface="Calibri"/>
                <a:ea typeface="Calibri"/>
                <a:cs typeface="Calibri"/>
              </a:defRPr>
            </a:pPr>
            <a:r>
              <a:rPr sz="1050" b="0">
                <a:solidFill>
                  <a:srgbClr val="333333"/>
                </a:solidFill>
                <a:latin typeface="Calibri"/>
                <a:ea typeface="Calibri"/>
                <a:cs typeface="Calibri"/>
              </a:rPr>
              <a:t>[T] Current NDARC predictions: nasa-tr-sizing-20261028*; research/nasa-tr-sizing-20261028/all-results.json, sweep-summary.json and final-baseline-comparison.json.</a:t>
            </a:r>
          </a:p>
        </p:txBody>
      </p:sp>
      <p:sp>
        <p:nvSpPr>
          <p:cNvPr id="4" name="Rectangle 3">
            <a:extLst>
              <a:ext uri="{FF2B5EF4-FFF2-40B4-BE49-F238E27FC236}">
                <a16:creationId xmlns:a16="http://schemas.microsoft.com/office/drawing/2014/main" id="{4108703D-11CD-404A-9A52-492D6E425916}"/>
              </a:ext>
            </a:extLst>
          </p:cNvPr>
          <p:cNvSpPr>
            <a:spLocks noGrp="1"/>
          </p:cNvSpPr>
          <p:nvPr/>
        </p:nvSpPr>
        <p:spPr>
          <a:xfrm>
            <a:off x="11430000" y="6553200"/>
            <a:ext cx="333375" cy="209550"/>
          </a:xfrm>
          <a:prstGeom prst="rect">
            <a:avLst/>
          </a:prstGeom>
          <a:noFill/>
          <a:ln w="0">
            <a:noFill/>
          </a:ln>
        </p:spPr>
        <p:txBody>
          <a:bodyPr lIns="0" tIns="0" rIns="0" bIns="0"/>
          <a:lstStyle>
            <a:defPPr>
              <a:defRPr sz="1125" b="0">
                <a:solidFill>
                  <a:srgbClr val="000000"/>
                </a:solidFill>
                <a:latin typeface="Calibri"/>
                <a:ea typeface="Calibri"/>
                <a:cs typeface="Calibri"/>
              </a:defRPr>
            </a:defPPr>
            <a:lvl1pPr>
              <a:defRPr sz="1125" b="0">
                <a:solidFill>
                  <a:srgbClr val="000000"/>
                </a:solidFill>
                <a:latin typeface="Calibri"/>
                <a:ea typeface="Calibri"/>
                <a:cs typeface="Calibri"/>
              </a:defRPr>
            </a:lvl1pPr>
            <a:lvl2pPr>
              <a:defRPr sz="1125" b="0">
                <a:solidFill>
                  <a:srgbClr val="000000"/>
                </a:solidFill>
                <a:latin typeface="Calibri"/>
                <a:ea typeface="Calibri"/>
                <a:cs typeface="Calibri"/>
              </a:defRPr>
            </a:lvl2pPr>
            <a:lvl3pPr>
              <a:defRPr sz="1125" b="0">
                <a:solidFill>
                  <a:srgbClr val="000000"/>
                </a:solidFill>
                <a:latin typeface="Calibri"/>
                <a:ea typeface="Calibri"/>
                <a:cs typeface="Calibri"/>
              </a:defRPr>
            </a:lvl3pPr>
            <a:lvl4pPr>
              <a:defRPr sz="1125" b="0">
                <a:solidFill>
                  <a:srgbClr val="000000"/>
                </a:solidFill>
                <a:latin typeface="Calibri"/>
                <a:ea typeface="Calibri"/>
                <a:cs typeface="Calibri"/>
              </a:defRPr>
            </a:lvl4pPr>
            <a:lvl5pPr>
              <a:defRPr sz="1125" b="0">
                <a:solidFill>
                  <a:srgbClr val="000000"/>
                </a:solidFill>
                <a:latin typeface="Calibri"/>
                <a:ea typeface="Calibri"/>
                <a:cs typeface="Calibri"/>
              </a:defRPr>
            </a:lvl5pPr>
            <a:lvl6pPr>
              <a:defRPr sz="1125" b="0">
                <a:solidFill>
                  <a:srgbClr val="000000"/>
                </a:solidFill>
                <a:latin typeface="Calibri"/>
                <a:ea typeface="Calibri"/>
                <a:cs typeface="Calibri"/>
              </a:defRPr>
            </a:lvl6pPr>
            <a:lvl7pPr>
              <a:defRPr sz="1125" b="0">
                <a:solidFill>
                  <a:srgbClr val="000000"/>
                </a:solidFill>
                <a:latin typeface="Calibri"/>
                <a:ea typeface="Calibri"/>
                <a:cs typeface="Calibri"/>
              </a:defRPr>
            </a:lvl7pPr>
            <a:lvl8pPr>
              <a:defRPr sz="1125" b="0">
                <a:solidFill>
                  <a:srgbClr val="000000"/>
                </a:solidFill>
                <a:latin typeface="Calibri"/>
                <a:ea typeface="Calibri"/>
                <a:cs typeface="Calibri"/>
              </a:defRPr>
            </a:lvl8pPr>
            <a:lvl9pPr>
              <a:defRPr sz="1125" b="0">
                <a:solidFill>
                  <a:srgbClr val="000000"/>
                </a:solidFill>
                <a:latin typeface="Calibri"/>
                <a:ea typeface="Calibri"/>
                <a:cs typeface="Calibri"/>
              </a:defRPr>
            </a:lvl9pPr>
          </a:lstStyle>
          <a:p>
            <a:pPr>
              <a:defRPr sz="1125" b="0">
                <a:solidFill>
                  <a:srgbClr val="000000"/>
                </a:solidFill>
                <a:latin typeface="Calibri"/>
                <a:ea typeface="Calibri"/>
                <a:cs typeface="Calibri"/>
              </a:defRPr>
            </a:pPr>
            <a:r>
              <a:rPr sz="1125" b="0">
                <a:solidFill>
                  <a:srgbClr val="000000"/>
                </a:solidFill>
                <a:latin typeface="Calibri"/>
                <a:ea typeface="Calibri"/>
                <a:cs typeface="Calibri"/>
              </a:rPr>
              <a:t>54</a:t>
            </a:r>
          </a:p>
        </p:txBody>
      </p:sp>
      <p:graphicFrame>
        <p:nvGraphicFramePr>
          <p:cNvPr id="5" name="Table 4">
            <a:extLst>
              <a:ext uri="{FF2B5EF4-FFF2-40B4-BE49-F238E27FC236}">
                <a16:creationId xmlns:a16="http://schemas.microsoft.com/office/drawing/2014/main" id="{962B9223-7C67-4E59-85D3-7AEB469CCE61}"/>
              </a:ext>
            </a:extLst>
          </p:cNvPr>
          <p:cNvGraphicFramePr/>
          <p:nvPr/>
        </p:nvGraphicFramePr>
        <p:xfrm>
          <a:off x="476250" y="1714500"/>
          <a:ext cx="11239500" cy="4000500"/>
        </p:xfrm>
        <a:graphic>
          <a:graphicData uri="http://schemas.openxmlformats.org/drawingml/2006/table">
            <a:tbl>
              <a:tblPr/>
              <a:tblGrid>
                <a:gridCol w="285750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4381500">
                  <a:extLst>
                    <a:ext uri="{9D8B030D-6E8A-4147-A177-3AD203B41FA5}">
                      <a16:colId xmlns:a16="http://schemas.microsoft.com/office/drawing/2014/main" val="20002"/>
                    </a:ext>
                  </a:extLst>
                </a:gridCol>
              </a:tblGrid>
              <a:tr h="571500">
                <a:tc>
                  <a:txBody>
                    <a:bodyPr/>
                    <a:lstStyle/>
                    <a:p>
                      <a:r>
                        <a:rPr sz="1500" b="1">
                          <a:solidFill>
                            <a:srgbClr val="000000"/>
                          </a:solidFill>
                          <a:latin typeface="Calibri"/>
                          <a:ea typeface="Calibri"/>
                          <a:cs typeface="Calibri"/>
                        </a:rPr>
                        <a:t>Quantity</a:t>
                      </a:r>
                    </a:p>
                  </a:txBody>
                  <a:tcPr>
                    <a:lnL w="7620">
                      <a:solidFill>
                        <a:srgbClr val="CCCCCC"/>
                      </a:solidFill>
                    </a:lnL>
                    <a:lnR w="7620">
                      <a:solidFill>
                        <a:srgbClr val="CCCCCC"/>
                      </a:solidFill>
                    </a:lnR>
                    <a:lnT w="7620">
                      <a:solidFill>
                        <a:srgbClr val="CCCCCC"/>
                      </a:solidFill>
                    </a:lnT>
                    <a:lnB w="7620">
                      <a:solidFill>
                        <a:srgbClr val="CCCCCC"/>
                      </a:solidFill>
                    </a:lnB>
                    <a:solidFill>
                      <a:srgbClr val="D9D9D9"/>
                    </a:solidFill>
                  </a:tcPr>
                </a:tc>
                <a:tc>
                  <a:txBody>
                    <a:bodyPr/>
                    <a:lstStyle/>
                    <a:p>
                      <a:r>
                        <a:rPr sz="1500" b="1">
                          <a:solidFill>
                            <a:srgbClr val="000000"/>
                          </a:solidFill>
                          <a:latin typeface="Calibri"/>
                          <a:ea typeface="Calibri"/>
                          <a:cs typeface="Calibri"/>
                        </a:rPr>
                        <a:t>Published TS / current TS</a:t>
                      </a:r>
                    </a:p>
                  </a:txBody>
                  <a:tcPr>
                    <a:lnL w="7620" cap="flat" cmpd="sng" algn="ctr">
                      <a:solidFill>
                        <a:srgbClr val="CCCCCC"/>
                      </a:solidFill>
                      <a:prstDash val="solid"/>
                      <a:round/>
                      <a:headEnd type="none" w="med" len="med"/>
                      <a:tailEnd type="none" w="med" len="med"/>
                    </a:lnL>
                    <a:lnR w="7620">
                      <a:solidFill>
                        <a:srgbClr val="CCCCCC"/>
                      </a:solidFill>
                    </a:lnR>
                    <a:lnT w="7620">
                      <a:solidFill>
                        <a:srgbClr val="CCCCCC"/>
                      </a:solidFill>
                    </a:lnT>
                    <a:lnB w="7620">
                      <a:solidFill>
                        <a:srgbClr val="CCCCCC"/>
                      </a:solidFill>
                    </a:lnB>
                    <a:solidFill>
                      <a:srgbClr val="D9D9D9"/>
                    </a:solidFill>
                  </a:tcPr>
                </a:tc>
                <a:tc>
                  <a:txBody>
                    <a:bodyPr/>
                    <a:lstStyle/>
                    <a:p>
                      <a:r>
                        <a:rPr sz="1500" b="1">
                          <a:solidFill>
                            <a:srgbClr val="000000"/>
                          </a:solidFill>
                          <a:latin typeface="Calibri"/>
                          <a:ea typeface="Calibri"/>
                          <a:cs typeface="Calibri"/>
                        </a:rPr>
                        <a:t>Published electric / current electric</a:t>
                      </a:r>
                    </a:p>
                  </a:txBody>
                  <a:tcPr>
                    <a:lnL w="7620" cap="flat" cmpd="sng" algn="ctr">
                      <a:solidFill>
                        <a:srgbClr val="CCCCCC"/>
                      </a:solidFill>
                      <a:prstDash val="solid"/>
                      <a:round/>
                      <a:headEnd type="none" w="med" len="med"/>
                      <a:tailEnd type="none" w="med" len="med"/>
                    </a:lnL>
                    <a:lnR w="7620">
                      <a:solidFill>
                        <a:srgbClr val="CCCCCC"/>
                      </a:solidFill>
                    </a:lnR>
                    <a:lnT w="7620">
                      <a:solidFill>
                        <a:srgbClr val="CCCCCC"/>
                      </a:solidFill>
                    </a:lnT>
                    <a:lnB w="7620">
                      <a:solidFill>
                        <a:srgbClr val="CCCCCC"/>
                      </a:solidFill>
                    </a:lnB>
                    <a:solidFill>
                      <a:srgbClr val="D9D9D9"/>
                    </a:solidFill>
                  </a:tcPr>
                </a:tc>
                <a:extLst>
                  <a:ext uri="{0D108BD9-81ED-4DB2-BD59-A6C34878D82A}">
                    <a16:rowId xmlns:a16="http://schemas.microsoft.com/office/drawing/2014/main" val="10000"/>
                  </a:ext>
                </a:extLst>
              </a:tr>
              <a:tr h="571500">
                <a:tc>
                  <a:txBody>
                    <a:bodyPr/>
                    <a:lstStyle/>
                    <a:p>
                      <a:r>
                        <a:rPr sz="1500" b="0">
                          <a:solidFill>
                            <a:srgbClr val="000000"/>
                          </a:solidFill>
                          <a:latin typeface="Calibri"/>
                          <a:ea typeface="Calibri"/>
                          <a:cs typeface="Calibri"/>
                        </a:rPr>
                        <a:t>Design gross weight, lb</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4,299.7 / 4,299.232 (−0.011%)</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7,053.4 / 7,136.704 (+1.181%)</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1"/>
                  </a:ext>
                </a:extLst>
              </a:tr>
              <a:tr h="571500">
                <a:tc>
                  <a:txBody>
                    <a:bodyPr/>
                    <a:lstStyle/>
                    <a:p>
                      <a:r>
                        <a:rPr sz="1500" b="0">
                          <a:solidFill>
                            <a:srgbClr val="000000"/>
                          </a:solidFill>
                          <a:latin typeface="Calibri"/>
                          <a:ea typeface="Calibri"/>
                          <a:cs typeface="Calibri"/>
                        </a:rPr>
                        <a:t>Empty weight, lb</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2,893.1 / 2,893.016</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5,843.8 / 5,927.237 (+1.428%)</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2"/>
                  </a:ext>
                </a:extLst>
              </a:tr>
              <a:tr h="571500">
                <a:tc>
                  <a:txBody>
                    <a:bodyPr/>
                    <a:lstStyle/>
                    <a:p>
                      <a:r>
                        <a:rPr sz="1500" b="0">
                          <a:solidFill>
                            <a:srgbClr val="000000"/>
                          </a:solidFill>
                          <a:latin typeface="Calibri"/>
                          <a:ea typeface="Calibri"/>
                          <a:cs typeface="Calibri"/>
                        </a:rPr>
                        <a:t>Wing mass, lb</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See detailed baseline evidence</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286.5 / 345.868 (+20.7%)</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3"/>
                  </a:ext>
                </a:extLst>
              </a:tr>
              <a:tr h="571500">
                <a:tc>
                  <a:txBody>
                    <a:bodyPr/>
                    <a:lstStyle/>
                    <a:p>
                      <a:r>
                        <a:rPr sz="1500" b="0">
                          <a:solidFill>
                            <a:srgbClr val="000000"/>
                          </a:solidFill>
                          <a:latin typeface="Calibri"/>
                          <a:ea typeface="Calibri"/>
                          <a:cs typeface="Calibri"/>
                        </a:rPr>
                        <a:t>Best-range speed, kt</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170 / 169.683</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166.59 / 128.630 (−22.8%)</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4"/>
                  </a:ext>
                </a:extLst>
              </a:tr>
              <a:tr h="571500">
                <a:tc>
                  <a:txBody>
                    <a:bodyPr/>
                    <a:lstStyle/>
                    <a:p>
                      <a:r>
                        <a:rPr sz="1500" b="0">
                          <a:solidFill>
                            <a:srgbClr val="000000"/>
                          </a:solidFill>
                          <a:latin typeface="Calibri"/>
                          <a:ea typeface="Calibri"/>
                          <a:cs typeface="Calibri"/>
                        </a:rPr>
                        <a:t>Best-endurance speed, kt</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129.4 / 129.416</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119.08 / 86.652 (−27.2%)</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5"/>
                  </a:ext>
                </a:extLst>
              </a:tr>
              <a:tr h="571500">
                <a:tc>
                  <a:txBody>
                    <a:bodyPr/>
                    <a:lstStyle/>
                    <a:p>
                      <a:r>
                        <a:rPr sz="1500" b="0">
                          <a:solidFill>
                            <a:srgbClr val="000000"/>
                          </a:solidFill>
                          <a:latin typeface="Calibri"/>
                          <a:ea typeface="Calibri"/>
                          <a:cs typeface="Calibri"/>
                        </a:rPr>
                        <a:t>Conclusion</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Selected baseline quantities within 1%; repeated sizing stable</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Sizing-only converges; full performance trim fails</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98129306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AC6732B-628F-4D5F-B313-04A6D02725AE}"/>
              </a:ext>
            </a:extLst>
          </p:cNvPr>
          <p:cNvSpPr>
            <a:spLocks noGrp="1"/>
          </p:cNvSpPr>
          <p:nvPr/>
        </p:nvSpPr>
        <p:spPr>
          <a:xfrm>
            <a:off x="838200" y="361950"/>
            <a:ext cx="10572750" cy="495300"/>
          </a:xfrm>
          <a:prstGeom prst="rect">
            <a:avLst/>
          </a:prstGeom>
          <a:noFill/>
          <a:ln w="0">
            <a:noFill/>
          </a:ln>
        </p:spPr>
        <p:txBody>
          <a:bodyPr lIns="0" tIns="0" rIns="0" bIns="0"/>
          <a:lstStyle>
            <a:defPPr>
              <a:defRPr sz="2400" b="1">
                <a:solidFill>
                  <a:srgbClr val="000000"/>
                </a:solidFill>
                <a:latin typeface="Calibri"/>
                <a:ea typeface="Calibri"/>
                <a:cs typeface="Calibri"/>
              </a:defRPr>
            </a:defPPr>
            <a:lvl1pPr>
              <a:defRPr sz="2400" b="1">
                <a:solidFill>
                  <a:srgbClr val="000000"/>
                </a:solidFill>
                <a:latin typeface="Calibri"/>
                <a:ea typeface="Calibri"/>
                <a:cs typeface="Calibri"/>
              </a:defRPr>
            </a:lvl1pPr>
            <a:lvl2pPr>
              <a:defRPr sz="2400" b="1">
                <a:solidFill>
                  <a:srgbClr val="000000"/>
                </a:solidFill>
                <a:latin typeface="Calibri"/>
                <a:ea typeface="Calibri"/>
                <a:cs typeface="Calibri"/>
              </a:defRPr>
            </a:lvl2pPr>
            <a:lvl3pPr>
              <a:defRPr sz="2400" b="1">
                <a:solidFill>
                  <a:srgbClr val="000000"/>
                </a:solidFill>
                <a:latin typeface="Calibri"/>
                <a:ea typeface="Calibri"/>
                <a:cs typeface="Calibri"/>
              </a:defRPr>
            </a:lvl3pPr>
            <a:lvl4pPr>
              <a:defRPr sz="2400" b="1">
                <a:solidFill>
                  <a:srgbClr val="000000"/>
                </a:solidFill>
                <a:latin typeface="Calibri"/>
                <a:ea typeface="Calibri"/>
                <a:cs typeface="Calibri"/>
              </a:defRPr>
            </a:lvl4pPr>
            <a:lvl5pPr>
              <a:defRPr sz="2400" b="1">
                <a:solidFill>
                  <a:srgbClr val="000000"/>
                </a:solidFill>
                <a:latin typeface="Calibri"/>
                <a:ea typeface="Calibri"/>
                <a:cs typeface="Calibri"/>
              </a:defRPr>
            </a:lvl5pPr>
            <a:lvl6pPr>
              <a:defRPr sz="2400" b="1">
                <a:solidFill>
                  <a:srgbClr val="000000"/>
                </a:solidFill>
                <a:latin typeface="Calibri"/>
                <a:ea typeface="Calibri"/>
                <a:cs typeface="Calibri"/>
              </a:defRPr>
            </a:lvl6pPr>
            <a:lvl7pPr>
              <a:defRPr sz="2400" b="1">
                <a:solidFill>
                  <a:srgbClr val="000000"/>
                </a:solidFill>
                <a:latin typeface="Calibri"/>
                <a:ea typeface="Calibri"/>
                <a:cs typeface="Calibri"/>
              </a:defRPr>
            </a:lvl7pPr>
            <a:lvl8pPr>
              <a:defRPr sz="2400" b="1">
                <a:solidFill>
                  <a:srgbClr val="000000"/>
                </a:solidFill>
                <a:latin typeface="Calibri"/>
                <a:ea typeface="Calibri"/>
                <a:cs typeface="Calibri"/>
              </a:defRPr>
            </a:lvl8pPr>
            <a:lvl9pPr>
              <a:defRPr sz="2400" b="1">
                <a:solidFill>
                  <a:srgbClr val="000000"/>
                </a:solidFill>
                <a:latin typeface="Calibri"/>
                <a:ea typeface="Calibri"/>
                <a:cs typeface="Calibri"/>
              </a:defRPr>
            </a:lvl9pPr>
          </a:lstStyle>
          <a:p>
            <a:pPr>
              <a:defRPr sz="2400" b="1">
                <a:solidFill>
                  <a:srgbClr val="000000"/>
                </a:solidFill>
                <a:latin typeface="Calibri"/>
                <a:ea typeface="Calibri"/>
                <a:cs typeface="Calibri"/>
              </a:defRPr>
            </a:pPr>
            <a:r>
              <a:rPr sz="2400" b="1">
                <a:solidFill>
                  <a:srgbClr val="000000"/>
                </a:solidFill>
                <a:latin typeface="Calibri"/>
                <a:ea typeface="Calibri"/>
                <a:cs typeface="Calibri"/>
              </a:rPr>
              <a:t>NASA lift + cruise: sizing diagnostics, no physical grid</a:t>
            </a:r>
          </a:p>
        </p:txBody>
      </p:sp>
      <p:sp>
        <p:nvSpPr>
          <p:cNvPr id="2" name="Rectangle 1">
            <a:extLst>
              <a:ext uri="{FF2B5EF4-FFF2-40B4-BE49-F238E27FC236}">
                <a16:creationId xmlns:a16="http://schemas.microsoft.com/office/drawing/2014/main" id="{97E2E3CF-CACF-4237-B5B8-F886F0594E48}"/>
              </a:ext>
            </a:extLst>
          </p:cNvPr>
          <p:cNvSpPr>
            <a:spLocks noGrp="1"/>
          </p:cNvSpPr>
          <p:nvPr/>
        </p:nvSpPr>
        <p:spPr>
          <a:xfrm>
            <a:off x="476250" y="1028700"/>
            <a:ext cx="11239500" cy="590550"/>
          </a:xfrm>
          <a:prstGeom prst="rect">
            <a:avLst/>
          </a:prstGeom>
          <a:noFill/>
          <a:ln w="0">
            <a:noFill/>
          </a:ln>
        </p:spPr>
        <p:txBody>
          <a:bodyPr lIns="0" tIns="0" rIns="0" bIns="0"/>
          <a:lstStyle>
            <a:defPPr>
              <a:defRPr sz="1575" b="0">
                <a:solidFill>
                  <a:srgbClr val="333333"/>
                </a:solidFill>
                <a:latin typeface="Calibri"/>
                <a:ea typeface="Calibri"/>
                <a:cs typeface="Calibri"/>
              </a:defRPr>
            </a:defPPr>
            <a:lvl1pPr>
              <a:defRPr sz="1575" b="0">
                <a:solidFill>
                  <a:srgbClr val="333333"/>
                </a:solidFill>
                <a:latin typeface="Calibri"/>
                <a:ea typeface="Calibri"/>
                <a:cs typeface="Calibri"/>
              </a:defRPr>
            </a:lvl1pPr>
            <a:lvl2pPr>
              <a:defRPr sz="1575" b="0">
                <a:solidFill>
                  <a:srgbClr val="333333"/>
                </a:solidFill>
                <a:latin typeface="Calibri"/>
                <a:ea typeface="Calibri"/>
                <a:cs typeface="Calibri"/>
              </a:defRPr>
            </a:lvl2pPr>
            <a:lvl3pPr>
              <a:defRPr sz="1575" b="0">
                <a:solidFill>
                  <a:srgbClr val="333333"/>
                </a:solidFill>
                <a:latin typeface="Calibri"/>
                <a:ea typeface="Calibri"/>
                <a:cs typeface="Calibri"/>
              </a:defRPr>
            </a:lvl3pPr>
            <a:lvl4pPr>
              <a:defRPr sz="1575" b="0">
                <a:solidFill>
                  <a:srgbClr val="333333"/>
                </a:solidFill>
                <a:latin typeface="Calibri"/>
                <a:ea typeface="Calibri"/>
                <a:cs typeface="Calibri"/>
              </a:defRPr>
            </a:lvl4pPr>
            <a:lvl5pPr>
              <a:defRPr sz="1575" b="0">
                <a:solidFill>
                  <a:srgbClr val="333333"/>
                </a:solidFill>
                <a:latin typeface="Calibri"/>
                <a:ea typeface="Calibri"/>
                <a:cs typeface="Calibri"/>
              </a:defRPr>
            </a:lvl5pPr>
            <a:lvl6pPr>
              <a:defRPr sz="1575" b="0">
                <a:solidFill>
                  <a:srgbClr val="333333"/>
                </a:solidFill>
                <a:latin typeface="Calibri"/>
                <a:ea typeface="Calibri"/>
                <a:cs typeface="Calibri"/>
              </a:defRPr>
            </a:lvl6pPr>
            <a:lvl7pPr>
              <a:defRPr sz="1575" b="0">
                <a:solidFill>
                  <a:srgbClr val="333333"/>
                </a:solidFill>
                <a:latin typeface="Calibri"/>
                <a:ea typeface="Calibri"/>
                <a:cs typeface="Calibri"/>
              </a:defRPr>
            </a:lvl7pPr>
            <a:lvl8pPr>
              <a:defRPr sz="1575" b="0">
                <a:solidFill>
                  <a:srgbClr val="333333"/>
                </a:solidFill>
                <a:latin typeface="Calibri"/>
                <a:ea typeface="Calibri"/>
                <a:cs typeface="Calibri"/>
              </a:defRPr>
            </a:lvl8pPr>
            <a:lvl9pPr>
              <a:defRPr sz="1575" b="0">
                <a:solidFill>
                  <a:srgbClr val="333333"/>
                </a:solidFill>
                <a:latin typeface="Calibri"/>
                <a:ea typeface="Calibri"/>
                <a:cs typeface="Calibri"/>
              </a:defRPr>
            </a:lvl9pPr>
          </a:lstStyle>
          <a:p>
            <a:pPr>
              <a:defRPr sz="1575" b="0">
                <a:solidFill>
                  <a:srgbClr val="333333"/>
                </a:solidFill>
                <a:latin typeface="Calibri"/>
                <a:ea typeface="Calibri"/>
                <a:cs typeface="Calibri"/>
              </a:defRPr>
            </a:pPr>
            <a:r>
              <a:rPr sz="1575" b="0">
                <a:solidFill>
                  <a:srgbClr val="333333"/>
                </a:solidFill>
                <a:latin typeface="Calibri"/>
                <a:ea typeface="Calibri"/>
                <a:cs typeface="Calibri"/>
              </a:rPr>
              <a:t>The supplied decks can size the aircraft. The attempted retries do not constitute the paper-style design-space search. [A, B]</a:t>
            </a:r>
          </a:p>
        </p:txBody>
      </p:sp>
      <p:sp>
        <p:nvSpPr>
          <p:cNvPr id="3" name="Rectangle 2">
            <a:extLst>
              <a:ext uri="{FF2B5EF4-FFF2-40B4-BE49-F238E27FC236}">
                <a16:creationId xmlns:a16="http://schemas.microsoft.com/office/drawing/2014/main" id="{9FAA58F4-EF6B-44FF-B5EE-DC759C937B89}"/>
              </a:ext>
            </a:extLst>
          </p:cNvPr>
          <p:cNvSpPr>
            <a:spLocks noGrp="1"/>
          </p:cNvSpPr>
          <p:nvPr/>
        </p:nvSpPr>
        <p:spPr>
          <a:xfrm>
            <a:off x="476250" y="6076950"/>
            <a:ext cx="11191875" cy="619125"/>
          </a:xfrm>
          <a:prstGeom prst="rect">
            <a:avLst/>
          </a:prstGeom>
          <a:noFill/>
          <a:ln w="0">
            <a:noFill/>
          </a:ln>
        </p:spPr>
        <p:txBody>
          <a:bodyPr lIns="0" tIns="0" rIns="0" bIns="0"/>
          <a:lstStyle>
            <a:defPPr>
              <a:defRPr sz="1050" b="0">
                <a:solidFill>
                  <a:srgbClr val="333333"/>
                </a:solidFill>
                <a:latin typeface="Calibri"/>
                <a:ea typeface="Calibri"/>
                <a:cs typeface="Calibri"/>
              </a:defRPr>
            </a:defPPr>
            <a:lvl1pPr>
              <a:defRPr sz="1050" b="0">
                <a:solidFill>
                  <a:srgbClr val="333333"/>
                </a:solidFill>
                <a:latin typeface="Calibri"/>
                <a:ea typeface="Calibri"/>
                <a:cs typeface="Calibri"/>
              </a:defRPr>
            </a:lvl1pPr>
            <a:lvl2pPr>
              <a:defRPr sz="1050" b="0">
                <a:solidFill>
                  <a:srgbClr val="333333"/>
                </a:solidFill>
                <a:latin typeface="Calibri"/>
                <a:ea typeface="Calibri"/>
                <a:cs typeface="Calibri"/>
              </a:defRPr>
            </a:lvl2pPr>
            <a:lvl3pPr>
              <a:defRPr sz="1050" b="0">
                <a:solidFill>
                  <a:srgbClr val="333333"/>
                </a:solidFill>
                <a:latin typeface="Calibri"/>
                <a:ea typeface="Calibri"/>
                <a:cs typeface="Calibri"/>
              </a:defRPr>
            </a:lvl3pPr>
            <a:lvl4pPr>
              <a:defRPr sz="1050" b="0">
                <a:solidFill>
                  <a:srgbClr val="333333"/>
                </a:solidFill>
                <a:latin typeface="Calibri"/>
                <a:ea typeface="Calibri"/>
                <a:cs typeface="Calibri"/>
              </a:defRPr>
            </a:lvl4pPr>
            <a:lvl5pPr>
              <a:defRPr sz="1050" b="0">
                <a:solidFill>
                  <a:srgbClr val="333333"/>
                </a:solidFill>
                <a:latin typeface="Calibri"/>
                <a:ea typeface="Calibri"/>
                <a:cs typeface="Calibri"/>
              </a:defRPr>
            </a:lvl5pPr>
            <a:lvl6pPr>
              <a:defRPr sz="1050" b="0">
                <a:solidFill>
                  <a:srgbClr val="333333"/>
                </a:solidFill>
                <a:latin typeface="Calibri"/>
                <a:ea typeface="Calibri"/>
                <a:cs typeface="Calibri"/>
              </a:defRPr>
            </a:lvl6pPr>
            <a:lvl7pPr>
              <a:defRPr sz="1050" b="0">
                <a:solidFill>
                  <a:srgbClr val="333333"/>
                </a:solidFill>
                <a:latin typeface="Calibri"/>
                <a:ea typeface="Calibri"/>
                <a:cs typeface="Calibri"/>
              </a:defRPr>
            </a:lvl7pPr>
            <a:lvl8pPr>
              <a:defRPr sz="1050" b="0">
                <a:solidFill>
                  <a:srgbClr val="333333"/>
                </a:solidFill>
                <a:latin typeface="Calibri"/>
                <a:ea typeface="Calibri"/>
                <a:cs typeface="Calibri"/>
              </a:defRPr>
            </a:lvl8pPr>
            <a:lvl9pPr>
              <a:defRPr sz="1050" b="0">
                <a:solidFill>
                  <a:srgbClr val="333333"/>
                </a:solidFill>
                <a:latin typeface="Calibri"/>
                <a:ea typeface="Calibri"/>
                <a:cs typeface="Calibri"/>
              </a:defRPr>
            </a:lvl9pPr>
          </a:lstStyle>
          <a:p>
            <a:pPr>
              <a:defRPr sz="1050" b="0">
                <a:solidFill>
                  <a:srgbClr val="333333"/>
                </a:solidFill>
                <a:latin typeface="Calibri"/>
                <a:ea typeface="Calibri"/>
                <a:cs typeface="Calibri"/>
              </a:defRPr>
            </a:pPr>
            <a:r>
              <a:rPr sz="1050" b="0">
                <a:solidFill>
                  <a:srgbClr val="333333"/>
                </a:solidFill>
                <a:latin typeface="Calibri"/>
                <a:ea typeface="Calibri"/>
                <a:cs typeface="Calibri"/>
              </a:rPr>
              <a:t>[L] NASA, UAM Reference Vehicles, May 2021 NDARC L+C model / reference-output package. https://www.nasa.gov/reference/uam-refs/ (accessed 28 Oct 2026)</a:t>
            </a:r>
          </a:p>
          <a:p>
            <a:pPr>
              <a:defRPr sz="1050" b="0">
                <a:solidFill>
                  <a:srgbClr val="333333"/>
                </a:solidFill>
                <a:latin typeface="Calibri"/>
                <a:ea typeface="Calibri"/>
                <a:cs typeface="Calibri"/>
              </a:defRPr>
            </a:pPr>
            <a:r>
              <a:rPr sz="1050" b="0">
                <a:solidFill>
                  <a:srgbClr val="333333"/>
                </a:solidFill>
                <a:latin typeface="Calibri"/>
                <a:ea typeface="Calibri"/>
                <a:cs typeface="Calibri"/>
              </a:rPr>
              <a:t>[A, B] nasa-retry-20261028*; research/projects/ run-results and original run inputs/outputs. Current predictions below.</a:t>
            </a:r>
          </a:p>
        </p:txBody>
      </p:sp>
      <p:sp>
        <p:nvSpPr>
          <p:cNvPr id="4" name="Rectangle 3">
            <a:extLst>
              <a:ext uri="{FF2B5EF4-FFF2-40B4-BE49-F238E27FC236}">
                <a16:creationId xmlns:a16="http://schemas.microsoft.com/office/drawing/2014/main" id="{529415AB-F7A0-4900-9890-60E46284BCF6}"/>
              </a:ext>
            </a:extLst>
          </p:cNvPr>
          <p:cNvSpPr>
            <a:spLocks noGrp="1"/>
          </p:cNvSpPr>
          <p:nvPr/>
        </p:nvSpPr>
        <p:spPr>
          <a:xfrm>
            <a:off x="11430000" y="6553200"/>
            <a:ext cx="333375" cy="209550"/>
          </a:xfrm>
          <a:prstGeom prst="rect">
            <a:avLst/>
          </a:prstGeom>
          <a:noFill/>
          <a:ln w="0">
            <a:noFill/>
          </a:ln>
        </p:spPr>
        <p:txBody>
          <a:bodyPr lIns="0" tIns="0" rIns="0" bIns="0"/>
          <a:lstStyle>
            <a:defPPr>
              <a:defRPr sz="1125" b="0">
                <a:solidFill>
                  <a:srgbClr val="000000"/>
                </a:solidFill>
                <a:latin typeface="Calibri"/>
                <a:ea typeface="Calibri"/>
                <a:cs typeface="Calibri"/>
              </a:defRPr>
            </a:defPPr>
            <a:lvl1pPr>
              <a:defRPr sz="1125" b="0">
                <a:solidFill>
                  <a:srgbClr val="000000"/>
                </a:solidFill>
                <a:latin typeface="Calibri"/>
                <a:ea typeface="Calibri"/>
                <a:cs typeface="Calibri"/>
              </a:defRPr>
            </a:lvl1pPr>
            <a:lvl2pPr>
              <a:defRPr sz="1125" b="0">
                <a:solidFill>
                  <a:srgbClr val="000000"/>
                </a:solidFill>
                <a:latin typeface="Calibri"/>
                <a:ea typeface="Calibri"/>
                <a:cs typeface="Calibri"/>
              </a:defRPr>
            </a:lvl2pPr>
            <a:lvl3pPr>
              <a:defRPr sz="1125" b="0">
                <a:solidFill>
                  <a:srgbClr val="000000"/>
                </a:solidFill>
                <a:latin typeface="Calibri"/>
                <a:ea typeface="Calibri"/>
                <a:cs typeface="Calibri"/>
              </a:defRPr>
            </a:lvl3pPr>
            <a:lvl4pPr>
              <a:defRPr sz="1125" b="0">
                <a:solidFill>
                  <a:srgbClr val="000000"/>
                </a:solidFill>
                <a:latin typeface="Calibri"/>
                <a:ea typeface="Calibri"/>
                <a:cs typeface="Calibri"/>
              </a:defRPr>
            </a:lvl4pPr>
            <a:lvl5pPr>
              <a:defRPr sz="1125" b="0">
                <a:solidFill>
                  <a:srgbClr val="000000"/>
                </a:solidFill>
                <a:latin typeface="Calibri"/>
                <a:ea typeface="Calibri"/>
                <a:cs typeface="Calibri"/>
              </a:defRPr>
            </a:lvl5pPr>
            <a:lvl6pPr>
              <a:defRPr sz="1125" b="0">
                <a:solidFill>
                  <a:srgbClr val="000000"/>
                </a:solidFill>
                <a:latin typeface="Calibri"/>
                <a:ea typeface="Calibri"/>
                <a:cs typeface="Calibri"/>
              </a:defRPr>
            </a:lvl6pPr>
            <a:lvl7pPr>
              <a:defRPr sz="1125" b="0">
                <a:solidFill>
                  <a:srgbClr val="000000"/>
                </a:solidFill>
                <a:latin typeface="Calibri"/>
                <a:ea typeface="Calibri"/>
                <a:cs typeface="Calibri"/>
              </a:defRPr>
            </a:lvl7pPr>
            <a:lvl8pPr>
              <a:defRPr sz="1125" b="0">
                <a:solidFill>
                  <a:srgbClr val="000000"/>
                </a:solidFill>
                <a:latin typeface="Calibri"/>
                <a:ea typeface="Calibri"/>
                <a:cs typeface="Calibri"/>
              </a:defRPr>
            </a:lvl8pPr>
            <a:lvl9pPr>
              <a:defRPr sz="1125" b="0">
                <a:solidFill>
                  <a:srgbClr val="000000"/>
                </a:solidFill>
                <a:latin typeface="Calibri"/>
                <a:ea typeface="Calibri"/>
                <a:cs typeface="Calibri"/>
              </a:defRPr>
            </a:lvl9pPr>
          </a:lstStyle>
          <a:p>
            <a:pPr>
              <a:defRPr sz="1125" b="0">
                <a:solidFill>
                  <a:srgbClr val="000000"/>
                </a:solidFill>
                <a:latin typeface="Calibri"/>
                <a:ea typeface="Calibri"/>
                <a:cs typeface="Calibri"/>
              </a:defRPr>
            </a:pPr>
            <a:r>
              <a:rPr sz="1125" b="0">
                <a:solidFill>
                  <a:srgbClr val="000000"/>
                </a:solidFill>
                <a:latin typeface="Calibri"/>
                <a:ea typeface="Calibri"/>
                <a:cs typeface="Calibri"/>
              </a:rPr>
              <a:t>55</a:t>
            </a:r>
          </a:p>
        </p:txBody>
      </p:sp>
      <p:graphicFrame>
        <p:nvGraphicFramePr>
          <p:cNvPr id="5" name="Table 4">
            <a:extLst>
              <a:ext uri="{FF2B5EF4-FFF2-40B4-BE49-F238E27FC236}">
                <a16:creationId xmlns:a16="http://schemas.microsoft.com/office/drawing/2014/main" id="{BA5BA480-F187-4CD8-8583-BF969F540FB6}"/>
              </a:ext>
            </a:extLst>
          </p:cNvPr>
          <p:cNvGraphicFramePr/>
          <p:nvPr/>
        </p:nvGraphicFramePr>
        <p:xfrm>
          <a:off x="476250" y="1714500"/>
          <a:ext cx="11239500" cy="4000500"/>
        </p:xfrm>
        <a:graphic>
          <a:graphicData uri="http://schemas.openxmlformats.org/drawingml/2006/table">
            <a:tbl>
              <a:tblPr/>
              <a:tblGrid>
                <a:gridCol w="2286000">
                  <a:extLst>
                    <a:ext uri="{9D8B030D-6E8A-4147-A177-3AD203B41FA5}">
                      <a16:colId xmlns:a16="http://schemas.microsoft.com/office/drawing/2014/main" val="20000"/>
                    </a:ext>
                  </a:extLst>
                </a:gridCol>
                <a:gridCol w="4619625">
                  <a:extLst>
                    <a:ext uri="{9D8B030D-6E8A-4147-A177-3AD203B41FA5}">
                      <a16:colId xmlns:a16="http://schemas.microsoft.com/office/drawing/2014/main" val="20001"/>
                    </a:ext>
                  </a:extLst>
                </a:gridCol>
                <a:gridCol w="4333875">
                  <a:extLst>
                    <a:ext uri="{9D8B030D-6E8A-4147-A177-3AD203B41FA5}">
                      <a16:colId xmlns:a16="http://schemas.microsoft.com/office/drawing/2014/main" val="20002"/>
                    </a:ext>
                  </a:extLst>
                </a:gridCol>
              </a:tblGrid>
              <a:tr h="666750">
                <a:tc>
                  <a:txBody>
                    <a:bodyPr/>
                    <a:lstStyle/>
                    <a:p>
                      <a:r>
                        <a:rPr sz="1500" b="1">
                          <a:solidFill>
                            <a:srgbClr val="000000"/>
                          </a:solidFill>
                          <a:latin typeface="Calibri"/>
                          <a:ea typeface="Calibri"/>
                          <a:cs typeface="Calibri"/>
                        </a:rPr>
                        <a:t>NASA branch</a:t>
                      </a:r>
                    </a:p>
                  </a:txBody>
                  <a:tcPr>
                    <a:lnL w="7620">
                      <a:solidFill>
                        <a:srgbClr val="CCCCCC"/>
                      </a:solidFill>
                    </a:lnL>
                    <a:lnR w="7620">
                      <a:solidFill>
                        <a:srgbClr val="CCCCCC"/>
                      </a:solidFill>
                    </a:lnR>
                    <a:lnT w="7620">
                      <a:solidFill>
                        <a:srgbClr val="CCCCCC"/>
                      </a:solidFill>
                    </a:lnT>
                    <a:lnB w="7620">
                      <a:solidFill>
                        <a:srgbClr val="CCCCCC"/>
                      </a:solidFill>
                    </a:lnB>
                    <a:solidFill>
                      <a:srgbClr val="D9D9D9"/>
                    </a:solidFill>
                  </a:tcPr>
                </a:tc>
                <a:tc>
                  <a:txBody>
                    <a:bodyPr/>
                    <a:lstStyle/>
                    <a:p>
                      <a:r>
                        <a:rPr sz="1500" b="1">
                          <a:solidFill>
                            <a:srgbClr val="000000"/>
                          </a:solidFill>
                          <a:latin typeface="Calibri"/>
                          <a:ea typeface="Calibri"/>
                          <a:cs typeface="Calibri"/>
                        </a:rPr>
                        <a:t>What was run</a:t>
                      </a:r>
                    </a:p>
                  </a:txBody>
                  <a:tcPr>
                    <a:lnL w="7620" cap="flat" cmpd="sng" algn="ctr">
                      <a:solidFill>
                        <a:srgbClr val="CCCCCC"/>
                      </a:solidFill>
                      <a:prstDash val="solid"/>
                      <a:round/>
                      <a:headEnd type="none" w="med" len="med"/>
                      <a:tailEnd type="none" w="med" len="med"/>
                    </a:lnL>
                    <a:lnR w="7620">
                      <a:solidFill>
                        <a:srgbClr val="CCCCCC"/>
                      </a:solidFill>
                    </a:lnR>
                    <a:lnT w="7620">
                      <a:solidFill>
                        <a:srgbClr val="CCCCCC"/>
                      </a:solidFill>
                    </a:lnT>
                    <a:lnB w="7620">
                      <a:solidFill>
                        <a:srgbClr val="CCCCCC"/>
                      </a:solidFill>
                    </a:lnB>
                    <a:solidFill>
                      <a:srgbClr val="D9D9D9"/>
                    </a:solidFill>
                  </a:tcPr>
                </a:tc>
                <a:tc>
                  <a:txBody>
                    <a:bodyPr/>
                    <a:lstStyle/>
                    <a:p>
                      <a:r>
                        <a:rPr sz="1500" b="1">
                          <a:solidFill>
                            <a:srgbClr val="000000"/>
                          </a:solidFill>
                          <a:latin typeface="Calibri"/>
                          <a:ea typeface="Calibri"/>
                          <a:cs typeface="Calibri"/>
                        </a:rPr>
                        <a:t>Comparison / limitation</a:t>
                      </a:r>
                    </a:p>
                  </a:txBody>
                  <a:tcPr>
                    <a:lnL w="7620" cap="flat" cmpd="sng" algn="ctr">
                      <a:solidFill>
                        <a:srgbClr val="CCCCCC"/>
                      </a:solidFill>
                      <a:prstDash val="solid"/>
                      <a:round/>
                      <a:headEnd type="none" w="med" len="med"/>
                      <a:tailEnd type="none" w="med" len="med"/>
                    </a:lnL>
                    <a:lnR w="7620">
                      <a:solidFill>
                        <a:srgbClr val="CCCCCC"/>
                      </a:solidFill>
                    </a:lnR>
                    <a:lnT w="7620">
                      <a:solidFill>
                        <a:srgbClr val="CCCCCC"/>
                      </a:solidFill>
                    </a:lnT>
                    <a:lnB w="7620">
                      <a:solidFill>
                        <a:srgbClr val="CCCCCC"/>
                      </a:solidFill>
                    </a:lnB>
                    <a:solidFill>
                      <a:srgbClr val="D9D9D9"/>
                    </a:solidFill>
                  </a:tcPr>
                </a:tc>
                <a:extLst>
                  <a:ext uri="{0D108BD9-81ED-4DB2-BD59-A6C34878D82A}">
                    <a16:rowId xmlns:a16="http://schemas.microsoft.com/office/drawing/2014/main" val="10000"/>
                  </a:ext>
                </a:extLst>
              </a:tr>
              <a:tr h="666750">
                <a:tc>
                  <a:txBody>
                    <a:bodyPr/>
                    <a:lstStyle/>
                    <a:p>
                      <a:r>
                        <a:rPr sz="1500" b="0">
                          <a:solidFill>
                            <a:srgbClr val="000000"/>
                          </a:solidFill>
                          <a:latin typeface="Calibri"/>
                          <a:ea typeface="Calibri"/>
                          <a:cs typeface="Calibri"/>
                        </a:rPr>
                        <a:t>Electric L+C</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Baseline compatibility and one fixed-control retry; TASK_Size enabled</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9,160.6 lb versus 8,210 lb reference, about +11.6%; changed mission prevents exact reproduction</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1"/>
                  </a:ext>
                </a:extLst>
              </a:tr>
              <a:tr h="666750">
                <a:tc>
                  <a:txBody>
                    <a:bodyPr/>
                    <a:lstStyle/>
                    <a:p>
                      <a:r>
                        <a:rPr sz="1500" b="0">
                          <a:solidFill>
                            <a:srgbClr val="000000"/>
                          </a:solidFill>
                          <a:latin typeface="Calibri"/>
                          <a:ea typeface="Calibri"/>
                          <a:cs typeface="Calibri"/>
                        </a:rPr>
                        <a:t>Turboelectric L+C</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Four new retry executions, including corrected fixed case and damped sizing</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6,625 lb versus 6,013 lb, about +10.2%; power/energy flags or timeout remain</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2"/>
                  </a:ext>
                </a:extLst>
              </a:tr>
              <a:tr h="666750">
                <a:tc>
                  <a:txBody>
                    <a:bodyPr/>
                    <a:lstStyle/>
                    <a:p>
                      <a:r>
                        <a:rPr sz="1500" b="0">
                          <a:solidFill>
                            <a:srgbClr val="000000"/>
                          </a:solidFill>
                          <a:latin typeface="Calibri"/>
                          <a:ea typeface="Calibri"/>
                          <a:cs typeface="Calibri"/>
                        </a:rPr>
                        <a:t>Physical parameter sweep</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No systematic DL/WL or tip-speed grid recovered</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No optimality claim and no completed paper-method verification</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3"/>
                  </a:ext>
                </a:extLst>
              </a:tr>
              <a:tr h="666750">
                <a:tc>
                  <a:txBody>
                    <a:bodyPr/>
                    <a:lstStyle/>
                    <a:p>
                      <a:r>
                        <a:rPr sz="1500" b="0">
                          <a:solidFill>
                            <a:srgbClr val="000000"/>
                          </a:solidFill>
                          <a:latin typeface="Calibri"/>
                          <a:ea typeface="Calibri"/>
                          <a:cs typeface="Calibri"/>
                        </a:rPr>
                        <a:t>Registry naming</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Older turboshaft_electric and newer turboelectric labels</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Historical aliases for this propulsion architecture, retained separately</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4"/>
                  </a:ext>
                </a:extLst>
              </a:tr>
              <a:tr h="666750">
                <a:tc>
                  <a:txBody>
                    <a:bodyPr/>
                    <a:lstStyle/>
                    <a:p>
                      <a:r>
                        <a:rPr sz="1500" b="0">
                          <a:solidFill>
                            <a:srgbClr val="000000"/>
                          </a:solidFill>
                          <a:latin typeface="Calibri"/>
                          <a:ea typeface="Calibri"/>
                          <a:cs typeface="Calibri"/>
                        </a:rPr>
                        <a:t>Required conclusion</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Numerical diagnostics remain incomplete</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A normal exit or converged subcase does not establish reference agreement</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3595435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62F0480-C2A1-4751-9BB8-16047FA872E5}"/>
              </a:ext>
            </a:extLst>
          </p:cNvPr>
          <p:cNvSpPr>
            <a:spLocks noGrp="1"/>
          </p:cNvSpPr>
          <p:nvPr/>
        </p:nvSpPr>
        <p:spPr>
          <a:xfrm>
            <a:off x="838200" y="361950"/>
            <a:ext cx="10572750" cy="495300"/>
          </a:xfrm>
          <a:prstGeom prst="rect">
            <a:avLst/>
          </a:prstGeom>
          <a:noFill/>
          <a:ln w="0">
            <a:noFill/>
          </a:ln>
        </p:spPr>
        <p:txBody>
          <a:bodyPr lIns="0" tIns="0" rIns="0" bIns="0"/>
          <a:lstStyle>
            <a:defPPr>
              <a:defRPr sz="2400" b="1">
                <a:solidFill>
                  <a:srgbClr val="000000"/>
                </a:solidFill>
                <a:latin typeface="Calibri"/>
                <a:ea typeface="Calibri"/>
                <a:cs typeface="Calibri"/>
              </a:defRPr>
            </a:defPPr>
            <a:lvl1pPr>
              <a:defRPr sz="2400" b="1">
                <a:solidFill>
                  <a:srgbClr val="000000"/>
                </a:solidFill>
                <a:latin typeface="Calibri"/>
                <a:ea typeface="Calibri"/>
                <a:cs typeface="Calibri"/>
              </a:defRPr>
            </a:lvl1pPr>
            <a:lvl2pPr>
              <a:defRPr sz="2400" b="1">
                <a:solidFill>
                  <a:srgbClr val="000000"/>
                </a:solidFill>
                <a:latin typeface="Calibri"/>
                <a:ea typeface="Calibri"/>
                <a:cs typeface="Calibri"/>
              </a:defRPr>
            </a:lvl2pPr>
            <a:lvl3pPr>
              <a:defRPr sz="2400" b="1">
                <a:solidFill>
                  <a:srgbClr val="000000"/>
                </a:solidFill>
                <a:latin typeface="Calibri"/>
                <a:ea typeface="Calibri"/>
                <a:cs typeface="Calibri"/>
              </a:defRPr>
            </a:lvl3pPr>
            <a:lvl4pPr>
              <a:defRPr sz="2400" b="1">
                <a:solidFill>
                  <a:srgbClr val="000000"/>
                </a:solidFill>
                <a:latin typeface="Calibri"/>
                <a:ea typeface="Calibri"/>
                <a:cs typeface="Calibri"/>
              </a:defRPr>
            </a:lvl4pPr>
            <a:lvl5pPr>
              <a:defRPr sz="2400" b="1">
                <a:solidFill>
                  <a:srgbClr val="000000"/>
                </a:solidFill>
                <a:latin typeface="Calibri"/>
                <a:ea typeface="Calibri"/>
                <a:cs typeface="Calibri"/>
              </a:defRPr>
            </a:lvl5pPr>
            <a:lvl6pPr>
              <a:defRPr sz="2400" b="1">
                <a:solidFill>
                  <a:srgbClr val="000000"/>
                </a:solidFill>
                <a:latin typeface="Calibri"/>
                <a:ea typeface="Calibri"/>
                <a:cs typeface="Calibri"/>
              </a:defRPr>
            </a:lvl6pPr>
            <a:lvl7pPr>
              <a:defRPr sz="2400" b="1">
                <a:solidFill>
                  <a:srgbClr val="000000"/>
                </a:solidFill>
                <a:latin typeface="Calibri"/>
                <a:ea typeface="Calibri"/>
                <a:cs typeface="Calibri"/>
              </a:defRPr>
            </a:lvl7pPr>
            <a:lvl8pPr>
              <a:defRPr sz="2400" b="1">
                <a:solidFill>
                  <a:srgbClr val="000000"/>
                </a:solidFill>
                <a:latin typeface="Calibri"/>
                <a:ea typeface="Calibri"/>
                <a:cs typeface="Calibri"/>
              </a:defRPr>
            </a:lvl8pPr>
            <a:lvl9pPr>
              <a:defRPr sz="2400" b="1">
                <a:solidFill>
                  <a:srgbClr val="000000"/>
                </a:solidFill>
                <a:latin typeface="Calibri"/>
                <a:ea typeface="Calibri"/>
                <a:cs typeface="Calibri"/>
              </a:defRPr>
            </a:lvl9pPr>
          </a:lstStyle>
          <a:p>
            <a:pPr>
              <a:defRPr sz="2400" b="1">
                <a:solidFill>
                  <a:srgbClr val="000000"/>
                </a:solidFill>
                <a:latin typeface="Calibri"/>
                <a:ea typeface="Calibri"/>
                <a:cs typeface="Calibri"/>
              </a:defRPr>
            </a:pPr>
            <a:r>
              <a:rPr sz="2400" b="1">
                <a:solidFill>
                  <a:srgbClr val="000000"/>
                </a:solidFill>
                <a:latin typeface="Calibri"/>
                <a:ea typeface="Calibri"/>
                <a:cs typeface="Calibri"/>
              </a:rPr>
              <a:t>Other executed configurations: archive coverage 1</a:t>
            </a:r>
          </a:p>
        </p:txBody>
      </p:sp>
      <p:sp>
        <p:nvSpPr>
          <p:cNvPr id="2" name="Rectangle 1">
            <a:extLst>
              <a:ext uri="{FF2B5EF4-FFF2-40B4-BE49-F238E27FC236}">
                <a16:creationId xmlns:a16="http://schemas.microsoft.com/office/drawing/2014/main" id="{C13927DE-BCF8-49E2-AEB5-1468CDA927DA}"/>
              </a:ext>
            </a:extLst>
          </p:cNvPr>
          <p:cNvSpPr>
            <a:spLocks noGrp="1"/>
          </p:cNvSpPr>
          <p:nvPr/>
        </p:nvSpPr>
        <p:spPr>
          <a:xfrm>
            <a:off x="476250" y="1028700"/>
            <a:ext cx="11239500" cy="590550"/>
          </a:xfrm>
          <a:prstGeom prst="rect">
            <a:avLst/>
          </a:prstGeom>
          <a:noFill/>
          <a:ln w="0">
            <a:noFill/>
          </a:ln>
        </p:spPr>
        <p:txBody>
          <a:bodyPr lIns="0" tIns="0" rIns="0" bIns="0"/>
          <a:lstStyle>
            <a:defPPr>
              <a:defRPr sz="1575" b="0">
                <a:solidFill>
                  <a:srgbClr val="333333"/>
                </a:solidFill>
                <a:latin typeface="Calibri"/>
                <a:ea typeface="Calibri"/>
                <a:cs typeface="Calibri"/>
              </a:defRPr>
            </a:defPPr>
            <a:lvl1pPr>
              <a:defRPr sz="1575" b="0">
                <a:solidFill>
                  <a:srgbClr val="333333"/>
                </a:solidFill>
                <a:latin typeface="Calibri"/>
                <a:ea typeface="Calibri"/>
                <a:cs typeface="Calibri"/>
              </a:defRPr>
            </a:lvl1pPr>
            <a:lvl2pPr>
              <a:defRPr sz="1575" b="0">
                <a:solidFill>
                  <a:srgbClr val="333333"/>
                </a:solidFill>
                <a:latin typeface="Calibri"/>
                <a:ea typeface="Calibri"/>
                <a:cs typeface="Calibri"/>
              </a:defRPr>
            </a:lvl2pPr>
            <a:lvl3pPr>
              <a:defRPr sz="1575" b="0">
                <a:solidFill>
                  <a:srgbClr val="333333"/>
                </a:solidFill>
                <a:latin typeface="Calibri"/>
                <a:ea typeface="Calibri"/>
                <a:cs typeface="Calibri"/>
              </a:defRPr>
            </a:lvl3pPr>
            <a:lvl4pPr>
              <a:defRPr sz="1575" b="0">
                <a:solidFill>
                  <a:srgbClr val="333333"/>
                </a:solidFill>
                <a:latin typeface="Calibri"/>
                <a:ea typeface="Calibri"/>
                <a:cs typeface="Calibri"/>
              </a:defRPr>
            </a:lvl4pPr>
            <a:lvl5pPr>
              <a:defRPr sz="1575" b="0">
                <a:solidFill>
                  <a:srgbClr val="333333"/>
                </a:solidFill>
                <a:latin typeface="Calibri"/>
                <a:ea typeface="Calibri"/>
                <a:cs typeface="Calibri"/>
              </a:defRPr>
            </a:lvl5pPr>
            <a:lvl6pPr>
              <a:defRPr sz="1575" b="0">
                <a:solidFill>
                  <a:srgbClr val="333333"/>
                </a:solidFill>
                <a:latin typeface="Calibri"/>
                <a:ea typeface="Calibri"/>
                <a:cs typeface="Calibri"/>
              </a:defRPr>
            </a:lvl6pPr>
            <a:lvl7pPr>
              <a:defRPr sz="1575" b="0">
                <a:solidFill>
                  <a:srgbClr val="333333"/>
                </a:solidFill>
                <a:latin typeface="Calibri"/>
                <a:ea typeface="Calibri"/>
                <a:cs typeface="Calibri"/>
              </a:defRPr>
            </a:lvl7pPr>
            <a:lvl8pPr>
              <a:defRPr sz="1575" b="0">
                <a:solidFill>
                  <a:srgbClr val="333333"/>
                </a:solidFill>
                <a:latin typeface="Calibri"/>
                <a:ea typeface="Calibri"/>
                <a:cs typeface="Calibri"/>
              </a:defRPr>
            </a:lvl8pPr>
            <a:lvl9pPr>
              <a:defRPr sz="1575" b="0">
                <a:solidFill>
                  <a:srgbClr val="333333"/>
                </a:solidFill>
                <a:latin typeface="Calibri"/>
                <a:ea typeface="Calibri"/>
                <a:cs typeface="Calibri"/>
              </a:defRPr>
            </a:lvl9pPr>
          </a:lstStyle>
          <a:p>
            <a:pPr>
              <a:defRPr sz="1575" b="0">
                <a:solidFill>
                  <a:srgbClr val="333333"/>
                </a:solidFill>
                <a:latin typeface="Calibri"/>
                <a:ea typeface="Calibri"/>
                <a:cs typeface="Calibri"/>
              </a:defRPr>
            </a:pPr>
            <a:r>
              <a:rPr sz="1575" b="0">
                <a:solidFill>
                  <a:srgbClr val="333333"/>
                </a:solidFill>
                <a:latin typeface="Calibri"/>
                <a:ea typeface="Calibri"/>
                <a:cs typeface="Calibri"/>
              </a:rPr>
              <a:t>These jobs provide examples, baseline checks or compatibility diagnostics. A design optimization grid has not been established. [A, B]</a:t>
            </a:r>
          </a:p>
        </p:txBody>
      </p:sp>
      <p:sp>
        <p:nvSpPr>
          <p:cNvPr id="3" name="Rectangle 2">
            <a:extLst>
              <a:ext uri="{FF2B5EF4-FFF2-40B4-BE49-F238E27FC236}">
                <a16:creationId xmlns:a16="http://schemas.microsoft.com/office/drawing/2014/main" id="{290A61C7-A666-4525-B872-1B74A60692B8}"/>
              </a:ext>
            </a:extLst>
          </p:cNvPr>
          <p:cNvSpPr>
            <a:spLocks noGrp="1"/>
          </p:cNvSpPr>
          <p:nvPr/>
        </p:nvSpPr>
        <p:spPr>
          <a:xfrm>
            <a:off x="476250" y="6076950"/>
            <a:ext cx="11191875" cy="619125"/>
          </a:xfrm>
          <a:prstGeom prst="rect">
            <a:avLst/>
          </a:prstGeom>
          <a:noFill/>
          <a:ln w="0">
            <a:noFill/>
          </a:ln>
        </p:spPr>
        <p:txBody>
          <a:bodyPr lIns="0" tIns="0" rIns="0" bIns="0"/>
          <a:lstStyle>
            <a:defPPr>
              <a:defRPr sz="1050" b="0">
                <a:solidFill>
                  <a:srgbClr val="333333"/>
                </a:solidFill>
                <a:latin typeface="Calibri"/>
                <a:ea typeface="Calibri"/>
                <a:cs typeface="Calibri"/>
              </a:defRPr>
            </a:defPPr>
            <a:lvl1pPr>
              <a:defRPr sz="1050" b="0">
                <a:solidFill>
                  <a:srgbClr val="333333"/>
                </a:solidFill>
                <a:latin typeface="Calibri"/>
                <a:ea typeface="Calibri"/>
                <a:cs typeface="Calibri"/>
              </a:defRPr>
            </a:lvl1pPr>
            <a:lvl2pPr>
              <a:defRPr sz="1050" b="0">
                <a:solidFill>
                  <a:srgbClr val="333333"/>
                </a:solidFill>
                <a:latin typeface="Calibri"/>
                <a:ea typeface="Calibri"/>
                <a:cs typeface="Calibri"/>
              </a:defRPr>
            </a:lvl2pPr>
            <a:lvl3pPr>
              <a:defRPr sz="1050" b="0">
                <a:solidFill>
                  <a:srgbClr val="333333"/>
                </a:solidFill>
                <a:latin typeface="Calibri"/>
                <a:ea typeface="Calibri"/>
                <a:cs typeface="Calibri"/>
              </a:defRPr>
            </a:lvl3pPr>
            <a:lvl4pPr>
              <a:defRPr sz="1050" b="0">
                <a:solidFill>
                  <a:srgbClr val="333333"/>
                </a:solidFill>
                <a:latin typeface="Calibri"/>
                <a:ea typeface="Calibri"/>
                <a:cs typeface="Calibri"/>
              </a:defRPr>
            </a:lvl4pPr>
            <a:lvl5pPr>
              <a:defRPr sz="1050" b="0">
                <a:solidFill>
                  <a:srgbClr val="333333"/>
                </a:solidFill>
                <a:latin typeface="Calibri"/>
                <a:ea typeface="Calibri"/>
                <a:cs typeface="Calibri"/>
              </a:defRPr>
            </a:lvl5pPr>
            <a:lvl6pPr>
              <a:defRPr sz="1050" b="0">
                <a:solidFill>
                  <a:srgbClr val="333333"/>
                </a:solidFill>
                <a:latin typeface="Calibri"/>
                <a:ea typeface="Calibri"/>
                <a:cs typeface="Calibri"/>
              </a:defRPr>
            </a:lvl6pPr>
            <a:lvl7pPr>
              <a:defRPr sz="1050" b="0">
                <a:solidFill>
                  <a:srgbClr val="333333"/>
                </a:solidFill>
                <a:latin typeface="Calibri"/>
                <a:ea typeface="Calibri"/>
                <a:cs typeface="Calibri"/>
              </a:defRPr>
            </a:lvl7pPr>
            <a:lvl8pPr>
              <a:defRPr sz="1050" b="0">
                <a:solidFill>
                  <a:srgbClr val="333333"/>
                </a:solidFill>
                <a:latin typeface="Calibri"/>
                <a:ea typeface="Calibri"/>
                <a:cs typeface="Calibri"/>
              </a:defRPr>
            </a:lvl8pPr>
            <a:lvl9pPr>
              <a:defRPr sz="1050" b="0">
                <a:solidFill>
                  <a:srgbClr val="333333"/>
                </a:solidFill>
                <a:latin typeface="Calibri"/>
                <a:ea typeface="Calibri"/>
                <a:cs typeface="Calibri"/>
              </a:defRPr>
            </a:lvl9pPr>
          </a:lstStyle>
          <a:p>
            <a:pPr>
              <a:defRPr sz="1050" b="0">
                <a:solidFill>
                  <a:srgbClr val="333333"/>
                </a:solidFill>
                <a:latin typeface="Calibri"/>
                <a:ea typeface="Calibri"/>
                <a:cs typeface="Calibri"/>
              </a:defRPr>
            </a:pPr>
            <a:r>
              <a:rPr sz="1050" b="0">
                <a:solidFill>
                  <a:srgbClr val="333333"/>
                </a:solidFill>
                <a:latin typeface="Calibri"/>
                <a:ea typeface="Calibri"/>
                <a:cs typeface="Calibri"/>
              </a:rPr>
              <a:t>[A] NDARC execution archive, 28 Oct 2026: organized_runs/inventory.json; run_logs/*.jsonl; original runs/ inputs and outputs.</a:t>
            </a:r>
          </a:p>
          <a:p>
            <a:pPr>
              <a:defRPr sz="1050" b="0">
                <a:solidFill>
                  <a:srgbClr val="333333"/>
                </a:solidFill>
                <a:latin typeface="Calibri"/>
                <a:ea typeface="Calibri"/>
                <a:cs typeface="Calibri"/>
              </a:defRPr>
            </a:pPr>
            <a:r>
              <a:rPr sz="1050" b="0">
                <a:solidFill>
                  <a:srgbClr val="333333"/>
                </a:solidFill>
                <a:latin typeface="Calibri"/>
                <a:ea typeface="Calibri"/>
                <a:cs typeface="Calibri"/>
              </a:rPr>
              <a:t>[B] design-space-evidence/campaign-design-space.json and all-run-design-points.csv (this deck folder). Exact marginal sets, plans, input hashes and status.</a:t>
            </a:r>
          </a:p>
        </p:txBody>
      </p:sp>
      <p:sp>
        <p:nvSpPr>
          <p:cNvPr id="4" name="Rectangle 3">
            <a:extLst>
              <a:ext uri="{FF2B5EF4-FFF2-40B4-BE49-F238E27FC236}">
                <a16:creationId xmlns:a16="http://schemas.microsoft.com/office/drawing/2014/main" id="{74163C19-C9B0-433B-8176-3AF7B282D418}"/>
              </a:ext>
            </a:extLst>
          </p:cNvPr>
          <p:cNvSpPr>
            <a:spLocks noGrp="1"/>
          </p:cNvSpPr>
          <p:nvPr/>
        </p:nvSpPr>
        <p:spPr>
          <a:xfrm>
            <a:off x="11430000" y="6553200"/>
            <a:ext cx="333375" cy="209550"/>
          </a:xfrm>
          <a:prstGeom prst="rect">
            <a:avLst/>
          </a:prstGeom>
          <a:noFill/>
          <a:ln w="0">
            <a:noFill/>
          </a:ln>
        </p:spPr>
        <p:txBody>
          <a:bodyPr lIns="0" tIns="0" rIns="0" bIns="0"/>
          <a:lstStyle>
            <a:defPPr>
              <a:defRPr sz="1125" b="0">
                <a:solidFill>
                  <a:srgbClr val="000000"/>
                </a:solidFill>
                <a:latin typeface="Calibri"/>
                <a:ea typeface="Calibri"/>
                <a:cs typeface="Calibri"/>
              </a:defRPr>
            </a:defPPr>
            <a:lvl1pPr>
              <a:defRPr sz="1125" b="0">
                <a:solidFill>
                  <a:srgbClr val="000000"/>
                </a:solidFill>
                <a:latin typeface="Calibri"/>
                <a:ea typeface="Calibri"/>
                <a:cs typeface="Calibri"/>
              </a:defRPr>
            </a:lvl1pPr>
            <a:lvl2pPr>
              <a:defRPr sz="1125" b="0">
                <a:solidFill>
                  <a:srgbClr val="000000"/>
                </a:solidFill>
                <a:latin typeface="Calibri"/>
                <a:ea typeface="Calibri"/>
                <a:cs typeface="Calibri"/>
              </a:defRPr>
            </a:lvl2pPr>
            <a:lvl3pPr>
              <a:defRPr sz="1125" b="0">
                <a:solidFill>
                  <a:srgbClr val="000000"/>
                </a:solidFill>
                <a:latin typeface="Calibri"/>
                <a:ea typeface="Calibri"/>
                <a:cs typeface="Calibri"/>
              </a:defRPr>
            </a:lvl3pPr>
            <a:lvl4pPr>
              <a:defRPr sz="1125" b="0">
                <a:solidFill>
                  <a:srgbClr val="000000"/>
                </a:solidFill>
                <a:latin typeface="Calibri"/>
                <a:ea typeface="Calibri"/>
                <a:cs typeface="Calibri"/>
              </a:defRPr>
            </a:lvl4pPr>
            <a:lvl5pPr>
              <a:defRPr sz="1125" b="0">
                <a:solidFill>
                  <a:srgbClr val="000000"/>
                </a:solidFill>
                <a:latin typeface="Calibri"/>
                <a:ea typeface="Calibri"/>
                <a:cs typeface="Calibri"/>
              </a:defRPr>
            </a:lvl5pPr>
            <a:lvl6pPr>
              <a:defRPr sz="1125" b="0">
                <a:solidFill>
                  <a:srgbClr val="000000"/>
                </a:solidFill>
                <a:latin typeface="Calibri"/>
                <a:ea typeface="Calibri"/>
                <a:cs typeface="Calibri"/>
              </a:defRPr>
            </a:lvl6pPr>
            <a:lvl7pPr>
              <a:defRPr sz="1125" b="0">
                <a:solidFill>
                  <a:srgbClr val="000000"/>
                </a:solidFill>
                <a:latin typeface="Calibri"/>
                <a:ea typeface="Calibri"/>
                <a:cs typeface="Calibri"/>
              </a:defRPr>
            </a:lvl7pPr>
            <a:lvl8pPr>
              <a:defRPr sz="1125" b="0">
                <a:solidFill>
                  <a:srgbClr val="000000"/>
                </a:solidFill>
                <a:latin typeface="Calibri"/>
                <a:ea typeface="Calibri"/>
                <a:cs typeface="Calibri"/>
              </a:defRPr>
            </a:lvl8pPr>
            <a:lvl9pPr>
              <a:defRPr sz="1125" b="0">
                <a:solidFill>
                  <a:srgbClr val="000000"/>
                </a:solidFill>
                <a:latin typeface="Calibri"/>
                <a:ea typeface="Calibri"/>
                <a:cs typeface="Calibri"/>
              </a:defRPr>
            </a:lvl9pPr>
          </a:lstStyle>
          <a:p>
            <a:pPr>
              <a:defRPr sz="1125" b="0">
                <a:solidFill>
                  <a:srgbClr val="000000"/>
                </a:solidFill>
                <a:latin typeface="Calibri"/>
                <a:ea typeface="Calibri"/>
                <a:cs typeface="Calibri"/>
              </a:defRPr>
            </a:pPr>
            <a:r>
              <a:rPr sz="1125" b="0">
                <a:solidFill>
                  <a:srgbClr val="000000"/>
                </a:solidFill>
                <a:latin typeface="Calibri"/>
                <a:ea typeface="Calibri"/>
                <a:cs typeface="Calibri"/>
              </a:rPr>
              <a:t>56</a:t>
            </a:r>
          </a:p>
        </p:txBody>
      </p:sp>
      <p:graphicFrame>
        <p:nvGraphicFramePr>
          <p:cNvPr id="5" name="Table 4">
            <a:extLst>
              <a:ext uri="{FF2B5EF4-FFF2-40B4-BE49-F238E27FC236}">
                <a16:creationId xmlns:a16="http://schemas.microsoft.com/office/drawing/2014/main" id="{50CD1DA8-69E1-4EFC-B909-96D507258565}"/>
              </a:ext>
            </a:extLst>
          </p:cNvPr>
          <p:cNvGraphicFramePr/>
          <p:nvPr/>
        </p:nvGraphicFramePr>
        <p:xfrm>
          <a:off x="476250" y="1714500"/>
          <a:ext cx="11239500" cy="4000500"/>
        </p:xfrm>
        <a:graphic>
          <a:graphicData uri="http://schemas.openxmlformats.org/drawingml/2006/table">
            <a:tbl>
              <a:tblPr/>
              <a:tblGrid>
                <a:gridCol w="4572000">
                  <a:extLst>
                    <a:ext uri="{9D8B030D-6E8A-4147-A177-3AD203B41FA5}">
                      <a16:colId xmlns:a16="http://schemas.microsoft.com/office/drawing/2014/main" val="20000"/>
                    </a:ext>
                  </a:extLst>
                </a:gridCol>
                <a:gridCol w="952500">
                  <a:extLst>
                    <a:ext uri="{9D8B030D-6E8A-4147-A177-3AD203B41FA5}">
                      <a16:colId xmlns:a16="http://schemas.microsoft.com/office/drawing/2014/main" val="20001"/>
                    </a:ext>
                  </a:extLst>
                </a:gridCol>
                <a:gridCol w="5715000">
                  <a:extLst>
                    <a:ext uri="{9D8B030D-6E8A-4147-A177-3AD203B41FA5}">
                      <a16:colId xmlns:a16="http://schemas.microsoft.com/office/drawing/2014/main" val="20002"/>
                    </a:ext>
                  </a:extLst>
                </a:gridCol>
              </a:tblGrid>
              <a:tr h="571500">
                <a:tc>
                  <a:txBody>
                    <a:bodyPr/>
                    <a:lstStyle/>
                    <a:p>
                      <a:r>
                        <a:rPr sz="1500" b="1">
                          <a:solidFill>
                            <a:srgbClr val="000000"/>
                          </a:solidFill>
                          <a:latin typeface="Calibri"/>
                          <a:ea typeface="Calibri"/>
                          <a:cs typeface="Calibri"/>
                        </a:rPr>
                        <a:t>Journal configuration / propulsion label</a:t>
                      </a:r>
                    </a:p>
                  </a:txBody>
                  <a:tcPr>
                    <a:lnL w="7620">
                      <a:solidFill>
                        <a:srgbClr val="CCCCCC"/>
                      </a:solidFill>
                    </a:lnL>
                    <a:lnR w="7620">
                      <a:solidFill>
                        <a:srgbClr val="CCCCCC"/>
                      </a:solidFill>
                    </a:lnR>
                    <a:lnT w="7620">
                      <a:solidFill>
                        <a:srgbClr val="CCCCCC"/>
                      </a:solidFill>
                    </a:lnT>
                    <a:lnB w="7620">
                      <a:solidFill>
                        <a:srgbClr val="CCCCCC"/>
                      </a:solidFill>
                    </a:lnB>
                    <a:solidFill>
                      <a:srgbClr val="D9D9D9"/>
                    </a:solidFill>
                  </a:tcPr>
                </a:tc>
                <a:tc>
                  <a:txBody>
                    <a:bodyPr/>
                    <a:lstStyle/>
                    <a:p>
                      <a:r>
                        <a:rPr sz="1500" b="1">
                          <a:solidFill>
                            <a:srgbClr val="000000"/>
                          </a:solidFill>
                          <a:latin typeface="Calibri"/>
                          <a:ea typeface="Calibri"/>
                          <a:cs typeface="Calibri"/>
                        </a:rPr>
                        <a:t>Folders</a:t>
                      </a:r>
                    </a:p>
                  </a:txBody>
                  <a:tcPr>
                    <a:lnL w="7620" cap="flat" cmpd="sng" algn="ctr">
                      <a:solidFill>
                        <a:srgbClr val="CCCCCC"/>
                      </a:solidFill>
                      <a:prstDash val="solid"/>
                      <a:round/>
                      <a:headEnd type="none" w="med" len="med"/>
                      <a:tailEnd type="none" w="med" len="med"/>
                    </a:lnL>
                    <a:lnR w="7620">
                      <a:solidFill>
                        <a:srgbClr val="CCCCCC"/>
                      </a:solidFill>
                    </a:lnR>
                    <a:lnT w="7620">
                      <a:solidFill>
                        <a:srgbClr val="CCCCCC"/>
                      </a:solidFill>
                    </a:lnT>
                    <a:lnB w="7620">
                      <a:solidFill>
                        <a:srgbClr val="CCCCCC"/>
                      </a:solidFill>
                    </a:lnB>
                    <a:solidFill>
                      <a:srgbClr val="D9D9D9"/>
                    </a:solidFill>
                  </a:tcPr>
                </a:tc>
                <a:tc>
                  <a:txBody>
                    <a:bodyPr/>
                    <a:lstStyle/>
                    <a:p>
                      <a:r>
                        <a:rPr sz="1500" b="1">
                          <a:solidFill>
                            <a:srgbClr val="000000"/>
                          </a:solidFill>
                          <a:latin typeface="Calibri"/>
                          <a:ea typeface="Calibri"/>
                          <a:cs typeface="Calibri"/>
                        </a:rPr>
                        <a:t>Recovered design-space scope</a:t>
                      </a:r>
                    </a:p>
                  </a:txBody>
                  <a:tcPr>
                    <a:lnL w="7620" cap="flat" cmpd="sng" algn="ctr">
                      <a:solidFill>
                        <a:srgbClr val="CCCCCC"/>
                      </a:solidFill>
                      <a:prstDash val="solid"/>
                      <a:round/>
                      <a:headEnd type="none" w="med" len="med"/>
                      <a:tailEnd type="none" w="med" len="med"/>
                    </a:lnL>
                    <a:lnR w="7620">
                      <a:solidFill>
                        <a:srgbClr val="CCCCCC"/>
                      </a:solidFill>
                    </a:lnR>
                    <a:lnT w="7620">
                      <a:solidFill>
                        <a:srgbClr val="CCCCCC"/>
                      </a:solidFill>
                    </a:lnT>
                    <a:lnB w="7620">
                      <a:solidFill>
                        <a:srgbClr val="CCCCCC"/>
                      </a:solidFill>
                    </a:lnB>
                    <a:solidFill>
                      <a:srgbClr val="D9D9D9"/>
                    </a:solidFill>
                  </a:tcPr>
                </a:tc>
                <a:extLst>
                  <a:ext uri="{0D108BD9-81ED-4DB2-BD59-A6C34878D82A}">
                    <a16:rowId xmlns:a16="http://schemas.microsoft.com/office/drawing/2014/main" val="10000"/>
                  </a:ext>
                </a:extLst>
              </a:tr>
              <a:tr h="571500">
                <a:tc>
                  <a:txBody>
                    <a:bodyPr/>
                    <a:lstStyle/>
                    <a:p>
                      <a:r>
                        <a:rPr sz="1500" b="0">
                          <a:solidFill>
                            <a:srgbClr val="000000"/>
                          </a:solidFill>
                          <a:latin typeface="Calibri"/>
                          <a:ea typeface="Calibri"/>
                          <a:cs typeface="Calibri"/>
                        </a:rPr>
                        <a:t>compound helicopter unverified propulsion</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14</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Example / benchmark inputs; original sweep purpose and exact physical grid unrecovered</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1"/>
                  </a:ext>
                </a:extLst>
              </a:tr>
              <a:tr h="571500">
                <a:tc>
                  <a:txBody>
                    <a:bodyPr/>
                    <a:lstStyle/>
                    <a:p>
                      <a:r>
                        <a:rPr sz="1500" b="0">
                          <a:solidFill>
                            <a:srgbClr val="000000"/>
                          </a:solidFill>
                          <a:latin typeface="Calibri"/>
                          <a:ea typeface="Calibri"/>
                          <a:cs typeface="Calibri"/>
                        </a:rPr>
                        <a:t>helicopter unverified propulsion</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14</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Example / benchmark inputs; original sweep purpose and exact physical grid unrecovered</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2"/>
                  </a:ext>
                </a:extLst>
              </a:tr>
              <a:tr h="571500">
                <a:tc>
                  <a:txBody>
                    <a:bodyPr/>
                    <a:lstStyle/>
                    <a:p>
                      <a:r>
                        <a:rPr sz="1500" b="0">
                          <a:solidFill>
                            <a:srgbClr val="000000"/>
                          </a:solidFill>
                          <a:latin typeface="Calibri"/>
                          <a:ea typeface="Calibri"/>
                          <a:cs typeface="Calibri"/>
                        </a:rPr>
                        <a:t>airplane unverified propulsion</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2</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Example / benchmark inputs; original sweep purpose and exact physical grid unrecovered</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3"/>
                  </a:ext>
                </a:extLst>
              </a:tr>
              <a:tr h="571500">
                <a:tc>
                  <a:txBody>
                    <a:bodyPr/>
                    <a:lstStyle/>
                    <a:p>
                      <a:r>
                        <a:rPr sz="1500" b="0">
                          <a:solidFill>
                            <a:srgbClr val="000000"/>
                          </a:solidFill>
                          <a:latin typeface="Calibri"/>
                          <a:ea typeface="Calibri"/>
                          <a:cs typeface="Calibri"/>
                        </a:rPr>
                        <a:t>autogyro unverified propulsion</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2</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Example / benchmark inputs; original sweep purpose and exact physical grid unrecovered</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4"/>
                  </a:ext>
                </a:extLst>
              </a:tr>
              <a:tr h="571500">
                <a:tc>
                  <a:txBody>
                    <a:bodyPr/>
                    <a:lstStyle/>
                    <a:p>
                      <a:r>
                        <a:rPr sz="1500" b="0">
                          <a:solidFill>
                            <a:srgbClr val="000000"/>
                          </a:solidFill>
                          <a:latin typeface="Calibri"/>
                          <a:ea typeface="Calibri"/>
                          <a:cs typeface="Calibri"/>
                        </a:rPr>
                        <a:t>coaxial helicopter unverified propulsion</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2</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Example / benchmark inputs; original sweep purpose and exact physical grid unrecovered</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5"/>
                  </a:ext>
                </a:extLst>
              </a:tr>
              <a:tr h="571500">
                <a:tc>
                  <a:txBody>
                    <a:bodyPr/>
                    <a:lstStyle/>
                    <a:p>
                      <a:r>
                        <a:rPr sz="1500" b="0">
                          <a:solidFill>
                            <a:srgbClr val="000000"/>
                          </a:solidFill>
                          <a:latin typeface="Calibri"/>
                          <a:ea typeface="Calibri"/>
                          <a:cs typeface="Calibri"/>
                        </a:rPr>
                        <a:t>unclassified unverified propulsion</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8</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Configuration or propulsion remains unresolved; inspect original input</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6710099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3F22F50-2343-4334-96AF-46A3C93FE019}"/>
              </a:ext>
            </a:extLst>
          </p:cNvPr>
          <p:cNvSpPr>
            <a:spLocks noGrp="1"/>
          </p:cNvSpPr>
          <p:nvPr/>
        </p:nvSpPr>
        <p:spPr>
          <a:xfrm>
            <a:off x="838200" y="361950"/>
            <a:ext cx="10572750" cy="495300"/>
          </a:xfrm>
          <a:prstGeom prst="rect">
            <a:avLst/>
          </a:prstGeom>
          <a:noFill/>
          <a:ln w="0">
            <a:noFill/>
          </a:ln>
        </p:spPr>
        <p:txBody>
          <a:bodyPr lIns="0" tIns="0" rIns="0" bIns="0"/>
          <a:lstStyle>
            <a:defPPr>
              <a:defRPr sz="2400" b="1">
                <a:solidFill>
                  <a:srgbClr val="000000"/>
                </a:solidFill>
                <a:latin typeface="Calibri"/>
                <a:ea typeface="Calibri"/>
                <a:cs typeface="Calibri"/>
              </a:defRPr>
            </a:defPPr>
            <a:lvl1pPr>
              <a:defRPr sz="2400" b="1">
                <a:solidFill>
                  <a:srgbClr val="000000"/>
                </a:solidFill>
                <a:latin typeface="Calibri"/>
                <a:ea typeface="Calibri"/>
                <a:cs typeface="Calibri"/>
              </a:defRPr>
            </a:lvl1pPr>
            <a:lvl2pPr>
              <a:defRPr sz="2400" b="1">
                <a:solidFill>
                  <a:srgbClr val="000000"/>
                </a:solidFill>
                <a:latin typeface="Calibri"/>
                <a:ea typeface="Calibri"/>
                <a:cs typeface="Calibri"/>
              </a:defRPr>
            </a:lvl2pPr>
            <a:lvl3pPr>
              <a:defRPr sz="2400" b="1">
                <a:solidFill>
                  <a:srgbClr val="000000"/>
                </a:solidFill>
                <a:latin typeface="Calibri"/>
                <a:ea typeface="Calibri"/>
                <a:cs typeface="Calibri"/>
              </a:defRPr>
            </a:lvl3pPr>
            <a:lvl4pPr>
              <a:defRPr sz="2400" b="1">
                <a:solidFill>
                  <a:srgbClr val="000000"/>
                </a:solidFill>
                <a:latin typeface="Calibri"/>
                <a:ea typeface="Calibri"/>
                <a:cs typeface="Calibri"/>
              </a:defRPr>
            </a:lvl4pPr>
            <a:lvl5pPr>
              <a:defRPr sz="2400" b="1">
                <a:solidFill>
                  <a:srgbClr val="000000"/>
                </a:solidFill>
                <a:latin typeface="Calibri"/>
                <a:ea typeface="Calibri"/>
                <a:cs typeface="Calibri"/>
              </a:defRPr>
            </a:lvl5pPr>
            <a:lvl6pPr>
              <a:defRPr sz="2400" b="1">
                <a:solidFill>
                  <a:srgbClr val="000000"/>
                </a:solidFill>
                <a:latin typeface="Calibri"/>
                <a:ea typeface="Calibri"/>
                <a:cs typeface="Calibri"/>
              </a:defRPr>
            </a:lvl6pPr>
            <a:lvl7pPr>
              <a:defRPr sz="2400" b="1">
                <a:solidFill>
                  <a:srgbClr val="000000"/>
                </a:solidFill>
                <a:latin typeface="Calibri"/>
                <a:ea typeface="Calibri"/>
                <a:cs typeface="Calibri"/>
              </a:defRPr>
            </a:lvl7pPr>
            <a:lvl8pPr>
              <a:defRPr sz="2400" b="1">
                <a:solidFill>
                  <a:srgbClr val="000000"/>
                </a:solidFill>
                <a:latin typeface="Calibri"/>
                <a:ea typeface="Calibri"/>
                <a:cs typeface="Calibri"/>
              </a:defRPr>
            </a:lvl8pPr>
            <a:lvl9pPr>
              <a:defRPr sz="2400" b="1">
                <a:solidFill>
                  <a:srgbClr val="000000"/>
                </a:solidFill>
                <a:latin typeface="Calibri"/>
                <a:ea typeface="Calibri"/>
                <a:cs typeface="Calibri"/>
              </a:defRPr>
            </a:lvl9pPr>
          </a:lstStyle>
          <a:p>
            <a:pPr>
              <a:defRPr sz="2400" b="1">
                <a:solidFill>
                  <a:srgbClr val="000000"/>
                </a:solidFill>
                <a:latin typeface="Calibri"/>
                <a:ea typeface="Calibri"/>
                <a:cs typeface="Calibri"/>
              </a:defRPr>
            </a:pPr>
            <a:r>
              <a:rPr sz="2400" b="1">
                <a:solidFill>
                  <a:srgbClr val="000000"/>
                </a:solidFill>
                <a:latin typeface="Calibri"/>
                <a:ea typeface="Calibri"/>
                <a:cs typeface="Calibri"/>
              </a:rPr>
              <a:t>Other executed configurations: archive coverage 2</a:t>
            </a:r>
          </a:p>
        </p:txBody>
      </p:sp>
      <p:sp>
        <p:nvSpPr>
          <p:cNvPr id="2" name="Rectangle 1">
            <a:extLst>
              <a:ext uri="{FF2B5EF4-FFF2-40B4-BE49-F238E27FC236}">
                <a16:creationId xmlns:a16="http://schemas.microsoft.com/office/drawing/2014/main" id="{D93DAD05-E947-494A-89BE-6E535CCA9DD3}"/>
              </a:ext>
            </a:extLst>
          </p:cNvPr>
          <p:cNvSpPr>
            <a:spLocks noGrp="1"/>
          </p:cNvSpPr>
          <p:nvPr/>
        </p:nvSpPr>
        <p:spPr>
          <a:xfrm>
            <a:off x="476250" y="1028700"/>
            <a:ext cx="11239500" cy="590550"/>
          </a:xfrm>
          <a:prstGeom prst="rect">
            <a:avLst/>
          </a:prstGeom>
          <a:noFill/>
          <a:ln w="0">
            <a:noFill/>
          </a:ln>
        </p:spPr>
        <p:txBody>
          <a:bodyPr lIns="0" tIns="0" rIns="0" bIns="0"/>
          <a:lstStyle>
            <a:defPPr>
              <a:defRPr sz="1575" b="0">
                <a:solidFill>
                  <a:srgbClr val="333333"/>
                </a:solidFill>
                <a:latin typeface="Calibri"/>
                <a:ea typeface="Calibri"/>
                <a:cs typeface="Calibri"/>
              </a:defRPr>
            </a:defPPr>
            <a:lvl1pPr>
              <a:defRPr sz="1575" b="0">
                <a:solidFill>
                  <a:srgbClr val="333333"/>
                </a:solidFill>
                <a:latin typeface="Calibri"/>
                <a:ea typeface="Calibri"/>
                <a:cs typeface="Calibri"/>
              </a:defRPr>
            </a:lvl1pPr>
            <a:lvl2pPr>
              <a:defRPr sz="1575" b="0">
                <a:solidFill>
                  <a:srgbClr val="333333"/>
                </a:solidFill>
                <a:latin typeface="Calibri"/>
                <a:ea typeface="Calibri"/>
                <a:cs typeface="Calibri"/>
              </a:defRPr>
            </a:lvl2pPr>
            <a:lvl3pPr>
              <a:defRPr sz="1575" b="0">
                <a:solidFill>
                  <a:srgbClr val="333333"/>
                </a:solidFill>
                <a:latin typeface="Calibri"/>
                <a:ea typeface="Calibri"/>
                <a:cs typeface="Calibri"/>
              </a:defRPr>
            </a:lvl3pPr>
            <a:lvl4pPr>
              <a:defRPr sz="1575" b="0">
                <a:solidFill>
                  <a:srgbClr val="333333"/>
                </a:solidFill>
                <a:latin typeface="Calibri"/>
                <a:ea typeface="Calibri"/>
                <a:cs typeface="Calibri"/>
              </a:defRPr>
            </a:lvl4pPr>
            <a:lvl5pPr>
              <a:defRPr sz="1575" b="0">
                <a:solidFill>
                  <a:srgbClr val="333333"/>
                </a:solidFill>
                <a:latin typeface="Calibri"/>
                <a:ea typeface="Calibri"/>
                <a:cs typeface="Calibri"/>
              </a:defRPr>
            </a:lvl5pPr>
            <a:lvl6pPr>
              <a:defRPr sz="1575" b="0">
                <a:solidFill>
                  <a:srgbClr val="333333"/>
                </a:solidFill>
                <a:latin typeface="Calibri"/>
                <a:ea typeface="Calibri"/>
                <a:cs typeface="Calibri"/>
              </a:defRPr>
            </a:lvl6pPr>
            <a:lvl7pPr>
              <a:defRPr sz="1575" b="0">
                <a:solidFill>
                  <a:srgbClr val="333333"/>
                </a:solidFill>
                <a:latin typeface="Calibri"/>
                <a:ea typeface="Calibri"/>
                <a:cs typeface="Calibri"/>
              </a:defRPr>
            </a:lvl7pPr>
            <a:lvl8pPr>
              <a:defRPr sz="1575" b="0">
                <a:solidFill>
                  <a:srgbClr val="333333"/>
                </a:solidFill>
                <a:latin typeface="Calibri"/>
                <a:ea typeface="Calibri"/>
                <a:cs typeface="Calibri"/>
              </a:defRPr>
            </a:lvl8pPr>
            <a:lvl9pPr>
              <a:defRPr sz="1575" b="0">
                <a:solidFill>
                  <a:srgbClr val="333333"/>
                </a:solidFill>
                <a:latin typeface="Calibri"/>
                <a:ea typeface="Calibri"/>
                <a:cs typeface="Calibri"/>
              </a:defRPr>
            </a:lvl9pPr>
          </a:lstStyle>
          <a:p>
            <a:pPr>
              <a:defRPr sz="1575" b="0">
                <a:solidFill>
                  <a:srgbClr val="333333"/>
                </a:solidFill>
                <a:latin typeface="Calibri"/>
                <a:ea typeface="Calibri"/>
                <a:cs typeface="Calibri"/>
              </a:defRPr>
            </a:pPr>
            <a:r>
              <a:rPr sz="1575" b="0">
                <a:solidFill>
                  <a:srgbClr val="333333"/>
                </a:solidFill>
                <a:latin typeface="Calibri"/>
                <a:ea typeface="Calibri"/>
                <a:cs typeface="Calibri"/>
              </a:rPr>
              <a:t>These jobs provide examples, baseline checks or compatibility diagnostics. A design optimization grid has not been established. [A, B]</a:t>
            </a:r>
          </a:p>
        </p:txBody>
      </p:sp>
      <p:sp>
        <p:nvSpPr>
          <p:cNvPr id="3" name="Rectangle 2">
            <a:extLst>
              <a:ext uri="{FF2B5EF4-FFF2-40B4-BE49-F238E27FC236}">
                <a16:creationId xmlns:a16="http://schemas.microsoft.com/office/drawing/2014/main" id="{7202746F-8C36-44A2-BF83-2AE1DB241F39}"/>
              </a:ext>
            </a:extLst>
          </p:cNvPr>
          <p:cNvSpPr>
            <a:spLocks noGrp="1"/>
          </p:cNvSpPr>
          <p:nvPr/>
        </p:nvSpPr>
        <p:spPr>
          <a:xfrm>
            <a:off x="476250" y="6076950"/>
            <a:ext cx="11191875" cy="619125"/>
          </a:xfrm>
          <a:prstGeom prst="rect">
            <a:avLst/>
          </a:prstGeom>
          <a:noFill/>
          <a:ln w="0">
            <a:noFill/>
          </a:ln>
        </p:spPr>
        <p:txBody>
          <a:bodyPr lIns="0" tIns="0" rIns="0" bIns="0"/>
          <a:lstStyle>
            <a:defPPr>
              <a:defRPr sz="1050" b="0">
                <a:solidFill>
                  <a:srgbClr val="333333"/>
                </a:solidFill>
                <a:latin typeface="Calibri"/>
                <a:ea typeface="Calibri"/>
                <a:cs typeface="Calibri"/>
              </a:defRPr>
            </a:defPPr>
            <a:lvl1pPr>
              <a:defRPr sz="1050" b="0">
                <a:solidFill>
                  <a:srgbClr val="333333"/>
                </a:solidFill>
                <a:latin typeface="Calibri"/>
                <a:ea typeface="Calibri"/>
                <a:cs typeface="Calibri"/>
              </a:defRPr>
            </a:lvl1pPr>
            <a:lvl2pPr>
              <a:defRPr sz="1050" b="0">
                <a:solidFill>
                  <a:srgbClr val="333333"/>
                </a:solidFill>
                <a:latin typeface="Calibri"/>
                <a:ea typeface="Calibri"/>
                <a:cs typeface="Calibri"/>
              </a:defRPr>
            </a:lvl2pPr>
            <a:lvl3pPr>
              <a:defRPr sz="1050" b="0">
                <a:solidFill>
                  <a:srgbClr val="333333"/>
                </a:solidFill>
                <a:latin typeface="Calibri"/>
                <a:ea typeface="Calibri"/>
                <a:cs typeface="Calibri"/>
              </a:defRPr>
            </a:lvl3pPr>
            <a:lvl4pPr>
              <a:defRPr sz="1050" b="0">
                <a:solidFill>
                  <a:srgbClr val="333333"/>
                </a:solidFill>
                <a:latin typeface="Calibri"/>
                <a:ea typeface="Calibri"/>
                <a:cs typeface="Calibri"/>
              </a:defRPr>
            </a:lvl4pPr>
            <a:lvl5pPr>
              <a:defRPr sz="1050" b="0">
                <a:solidFill>
                  <a:srgbClr val="333333"/>
                </a:solidFill>
                <a:latin typeface="Calibri"/>
                <a:ea typeface="Calibri"/>
                <a:cs typeface="Calibri"/>
              </a:defRPr>
            </a:lvl5pPr>
            <a:lvl6pPr>
              <a:defRPr sz="1050" b="0">
                <a:solidFill>
                  <a:srgbClr val="333333"/>
                </a:solidFill>
                <a:latin typeface="Calibri"/>
                <a:ea typeface="Calibri"/>
                <a:cs typeface="Calibri"/>
              </a:defRPr>
            </a:lvl6pPr>
            <a:lvl7pPr>
              <a:defRPr sz="1050" b="0">
                <a:solidFill>
                  <a:srgbClr val="333333"/>
                </a:solidFill>
                <a:latin typeface="Calibri"/>
                <a:ea typeface="Calibri"/>
                <a:cs typeface="Calibri"/>
              </a:defRPr>
            </a:lvl7pPr>
            <a:lvl8pPr>
              <a:defRPr sz="1050" b="0">
                <a:solidFill>
                  <a:srgbClr val="333333"/>
                </a:solidFill>
                <a:latin typeface="Calibri"/>
                <a:ea typeface="Calibri"/>
                <a:cs typeface="Calibri"/>
              </a:defRPr>
            </a:lvl8pPr>
            <a:lvl9pPr>
              <a:defRPr sz="1050" b="0">
                <a:solidFill>
                  <a:srgbClr val="333333"/>
                </a:solidFill>
                <a:latin typeface="Calibri"/>
                <a:ea typeface="Calibri"/>
                <a:cs typeface="Calibri"/>
              </a:defRPr>
            </a:lvl9pPr>
          </a:lstStyle>
          <a:p>
            <a:pPr>
              <a:defRPr sz="1050" b="0">
                <a:solidFill>
                  <a:srgbClr val="333333"/>
                </a:solidFill>
                <a:latin typeface="Calibri"/>
                <a:ea typeface="Calibri"/>
                <a:cs typeface="Calibri"/>
              </a:defRPr>
            </a:pPr>
            <a:r>
              <a:rPr sz="1050" b="0">
                <a:solidFill>
                  <a:srgbClr val="333333"/>
                </a:solidFill>
                <a:latin typeface="Calibri"/>
                <a:ea typeface="Calibri"/>
                <a:cs typeface="Calibri"/>
              </a:rPr>
              <a:t>[A] NDARC execution archive, 28 Oct 2026: organized_runs/inventory.json; run_logs/*.jsonl; original runs/ inputs and outputs.</a:t>
            </a:r>
          </a:p>
          <a:p>
            <a:pPr>
              <a:defRPr sz="1050" b="0">
                <a:solidFill>
                  <a:srgbClr val="333333"/>
                </a:solidFill>
                <a:latin typeface="Calibri"/>
                <a:ea typeface="Calibri"/>
                <a:cs typeface="Calibri"/>
              </a:defRPr>
            </a:pPr>
            <a:r>
              <a:rPr sz="1050" b="0">
                <a:solidFill>
                  <a:srgbClr val="333333"/>
                </a:solidFill>
                <a:latin typeface="Calibri"/>
                <a:ea typeface="Calibri"/>
                <a:cs typeface="Calibri"/>
              </a:rPr>
              <a:t>[B] design-space-evidence/campaign-design-space.json and all-run-design-points.csv (this deck folder). Exact marginal sets, plans, input hashes and status.</a:t>
            </a:r>
          </a:p>
        </p:txBody>
      </p:sp>
      <p:sp>
        <p:nvSpPr>
          <p:cNvPr id="4" name="Rectangle 3">
            <a:extLst>
              <a:ext uri="{FF2B5EF4-FFF2-40B4-BE49-F238E27FC236}">
                <a16:creationId xmlns:a16="http://schemas.microsoft.com/office/drawing/2014/main" id="{D49F386C-1354-4F27-9364-128A3EDD7B6A}"/>
              </a:ext>
            </a:extLst>
          </p:cNvPr>
          <p:cNvSpPr>
            <a:spLocks noGrp="1"/>
          </p:cNvSpPr>
          <p:nvPr/>
        </p:nvSpPr>
        <p:spPr>
          <a:xfrm>
            <a:off x="11430000" y="6553200"/>
            <a:ext cx="333375" cy="209550"/>
          </a:xfrm>
          <a:prstGeom prst="rect">
            <a:avLst/>
          </a:prstGeom>
          <a:noFill/>
          <a:ln w="0">
            <a:noFill/>
          </a:ln>
        </p:spPr>
        <p:txBody>
          <a:bodyPr lIns="0" tIns="0" rIns="0" bIns="0"/>
          <a:lstStyle>
            <a:defPPr>
              <a:defRPr sz="1125" b="0">
                <a:solidFill>
                  <a:srgbClr val="000000"/>
                </a:solidFill>
                <a:latin typeface="Calibri"/>
                <a:ea typeface="Calibri"/>
                <a:cs typeface="Calibri"/>
              </a:defRPr>
            </a:defPPr>
            <a:lvl1pPr>
              <a:defRPr sz="1125" b="0">
                <a:solidFill>
                  <a:srgbClr val="000000"/>
                </a:solidFill>
                <a:latin typeface="Calibri"/>
                <a:ea typeface="Calibri"/>
                <a:cs typeface="Calibri"/>
              </a:defRPr>
            </a:lvl1pPr>
            <a:lvl2pPr>
              <a:defRPr sz="1125" b="0">
                <a:solidFill>
                  <a:srgbClr val="000000"/>
                </a:solidFill>
                <a:latin typeface="Calibri"/>
                <a:ea typeface="Calibri"/>
                <a:cs typeface="Calibri"/>
              </a:defRPr>
            </a:lvl2pPr>
            <a:lvl3pPr>
              <a:defRPr sz="1125" b="0">
                <a:solidFill>
                  <a:srgbClr val="000000"/>
                </a:solidFill>
                <a:latin typeface="Calibri"/>
                <a:ea typeface="Calibri"/>
                <a:cs typeface="Calibri"/>
              </a:defRPr>
            </a:lvl3pPr>
            <a:lvl4pPr>
              <a:defRPr sz="1125" b="0">
                <a:solidFill>
                  <a:srgbClr val="000000"/>
                </a:solidFill>
                <a:latin typeface="Calibri"/>
                <a:ea typeface="Calibri"/>
                <a:cs typeface="Calibri"/>
              </a:defRPr>
            </a:lvl4pPr>
            <a:lvl5pPr>
              <a:defRPr sz="1125" b="0">
                <a:solidFill>
                  <a:srgbClr val="000000"/>
                </a:solidFill>
                <a:latin typeface="Calibri"/>
                <a:ea typeface="Calibri"/>
                <a:cs typeface="Calibri"/>
              </a:defRPr>
            </a:lvl5pPr>
            <a:lvl6pPr>
              <a:defRPr sz="1125" b="0">
                <a:solidFill>
                  <a:srgbClr val="000000"/>
                </a:solidFill>
                <a:latin typeface="Calibri"/>
                <a:ea typeface="Calibri"/>
                <a:cs typeface="Calibri"/>
              </a:defRPr>
            </a:lvl6pPr>
            <a:lvl7pPr>
              <a:defRPr sz="1125" b="0">
                <a:solidFill>
                  <a:srgbClr val="000000"/>
                </a:solidFill>
                <a:latin typeface="Calibri"/>
                <a:ea typeface="Calibri"/>
                <a:cs typeface="Calibri"/>
              </a:defRPr>
            </a:lvl7pPr>
            <a:lvl8pPr>
              <a:defRPr sz="1125" b="0">
                <a:solidFill>
                  <a:srgbClr val="000000"/>
                </a:solidFill>
                <a:latin typeface="Calibri"/>
                <a:ea typeface="Calibri"/>
                <a:cs typeface="Calibri"/>
              </a:defRPr>
            </a:lvl8pPr>
            <a:lvl9pPr>
              <a:defRPr sz="1125" b="0">
                <a:solidFill>
                  <a:srgbClr val="000000"/>
                </a:solidFill>
                <a:latin typeface="Calibri"/>
                <a:ea typeface="Calibri"/>
                <a:cs typeface="Calibri"/>
              </a:defRPr>
            </a:lvl9pPr>
          </a:lstStyle>
          <a:p>
            <a:pPr>
              <a:defRPr sz="1125" b="0">
                <a:solidFill>
                  <a:srgbClr val="000000"/>
                </a:solidFill>
                <a:latin typeface="Calibri"/>
                <a:ea typeface="Calibri"/>
                <a:cs typeface="Calibri"/>
              </a:defRPr>
            </a:pPr>
            <a:r>
              <a:rPr sz="1125" b="0">
                <a:solidFill>
                  <a:srgbClr val="000000"/>
                </a:solidFill>
                <a:latin typeface="Calibri"/>
                <a:ea typeface="Calibri"/>
                <a:cs typeface="Calibri"/>
              </a:rPr>
              <a:t>57</a:t>
            </a:r>
          </a:p>
        </p:txBody>
      </p:sp>
      <p:graphicFrame>
        <p:nvGraphicFramePr>
          <p:cNvPr id="5" name="Table 4">
            <a:extLst>
              <a:ext uri="{FF2B5EF4-FFF2-40B4-BE49-F238E27FC236}">
                <a16:creationId xmlns:a16="http://schemas.microsoft.com/office/drawing/2014/main" id="{5B1ED63B-D8C7-4C5A-8FD4-CF1F26498FB4}"/>
              </a:ext>
            </a:extLst>
          </p:cNvPr>
          <p:cNvGraphicFramePr/>
          <p:nvPr/>
        </p:nvGraphicFramePr>
        <p:xfrm>
          <a:off x="476250" y="1714500"/>
          <a:ext cx="11239500" cy="4000500"/>
        </p:xfrm>
        <a:graphic>
          <a:graphicData uri="http://schemas.openxmlformats.org/drawingml/2006/table">
            <a:tbl>
              <a:tblPr/>
              <a:tblGrid>
                <a:gridCol w="4572000">
                  <a:extLst>
                    <a:ext uri="{9D8B030D-6E8A-4147-A177-3AD203B41FA5}">
                      <a16:colId xmlns:a16="http://schemas.microsoft.com/office/drawing/2014/main" val="20000"/>
                    </a:ext>
                  </a:extLst>
                </a:gridCol>
                <a:gridCol w="952500">
                  <a:extLst>
                    <a:ext uri="{9D8B030D-6E8A-4147-A177-3AD203B41FA5}">
                      <a16:colId xmlns:a16="http://schemas.microsoft.com/office/drawing/2014/main" val="20001"/>
                    </a:ext>
                  </a:extLst>
                </a:gridCol>
                <a:gridCol w="5715000">
                  <a:extLst>
                    <a:ext uri="{9D8B030D-6E8A-4147-A177-3AD203B41FA5}">
                      <a16:colId xmlns:a16="http://schemas.microsoft.com/office/drawing/2014/main" val="20002"/>
                    </a:ext>
                  </a:extLst>
                </a:gridCol>
              </a:tblGrid>
              <a:tr h="571500">
                <a:tc>
                  <a:txBody>
                    <a:bodyPr/>
                    <a:lstStyle/>
                    <a:p>
                      <a:r>
                        <a:rPr sz="1500" b="1">
                          <a:solidFill>
                            <a:srgbClr val="000000"/>
                          </a:solidFill>
                          <a:latin typeface="Calibri"/>
                          <a:ea typeface="Calibri"/>
                          <a:cs typeface="Calibri"/>
                        </a:rPr>
                        <a:t>Journal configuration / propulsion label</a:t>
                      </a:r>
                    </a:p>
                  </a:txBody>
                  <a:tcPr>
                    <a:lnL w="7620">
                      <a:solidFill>
                        <a:srgbClr val="CCCCCC"/>
                      </a:solidFill>
                    </a:lnL>
                    <a:lnR w="7620">
                      <a:solidFill>
                        <a:srgbClr val="CCCCCC"/>
                      </a:solidFill>
                    </a:lnR>
                    <a:lnT w="7620">
                      <a:solidFill>
                        <a:srgbClr val="CCCCCC"/>
                      </a:solidFill>
                    </a:lnT>
                    <a:lnB w="7620">
                      <a:solidFill>
                        <a:srgbClr val="CCCCCC"/>
                      </a:solidFill>
                    </a:lnB>
                    <a:solidFill>
                      <a:srgbClr val="D9D9D9"/>
                    </a:solidFill>
                  </a:tcPr>
                </a:tc>
                <a:tc>
                  <a:txBody>
                    <a:bodyPr/>
                    <a:lstStyle/>
                    <a:p>
                      <a:r>
                        <a:rPr sz="1500" b="1">
                          <a:solidFill>
                            <a:srgbClr val="000000"/>
                          </a:solidFill>
                          <a:latin typeface="Calibri"/>
                          <a:ea typeface="Calibri"/>
                          <a:cs typeface="Calibri"/>
                        </a:rPr>
                        <a:t>Folders</a:t>
                      </a:r>
                    </a:p>
                  </a:txBody>
                  <a:tcPr>
                    <a:lnL w="7620" cap="flat" cmpd="sng" algn="ctr">
                      <a:solidFill>
                        <a:srgbClr val="CCCCCC"/>
                      </a:solidFill>
                      <a:prstDash val="solid"/>
                      <a:round/>
                      <a:headEnd type="none" w="med" len="med"/>
                      <a:tailEnd type="none" w="med" len="med"/>
                    </a:lnL>
                    <a:lnR w="7620">
                      <a:solidFill>
                        <a:srgbClr val="CCCCCC"/>
                      </a:solidFill>
                    </a:lnR>
                    <a:lnT w="7620">
                      <a:solidFill>
                        <a:srgbClr val="CCCCCC"/>
                      </a:solidFill>
                    </a:lnT>
                    <a:lnB w="7620">
                      <a:solidFill>
                        <a:srgbClr val="CCCCCC"/>
                      </a:solidFill>
                    </a:lnB>
                    <a:solidFill>
                      <a:srgbClr val="D9D9D9"/>
                    </a:solidFill>
                  </a:tcPr>
                </a:tc>
                <a:tc>
                  <a:txBody>
                    <a:bodyPr/>
                    <a:lstStyle/>
                    <a:p>
                      <a:r>
                        <a:rPr sz="1500" b="1">
                          <a:solidFill>
                            <a:srgbClr val="000000"/>
                          </a:solidFill>
                          <a:latin typeface="Calibri"/>
                          <a:ea typeface="Calibri"/>
                          <a:cs typeface="Calibri"/>
                        </a:rPr>
                        <a:t>Recovered design-space scope</a:t>
                      </a:r>
                    </a:p>
                  </a:txBody>
                  <a:tcPr>
                    <a:lnL w="7620" cap="flat" cmpd="sng" algn="ctr">
                      <a:solidFill>
                        <a:srgbClr val="CCCCCC"/>
                      </a:solidFill>
                      <a:prstDash val="solid"/>
                      <a:round/>
                      <a:headEnd type="none" w="med" len="med"/>
                      <a:tailEnd type="none" w="med" len="med"/>
                    </a:lnL>
                    <a:lnR w="7620">
                      <a:solidFill>
                        <a:srgbClr val="CCCCCC"/>
                      </a:solidFill>
                    </a:lnR>
                    <a:lnT w="7620">
                      <a:solidFill>
                        <a:srgbClr val="CCCCCC"/>
                      </a:solidFill>
                    </a:lnT>
                    <a:lnB w="7620">
                      <a:solidFill>
                        <a:srgbClr val="CCCCCC"/>
                      </a:solidFill>
                    </a:lnB>
                    <a:solidFill>
                      <a:srgbClr val="D9D9D9"/>
                    </a:solidFill>
                  </a:tcPr>
                </a:tc>
                <a:extLst>
                  <a:ext uri="{0D108BD9-81ED-4DB2-BD59-A6C34878D82A}">
                    <a16:rowId xmlns:a16="http://schemas.microsoft.com/office/drawing/2014/main" val="10000"/>
                  </a:ext>
                </a:extLst>
              </a:tr>
              <a:tr h="571500">
                <a:tc>
                  <a:txBody>
                    <a:bodyPr/>
                    <a:lstStyle/>
                    <a:p>
                      <a:r>
                        <a:rPr sz="1500" b="0">
                          <a:solidFill>
                            <a:srgbClr val="000000"/>
                          </a:solidFill>
                          <a:latin typeface="Calibri"/>
                          <a:ea typeface="Calibri"/>
                          <a:cs typeface="Calibri"/>
                        </a:rPr>
                        <a:t>multicopter unverified propulsion</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2</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Example / benchmark inputs; original sweep purpose and exact physical grid unrecovered</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1"/>
                  </a:ext>
                </a:extLst>
              </a:tr>
              <a:tr h="571500">
                <a:tc>
                  <a:txBody>
                    <a:bodyPr/>
                    <a:lstStyle/>
                    <a:p>
                      <a:r>
                        <a:rPr sz="1500" b="0">
                          <a:solidFill>
                            <a:srgbClr val="000000"/>
                          </a:solidFill>
                          <a:latin typeface="Calibri"/>
                          <a:ea typeface="Calibri"/>
                          <a:cs typeface="Calibri"/>
                        </a:rPr>
                        <a:t>unclassified piston</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2</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Configuration or propulsion remains unresolved; inspect original input</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2"/>
                  </a:ext>
                </a:extLst>
              </a:tr>
              <a:tr h="571500">
                <a:tc>
                  <a:txBody>
                    <a:bodyPr/>
                    <a:lstStyle/>
                    <a:p>
                      <a:r>
                        <a:rPr sz="1500" b="0">
                          <a:solidFill>
                            <a:srgbClr val="000000"/>
                          </a:solidFill>
                          <a:latin typeface="Calibri"/>
                          <a:ea typeface="Calibri"/>
                          <a:cs typeface="Calibri"/>
                        </a:rPr>
                        <a:t>tiltrotor unverified propulsion</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11</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Includes supplied multirotor tiltrotor summaries / compatibility attempts; no fresh optimum</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3"/>
                  </a:ext>
                </a:extLst>
              </a:tr>
              <a:tr h="571500">
                <a:tc>
                  <a:txBody>
                    <a:bodyPr/>
                    <a:lstStyle/>
                    <a:p>
                      <a:r>
                        <a:rPr sz="1500" b="0">
                          <a:solidFill>
                            <a:srgbClr val="000000"/>
                          </a:solidFill>
                          <a:latin typeface="Calibri"/>
                          <a:ea typeface="Calibri"/>
                          <a:cs typeface="Calibri"/>
                        </a:rPr>
                        <a:t>tandem helicopter unverified propulsion</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2</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Example / benchmark inputs; original sweep purpose and exact physical grid unrecovered</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4"/>
                  </a:ext>
                </a:extLst>
              </a:tr>
              <a:tr h="571500">
                <a:tc>
                  <a:txBody>
                    <a:bodyPr/>
                    <a:lstStyle/>
                    <a:p>
                      <a:r>
                        <a:rPr sz="1500" b="0">
                          <a:solidFill>
                            <a:srgbClr val="000000"/>
                          </a:solidFill>
                          <a:latin typeface="Calibri"/>
                          <a:ea typeface="Calibri"/>
                          <a:cs typeface="Calibri"/>
                        </a:rPr>
                        <a:t>helicopter electric</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3</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Baseline reference comparisons; no recovered sizing trade grid</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5"/>
                  </a:ext>
                </a:extLst>
              </a:tr>
              <a:tr h="571500">
                <a:tc>
                  <a:txBody>
                    <a:bodyPr/>
                    <a:lstStyle/>
                    <a:p>
                      <a:r>
                        <a:rPr sz="1500" b="0">
                          <a:solidFill>
                            <a:srgbClr val="000000"/>
                          </a:solidFill>
                          <a:latin typeface="Calibri"/>
                          <a:ea typeface="Calibri"/>
                          <a:cs typeface="Calibri"/>
                        </a:rPr>
                        <a:t>quadrotor turboshaft</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3</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Baseline comparison; off-design condition5 trim failure</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83162632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027DB84-F8B5-4209-AF8C-4C15E6D59700}"/>
              </a:ext>
            </a:extLst>
          </p:cNvPr>
          <p:cNvSpPr>
            <a:spLocks noGrp="1"/>
          </p:cNvSpPr>
          <p:nvPr/>
        </p:nvSpPr>
        <p:spPr>
          <a:xfrm>
            <a:off x="838200" y="361950"/>
            <a:ext cx="10572750" cy="495300"/>
          </a:xfrm>
          <a:prstGeom prst="rect">
            <a:avLst/>
          </a:prstGeom>
          <a:noFill/>
          <a:ln w="0">
            <a:noFill/>
          </a:ln>
        </p:spPr>
        <p:txBody>
          <a:bodyPr lIns="0" tIns="0" rIns="0" bIns="0"/>
          <a:lstStyle>
            <a:defPPr>
              <a:defRPr sz="2400" b="1">
                <a:solidFill>
                  <a:srgbClr val="000000"/>
                </a:solidFill>
                <a:latin typeface="Calibri"/>
                <a:ea typeface="Calibri"/>
                <a:cs typeface="Calibri"/>
              </a:defRPr>
            </a:defPPr>
            <a:lvl1pPr>
              <a:defRPr sz="2400" b="1">
                <a:solidFill>
                  <a:srgbClr val="000000"/>
                </a:solidFill>
                <a:latin typeface="Calibri"/>
                <a:ea typeface="Calibri"/>
                <a:cs typeface="Calibri"/>
              </a:defRPr>
            </a:lvl1pPr>
            <a:lvl2pPr>
              <a:defRPr sz="2400" b="1">
                <a:solidFill>
                  <a:srgbClr val="000000"/>
                </a:solidFill>
                <a:latin typeface="Calibri"/>
                <a:ea typeface="Calibri"/>
                <a:cs typeface="Calibri"/>
              </a:defRPr>
            </a:lvl2pPr>
            <a:lvl3pPr>
              <a:defRPr sz="2400" b="1">
                <a:solidFill>
                  <a:srgbClr val="000000"/>
                </a:solidFill>
                <a:latin typeface="Calibri"/>
                <a:ea typeface="Calibri"/>
                <a:cs typeface="Calibri"/>
              </a:defRPr>
            </a:lvl3pPr>
            <a:lvl4pPr>
              <a:defRPr sz="2400" b="1">
                <a:solidFill>
                  <a:srgbClr val="000000"/>
                </a:solidFill>
                <a:latin typeface="Calibri"/>
                <a:ea typeface="Calibri"/>
                <a:cs typeface="Calibri"/>
              </a:defRPr>
            </a:lvl4pPr>
            <a:lvl5pPr>
              <a:defRPr sz="2400" b="1">
                <a:solidFill>
                  <a:srgbClr val="000000"/>
                </a:solidFill>
                <a:latin typeface="Calibri"/>
                <a:ea typeface="Calibri"/>
                <a:cs typeface="Calibri"/>
              </a:defRPr>
            </a:lvl5pPr>
            <a:lvl6pPr>
              <a:defRPr sz="2400" b="1">
                <a:solidFill>
                  <a:srgbClr val="000000"/>
                </a:solidFill>
                <a:latin typeface="Calibri"/>
                <a:ea typeface="Calibri"/>
                <a:cs typeface="Calibri"/>
              </a:defRPr>
            </a:lvl6pPr>
            <a:lvl7pPr>
              <a:defRPr sz="2400" b="1">
                <a:solidFill>
                  <a:srgbClr val="000000"/>
                </a:solidFill>
                <a:latin typeface="Calibri"/>
                <a:ea typeface="Calibri"/>
                <a:cs typeface="Calibri"/>
              </a:defRPr>
            </a:lvl7pPr>
            <a:lvl8pPr>
              <a:defRPr sz="2400" b="1">
                <a:solidFill>
                  <a:srgbClr val="000000"/>
                </a:solidFill>
                <a:latin typeface="Calibri"/>
                <a:ea typeface="Calibri"/>
                <a:cs typeface="Calibri"/>
              </a:defRPr>
            </a:lvl8pPr>
            <a:lvl9pPr>
              <a:defRPr sz="2400" b="1">
                <a:solidFill>
                  <a:srgbClr val="000000"/>
                </a:solidFill>
                <a:latin typeface="Calibri"/>
                <a:ea typeface="Calibri"/>
                <a:cs typeface="Calibri"/>
              </a:defRPr>
            </a:lvl9pPr>
          </a:lstStyle>
          <a:p>
            <a:pPr>
              <a:defRPr sz="2400" b="1">
                <a:solidFill>
                  <a:srgbClr val="000000"/>
                </a:solidFill>
                <a:latin typeface="Calibri"/>
                <a:ea typeface="Calibri"/>
                <a:cs typeface="Calibri"/>
              </a:defRPr>
            </a:pPr>
            <a:r>
              <a:rPr sz="2400" b="1">
                <a:solidFill>
                  <a:srgbClr val="000000"/>
                </a:solidFill>
                <a:latin typeface="Calibri"/>
                <a:ea typeface="Calibri"/>
                <a:cs typeface="Calibri"/>
              </a:rPr>
              <a:t>Other executed configurations: archive coverage 3</a:t>
            </a:r>
          </a:p>
        </p:txBody>
      </p:sp>
      <p:sp>
        <p:nvSpPr>
          <p:cNvPr id="2" name="Rectangle 1">
            <a:extLst>
              <a:ext uri="{FF2B5EF4-FFF2-40B4-BE49-F238E27FC236}">
                <a16:creationId xmlns:a16="http://schemas.microsoft.com/office/drawing/2014/main" id="{3D2725BB-002B-4F1B-892A-BC03BEC4BEDB}"/>
              </a:ext>
            </a:extLst>
          </p:cNvPr>
          <p:cNvSpPr>
            <a:spLocks noGrp="1"/>
          </p:cNvSpPr>
          <p:nvPr/>
        </p:nvSpPr>
        <p:spPr>
          <a:xfrm>
            <a:off x="476250" y="1028700"/>
            <a:ext cx="11239500" cy="590550"/>
          </a:xfrm>
          <a:prstGeom prst="rect">
            <a:avLst/>
          </a:prstGeom>
          <a:noFill/>
          <a:ln w="0">
            <a:noFill/>
          </a:ln>
        </p:spPr>
        <p:txBody>
          <a:bodyPr lIns="0" tIns="0" rIns="0" bIns="0"/>
          <a:lstStyle>
            <a:defPPr>
              <a:defRPr sz="1575" b="0">
                <a:solidFill>
                  <a:srgbClr val="333333"/>
                </a:solidFill>
                <a:latin typeface="Calibri"/>
                <a:ea typeface="Calibri"/>
                <a:cs typeface="Calibri"/>
              </a:defRPr>
            </a:defPPr>
            <a:lvl1pPr>
              <a:defRPr sz="1575" b="0">
                <a:solidFill>
                  <a:srgbClr val="333333"/>
                </a:solidFill>
                <a:latin typeface="Calibri"/>
                <a:ea typeface="Calibri"/>
                <a:cs typeface="Calibri"/>
              </a:defRPr>
            </a:lvl1pPr>
            <a:lvl2pPr>
              <a:defRPr sz="1575" b="0">
                <a:solidFill>
                  <a:srgbClr val="333333"/>
                </a:solidFill>
                <a:latin typeface="Calibri"/>
                <a:ea typeface="Calibri"/>
                <a:cs typeface="Calibri"/>
              </a:defRPr>
            </a:lvl2pPr>
            <a:lvl3pPr>
              <a:defRPr sz="1575" b="0">
                <a:solidFill>
                  <a:srgbClr val="333333"/>
                </a:solidFill>
                <a:latin typeface="Calibri"/>
                <a:ea typeface="Calibri"/>
                <a:cs typeface="Calibri"/>
              </a:defRPr>
            </a:lvl3pPr>
            <a:lvl4pPr>
              <a:defRPr sz="1575" b="0">
                <a:solidFill>
                  <a:srgbClr val="333333"/>
                </a:solidFill>
                <a:latin typeface="Calibri"/>
                <a:ea typeface="Calibri"/>
                <a:cs typeface="Calibri"/>
              </a:defRPr>
            </a:lvl4pPr>
            <a:lvl5pPr>
              <a:defRPr sz="1575" b="0">
                <a:solidFill>
                  <a:srgbClr val="333333"/>
                </a:solidFill>
                <a:latin typeface="Calibri"/>
                <a:ea typeface="Calibri"/>
                <a:cs typeface="Calibri"/>
              </a:defRPr>
            </a:lvl5pPr>
            <a:lvl6pPr>
              <a:defRPr sz="1575" b="0">
                <a:solidFill>
                  <a:srgbClr val="333333"/>
                </a:solidFill>
                <a:latin typeface="Calibri"/>
                <a:ea typeface="Calibri"/>
                <a:cs typeface="Calibri"/>
              </a:defRPr>
            </a:lvl6pPr>
            <a:lvl7pPr>
              <a:defRPr sz="1575" b="0">
                <a:solidFill>
                  <a:srgbClr val="333333"/>
                </a:solidFill>
                <a:latin typeface="Calibri"/>
                <a:ea typeface="Calibri"/>
                <a:cs typeface="Calibri"/>
              </a:defRPr>
            </a:lvl7pPr>
            <a:lvl8pPr>
              <a:defRPr sz="1575" b="0">
                <a:solidFill>
                  <a:srgbClr val="333333"/>
                </a:solidFill>
                <a:latin typeface="Calibri"/>
                <a:ea typeface="Calibri"/>
                <a:cs typeface="Calibri"/>
              </a:defRPr>
            </a:lvl8pPr>
            <a:lvl9pPr>
              <a:defRPr sz="1575" b="0">
                <a:solidFill>
                  <a:srgbClr val="333333"/>
                </a:solidFill>
                <a:latin typeface="Calibri"/>
                <a:ea typeface="Calibri"/>
                <a:cs typeface="Calibri"/>
              </a:defRPr>
            </a:lvl9pPr>
          </a:lstStyle>
          <a:p>
            <a:pPr>
              <a:defRPr sz="1575" b="0">
                <a:solidFill>
                  <a:srgbClr val="333333"/>
                </a:solidFill>
                <a:latin typeface="Calibri"/>
                <a:ea typeface="Calibri"/>
                <a:cs typeface="Calibri"/>
              </a:defRPr>
            </a:pPr>
            <a:r>
              <a:rPr sz="1575" b="0">
                <a:solidFill>
                  <a:srgbClr val="333333"/>
                </a:solidFill>
                <a:latin typeface="Calibri"/>
                <a:ea typeface="Calibri"/>
                <a:cs typeface="Calibri"/>
              </a:rPr>
              <a:t>These jobs provide examples, baseline checks or compatibility diagnostics. A design optimization grid has not been established. [A, B]</a:t>
            </a:r>
          </a:p>
        </p:txBody>
      </p:sp>
      <p:sp>
        <p:nvSpPr>
          <p:cNvPr id="3" name="Rectangle 2">
            <a:extLst>
              <a:ext uri="{FF2B5EF4-FFF2-40B4-BE49-F238E27FC236}">
                <a16:creationId xmlns:a16="http://schemas.microsoft.com/office/drawing/2014/main" id="{53399EC4-ED74-431F-BE73-8377E0539F32}"/>
              </a:ext>
            </a:extLst>
          </p:cNvPr>
          <p:cNvSpPr>
            <a:spLocks noGrp="1"/>
          </p:cNvSpPr>
          <p:nvPr/>
        </p:nvSpPr>
        <p:spPr>
          <a:xfrm>
            <a:off x="476250" y="6076950"/>
            <a:ext cx="11191875" cy="619125"/>
          </a:xfrm>
          <a:prstGeom prst="rect">
            <a:avLst/>
          </a:prstGeom>
          <a:noFill/>
          <a:ln w="0">
            <a:noFill/>
          </a:ln>
        </p:spPr>
        <p:txBody>
          <a:bodyPr lIns="0" tIns="0" rIns="0" bIns="0"/>
          <a:lstStyle>
            <a:defPPr>
              <a:defRPr sz="1050" b="0">
                <a:solidFill>
                  <a:srgbClr val="333333"/>
                </a:solidFill>
                <a:latin typeface="Calibri"/>
                <a:ea typeface="Calibri"/>
                <a:cs typeface="Calibri"/>
              </a:defRPr>
            </a:defPPr>
            <a:lvl1pPr>
              <a:defRPr sz="1050" b="0">
                <a:solidFill>
                  <a:srgbClr val="333333"/>
                </a:solidFill>
                <a:latin typeface="Calibri"/>
                <a:ea typeface="Calibri"/>
                <a:cs typeface="Calibri"/>
              </a:defRPr>
            </a:lvl1pPr>
            <a:lvl2pPr>
              <a:defRPr sz="1050" b="0">
                <a:solidFill>
                  <a:srgbClr val="333333"/>
                </a:solidFill>
                <a:latin typeface="Calibri"/>
                <a:ea typeface="Calibri"/>
                <a:cs typeface="Calibri"/>
              </a:defRPr>
            </a:lvl2pPr>
            <a:lvl3pPr>
              <a:defRPr sz="1050" b="0">
                <a:solidFill>
                  <a:srgbClr val="333333"/>
                </a:solidFill>
                <a:latin typeface="Calibri"/>
                <a:ea typeface="Calibri"/>
                <a:cs typeface="Calibri"/>
              </a:defRPr>
            </a:lvl3pPr>
            <a:lvl4pPr>
              <a:defRPr sz="1050" b="0">
                <a:solidFill>
                  <a:srgbClr val="333333"/>
                </a:solidFill>
                <a:latin typeface="Calibri"/>
                <a:ea typeface="Calibri"/>
                <a:cs typeface="Calibri"/>
              </a:defRPr>
            </a:lvl4pPr>
            <a:lvl5pPr>
              <a:defRPr sz="1050" b="0">
                <a:solidFill>
                  <a:srgbClr val="333333"/>
                </a:solidFill>
                <a:latin typeface="Calibri"/>
                <a:ea typeface="Calibri"/>
                <a:cs typeface="Calibri"/>
              </a:defRPr>
            </a:lvl5pPr>
            <a:lvl6pPr>
              <a:defRPr sz="1050" b="0">
                <a:solidFill>
                  <a:srgbClr val="333333"/>
                </a:solidFill>
                <a:latin typeface="Calibri"/>
                <a:ea typeface="Calibri"/>
                <a:cs typeface="Calibri"/>
              </a:defRPr>
            </a:lvl6pPr>
            <a:lvl7pPr>
              <a:defRPr sz="1050" b="0">
                <a:solidFill>
                  <a:srgbClr val="333333"/>
                </a:solidFill>
                <a:latin typeface="Calibri"/>
                <a:ea typeface="Calibri"/>
                <a:cs typeface="Calibri"/>
              </a:defRPr>
            </a:lvl7pPr>
            <a:lvl8pPr>
              <a:defRPr sz="1050" b="0">
                <a:solidFill>
                  <a:srgbClr val="333333"/>
                </a:solidFill>
                <a:latin typeface="Calibri"/>
                <a:ea typeface="Calibri"/>
                <a:cs typeface="Calibri"/>
              </a:defRPr>
            </a:lvl8pPr>
            <a:lvl9pPr>
              <a:defRPr sz="1050" b="0">
                <a:solidFill>
                  <a:srgbClr val="333333"/>
                </a:solidFill>
                <a:latin typeface="Calibri"/>
                <a:ea typeface="Calibri"/>
                <a:cs typeface="Calibri"/>
              </a:defRPr>
            </a:lvl9pPr>
          </a:lstStyle>
          <a:p>
            <a:pPr>
              <a:defRPr sz="1050" b="0">
                <a:solidFill>
                  <a:srgbClr val="333333"/>
                </a:solidFill>
                <a:latin typeface="Calibri"/>
                <a:ea typeface="Calibri"/>
                <a:cs typeface="Calibri"/>
              </a:defRPr>
            </a:pPr>
            <a:r>
              <a:rPr sz="1050" b="0">
                <a:solidFill>
                  <a:srgbClr val="333333"/>
                </a:solidFill>
                <a:latin typeface="Calibri"/>
                <a:ea typeface="Calibri"/>
                <a:cs typeface="Calibri"/>
              </a:rPr>
              <a:t>[A] NDARC execution archive, 28 Oct 2026: organized_runs/inventory.json; run_logs/*.jsonl; original runs/ inputs and outputs.</a:t>
            </a:r>
          </a:p>
          <a:p>
            <a:pPr>
              <a:defRPr sz="1050" b="0">
                <a:solidFill>
                  <a:srgbClr val="333333"/>
                </a:solidFill>
                <a:latin typeface="Calibri"/>
                <a:ea typeface="Calibri"/>
                <a:cs typeface="Calibri"/>
              </a:defRPr>
            </a:pPr>
            <a:r>
              <a:rPr sz="1050" b="0">
                <a:solidFill>
                  <a:srgbClr val="333333"/>
                </a:solidFill>
                <a:latin typeface="Calibri"/>
                <a:ea typeface="Calibri"/>
                <a:cs typeface="Calibri"/>
              </a:rPr>
              <a:t>[B] design-space-evidence/campaign-design-space.json and all-run-design-points.csv (this deck folder). Exact marginal sets, plans, input hashes and status.</a:t>
            </a:r>
          </a:p>
        </p:txBody>
      </p:sp>
      <p:sp>
        <p:nvSpPr>
          <p:cNvPr id="4" name="Rectangle 3">
            <a:extLst>
              <a:ext uri="{FF2B5EF4-FFF2-40B4-BE49-F238E27FC236}">
                <a16:creationId xmlns:a16="http://schemas.microsoft.com/office/drawing/2014/main" id="{D91D84F6-B575-417F-A177-25B6613D6F89}"/>
              </a:ext>
            </a:extLst>
          </p:cNvPr>
          <p:cNvSpPr>
            <a:spLocks noGrp="1"/>
          </p:cNvSpPr>
          <p:nvPr/>
        </p:nvSpPr>
        <p:spPr>
          <a:xfrm>
            <a:off x="11430000" y="6553200"/>
            <a:ext cx="333375" cy="209550"/>
          </a:xfrm>
          <a:prstGeom prst="rect">
            <a:avLst/>
          </a:prstGeom>
          <a:noFill/>
          <a:ln w="0">
            <a:noFill/>
          </a:ln>
        </p:spPr>
        <p:txBody>
          <a:bodyPr lIns="0" tIns="0" rIns="0" bIns="0"/>
          <a:lstStyle>
            <a:defPPr>
              <a:defRPr sz="1125" b="0">
                <a:solidFill>
                  <a:srgbClr val="000000"/>
                </a:solidFill>
                <a:latin typeface="Calibri"/>
                <a:ea typeface="Calibri"/>
                <a:cs typeface="Calibri"/>
              </a:defRPr>
            </a:defPPr>
            <a:lvl1pPr>
              <a:defRPr sz="1125" b="0">
                <a:solidFill>
                  <a:srgbClr val="000000"/>
                </a:solidFill>
                <a:latin typeface="Calibri"/>
                <a:ea typeface="Calibri"/>
                <a:cs typeface="Calibri"/>
              </a:defRPr>
            </a:lvl1pPr>
            <a:lvl2pPr>
              <a:defRPr sz="1125" b="0">
                <a:solidFill>
                  <a:srgbClr val="000000"/>
                </a:solidFill>
                <a:latin typeface="Calibri"/>
                <a:ea typeface="Calibri"/>
                <a:cs typeface="Calibri"/>
              </a:defRPr>
            </a:lvl2pPr>
            <a:lvl3pPr>
              <a:defRPr sz="1125" b="0">
                <a:solidFill>
                  <a:srgbClr val="000000"/>
                </a:solidFill>
                <a:latin typeface="Calibri"/>
                <a:ea typeface="Calibri"/>
                <a:cs typeface="Calibri"/>
              </a:defRPr>
            </a:lvl3pPr>
            <a:lvl4pPr>
              <a:defRPr sz="1125" b="0">
                <a:solidFill>
                  <a:srgbClr val="000000"/>
                </a:solidFill>
                <a:latin typeface="Calibri"/>
                <a:ea typeface="Calibri"/>
                <a:cs typeface="Calibri"/>
              </a:defRPr>
            </a:lvl4pPr>
            <a:lvl5pPr>
              <a:defRPr sz="1125" b="0">
                <a:solidFill>
                  <a:srgbClr val="000000"/>
                </a:solidFill>
                <a:latin typeface="Calibri"/>
                <a:ea typeface="Calibri"/>
                <a:cs typeface="Calibri"/>
              </a:defRPr>
            </a:lvl5pPr>
            <a:lvl6pPr>
              <a:defRPr sz="1125" b="0">
                <a:solidFill>
                  <a:srgbClr val="000000"/>
                </a:solidFill>
                <a:latin typeface="Calibri"/>
                <a:ea typeface="Calibri"/>
                <a:cs typeface="Calibri"/>
              </a:defRPr>
            </a:lvl6pPr>
            <a:lvl7pPr>
              <a:defRPr sz="1125" b="0">
                <a:solidFill>
                  <a:srgbClr val="000000"/>
                </a:solidFill>
                <a:latin typeface="Calibri"/>
                <a:ea typeface="Calibri"/>
                <a:cs typeface="Calibri"/>
              </a:defRPr>
            </a:lvl7pPr>
            <a:lvl8pPr>
              <a:defRPr sz="1125" b="0">
                <a:solidFill>
                  <a:srgbClr val="000000"/>
                </a:solidFill>
                <a:latin typeface="Calibri"/>
                <a:ea typeface="Calibri"/>
                <a:cs typeface="Calibri"/>
              </a:defRPr>
            </a:lvl8pPr>
            <a:lvl9pPr>
              <a:defRPr sz="1125" b="0">
                <a:solidFill>
                  <a:srgbClr val="000000"/>
                </a:solidFill>
                <a:latin typeface="Calibri"/>
                <a:ea typeface="Calibri"/>
                <a:cs typeface="Calibri"/>
              </a:defRPr>
            </a:lvl9pPr>
          </a:lstStyle>
          <a:p>
            <a:pPr>
              <a:defRPr sz="1125" b="0">
                <a:solidFill>
                  <a:srgbClr val="000000"/>
                </a:solidFill>
                <a:latin typeface="Calibri"/>
                <a:ea typeface="Calibri"/>
                <a:cs typeface="Calibri"/>
              </a:defRPr>
            </a:pPr>
            <a:r>
              <a:rPr sz="1125" b="0">
                <a:solidFill>
                  <a:srgbClr val="000000"/>
                </a:solidFill>
                <a:latin typeface="Calibri"/>
                <a:ea typeface="Calibri"/>
                <a:cs typeface="Calibri"/>
              </a:rPr>
              <a:t>58</a:t>
            </a:r>
          </a:p>
        </p:txBody>
      </p:sp>
      <p:graphicFrame>
        <p:nvGraphicFramePr>
          <p:cNvPr id="5" name="Table 4">
            <a:extLst>
              <a:ext uri="{FF2B5EF4-FFF2-40B4-BE49-F238E27FC236}">
                <a16:creationId xmlns:a16="http://schemas.microsoft.com/office/drawing/2014/main" id="{99B3ADED-7A1C-4FCA-8938-486AFA3BF26A}"/>
              </a:ext>
            </a:extLst>
          </p:cNvPr>
          <p:cNvGraphicFramePr/>
          <p:nvPr/>
        </p:nvGraphicFramePr>
        <p:xfrm>
          <a:off x="476250" y="1714500"/>
          <a:ext cx="11239500" cy="4000500"/>
        </p:xfrm>
        <a:graphic>
          <a:graphicData uri="http://schemas.openxmlformats.org/drawingml/2006/table">
            <a:tbl>
              <a:tblPr/>
              <a:tblGrid>
                <a:gridCol w="4572000">
                  <a:extLst>
                    <a:ext uri="{9D8B030D-6E8A-4147-A177-3AD203B41FA5}">
                      <a16:colId xmlns:a16="http://schemas.microsoft.com/office/drawing/2014/main" val="20000"/>
                    </a:ext>
                  </a:extLst>
                </a:gridCol>
                <a:gridCol w="952500">
                  <a:extLst>
                    <a:ext uri="{9D8B030D-6E8A-4147-A177-3AD203B41FA5}">
                      <a16:colId xmlns:a16="http://schemas.microsoft.com/office/drawing/2014/main" val="20001"/>
                    </a:ext>
                  </a:extLst>
                </a:gridCol>
                <a:gridCol w="5715000">
                  <a:extLst>
                    <a:ext uri="{9D8B030D-6E8A-4147-A177-3AD203B41FA5}">
                      <a16:colId xmlns:a16="http://schemas.microsoft.com/office/drawing/2014/main" val="20002"/>
                    </a:ext>
                  </a:extLst>
                </a:gridCol>
              </a:tblGrid>
              <a:tr h="800100">
                <a:tc>
                  <a:txBody>
                    <a:bodyPr/>
                    <a:lstStyle/>
                    <a:p>
                      <a:r>
                        <a:rPr sz="1500" b="1">
                          <a:solidFill>
                            <a:srgbClr val="000000"/>
                          </a:solidFill>
                          <a:latin typeface="Calibri"/>
                          <a:ea typeface="Calibri"/>
                          <a:cs typeface="Calibri"/>
                        </a:rPr>
                        <a:t>Journal configuration / propulsion label</a:t>
                      </a:r>
                    </a:p>
                  </a:txBody>
                  <a:tcPr>
                    <a:lnL w="7620">
                      <a:solidFill>
                        <a:srgbClr val="CCCCCC"/>
                      </a:solidFill>
                    </a:lnL>
                    <a:lnR w="7620">
                      <a:solidFill>
                        <a:srgbClr val="CCCCCC"/>
                      </a:solidFill>
                    </a:lnR>
                    <a:lnT w="7620">
                      <a:solidFill>
                        <a:srgbClr val="CCCCCC"/>
                      </a:solidFill>
                    </a:lnT>
                    <a:lnB w="7620">
                      <a:solidFill>
                        <a:srgbClr val="CCCCCC"/>
                      </a:solidFill>
                    </a:lnB>
                    <a:solidFill>
                      <a:srgbClr val="D9D9D9"/>
                    </a:solidFill>
                  </a:tcPr>
                </a:tc>
                <a:tc>
                  <a:txBody>
                    <a:bodyPr/>
                    <a:lstStyle/>
                    <a:p>
                      <a:r>
                        <a:rPr sz="1500" b="1">
                          <a:solidFill>
                            <a:srgbClr val="000000"/>
                          </a:solidFill>
                          <a:latin typeface="Calibri"/>
                          <a:ea typeface="Calibri"/>
                          <a:cs typeface="Calibri"/>
                        </a:rPr>
                        <a:t>Folders</a:t>
                      </a:r>
                    </a:p>
                  </a:txBody>
                  <a:tcPr>
                    <a:lnL w="7620" cap="flat" cmpd="sng" algn="ctr">
                      <a:solidFill>
                        <a:srgbClr val="CCCCCC"/>
                      </a:solidFill>
                      <a:prstDash val="solid"/>
                      <a:round/>
                      <a:headEnd type="none" w="med" len="med"/>
                      <a:tailEnd type="none" w="med" len="med"/>
                    </a:lnL>
                    <a:lnR w="7620">
                      <a:solidFill>
                        <a:srgbClr val="CCCCCC"/>
                      </a:solidFill>
                    </a:lnR>
                    <a:lnT w="7620">
                      <a:solidFill>
                        <a:srgbClr val="CCCCCC"/>
                      </a:solidFill>
                    </a:lnT>
                    <a:lnB w="7620">
                      <a:solidFill>
                        <a:srgbClr val="CCCCCC"/>
                      </a:solidFill>
                    </a:lnB>
                    <a:solidFill>
                      <a:srgbClr val="D9D9D9"/>
                    </a:solidFill>
                  </a:tcPr>
                </a:tc>
                <a:tc>
                  <a:txBody>
                    <a:bodyPr/>
                    <a:lstStyle/>
                    <a:p>
                      <a:r>
                        <a:rPr sz="1500" b="1">
                          <a:solidFill>
                            <a:srgbClr val="000000"/>
                          </a:solidFill>
                          <a:latin typeface="Calibri"/>
                          <a:ea typeface="Calibri"/>
                          <a:cs typeface="Calibri"/>
                        </a:rPr>
                        <a:t>Recovered design-space scope</a:t>
                      </a:r>
                    </a:p>
                  </a:txBody>
                  <a:tcPr>
                    <a:lnL w="7620" cap="flat" cmpd="sng" algn="ctr">
                      <a:solidFill>
                        <a:srgbClr val="CCCCCC"/>
                      </a:solidFill>
                      <a:prstDash val="solid"/>
                      <a:round/>
                      <a:headEnd type="none" w="med" len="med"/>
                      <a:tailEnd type="none" w="med" len="med"/>
                    </a:lnL>
                    <a:lnR w="7620">
                      <a:solidFill>
                        <a:srgbClr val="CCCCCC"/>
                      </a:solidFill>
                    </a:lnR>
                    <a:lnT w="7620">
                      <a:solidFill>
                        <a:srgbClr val="CCCCCC"/>
                      </a:solidFill>
                    </a:lnT>
                    <a:lnB w="7620">
                      <a:solidFill>
                        <a:srgbClr val="CCCCCC"/>
                      </a:solidFill>
                    </a:lnB>
                    <a:solidFill>
                      <a:srgbClr val="D9D9D9"/>
                    </a:solidFill>
                  </a:tcPr>
                </a:tc>
                <a:extLst>
                  <a:ext uri="{0D108BD9-81ED-4DB2-BD59-A6C34878D82A}">
                    <a16:rowId xmlns:a16="http://schemas.microsoft.com/office/drawing/2014/main" val="10000"/>
                  </a:ext>
                </a:extLst>
              </a:tr>
              <a:tr h="800100">
                <a:tc>
                  <a:txBody>
                    <a:bodyPr/>
                    <a:lstStyle/>
                    <a:p>
                      <a:r>
                        <a:rPr sz="1500" b="0">
                          <a:solidFill>
                            <a:srgbClr val="000000"/>
                          </a:solidFill>
                          <a:latin typeface="Calibri"/>
                          <a:ea typeface="Calibri"/>
                          <a:cs typeface="Calibri"/>
                        </a:rPr>
                        <a:t>quadrotor electric</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3</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Baseline reference comparisons; no recovered sizing trade grid</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1"/>
                  </a:ext>
                </a:extLst>
              </a:tr>
              <a:tr h="800100">
                <a:tc>
                  <a:txBody>
                    <a:bodyPr/>
                    <a:lstStyle/>
                    <a:p>
                      <a:r>
                        <a:rPr sz="1500" b="0">
                          <a:solidFill>
                            <a:srgbClr val="000000"/>
                          </a:solidFill>
                          <a:latin typeface="Calibri"/>
                          <a:ea typeface="Calibri"/>
                          <a:cs typeface="Calibri"/>
                        </a:rPr>
                        <a:t>side by side turboshaft</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3</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Baseline reference comparisons; no recovered sizing trade grid</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2"/>
                  </a:ext>
                </a:extLst>
              </a:tr>
              <a:tr h="800100">
                <a:tc>
                  <a:txBody>
                    <a:bodyPr/>
                    <a:lstStyle/>
                    <a:p>
                      <a:r>
                        <a:rPr sz="1500" b="0">
                          <a:solidFill>
                            <a:srgbClr val="000000"/>
                          </a:solidFill>
                          <a:latin typeface="Calibri"/>
                          <a:ea typeface="Calibri"/>
                          <a:cs typeface="Calibri"/>
                        </a:rPr>
                        <a:t>side by side electric</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3</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00" b="0">
                          <a:solidFill>
                            <a:srgbClr val="000000"/>
                          </a:solidFill>
                          <a:latin typeface="Calibri"/>
                          <a:ea typeface="Calibri"/>
                          <a:cs typeface="Calibri"/>
                        </a:rPr>
                        <a:t>Baseline reference comparisons; no recovered sizing trade grid</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3"/>
                  </a:ext>
                </a:extLst>
              </a:tr>
              <a:tr h="800100">
                <a:tc>
                  <a:txBody>
                    <a:bodyPr/>
                    <a:lstStyle/>
                    <a:p>
                      <a:r>
                        <a:rPr sz="1500" b="0">
                          <a:solidFill>
                            <a:srgbClr val="000000"/>
                          </a:solidFill>
                          <a:latin typeface="Calibri"/>
                          <a:ea typeface="Calibri"/>
                          <a:cs typeface="Calibri"/>
                        </a:rPr>
                        <a:t>tiltwing unverified propulsion</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8</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00" b="0">
                          <a:solidFill>
                            <a:srgbClr val="000000"/>
                          </a:solidFill>
                          <a:latin typeface="Calibri"/>
                          <a:ea typeface="Calibri"/>
                          <a:cs typeface="Calibri"/>
                        </a:rPr>
                        <a:t>Compatibility and baseline checks; emergency negative fuel and performance-task limitations</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942268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A1003A2-18B9-428D-A6FA-13DEC3C0672F}"/>
              </a:ext>
            </a:extLst>
          </p:cNvPr>
          <p:cNvSpPr>
            <a:spLocks noGrp="1"/>
          </p:cNvSpPr>
          <p:nvPr/>
        </p:nvSpPr>
        <p:spPr>
          <a:xfrm>
            <a:off x="838200" y="361950"/>
            <a:ext cx="10572750" cy="495300"/>
          </a:xfrm>
          <a:prstGeom prst="rect">
            <a:avLst/>
          </a:prstGeom>
          <a:noFill/>
          <a:ln w="0">
            <a:noFill/>
          </a:ln>
        </p:spPr>
        <p:txBody>
          <a:bodyPr lIns="0" tIns="0" rIns="0" bIns="0"/>
          <a:lstStyle>
            <a:defPPr>
              <a:defRPr sz="2400" b="1">
                <a:solidFill>
                  <a:srgbClr val="000000"/>
                </a:solidFill>
                <a:latin typeface="Calibri"/>
                <a:ea typeface="Calibri"/>
                <a:cs typeface="Calibri"/>
              </a:defRPr>
            </a:defPPr>
            <a:lvl1pPr>
              <a:defRPr sz="2400" b="1">
                <a:solidFill>
                  <a:srgbClr val="000000"/>
                </a:solidFill>
                <a:latin typeface="Calibri"/>
                <a:ea typeface="Calibri"/>
                <a:cs typeface="Calibri"/>
              </a:defRPr>
            </a:lvl1pPr>
            <a:lvl2pPr>
              <a:defRPr sz="2400" b="1">
                <a:solidFill>
                  <a:srgbClr val="000000"/>
                </a:solidFill>
                <a:latin typeface="Calibri"/>
                <a:ea typeface="Calibri"/>
                <a:cs typeface="Calibri"/>
              </a:defRPr>
            </a:lvl2pPr>
            <a:lvl3pPr>
              <a:defRPr sz="2400" b="1">
                <a:solidFill>
                  <a:srgbClr val="000000"/>
                </a:solidFill>
                <a:latin typeface="Calibri"/>
                <a:ea typeface="Calibri"/>
                <a:cs typeface="Calibri"/>
              </a:defRPr>
            </a:lvl3pPr>
            <a:lvl4pPr>
              <a:defRPr sz="2400" b="1">
                <a:solidFill>
                  <a:srgbClr val="000000"/>
                </a:solidFill>
                <a:latin typeface="Calibri"/>
                <a:ea typeface="Calibri"/>
                <a:cs typeface="Calibri"/>
              </a:defRPr>
            </a:lvl4pPr>
            <a:lvl5pPr>
              <a:defRPr sz="2400" b="1">
                <a:solidFill>
                  <a:srgbClr val="000000"/>
                </a:solidFill>
                <a:latin typeface="Calibri"/>
                <a:ea typeface="Calibri"/>
                <a:cs typeface="Calibri"/>
              </a:defRPr>
            </a:lvl5pPr>
            <a:lvl6pPr>
              <a:defRPr sz="2400" b="1">
                <a:solidFill>
                  <a:srgbClr val="000000"/>
                </a:solidFill>
                <a:latin typeface="Calibri"/>
                <a:ea typeface="Calibri"/>
                <a:cs typeface="Calibri"/>
              </a:defRPr>
            </a:lvl6pPr>
            <a:lvl7pPr>
              <a:defRPr sz="2400" b="1">
                <a:solidFill>
                  <a:srgbClr val="000000"/>
                </a:solidFill>
                <a:latin typeface="Calibri"/>
                <a:ea typeface="Calibri"/>
                <a:cs typeface="Calibri"/>
              </a:defRPr>
            </a:lvl7pPr>
            <a:lvl8pPr>
              <a:defRPr sz="2400" b="1">
                <a:solidFill>
                  <a:srgbClr val="000000"/>
                </a:solidFill>
                <a:latin typeface="Calibri"/>
                <a:ea typeface="Calibri"/>
                <a:cs typeface="Calibri"/>
              </a:defRPr>
            </a:lvl8pPr>
            <a:lvl9pPr>
              <a:defRPr sz="2400" b="1">
                <a:solidFill>
                  <a:srgbClr val="000000"/>
                </a:solidFill>
                <a:latin typeface="Calibri"/>
                <a:ea typeface="Calibri"/>
                <a:cs typeface="Calibri"/>
              </a:defRPr>
            </a:lvl9pPr>
          </a:lstStyle>
          <a:p>
            <a:pPr>
              <a:defRPr sz="2400" b="1">
                <a:solidFill>
                  <a:srgbClr val="000000"/>
                </a:solidFill>
                <a:latin typeface="Calibri"/>
                <a:ea typeface="Calibri"/>
                <a:cs typeface="Calibri"/>
              </a:defRPr>
            </a:pPr>
            <a:r>
              <a:rPr sz="2400" b="1">
                <a:solidFill>
                  <a:srgbClr val="000000"/>
                </a:solidFill>
                <a:latin typeface="Calibri"/>
                <a:ea typeface="Calibri"/>
                <a:cs typeface="Calibri"/>
              </a:rPr>
              <a:t>Complete configuration ledger</a:t>
            </a:r>
          </a:p>
        </p:txBody>
      </p:sp>
      <p:sp>
        <p:nvSpPr>
          <p:cNvPr id="2" name="Rectangle 1">
            <a:extLst>
              <a:ext uri="{FF2B5EF4-FFF2-40B4-BE49-F238E27FC236}">
                <a16:creationId xmlns:a16="http://schemas.microsoft.com/office/drawing/2014/main" id="{37D89A26-9598-4979-9C8B-1A91AC1D9ABD}"/>
              </a:ext>
            </a:extLst>
          </p:cNvPr>
          <p:cNvSpPr>
            <a:spLocks noGrp="1"/>
          </p:cNvSpPr>
          <p:nvPr/>
        </p:nvSpPr>
        <p:spPr>
          <a:xfrm>
            <a:off x="476250" y="1028700"/>
            <a:ext cx="11239500" cy="590550"/>
          </a:xfrm>
          <a:prstGeom prst="rect">
            <a:avLst/>
          </a:prstGeom>
          <a:noFill/>
          <a:ln w="0">
            <a:noFill/>
          </a:ln>
        </p:spPr>
        <p:txBody>
          <a:bodyPr lIns="0" tIns="0" rIns="0" bIns="0"/>
          <a:lstStyle>
            <a:defPPr>
              <a:defRPr sz="1575" b="0">
                <a:solidFill>
                  <a:srgbClr val="333333"/>
                </a:solidFill>
                <a:latin typeface="Calibri"/>
                <a:ea typeface="Calibri"/>
                <a:cs typeface="Calibri"/>
              </a:defRPr>
            </a:defPPr>
            <a:lvl1pPr>
              <a:defRPr sz="1575" b="0">
                <a:solidFill>
                  <a:srgbClr val="333333"/>
                </a:solidFill>
                <a:latin typeface="Calibri"/>
                <a:ea typeface="Calibri"/>
                <a:cs typeface="Calibri"/>
              </a:defRPr>
            </a:lvl1pPr>
            <a:lvl2pPr>
              <a:defRPr sz="1575" b="0">
                <a:solidFill>
                  <a:srgbClr val="333333"/>
                </a:solidFill>
                <a:latin typeface="Calibri"/>
                <a:ea typeface="Calibri"/>
                <a:cs typeface="Calibri"/>
              </a:defRPr>
            </a:lvl2pPr>
            <a:lvl3pPr>
              <a:defRPr sz="1575" b="0">
                <a:solidFill>
                  <a:srgbClr val="333333"/>
                </a:solidFill>
                <a:latin typeface="Calibri"/>
                <a:ea typeface="Calibri"/>
                <a:cs typeface="Calibri"/>
              </a:defRPr>
            </a:lvl3pPr>
            <a:lvl4pPr>
              <a:defRPr sz="1575" b="0">
                <a:solidFill>
                  <a:srgbClr val="333333"/>
                </a:solidFill>
                <a:latin typeface="Calibri"/>
                <a:ea typeface="Calibri"/>
                <a:cs typeface="Calibri"/>
              </a:defRPr>
            </a:lvl4pPr>
            <a:lvl5pPr>
              <a:defRPr sz="1575" b="0">
                <a:solidFill>
                  <a:srgbClr val="333333"/>
                </a:solidFill>
                <a:latin typeface="Calibri"/>
                <a:ea typeface="Calibri"/>
                <a:cs typeface="Calibri"/>
              </a:defRPr>
            </a:lvl5pPr>
            <a:lvl6pPr>
              <a:defRPr sz="1575" b="0">
                <a:solidFill>
                  <a:srgbClr val="333333"/>
                </a:solidFill>
                <a:latin typeface="Calibri"/>
                <a:ea typeface="Calibri"/>
                <a:cs typeface="Calibri"/>
              </a:defRPr>
            </a:lvl6pPr>
            <a:lvl7pPr>
              <a:defRPr sz="1575" b="0">
                <a:solidFill>
                  <a:srgbClr val="333333"/>
                </a:solidFill>
                <a:latin typeface="Calibri"/>
                <a:ea typeface="Calibri"/>
                <a:cs typeface="Calibri"/>
              </a:defRPr>
            </a:lvl7pPr>
            <a:lvl8pPr>
              <a:defRPr sz="1575" b="0">
                <a:solidFill>
                  <a:srgbClr val="333333"/>
                </a:solidFill>
                <a:latin typeface="Calibri"/>
                <a:ea typeface="Calibri"/>
                <a:cs typeface="Calibri"/>
              </a:defRPr>
            </a:lvl8pPr>
            <a:lvl9pPr>
              <a:defRPr sz="1575" b="0">
                <a:solidFill>
                  <a:srgbClr val="333333"/>
                </a:solidFill>
                <a:latin typeface="Calibri"/>
                <a:ea typeface="Calibri"/>
                <a:cs typeface="Calibri"/>
              </a:defRPr>
            </a:lvl9pPr>
          </a:lstStyle>
          <a:p>
            <a:pPr>
              <a:defRPr sz="1575" b="0">
                <a:solidFill>
                  <a:srgbClr val="333333"/>
                </a:solidFill>
                <a:latin typeface="Calibri"/>
                <a:ea typeface="Calibri"/>
                <a:cs typeface="Calibri"/>
              </a:defRPr>
            </a:pPr>
            <a:r>
              <a:rPr sz="1575" b="0">
                <a:solidFill>
                  <a:srgbClr val="333333"/>
                </a:solidFill>
                <a:latin typeface="Calibri"/>
                <a:ea typeface="Calibri"/>
                <a:cs typeface="Calibri"/>
              </a:rPr>
              <a:t>Every journal label appears below or on the following slide. Counts describe original folders. [A, B]</a:t>
            </a:r>
          </a:p>
        </p:txBody>
      </p:sp>
      <p:sp>
        <p:nvSpPr>
          <p:cNvPr id="3" name="Rectangle 2">
            <a:extLst>
              <a:ext uri="{FF2B5EF4-FFF2-40B4-BE49-F238E27FC236}">
                <a16:creationId xmlns:a16="http://schemas.microsoft.com/office/drawing/2014/main" id="{041C2258-5482-4C52-A9DB-B14FC83E079B}"/>
              </a:ext>
            </a:extLst>
          </p:cNvPr>
          <p:cNvSpPr>
            <a:spLocks noGrp="1"/>
          </p:cNvSpPr>
          <p:nvPr/>
        </p:nvSpPr>
        <p:spPr>
          <a:xfrm>
            <a:off x="476250" y="6076950"/>
            <a:ext cx="11191875" cy="619125"/>
          </a:xfrm>
          <a:prstGeom prst="rect">
            <a:avLst/>
          </a:prstGeom>
          <a:noFill/>
          <a:ln w="0">
            <a:noFill/>
          </a:ln>
        </p:spPr>
        <p:txBody>
          <a:bodyPr lIns="0" tIns="0" rIns="0" bIns="0"/>
          <a:lstStyle>
            <a:defPPr>
              <a:defRPr sz="1050" b="0">
                <a:solidFill>
                  <a:srgbClr val="333333"/>
                </a:solidFill>
                <a:latin typeface="Calibri"/>
                <a:ea typeface="Calibri"/>
                <a:cs typeface="Calibri"/>
              </a:defRPr>
            </a:defPPr>
            <a:lvl1pPr>
              <a:defRPr sz="1050" b="0">
                <a:solidFill>
                  <a:srgbClr val="333333"/>
                </a:solidFill>
                <a:latin typeface="Calibri"/>
                <a:ea typeface="Calibri"/>
                <a:cs typeface="Calibri"/>
              </a:defRPr>
            </a:lvl1pPr>
            <a:lvl2pPr>
              <a:defRPr sz="1050" b="0">
                <a:solidFill>
                  <a:srgbClr val="333333"/>
                </a:solidFill>
                <a:latin typeface="Calibri"/>
                <a:ea typeface="Calibri"/>
                <a:cs typeface="Calibri"/>
              </a:defRPr>
            </a:lvl2pPr>
            <a:lvl3pPr>
              <a:defRPr sz="1050" b="0">
                <a:solidFill>
                  <a:srgbClr val="333333"/>
                </a:solidFill>
                <a:latin typeface="Calibri"/>
                <a:ea typeface="Calibri"/>
                <a:cs typeface="Calibri"/>
              </a:defRPr>
            </a:lvl3pPr>
            <a:lvl4pPr>
              <a:defRPr sz="1050" b="0">
                <a:solidFill>
                  <a:srgbClr val="333333"/>
                </a:solidFill>
                <a:latin typeface="Calibri"/>
                <a:ea typeface="Calibri"/>
                <a:cs typeface="Calibri"/>
              </a:defRPr>
            </a:lvl4pPr>
            <a:lvl5pPr>
              <a:defRPr sz="1050" b="0">
                <a:solidFill>
                  <a:srgbClr val="333333"/>
                </a:solidFill>
                <a:latin typeface="Calibri"/>
                <a:ea typeface="Calibri"/>
                <a:cs typeface="Calibri"/>
              </a:defRPr>
            </a:lvl5pPr>
            <a:lvl6pPr>
              <a:defRPr sz="1050" b="0">
                <a:solidFill>
                  <a:srgbClr val="333333"/>
                </a:solidFill>
                <a:latin typeface="Calibri"/>
                <a:ea typeface="Calibri"/>
                <a:cs typeface="Calibri"/>
              </a:defRPr>
            </a:lvl6pPr>
            <a:lvl7pPr>
              <a:defRPr sz="1050" b="0">
                <a:solidFill>
                  <a:srgbClr val="333333"/>
                </a:solidFill>
                <a:latin typeface="Calibri"/>
                <a:ea typeface="Calibri"/>
                <a:cs typeface="Calibri"/>
              </a:defRPr>
            </a:lvl7pPr>
            <a:lvl8pPr>
              <a:defRPr sz="1050" b="0">
                <a:solidFill>
                  <a:srgbClr val="333333"/>
                </a:solidFill>
                <a:latin typeface="Calibri"/>
                <a:ea typeface="Calibri"/>
                <a:cs typeface="Calibri"/>
              </a:defRPr>
            </a:lvl8pPr>
            <a:lvl9pPr>
              <a:defRPr sz="1050" b="0">
                <a:solidFill>
                  <a:srgbClr val="333333"/>
                </a:solidFill>
                <a:latin typeface="Calibri"/>
                <a:ea typeface="Calibri"/>
                <a:cs typeface="Calibri"/>
              </a:defRPr>
            </a:lvl9pPr>
          </a:lstStyle>
          <a:p>
            <a:pPr>
              <a:defRPr sz="1050" b="0">
                <a:solidFill>
                  <a:srgbClr val="333333"/>
                </a:solidFill>
                <a:latin typeface="Calibri"/>
                <a:ea typeface="Calibri"/>
                <a:cs typeface="Calibri"/>
              </a:defRPr>
            </a:pPr>
            <a:r>
              <a:rPr sz="1050" b="0">
                <a:solidFill>
                  <a:srgbClr val="333333"/>
                </a:solidFill>
                <a:latin typeface="Calibri"/>
                <a:ea typeface="Calibri"/>
                <a:cs typeface="Calibri"/>
              </a:rPr>
              <a:t>[A] NDARC execution archive, 28 Oct 2026: organized_runs/inventory.json; run_logs/*.jsonl; original runs/ inputs and outputs.</a:t>
            </a:r>
          </a:p>
          <a:p>
            <a:pPr>
              <a:defRPr sz="1050" b="0">
                <a:solidFill>
                  <a:srgbClr val="333333"/>
                </a:solidFill>
                <a:latin typeface="Calibri"/>
                <a:ea typeface="Calibri"/>
                <a:cs typeface="Calibri"/>
              </a:defRPr>
            </a:pPr>
            <a:r>
              <a:rPr sz="1050" b="0">
                <a:solidFill>
                  <a:srgbClr val="333333"/>
                </a:solidFill>
                <a:latin typeface="Calibri"/>
                <a:ea typeface="Calibri"/>
                <a:cs typeface="Calibri"/>
              </a:rPr>
              <a:t>[B] design-space-evidence/campaign-design-space.json and all-run-design-points.csv (this deck folder). Exact marginal sets, plans, input hashes and status.</a:t>
            </a:r>
          </a:p>
        </p:txBody>
      </p:sp>
      <p:sp>
        <p:nvSpPr>
          <p:cNvPr id="4" name="Rectangle 3">
            <a:extLst>
              <a:ext uri="{FF2B5EF4-FFF2-40B4-BE49-F238E27FC236}">
                <a16:creationId xmlns:a16="http://schemas.microsoft.com/office/drawing/2014/main" id="{904B25D8-6844-4332-AF0E-36E729CD8173}"/>
              </a:ext>
            </a:extLst>
          </p:cNvPr>
          <p:cNvSpPr>
            <a:spLocks noGrp="1"/>
          </p:cNvSpPr>
          <p:nvPr/>
        </p:nvSpPr>
        <p:spPr>
          <a:xfrm>
            <a:off x="11430000" y="6553200"/>
            <a:ext cx="333375" cy="209550"/>
          </a:xfrm>
          <a:prstGeom prst="rect">
            <a:avLst/>
          </a:prstGeom>
          <a:noFill/>
          <a:ln w="0">
            <a:noFill/>
          </a:ln>
        </p:spPr>
        <p:txBody>
          <a:bodyPr lIns="0" tIns="0" rIns="0" bIns="0"/>
          <a:lstStyle>
            <a:defPPr>
              <a:defRPr sz="1125" b="0">
                <a:solidFill>
                  <a:srgbClr val="000000"/>
                </a:solidFill>
                <a:latin typeface="Calibri"/>
                <a:ea typeface="Calibri"/>
                <a:cs typeface="Calibri"/>
              </a:defRPr>
            </a:defPPr>
            <a:lvl1pPr>
              <a:defRPr sz="1125" b="0">
                <a:solidFill>
                  <a:srgbClr val="000000"/>
                </a:solidFill>
                <a:latin typeface="Calibri"/>
                <a:ea typeface="Calibri"/>
                <a:cs typeface="Calibri"/>
              </a:defRPr>
            </a:lvl1pPr>
            <a:lvl2pPr>
              <a:defRPr sz="1125" b="0">
                <a:solidFill>
                  <a:srgbClr val="000000"/>
                </a:solidFill>
                <a:latin typeface="Calibri"/>
                <a:ea typeface="Calibri"/>
                <a:cs typeface="Calibri"/>
              </a:defRPr>
            </a:lvl2pPr>
            <a:lvl3pPr>
              <a:defRPr sz="1125" b="0">
                <a:solidFill>
                  <a:srgbClr val="000000"/>
                </a:solidFill>
                <a:latin typeface="Calibri"/>
                <a:ea typeface="Calibri"/>
                <a:cs typeface="Calibri"/>
              </a:defRPr>
            </a:lvl3pPr>
            <a:lvl4pPr>
              <a:defRPr sz="1125" b="0">
                <a:solidFill>
                  <a:srgbClr val="000000"/>
                </a:solidFill>
                <a:latin typeface="Calibri"/>
                <a:ea typeface="Calibri"/>
                <a:cs typeface="Calibri"/>
              </a:defRPr>
            </a:lvl4pPr>
            <a:lvl5pPr>
              <a:defRPr sz="1125" b="0">
                <a:solidFill>
                  <a:srgbClr val="000000"/>
                </a:solidFill>
                <a:latin typeface="Calibri"/>
                <a:ea typeface="Calibri"/>
                <a:cs typeface="Calibri"/>
              </a:defRPr>
            </a:lvl5pPr>
            <a:lvl6pPr>
              <a:defRPr sz="1125" b="0">
                <a:solidFill>
                  <a:srgbClr val="000000"/>
                </a:solidFill>
                <a:latin typeface="Calibri"/>
                <a:ea typeface="Calibri"/>
                <a:cs typeface="Calibri"/>
              </a:defRPr>
            </a:lvl6pPr>
            <a:lvl7pPr>
              <a:defRPr sz="1125" b="0">
                <a:solidFill>
                  <a:srgbClr val="000000"/>
                </a:solidFill>
                <a:latin typeface="Calibri"/>
                <a:ea typeface="Calibri"/>
                <a:cs typeface="Calibri"/>
              </a:defRPr>
            </a:lvl7pPr>
            <a:lvl8pPr>
              <a:defRPr sz="1125" b="0">
                <a:solidFill>
                  <a:srgbClr val="000000"/>
                </a:solidFill>
                <a:latin typeface="Calibri"/>
                <a:ea typeface="Calibri"/>
                <a:cs typeface="Calibri"/>
              </a:defRPr>
            </a:lvl8pPr>
            <a:lvl9pPr>
              <a:defRPr sz="1125" b="0">
                <a:solidFill>
                  <a:srgbClr val="000000"/>
                </a:solidFill>
                <a:latin typeface="Calibri"/>
                <a:ea typeface="Calibri"/>
                <a:cs typeface="Calibri"/>
              </a:defRPr>
            </a:lvl9pPr>
          </a:lstStyle>
          <a:p>
            <a:pPr>
              <a:defRPr sz="1125" b="0">
                <a:solidFill>
                  <a:srgbClr val="000000"/>
                </a:solidFill>
                <a:latin typeface="Calibri"/>
                <a:ea typeface="Calibri"/>
                <a:cs typeface="Calibri"/>
              </a:defRPr>
            </a:pPr>
            <a:r>
              <a:rPr sz="1125" b="0">
                <a:solidFill>
                  <a:srgbClr val="000000"/>
                </a:solidFill>
                <a:latin typeface="Calibri"/>
                <a:ea typeface="Calibri"/>
                <a:cs typeface="Calibri"/>
              </a:rPr>
              <a:t>59</a:t>
            </a:r>
          </a:p>
        </p:txBody>
      </p:sp>
      <p:graphicFrame>
        <p:nvGraphicFramePr>
          <p:cNvPr id="5" name="Table 4">
            <a:extLst>
              <a:ext uri="{FF2B5EF4-FFF2-40B4-BE49-F238E27FC236}">
                <a16:creationId xmlns:a16="http://schemas.microsoft.com/office/drawing/2014/main" id="{5E8849A9-7A8B-4D7F-BB24-0872A09BBCF0}"/>
              </a:ext>
            </a:extLst>
          </p:cNvPr>
          <p:cNvGraphicFramePr/>
          <p:nvPr/>
        </p:nvGraphicFramePr>
        <p:xfrm>
          <a:off x="476250" y="1666875"/>
          <a:ext cx="11239500" cy="4191000"/>
        </p:xfrm>
        <a:graphic>
          <a:graphicData uri="http://schemas.openxmlformats.org/drawingml/2006/table">
            <a:tbl>
              <a:tblPr/>
              <a:tblGrid>
                <a:gridCol w="95250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tblGrid>
              <a:tr h="299357">
                <a:tc>
                  <a:txBody>
                    <a:bodyPr/>
                    <a:lstStyle/>
                    <a:p>
                      <a:r>
                        <a:rPr sz="1350" b="1">
                          <a:solidFill>
                            <a:srgbClr val="000000"/>
                          </a:solidFill>
                          <a:latin typeface="Calibri"/>
                          <a:ea typeface="Calibri"/>
                          <a:cs typeface="Calibri"/>
                        </a:rPr>
                        <a:t>Configuration / propulsion label</a:t>
                      </a:r>
                    </a:p>
                  </a:txBody>
                  <a:tcPr>
                    <a:lnL w="7620">
                      <a:solidFill>
                        <a:srgbClr val="CCCCCC"/>
                      </a:solidFill>
                    </a:lnL>
                    <a:lnR w="7620">
                      <a:solidFill>
                        <a:srgbClr val="CCCCCC"/>
                      </a:solidFill>
                    </a:lnR>
                    <a:lnT w="7620">
                      <a:solidFill>
                        <a:srgbClr val="CCCCCC"/>
                      </a:solidFill>
                    </a:lnT>
                    <a:lnB w="7620">
                      <a:solidFill>
                        <a:srgbClr val="CCCCCC"/>
                      </a:solidFill>
                    </a:lnB>
                    <a:solidFill>
                      <a:srgbClr val="D9D9D9"/>
                    </a:solidFill>
                  </a:tcPr>
                </a:tc>
                <a:tc>
                  <a:txBody>
                    <a:bodyPr/>
                    <a:lstStyle/>
                    <a:p>
                      <a:r>
                        <a:rPr sz="1350" b="1">
                          <a:solidFill>
                            <a:srgbClr val="000000"/>
                          </a:solidFill>
                          <a:latin typeface="Calibri"/>
                          <a:ea typeface="Calibri"/>
                          <a:cs typeface="Calibri"/>
                        </a:rPr>
                        <a:t>Folders</a:t>
                      </a:r>
                    </a:p>
                  </a:txBody>
                  <a:tcPr>
                    <a:lnL w="7620" cap="flat" cmpd="sng" algn="ctr">
                      <a:solidFill>
                        <a:srgbClr val="CCCCCC"/>
                      </a:solidFill>
                      <a:prstDash val="solid"/>
                      <a:round/>
                      <a:headEnd type="none" w="med" len="med"/>
                      <a:tailEnd type="none" w="med" len="med"/>
                    </a:lnL>
                    <a:lnR w="7620">
                      <a:solidFill>
                        <a:srgbClr val="CCCCCC"/>
                      </a:solidFill>
                    </a:lnR>
                    <a:lnT w="7620">
                      <a:solidFill>
                        <a:srgbClr val="CCCCCC"/>
                      </a:solidFill>
                    </a:lnT>
                    <a:lnB w="7620">
                      <a:solidFill>
                        <a:srgbClr val="CCCCCC"/>
                      </a:solidFill>
                    </a:lnB>
                    <a:solidFill>
                      <a:srgbClr val="D9D9D9"/>
                    </a:solidFill>
                  </a:tcPr>
                </a:tc>
                <a:extLst>
                  <a:ext uri="{0D108BD9-81ED-4DB2-BD59-A6C34878D82A}">
                    <a16:rowId xmlns:a16="http://schemas.microsoft.com/office/drawing/2014/main" val="10000"/>
                  </a:ext>
                </a:extLst>
              </a:tr>
              <a:tr h="299357">
                <a:tc>
                  <a:txBody>
                    <a:bodyPr/>
                    <a:lstStyle/>
                    <a:p>
                      <a:r>
                        <a:rPr sz="1350" b="0">
                          <a:solidFill>
                            <a:srgbClr val="000000"/>
                          </a:solidFill>
                          <a:latin typeface="Calibri"/>
                          <a:ea typeface="Calibri"/>
                          <a:cs typeface="Calibri"/>
                        </a:rPr>
                        <a:t>compound helicopter unverified propulsion</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350" b="0">
                          <a:solidFill>
                            <a:srgbClr val="000000"/>
                          </a:solidFill>
                          <a:latin typeface="Calibri"/>
                          <a:ea typeface="Calibri"/>
                          <a:cs typeface="Calibri"/>
                        </a:rPr>
                        <a:t>14</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1"/>
                  </a:ext>
                </a:extLst>
              </a:tr>
              <a:tr h="299357">
                <a:tc>
                  <a:txBody>
                    <a:bodyPr/>
                    <a:lstStyle/>
                    <a:p>
                      <a:r>
                        <a:rPr sz="1350" b="0">
                          <a:solidFill>
                            <a:srgbClr val="000000"/>
                          </a:solidFill>
                          <a:latin typeface="Calibri"/>
                          <a:ea typeface="Calibri"/>
                          <a:cs typeface="Calibri"/>
                        </a:rPr>
                        <a:t>tiltrotor turboshaft</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350" b="0">
                          <a:solidFill>
                            <a:srgbClr val="000000"/>
                          </a:solidFill>
                          <a:latin typeface="Calibri"/>
                          <a:ea typeface="Calibri"/>
                          <a:cs typeface="Calibri"/>
                        </a:rPr>
                        <a:t>325</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2"/>
                  </a:ext>
                </a:extLst>
              </a:tr>
              <a:tr h="299357">
                <a:tc>
                  <a:txBody>
                    <a:bodyPr/>
                    <a:lstStyle/>
                    <a:p>
                      <a:r>
                        <a:rPr sz="1350" b="0">
                          <a:solidFill>
                            <a:srgbClr val="000000"/>
                          </a:solidFill>
                          <a:latin typeface="Calibri"/>
                          <a:ea typeface="Calibri"/>
                          <a:cs typeface="Calibri"/>
                        </a:rPr>
                        <a:t>tiltrotor electric</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350" b="0">
                          <a:solidFill>
                            <a:srgbClr val="000000"/>
                          </a:solidFill>
                          <a:latin typeface="Calibri"/>
                          <a:ea typeface="Calibri"/>
                          <a:cs typeface="Calibri"/>
                        </a:rPr>
                        <a:t>108</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3"/>
                  </a:ext>
                </a:extLst>
              </a:tr>
              <a:tr h="299357">
                <a:tc>
                  <a:txBody>
                    <a:bodyPr/>
                    <a:lstStyle/>
                    <a:p>
                      <a:r>
                        <a:rPr sz="1350" b="0">
                          <a:solidFill>
                            <a:srgbClr val="000000"/>
                          </a:solidFill>
                          <a:latin typeface="Calibri"/>
                          <a:ea typeface="Calibri"/>
                          <a:cs typeface="Calibri"/>
                        </a:rPr>
                        <a:t>helicopter unverified propulsion</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350" b="0">
                          <a:solidFill>
                            <a:srgbClr val="000000"/>
                          </a:solidFill>
                          <a:latin typeface="Calibri"/>
                          <a:ea typeface="Calibri"/>
                          <a:cs typeface="Calibri"/>
                        </a:rPr>
                        <a:t>14</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4"/>
                  </a:ext>
                </a:extLst>
              </a:tr>
              <a:tr h="299357">
                <a:tc>
                  <a:txBody>
                    <a:bodyPr/>
                    <a:lstStyle/>
                    <a:p>
                      <a:r>
                        <a:rPr sz="1350" b="0">
                          <a:solidFill>
                            <a:srgbClr val="000000"/>
                          </a:solidFill>
                          <a:latin typeface="Calibri"/>
                          <a:ea typeface="Calibri"/>
                          <a:cs typeface="Calibri"/>
                        </a:rPr>
                        <a:t>airplane unverified propulsion</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350" b="0">
                          <a:solidFill>
                            <a:srgbClr val="000000"/>
                          </a:solidFill>
                          <a:latin typeface="Calibri"/>
                          <a:ea typeface="Calibri"/>
                          <a:cs typeface="Calibri"/>
                        </a:rPr>
                        <a:t>2</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5"/>
                  </a:ext>
                </a:extLst>
              </a:tr>
              <a:tr h="299357">
                <a:tc>
                  <a:txBody>
                    <a:bodyPr/>
                    <a:lstStyle/>
                    <a:p>
                      <a:r>
                        <a:rPr sz="1350" b="0">
                          <a:solidFill>
                            <a:srgbClr val="000000"/>
                          </a:solidFill>
                          <a:latin typeface="Calibri"/>
                          <a:ea typeface="Calibri"/>
                          <a:cs typeface="Calibri"/>
                        </a:rPr>
                        <a:t>autogyro unverified propulsion</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350" b="0">
                          <a:solidFill>
                            <a:srgbClr val="000000"/>
                          </a:solidFill>
                          <a:latin typeface="Calibri"/>
                          <a:ea typeface="Calibri"/>
                          <a:cs typeface="Calibri"/>
                        </a:rPr>
                        <a:t>2</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6"/>
                  </a:ext>
                </a:extLst>
              </a:tr>
              <a:tr h="299357">
                <a:tc>
                  <a:txBody>
                    <a:bodyPr/>
                    <a:lstStyle/>
                    <a:p>
                      <a:r>
                        <a:rPr sz="1350" b="0">
                          <a:solidFill>
                            <a:srgbClr val="000000"/>
                          </a:solidFill>
                          <a:latin typeface="Calibri"/>
                          <a:ea typeface="Calibri"/>
                          <a:cs typeface="Calibri"/>
                        </a:rPr>
                        <a:t>coaxial helicopter unverified propulsion</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350" b="0">
                          <a:solidFill>
                            <a:srgbClr val="000000"/>
                          </a:solidFill>
                          <a:latin typeface="Calibri"/>
                          <a:ea typeface="Calibri"/>
                          <a:cs typeface="Calibri"/>
                        </a:rPr>
                        <a:t>2</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7"/>
                  </a:ext>
                </a:extLst>
              </a:tr>
              <a:tr h="299357">
                <a:tc>
                  <a:txBody>
                    <a:bodyPr/>
                    <a:lstStyle/>
                    <a:p>
                      <a:r>
                        <a:rPr sz="1350" b="0">
                          <a:solidFill>
                            <a:srgbClr val="000000"/>
                          </a:solidFill>
                          <a:latin typeface="Calibri"/>
                          <a:ea typeface="Calibri"/>
                          <a:cs typeface="Calibri"/>
                        </a:rPr>
                        <a:t>unclassified unverified propulsion</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350" b="0">
                          <a:solidFill>
                            <a:srgbClr val="000000"/>
                          </a:solidFill>
                          <a:latin typeface="Calibri"/>
                          <a:ea typeface="Calibri"/>
                          <a:cs typeface="Calibri"/>
                        </a:rPr>
                        <a:t>8</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8"/>
                  </a:ext>
                </a:extLst>
              </a:tr>
              <a:tr h="299357">
                <a:tc>
                  <a:txBody>
                    <a:bodyPr/>
                    <a:lstStyle/>
                    <a:p>
                      <a:r>
                        <a:rPr sz="1350" b="0">
                          <a:solidFill>
                            <a:srgbClr val="000000"/>
                          </a:solidFill>
                          <a:latin typeface="Calibri"/>
                          <a:ea typeface="Calibri"/>
                          <a:cs typeface="Calibri"/>
                        </a:rPr>
                        <a:t>multicopter unverified propulsion</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350" b="0">
                          <a:solidFill>
                            <a:srgbClr val="000000"/>
                          </a:solidFill>
                          <a:latin typeface="Calibri"/>
                          <a:ea typeface="Calibri"/>
                          <a:cs typeface="Calibri"/>
                        </a:rPr>
                        <a:t>2</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9"/>
                  </a:ext>
                </a:extLst>
              </a:tr>
              <a:tr h="299357">
                <a:tc>
                  <a:txBody>
                    <a:bodyPr/>
                    <a:lstStyle/>
                    <a:p>
                      <a:r>
                        <a:rPr sz="1350" b="0">
                          <a:solidFill>
                            <a:srgbClr val="000000"/>
                          </a:solidFill>
                          <a:latin typeface="Calibri"/>
                          <a:ea typeface="Calibri"/>
                          <a:cs typeface="Calibri"/>
                        </a:rPr>
                        <a:t>unclassified piston</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350" b="0">
                          <a:solidFill>
                            <a:srgbClr val="000000"/>
                          </a:solidFill>
                          <a:latin typeface="Calibri"/>
                          <a:ea typeface="Calibri"/>
                          <a:cs typeface="Calibri"/>
                        </a:rPr>
                        <a:t>2</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10"/>
                  </a:ext>
                </a:extLst>
              </a:tr>
              <a:tr h="299357">
                <a:tc>
                  <a:txBody>
                    <a:bodyPr/>
                    <a:lstStyle/>
                    <a:p>
                      <a:r>
                        <a:rPr sz="1350" b="0">
                          <a:solidFill>
                            <a:srgbClr val="000000"/>
                          </a:solidFill>
                          <a:latin typeface="Calibri"/>
                          <a:ea typeface="Calibri"/>
                          <a:cs typeface="Calibri"/>
                        </a:rPr>
                        <a:t>tiltrotor unverified propulsion</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350" b="0">
                          <a:solidFill>
                            <a:srgbClr val="000000"/>
                          </a:solidFill>
                          <a:latin typeface="Calibri"/>
                          <a:ea typeface="Calibri"/>
                          <a:cs typeface="Calibri"/>
                        </a:rPr>
                        <a:t>11</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11"/>
                  </a:ext>
                </a:extLst>
              </a:tr>
              <a:tr h="299357">
                <a:tc>
                  <a:txBody>
                    <a:bodyPr/>
                    <a:lstStyle/>
                    <a:p>
                      <a:r>
                        <a:rPr sz="1350" b="0">
                          <a:solidFill>
                            <a:srgbClr val="000000"/>
                          </a:solidFill>
                          <a:latin typeface="Calibri"/>
                          <a:ea typeface="Calibri"/>
                          <a:cs typeface="Calibri"/>
                        </a:rPr>
                        <a:t>tandem helicopter unverified propulsion</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350" b="0">
                          <a:solidFill>
                            <a:srgbClr val="000000"/>
                          </a:solidFill>
                          <a:latin typeface="Calibri"/>
                          <a:ea typeface="Calibri"/>
                          <a:cs typeface="Calibri"/>
                        </a:rPr>
                        <a:t>2</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12"/>
                  </a:ext>
                </a:extLst>
              </a:tr>
              <a:tr h="299357">
                <a:tc>
                  <a:txBody>
                    <a:bodyPr/>
                    <a:lstStyle/>
                    <a:p>
                      <a:r>
                        <a:rPr sz="1350" b="0">
                          <a:solidFill>
                            <a:srgbClr val="000000"/>
                          </a:solidFill>
                          <a:latin typeface="Calibri"/>
                          <a:ea typeface="Calibri"/>
                          <a:cs typeface="Calibri"/>
                        </a:rPr>
                        <a:t>lift plus cruise electric</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350" b="0">
                          <a:solidFill>
                            <a:srgbClr val="000000"/>
                          </a:solidFill>
                          <a:latin typeface="Calibri"/>
                          <a:ea typeface="Calibri"/>
                          <a:cs typeface="Calibri"/>
                        </a:rPr>
                        <a:t>5</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9779651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97319D9-0697-47D8-8FE3-68DE4E167A58}"/>
              </a:ext>
            </a:extLst>
          </p:cNvPr>
          <p:cNvSpPr>
            <a:spLocks noGrp="1"/>
          </p:cNvSpPr>
          <p:nvPr/>
        </p:nvSpPr>
        <p:spPr>
          <a:xfrm>
            <a:off x="838200" y="361950"/>
            <a:ext cx="10572750" cy="495300"/>
          </a:xfrm>
          <a:prstGeom prst="rect">
            <a:avLst/>
          </a:prstGeom>
          <a:noFill/>
          <a:ln w="0">
            <a:noFill/>
          </a:ln>
        </p:spPr>
        <p:txBody>
          <a:bodyPr lIns="0" tIns="0" rIns="0" bIns="0"/>
          <a:lstStyle>
            <a:defPPr>
              <a:defRPr sz="2400" b="1">
                <a:solidFill>
                  <a:srgbClr val="000000"/>
                </a:solidFill>
                <a:latin typeface="Calibri"/>
                <a:ea typeface="Calibri"/>
                <a:cs typeface="Calibri"/>
              </a:defRPr>
            </a:defPPr>
            <a:lvl1pPr>
              <a:defRPr sz="2400" b="1">
                <a:solidFill>
                  <a:srgbClr val="000000"/>
                </a:solidFill>
                <a:latin typeface="Calibri"/>
                <a:ea typeface="Calibri"/>
                <a:cs typeface="Calibri"/>
              </a:defRPr>
            </a:lvl1pPr>
            <a:lvl2pPr>
              <a:defRPr sz="2400" b="1">
                <a:solidFill>
                  <a:srgbClr val="000000"/>
                </a:solidFill>
                <a:latin typeface="Calibri"/>
                <a:ea typeface="Calibri"/>
                <a:cs typeface="Calibri"/>
              </a:defRPr>
            </a:lvl2pPr>
            <a:lvl3pPr>
              <a:defRPr sz="2400" b="1">
                <a:solidFill>
                  <a:srgbClr val="000000"/>
                </a:solidFill>
                <a:latin typeface="Calibri"/>
                <a:ea typeface="Calibri"/>
                <a:cs typeface="Calibri"/>
              </a:defRPr>
            </a:lvl3pPr>
            <a:lvl4pPr>
              <a:defRPr sz="2400" b="1">
                <a:solidFill>
                  <a:srgbClr val="000000"/>
                </a:solidFill>
                <a:latin typeface="Calibri"/>
                <a:ea typeface="Calibri"/>
                <a:cs typeface="Calibri"/>
              </a:defRPr>
            </a:lvl4pPr>
            <a:lvl5pPr>
              <a:defRPr sz="2400" b="1">
                <a:solidFill>
                  <a:srgbClr val="000000"/>
                </a:solidFill>
                <a:latin typeface="Calibri"/>
                <a:ea typeface="Calibri"/>
                <a:cs typeface="Calibri"/>
              </a:defRPr>
            </a:lvl5pPr>
            <a:lvl6pPr>
              <a:defRPr sz="2400" b="1">
                <a:solidFill>
                  <a:srgbClr val="000000"/>
                </a:solidFill>
                <a:latin typeface="Calibri"/>
                <a:ea typeface="Calibri"/>
                <a:cs typeface="Calibri"/>
              </a:defRPr>
            </a:lvl6pPr>
            <a:lvl7pPr>
              <a:defRPr sz="2400" b="1">
                <a:solidFill>
                  <a:srgbClr val="000000"/>
                </a:solidFill>
                <a:latin typeface="Calibri"/>
                <a:ea typeface="Calibri"/>
                <a:cs typeface="Calibri"/>
              </a:defRPr>
            </a:lvl7pPr>
            <a:lvl8pPr>
              <a:defRPr sz="2400" b="1">
                <a:solidFill>
                  <a:srgbClr val="000000"/>
                </a:solidFill>
                <a:latin typeface="Calibri"/>
                <a:ea typeface="Calibri"/>
                <a:cs typeface="Calibri"/>
              </a:defRPr>
            </a:lvl8pPr>
            <a:lvl9pPr>
              <a:defRPr sz="2400" b="1">
                <a:solidFill>
                  <a:srgbClr val="000000"/>
                </a:solidFill>
                <a:latin typeface="Calibri"/>
                <a:ea typeface="Calibri"/>
                <a:cs typeface="Calibri"/>
              </a:defRPr>
            </a:lvl9pPr>
          </a:lstStyle>
          <a:p>
            <a:pPr>
              <a:defRPr sz="2400" b="1">
                <a:solidFill>
                  <a:srgbClr val="000000"/>
                </a:solidFill>
                <a:latin typeface="Calibri"/>
                <a:ea typeface="Calibri"/>
                <a:cs typeface="Calibri"/>
              </a:defRPr>
            </a:pPr>
            <a:r>
              <a:rPr sz="2400" b="1">
                <a:solidFill>
                  <a:srgbClr val="000000"/>
                </a:solidFill>
                <a:latin typeface="Calibri"/>
                <a:ea typeface="Calibri"/>
                <a:cs typeface="Calibri"/>
              </a:rPr>
              <a:t>Complete configuration ledger (continued)</a:t>
            </a:r>
          </a:p>
        </p:txBody>
      </p:sp>
      <p:sp>
        <p:nvSpPr>
          <p:cNvPr id="2" name="Rectangle 1">
            <a:extLst>
              <a:ext uri="{FF2B5EF4-FFF2-40B4-BE49-F238E27FC236}">
                <a16:creationId xmlns:a16="http://schemas.microsoft.com/office/drawing/2014/main" id="{DD033802-F166-4B9E-AB63-D5D917C609CA}"/>
              </a:ext>
            </a:extLst>
          </p:cNvPr>
          <p:cNvSpPr>
            <a:spLocks noGrp="1"/>
          </p:cNvSpPr>
          <p:nvPr/>
        </p:nvSpPr>
        <p:spPr>
          <a:xfrm>
            <a:off x="476250" y="1028700"/>
            <a:ext cx="11239500" cy="590550"/>
          </a:xfrm>
          <a:prstGeom prst="rect">
            <a:avLst/>
          </a:prstGeom>
          <a:noFill/>
          <a:ln w="0">
            <a:noFill/>
          </a:ln>
        </p:spPr>
        <p:txBody>
          <a:bodyPr lIns="0" tIns="0" rIns="0" bIns="0"/>
          <a:lstStyle>
            <a:defPPr>
              <a:defRPr sz="1575" b="0">
                <a:solidFill>
                  <a:srgbClr val="333333"/>
                </a:solidFill>
                <a:latin typeface="Calibri"/>
                <a:ea typeface="Calibri"/>
                <a:cs typeface="Calibri"/>
              </a:defRPr>
            </a:defPPr>
            <a:lvl1pPr>
              <a:defRPr sz="1575" b="0">
                <a:solidFill>
                  <a:srgbClr val="333333"/>
                </a:solidFill>
                <a:latin typeface="Calibri"/>
                <a:ea typeface="Calibri"/>
                <a:cs typeface="Calibri"/>
              </a:defRPr>
            </a:lvl1pPr>
            <a:lvl2pPr>
              <a:defRPr sz="1575" b="0">
                <a:solidFill>
                  <a:srgbClr val="333333"/>
                </a:solidFill>
                <a:latin typeface="Calibri"/>
                <a:ea typeface="Calibri"/>
                <a:cs typeface="Calibri"/>
              </a:defRPr>
            </a:lvl2pPr>
            <a:lvl3pPr>
              <a:defRPr sz="1575" b="0">
                <a:solidFill>
                  <a:srgbClr val="333333"/>
                </a:solidFill>
                <a:latin typeface="Calibri"/>
                <a:ea typeface="Calibri"/>
                <a:cs typeface="Calibri"/>
              </a:defRPr>
            </a:lvl3pPr>
            <a:lvl4pPr>
              <a:defRPr sz="1575" b="0">
                <a:solidFill>
                  <a:srgbClr val="333333"/>
                </a:solidFill>
                <a:latin typeface="Calibri"/>
                <a:ea typeface="Calibri"/>
                <a:cs typeface="Calibri"/>
              </a:defRPr>
            </a:lvl4pPr>
            <a:lvl5pPr>
              <a:defRPr sz="1575" b="0">
                <a:solidFill>
                  <a:srgbClr val="333333"/>
                </a:solidFill>
                <a:latin typeface="Calibri"/>
                <a:ea typeface="Calibri"/>
                <a:cs typeface="Calibri"/>
              </a:defRPr>
            </a:lvl5pPr>
            <a:lvl6pPr>
              <a:defRPr sz="1575" b="0">
                <a:solidFill>
                  <a:srgbClr val="333333"/>
                </a:solidFill>
                <a:latin typeface="Calibri"/>
                <a:ea typeface="Calibri"/>
                <a:cs typeface="Calibri"/>
              </a:defRPr>
            </a:lvl6pPr>
            <a:lvl7pPr>
              <a:defRPr sz="1575" b="0">
                <a:solidFill>
                  <a:srgbClr val="333333"/>
                </a:solidFill>
                <a:latin typeface="Calibri"/>
                <a:ea typeface="Calibri"/>
                <a:cs typeface="Calibri"/>
              </a:defRPr>
            </a:lvl7pPr>
            <a:lvl8pPr>
              <a:defRPr sz="1575" b="0">
                <a:solidFill>
                  <a:srgbClr val="333333"/>
                </a:solidFill>
                <a:latin typeface="Calibri"/>
                <a:ea typeface="Calibri"/>
                <a:cs typeface="Calibri"/>
              </a:defRPr>
            </a:lvl8pPr>
            <a:lvl9pPr>
              <a:defRPr sz="1575" b="0">
                <a:solidFill>
                  <a:srgbClr val="333333"/>
                </a:solidFill>
                <a:latin typeface="Calibri"/>
                <a:ea typeface="Calibri"/>
                <a:cs typeface="Calibri"/>
              </a:defRPr>
            </a:lvl9pPr>
          </a:lstStyle>
          <a:p>
            <a:pPr>
              <a:defRPr sz="1575" b="0">
                <a:solidFill>
                  <a:srgbClr val="333333"/>
                </a:solidFill>
                <a:latin typeface="Calibri"/>
                <a:ea typeface="Calibri"/>
                <a:cs typeface="Calibri"/>
              </a:defRPr>
            </a:pPr>
            <a:r>
              <a:rPr sz="1575" b="0">
                <a:solidFill>
                  <a:srgbClr val="333333"/>
                </a:solidFill>
                <a:latin typeface="Calibri"/>
                <a:ea typeface="Calibri"/>
                <a:cs typeface="Calibri"/>
              </a:rPr>
              <a:t>The two L+C turbine/electric aliases remain separate to preserve historical record identity. [A, B]</a:t>
            </a:r>
          </a:p>
        </p:txBody>
      </p:sp>
      <p:sp>
        <p:nvSpPr>
          <p:cNvPr id="3" name="Rectangle 2">
            <a:extLst>
              <a:ext uri="{FF2B5EF4-FFF2-40B4-BE49-F238E27FC236}">
                <a16:creationId xmlns:a16="http://schemas.microsoft.com/office/drawing/2014/main" id="{898BC200-7967-4EAC-B91D-FC33687CE290}"/>
              </a:ext>
            </a:extLst>
          </p:cNvPr>
          <p:cNvSpPr>
            <a:spLocks noGrp="1"/>
          </p:cNvSpPr>
          <p:nvPr/>
        </p:nvSpPr>
        <p:spPr>
          <a:xfrm>
            <a:off x="476250" y="6076950"/>
            <a:ext cx="11191875" cy="619125"/>
          </a:xfrm>
          <a:prstGeom prst="rect">
            <a:avLst/>
          </a:prstGeom>
          <a:noFill/>
          <a:ln w="0">
            <a:noFill/>
          </a:ln>
        </p:spPr>
        <p:txBody>
          <a:bodyPr lIns="0" tIns="0" rIns="0" bIns="0"/>
          <a:lstStyle>
            <a:defPPr>
              <a:defRPr sz="1050" b="0">
                <a:solidFill>
                  <a:srgbClr val="333333"/>
                </a:solidFill>
                <a:latin typeface="Calibri"/>
                <a:ea typeface="Calibri"/>
                <a:cs typeface="Calibri"/>
              </a:defRPr>
            </a:defPPr>
            <a:lvl1pPr>
              <a:defRPr sz="1050" b="0">
                <a:solidFill>
                  <a:srgbClr val="333333"/>
                </a:solidFill>
                <a:latin typeface="Calibri"/>
                <a:ea typeface="Calibri"/>
                <a:cs typeface="Calibri"/>
              </a:defRPr>
            </a:lvl1pPr>
            <a:lvl2pPr>
              <a:defRPr sz="1050" b="0">
                <a:solidFill>
                  <a:srgbClr val="333333"/>
                </a:solidFill>
                <a:latin typeface="Calibri"/>
                <a:ea typeface="Calibri"/>
                <a:cs typeface="Calibri"/>
              </a:defRPr>
            </a:lvl2pPr>
            <a:lvl3pPr>
              <a:defRPr sz="1050" b="0">
                <a:solidFill>
                  <a:srgbClr val="333333"/>
                </a:solidFill>
                <a:latin typeface="Calibri"/>
                <a:ea typeface="Calibri"/>
                <a:cs typeface="Calibri"/>
              </a:defRPr>
            </a:lvl3pPr>
            <a:lvl4pPr>
              <a:defRPr sz="1050" b="0">
                <a:solidFill>
                  <a:srgbClr val="333333"/>
                </a:solidFill>
                <a:latin typeface="Calibri"/>
                <a:ea typeface="Calibri"/>
                <a:cs typeface="Calibri"/>
              </a:defRPr>
            </a:lvl4pPr>
            <a:lvl5pPr>
              <a:defRPr sz="1050" b="0">
                <a:solidFill>
                  <a:srgbClr val="333333"/>
                </a:solidFill>
                <a:latin typeface="Calibri"/>
                <a:ea typeface="Calibri"/>
                <a:cs typeface="Calibri"/>
              </a:defRPr>
            </a:lvl5pPr>
            <a:lvl6pPr>
              <a:defRPr sz="1050" b="0">
                <a:solidFill>
                  <a:srgbClr val="333333"/>
                </a:solidFill>
                <a:latin typeface="Calibri"/>
                <a:ea typeface="Calibri"/>
                <a:cs typeface="Calibri"/>
              </a:defRPr>
            </a:lvl6pPr>
            <a:lvl7pPr>
              <a:defRPr sz="1050" b="0">
                <a:solidFill>
                  <a:srgbClr val="333333"/>
                </a:solidFill>
                <a:latin typeface="Calibri"/>
                <a:ea typeface="Calibri"/>
                <a:cs typeface="Calibri"/>
              </a:defRPr>
            </a:lvl7pPr>
            <a:lvl8pPr>
              <a:defRPr sz="1050" b="0">
                <a:solidFill>
                  <a:srgbClr val="333333"/>
                </a:solidFill>
                <a:latin typeface="Calibri"/>
                <a:ea typeface="Calibri"/>
                <a:cs typeface="Calibri"/>
              </a:defRPr>
            </a:lvl8pPr>
            <a:lvl9pPr>
              <a:defRPr sz="1050" b="0">
                <a:solidFill>
                  <a:srgbClr val="333333"/>
                </a:solidFill>
                <a:latin typeface="Calibri"/>
                <a:ea typeface="Calibri"/>
                <a:cs typeface="Calibri"/>
              </a:defRPr>
            </a:lvl9pPr>
          </a:lstStyle>
          <a:p>
            <a:pPr>
              <a:defRPr sz="1050" b="0">
                <a:solidFill>
                  <a:srgbClr val="333333"/>
                </a:solidFill>
                <a:latin typeface="Calibri"/>
                <a:ea typeface="Calibri"/>
                <a:cs typeface="Calibri"/>
              </a:defRPr>
            </a:pPr>
            <a:r>
              <a:rPr sz="1050" b="0">
                <a:solidFill>
                  <a:srgbClr val="333333"/>
                </a:solidFill>
                <a:latin typeface="Calibri"/>
                <a:ea typeface="Calibri"/>
                <a:cs typeface="Calibri"/>
              </a:rPr>
              <a:t>[A] NDARC execution archive, 28 Oct 2026: organized_runs/inventory.json; run_logs/*.jsonl; original runs/ inputs and outputs.</a:t>
            </a:r>
          </a:p>
          <a:p>
            <a:pPr>
              <a:defRPr sz="1050" b="0">
                <a:solidFill>
                  <a:srgbClr val="333333"/>
                </a:solidFill>
                <a:latin typeface="Calibri"/>
                <a:ea typeface="Calibri"/>
                <a:cs typeface="Calibri"/>
              </a:defRPr>
            </a:pPr>
            <a:r>
              <a:rPr sz="1050" b="0">
                <a:solidFill>
                  <a:srgbClr val="333333"/>
                </a:solidFill>
                <a:latin typeface="Calibri"/>
                <a:ea typeface="Calibri"/>
                <a:cs typeface="Calibri"/>
              </a:rPr>
              <a:t>[B] design-space-evidence/campaign-design-space.json and all-run-design-points.csv (this deck folder). Exact marginal sets, plans, input hashes and status.</a:t>
            </a:r>
          </a:p>
        </p:txBody>
      </p:sp>
      <p:sp>
        <p:nvSpPr>
          <p:cNvPr id="4" name="Rectangle 3">
            <a:extLst>
              <a:ext uri="{FF2B5EF4-FFF2-40B4-BE49-F238E27FC236}">
                <a16:creationId xmlns:a16="http://schemas.microsoft.com/office/drawing/2014/main" id="{E5EA3762-6411-496B-9A63-616E4562BA21}"/>
              </a:ext>
            </a:extLst>
          </p:cNvPr>
          <p:cNvSpPr>
            <a:spLocks noGrp="1"/>
          </p:cNvSpPr>
          <p:nvPr/>
        </p:nvSpPr>
        <p:spPr>
          <a:xfrm>
            <a:off x="11430000" y="6553200"/>
            <a:ext cx="333375" cy="209550"/>
          </a:xfrm>
          <a:prstGeom prst="rect">
            <a:avLst/>
          </a:prstGeom>
          <a:noFill/>
          <a:ln w="0">
            <a:noFill/>
          </a:ln>
        </p:spPr>
        <p:txBody>
          <a:bodyPr lIns="0" tIns="0" rIns="0" bIns="0"/>
          <a:lstStyle>
            <a:defPPr>
              <a:defRPr sz="1125" b="0">
                <a:solidFill>
                  <a:srgbClr val="000000"/>
                </a:solidFill>
                <a:latin typeface="Calibri"/>
                <a:ea typeface="Calibri"/>
                <a:cs typeface="Calibri"/>
              </a:defRPr>
            </a:defPPr>
            <a:lvl1pPr>
              <a:defRPr sz="1125" b="0">
                <a:solidFill>
                  <a:srgbClr val="000000"/>
                </a:solidFill>
                <a:latin typeface="Calibri"/>
                <a:ea typeface="Calibri"/>
                <a:cs typeface="Calibri"/>
              </a:defRPr>
            </a:lvl1pPr>
            <a:lvl2pPr>
              <a:defRPr sz="1125" b="0">
                <a:solidFill>
                  <a:srgbClr val="000000"/>
                </a:solidFill>
                <a:latin typeface="Calibri"/>
                <a:ea typeface="Calibri"/>
                <a:cs typeface="Calibri"/>
              </a:defRPr>
            </a:lvl2pPr>
            <a:lvl3pPr>
              <a:defRPr sz="1125" b="0">
                <a:solidFill>
                  <a:srgbClr val="000000"/>
                </a:solidFill>
                <a:latin typeface="Calibri"/>
                <a:ea typeface="Calibri"/>
                <a:cs typeface="Calibri"/>
              </a:defRPr>
            </a:lvl3pPr>
            <a:lvl4pPr>
              <a:defRPr sz="1125" b="0">
                <a:solidFill>
                  <a:srgbClr val="000000"/>
                </a:solidFill>
                <a:latin typeface="Calibri"/>
                <a:ea typeface="Calibri"/>
                <a:cs typeface="Calibri"/>
              </a:defRPr>
            </a:lvl4pPr>
            <a:lvl5pPr>
              <a:defRPr sz="1125" b="0">
                <a:solidFill>
                  <a:srgbClr val="000000"/>
                </a:solidFill>
                <a:latin typeface="Calibri"/>
                <a:ea typeface="Calibri"/>
                <a:cs typeface="Calibri"/>
              </a:defRPr>
            </a:lvl5pPr>
            <a:lvl6pPr>
              <a:defRPr sz="1125" b="0">
                <a:solidFill>
                  <a:srgbClr val="000000"/>
                </a:solidFill>
                <a:latin typeface="Calibri"/>
                <a:ea typeface="Calibri"/>
                <a:cs typeface="Calibri"/>
              </a:defRPr>
            </a:lvl6pPr>
            <a:lvl7pPr>
              <a:defRPr sz="1125" b="0">
                <a:solidFill>
                  <a:srgbClr val="000000"/>
                </a:solidFill>
                <a:latin typeface="Calibri"/>
                <a:ea typeface="Calibri"/>
                <a:cs typeface="Calibri"/>
              </a:defRPr>
            </a:lvl7pPr>
            <a:lvl8pPr>
              <a:defRPr sz="1125" b="0">
                <a:solidFill>
                  <a:srgbClr val="000000"/>
                </a:solidFill>
                <a:latin typeface="Calibri"/>
                <a:ea typeface="Calibri"/>
                <a:cs typeface="Calibri"/>
              </a:defRPr>
            </a:lvl8pPr>
            <a:lvl9pPr>
              <a:defRPr sz="1125" b="0">
                <a:solidFill>
                  <a:srgbClr val="000000"/>
                </a:solidFill>
                <a:latin typeface="Calibri"/>
                <a:ea typeface="Calibri"/>
                <a:cs typeface="Calibri"/>
              </a:defRPr>
            </a:lvl9pPr>
          </a:lstStyle>
          <a:p>
            <a:pPr>
              <a:defRPr sz="1125" b="0">
                <a:solidFill>
                  <a:srgbClr val="000000"/>
                </a:solidFill>
                <a:latin typeface="Calibri"/>
                <a:ea typeface="Calibri"/>
                <a:cs typeface="Calibri"/>
              </a:defRPr>
            </a:pPr>
            <a:r>
              <a:rPr sz="1125" b="0">
                <a:solidFill>
                  <a:srgbClr val="000000"/>
                </a:solidFill>
                <a:latin typeface="Calibri"/>
                <a:ea typeface="Calibri"/>
                <a:cs typeface="Calibri"/>
              </a:rPr>
              <a:t>60</a:t>
            </a:r>
          </a:p>
        </p:txBody>
      </p:sp>
      <p:graphicFrame>
        <p:nvGraphicFramePr>
          <p:cNvPr id="5" name="Table 4">
            <a:extLst>
              <a:ext uri="{FF2B5EF4-FFF2-40B4-BE49-F238E27FC236}">
                <a16:creationId xmlns:a16="http://schemas.microsoft.com/office/drawing/2014/main" id="{B52B1C77-EB55-400E-8D56-F2DF8C47D6E4}"/>
              </a:ext>
            </a:extLst>
          </p:cNvPr>
          <p:cNvGraphicFramePr/>
          <p:nvPr/>
        </p:nvGraphicFramePr>
        <p:xfrm>
          <a:off x="476250" y="1666875"/>
          <a:ext cx="11239500" cy="4191000"/>
        </p:xfrm>
        <a:graphic>
          <a:graphicData uri="http://schemas.openxmlformats.org/drawingml/2006/table">
            <a:tbl>
              <a:tblPr/>
              <a:tblGrid>
                <a:gridCol w="95250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tblGrid>
              <a:tr h="299357">
                <a:tc>
                  <a:txBody>
                    <a:bodyPr/>
                    <a:lstStyle/>
                    <a:p>
                      <a:r>
                        <a:rPr sz="1350" b="1">
                          <a:solidFill>
                            <a:srgbClr val="000000"/>
                          </a:solidFill>
                          <a:latin typeface="Calibri"/>
                          <a:ea typeface="Calibri"/>
                          <a:cs typeface="Calibri"/>
                        </a:rPr>
                        <a:t>Configuration / propulsion label</a:t>
                      </a:r>
                    </a:p>
                  </a:txBody>
                  <a:tcPr>
                    <a:lnL w="7620">
                      <a:solidFill>
                        <a:srgbClr val="CCCCCC"/>
                      </a:solidFill>
                    </a:lnL>
                    <a:lnR w="7620">
                      <a:solidFill>
                        <a:srgbClr val="CCCCCC"/>
                      </a:solidFill>
                    </a:lnR>
                    <a:lnT w="7620">
                      <a:solidFill>
                        <a:srgbClr val="CCCCCC"/>
                      </a:solidFill>
                    </a:lnT>
                    <a:lnB w="7620">
                      <a:solidFill>
                        <a:srgbClr val="CCCCCC"/>
                      </a:solidFill>
                    </a:lnB>
                    <a:solidFill>
                      <a:srgbClr val="D9D9D9"/>
                    </a:solidFill>
                  </a:tcPr>
                </a:tc>
                <a:tc>
                  <a:txBody>
                    <a:bodyPr/>
                    <a:lstStyle/>
                    <a:p>
                      <a:r>
                        <a:rPr sz="1350" b="1">
                          <a:solidFill>
                            <a:srgbClr val="000000"/>
                          </a:solidFill>
                          <a:latin typeface="Calibri"/>
                          <a:ea typeface="Calibri"/>
                          <a:cs typeface="Calibri"/>
                        </a:rPr>
                        <a:t>Folders</a:t>
                      </a:r>
                    </a:p>
                  </a:txBody>
                  <a:tcPr>
                    <a:lnL w="7620" cap="flat" cmpd="sng" algn="ctr">
                      <a:solidFill>
                        <a:srgbClr val="CCCCCC"/>
                      </a:solidFill>
                      <a:prstDash val="solid"/>
                      <a:round/>
                      <a:headEnd type="none" w="med" len="med"/>
                      <a:tailEnd type="none" w="med" len="med"/>
                    </a:lnL>
                    <a:lnR w="7620">
                      <a:solidFill>
                        <a:srgbClr val="CCCCCC"/>
                      </a:solidFill>
                    </a:lnR>
                    <a:lnT w="7620">
                      <a:solidFill>
                        <a:srgbClr val="CCCCCC"/>
                      </a:solidFill>
                    </a:lnT>
                    <a:lnB w="7620">
                      <a:solidFill>
                        <a:srgbClr val="CCCCCC"/>
                      </a:solidFill>
                    </a:lnB>
                    <a:solidFill>
                      <a:srgbClr val="D9D9D9"/>
                    </a:solidFill>
                  </a:tcPr>
                </a:tc>
                <a:extLst>
                  <a:ext uri="{0D108BD9-81ED-4DB2-BD59-A6C34878D82A}">
                    <a16:rowId xmlns:a16="http://schemas.microsoft.com/office/drawing/2014/main" val="10000"/>
                  </a:ext>
                </a:extLst>
              </a:tr>
              <a:tr h="299357">
                <a:tc>
                  <a:txBody>
                    <a:bodyPr/>
                    <a:lstStyle/>
                    <a:p>
                      <a:r>
                        <a:rPr sz="1350" b="0">
                          <a:solidFill>
                            <a:srgbClr val="000000"/>
                          </a:solidFill>
                          <a:latin typeface="Calibri"/>
                          <a:ea typeface="Calibri"/>
                          <a:cs typeface="Calibri"/>
                        </a:rPr>
                        <a:t>lift plus cruise turboshaft electric</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350" b="0">
                          <a:solidFill>
                            <a:srgbClr val="000000"/>
                          </a:solidFill>
                          <a:latin typeface="Calibri"/>
                          <a:ea typeface="Calibri"/>
                          <a:cs typeface="Calibri"/>
                        </a:rPr>
                        <a:t>3</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1"/>
                  </a:ext>
                </a:extLst>
              </a:tr>
              <a:tr h="299357">
                <a:tc>
                  <a:txBody>
                    <a:bodyPr/>
                    <a:lstStyle/>
                    <a:p>
                      <a:r>
                        <a:rPr sz="1350" b="0">
                          <a:solidFill>
                            <a:srgbClr val="000000"/>
                          </a:solidFill>
                          <a:latin typeface="Calibri"/>
                          <a:ea typeface="Calibri"/>
                          <a:cs typeface="Calibri"/>
                        </a:rPr>
                        <a:t>helicopter electric</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350" b="0">
                          <a:solidFill>
                            <a:srgbClr val="000000"/>
                          </a:solidFill>
                          <a:latin typeface="Calibri"/>
                          <a:ea typeface="Calibri"/>
                          <a:cs typeface="Calibri"/>
                        </a:rPr>
                        <a:t>3</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2"/>
                  </a:ext>
                </a:extLst>
              </a:tr>
              <a:tr h="299357">
                <a:tc>
                  <a:txBody>
                    <a:bodyPr/>
                    <a:lstStyle/>
                    <a:p>
                      <a:r>
                        <a:rPr sz="1350" b="0">
                          <a:solidFill>
                            <a:srgbClr val="000000"/>
                          </a:solidFill>
                          <a:latin typeface="Calibri"/>
                          <a:ea typeface="Calibri"/>
                          <a:cs typeface="Calibri"/>
                        </a:rPr>
                        <a:t>quadrotor turboshaft</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350" b="0">
                          <a:solidFill>
                            <a:srgbClr val="000000"/>
                          </a:solidFill>
                          <a:latin typeface="Calibri"/>
                          <a:ea typeface="Calibri"/>
                          <a:cs typeface="Calibri"/>
                        </a:rPr>
                        <a:t>3</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3"/>
                  </a:ext>
                </a:extLst>
              </a:tr>
              <a:tr h="299357">
                <a:tc>
                  <a:txBody>
                    <a:bodyPr/>
                    <a:lstStyle/>
                    <a:p>
                      <a:r>
                        <a:rPr sz="1350" b="0">
                          <a:solidFill>
                            <a:srgbClr val="000000"/>
                          </a:solidFill>
                          <a:latin typeface="Calibri"/>
                          <a:ea typeface="Calibri"/>
                          <a:cs typeface="Calibri"/>
                        </a:rPr>
                        <a:t>quadrotor electric</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350" b="0">
                          <a:solidFill>
                            <a:srgbClr val="000000"/>
                          </a:solidFill>
                          <a:latin typeface="Calibri"/>
                          <a:ea typeface="Calibri"/>
                          <a:cs typeface="Calibri"/>
                        </a:rPr>
                        <a:t>3</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4"/>
                  </a:ext>
                </a:extLst>
              </a:tr>
              <a:tr h="299357">
                <a:tc>
                  <a:txBody>
                    <a:bodyPr/>
                    <a:lstStyle/>
                    <a:p>
                      <a:r>
                        <a:rPr sz="1350" b="0">
                          <a:solidFill>
                            <a:srgbClr val="000000"/>
                          </a:solidFill>
                          <a:latin typeface="Calibri"/>
                          <a:ea typeface="Calibri"/>
                          <a:cs typeface="Calibri"/>
                        </a:rPr>
                        <a:t>side by side turboshaft</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350" b="0">
                          <a:solidFill>
                            <a:srgbClr val="000000"/>
                          </a:solidFill>
                          <a:latin typeface="Calibri"/>
                          <a:ea typeface="Calibri"/>
                          <a:cs typeface="Calibri"/>
                        </a:rPr>
                        <a:t>3</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5"/>
                  </a:ext>
                </a:extLst>
              </a:tr>
              <a:tr h="299357">
                <a:tc>
                  <a:txBody>
                    <a:bodyPr/>
                    <a:lstStyle/>
                    <a:p>
                      <a:r>
                        <a:rPr sz="1350" b="0">
                          <a:solidFill>
                            <a:srgbClr val="000000"/>
                          </a:solidFill>
                          <a:latin typeface="Calibri"/>
                          <a:ea typeface="Calibri"/>
                          <a:cs typeface="Calibri"/>
                        </a:rPr>
                        <a:t>side by side electric</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350" b="0">
                          <a:solidFill>
                            <a:srgbClr val="000000"/>
                          </a:solidFill>
                          <a:latin typeface="Calibri"/>
                          <a:ea typeface="Calibri"/>
                          <a:cs typeface="Calibri"/>
                        </a:rPr>
                        <a:t>3</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6"/>
                  </a:ext>
                </a:extLst>
              </a:tr>
              <a:tr h="299357">
                <a:tc>
                  <a:txBody>
                    <a:bodyPr/>
                    <a:lstStyle/>
                    <a:p>
                      <a:r>
                        <a:rPr sz="1350" b="0">
                          <a:solidFill>
                            <a:srgbClr val="000000"/>
                          </a:solidFill>
                          <a:latin typeface="Calibri"/>
                          <a:ea typeface="Calibri"/>
                          <a:cs typeface="Calibri"/>
                        </a:rPr>
                        <a:t>tiltwing unverified propulsion</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350" b="0">
                          <a:solidFill>
                            <a:srgbClr val="000000"/>
                          </a:solidFill>
                          <a:latin typeface="Calibri"/>
                          <a:ea typeface="Calibri"/>
                          <a:cs typeface="Calibri"/>
                        </a:rPr>
                        <a:t>8</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7"/>
                  </a:ext>
                </a:extLst>
              </a:tr>
              <a:tr h="299357">
                <a:tc>
                  <a:txBody>
                    <a:bodyPr/>
                    <a:lstStyle/>
                    <a:p>
                      <a:r>
                        <a:rPr sz="1350" b="0">
                          <a:solidFill>
                            <a:srgbClr val="000000"/>
                          </a:solidFill>
                          <a:latin typeface="Calibri"/>
                          <a:ea typeface="Calibri"/>
                          <a:cs typeface="Calibri"/>
                        </a:rPr>
                        <a:t>tiltrotor piston</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350" b="0">
                          <a:solidFill>
                            <a:srgbClr val="000000"/>
                          </a:solidFill>
                          <a:latin typeface="Calibri"/>
                          <a:ea typeface="Calibri"/>
                          <a:cs typeface="Calibri"/>
                        </a:rPr>
                        <a:t>651</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8"/>
                  </a:ext>
                </a:extLst>
              </a:tr>
              <a:tr h="299357">
                <a:tc>
                  <a:txBody>
                    <a:bodyPr/>
                    <a:lstStyle/>
                    <a:p>
                      <a:r>
                        <a:rPr sz="1350" b="0">
                          <a:solidFill>
                            <a:srgbClr val="000000"/>
                          </a:solidFill>
                          <a:latin typeface="Calibri"/>
                          <a:ea typeface="Calibri"/>
                          <a:cs typeface="Calibri"/>
                        </a:rPr>
                        <a:t>lift plus cruise piston electric</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350" b="0">
                          <a:solidFill>
                            <a:srgbClr val="000000"/>
                          </a:solidFill>
                          <a:latin typeface="Calibri"/>
                          <a:ea typeface="Calibri"/>
                          <a:cs typeface="Calibri"/>
                        </a:rPr>
                        <a:t>4834</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9"/>
                  </a:ext>
                </a:extLst>
              </a:tr>
              <a:tr h="299357">
                <a:tc>
                  <a:txBody>
                    <a:bodyPr/>
                    <a:lstStyle/>
                    <a:p>
                      <a:r>
                        <a:rPr sz="1350" b="0">
                          <a:solidFill>
                            <a:srgbClr val="000000"/>
                          </a:solidFill>
                          <a:latin typeface="Calibri"/>
                          <a:ea typeface="Calibri"/>
                          <a:cs typeface="Calibri"/>
                        </a:rPr>
                        <a:t>tiltrotor turboelectric</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350" b="0">
                          <a:solidFill>
                            <a:srgbClr val="000000"/>
                          </a:solidFill>
                          <a:latin typeface="Calibri"/>
                          <a:ea typeface="Calibri"/>
                          <a:cs typeface="Calibri"/>
                        </a:rPr>
                        <a:t>136</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10"/>
                  </a:ext>
                </a:extLst>
              </a:tr>
              <a:tr h="299357">
                <a:tc>
                  <a:txBody>
                    <a:bodyPr/>
                    <a:lstStyle/>
                    <a:p>
                      <a:r>
                        <a:rPr sz="1350" b="0">
                          <a:solidFill>
                            <a:srgbClr val="000000"/>
                          </a:solidFill>
                          <a:latin typeface="Calibri"/>
                          <a:ea typeface="Calibri"/>
                          <a:cs typeface="Calibri"/>
                        </a:rPr>
                        <a:t>lift plus cruise turboelectric</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350" b="0">
                          <a:solidFill>
                            <a:srgbClr val="000000"/>
                          </a:solidFill>
                          <a:latin typeface="Calibri"/>
                          <a:ea typeface="Calibri"/>
                          <a:cs typeface="Calibri"/>
                        </a:rPr>
                        <a:t>4</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11"/>
                  </a:ext>
                </a:extLst>
              </a:tr>
              <a:tr h="299357">
                <a:tc>
                  <a:txBody>
                    <a:bodyPr/>
                    <a:lstStyle/>
                    <a:p>
                      <a:r>
                        <a:rPr sz="1350" b="0">
                          <a:solidFill>
                            <a:srgbClr val="000000"/>
                          </a:solidFill>
                          <a:latin typeface="Calibri"/>
                          <a:ea typeface="Calibri"/>
                          <a:cs typeface="Calibri"/>
                        </a:rPr>
                        <a:t>tiltrotor rotary</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350" b="0">
                          <a:solidFill>
                            <a:srgbClr val="000000"/>
                          </a:solidFill>
                          <a:latin typeface="Calibri"/>
                          <a:ea typeface="Calibri"/>
                          <a:cs typeface="Calibri"/>
                        </a:rPr>
                        <a:t>16</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12"/>
                  </a:ext>
                </a:extLst>
              </a:tr>
              <a:tr h="299357">
                <a:tc>
                  <a:txBody>
                    <a:bodyPr/>
                    <a:lstStyle/>
                    <a:p>
                      <a:r>
                        <a:rPr sz="1350" b="0">
                          <a:solidFill>
                            <a:srgbClr val="000000"/>
                          </a:solidFill>
                          <a:latin typeface="Calibri"/>
                          <a:ea typeface="Calibri"/>
                          <a:cs typeface="Calibri"/>
                        </a:rPr>
                        <a:t>tiltrotor rotary electric</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350" b="0">
                          <a:solidFill>
                            <a:srgbClr val="000000"/>
                          </a:solidFill>
                          <a:latin typeface="Calibri"/>
                          <a:ea typeface="Calibri"/>
                          <a:cs typeface="Calibri"/>
                        </a:rPr>
                        <a:t>14</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294728614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D24EEF7-F99A-4B67-AA1D-B5D5412D114E}"/>
              </a:ext>
            </a:extLst>
          </p:cNvPr>
          <p:cNvSpPr>
            <a:spLocks noGrp="1"/>
          </p:cNvSpPr>
          <p:nvPr/>
        </p:nvSpPr>
        <p:spPr>
          <a:xfrm>
            <a:off x="838200" y="361950"/>
            <a:ext cx="10572750" cy="495300"/>
          </a:xfrm>
          <a:prstGeom prst="rect">
            <a:avLst/>
          </a:prstGeom>
          <a:noFill/>
          <a:ln w="0">
            <a:noFill/>
          </a:ln>
        </p:spPr>
        <p:txBody>
          <a:bodyPr lIns="0" tIns="0" rIns="0" bIns="0"/>
          <a:lstStyle>
            <a:defPPr>
              <a:defRPr sz="2400" b="1">
                <a:solidFill>
                  <a:srgbClr val="000000"/>
                </a:solidFill>
                <a:latin typeface="Calibri"/>
                <a:ea typeface="Calibri"/>
                <a:cs typeface="Calibri"/>
              </a:defRPr>
            </a:defPPr>
            <a:lvl1pPr>
              <a:defRPr sz="2400" b="1">
                <a:solidFill>
                  <a:srgbClr val="000000"/>
                </a:solidFill>
                <a:latin typeface="Calibri"/>
                <a:ea typeface="Calibri"/>
                <a:cs typeface="Calibri"/>
              </a:defRPr>
            </a:lvl1pPr>
            <a:lvl2pPr>
              <a:defRPr sz="2400" b="1">
                <a:solidFill>
                  <a:srgbClr val="000000"/>
                </a:solidFill>
                <a:latin typeface="Calibri"/>
                <a:ea typeface="Calibri"/>
                <a:cs typeface="Calibri"/>
              </a:defRPr>
            </a:lvl2pPr>
            <a:lvl3pPr>
              <a:defRPr sz="2400" b="1">
                <a:solidFill>
                  <a:srgbClr val="000000"/>
                </a:solidFill>
                <a:latin typeface="Calibri"/>
                <a:ea typeface="Calibri"/>
                <a:cs typeface="Calibri"/>
              </a:defRPr>
            </a:lvl3pPr>
            <a:lvl4pPr>
              <a:defRPr sz="2400" b="1">
                <a:solidFill>
                  <a:srgbClr val="000000"/>
                </a:solidFill>
                <a:latin typeface="Calibri"/>
                <a:ea typeface="Calibri"/>
                <a:cs typeface="Calibri"/>
              </a:defRPr>
            </a:lvl4pPr>
            <a:lvl5pPr>
              <a:defRPr sz="2400" b="1">
                <a:solidFill>
                  <a:srgbClr val="000000"/>
                </a:solidFill>
                <a:latin typeface="Calibri"/>
                <a:ea typeface="Calibri"/>
                <a:cs typeface="Calibri"/>
              </a:defRPr>
            </a:lvl5pPr>
            <a:lvl6pPr>
              <a:defRPr sz="2400" b="1">
                <a:solidFill>
                  <a:srgbClr val="000000"/>
                </a:solidFill>
                <a:latin typeface="Calibri"/>
                <a:ea typeface="Calibri"/>
                <a:cs typeface="Calibri"/>
              </a:defRPr>
            </a:lvl6pPr>
            <a:lvl7pPr>
              <a:defRPr sz="2400" b="1">
                <a:solidFill>
                  <a:srgbClr val="000000"/>
                </a:solidFill>
                <a:latin typeface="Calibri"/>
                <a:ea typeface="Calibri"/>
                <a:cs typeface="Calibri"/>
              </a:defRPr>
            </a:lvl7pPr>
            <a:lvl8pPr>
              <a:defRPr sz="2400" b="1">
                <a:solidFill>
                  <a:srgbClr val="000000"/>
                </a:solidFill>
                <a:latin typeface="Calibri"/>
                <a:ea typeface="Calibri"/>
                <a:cs typeface="Calibri"/>
              </a:defRPr>
            </a:lvl8pPr>
            <a:lvl9pPr>
              <a:defRPr sz="2400" b="1">
                <a:solidFill>
                  <a:srgbClr val="000000"/>
                </a:solidFill>
                <a:latin typeface="Calibri"/>
                <a:ea typeface="Calibri"/>
                <a:cs typeface="Calibri"/>
              </a:defRPr>
            </a:lvl9pPr>
          </a:lstStyle>
          <a:p>
            <a:pPr>
              <a:defRPr sz="2400" b="1">
                <a:solidFill>
                  <a:srgbClr val="000000"/>
                </a:solidFill>
                <a:latin typeface="Calibri"/>
                <a:ea typeface="Calibri"/>
                <a:cs typeface="Calibri"/>
              </a:defRPr>
            </a:pPr>
            <a:r>
              <a:rPr sz="2400" b="1">
                <a:solidFill>
                  <a:srgbClr val="000000"/>
                </a:solidFill>
                <a:latin typeface="Calibri"/>
                <a:ea typeface="Calibri"/>
                <a:cs typeface="Calibri"/>
              </a:rPr>
              <a:t>What the explored space supports</a:t>
            </a:r>
          </a:p>
        </p:txBody>
      </p:sp>
      <p:sp>
        <p:nvSpPr>
          <p:cNvPr id="2" name="Rectangle 1">
            <a:extLst>
              <a:ext uri="{FF2B5EF4-FFF2-40B4-BE49-F238E27FC236}">
                <a16:creationId xmlns:a16="http://schemas.microsoft.com/office/drawing/2014/main" id="{90AD903A-97D2-4552-B60F-EAFFD85E820B}"/>
              </a:ext>
            </a:extLst>
          </p:cNvPr>
          <p:cNvSpPr>
            <a:spLocks noGrp="1"/>
          </p:cNvSpPr>
          <p:nvPr/>
        </p:nvSpPr>
        <p:spPr>
          <a:xfrm>
            <a:off x="476250" y="1028700"/>
            <a:ext cx="11239500" cy="590550"/>
          </a:xfrm>
          <a:prstGeom prst="rect">
            <a:avLst/>
          </a:prstGeom>
          <a:noFill/>
          <a:ln w="0">
            <a:noFill/>
          </a:ln>
        </p:spPr>
        <p:txBody>
          <a:bodyPr lIns="0" tIns="0" rIns="0" bIns="0"/>
          <a:lstStyle>
            <a:defPPr>
              <a:defRPr sz="1575" b="0">
                <a:solidFill>
                  <a:srgbClr val="333333"/>
                </a:solidFill>
                <a:latin typeface="Calibri"/>
                <a:ea typeface="Calibri"/>
                <a:cs typeface="Calibri"/>
              </a:defRPr>
            </a:defPPr>
            <a:lvl1pPr>
              <a:defRPr sz="1575" b="0">
                <a:solidFill>
                  <a:srgbClr val="333333"/>
                </a:solidFill>
                <a:latin typeface="Calibri"/>
                <a:ea typeface="Calibri"/>
                <a:cs typeface="Calibri"/>
              </a:defRPr>
            </a:lvl1pPr>
            <a:lvl2pPr>
              <a:defRPr sz="1575" b="0">
                <a:solidFill>
                  <a:srgbClr val="333333"/>
                </a:solidFill>
                <a:latin typeface="Calibri"/>
                <a:ea typeface="Calibri"/>
                <a:cs typeface="Calibri"/>
              </a:defRPr>
            </a:lvl2pPr>
            <a:lvl3pPr>
              <a:defRPr sz="1575" b="0">
                <a:solidFill>
                  <a:srgbClr val="333333"/>
                </a:solidFill>
                <a:latin typeface="Calibri"/>
                <a:ea typeface="Calibri"/>
                <a:cs typeface="Calibri"/>
              </a:defRPr>
            </a:lvl3pPr>
            <a:lvl4pPr>
              <a:defRPr sz="1575" b="0">
                <a:solidFill>
                  <a:srgbClr val="333333"/>
                </a:solidFill>
                <a:latin typeface="Calibri"/>
                <a:ea typeface="Calibri"/>
                <a:cs typeface="Calibri"/>
              </a:defRPr>
            </a:lvl4pPr>
            <a:lvl5pPr>
              <a:defRPr sz="1575" b="0">
                <a:solidFill>
                  <a:srgbClr val="333333"/>
                </a:solidFill>
                <a:latin typeface="Calibri"/>
                <a:ea typeface="Calibri"/>
                <a:cs typeface="Calibri"/>
              </a:defRPr>
            </a:lvl5pPr>
            <a:lvl6pPr>
              <a:defRPr sz="1575" b="0">
                <a:solidFill>
                  <a:srgbClr val="333333"/>
                </a:solidFill>
                <a:latin typeface="Calibri"/>
                <a:ea typeface="Calibri"/>
                <a:cs typeface="Calibri"/>
              </a:defRPr>
            </a:lvl6pPr>
            <a:lvl7pPr>
              <a:defRPr sz="1575" b="0">
                <a:solidFill>
                  <a:srgbClr val="333333"/>
                </a:solidFill>
                <a:latin typeface="Calibri"/>
                <a:ea typeface="Calibri"/>
                <a:cs typeface="Calibri"/>
              </a:defRPr>
            </a:lvl7pPr>
            <a:lvl8pPr>
              <a:defRPr sz="1575" b="0">
                <a:solidFill>
                  <a:srgbClr val="333333"/>
                </a:solidFill>
                <a:latin typeface="Calibri"/>
                <a:ea typeface="Calibri"/>
                <a:cs typeface="Calibri"/>
              </a:defRPr>
            </a:lvl8pPr>
            <a:lvl9pPr>
              <a:defRPr sz="1575" b="0">
                <a:solidFill>
                  <a:srgbClr val="333333"/>
                </a:solidFill>
                <a:latin typeface="Calibri"/>
                <a:ea typeface="Calibri"/>
                <a:cs typeface="Calibri"/>
              </a:defRPr>
            </a:lvl9pPr>
          </a:lstStyle>
          <a:p>
            <a:pPr>
              <a:defRPr sz="1575" b="0">
                <a:solidFill>
                  <a:srgbClr val="333333"/>
                </a:solidFill>
                <a:latin typeface="Calibri"/>
                <a:ea typeface="Calibri"/>
                <a:cs typeface="Calibri"/>
              </a:defRPr>
            </a:pPr>
            <a:r>
              <a:rPr sz="1575" b="0">
                <a:solidFill>
                  <a:srgbClr val="333333"/>
                </a:solidFill>
                <a:latin typeface="Calibri"/>
                <a:ea typeface="Calibri"/>
                <a:cs typeface="Calibri"/>
              </a:rPr>
              <a:t>The appendix provides traceable coverage while keeping reproduction, sizing convergence and feasibility distinct. [A, B]</a:t>
            </a:r>
          </a:p>
        </p:txBody>
      </p:sp>
      <p:sp>
        <p:nvSpPr>
          <p:cNvPr id="3" name="Rectangle 2">
            <a:extLst>
              <a:ext uri="{FF2B5EF4-FFF2-40B4-BE49-F238E27FC236}">
                <a16:creationId xmlns:a16="http://schemas.microsoft.com/office/drawing/2014/main" id="{4C72D1C4-7275-4B54-808F-FC122FC737AE}"/>
              </a:ext>
            </a:extLst>
          </p:cNvPr>
          <p:cNvSpPr>
            <a:spLocks noGrp="1"/>
          </p:cNvSpPr>
          <p:nvPr/>
        </p:nvSpPr>
        <p:spPr>
          <a:xfrm>
            <a:off x="476250" y="6076950"/>
            <a:ext cx="11191875" cy="619125"/>
          </a:xfrm>
          <a:prstGeom prst="rect">
            <a:avLst/>
          </a:prstGeom>
          <a:noFill/>
          <a:ln w="0">
            <a:noFill/>
          </a:ln>
        </p:spPr>
        <p:txBody>
          <a:bodyPr lIns="0" tIns="0" rIns="0" bIns="0"/>
          <a:lstStyle>
            <a:defPPr>
              <a:defRPr sz="1050" b="0">
                <a:solidFill>
                  <a:srgbClr val="333333"/>
                </a:solidFill>
                <a:latin typeface="Calibri"/>
                <a:ea typeface="Calibri"/>
                <a:cs typeface="Calibri"/>
              </a:defRPr>
            </a:defPPr>
            <a:lvl1pPr>
              <a:defRPr sz="1050" b="0">
                <a:solidFill>
                  <a:srgbClr val="333333"/>
                </a:solidFill>
                <a:latin typeface="Calibri"/>
                <a:ea typeface="Calibri"/>
                <a:cs typeface="Calibri"/>
              </a:defRPr>
            </a:lvl1pPr>
            <a:lvl2pPr>
              <a:defRPr sz="1050" b="0">
                <a:solidFill>
                  <a:srgbClr val="333333"/>
                </a:solidFill>
                <a:latin typeface="Calibri"/>
                <a:ea typeface="Calibri"/>
                <a:cs typeface="Calibri"/>
              </a:defRPr>
            </a:lvl2pPr>
            <a:lvl3pPr>
              <a:defRPr sz="1050" b="0">
                <a:solidFill>
                  <a:srgbClr val="333333"/>
                </a:solidFill>
                <a:latin typeface="Calibri"/>
                <a:ea typeface="Calibri"/>
                <a:cs typeface="Calibri"/>
              </a:defRPr>
            </a:lvl3pPr>
            <a:lvl4pPr>
              <a:defRPr sz="1050" b="0">
                <a:solidFill>
                  <a:srgbClr val="333333"/>
                </a:solidFill>
                <a:latin typeface="Calibri"/>
                <a:ea typeface="Calibri"/>
                <a:cs typeface="Calibri"/>
              </a:defRPr>
            </a:lvl4pPr>
            <a:lvl5pPr>
              <a:defRPr sz="1050" b="0">
                <a:solidFill>
                  <a:srgbClr val="333333"/>
                </a:solidFill>
                <a:latin typeface="Calibri"/>
                <a:ea typeface="Calibri"/>
                <a:cs typeface="Calibri"/>
              </a:defRPr>
            </a:lvl5pPr>
            <a:lvl6pPr>
              <a:defRPr sz="1050" b="0">
                <a:solidFill>
                  <a:srgbClr val="333333"/>
                </a:solidFill>
                <a:latin typeface="Calibri"/>
                <a:ea typeface="Calibri"/>
                <a:cs typeface="Calibri"/>
              </a:defRPr>
            </a:lvl6pPr>
            <a:lvl7pPr>
              <a:defRPr sz="1050" b="0">
                <a:solidFill>
                  <a:srgbClr val="333333"/>
                </a:solidFill>
                <a:latin typeface="Calibri"/>
                <a:ea typeface="Calibri"/>
                <a:cs typeface="Calibri"/>
              </a:defRPr>
            </a:lvl7pPr>
            <a:lvl8pPr>
              <a:defRPr sz="1050" b="0">
                <a:solidFill>
                  <a:srgbClr val="333333"/>
                </a:solidFill>
                <a:latin typeface="Calibri"/>
                <a:ea typeface="Calibri"/>
                <a:cs typeface="Calibri"/>
              </a:defRPr>
            </a:lvl8pPr>
            <a:lvl9pPr>
              <a:defRPr sz="1050" b="0">
                <a:solidFill>
                  <a:srgbClr val="333333"/>
                </a:solidFill>
                <a:latin typeface="Calibri"/>
                <a:ea typeface="Calibri"/>
                <a:cs typeface="Calibri"/>
              </a:defRPr>
            </a:lvl9pPr>
          </a:lstStyle>
          <a:p>
            <a:pPr>
              <a:defRPr sz="1050" b="0">
                <a:solidFill>
                  <a:srgbClr val="333333"/>
                </a:solidFill>
                <a:latin typeface="Calibri"/>
                <a:ea typeface="Calibri"/>
                <a:cs typeface="Calibri"/>
              </a:defRPr>
            </a:pPr>
            <a:r>
              <a:rPr sz="1050" b="0">
                <a:solidFill>
                  <a:srgbClr val="333333"/>
                </a:solidFill>
                <a:latin typeface="Calibri"/>
                <a:ea typeface="Calibri"/>
                <a:cs typeface="Calibri"/>
              </a:rPr>
              <a:t>[A] NDARC execution archive, 28 Oct 2026: organized_runs/inventory.json; run_logs/*.jsonl; original runs/ inputs and outputs.</a:t>
            </a:r>
          </a:p>
          <a:p>
            <a:pPr>
              <a:defRPr sz="1050" b="0">
                <a:solidFill>
                  <a:srgbClr val="333333"/>
                </a:solidFill>
                <a:latin typeface="Calibri"/>
                <a:ea typeface="Calibri"/>
                <a:cs typeface="Calibri"/>
              </a:defRPr>
            </a:pPr>
            <a:r>
              <a:rPr sz="1050" b="0">
                <a:solidFill>
                  <a:srgbClr val="333333"/>
                </a:solidFill>
                <a:latin typeface="Calibri"/>
                <a:ea typeface="Calibri"/>
                <a:cs typeface="Calibri"/>
              </a:rPr>
              <a:t>[B] design-space-evidence/campaign-design-space.json and all-run-design-points.csv (this deck folder). Exact marginal sets, plans, input hashes and status.</a:t>
            </a:r>
          </a:p>
        </p:txBody>
      </p:sp>
      <p:sp>
        <p:nvSpPr>
          <p:cNvPr id="4" name="Rectangle 3">
            <a:extLst>
              <a:ext uri="{FF2B5EF4-FFF2-40B4-BE49-F238E27FC236}">
                <a16:creationId xmlns:a16="http://schemas.microsoft.com/office/drawing/2014/main" id="{E00D1B11-19AC-4E6B-837D-5D1FF9B23AD0}"/>
              </a:ext>
            </a:extLst>
          </p:cNvPr>
          <p:cNvSpPr>
            <a:spLocks noGrp="1"/>
          </p:cNvSpPr>
          <p:nvPr/>
        </p:nvSpPr>
        <p:spPr>
          <a:xfrm>
            <a:off x="11430000" y="6553200"/>
            <a:ext cx="333375" cy="209550"/>
          </a:xfrm>
          <a:prstGeom prst="rect">
            <a:avLst/>
          </a:prstGeom>
          <a:noFill/>
          <a:ln w="0">
            <a:noFill/>
          </a:ln>
        </p:spPr>
        <p:txBody>
          <a:bodyPr lIns="0" tIns="0" rIns="0" bIns="0"/>
          <a:lstStyle>
            <a:defPPr>
              <a:defRPr sz="1125" b="0">
                <a:solidFill>
                  <a:srgbClr val="000000"/>
                </a:solidFill>
                <a:latin typeface="Calibri"/>
                <a:ea typeface="Calibri"/>
                <a:cs typeface="Calibri"/>
              </a:defRPr>
            </a:defPPr>
            <a:lvl1pPr>
              <a:defRPr sz="1125" b="0">
                <a:solidFill>
                  <a:srgbClr val="000000"/>
                </a:solidFill>
                <a:latin typeface="Calibri"/>
                <a:ea typeface="Calibri"/>
                <a:cs typeface="Calibri"/>
              </a:defRPr>
            </a:lvl1pPr>
            <a:lvl2pPr>
              <a:defRPr sz="1125" b="0">
                <a:solidFill>
                  <a:srgbClr val="000000"/>
                </a:solidFill>
                <a:latin typeface="Calibri"/>
                <a:ea typeface="Calibri"/>
                <a:cs typeface="Calibri"/>
              </a:defRPr>
            </a:lvl2pPr>
            <a:lvl3pPr>
              <a:defRPr sz="1125" b="0">
                <a:solidFill>
                  <a:srgbClr val="000000"/>
                </a:solidFill>
                <a:latin typeface="Calibri"/>
                <a:ea typeface="Calibri"/>
                <a:cs typeface="Calibri"/>
              </a:defRPr>
            </a:lvl3pPr>
            <a:lvl4pPr>
              <a:defRPr sz="1125" b="0">
                <a:solidFill>
                  <a:srgbClr val="000000"/>
                </a:solidFill>
                <a:latin typeface="Calibri"/>
                <a:ea typeface="Calibri"/>
                <a:cs typeface="Calibri"/>
              </a:defRPr>
            </a:lvl4pPr>
            <a:lvl5pPr>
              <a:defRPr sz="1125" b="0">
                <a:solidFill>
                  <a:srgbClr val="000000"/>
                </a:solidFill>
                <a:latin typeface="Calibri"/>
                <a:ea typeface="Calibri"/>
                <a:cs typeface="Calibri"/>
              </a:defRPr>
            </a:lvl5pPr>
            <a:lvl6pPr>
              <a:defRPr sz="1125" b="0">
                <a:solidFill>
                  <a:srgbClr val="000000"/>
                </a:solidFill>
                <a:latin typeface="Calibri"/>
                <a:ea typeface="Calibri"/>
                <a:cs typeface="Calibri"/>
              </a:defRPr>
            </a:lvl6pPr>
            <a:lvl7pPr>
              <a:defRPr sz="1125" b="0">
                <a:solidFill>
                  <a:srgbClr val="000000"/>
                </a:solidFill>
                <a:latin typeface="Calibri"/>
                <a:ea typeface="Calibri"/>
                <a:cs typeface="Calibri"/>
              </a:defRPr>
            </a:lvl7pPr>
            <a:lvl8pPr>
              <a:defRPr sz="1125" b="0">
                <a:solidFill>
                  <a:srgbClr val="000000"/>
                </a:solidFill>
                <a:latin typeface="Calibri"/>
                <a:ea typeface="Calibri"/>
                <a:cs typeface="Calibri"/>
              </a:defRPr>
            </a:lvl8pPr>
            <a:lvl9pPr>
              <a:defRPr sz="1125" b="0">
                <a:solidFill>
                  <a:srgbClr val="000000"/>
                </a:solidFill>
                <a:latin typeface="Calibri"/>
                <a:ea typeface="Calibri"/>
                <a:cs typeface="Calibri"/>
              </a:defRPr>
            </a:lvl9pPr>
          </a:lstStyle>
          <a:p>
            <a:pPr>
              <a:defRPr sz="1125" b="0">
                <a:solidFill>
                  <a:srgbClr val="000000"/>
                </a:solidFill>
                <a:latin typeface="Calibri"/>
                <a:ea typeface="Calibri"/>
                <a:cs typeface="Calibri"/>
              </a:defRPr>
            </a:pPr>
            <a:r>
              <a:rPr sz="1125" b="0">
                <a:solidFill>
                  <a:srgbClr val="000000"/>
                </a:solidFill>
                <a:latin typeface="Calibri"/>
                <a:ea typeface="Calibri"/>
                <a:cs typeface="Calibri"/>
              </a:rPr>
              <a:t>61</a:t>
            </a:r>
          </a:p>
        </p:txBody>
      </p:sp>
      <p:graphicFrame>
        <p:nvGraphicFramePr>
          <p:cNvPr id="5" name="Table 4">
            <a:extLst>
              <a:ext uri="{FF2B5EF4-FFF2-40B4-BE49-F238E27FC236}">
                <a16:creationId xmlns:a16="http://schemas.microsoft.com/office/drawing/2014/main" id="{FB075F1E-548A-4E49-8CEA-F1E027F47B6D}"/>
              </a:ext>
            </a:extLst>
          </p:cNvPr>
          <p:cNvGraphicFramePr/>
          <p:nvPr/>
        </p:nvGraphicFramePr>
        <p:xfrm>
          <a:off x="476250" y="1714500"/>
          <a:ext cx="11239500" cy="4000500"/>
        </p:xfrm>
        <a:graphic>
          <a:graphicData uri="http://schemas.openxmlformats.org/drawingml/2006/table">
            <a:tbl>
              <a:tblPr/>
              <a:tblGrid>
                <a:gridCol w="2952750">
                  <a:extLst>
                    <a:ext uri="{9D8B030D-6E8A-4147-A177-3AD203B41FA5}">
                      <a16:colId xmlns:a16="http://schemas.microsoft.com/office/drawing/2014/main" val="20000"/>
                    </a:ext>
                  </a:extLst>
                </a:gridCol>
                <a:gridCol w="8286750">
                  <a:extLst>
                    <a:ext uri="{9D8B030D-6E8A-4147-A177-3AD203B41FA5}">
                      <a16:colId xmlns:a16="http://schemas.microsoft.com/office/drawing/2014/main" val="20001"/>
                    </a:ext>
                  </a:extLst>
                </a:gridCol>
              </a:tblGrid>
              <a:tr h="571500">
                <a:tc>
                  <a:txBody>
                    <a:bodyPr/>
                    <a:lstStyle/>
                    <a:p>
                      <a:r>
                        <a:rPr sz="1575" b="1">
                          <a:solidFill>
                            <a:srgbClr val="000000"/>
                          </a:solidFill>
                          <a:latin typeface="Calibri"/>
                          <a:ea typeface="Calibri"/>
                          <a:cs typeface="Calibri"/>
                        </a:rPr>
                        <a:t>Evidence</a:t>
                      </a:r>
                    </a:p>
                  </a:txBody>
                  <a:tcPr>
                    <a:lnL w="7620">
                      <a:solidFill>
                        <a:srgbClr val="CCCCCC"/>
                      </a:solidFill>
                    </a:lnL>
                    <a:lnR w="7620">
                      <a:solidFill>
                        <a:srgbClr val="CCCCCC"/>
                      </a:solidFill>
                    </a:lnR>
                    <a:lnT w="7620">
                      <a:solidFill>
                        <a:srgbClr val="CCCCCC"/>
                      </a:solidFill>
                    </a:lnT>
                    <a:lnB w="7620">
                      <a:solidFill>
                        <a:srgbClr val="CCCCCC"/>
                      </a:solidFill>
                    </a:lnB>
                    <a:solidFill>
                      <a:srgbClr val="D9D9D9"/>
                    </a:solidFill>
                  </a:tcPr>
                </a:tc>
                <a:tc>
                  <a:txBody>
                    <a:bodyPr/>
                    <a:lstStyle/>
                    <a:p>
                      <a:r>
                        <a:rPr sz="1575" b="1">
                          <a:solidFill>
                            <a:srgbClr val="000000"/>
                          </a:solidFill>
                          <a:latin typeface="Calibri"/>
                          <a:ea typeface="Calibri"/>
                          <a:cs typeface="Calibri"/>
                        </a:rPr>
                        <a:t>Supported conclusion</a:t>
                      </a:r>
                    </a:p>
                  </a:txBody>
                  <a:tcPr>
                    <a:lnL w="7620" cap="flat" cmpd="sng" algn="ctr">
                      <a:solidFill>
                        <a:srgbClr val="CCCCCC"/>
                      </a:solidFill>
                      <a:prstDash val="solid"/>
                      <a:round/>
                      <a:headEnd type="none" w="med" len="med"/>
                      <a:tailEnd type="none" w="med" len="med"/>
                    </a:lnL>
                    <a:lnR w="7620">
                      <a:solidFill>
                        <a:srgbClr val="CCCCCC"/>
                      </a:solidFill>
                    </a:lnR>
                    <a:lnT w="7620">
                      <a:solidFill>
                        <a:srgbClr val="CCCCCC"/>
                      </a:solidFill>
                    </a:lnT>
                    <a:lnB w="7620">
                      <a:solidFill>
                        <a:srgbClr val="CCCCCC"/>
                      </a:solidFill>
                    </a:lnB>
                    <a:solidFill>
                      <a:srgbClr val="D9D9D9"/>
                    </a:solidFill>
                  </a:tcPr>
                </a:tc>
                <a:extLst>
                  <a:ext uri="{0D108BD9-81ED-4DB2-BD59-A6C34878D82A}">
                    <a16:rowId xmlns:a16="http://schemas.microsoft.com/office/drawing/2014/main" val="10000"/>
                  </a:ext>
                </a:extLst>
              </a:tr>
              <a:tr h="571500">
                <a:tc>
                  <a:txBody>
                    <a:bodyPr/>
                    <a:lstStyle/>
                    <a:p>
                      <a:r>
                        <a:rPr sz="1575" b="0">
                          <a:solidFill>
                            <a:srgbClr val="000000"/>
                          </a:solidFill>
                          <a:latin typeface="Calibri"/>
                          <a:ea typeface="Calibri"/>
                          <a:cs typeface="Calibri"/>
                        </a:rPr>
                        <a:t>NASA turboshaft</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75" b="0">
                          <a:solidFill>
                            <a:srgbClr val="000000"/>
                          </a:solidFill>
                          <a:latin typeface="Calibri"/>
                          <a:ea typeface="Calibri"/>
                          <a:cs typeface="Calibri"/>
                        </a:rPr>
                        <a:t>Paper-style sequential sweeps executed. Close final reference reproduction with isolated wing-fit correction.</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1"/>
                  </a:ext>
                </a:extLst>
              </a:tr>
              <a:tr h="571500">
                <a:tc>
                  <a:txBody>
                    <a:bodyPr/>
                    <a:lstStyle/>
                    <a:p>
                      <a:r>
                        <a:rPr sz="1575" b="0">
                          <a:solidFill>
                            <a:srgbClr val="000000"/>
                          </a:solidFill>
                          <a:latin typeface="Calibri"/>
                          <a:ea typeface="Calibri"/>
                          <a:cs typeface="Calibri"/>
                        </a:rPr>
                        <a:t>NASA electric tiltrotor</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75" b="0">
                          <a:solidFill>
                            <a:srgbClr val="000000"/>
                          </a:solidFill>
                          <a:latin typeface="Calibri"/>
                          <a:ea typeface="Calibri"/>
                          <a:cs typeface="Calibri"/>
                        </a:rPr>
                        <a:t>Sizing grid executed. Baseline mass and performance discrepancies remain; high-tip failures limit optimum.</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2"/>
                  </a:ext>
                </a:extLst>
              </a:tr>
              <a:tr h="571500">
                <a:tc>
                  <a:txBody>
                    <a:bodyPr/>
                    <a:lstStyle/>
                    <a:p>
                      <a:r>
                        <a:rPr sz="1575" b="0">
                          <a:solidFill>
                            <a:srgbClr val="000000"/>
                          </a:solidFill>
                          <a:latin typeface="Calibri"/>
                          <a:ea typeface="Calibri"/>
                          <a:cs typeface="Calibri"/>
                        </a:rPr>
                        <a:t>NASA lift + cruise</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75" b="0">
                          <a:solidFill>
                            <a:srgbClr val="000000"/>
                          </a:solidFill>
                          <a:latin typeface="Calibri"/>
                          <a:ea typeface="Calibri"/>
                          <a:cs typeface="Calibri"/>
                        </a:rPr>
                        <a:t>Sizing is possible from supplied decks, but current retries have not reproduced paper sizing or searched its grid.</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3"/>
                  </a:ext>
                </a:extLst>
              </a:tr>
              <a:tr h="571500">
                <a:tc>
                  <a:txBody>
                    <a:bodyPr/>
                    <a:lstStyle/>
                    <a:p>
                      <a:r>
                        <a:rPr sz="1575" b="0">
                          <a:solidFill>
                            <a:srgbClr val="000000"/>
                          </a:solidFill>
                          <a:latin typeface="Calibri"/>
                          <a:ea typeface="Calibri"/>
                          <a:cs typeface="Calibri"/>
                        </a:rPr>
                        <a:t>UAV architectures</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75" b="0">
                          <a:solidFill>
                            <a:srgbClr val="000000"/>
                          </a:solidFill>
                          <a:latin typeface="Calibri"/>
                          <a:ea typeface="Calibri"/>
                          <a:cs typeface="Calibri"/>
                        </a:rPr>
                        <a:t>Physical loading grids, retrofit closures, rating and installation sensitivities were explored under stated assumptions.</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4"/>
                  </a:ext>
                </a:extLst>
              </a:tr>
              <a:tr h="571500">
                <a:tc>
                  <a:txBody>
                    <a:bodyPr/>
                    <a:lstStyle/>
                    <a:p>
                      <a:r>
                        <a:rPr sz="1575" b="0">
                          <a:solidFill>
                            <a:srgbClr val="000000"/>
                          </a:solidFill>
                          <a:latin typeface="Calibri"/>
                          <a:ea typeface="Calibri"/>
                          <a:cs typeface="Calibri"/>
                        </a:rPr>
                        <a:t>Historical example configurations</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tc>
                  <a:txBody>
                    <a:bodyPr/>
                    <a:lstStyle/>
                    <a:p>
                      <a:r>
                        <a:rPr sz="1575" b="0">
                          <a:solidFill>
                            <a:srgbClr val="000000"/>
                          </a:solidFill>
                          <a:latin typeface="Calibri"/>
                          <a:ea typeface="Calibri"/>
                          <a:cs typeface="Calibri"/>
                        </a:rPr>
                        <a:t>Baseline / diagnostic jobs remain documented; unrecovered design-space controls remain explicitly missing.</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3F3F3"/>
                    </a:solidFill>
                  </a:tcPr>
                </a:tc>
                <a:extLst>
                  <a:ext uri="{0D108BD9-81ED-4DB2-BD59-A6C34878D82A}">
                    <a16:rowId xmlns:a16="http://schemas.microsoft.com/office/drawing/2014/main" val="10005"/>
                  </a:ext>
                </a:extLst>
              </a:tr>
              <a:tr h="571500">
                <a:tc>
                  <a:txBody>
                    <a:bodyPr/>
                    <a:lstStyle/>
                    <a:p>
                      <a:r>
                        <a:rPr sz="1575" b="0">
                          <a:solidFill>
                            <a:srgbClr val="000000"/>
                          </a:solidFill>
                          <a:latin typeface="Calibri"/>
                          <a:ea typeface="Calibri"/>
                          <a:cs typeface="Calibri"/>
                        </a:rPr>
                        <a:t>Full evidence package</a:t>
                      </a:r>
                    </a:p>
                  </a:txBody>
                  <a:tcPr>
                    <a:lnL w="7620">
                      <a:solidFill>
                        <a:srgbClr val="CCCCCC"/>
                      </a:solidFill>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tc>
                  <a:txBody>
                    <a:bodyPr/>
                    <a:lstStyle/>
                    <a:p>
                      <a:r>
                        <a:rPr sz="1575" b="0">
                          <a:solidFill>
                            <a:srgbClr val="000000"/>
                          </a:solidFill>
                          <a:latin typeface="Calibri"/>
                          <a:ea typeface="Calibri"/>
                          <a:cs typeface="Calibri"/>
                        </a:rPr>
                        <a:t>314 campaign groups, 6,178 run folders and all 26 labels mapped to original inputs and outputs.</a:t>
                      </a:r>
                    </a:p>
                  </a:txBody>
                  <a:tcPr>
                    <a:lnL w="7620" cap="flat" cmpd="sng" algn="ctr">
                      <a:solidFill>
                        <a:srgbClr val="CCCCCC"/>
                      </a:solidFill>
                      <a:prstDash val="solid"/>
                      <a:round/>
                      <a:headEnd type="none" w="med" len="med"/>
                      <a:tailEnd type="none" w="med" len="med"/>
                    </a:lnL>
                    <a:lnR w="7620">
                      <a:solidFill>
                        <a:srgbClr val="CCCCCC"/>
                      </a:solidFill>
                    </a:lnR>
                    <a:lnT w="7620" cap="flat" cmpd="sng" algn="ctr">
                      <a:solidFill>
                        <a:srgbClr val="CCCCCC"/>
                      </a:solidFill>
                      <a:prstDash val="solid"/>
                      <a:round/>
                      <a:headEnd type="none" w="med" len="med"/>
                      <a:tailEnd type="none" w="med" len="med"/>
                    </a:lnT>
                    <a:lnB w="7620">
                      <a:solidFill>
                        <a:srgbClr val="CCCCCC"/>
                      </a:solidFill>
                    </a:lnB>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70896748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436</TotalTime>
  <Words>47164</Words>
  <Application>Microsoft Office PowerPoint</Application>
  <DocSecurity>0</DocSecurity>
  <PresentationFormat>Widescreen</PresentationFormat>
  <Paragraphs>1641</Paragraphs>
  <Slides>61</Slides>
  <Notes>61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61</vt:i4>
      </vt:variant>
    </vt:vector>
  </HeadingPairs>
  <TitlesOfParts>
    <vt:vector size="68" baseType="lpstr">
      <vt:lpstr>Aptos</vt:lpstr>
      <vt:lpstr>Aptos Display</vt:lpstr>
      <vt:lpstr>Arial</vt:lpstr>
      <vt:lpstr>Calibri</vt:lpstr>
      <vt:lpstr>Courier New</vt:lpstr>
      <vt:lpstr>ChatGPT</vt:lpstr>
      <vt:lpstr>Office Theme</vt:lpstr>
      <vt:lpstr>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Sehwan Park</cp:lastModifiedBy>
  <cp:revision>8</cp:revision>
  <dcterms:created xsi:type="dcterms:W3CDTF">2026-10-27T00:10:13Z</dcterms:created>
  <dcterms:modified xsi:type="dcterms:W3CDTF">2026-10-28T17:39:55Z</dcterms:modified>
</cp:coreProperties>
</file>